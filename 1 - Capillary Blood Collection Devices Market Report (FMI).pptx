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67.xml" ContentType="application/vnd.openxmlformats-officedocument.drawingml.chart+xml"/>
  <Override PartName="/ppt/charts/chart68.xml" ContentType="application/vnd.openxmlformats-officedocument.drawingml.chart+xml"/>
  <Override PartName="/ppt/charts/chart69.xml" ContentType="application/vnd.openxmlformats-officedocument.drawingml.chart+xml"/>
  <Override PartName="/ppt/charts/chart7.xml" ContentType="application/vnd.openxmlformats-officedocument.drawingml.chart+xml"/>
  <Override PartName="/ppt/charts/chart70.xml" ContentType="application/vnd.openxmlformats-officedocument.drawingml.chart+xml"/>
  <Override PartName="/ppt/charts/chart71.xml" ContentType="application/vnd.openxmlformats-officedocument.drawingml.chart+xml"/>
  <Override PartName="/ppt/charts/chart72.xml" ContentType="application/vnd.openxmlformats-officedocument.drawingml.chart+xml"/>
  <Override PartName="/ppt/charts/chart73.xml" ContentType="application/vnd.openxmlformats-officedocument.drawingml.chart+xml"/>
  <Override PartName="/ppt/charts/chart74.xml" ContentType="application/vnd.openxmlformats-officedocument.drawingml.chart+xml"/>
  <Override PartName="/ppt/charts/chart75.xml" ContentType="application/vnd.openxmlformats-officedocument.drawingml.chart+xml"/>
  <Override PartName="/ppt/charts/chart76.xml" ContentType="application/vnd.openxmlformats-officedocument.drawingml.chart+xml"/>
  <Override PartName="/ppt/charts/chart77.xml" ContentType="application/vnd.openxmlformats-officedocument.drawingml.chart+xml"/>
  <Override PartName="/ppt/charts/chart78.xml" ContentType="application/vnd.openxmlformats-officedocument.drawingml.chart+xml"/>
  <Override PartName="/ppt/charts/chart79.xml" ContentType="application/vnd.openxmlformats-officedocument.drawingml.chart+xml"/>
  <Override PartName="/ppt/charts/chart8.xml" ContentType="application/vnd.openxmlformats-officedocument.drawingml.chart+xml"/>
  <Override PartName="/ppt/charts/chart80.xml" ContentType="application/vnd.openxmlformats-officedocument.drawingml.chart+xml"/>
  <Override PartName="/ppt/charts/chart81.xml" ContentType="application/vnd.openxmlformats-officedocument.drawingml.chart+xml"/>
  <Override PartName="/ppt/charts/chart82.xml" ContentType="application/vnd.openxmlformats-officedocument.drawingml.chart+xml"/>
  <Override PartName="/ppt/charts/chart83.xml" ContentType="application/vnd.openxmlformats-officedocument.drawingml.chart+xml"/>
  <Override PartName="/ppt/charts/chart84.xml" ContentType="application/vnd.openxmlformats-officedocument.drawingml.chart+xml"/>
  <Override PartName="/ppt/charts/chart85.xml" ContentType="application/vnd.openxmlformats-officedocument.drawingml.chart+xml"/>
  <Override PartName="/ppt/charts/chart86.xml" ContentType="application/vnd.openxmlformats-officedocument.drawingml.chart+xml"/>
  <Override PartName="/ppt/charts/chart87.xml" ContentType="application/vnd.openxmlformats-officedocument.drawingml.chart+xml"/>
  <Override PartName="/ppt/charts/chart88.xml" ContentType="application/vnd.openxmlformats-officedocument.drawingml.chart+xml"/>
  <Override PartName="/ppt/charts/chart89.xml" ContentType="application/vnd.openxmlformats-officedocument.drawingml.chart+xml"/>
  <Override PartName="/ppt/charts/chart9.xml" ContentType="application/vnd.openxmlformats-officedocument.drawingml.chart+xml"/>
  <Override PartName="/ppt/charts/chart90.xml" ContentType="application/vnd.openxmlformats-officedocument.drawingml.chart+xml"/>
  <Override PartName="/ppt/charts/chart91.xml" ContentType="application/vnd.openxmlformats-officedocument.drawingml.chart+xml"/>
  <Override PartName="/ppt/charts/chart92.xml" ContentType="application/vnd.openxmlformats-officedocument.drawingml.chart+xml"/>
  <Override PartName="/ppt/charts/chart93.xml" ContentType="application/vnd.openxmlformats-officedocument.drawingml.chart+xml"/>
  <Override PartName="/ppt/charts/chart94.xml" ContentType="application/vnd.openxmlformats-officedocument.drawingml.chart+xml"/>
  <Override PartName="/ppt/charts/chart95.xml" ContentType="application/vnd.openxmlformats-officedocument.drawingml.chart+xml"/>
  <Override PartName="/ppt/charts/chart9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41.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42.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Sheet43.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Sheet44.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Sheet45.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Sheet46.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Sheet47.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Sheet62.xlsx"/></Relationships>
</file>

<file path=ppt/charts/_rels/chart63.xml.rels><?xml version='1.0' encoding='UTF-8' standalone='yes'?>
<Relationships xmlns="http://schemas.openxmlformats.org/package/2006/relationships"><Relationship Id="rId1" Type="http://schemas.openxmlformats.org/officeDocument/2006/relationships/package" Target="../embeddings/Microsoft_Excel_Sheet63.xlsx"/></Relationships>
</file>

<file path=ppt/charts/_rels/chart64.xml.rels><?xml version='1.0' encoding='UTF-8' standalone='yes'?>
<Relationships xmlns="http://schemas.openxmlformats.org/package/2006/relationships"><Relationship Id="rId1" Type="http://schemas.openxmlformats.org/officeDocument/2006/relationships/package" Target="../embeddings/Microsoft_Excel_Sheet64.xlsx"/></Relationships>
</file>

<file path=ppt/charts/_rels/chart65.xml.rels><?xml version='1.0' encoding='UTF-8' standalone='yes'?>
<Relationships xmlns="http://schemas.openxmlformats.org/package/2006/relationships"><Relationship Id="rId1" Type="http://schemas.openxmlformats.org/officeDocument/2006/relationships/package" Target="../embeddings/Microsoft_Excel_Sheet65.xlsx"/></Relationships>
</file>

<file path=ppt/charts/_rels/chart66.xml.rels><?xml version='1.0' encoding='UTF-8' standalone='yes'?>
<Relationships xmlns="http://schemas.openxmlformats.org/package/2006/relationships"><Relationship Id="rId1" Type="http://schemas.openxmlformats.org/officeDocument/2006/relationships/package" Target="../embeddings/Microsoft_Excel_Sheet66.xlsx"/></Relationships>
</file>

<file path=ppt/charts/_rels/chart67.xml.rels><?xml version='1.0' encoding='UTF-8' standalone='yes'?>
<Relationships xmlns="http://schemas.openxmlformats.org/package/2006/relationships"><Relationship Id="rId1" Type="http://schemas.openxmlformats.org/officeDocument/2006/relationships/package" Target="../embeddings/Microsoft_Excel_Sheet67.xlsx"/></Relationships>
</file>

<file path=ppt/charts/_rels/chart68.xml.rels><?xml version='1.0' encoding='UTF-8' standalone='yes'?>
<Relationships xmlns="http://schemas.openxmlformats.org/package/2006/relationships"><Relationship Id="rId1" Type="http://schemas.openxmlformats.org/officeDocument/2006/relationships/package" Target="../embeddings/Microsoft_Excel_Sheet68.xlsx"/></Relationships>
</file>

<file path=ppt/charts/_rels/chart69.xml.rels><?xml version='1.0' encoding='UTF-8' standalone='yes'?>
<Relationships xmlns="http://schemas.openxmlformats.org/package/2006/relationships"><Relationship Id="rId1" Type="http://schemas.openxmlformats.org/officeDocument/2006/relationships/package" Target="../embeddings/Microsoft_Excel_Sheet69.xlsx"/></Relationships>
</file>

<file path=ppt/charts/_rels/chart70.xml.rels><?xml version='1.0' encoding='UTF-8' standalone='yes'?>
<Relationships xmlns="http://schemas.openxmlformats.org/package/2006/relationships"><Relationship Id="rId1" Type="http://schemas.openxmlformats.org/officeDocument/2006/relationships/package" Target="../embeddings/Microsoft_Excel_Sheet70.xlsx"/></Relationships>
</file>

<file path=ppt/charts/_rels/chart71.xml.rels><?xml version='1.0' encoding='UTF-8' standalone='yes'?>
<Relationships xmlns="http://schemas.openxmlformats.org/package/2006/relationships"><Relationship Id="rId1" Type="http://schemas.openxmlformats.org/officeDocument/2006/relationships/package" Target="../embeddings/Microsoft_Excel_Sheet71.xlsx"/></Relationships>
</file>

<file path=ppt/charts/_rels/chart72.xml.rels><?xml version='1.0' encoding='UTF-8' standalone='yes'?>
<Relationships xmlns="http://schemas.openxmlformats.org/package/2006/relationships"><Relationship Id="rId1" Type="http://schemas.openxmlformats.org/officeDocument/2006/relationships/package" Target="../embeddings/Microsoft_Excel_Sheet72.xlsx"/></Relationships>
</file>

<file path=ppt/charts/_rels/chart73.xml.rels><?xml version='1.0' encoding='UTF-8' standalone='yes'?>
<Relationships xmlns="http://schemas.openxmlformats.org/package/2006/relationships"><Relationship Id="rId1" Type="http://schemas.openxmlformats.org/officeDocument/2006/relationships/package" Target="../embeddings/Microsoft_Excel_Sheet73.xlsx"/></Relationships>
</file>

<file path=ppt/charts/_rels/chart74.xml.rels><?xml version='1.0' encoding='UTF-8' standalone='yes'?>
<Relationships xmlns="http://schemas.openxmlformats.org/package/2006/relationships"><Relationship Id="rId1" Type="http://schemas.openxmlformats.org/officeDocument/2006/relationships/package" Target="../embeddings/Microsoft_Excel_Sheet74.xlsx"/></Relationships>
</file>

<file path=ppt/charts/_rels/chart75.xml.rels><?xml version='1.0' encoding='UTF-8' standalone='yes'?>
<Relationships xmlns="http://schemas.openxmlformats.org/package/2006/relationships"><Relationship Id="rId1" Type="http://schemas.openxmlformats.org/officeDocument/2006/relationships/package" Target="../embeddings/Microsoft_Excel_Sheet75.xlsx"/></Relationships>
</file>

<file path=ppt/charts/_rels/chart76.xml.rels><?xml version='1.0' encoding='UTF-8' standalone='yes'?>
<Relationships xmlns="http://schemas.openxmlformats.org/package/2006/relationships"><Relationship Id="rId1" Type="http://schemas.openxmlformats.org/officeDocument/2006/relationships/package" Target="../embeddings/Microsoft_Excel_Sheet76.xlsx"/></Relationships>
</file>

<file path=ppt/charts/_rels/chart77.xml.rels><?xml version='1.0' encoding='UTF-8' standalone='yes'?>
<Relationships xmlns="http://schemas.openxmlformats.org/package/2006/relationships"><Relationship Id="rId1" Type="http://schemas.openxmlformats.org/officeDocument/2006/relationships/package" Target="../embeddings/Microsoft_Excel_Sheet77.xlsx"/></Relationships>
</file>

<file path=ppt/charts/_rels/chart78.xml.rels><?xml version='1.0' encoding='UTF-8' standalone='yes'?>
<Relationships xmlns="http://schemas.openxmlformats.org/package/2006/relationships"><Relationship Id="rId1" Type="http://schemas.openxmlformats.org/officeDocument/2006/relationships/package" Target="../embeddings/Microsoft_Excel_Sheet78.xlsx"/></Relationships>
</file>

<file path=ppt/charts/_rels/chart79.xml.rels><?xml version='1.0' encoding='UTF-8' standalone='yes'?>
<Relationships xmlns="http://schemas.openxmlformats.org/package/2006/relationships"><Relationship Id="rId1" Type="http://schemas.openxmlformats.org/officeDocument/2006/relationships/package" Target="../embeddings/Microsoft_Excel_Sheet79.xlsx"/></Relationships>
</file>

<file path=ppt/charts/_rels/chart80.xml.rels><?xml version='1.0' encoding='UTF-8' standalone='yes'?>
<Relationships xmlns="http://schemas.openxmlformats.org/package/2006/relationships"><Relationship Id="rId1" Type="http://schemas.openxmlformats.org/officeDocument/2006/relationships/package" Target="../embeddings/Microsoft_Excel_Sheet80.xlsx"/></Relationships>
</file>

<file path=ppt/charts/_rels/chart81.xml.rels><?xml version='1.0' encoding='UTF-8' standalone='yes'?>
<Relationships xmlns="http://schemas.openxmlformats.org/package/2006/relationships"><Relationship Id="rId1" Type="http://schemas.openxmlformats.org/officeDocument/2006/relationships/package" Target="../embeddings/Microsoft_Excel_Sheet81.xlsx"/></Relationships>
</file>

<file path=ppt/charts/_rels/chart82.xml.rels><?xml version='1.0' encoding='UTF-8' standalone='yes'?>
<Relationships xmlns="http://schemas.openxmlformats.org/package/2006/relationships"><Relationship Id="rId1" Type="http://schemas.openxmlformats.org/officeDocument/2006/relationships/package" Target="../embeddings/Microsoft_Excel_Sheet82.xlsx"/></Relationships>
</file>

<file path=ppt/charts/_rels/chart83.xml.rels><?xml version='1.0' encoding='UTF-8' standalone='yes'?>
<Relationships xmlns="http://schemas.openxmlformats.org/package/2006/relationships"><Relationship Id="rId1" Type="http://schemas.openxmlformats.org/officeDocument/2006/relationships/package" Target="../embeddings/Microsoft_Excel_Sheet83.xlsx"/></Relationships>
</file>

<file path=ppt/charts/_rels/chart84.xml.rels><?xml version='1.0' encoding='UTF-8' standalone='yes'?>
<Relationships xmlns="http://schemas.openxmlformats.org/package/2006/relationships"><Relationship Id="rId1" Type="http://schemas.openxmlformats.org/officeDocument/2006/relationships/package" Target="../embeddings/Microsoft_Excel_Sheet84.xlsx"/></Relationships>
</file>

<file path=ppt/charts/_rels/chart85.xml.rels><?xml version='1.0' encoding='UTF-8' standalone='yes'?>
<Relationships xmlns="http://schemas.openxmlformats.org/package/2006/relationships"><Relationship Id="rId1" Type="http://schemas.openxmlformats.org/officeDocument/2006/relationships/package" Target="../embeddings/Microsoft_Excel_Sheet85.xlsx"/></Relationships>
</file>

<file path=ppt/charts/_rels/chart86.xml.rels><?xml version='1.0' encoding='UTF-8' standalone='yes'?>
<Relationships xmlns="http://schemas.openxmlformats.org/package/2006/relationships"><Relationship Id="rId1" Type="http://schemas.openxmlformats.org/officeDocument/2006/relationships/package" Target="../embeddings/Microsoft_Excel_Sheet86.xlsx"/></Relationships>
</file>

<file path=ppt/charts/_rels/chart87.xml.rels><?xml version='1.0' encoding='UTF-8' standalone='yes'?>
<Relationships xmlns="http://schemas.openxmlformats.org/package/2006/relationships"><Relationship Id="rId1" Type="http://schemas.openxmlformats.org/officeDocument/2006/relationships/package" Target="../embeddings/Microsoft_Excel_Sheet87.xlsx"/></Relationships>
</file>

<file path=ppt/charts/_rels/chart88.xml.rels><?xml version='1.0' encoding='UTF-8' standalone='yes'?>
<Relationships xmlns="http://schemas.openxmlformats.org/package/2006/relationships"><Relationship Id="rId1" Type="http://schemas.openxmlformats.org/officeDocument/2006/relationships/package" Target="../embeddings/Microsoft_Excel_Sheet88.xlsx"/></Relationships>
</file>

<file path=ppt/charts/_rels/chart89.xml.rels><?xml version='1.0' encoding='UTF-8' standalone='yes'?>
<Relationships xmlns="http://schemas.openxmlformats.org/package/2006/relationships"><Relationship Id="rId1" Type="http://schemas.openxmlformats.org/officeDocument/2006/relationships/package" Target="../embeddings/Microsoft_Excel_Sheet89.xlsx"/></Relationships>
</file>

<file path=ppt/charts/_rels/chart90.xml.rels><?xml version='1.0' encoding='UTF-8' standalone='yes'?>
<Relationships xmlns="http://schemas.openxmlformats.org/package/2006/relationships"><Relationship Id="rId1" Type="http://schemas.openxmlformats.org/officeDocument/2006/relationships/package" Target="../embeddings/Microsoft_Excel_Sheet90.xlsx"/></Relationships>
</file>

<file path=ppt/charts/_rels/chart91.xml.rels><?xml version='1.0' encoding='UTF-8' standalone='yes'?>
<Relationships xmlns="http://schemas.openxmlformats.org/package/2006/relationships"><Relationship Id="rId1" Type="http://schemas.openxmlformats.org/officeDocument/2006/relationships/package" Target="../embeddings/Microsoft_Excel_Sheet91.xlsx"/></Relationships>
</file>

<file path=ppt/charts/_rels/chart92.xml.rels><?xml version='1.0' encoding='UTF-8' standalone='yes'?>
<Relationships xmlns="http://schemas.openxmlformats.org/package/2006/relationships"><Relationship Id="rId1" Type="http://schemas.openxmlformats.org/officeDocument/2006/relationships/package" Target="../embeddings/Microsoft_Excel_Sheet92.xlsx"/></Relationships>
</file>

<file path=ppt/charts/_rels/chart93.xml.rels><?xml version='1.0' encoding='UTF-8' standalone='yes'?>
<Relationships xmlns="http://schemas.openxmlformats.org/package/2006/relationships"><Relationship Id="rId1" Type="http://schemas.openxmlformats.org/officeDocument/2006/relationships/package" Target="../embeddings/Microsoft_Excel_Sheet93.xlsx"/></Relationships>
</file>

<file path=ppt/charts/_rels/chart94.xml.rels><?xml version='1.0' encoding='UTF-8' standalone='yes'?>
<Relationships xmlns="http://schemas.openxmlformats.org/package/2006/relationships"><Relationship Id="rId1" Type="http://schemas.openxmlformats.org/officeDocument/2006/relationships/package" Target="../embeddings/Microsoft_Excel_Sheet94.xlsx"/></Relationships>
</file>

<file path=ppt/charts/_rels/chart95.xml.rels><?xml version='1.0' encoding='UTF-8' standalone='yes'?>
<Relationships xmlns="http://schemas.openxmlformats.org/package/2006/relationships"><Relationship Id="rId1" Type="http://schemas.openxmlformats.org/officeDocument/2006/relationships/package" Target="../embeddings/Microsoft_Excel_Sheet95.xlsx"/></Relationships>
</file>

<file path=ppt/charts/_rels/chart96.xml.rels><?xml version='1.0' encoding='UTF-8' standalone='yes'?>
<Relationships xmlns="http://schemas.openxmlformats.org/package/2006/relationships"><Relationship Id="rId1" Type="http://schemas.openxmlformats.org/officeDocument/2006/relationships/package" Target="../embeddings/Microsoft_Excel_Sheet9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6.090965958742922</c:v>
                </c:pt>
                <c:pt idx="1">
                  <c:v>7.027310780718166</c:v>
                </c:pt>
                <c:pt idx="2">
                  <c:v>6.714281195090632</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9.276050230547979"/>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2099.858988</c:v>
                </c:pt>
                <c:pt idx="2">
                  <c:v>0.0</c:v>
                </c:pt>
                <c:pt idx="3">
                  <c:v>2822.1633650000003</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2099.858988</c:v>
                </c:pt>
                <c:pt idx="1">
                  <c:v>722.3043770000004</c:v>
                </c:pt>
                <c:pt idx="2">
                  <c:v>2822.1633650000003</c:v>
                </c:pt>
                <c:pt idx="3">
                  <c:v>2743.6454289999983</c:v>
                </c:pt>
                <c:pt idx="4">
                  <c:v>5565.808793999999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03E58"/>
            </a:solidFill>
            <a:ln>
              <a:noFill/>
            </a:ln>
          </c:spPr>
          <c:cat>
            <c:strRef>
              <c:f>Sheet1!$A$2:$A$4</c:f>
              <c:strCache>
                <c:ptCount val="3"/>
                <c:pt idx="0">
                  <c:v>2021–2026</c:v>
                </c:pt>
                <c:pt idx="1">
                  <c:v>2026–2036</c:v>
                </c:pt>
                <c:pt idx="2">
                  <c:v>2021–2036</c:v>
                </c:pt>
              </c:strCache>
            </c:strRef>
          </c:cat>
          <c:val>
            <c:numRef>
              <c:f>Sheet1!$B$2:$B$4</c:f>
              <c:numCache>
                <c:formatCode>General</c:formatCode>
                <c:ptCount val="3"/>
                <c:pt idx="0">
                  <c:v>5.212913433772237</c:v>
                </c:pt>
                <c:pt idx="1">
                  <c:v>7.901335294347289</c:v>
                </c:pt>
                <c:pt idx="2">
                  <c:v>6.997647296366449</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429762588538422"/>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2021</c:v>
                </c:pt>
                <c:pt idx="1">
                  <c:v>2021–2026</c:v>
                </c:pt>
                <c:pt idx="2">
                  <c:v>2026</c:v>
                </c:pt>
                <c:pt idx="3">
                  <c:v>2026–2036</c:v>
                </c:pt>
                <c:pt idx="4">
                  <c:v>2036</c:v>
                </c:pt>
              </c:strCache>
            </c:strRef>
          </c:cat>
          <c:val>
            <c:numRef>
              <c:f>Sheet1!$B$2:$B$6</c:f>
              <c:numCache>
                <c:formatCode>General</c:formatCode>
                <c:ptCount val="5"/>
                <c:pt idx="0">
                  <c:v>0.0</c:v>
                </c:pt>
                <c:pt idx="1">
                  <c:v>1788.395264318877</c:v>
                </c:pt>
                <c:pt idx="2">
                  <c:v>0.0</c:v>
                </c:pt>
                <c:pt idx="3">
                  <c:v>2305.7315644740975</c:v>
                </c:pt>
                <c:pt idx="4">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E72AE"/>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2021</c:v>
                </c:pt>
                <c:pt idx="1">
                  <c:v>2021–2026</c:v>
                </c:pt>
                <c:pt idx="2">
                  <c:v>2026</c:v>
                </c:pt>
                <c:pt idx="3">
                  <c:v>2026–2036</c:v>
                </c:pt>
                <c:pt idx="4">
                  <c:v>2036</c:v>
                </c:pt>
              </c:strCache>
            </c:strRef>
          </c:cat>
          <c:val>
            <c:numRef>
              <c:f>Sheet1!$C$2:$C$6</c:f>
              <c:numCache>
                <c:formatCode>General</c:formatCode>
                <c:ptCount val="5"/>
                <c:pt idx="0">
                  <c:v>1788.395264318877</c:v>
                </c:pt>
                <c:pt idx="1">
                  <c:v>517.3363001552204</c:v>
                </c:pt>
                <c:pt idx="2">
                  <c:v>2305.7315644740975</c:v>
                </c:pt>
                <c:pt idx="3">
                  <c:v>2626.880225372048</c:v>
                </c:pt>
                <c:pt idx="4">
                  <c:v>4932.611789846145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(Units)</c:v>
                </c:pt>
              </c:strCache>
            </c:strRef>
          </c:tx>
          <c:spPr>
            <a:solidFill>
              <a:srgbClr val="69B1E0"/>
            </a:solidFill>
            <a:ln>
              <a:noFill/>
            </a:ln>
          </c:spPr>
          <c:dLbls>
            <c:numFmt formatCode="#,##0"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2099.858988</c:v>
                </c:pt>
                <c:pt idx="1">
                  <c:v>2214.7797959999994</c:v>
                </c:pt>
                <c:pt idx="2">
                  <c:v>2341.051492</c:v>
                </c:pt>
                <c:pt idx="3">
                  <c:v>2481.528238</c:v>
                </c:pt>
                <c:pt idx="4">
                  <c:v>2640.5516580000003</c:v>
                </c:pt>
              </c:numCache>
            </c:numRef>
          </c:val>
        </c:ser>
        <c:gapWidth val="100"/>
        <c:axId val="-2068027336"/>
        <c:axId val="-2113994440"/>
      </c:barChart>
      <c:barChart>
        <c:barDir val="col"/>
        <c:grouping val="clustered"/>
        <c:varyColors val="0"/>
        <c:ser>
          <c:idx val="1"/>
          <c:order val="1"/>
          <c:tx>
            <c:strRef>
              <c:f>Sheet1!$C$1</c:f>
              <c:strCache>
                <c:ptCount val="1"/>
                <c:pt idx="0">
                  <c:v>Value (US$ Mn)</c:v>
                </c:pt>
              </c:strCache>
            </c:strRef>
          </c:tx>
          <c:spPr>
            <a:solidFill>
              <a:srgbClr val="C55A11"/>
            </a:solidFill>
            <a:ln>
              <a:noFill/>
            </a:ln>
          </c:spPr>
          <c:dLbls>
            <c:numFmt formatCode="#,##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Sheet1!$A$2:$A$6</c:f>
              <c:strCache>
                <c:ptCount val="5"/>
                <c:pt idx="0">
                  <c:v>2021</c:v>
                </c:pt>
                <c:pt idx="1">
                  <c:v>2022</c:v>
                </c:pt>
                <c:pt idx="2">
                  <c:v>2023</c:v>
                </c:pt>
                <c:pt idx="3">
                  <c:v>2024</c:v>
                </c:pt>
                <c:pt idx="4">
                  <c:v>2025</c:v>
                </c:pt>
              </c:strCache>
            </c:strRef>
          </c:cat>
          <c:val>
            <c:numRef>
              <c:f>Sheet1!$C$2:$C$6</c:f>
              <c:numCache>
                <c:formatCode>General</c:formatCode>
                <c:ptCount val="5"/>
                <c:pt idx="0">
                  <c:v>1788.395264318877</c:v>
                </c:pt>
                <c:pt idx="1">
                  <c:v>1861.4130113567155</c:v>
                </c:pt>
                <c:pt idx="2">
                  <c:v>1945.0781530895963</c:v>
                </c:pt>
                <c:pt idx="3">
                  <c:v>2046.7374711909777</c:v>
                </c:pt>
                <c:pt idx="4">
                  <c:v>2165.252360028279</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3116"/>
          <c:min val="0"/>
        </c:scaling>
        <c:delete val="0"/>
        <c:axPos val="l"/>
        <c:numFmt formatCode="#,##0" sourceLinked="0"/>
        <c:majorTickMark val="none"/>
        <c:minorTickMark val="none"/>
        <c:tickLblPos val="none"/>
        <c:spPr>
          <a:ln>
            <a:no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(Units)</c:v>
                </c:pt>
              </c:strCache>
            </c:strRef>
          </c:tx>
          <c:spPr>
            <a:solidFill>
              <a:srgbClr val="69B1E0"/>
            </a:solidFill>
            <a:ln>
              <a:noFill/>
            </a:ln>
          </c:spPr>
          <c:dLbls>
            <c:numFmt formatCode="#,##0"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2822.1633650000003</c:v>
                </c:pt>
                <c:pt idx="1">
                  <c:v>3025.0673190000007</c:v>
                </c:pt>
                <c:pt idx="2">
                  <c:v>3246.812766</c:v>
                </c:pt>
                <c:pt idx="3">
                  <c:v>3486.116027</c:v>
                </c:pt>
                <c:pt idx="4">
                  <c:v>3738.1476790000006</c:v>
                </c:pt>
                <c:pt idx="5">
                  <c:v>4002.5085450000006</c:v>
                </c:pt>
                <c:pt idx="6">
                  <c:v>4280.427919</c:v>
                </c:pt>
                <c:pt idx="7">
                  <c:v>4570.877481</c:v>
                </c:pt>
                <c:pt idx="8">
                  <c:v>4884.076743999999</c:v>
                </c:pt>
                <c:pt idx="9">
                  <c:v>5212.867652</c:v>
                </c:pt>
                <c:pt idx="10">
                  <c:v>5565.808793999999</c:v>
                </c:pt>
              </c:numCache>
            </c:numRef>
          </c:val>
        </c:ser>
        <c:gapWidth val="100"/>
        <c:axId val="-2068027336"/>
        <c:axId val="-2113994440"/>
      </c:barChart>
      <c:barChart>
        <c:barDir val="col"/>
        <c:grouping val="clustered"/>
        <c:varyColors val="0"/>
        <c:ser>
          <c:idx val="1"/>
          <c:order val="1"/>
          <c:tx>
            <c:strRef>
              <c:f>Sheet1!$C$1</c:f>
              <c:strCache>
                <c:ptCount val="1"/>
                <c:pt idx="0">
                  <c:v>Value (US$ Mn)</c:v>
                </c:pt>
              </c:strCache>
            </c:strRef>
          </c:tx>
          <c:spPr>
            <a:solidFill>
              <a:srgbClr val="C55A11"/>
            </a:solidFill>
            <a:ln>
              <a:noFill/>
            </a:ln>
          </c:spPr>
          <c:dLbls>
            <c:numFmt formatCode="#,##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2305.7315644740975</c:v>
                </c:pt>
                <c:pt idx="1">
                  <c:v>2467.6750748507984</c:v>
                </c:pt>
                <c:pt idx="2">
                  <c:v>2650.0288253074386</c:v>
                </c:pt>
                <c:pt idx="3">
                  <c:v>2852.461336877671</c:v>
                </c:pt>
                <c:pt idx="4">
                  <c:v>3073.579036188752</c:v>
                </c:pt>
                <c:pt idx="5">
                  <c:v>3314.3046224290406</c:v>
                </c:pt>
                <c:pt idx="6">
                  <c:v>3578.156809888676</c:v>
                </c:pt>
                <c:pt idx="7">
                  <c:v>3864.789262605528</c:v>
                </c:pt>
                <c:pt idx="8">
                  <c:v>4185.475525020057</c:v>
                </c:pt>
                <c:pt idx="9">
                  <c:v>4538.412674806594</c:v>
                </c:pt>
                <c:pt idx="10">
                  <c:v>4932.611789846145</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6568"/>
          <c:min val="0"/>
        </c:scaling>
        <c:delete val="0"/>
        <c:axPos val="l"/>
        <c:numFmt formatCode="#,##0" sourceLinked="0"/>
        <c:majorTickMark val="none"/>
        <c:minorTickMark val="none"/>
        <c:tickLblPos val="none"/>
        <c:spPr>
          <a:ln>
            <a:no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Sheet1!$A$2:$A$5</c:f>
              <c:strCache>
                <c:ptCount val="4"/>
                <c:pt idx="0">
                  <c:v>Mexico</c:v>
                </c:pt>
                <c:pt idx="1">
                  <c:v>United States</c:v>
                </c:pt>
                <c:pt idx="2">
                  <c:v>China</c:v>
                </c:pt>
                <c:pt idx="3">
                  <c:v>India</c:v>
                </c:pt>
              </c:strCache>
            </c:strRef>
          </c:cat>
          <c:val>
            <c:numRef>
              <c:f>Sheet1!$B$2:$B$5</c:f>
              <c:numCache>
                <c:formatCode>General</c:formatCode>
                <c:ptCount val="4"/>
                <c:pt idx="0">
                  <c:v>102.60076665802558</c:v>
                </c:pt>
                <c:pt idx="1">
                  <c:v>103.71205144666433</c:v>
                </c:pt>
                <c:pt idx="2">
                  <c:v>114.90954166095358</c:v>
                </c:pt>
                <c:pt idx="3">
                  <c:v>114.99078657894405</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Index</c:v>
                </c:pt>
              </c:strCache>
            </c:strRef>
          </c:tx>
          <c:spPr>
            <a:solidFill>
              <a:srgbClr val="0E72AE"/>
            </a:solidFill>
            <a:ln>
              <a:noFill/>
            </a:ln>
          </c:spPr>
          <c:cat>
            <c:strRef>
              <c:f>Sheet1!$A$2:$A$11</c:f>
              <c:strCache>
                <c:ptCount val="10"/>
                <c:pt idx="0">
                  <c:v>Italy</c:v>
                </c:pt>
                <c:pt idx="1">
                  <c:v>Rest of LATAM</c:v>
                </c:pt>
                <c:pt idx="2">
                  <c:v>Japan</c:v>
                </c:pt>
                <c:pt idx="3">
                  <c:v>Brazil</c:v>
                </c:pt>
                <c:pt idx="4">
                  <c:v>India</c:v>
                </c:pt>
                <c:pt idx="5">
                  <c:v>United Kingdom</c:v>
                </c:pt>
                <c:pt idx="6">
                  <c:v>France</c:v>
                </c:pt>
                <c:pt idx="7">
                  <c:v>Germany</c:v>
                </c:pt>
                <c:pt idx="8">
                  <c:v>China</c:v>
                </c:pt>
                <c:pt idx="9">
                  <c:v>United States</c:v>
                </c:pt>
              </c:strCache>
            </c:strRef>
          </c:cat>
          <c:val>
            <c:numRef>
              <c:f>Sheet1!$B$2:$B$11</c:f>
              <c:numCache>
                <c:formatCode>General</c:formatCode>
                <c:ptCount val="10"/>
                <c:pt idx="0">
                  <c:v>2.6808649948682874</c:v>
                </c:pt>
                <c:pt idx="1">
                  <c:v>2.7781243326817893</c:v>
                </c:pt>
                <c:pt idx="2">
                  <c:v>2.8188956318362215</c:v>
                </c:pt>
                <c:pt idx="3">
                  <c:v>3.3112124591943446</c:v>
                </c:pt>
                <c:pt idx="4">
                  <c:v>4.0427648208091735</c:v>
                </c:pt>
                <c:pt idx="5">
                  <c:v>4.090385483996191</c:v>
                </c:pt>
                <c:pt idx="6">
                  <c:v>4.31822809881075</c:v>
                </c:pt>
                <c:pt idx="7">
                  <c:v>5.126317665855429</c:v>
                </c:pt>
                <c:pt idx="8">
                  <c:v>12.157551809422209</c:v>
                </c:pt>
                <c:pt idx="9">
                  <c:v>29.004548363213544</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b"/>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42.9%</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34.9%</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13.4%</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Capillary Blood Collection Containers</c:v>
                </c:pt>
                <c:pt idx="1">
                  <c:v>Blood Collection Lancets</c:v>
                </c:pt>
                <c:pt idx="2">
                  <c:v>Integrated Capillary Blood Collection Devices</c:v>
                </c:pt>
                <c:pt idx="3">
                  <c:v>Dried Blood Spot Collection Products</c:v>
                </c:pt>
              </c:strCache>
            </c:strRef>
          </c:cat>
          <c:val>
            <c:numRef>
              <c:f>Sheet1!$B$2:$B$5</c:f>
              <c:numCache>
                <c:formatCode>General</c:formatCode>
                <c:ptCount val="4"/>
                <c:pt idx="0">
                  <c:v>2116.2967934455764</c:v>
                </c:pt>
                <c:pt idx="1">
                  <c:v>1723.0269059396746</c:v>
                </c:pt>
                <c:pt idx="2">
                  <c:v>659.065889810305</c:v>
                </c:pt>
                <c:pt idx="3">
                  <c:v>434.2222006505893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S1</c:v>
                </c:pt>
              </c:strCache>
            </c:strRef>
          </c:tx>
          <c:spPr>
            <a:ln w="22225">
              <a:solidFill>
                <a:srgbClr val="0E72AE"/>
              </a:solidFill>
            </a:ln>
          </c:spPr>
          <c:cat>
            <c:strRef>
              <c:f>Sheet1!$A$2:$A$4</c:f>
              <c:strCache>
                <c:ptCount val="3"/>
                <c:pt idx="0">
                  <c:v>Optimistic</c:v>
                </c:pt>
                <c:pt idx="1">
                  <c:v>Likely</c:v>
                </c:pt>
                <c:pt idx="2">
                  <c:v>Conservative</c:v>
                </c:pt>
              </c:strCache>
            </c:strRef>
          </c:cat>
          <c:val>
            <c:numRef>
              <c:f>Sheet1!$B$2:$B$4</c:f>
              <c:numCache>
                <c:formatCode>General</c:formatCode>
                <c:ptCount val="3"/>
                <c:pt idx="0">
                  <c:v>9.876669117934112</c:v>
                </c:pt>
                <c:pt idx="1">
                  <c:v>7.901335294347289</c:v>
                </c:pt>
                <c:pt idx="2">
                  <c:v>5.9260014707604665</c:v>
                </c:pt>
              </c:numCache>
            </c:numRef>
          </c:val>
          <c:smooth val="0"/>
        </c:ser>
        <c:dLbls>
          <c:numFmt formatCode="0.0&quot;%&quot;" sourceLinked="0"/>
          <c:txPr>
            <a:bodyPr rot="0" vert="horz"/>
            <a:lstStyle/>
            <a:p>
              <a:pPr>
                <a:defRPr sz="700">
                  <a:latin typeface="Calibri"/>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C6D5E1"/>
            </a:solidFill>
          </a:ln>
        </c:spPr>
        <c:txPr>
          <a:bodyPr/>
          <a:lstStyle/>
          <a:p>
            <a:pPr>
              <a:defRPr sz="850"/>
            </a:pPr>
          </a:p>
        </c:txPr>
        <c:crossAx val="2140495176"/>
        <c:crosses val="autoZero"/>
        <c:auto val="1"/>
        <c:lblAlgn val="ctr"/>
        <c:lblOffset val="100"/>
        <c:noMultiLvlLbl val="0"/>
        <c:tickLblSkip val="1"/>
        <c:tickMarkSkip val="1"/>
      </c:catAx>
      <c:valAx>
        <c:axId val="2140495176"/>
        <c:scaling>
          <c:max val="12.839669853314346"/>
          <c:min val="0.0"/>
        </c:scaling>
        <c:delete val="0"/>
        <c:axPos val="l"/>
        <c:numFmt formatCode="0&quot;%&quot;" sourceLinked="0"/>
        <c:majorTickMark val="out"/>
        <c:minorTickMark val="none"/>
        <c:tickLblPos val="nextTo"/>
        <c:spPr>
          <a:ln>
            <a:solidFill>
              <a:srgbClr val="C6D5E1"/>
            </a:solidFill>
          </a:ln>
        </c:spPr>
        <c:txPr>
          <a:bodyPr/>
          <a:lstStyle/>
          <a:p>
            <a:pPr>
              <a:defRPr sz="850"/>
            </a:pPr>
          </a:p>
        </c:txPr>
        <c:crossAx val="2118791784"/>
        <c:crosses val="autoZero"/>
      </c:valAx>
    </c:plotArea>
    <c:plotVisOnly val="1"/>
    <c:dispBlanksAs val="gap"/>
    <c:showDLblsOverMax val="0"/>
  </c:chart>
  <c:txPr>
    <a:bodyPr/>
    <a:lstStyle/>
    <a:p>
      <a:pPr>
        <a:defRPr sz="8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Optimistic</c:v>
                </c:pt>
              </c:strCache>
            </c:strRef>
          </c:tx>
          <c:spPr>
            <a:solidFill>
              <a:srgbClr val="3D85C6"/>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Sheet1!$B$2:$B$12</c:f>
              <c:numCache>
                <c:formatCode>General</c:formatCode>
                <c:ptCount val="11"/>
                <c:pt idx="0">
                  <c:v>2305.7315644740975</c:v>
                </c:pt>
                <c:pt idx="1">
                  <c:v>2533.46104184497</c:v>
                </c:pt>
                <c:pt idx="2">
                  <c:v>2783.682606179764</c:v>
                </c:pt>
                <c:pt idx="3">
                  <c:v>3058.6177264856246</c:v>
                </c:pt>
                <c:pt idx="4">
                  <c:v>3360.7072789130893</c:v>
                </c:pt>
                <c:pt idx="5">
                  <c:v>3692.6332168736626</c:v>
                </c:pt>
                <c:pt idx="6">
                  <c:v>4057.342381443201</c:v>
                </c:pt>
                <c:pt idx="7">
                  <c:v>4458.072663440054</c:v>
                </c:pt>
                <c:pt idx="8">
                  <c:v>4898.381749445101</c:v>
                </c:pt>
                <c:pt idx="9">
                  <c:v>5382.178706971067</c:v>
                </c:pt>
                <c:pt idx="10">
                  <c:v>5913.758689194504</c:v>
                </c:pt>
              </c:numCache>
            </c:numRef>
          </c:val>
        </c:ser>
        <c:ser>
          <c:idx val="1"/>
          <c:order val="1"/>
          <c:tx>
            <c:strRef>
              <c:f>Sheet1!$C$1</c:f>
              <c:strCache>
                <c:ptCount val="1"/>
                <c:pt idx="0">
                  <c:v>Likely</c:v>
                </c:pt>
              </c:strCache>
            </c:strRef>
          </c:tx>
          <c:spPr>
            <a:solidFill>
              <a:srgbClr val="9E7E0A"/>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Sheet1!$C$2:$C$12</c:f>
              <c:numCache>
                <c:formatCode>General</c:formatCode>
                <c:ptCount val="11"/>
                <c:pt idx="0">
                  <c:v>2305.7315644740975</c:v>
                </c:pt>
                <c:pt idx="1">
                  <c:v>2467.6750748507984</c:v>
                </c:pt>
                <c:pt idx="2">
                  <c:v>2650.0288253074386</c:v>
                </c:pt>
                <c:pt idx="3">
                  <c:v>2852.461336877671</c:v>
                </c:pt>
                <c:pt idx="4">
                  <c:v>3073.579036188752</c:v>
                </c:pt>
                <c:pt idx="5">
                  <c:v>3314.3046224290406</c:v>
                </c:pt>
                <c:pt idx="6">
                  <c:v>3578.156809888676</c:v>
                </c:pt>
                <c:pt idx="7">
                  <c:v>3864.789262605528</c:v>
                </c:pt>
                <c:pt idx="8">
                  <c:v>4185.475525020057</c:v>
                </c:pt>
                <c:pt idx="9">
                  <c:v>4538.412674806594</c:v>
                </c:pt>
                <c:pt idx="10">
                  <c:v>4932.611789846145</c:v>
                </c:pt>
              </c:numCache>
            </c:numRef>
          </c:val>
        </c:ser>
        <c:ser>
          <c:idx val="2"/>
          <c:order val="2"/>
          <c:tx>
            <c:strRef>
              <c:f>Sheet1!$D$1</c:f>
              <c:strCache>
                <c:ptCount val="1"/>
                <c:pt idx="0">
                  <c:v>Conservative</c:v>
                </c:pt>
              </c:strCache>
            </c:strRef>
          </c:tx>
          <c:spPr>
            <a:solidFill>
              <a:srgbClr val="008189"/>
            </a:solidFill>
            <a:ln>
              <a:noFill/>
            </a:ln>
          </c:spPr>
          <c:cat>
            <c:strRef>
              <c:f>Sheet1!$A$2:$A$12</c:f>
              <c:strCache>
                <c:ptCount val="11"/>
                <c:pt idx="0">
                  <c:v>2026</c:v>
                </c:pt>
                <c:pt idx="1">
                  <c:v>2027</c:v>
                </c:pt>
                <c:pt idx="2">
                  <c:v>2028</c:v>
                </c:pt>
                <c:pt idx="3">
                  <c:v>2029</c:v>
                </c:pt>
                <c:pt idx="4">
                  <c:v>2030</c:v>
                </c:pt>
                <c:pt idx="5">
                  <c:v>2031</c:v>
                </c:pt>
                <c:pt idx="6">
                  <c:v>2032</c:v>
                </c:pt>
                <c:pt idx="7">
                  <c:v>2033</c:v>
                </c:pt>
                <c:pt idx="8">
                  <c:v>2034</c:v>
                </c:pt>
                <c:pt idx="9">
                  <c:v>2035</c:v>
                </c:pt>
                <c:pt idx="10">
                  <c:v>2036</c:v>
                </c:pt>
              </c:strCache>
            </c:strRef>
          </c:cat>
          <c:val>
            <c:numRef>
              <c:f>Sheet1!$D$2:$D$12</c:f>
              <c:numCache>
                <c:formatCode>General</c:formatCode>
                <c:ptCount val="11"/>
                <c:pt idx="0">
                  <c:v>2305.7315644740975</c:v>
                </c:pt>
                <c:pt idx="1">
                  <c:v>2442.3692508966205</c:v>
                </c:pt>
                <c:pt idx="2">
                  <c:v>2587.1040886261558</c:v>
                </c:pt>
                <c:pt idx="3">
                  <c:v>2740.415914968245</c:v>
                </c:pt>
                <c:pt idx="4">
                  <c:v>2902.813002394217</c:v>
                </c:pt>
                <c:pt idx="5">
                  <c:v>3074.833743609524</c:v>
                </c:pt>
                <c:pt idx="6">
                  <c:v>3257.0484364792637</c:v>
                </c:pt>
                <c:pt idx="7">
                  <c:v>3450.0611747284047</c:v>
                </c:pt>
                <c:pt idx="8">
                  <c:v>3654.511850684946</c:v>
                </c:pt>
                <c:pt idx="9">
                  <c:v>3871.0782767056508</c:v>
                </c:pt>
                <c:pt idx="10">
                  <c:v>4100.478432317515</c:v>
                </c:pt>
              </c:numCache>
            </c:numRef>
          </c:val>
        </c:ser>
        <c:dLbls>
          <c:numFmt formatCode="#,##0" sourceLinked="0"/>
          <c:txPr>
            <a:bodyPr rot="-5400000" vert="horz"/>
            <a:lstStyle/>
            <a:p>
              <a:pPr>
                <a:defRPr sz="6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7687.886295952855"/>
          <c:min val="0.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North America</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31.992218069204515</c:v>
                </c:pt>
                <c:pt idx="1">
                  <c:v>32.26364299355412</c:v>
                </c:pt>
              </c:numCache>
            </c:numRef>
          </c:val>
        </c:ser>
        <c:ser>
          <c:idx val="1"/>
          <c:order val="1"/>
          <c:tx>
            <c:strRef>
              <c:f>Sheet1!$C$1</c:f>
              <c:strCache>
                <c:ptCount val="1"/>
                <c:pt idx="0">
                  <c:v>Western Europe</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23.656443467439033</c:v>
                </c:pt>
                <c:pt idx="1">
                  <c:v>22.74214953924628</c:v>
                </c:pt>
              </c:numCache>
            </c:numRef>
          </c:val>
        </c:ser>
        <c:ser>
          <c:idx val="2"/>
          <c:order val="2"/>
          <c:tx>
            <c:strRef>
              <c:f>Sheet1!$D$1</c:f>
              <c:strCache>
                <c:ptCount val="1"/>
                <c:pt idx="0">
                  <c:v>East Asia</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16.98632375238136</c:v>
                </c:pt>
                <c:pt idx="1">
                  <c:v>18.002865317259406</c:v>
                </c:pt>
              </c:numCache>
            </c:numRef>
          </c:val>
        </c:ser>
        <c:ser>
          <c:idx val="3"/>
          <c:order val="3"/>
          <c:tx>
            <c:strRef>
              <c:f>Sheet1!$E$1</c:f>
              <c:strCache>
                <c:ptCount val="1"/>
                <c:pt idx="0">
                  <c:v>South Asia Pacific</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8.07375986187816</c:v>
                </c:pt>
                <c:pt idx="1">
                  <c:v>8.537714905195143</c:v>
                </c:pt>
              </c:numCache>
            </c:numRef>
          </c:val>
        </c:ser>
        <c:ser>
          <c:idx val="4"/>
          <c:order val="4"/>
          <c:tx>
            <c:strRef>
              <c:f>Sheet1!$F$1</c:f>
              <c:strCache>
                <c:ptCount val="1"/>
                <c:pt idx="0">
                  <c:v>Latin America</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8.100186113782964</c:v>
                </c:pt>
                <c:pt idx="1">
                  <c:v>7.668235593362355</c:v>
                </c:pt>
              </c:numCache>
            </c:numRef>
          </c:val>
        </c:ser>
        <c:ser>
          <c:idx val="5"/>
          <c:order val="5"/>
          <c:tx>
            <c:strRef>
              <c:f>Sheet1!$G$1</c:f>
              <c:strCache>
                <c:ptCount val="1"/>
                <c:pt idx="0">
                  <c:v>Eastern Europe</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6.7370453588182</c:v>
                </c:pt>
                <c:pt idx="1">
                  <c:v>6.431075702526192</c:v>
                </c:pt>
              </c:numCache>
            </c:numRef>
          </c:val>
        </c:ser>
        <c:ser>
          <c:idx val="6"/>
          <c:order val="6"/>
          <c:tx>
            <c:strRef>
              <c:f>Sheet1!$H$1</c:f>
              <c:strCache>
                <c:ptCount val="1"/>
                <c:pt idx="0">
                  <c:v>Middle East &amp; Africa</c:v>
                </c:pt>
              </c:strCache>
            </c:strRef>
          </c:tx>
          <c:spPr>
            <a:solidFill>
              <a:srgbClr val="0E72A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4.454023376495784</c:v>
                </c:pt>
                <c:pt idx="1">
                  <c:v>4.354315948856508</c:v>
                </c:pt>
              </c:numCache>
            </c:numRef>
          </c:val>
        </c:ser>
        <c:gapWidth val="178"/>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North America</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Sheet1!$B$2:$B$3</c:f>
              <c:numCache>
                <c:formatCode>General</c:formatCode>
                <c:ptCount val="2"/>
                <c:pt idx="0">
                  <c:v>32.4394822597388</c:v>
                </c:pt>
                <c:pt idx="1">
                  <c:v>32.88222094298101</c:v>
                </c:pt>
              </c:numCache>
            </c:numRef>
          </c:val>
        </c:ser>
        <c:ser>
          <c:idx val="1"/>
          <c:order val="1"/>
          <c:tx>
            <c:strRef>
              <c:f>Sheet1!$C$1</c:f>
              <c:strCache>
                <c:ptCount val="1"/>
                <c:pt idx="0">
                  <c:v>Western Europe</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Sheet1!$C$2:$C$3</c:f>
              <c:numCache>
                <c:formatCode>General</c:formatCode>
                <c:ptCount val="2"/>
                <c:pt idx="0">
                  <c:v>26.5817708103032</c:v>
                </c:pt>
                <c:pt idx="1">
                  <c:v>25.673175372289926</c:v>
                </c:pt>
              </c:numCache>
            </c:numRef>
          </c:val>
        </c:ser>
        <c:ser>
          <c:idx val="2"/>
          <c:order val="2"/>
          <c:tx>
            <c:strRef>
              <c:f>Sheet1!$D$1</c:f>
              <c:strCache>
                <c:ptCount val="1"/>
                <c:pt idx="0">
                  <c:v>East Asia</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Sheet1!$D$2:$D$3</c:f>
              <c:numCache>
                <c:formatCode>General</c:formatCode>
                <c:ptCount val="2"/>
                <c:pt idx="0">
                  <c:v>15.523071507548675</c:v>
                </c:pt>
                <c:pt idx="1">
                  <c:v>16.308863091430023</c:v>
                </c:pt>
              </c:numCache>
            </c:numRef>
          </c:val>
        </c:ser>
        <c:ser>
          <c:idx val="3"/>
          <c:order val="3"/>
          <c:tx>
            <c:strRef>
              <c:f>Sheet1!$E$1</c:f>
              <c:strCache>
                <c:ptCount val="1"/>
                <c:pt idx="0">
                  <c:v>South Asia Pacific</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Sheet1!$E$2:$E$3</c:f>
              <c:numCache>
                <c:formatCode>General</c:formatCode>
                <c:ptCount val="2"/>
                <c:pt idx="0">
                  <c:v>7.092195577088263</c:v>
                </c:pt>
                <c:pt idx="1">
                  <c:v>7.424553146572416</c:v>
                </c:pt>
              </c:numCache>
            </c:numRef>
          </c:val>
        </c:ser>
        <c:ser>
          <c:idx val="4"/>
          <c:order val="4"/>
          <c:tx>
            <c:strRef>
              <c:f>Sheet1!$F$1</c:f>
              <c:strCache>
                <c:ptCount val="1"/>
                <c:pt idx="0">
                  <c:v>Latin America</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Sheet1!$F$2:$F$3</c:f>
              <c:numCache>
                <c:formatCode>General</c:formatCode>
                <c:ptCount val="2"/>
                <c:pt idx="0">
                  <c:v>7.68744254737951</c:v>
                </c:pt>
                <c:pt idx="1">
                  <c:v>7.349242232763732</c:v>
                </c:pt>
              </c:numCache>
            </c:numRef>
          </c:val>
        </c:ser>
        <c:ser>
          <c:idx val="5"/>
          <c:order val="5"/>
          <c:tx>
            <c:strRef>
              <c:f>Sheet1!$G$1</c:f>
              <c:strCache>
                <c:ptCount val="1"/>
                <c:pt idx="0">
                  <c:v>Eastern Europe</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Sheet1!$G$2:$G$3</c:f>
              <c:numCache>
                <c:formatCode>General</c:formatCode>
                <c:ptCount val="2"/>
                <c:pt idx="0">
                  <c:v>6.300424362209355</c:v>
                </c:pt>
                <c:pt idx="1">
                  <c:v>6.051825495945809</c:v>
                </c:pt>
              </c:numCache>
            </c:numRef>
          </c:val>
        </c:ser>
        <c:ser>
          <c:idx val="6"/>
          <c:order val="6"/>
          <c:tx>
            <c:strRef>
              <c:f>Sheet1!$H$1</c:f>
              <c:strCache>
                <c:ptCount val="1"/>
                <c:pt idx="0">
                  <c:v>Middle East &amp; Africa</c:v>
                </c:pt>
              </c:strCache>
            </c:strRef>
          </c:tx>
          <c:spPr>
            <a:solidFill>
              <a:srgbClr val="0E72A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Sheet1!$A$2:$A$3</c:f>
              <c:strCache>
                <c:ptCount val="2"/>
                <c:pt idx="0">
                  <c:v>2026</c:v>
                </c:pt>
                <c:pt idx="1">
                  <c:v>2036</c:v>
                </c:pt>
              </c:strCache>
            </c:strRef>
          </c:cat>
          <c:val>
            <c:numRef>
              <c:f>Sheet1!$H$2:$H$3</c:f>
              <c:numCache>
                <c:formatCode>General</c:formatCode>
                <c:ptCount val="2"/>
                <c:pt idx="0">
                  <c:v>4.375612935732198</c:v>
                </c:pt>
                <c:pt idx="1">
                  <c:v>4.310119718017101</c:v>
                </c:pt>
              </c:numCache>
            </c:numRef>
          </c:val>
        </c:ser>
        <c:gapWidth val="178"/>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North America</c:v>
                </c:pt>
              </c:strCache>
            </c:strRef>
          </c:tx>
          <c:spPr>
            <a:solidFill>
              <a:srgbClr val="3D85C6"/>
            </a:solidFill>
            <a:ln>
              <a:noFill/>
            </a:ln>
          </c:spPr>
          <c:dLbls>
            <c:dLbl>
              <c:idx val="0"/>
              <c:tx>
                <c:rich>
                  <a:bodyPr/>
                  <a:lstStyle/>
                  <a:p>
                    <a:r>
                      <a:rPr sz="750">
                        <a:solidFill>
                          <a:srgbClr val="FFFFFF"/>
                        </a:solidFill>
                        <a:latin typeface="Calibri"/>
                      </a:rPr>
                      <a:t>640</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683</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731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783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840</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903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971</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1,043</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1,120</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1,200</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1,286</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1,375</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1,469</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1,572</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1,678</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1,796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639.739109</c:v>
                </c:pt>
                <c:pt idx="1">
                  <c:v>683.175471</c:v>
                </c:pt>
                <c:pt idx="2">
                  <c:v>730.666058</c:v>
                </c:pt>
                <c:pt idx="3">
                  <c:v>783.049808</c:v>
                </c:pt>
                <c:pt idx="4">
                  <c:v>839.695428</c:v>
                </c:pt>
                <c:pt idx="5">
                  <c:v>902.872658</c:v>
                </c:pt>
                <c:pt idx="6">
                  <c:v>971.130192</c:v>
                </c:pt>
                <c:pt idx="7">
                  <c:v>1043.168223</c:v>
                </c:pt>
                <c:pt idx="8">
                  <c:v>1119.854353</c:v>
                </c:pt>
                <c:pt idx="9">
                  <c:v>1200.43499</c:v>
                </c:pt>
                <c:pt idx="10">
                  <c:v>1285.729494</c:v>
                </c:pt>
                <c:pt idx="11">
                  <c:v>1375.423386</c:v>
                </c:pt>
                <c:pt idx="12">
                  <c:v>1469.28332</c:v>
                </c:pt>
                <c:pt idx="13">
                  <c:v>1571.881886</c:v>
                </c:pt>
                <c:pt idx="14">
                  <c:v>1678.339132</c:v>
                </c:pt>
                <c:pt idx="15">
                  <c:v>1795.732679</c:v>
                </c:pt>
              </c:numCache>
            </c:numRef>
          </c:val>
        </c:ser>
        <c:ser>
          <c:idx val="1"/>
          <c:order val="1"/>
          <c:tx>
            <c:strRef>
              <c:f>Sheet1!$C$1</c:f>
              <c:strCache>
                <c:ptCount val="1"/>
                <c:pt idx="0">
                  <c:v>Western Europe</c:v>
                </c:pt>
              </c:strCache>
            </c:strRef>
          </c:tx>
          <c:spPr>
            <a:solidFill>
              <a:srgbClr val="9E7E0A"/>
            </a:solidFill>
            <a:ln>
              <a:noFill/>
            </a:ln>
          </c:spPr>
          <c:dLbls>
            <c:dLbl>
              <c:idx val="0"/>
              <c:tx>
                <c:rich>
                  <a:bodyPr/>
                  <a:lstStyle/>
                  <a:p>
                    <a:r>
                      <a:rPr sz="750">
                        <a:solidFill>
                          <a:srgbClr val="FFFFFF"/>
                        </a:solidFill>
                        <a:latin typeface="Calibri"/>
                      </a:rPr>
                      <a:t>503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529</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557</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589</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626</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668</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714</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763</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816</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870</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927</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987</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1,051</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1,119</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1,190</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1,266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503.030021</c:v>
                </c:pt>
                <c:pt idx="1">
                  <c:v>528.691679</c:v>
                </c:pt>
                <c:pt idx="2">
                  <c:v>557.140558</c:v>
                </c:pt>
                <c:pt idx="3">
                  <c:v>589.04256</c:v>
                </c:pt>
                <c:pt idx="4">
                  <c:v>625.810743</c:v>
                </c:pt>
                <c:pt idx="5">
                  <c:v>667.623481</c:v>
                </c:pt>
                <c:pt idx="6">
                  <c:v>713.891166</c:v>
                </c:pt>
                <c:pt idx="7">
                  <c:v>763.396367</c:v>
                </c:pt>
                <c:pt idx="8">
                  <c:v>815.658563</c:v>
                </c:pt>
                <c:pt idx="9">
                  <c:v>869.942468</c:v>
                </c:pt>
                <c:pt idx="10">
                  <c:v>926.922517</c:v>
                </c:pt>
                <c:pt idx="11">
                  <c:v>987.333118</c:v>
                </c:pt>
                <c:pt idx="12">
                  <c:v>1050.503454</c:v>
                </c:pt>
                <c:pt idx="13">
                  <c:v>1118.717223</c:v>
                </c:pt>
                <c:pt idx="14">
                  <c:v>1189.843577</c:v>
                </c:pt>
                <c:pt idx="15">
                  <c:v>1265.784559</c:v>
                </c:pt>
              </c:numCache>
            </c:numRef>
          </c:val>
        </c:ser>
        <c:ser>
          <c:idx val="2"/>
          <c:order val="2"/>
          <c:tx>
            <c:strRef>
              <c:f>Sheet1!$D$1</c:f>
              <c:strCache>
                <c:ptCount val="1"/>
                <c:pt idx="0">
                  <c:v>East Asia</c:v>
                </c:pt>
              </c:strCache>
            </c:strRef>
          </c:tx>
          <c:spPr>
            <a:solidFill>
              <a:srgbClr val="008189"/>
            </a:solidFill>
            <a:ln>
              <a:noFill/>
            </a:ln>
          </c:spPr>
          <c:dLbls>
            <c:dLbl>
              <c:idx val="0"/>
              <c:tx>
                <c:rich>
                  <a:bodyPr/>
                  <a:lstStyle/>
                  <a:p>
                    <a:r>
                      <a:rPr sz="750">
                        <a:solidFill>
                          <a:srgbClr val="FFFFFF"/>
                        </a:solidFill>
                        <a:latin typeface="Calibri"/>
                      </a:rPr>
                      <a:t>352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372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394</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418</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446</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479</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517</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559</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605</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653</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703</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755</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810</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870</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934</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1,002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352.017832</c:v>
                </c:pt>
                <c:pt idx="1">
                  <c:v>371.78193</c:v>
                </c:pt>
                <c:pt idx="2">
                  <c:v>393.620243</c:v>
                </c:pt>
                <c:pt idx="3">
                  <c:v>417.963686</c:v>
                </c:pt>
                <c:pt idx="4">
                  <c:v>446.25323</c:v>
                </c:pt>
                <c:pt idx="5">
                  <c:v>479.381806</c:v>
                </c:pt>
                <c:pt idx="6">
                  <c:v>517.113089</c:v>
                </c:pt>
                <c:pt idx="7">
                  <c:v>559.208629</c:v>
                </c:pt>
                <c:pt idx="8">
                  <c:v>604.849032</c:v>
                </c:pt>
                <c:pt idx="9">
                  <c:v>652.923214</c:v>
                </c:pt>
                <c:pt idx="10">
                  <c:v>702.542643</c:v>
                </c:pt>
                <c:pt idx="11">
                  <c:v>754.825854</c:v>
                </c:pt>
                <c:pt idx="12">
                  <c:v>810.069499</c:v>
                </c:pt>
                <c:pt idx="13">
                  <c:v>869.796102</c:v>
                </c:pt>
                <c:pt idx="14">
                  <c:v>933.762529</c:v>
                </c:pt>
                <c:pt idx="15">
                  <c:v>1002.005061</c:v>
                </c:pt>
              </c:numCache>
            </c:numRef>
          </c:val>
        </c:ser>
        <c:ser>
          <c:idx val="3"/>
          <c:order val="3"/>
          <c:tx>
            <c:strRef>
              <c:f>Sheet1!$E$1</c:f>
              <c:strCache>
                <c:ptCount val="1"/>
                <c:pt idx="0">
                  <c:v>Latin America</c:v>
                </c:pt>
              </c:strCache>
            </c:strRef>
          </c:tx>
          <c:spPr>
            <a:solidFill>
              <a:srgbClr val="40315E"/>
            </a:solidFill>
            <a:ln>
              <a:noFill/>
            </a:ln>
          </c:spPr>
          <c:dLbls>
            <c:dLbl>
              <c:idx val="11"/>
              <c:tx>
                <c:rich>
                  <a:bodyPr/>
                  <a:lstStyle/>
                  <a:p>
                    <a:r>
                      <a:rPr sz="750">
                        <a:solidFill>
                          <a:srgbClr val="FFFFFF"/>
                        </a:solidFill>
                        <a:latin typeface="Calibri"/>
                      </a:rPr>
                      <a:t>338</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359</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381</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403</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427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183.362817</c:v>
                </c:pt>
                <c:pt idx="1">
                  <c:v>190.232039</c:v>
                </c:pt>
                <c:pt idx="2">
                  <c:v>197.766578</c:v>
                </c:pt>
                <c:pt idx="3">
                  <c:v>206.320494</c:v>
                </c:pt>
                <c:pt idx="4">
                  <c:v>216.525236</c:v>
                </c:pt>
                <c:pt idx="5">
                  <c:v>228.600485</c:v>
                </c:pt>
                <c:pt idx="6">
                  <c:v>242.943294</c:v>
                </c:pt>
                <c:pt idx="7">
                  <c:v>259.747358</c:v>
                </c:pt>
                <c:pt idx="8">
                  <c:v>278.274443</c:v>
                </c:pt>
                <c:pt idx="9">
                  <c:v>297.633822</c:v>
                </c:pt>
                <c:pt idx="10">
                  <c:v>317.673702</c:v>
                </c:pt>
                <c:pt idx="11">
                  <c:v>338.085025</c:v>
                </c:pt>
                <c:pt idx="12">
                  <c:v>358.901678</c:v>
                </c:pt>
                <c:pt idx="13">
                  <c:v>380.755658</c:v>
                </c:pt>
                <c:pt idx="14">
                  <c:v>403.416327</c:v>
                </c:pt>
                <c:pt idx="15">
                  <c:v>426.799331</c:v>
                </c:pt>
              </c:numCache>
            </c:numRef>
          </c:val>
        </c:ser>
        <c:ser>
          <c:idx val="4"/>
          <c:order val="4"/>
          <c:tx>
            <c:strRef>
              <c:f>Sheet1!$F$1</c:f>
              <c:strCache>
                <c:ptCount val="1"/>
                <c:pt idx="0">
                  <c:v>South Asia Pacific</c:v>
                </c:pt>
              </c:strCache>
            </c:strRef>
          </c:tx>
          <c:spPr>
            <a:solidFill>
              <a:srgbClr val="A35313"/>
            </a:solidFill>
            <a:ln>
              <a:noFill/>
            </a:ln>
          </c:spPr>
          <c:dLbls>
            <c:dLbl>
              <c:idx val="11"/>
              <c:tx>
                <c:rich>
                  <a:bodyPr/>
                  <a:lstStyle/>
                  <a:p>
                    <a:r>
                      <a:rPr sz="750">
                        <a:solidFill>
                          <a:srgbClr val="FFFFFF"/>
                        </a:solidFill>
                        <a:latin typeface="Calibri"/>
                      </a:rPr>
                      <a:t>358</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385</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414</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444</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475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174.22109</c:v>
                </c:pt>
                <c:pt idx="1">
                  <c:v>182.667414</c:v>
                </c:pt>
                <c:pt idx="2">
                  <c:v>191.87868</c:v>
                </c:pt>
                <c:pt idx="3">
                  <c:v>202.019207</c:v>
                </c:pt>
                <c:pt idx="4">
                  <c:v>213.884684</c:v>
                </c:pt>
                <c:pt idx="5">
                  <c:v>227.854693</c:v>
                </c:pt>
                <c:pt idx="6">
                  <c:v>244.227442</c:v>
                </c:pt>
                <c:pt idx="7">
                  <c:v>263.173501</c:v>
                </c:pt>
                <c:pt idx="8">
                  <c:v>284.607076</c:v>
                </c:pt>
                <c:pt idx="9">
                  <c:v>307.86809</c:v>
                </c:pt>
                <c:pt idx="10">
                  <c:v>332.479701</c:v>
                </c:pt>
                <c:pt idx="11">
                  <c:v>358.35175</c:v>
                </c:pt>
                <c:pt idx="12">
                  <c:v>385.152174</c:v>
                </c:pt>
                <c:pt idx="13">
                  <c:v>413.510486</c:v>
                </c:pt>
                <c:pt idx="14">
                  <c:v>443.618163</c:v>
                </c:pt>
                <c:pt idx="15">
                  <c:v>475.192887</c:v>
                </c:pt>
              </c:numCache>
            </c:numRef>
          </c:val>
        </c:ser>
        <c:ser>
          <c:idx val="5"/>
          <c:order val="5"/>
          <c:tx>
            <c:strRef>
              <c:f>Sheet1!$G$1</c:f>
              <c:strCache>
                <c:ptCount val="1"/>
                <c:pt idx="0">
                  <c:v>Eastern Europe</c:v>
                </c:pt>
              </c:strCache>
            </c:strRef>
          </c:tx>
          <c:spPr>
            <a:solidFill>
              <a:srgbClr val="808080"/>
            </a:solidFill>
            <a:ln>
              <a:noFill/>
            </a:ln>
          </c:spPr>
          <c:dLbls>
            <c:dLbl>
              <c:idx val="14"/>
              <c:tx>
                <c:rich>
                  <a:bodyPr/>
                  <a:lstStyle/>
                  <a:p>
                    <a:r>
                      <a:rPr sz="750">
                        <a:solidFill>
                          <a:srgbClr val="FFFFFF"/>
                        </a:solidFill>
                        <a:latin typeface="Calibri"/>
                      </a:rPr>
                      <a:t>336</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358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147.747701</c:v>
                </c:pt>
                <c:pt idx="1">
                  <c:v>154.435044</c:v>
                </c:pt>
                <c:pt idx="2">
                  <c:v>161.787636</c:v>
                </c:pt>
                <c:pt idx="3">
                  <c:v>170.074701</c:v>
                </c:pt>
                <c:pt idx="4">
                  <c:v>179.557513</c:v>
                </c:pt>
                <c:pt idx="5">
                  <c:v>190.130426</c:v>
                </c:pt>
                <c:pt idx="6">
                  <c:v>201.979745</c:v>
                </c:pt>
                <c:pt idx="7">
                  <c:v>215.096219</c:v>
                </c:pt>
                <c:pt idx="8">
                  <c:v>229.437223</c:v>
                </c:pt>
                <c:pt idx="9">
                  <c:v>244.725146</c:v>
                </c:pt>
                <c:pt idx="10">
                  <c:v>260.913018</c:v>
                </c:pt>
                <c:pt idx="11">
                  <c:v>278.027303</c:v>
                </c:pt>
                <c:pt idx="12">
                  <c:v>296.064588</c:v>
                </c:pt>
                <c:pt idx="13">
                  <c:v>315.347809</c:v>
                </c:pt>
                <c:pt idx="14">
                  <c:v>335.951671</c:v>
                </c:pt>
                <c:pt idx="15">
                  <c:v>357.941377</c:v>
                </c:pt>
              </c:numCache>
            </c:numRef>
          </c:val>
        </c:ser>
        <c:ser>
          <c:idx val="6"/>
          <c:order val="6"/>
          <c:tx>
            <c:strRef>
              <c:f>Sheet1!$H$1</c:f>
              <c:strCache>
                <c:ptCount val="1"/>
                <c:pt idx="0">
                  <c:v>Middle East &amp; Africa</c:v>
                </c:pt>
              </c:strCache>
            </c:strRef>
          </c:tx>
          <c:spPr>
            <a:solidFill>
              <a:srgbClr val="0E72AE"/>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99.740418</c:v>
                </c:pt>
                <c:pt idx="1">
                  <c:v>103.796219</c:v>
                </c:pt>
                <c:pt idx="2">
                  <c:v>108.191739</c:v>
                </c:pt>
                <c:pt idx="3">
                  <c:v>113.057782</c:v>
                </c:pt>
                <c:pt idx="4">
                  <c:v>118.824824</c:v>
                </c:pt>
                <c:pt idx="5">
                  <c:v>125.699816</c:v>
                </c:pt>
                <c:pt idx="6">
                  <c:v>133.782391</c:v>
                </c:pt>
                <c:pt idx="7">
                  <c:v>143.022469</c:v>
                </c:pt>
                <c:pt idx="8">
                  <c:v>153.435337</c:v>
                </c:pt>
                <c:pt idx="9">
                  <c:v>164.619949</c:v>
                </c:pt>
                <c:pt idx="10">
                  <c:v>176.24747</c:v>
                </c:pt>
                <c:pt idx="11">
                  <c:v>188.381483</c:v>
                </c:pt>
                <c:pt idx="12">
                  <c:v>200.902768</c:v>
                </c:pt>
                <c:pt idx="13">
                  <c:v>214.06758</c:v>
                </c:pt>
                <c:pt idx="14">
                  <c:v>227.936253</c:v>
                </c:pt>
                <c:pt idx="15">
                  <c:v>242.3529</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North America</c:v>
                </c:pt>
              </c:strCache>
            </c:strRef>
          </c:tx>
          <c:spPr>
            <a:solidFill>
              <a:srgbClr val="3D85C6"/>
            </a:solidFill>
            <a:ln>
              <a:noFill/>
            </a:ln>
          </c:spPr>
          <c:dLbls>
            <c:dLbl>
              <c:idx val="0"/>
              <c:tx>
                <c:rich>
                  <a:bodyPr/>
                  <a:lstStyle/>
                  <a:p>
                    <a:r>
                      <a:rPr sz="750">
                        <a:solidFill>
                          <a:srgbClr val="FFFFFF"/>
                        </a:solidFill>
                        <a:latin typeface="Calibri"/>
                      </a:rPr>
                      <a:t>552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582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615</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654</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698</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748</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804</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864</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931</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1,004</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1,083</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1,170</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1,265</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1,372</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1,489</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1,622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552.26881864393</c:v>
                </c:pt>
                <c:pt idx="1">
                  <c:v>581.876082594742</c:v>
                </c:pt>
                <c:pt idx="2">
                  <c:v>615.148239590729</c:v>
                </c:pt>
                <c:pt idx="3">
                  <c:v>654.486123162848</c:v>
                </c:pt>
                <c:pt idx="4">
                  <c:v>697.897131809844</c:v>
                </c:pt>
                <c:pt idx="5">
                  <c:v>747.967381814773</c:v>
                </c:pt>
                <c:pt idx="6">
                  <c:v>803.674438722928</c:v>
                </c:pt>
                <c:pt idx="7">
                  <c:v>864.344383658719</c:v>
                </c:pt>
                <c:pt idx="8">
                  <c:v>930.889330075214</c:v>
                </c:pt>
                <c:pt idx="9">
                  <c:v>1003.53895652292</c:v>
                </c:pt>
                <c:pt idx="10">
                  <c:v>1082.9842960785</c:v>
                </c:pt>
                <c:pt idx="11">
                  <c:v>1170.05884966766</c:v>
                </c:pt>
                <c:pt idx="12">
                  <c:v>1264.71572363179</c:v>
                </c:pt>
                <c:pt idx="13">
                  <c:v>1371.76247433604</c:v>
                </c:pt>
                <c:pt idx="14">
                  <c:v>1488.58015767189</c:v>
                </c:pt>
                <c:pt idx="15">
                  <c:v>1621.95230699674</c:v>
                </c:pt>
              </c:numCache>
            </c:numRef>
          </c:val>
        </c:ser>
        <c:ser>
          <c:idx val="1"/>
          <c:order val="1"/>
          <c:tx>
            <c:strRef>
              <c:f>Sheet1!$C$1</c:f>
              <c:strCache>
                <c:ptCount val="1"/>
                <c:pt idx="0">
                  <c:v>Western Europe</c:v>
                </c:pt>
              </c:strCache>
            </c:strRef>
          </c:tx>
          <c:spPr>
            <a:solidFill>
              <a:srgbClr val="9E7E0A"/>
            </a:solidFill>
            <a:ln>
              <a:noFill/>
            </a:ln>
          </c:spPr>
          <c:dLbls>
            <c:dLbl>
              <c:idx val="0"/>
              <c:tx>
                <c:rich>
                  <a:bodyPr/>
                  <a:lstStyle/>
                  <a:p>
                    <a:r>
                      <a:rPr sz="750">
                        <a:solidFill>
                          <a:srgbClr val="FFFFFF"/>
                        </a:solidFill>
                        <a:latin typeface="Calibri"/>
                      </a:rPr>
                      <a:t>482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500</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521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546</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577</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613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654</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701</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751</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805</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864</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930</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1,001</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1,081</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1,169</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1,266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0">
                  <c:v>482.256897157641</c:v>
                </c:pt>
                <c:pt idx="1">
                  <c:v>499.922952834075</c:v>
                </c:pt>
                <c:pt idx="2">
                  <c:v>520.544766316157</c:v>
                </c:pt>
                <c:pt idx="3">
                  <c:v>546.115098811017</c:v>
                </c:pt>
                <c:pt idx="4">
                  <c:v>576.712422299984</c:v>
                </c:pt>
                <c:pt idx="5">
                  <c:v>612.904279969323</c:v>
                </c:pt>
                <c:pt idx="6">
                  <c:v>654.460323342434</c:v>
                </c:pt>
                <c:pt idx="7">
                  <c:v>700.513876272315</c:v>
                </c:pt>
                <c:pt idx="8">
                  <c:v>750.700360657378</c:v>
                </c:pt>
                <c:pt idx="9">
                  <c:v>804.967822921962</c:v>
                </c:pt>
                <c:pt idx="10">
                  <c:v>864.240386266238</c:v>
                </c:pt>
                <c:pt idx="11">
                  <c:v>929.869982156189</c:v>
                </c:pt>
                <c:pt idx="12">
                  <c:v>1001.20591234352</c:v>
                </c:pt>
                <c:pt idx="13">
                  <c:v>1081.18486209328</c:v>
                </c:pt>
                <c:pt idx="14">
                  <c:v>1168.88235342104</c:v>
                </c:pt>
                <c:pt idx="15">
                  <c:v>1266.35807524145</c:v>
                </c:pt>
              </c:numCache>
            </c:numRef>
          </c:val>
        </c:ser>
        <c:ser>
          <c:idx val="2"/>
          <c:order val="2"/>
          <c:tx>
            <c:strRef>
              <c:f>Sheet1!$D$1</c:f>
              <c:strCache>
                <c:ptCount val="1"/>
                <c:pt idx="0">
                  <c:v>East Asia</c:v>
                </c:pt>
              </c:strCache>
            </c:strRef>
          </c:tx>
          <c:spPr>
            <a:solidFill>
              <a:srgbClr val="008189"/>
            </a:solidFill>
            <a:ln>
              <a:noFill/>
            </a:ln>
          </c:spPr>
          <c:dLbls>
            <c:dLbl>
              <c:idx val="2"/>
              <c:tx>
                <c:rich>
                  <a:bodyPr/>
                  <a:lstStyle/>
                  <a:p>
                    <a:r>
                      <a:rPr sz="750">
                        <a:solidFill>
                          <a:srgbClr val="FFFFFF"/>
                        </a:solidFill>
                        <a:latin typeface="Calibri"/>
                      </a:rPr>
                      <a:t>299</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315</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335</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358</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385</a:t>
                    </a:r>
                  </a:p>
                </c:rich>
              </c:tx>
              <c:dLblPos val="ctr"/>
              <c:showLegendKey val="0"/>
              <c:showVal val="1"/>
              <c:showCatName val="0"/>
              <c:showSerName val="0"/>
              <c:showPercent val="0"/>
              <c:showBubbleSize val="0"/>
            </c:dLbl>
            <c:dLbl>
              <c:idx val="7"/>
              <c:tx>
                <c:rich>
                  <a:bodyPr/>
                  <a:lstStyle/>
                  <a:p>
                    <a:r>
                      <a:rPr sz="750">
                        <a:solidFill>
                          <a:srgbClr val="FFFFFF"/>
                        </a:solidFill>
                        <a:latin typeface="Calibri"/>
                      </a:rPr>
                      <a:t>416</a:t>
                    </a:r>
                  </a:p>
                </c:rich>
              </c:tx>
              <c:dLblPos val="ctr"/>
              <c:showLegendKey val="0"/>
              <c:showVal val="1"/>
              <c:showCatName val="0"/>
              <c:showSerName val="0"/>
              <c:showPercent val="0"/>
              <c:showBubbleSize val="0"/>
            </c:dLbl>
            <c:dLbl>
              <c:idx val="8"/>
              <c:tx>
                <c:rich>
                  <a:bodyPr/>
                  <a:lstStyle/>
                  <a:p>
                    <a:r>
                      <a:rPr sz="750">
                        <a:solidFill>
                          <a:srgbClr val="FFFFFF"/>
                        </a:solidFill>
                        <a:latin typeface="Calibri"/>
                      </a:rPr>
                      <a:t>451</a:t>
                    </a:r>
                  </a:p>
                </c:rich>
              </c:tx>
              <c:dLblPos val="ctr"/>
              <c:showLegendKey val="0"/>
              <c:showVal val="1"/>
              <c:showCatName val="0"/>
              <c:showSerName val="0"/>
              <c:showPercent val="0"/>
              <c:showBubbleSize val="0"/>
            </c:dLbl>
            <c:dLbl>
              <c:idx val="9"/>
              <c:tx>
                <c:rich>
                  <a:bodyPr/>
                  <a:lstStyle/>
                  <a:p>
                    <a:r>
                      <a:rPr sz="750">
                        <a:solidFill>
                          <a:srgbClr val="FFFFFF"/>
                        </a:solidFill>
                        <a:latin typeface="Calibri"/>
                      </a:rPr>
                      <a:t>489</a:t>
                    </a:r>
                  </a:p>
                </c:rich>
              </c:tx>
              <c:dLblPos val="ctr"/>
              <c:showLegendKey val="0"/>
              <c:showVal val="1"/>
              <c:showCatName val="0"/>
              <c:showSerName val="0"/>
              <c:showPercent val="0"/>
              <c:showBubbleSize val="0"/>
            </c:dLbl>
            <c:dLbl>
              <c:idx val="10"/>
              <c:tx>
                <c:rich>
                  <a:bodyPr/>
                  <a:lstStyle/>
                  <a:p>
                    <a:r>
                      <a:rPr sz="750">
                        <a:solidFill>
                          <a:srgbClr val="FFFFFF"/>
                        </a:solidFill>
                        <a:latin typeface="Calibri"/>
                      </a:rPr>
                      <a:t>529</a:t>
                    </a:r>
                  </a:p>
                </c:rich>
              </c:tx>
              <c:dLblPos val="ctr"/>
              <c:showLegendKey val="0"/>
              <c:showVal val="1"/>
              <c:showCatName val="0"/>
              <c:showSerName val="0"/>
              <c:showPercent val="0"/>
              <c:showBubbleSize val="0"/>
            </c:dLbl>
            <c:dLbl>
              <c:idx val="11"/>
              <c:tx>
                <c:rich>
                  <a:bodyPr/>
                  <a:lstStyle/>
                  <a:p>
                    <a:r>
                      <a:rPr sz="750">
                        <a:solidFill>
                          <a:srgbClr val="FFFFFF"/>
                        </a:solidFill>
                        <a:latin typeface="Calibri"/>
                      </a:rPr>
                      <a:t>573</a:t>
                    </a:r>
                  </a:p>
                </c:rich>
              </c:tx>
              <c:dLblPos val="ctr"/>
              <c:showLegendKey val="0"/>
              <c:showVal val="1"/>
              <c:showCatName val="0"/>
              <c:showSerName val="0"/>
              <c:showPercent val="0"/>
              <c:showBubbleSize val="0"/>
            </c:dLbl>
            <c:dLbl>
              <c:idx val="12"/>
              <c:tx>
                <c:rich>
                  <a:bodyPr/>
                  <a:lstStyle/>
                  <a:p>
                    <a:r>
                      <a:rPr sz="750">
                        <a:solidFill>
                          <a:srgbClr val="FFFFFF"/>
                        </a:solidFill>
                        <a:latin typeface="Calibri"/>
                      </a:rPr>
                      <a:t>622</a:t>
                    </a:r>
                  </a:p>
                </c:rich>
              </c:tx>
              <c:dLblPos val="ctr"/>
              <c:showLegendKey val="0"/>
              <c:showVal val="1"/>
              <c:showCatName val="0"/>
              <c:showSerName val="0"/>
              <c:showPercent val="0"/>
              <c:showBubbleSize val="0"/>
            </c:dLbl>
            <c:dLbl>
              <c:idx val="13"/>
              <c:tx>
                <c:rich>
                  <a:bodyPr/>
                  <a:lstStyle/>
                  <a:p>
                    <a:r>
                      <a:rPr sz="750">
                        <a:solidFill>
                          <a:srgbClr val="FFFFFF"/>
                        </a:solidFill>
                        <a:latin typeface="Calibri"/>
                      </a:rPr>
                      <a:t>676</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737</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804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Sheet1!$D$2:$D$17</c:f>
              <c:numCache>
                <c:formatCode>General</c:formatCode>
                <c:ptCount val="16"/>
                <c:pt idx="0">
                  <c:v>274.110455900511</c:v>
                </c:pt>
                <c:pt idx="1">
                  <c:v>285.869708124997</c:v>
                </c:pt>
                <c:pt idx="2">
                  <c:v>299.321823113266</c:v>
                </c:pt>
                <c:pt idx="3">
                  <c:v>315.457659840881</c:v>
                </c:pt>
                <c:pt idx="4">
                  <c:v>334.647824263998</c:v>
                </c:pt>
                <c:pt idx="5">
                  <c:v>357.920359525435</c:v>
                </c:pt>
                <c:pt idx="6">
                  <c:v>385.10439477793</c:v>
                </c:pt>
                <c:pt idx="7">
                  <c:v>416.241426464263</c:v>
                </c:pt>
                <c:pt idx="8">
                  <c:v>450.848262223077</c:v>
                </c:pt>
                <c:pt idx="9">
                  <c:v>488.60541224096</c:v>
                </c:pt>
                <c:pt idx="10">
                  <c:v>529.137647318283</c:v>
                </c:pt>
                <c:pt idx="11">
                  <c:v>573.438097376384</c:v>
                </c:pt>
                <c:pt idx="12">
                  <c:v>621.989426114543</c:v>
                </c:pt>
                <c:pt idx="13">
                  <c:v>676.307361670026</c:v>
                </c:pt>
                <c:pt idx="14">
                  <c:v>737.035888078645</c:v>
                </c:pt>
                <c:pt idx="15">
                  <c:v>804.452903637744</c:v>
                </c:pt>
              </c:numCache>
            </c:numRef>
          </c:val>
        </c:ser>
        <c:ser>
          <c:idx val="3"/>
          <c:order val="3"/>
          <c:tx>
            <c:strRef>
              <c:f>Sheet1!$E$1</c:f>
              <c:strCache>
                <c:ptCount val="1"/>
                <c:pt idx="0">
                  <c:v>Latin America</c:v>
                </c:pt>
              </c:strCache>
            </c:strRef>
          </c:tx>
          <c:spPr>
            <a:solidFill>
              <a:srgbClr val="40315E"/>
            </a:solidFill>
            <a:ln>
              <a:noFill/>
            </a:ln>
          </c:spPr>
          <c:dLbls>
            <c:dLbl>
              <c:idx val="13"/>
              <c:tx>
                <c:rich>
                  <a:bodyPr/>
                  <a:lstStyle/>
                  <a:p>
                    <a:r>
                      <a:rPr sz="750">
                        <a:solidFill>
                          <a:srgbClr val="FFFFFF"/>
                        </a:solidFill>
                        <a:latin typeface="Calibri"/>
                      </a:rPr>
                      <a:t>312</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336</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363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Sheet1!$E$2:$E$17</c:f>
              <c:numCache>
                <c:formatCode>General</c:formatCode>
                <c:ptCount val="16"/>
                <c:pt idx="0">
                  <c:v>147.894486815978</c:v>
                </c:pt>
                <c:pt idx="1">
                  <c:v>151.501620774689</c:v>
                </c:pt>
                <c:pt idx="2">
                  <c:v>155.787526861304</c:v>
                </c:pt>
                <c:pt idx="3">
                  <c:v>161.405619657968</c:v>
                </c:pt>
                <c:pt idx="4">
                  <c:v>168.460612190232</c:v>
                </c:pt>
                <c:pt idx="5">
                  <c:v>177.251789315741</c:v>
                </c:pt>
                <c:pt idx="6">
                  <c:v>188.177233073666</c:v>
                </c:pt>
                <c:pt idx="7">
                  <c:v>201.433326343831</c:v>
                </c:pt>
                <c:pt idx="8">
                  <c:v>216.55218436885</c:v>
                </c:pt>
                <c:pt idx="9">
                  <c:v>232.962442792835</c:v>
                </c:pt>
                <c:pt idx="10">
                  <c:v>250.673060384903</c:v>
                </c:pt>
                <c:pt idx="11">
                  <c:v>269.618910400893</c:v>
                </c:pt>
                <c:pt idx="12">
                  <c:v>289.83641673271</c:v>
                </c:pt>
                <c:pt idx="13">
                  <c:v>312.012804887278</c:v>
                </c:pt>
                <c:pt idx="14">
                  <c:v>336.257769849271</c:v>
                </c:pt>
                <c:pt idx="15">
                  <c:v>362.509588837656</c:v>
                </c:pt>
              </c:numCache>
            </c:numRef>
          </c:val>
        </c:ser>
        <c:ser>
          <c:idx val="4"/>
          <c:order val="4"/>
          <c:tx>
            <c:strRef>
              <c:f>Sheet1!$F$1</c:f>
              <c:strCache>
                <c:ptCount val="1"/>
                <c:pt idx="0">
                  <c:v>South Asia Pacific</c:v>
                </c:pt>
              </c:strCache>
            </c:strRef>
          </c:tx>
          <c:spPr>
            <a:solidFill>
              <a:srgbClr val="A35313"/>
            </a:solidFill>
            <a:ln>
              <a:noFill/>
            </a:ln>
          </c:spPr>
          <c:dLbls>
            <c:dLbl>
              <c:idx val="13"/>
              <c:tx>
                <c:rich>
                  <a:bodyPr/>
                  <a:lstStyle/>
                  <a:p>
                    <a:r>
                      <a:rPr sz="750">
                        <a:solidFill>
                          <a:srgbClr val="FFFFFF"/>
                        </a:solidFill>
                        <a:latin typeface="Calibri"/>
                      </a:rPr>
                      <a:t>309</a:t>
                    </a:r>
                  </a:p>
                </c:rich>
              </c:tx>
              <c:dLblPos val="ctr"/>
              <c:showLegendKey val="0"/>
              <c:showVal val="1"/>
              <c:showCatName val="0"/>
              <c:showSerName val="0"/>
              <c:showPercent val="0"/>
              <c:showBubbleSize val="0"/>
            </c:dLbl>
            <c:dLbl>
              <c:idx val="14"/>
              <c:tx>
                <c:rich>
                  <a:bodyPr/>
                  <a:lstStyle/>
                  <a:p>
                    <a:r>
                      <a:rPr sz="750">
                        <a:solidFill>
                          <a:srgbClr val="FFFFFF"/>
                        </a:solidFill>
                        <a:latin typeface="Calibri"/>
                      </a:rPr>
                      <a:t>336</a:t>
                    </a:r>
                  </a:p>
                </c:rich>
              </c:tx>
              <c:dLblPos val="ctr"/>
              <c:showLegendKey val="0"/>
              <c:showVal val="1"/>
              <c:showCatName val="0"/>
              <c:showSerName val="0"/>
              <c:showPercent val="0"/>
              <c:showBubbleSize val="0"/>
            </c:dLbl>
            <c:dLbl>
              <c:idx val="15"/>
              <c:tx>
                <c:rich>
                  <a:bodyPr/>
                  <a:lstStyle/>
                  <a:p>
                    <a:r>
                      <a:rPr sz="750">
                        <a:solidFill>
                          <a:srgbClr val="FFFFFF"/>
                        </a:solidFill>
                        <a:latin typeface="Calibri"/>
                      </a:rPr>
                      <a:t>366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Sheet1!$F$2:$F$17</c:f>
              <c:numCache>
                <c:formatCode>General</c:formatCode>
                <c:ptCount val="16"/>
                <c:pt idx="0">
                  <c:v>130.724846842784</c:v>
                </c:pt>
                <c:pt idx="1">
                  <c:v>135.161336212868</c:v>
                </c:pt>
                <c:pt idx="2">
                  <c:v>140.277947418999</c:v>
                </c:pt>
                <c:pt idx="3">
                  <c:v>146.538033008268</c:v>
                </c:pt>
                <c:pt idx="4">
                  <c:v>154.171026964306</c:v>
                </c:pt>
                <c:pt idx="5">
                  <c:v>163.52699203516</c:v>
                </c:pt>
                <c:pt idx="6">
                  <c:v>174.85284376612</c:v>
                </c:pt>
                <c:pt idx="7">
                  <c:v>188.32790520386</c:v>
                </c:pt>
                <c:pt idx="8">
                  <c:v>203.998229607202</c:v>
                </c:pt>
                <c:pt idx="9">
                  <c:v>221.507753033982</c:v>
                </c:pt>
                <c:pt idx="10">
                  <c:v>240.662972250746</c:v>
                </c:pt>
                <c:pt idx="11">
                  <c:v>261.590484497026</c:v>
                </c:pt>
                <c:pt idx="12">
                  <c:v>284.105072052727</c:v>
                </c:pt>
                <c:pt idx="13">
                  <c:v>308.834889770072</c:v>
                </c:pt>
                <c:pt idx="14">
                  <c:v>336.245002867654</c:v>
                </c:pt>
                <c:pt idx="15">
                  <c:v>366.224383851224</c:v>
                </c:pt>
              </c:numCache>
            </c:numRef>
          </c:val>
        </c:ser>
        <c:ser>
          <c:idx val="5"/>
          <c:order val="5"/>
          <c:tx>
            <c:strRef>
              <c:f>Sheet1!$G$1</c:f>
              <c:strCache>
                <c:ptCount val="1"/>
                <c:pt idx="0">
                  <c:v>Eastern Europe</c:v>
                </c:pt>
              </c:strCache>
            </c:strRef>
          </c:tx>
          <c:spPr>
            <a:solidFill>
              <a:srgbClr val="808080"/>
            </a:solidFill>
            <a:ln>
              <a:noFill/>
            </a:ln>
          </c:spPr>
          <c:dLbls>
            <c:dLbl>
              <c:idx val="15"/>
              <c:tx>
                <c:rich>
                  <a:bodyPr/>
                  <a:lstStyle/>
                  <a:p>
                    <a:r>
                      <a:rPr sz="750">
                        <a:solidFill>
                          <a:srgbClr val="FFFFFF"/>
                        </a:solidFill>
                        <a:latin typeface="Calibri"/>
                      </a:rPr>
                      <a:t>299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Sheet1!$G$2:$G$17</c:f>
              <c:numCache>
                <c:formatCode>General</c:formatCode>
                <c:ptCount val="16"/>
                <c:pt idx="0">
                  <c:v>117.420631130493</c:v>
                </c:pt>
                <c:pt idx="1">
                  <c:v>121.203607944661</c:v>
                </c:pt>
                <c:pt idx="2">
                  <c:v>125.599344735721</c:v>
                </c:pt>
                <c:pt idx="3">
                  <c:v>131.105888777579</c:v>
                </c:pt>
                <c:pt idx="4">
                  <c:v>137.634865428387</c:v>
                </c:pt>
                <c:pt idx="5">
                  <c:v>145.270873215277</c:v>
                </c:pt>
                <c:pt idx="6">
                  <c:v>154.181982178882</c:v>
                </c:pt>
                <c:pt idx="7">
                  <c:v>164.418322098718</c:v>
                </c:pt>
                <c:pt idx="8">
                  <c:v>175.979803797623</c:v>
                </c:pt>
                <c:pt idx="9">
                  <c:v>188.728832683225</c:v>
                </c:pt>
                <c:pt idx="10">
                  <c:v>202.774986800956</c:v>
                </c:pt>
                <c:pt idx="11">
                  <c:v>218.236633078434</c:v>
                </c:pt>
                <c:pt idx="12">
                  <c:v>235.202734858713</c:v>
                </c:pt>
                <c:pt idx="13">
                  <c:v>254.077199459164</c:v>
                </c:pt>
                <c:pt idx="14">
                  <c:v>275.130256509518</c:v>
                </c:pt>
                <c:pt idx="15">
                  <c:v>298.513057913938</c:v>
                </c:pt>
              </c:numCache>
            </c:numRef>
          </c:val>
        </c:ser>
        <c:ser>
          <c:idx val="6"/>
          <c:order val="6"/>
          <c:tx>
            <c:strRef>
              <c:f>Sheet1!$H$1</c:f>
              <c:strCache>
                <c:ptCount val="1"/>
                <c:pt idx="0">
                  <c:v>Middle East &amp; Africa</c:v>
                </c:pt>
              </c:strCache>
            </c:strRef>
          </c:tx>
          <c:spPr>
            <a:solidFill>
              <a:srgbClr val="0E72AE"/>
            </a:solidFill>
            <a:ln>
              <a:noFill/>
            </a:ln>
          </c:spPr>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Sheet1!$H$2:$H$17</c:f>
              <c:numCache>
                <c:formatCode>General</c:formatCode>
                <c:ptCount val="16"/>
                <c:pt idx="0">
                  <c:v>83.7191278275385</c:v>
                </c:pt>
                <c:pt idx="1">
                  <c:v>85.8777028706835</c:v>
                </c:pt>
                <c:pt idx="2">
                  <c:v>88.3985050534213</c:v>
                </c:pt>
                <c:pt idx="3">
                  <c:v>91.6290479324163</c:v>
                </c:pt>
                <c:pt idx="4">
                  <c:v>95.7284770715283</c:v>
                </c:pt>
                <c:pt idx="5">
                  <c:v>100.889888598389</c:v>
                </c:pt>
                <c:pt idx="6">
                  <c:v>107.223858988839</c:v>
                </c:pt>
                <c:pt idx="7">
                  <c:v>114.749585265733</c:v>
                </c:pt>
                <c:pt idx="8">
                  <c:v>123.493166148326</c:v>
                </c:pt>
                <c:pt idx="9">
                  <c:v>133.267815992868</c:v>
                </c:pt>
                <c:pt idx="10">
                  <c:v>143.831273329411</c:v>
                </c:pt>
                <c:pt idx="11">
                  <c:v>155.343852712087</c:v>
                </c:pt>
                <c:pt idx="12">
                  <c:v>167.733976871521</c:v>
                </c:pt>
                <c:pt idx="13">
                  <c:v>181.295932804204</c:v>
                </c:pt>
                <c:pt idx="14">
                  <c:v>196.281246408572</c:v>
                </c:pt>
                <c:pt idx="15">
                  <c:v>212.601473367395</c:v>
                </c:pt>
              </c:numCache>
            </c:numRef>
          </c:val>
        </c:ser>
        <c:gapWidth val="5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Capillary Blood Collection Containers</c:v>
                </c:pt>
              </c:strCache>
            </c:strRef>
          </c:tx>
          <c:spPr>
            <a:solidFill>
              <a:srgbClr val="3D85C6"/>
            </a:solidFill>
            <a:ln>
              <a:noFill/>
            </a:ln>
          </c:spPr>
          <c:dLbls>
            <c:dLbl>
              <c:idx val="0"/>
              <c:tx>
                <c:rich>
                  <a:bodyPr/>
                  <a:lstStyle/>
                  <a:p>
                    <a:r>
                      <a:rPr sz="750">
                        <a:solidFill>
                          <a:srgbClr val="FFFFFF"/>
                        </a:solidFill>
                        <a:latin typeface="Calibri"/>
                      </a:rPr>
                      <a:t>43%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41%</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43%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44%</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42%</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44%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43%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42.8794279305038</c:v>
                </c:pt>
                <c:pt idx="1">
                  <c:v>40.57367917735642</c:v>
                </c:pt>
                <c:pt idx="2">
                  <c:v>42.96590929157173</c:v>
                </c:pt>
                <c:pt idx="3">
                  <c:v>44.24275297479698</c:v>
                </c:pt>
                <c:pt idx="4">
                  <c:v>41.78811917953284</c:v>
                </c:pt>
                <c:pt idx="5">
                  <c:v>43.74575258564873</c:v>
                </c:pt>
                <c:pt idx="6">
                  <c:v>42.91679017426442</c:v>
                </c:pt>
              </c:numCache>
            </c:numRef>
          </c:val>
        </c:ser>
        <c:ser>
          <c:idx val="1"/>
          <c:order val="1"/>
          <c:tx>
            <c:strRef>
              <c:f>Sheet1!$C$1</c:f>
              <c:strCache>
                <c:ptCount val="1"/>
                <c:pt idx="0">
                  <c:v>Blood Collection Lancets</c:v>
                </c:pt>
              </c:strCache>
            </c:strRef>
          </c:tx>
          <c:spPr>
            <a:solidFill>
              <a:srgbClr val="9E7E0A"/>
            </a:solidFill>
            <a:ln>
              <a:noFill/>
            </a:ln>
          </c:spPr>
          <c:dLbls>
            <c:dLbl>
              <c:idx val="0"/>
              <c:tx>
                <c:rich>
                  <a:bodyPr/>
                  <a:lstStyle/>
                  <a:p>
                    <a:r>
                      <a:rPr sz="750">
                        <a:solidFill>
                          <a:srgbClr val="FFFFFF"/>
                        </a:solidFill>
                        <a:latin typeface="Calibri"/>
                      </a:rPr>
                      <a:t>35%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35%</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35%</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34%</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34%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35%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34.931388859665944</c:v>
                </c:pt>
                <c:pt idx="1">
                  <c:v>37.328550173551946</c:v>
                </c:pt>
                <c:pt idx="2">
                  <c:v>34.59964760790495</c:v>
                </c:pt>
                <c:pt idx="3">
                  <c:v>34.94275819336782</c:v>
                </c:pt>
                <c:pt idx="4">
                  <c:v>34.321112534862586</c:v>
                </c:pt>
                <c:pt idx="5">
                  <c:v>34.160497600740584</c:v>
                </c:pt>
                <c:pt idx="6">
                  <c:v>35.46616704096341</c:v>
                </c:pt>
              </c:numCache>
            </c:numRef>
          </c:val>
        </c:ser>
        <c:ser>
          <c:idx val="2"/>
          <c:order val="2"/>
          <c:tx>
            <c:strRef>
              <c:f>Sheet1!$D$1</c:f>
              <c:strCache>
                <c:ptCount val="1"/>
                <c:pt idx="0">
                  <c:v>Integrated Capillary Blood Collection Devices</c:v>
                </c:pt>
              </c:strCache>
            </c:strRef>
          </c:tx>
          <c:spPr>
            <a:solidFill>
              <a:srgbClr val="008189"/>
            </a:solidFill>
            <a:ln>
              <a:noFill/>
            </a:ln>
          </c:spPr>
          <c:dLbls>
            <c:dLbl>
              <c:idx val="0"/>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12.865315762105398</c:v>
                </c:pt>
                <c:pt idx="1">
                  <c:v>13.430113361180462</c:v>
                </c:pt>
                <c:pt idx="2">
                  <c:v>13.205446447104793</c:v>
                </c:pt>
                <c:pt idx="3">
                  <c:v>12.393578985803837</c:v>
                </c:pt>
                <c:pt idx="4">
                  <c:v>15.282142122935976</c:v>
                </c:pt>
                <c:pt idx="5">
                  <c:v>12.89757068087683</c:v>
                </c:pt>
                <c:pt idx="6">
                  <c:v>13.076649306226837</c:v>
                </c:pt>
              </c:numCache>
            </c:numRef>
          </c:val>
        </c:ser>
        <c:ser>
          <c:idx val="3"/>
          <c:order val="3"/>
          <c:tx>
            <c:strRef>
              <c:f>Sheet1!$E$1</c:f>
              <c:strCache>
                <c:ptCount val="1"/>
                <c:pt idx="0">
                  <c:v>Dried Blood Spot Collection Products</c:v>
                </c:pt>
              </c:strCache>
            </c:strRef>
          </c:tx>
          <c:spPr>
            <a:solidFill>
              <a:srgbClr val="40315E"/>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9.323867447724856</c:v>
                </c:pt>
                <c:pt idx="1">
                  <c:v>8.667657287911181</c:v>
                </c:pt>
                <c:pt idx="2">
                  <c:v>9.228996653418545</c:v>
                </c:pt>
                <c:pt idx="3">
                  <c:v>8.420909846031382</c:v>
                </c:pt>
                <c:pt idx="4">
                  <c:v>8.608626162668592</c:v>
                </c:pt>
                <c:pt idx="5">
                  <c:v>9.196179132733857</c:v>
                </c:pt>
                <c:pt idx="6">
                  <c:v>8.540393478545338</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Capillary Blood Collection Containers</c:v>
                </c:pt>
              </c:strCache>
            </c:strRef>
          </c:tx>
          <c:spPr>
            <a:solidFill>
              <a:srgbClr val="3D85C6"/>
            </a:solidFill>
          </c:spPr>
          <c:invertIfNegative val="0"/>
          <c:xVal>
            <c:numRef>
              <c:f>Sheet1!$A$2:$A$2</c:f>
              <c:numCache>
                <c:formatCode>General</c:formatCode>
                <c:ptCount val="1"/>
                <c:pt idx="0">
                  <c:v>88.6260202065873</c:v>
                </c:pt>
              </c:numCache>
            </c:numRef>
          </c:xVal>
          <c:yVal>
            <c:numRef>
              <c:f>Sheet1!$B$2:$B$2</c:f>
              <c:numCache>
                <c:formatCode>General</c:formatCode>
                <c:ptCount val="1"/>
                <c:pt idx="0">
                  <c:v>186.58766581031253</c:v>
                </c:pt>
              </c:numCache>
            </c:numRef>
          </c:yVal>
          <c:bubbleSize>
            <c:numRef>
              <c:f>Sheet1!$C$2:$C$2</c:f>
              <c:numCache>
                <c:formatCode>General</c:formatCode>
                <c:ptCount val="1"/>
                <c:pt idx="0">
                  <c:v>2116.2967934455764</c:v>
                </c:pt>
              </c:numCache>
            </c:numRef>
          </c:bubbleSize>
          <c:bubble3D val="0"/>
        </c:ser>
        <c:ser>
          <c:idx val="1"/>
          <c:order val="1"/>
          <c:tx>
            <c:strRef>
              <c:f>Sheet1!$B$4</c:f>
              <c:strCache>
                <c:ptCount val="1"/>
                <c:pt idx="0">
                  <c:v>Blood Collection Lancets</c:v>
                </c:pt>
              </c:strCache>
            </c:strRef>
          </c:tx>
          <c:spPr>
            <a:solidFill>
              <a:srgbClr val="9E7E0A"/>
            </a:solidFill>
          </c:spPr>
          <c:invertIfNegative val="0"/>
          <c:xVal>
            <c:numRef>
              <c:f>Sheet1!$A$5:$A$5</c:f>
              <c:numCache>
                <c:formatCode>General</c:formatCode>
                <c:ptCount val="1"/>
                <c:pt idx="0">
                  <c:v>88.22559476598595</c:v>
                </c:pt>
              </c:numCache>
            </c:numRef>
          </c:xVal>
          <c:yVal>
            <c:numRef>
              <c:f>Sheet1!$B$5:$B$5</c:f>
              <c:numCache>
                <c:formatCode>General</c:formatCode>
                <c:ptCount val="1"/>
                <c:pt idx="0">
                  <c:v>152.36413336949758</c:v>
                </c:pt>
              </c:numCache>
            </c:numRef>
          </c:yVal>
          <c:bubbleSize>
            <c:numRef>
              <c:f>Sheet1!$C$5:$C$5</c:f>
              <c:numCache>
                <c:formatCode>General</c:formatCode>
                <c:ptCount val="1"/>
                <c:pt idx="0">
                  <c:v>1723.0269059396746</c:v>
                </c:pt>
              </c:numCache>
            </c:numRef>
          </c:bubbleSize>
          <c:bubble3D val="0"/>
        </c:ser>
        <c:ser>
          <c:idx val="2"/>
          <c:order val="2"/>
          <c:tx>
            <c:strRef>
              <c:f>Sheet1!$B$7</c:f>
              <c:strCache>
                <c:ptCount val="1"/>
                <c:pt idx="0">
                  <c:v>Integrated Capillary Blood Collection Devices</c:v>
                </c:pt>
              </c:strCache>
            </c:strRef>
          </c:tx>
          <c:spPr>
            <a:solidFill>
              <a:srgbClr val="008189"/>
            </a:solidFill>
          </c:spPr>
          <c:invertIfNegative val="0"/>
          <c:xVal>
            <c:numRef>
              <c:f>Sheet1!$A$8:$A$8</c:f>
              <c:numCache>
                <c:formatCode>General</c:formatCode>
                <c:ptCount val="1"/>
                <c:pt idx="0">
                  <c:v>158.59915527754103</c:v>
                </c:pt>
              </c:numCache>
            </c:numRef>
          </c:xVal>
          <c:yVal>
            <c:numRef>
              <c:f>Sheet1!$B$8:$B$8</c:f>
              <c:numCache>
                <c:formatCode>General</c:formatCode>
                <c:ptCount val="1"/>
                <c:pt idx="0">
                  <c:v>35.110813548751466</c:v>
                </c:pt>
              </c:numCache>
            </c:numRef>
          </c:yVal>
          <c:bubbleSize>
            <c:numRef>
              <c:f>Sheet1!$C$8:$C$8</c:f>
              <c:numCache>
                <c:formatCode>General</c:formatCode>
                <c:ptCount val="1"/>
                <c:pt idx="0">
                  <c:v>659.065889810305</c:v>
                </c:pt>
              </c:numCache>
            </c:numRef>
          </c:bubbleSize>
          <c:bubble3D val="0"/>
        </c:ser>
        <c:ser>
          <c:idx val="3"/>
          <c:order val="3"/>
          <c:tx>
            <c:strRef>
              <c:f>Sheet1!$B$10</c:f>
              <c:strCache>
                <c:ptCount val="1"/>
                <c:pt idx="0">
                  <c:v>Dried Blood Spot Collection Products</c:v>
                </c:pt>
              </c:strCache>
            </c:strRef>
          </c:tx>
          <c:spPr>
            <a:solidFill>
              <a:srgbClr val="40315E"/>
            </a:solidFill>
          </c:spPr>
          <c:invertIfNegative val="0"/>
          <c:xVal>
            <c:numRef>
              <c:f>Sheet1!$A$11:$A$11</c:f>
              <c:numCache>
                <c:formatCode>General</c:formatCode>
                <c:ptCount val="1"/>
                <c:pt idx="0">
                  <c:v>142.39294343164428</c:v>
                </c:pt>
              </c:numCache>
            </c:numRef>
          </c:xVal>
          <c:yVal>
            <c:numRef>
              <c:f>Sheet1!$B$11:$B$11</c:f>
              <c:numCache>
                <c:formatCode>General</c:formatCode>
                <c:ptCount val="1"/>
                <c:pt idx="0">
                  <c:v>25.93738727143838</c:v>
                </c:pt>
              </c:numCache>
            </c:numRef>
          </c:yVal>
          <c:bubbleSize>
            <c:numRef>
              <c:f>Sheet1!$C$11:$C$11</c:f>
              <c:numCache>
                <c:formatCode>General</c:formatCode>
                <c:ptCount val="1"/>
                <c:pt idx="0">
                  <c:v>434.2222006505893</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1788.395264318877</c:v>
                </c:pt>
                <c:pt idx="2">
                  <c:v>1861.4130113567155</c:v>
                </c:pt>
                <c:pt idx="3">
                  <c:v>1945.0781530895963</c:v>
                </c:pt>
                <c:pt idx="4">
                  <c:v>2046.7374711909777</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1788.395264318877</c:v>
                </c:pt>
                <c:pt idx="1">
                  <c:v>73.01774703783849</c:v>
                </c:pt>
                <c:pt idx="2">
                  <c:v>83.66514173288078</c:v>
                </c:pt>
                <c:pt idx="3">
                  <c:v>101.65931810138136</c:v>
                </c:pt>
                <c:pt idx="4">
                  <c:v>118.51488883730121</c:v>
                </c:pt>
                <c:pt idx="5">
                  <c:v>2165.252360028279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2305.7315644740975</c:v>
                </c:pt>
                <c:pt idx="2">
                  <c:v>2467.6750748507984</c:v>
                </c:pt>
                <c:pt idx="3">
                  <c:v>2650.0288253074386</c:v>
                </c:pt>
                <c:pt idx="4">
                  <c:v>2852.461336877671</c:v>
                </c:pt>
                <c:pt idx="5">
                  <c:v>3073.579036188752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2305.7315644740975</c:v>
                </c:pt>
                <c:pt idx="1">
                  <c:v>161.94351037670094</c:v>
                </c:pt>
                <c:pt idx="2">
                  <c:v>182.35375045664023</c:v>
                </c:pt>
                <c:pt idx="3">
                  <c:v>202.43251157023224</c:v>
                </c:pt>
                <c:pt idx="4">
                  <c:v>221.1176993110812</c:v>
                </c:pt>
                <c:pt idx="5">
                  <c:v>240.72558624028852</c:v>
                </c:pt>
                <c:pt idx="6">
                  <c:v>3314.3046224290406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3314.3046224290406</c:v>
                </c:pt>
                <c:pt idx="2">
                  <c:v>3578.156809888676</c:v>
                </c:pt>
                <c:pt idx="3">
                  <c:v>3864.789262605528</c:v>
                </c:pt>
                <c:pt idx="4">
                  <c:v>4185.475525020057</c:v>
                </c:pt>
                <c:pt idx="5">
                  <c:v>4538.412674806594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3314.3046224290406</c:v>
                </c:pt>
                <c:pt idx="1">
                  <c:v>263.8521874596354</c:v>
                </c:pt>
                <c:pt idx="2">
                  <c:v>286.6324527168522</c:v>
                </c:pt>
                <c:pt idx="3">
                  <c:v>320.68626241452876</c:v>
                </c:pt>
                <c:pt idx="4">
                  <c:v>352.9371497865368</c:v>
                </c:pt>
                <c:pt idx="5">
                  <c:v>394.19911503955154</c:v>
                </c:pt>
                <c:pt idx="6">
                  <c:v>4932.611789846145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Capillary Blood Collectio…</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47.84026942378306</c:v>
                </c:pt>
                <c:pt idx="1">
                  <c:v>46.64691645257813</c:v>
                </c:pt>
                <c:pt idx="2">
                  <c:v>42.90418309022423</c:v>
                </c:pt>
              </c:numCache>
            </c:numRef>
          </c:val>
        </c:ser>
        <c:ser>
          <c:idx val="1"/>
          <c:order val="1"/>
          <c:tx>
            <c:strRef>
              <c:f>Sheet1!$C$1</c:f>
              <c:strCache>
                <c:ptCount val="1"/>
                <c:pt idx="0">
                  <c:v>Blood Collection Lancets</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39.070388539008015</c:v>
                </c:pt>
                <c:pt idx="1">
                  <c:v>38.091033342374395</c:v>
                </c:pt>
                <c:pt idx="2">
                  <c:v>34.93133008128779</c:v>
                </c:pt>
              </c:numCache>
            </c:numRef>
          </c:val>
        </c:ser>
        <c:ser>
          <c:idx val="2"/>
          <c:order val="2"/>
          <c:tx>
            <c:strRef>
              <c:f>Sheet1!$D$1</c:f>
              <c:strCache>
                <c:ptCount val="1"/>
                <c:pt idx="0">
                  <c:v>Integrated Capillary Bloo…</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7.275953959216341</c:v>
                </c:pt>
                <c:pt idx="1">
                  <c:v>8.777703387187866</c:v>
                </c:pt>
                <c:pt idx="2">
                  <c:v>13.361397934599312</c:v>
                </c:pt>
              </c:numCache>
            </c:numRef>
          </c:val>
        </c:ser>
        <c:ser>
          <c:idx val="3"/>
          <c:order val="3"/>
          <c:tx>
            <c:strRef>
              <c:f>Sheet1!$E$1</c:f>
              <c:strCache>
                <c:ptCount val="1"/>
                <c:pt idx="0">
                  <c:v>Dried Blood Spot Collecti…</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5.813388077992575</c:v>
                </c:pt>
                <c:pt idx="1">
                  <c:v>6.484346817859595</c:v>
                </c:pt>
                <c:pt idx="2">
                  <c:v>8.803088893888672</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Diabetes &amp; Glucose Testing</c:v>
                </c:pt>
              </c:strCache>
            </c:strRef>
          </c:tx>
          <c:spPr>
            <a:solidFill>
              <a:srgbClr val="3D85C6"/>
            </a:solidFill>
            <a:ln>
              <a:noFill/>
            </a:ln>
          </c:spPr>
          <c:dLbls>
            <c:dLbl>
              <c:idx val="0"/>
              <c:tx>
                <c:rich>
                  <a:bodyPr/>
                  <a:lstStyle/>
                  <a:p>
                    <a:r>
                      <a:rPr sz="750">
                        <a:solidFill>
                          <a:srgbClr val="FFFFFF"/>
                        </a:solidFill>
                        <a:latin typeface="Calibri"/>
                      </a:rPr>
                      <a:t>38%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38%</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36%</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36%</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43%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38.0281321951328</c:v>
                </c:pt>
                <c:pt idx="1">
                  <c:v>38.45279735643176</c:v>
                </c:pt>
                <c:pt idx="2">
                  <c:v>36.48482156199546</c:v>
                </c:pt>
                <c:pt idx="3">
                  <c:v>36.960581583166984</c:v>
                </c:pt>
                <c:pt idx="4">
                  <c:v>36.0832925804833</c:v>
                </c:pt>
                <c:pt idx="5">
                  <c:v>36.51833284908224</c:v>
                </c:pt>
                <c:pt idx="6">
                  <c:v>43.443953227640925</c:v>
                </c:pt>
              </c:numCache>
            </c:numRef>
          </c:val>
        </c:ser>
        <c:ser>
          <c:idx val="1"/>
          <c:order val="1"/>
          <c:tx>
            <c:strRef>
              <c:f>Sheet1!$C$1</c:f>
              <c:strCache>
                <c:ptCount val="1"/>
                <c:pt idx="0">
                  <c:v>Newborn Screening</c:v>
                </c:pt>
              </c:strCache>
            </c:strRef>
          </c:tx>
          <c:spPr>
            <a:solidFill>
              <a:srgbClr val="9E7E0A"/>
            </a:solidFill>
            <a:ln>
              <a:noFill/>
            </a:ln>
          </c:spPr>
          <c:dLbls>
            <c:dLbl>
              <c:idx val="0"/>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13.614519483267514</c:v>
                </c:pt>
                <c:pt idx="1">
                  <c:v>12.25213346435872</c:v>
                </c:pt>
                <c:pt idx="2">
                  <c:v>13.453534271550282</c:v>
                </c:pt>
                <c:pt idx="3">
                  <c:v>14.235546144519805</c:v>
                </c:pt>
                <c:pt idx="4">
                  <c:v>14.909613810806807</c:v>
                </c:pt>
                <c:pt idx="5">
                  <c:v>13.18548738889112</c:v>
                </c:pt>
                <c:pt idx="6">
                  <c:v>11.430475110696507</c:v>
                </c:pt>
              </c:numCache>
            </c:numRef>
          </c:val>
        </c:ser>
        <c:ser>
          <c:idx val="2"/>
          <c:order val="2"/>
          <c:tx>
            <c:strRef>
              <c:f>Sheet1!$D$1</c:f>
              <c:strCache>
                <c:ptCount val="1"/>
                <c:pt idx="0">
                  <c:v>Hematology Testing</c:v>
                </c:pt>
              </c:strCache>
            </c:strRef>
          </c:tx>
          <c:spPr>
            <a:solidFill>
              <a:srgbClr val="008189"/>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10%</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10%</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8.762562590358353</c:v>
                </c:pt>
                <c:pt idx="1">
                  <c:v>10.144720433718952</c:v>
                </c:pt>
                <c:pt idx="2">
                  <c:v>9.242099807315899</c:v>
                </c:pt>
                <c:pt idx="3">
                  <c:v>8.967643697085476</c:v>
                </c:pt>
                <c:pt idx="4">
                  <c:v>7.9760566081019295</c:v>
                </c:pt>
                <c:pt idx="5">
                  <c:v>9.735160739022449</c:v>
                </c:pt>
                <c:pt idx="6">
                  <c:v>7.426422283477982</c:v>
                </c:pt>
              </c:numCache>
            </c:numRef>
          </c:val>
        </c:ser>
        <c:ser>
          <c:idx val="3"/>
          <c:order val="3"/>
          <c:tx>
            <c:strRef>
              <c:f>Sheet1!$E$1</c:f>
              <c:strCache>
                <c:ptCount val="1"/>
                <c:pt idx="0">
                  <c:v>Infectious Disease Testing</c:v>
                </c:pt>
              </c:strCache>
            </c:strRef>
          </c:tx>
          <c:spPr>
            <a:solidFill>
              <a:srgbClr val="40315E"/>
            </a:solidFill>
            <a:ln>
              <a:noFill/>
            </a:ln>
          </c:spPr>
          <c:dLbls>
            <c:dLbl>
              <c:idx val="0"/>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13.655878181417428</c:v>
                </c:pt>
                <c:pt idx="1">
                  <c:v>14.286219939438022</c:v>
                </c:pt>
                <c:pt idx="2">
                  <c:v>14.175313464978778</c:v>
                </c:pt>
                <c:pt idx="3">
                  <c:v>14.217083706283152</c:v>
                </c:pt>
                <c:pt idx="4">
                  <c:v>14.70109927035821</c:v>
                </c:pt>
                <c:pt idx="5">
                  <c:v>14.679566417024684</c:v>
                </c:pt>
                <c:pt idx="6">
                  <c:v>13.64883615679513</c:v>
                </c:pt>
              </c:numCache>
            </c:numRef>
          </c:val>
        </c:ser>
        <c:ser>
          <c:idx val="4"/>
          <c:order val="4"/>
          <c:tx>
            <c:strRef>
              <c:f>Sheet1!$F$1</c:f>
              <c:strCache>
                <c:ptCount val="1"/>
                <c:pt idx="0">
                  <c:v>Genetic &amp; Molecular Testing</c:v>
                </c:pt>
              </c:strCache>
            </c:strRef>
          </c:tx>
          <c:spPr>
            <a:solidFill>
              <a:srgbClr val="A35313"/>
            </a:solidFill>
            <a:ln>
              <a:noFill/>
            </a:ln>
          </c:spPr>
          <c:dLbls>
            <c:dLbl>
              <c:idx val="0"/>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11%</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Sheet1!$F$2:$F$8</c:f>
              <c:numCache>
                <c:formatCode>General</c:formatCode>
                <c:ptCount val="7"/>
                <c:pt idx="0">
                  <c:v>12.610901843923417</c:v>
                </c:pt>
                <c:pt idx="1">
                  <c:v>12.195005991447887</c:v>
                </c:pt>
                <c:pt idx="2">
                  <c:v>11.917064678221994</c:v>
                </c:pt>
                <c:pt idx="3">
                  <c:v>11.389961840141256</c:v>
                </c:pt>
                <c:pt idx="4">
                  <c:v>12.673779578890345</c:v>
                </c:pt>
                <c:pt idx="5">
                  <c:v>11.509801059945278</c:v>
                </c:pt>
                <c:pt idx="6">
                  <c:v>12.034597163671318</c:v>
                </c:pt>
              </c:numCache>
            </c:numRef>
          </c:val>
        </c:ser>
        <c:ser>
          <c:idx val="5"/>
          <c:order val="5"/>
          <c:tx>
            <c:strRef>
              <c:f>Sheet1!$G$1</c:f>
              <c:strCache>
                <c:ptCount val="1"/>
                <c:pt idx="0">
                  <c:v>Therapeutic Drug Monitoring</c:v>
                </c:pt>
              </c:strCache>
            </c:strRef>
          </c:tx>
          <c:spPr>
            <a:solidFill>
              <a:srgbClr val="808080"/>
            </a:solidFill>
            <a:ln>
              <a:noFill/>
            </a:ln>
          </c:spPr>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Sheet1!$G$2:$G$8</c:f>
              <c:numCache>
                <c:formatCode>General</c:formatCode>
                <c:ptCount val="7"/>
                <c:pt idx="0">
                  <c:v>3.116657724040597</c:v>
                </c:pt>
                <c:pt idx="1">
                  <c:v>3.216482322454295</c:v>
                </c:pt>
                <c:pt idx="2">
                  <c:v>3.3091486890854847</c:v>
                </c:pt>
                <c:pt idx="3">
                  <c:v>4.079341967428533</c:v>
                </c:pt>
                <c:pt idx="4">
                  <c:v>3.6602176963057924</c:v>
                </c:pt>
                <c:pt idx="5">
                  <c:v>3.629366325390497</c:v>
                </c:pt>
                <c:pt idx="6">
                  <c:v>3.2756903092854373</c:v>
                </c:pt>
              </c:numCache>
            </c:numRef>
          </c:val>
        </c:ser>
        <c:ser>
          <c:idx val="6"/>
          <c:order val="6"/>
          <c:tx>
            <c:strRef>
              <c:f>Sheet1!$H$1</c:f>
              <c:strCache>
                <c:ptCount val="1"/>
                <c:pt idx="0">
                  <c:v>Metabolic &amp; Biochemical Testing</c:v>
                </c:pt>
              </c:strCache>
            </c:strRef>
          </c:tx>
          <c:spPr>
            <a:solidFill>
              <a:srgbClr val="0E72AE"/>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10%</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Sheet1!$H$2:$H$8</c:f>
              <c:numCache>
                <c:formatCode>General</c:formatCode>
                <c:ptCount val="7"/>
                <c:pt idx="0">
                  <c:v>8.723068091243293</c:v>
                </c:pt>
                <c:pt idx="1">
                  <c:v>8.286071885040931</c:v>
                </c:pt>
                <c:pt idx="2">
                  <c:v>9.934032920860753</c:v>
                </c:pt>
                <c:pt idx="3">
                  <c:v>8.555138033323113</c:v>
                </c:pt>
                <c:pt idx="4">
                  <c:v>8.151254332589424</c:v>
                </c:pt>
                <c:pt idx="5">
                  <c:v>9.256583429304866</c:v>
                </c:pt>
                <c:pt idx="6">
                  <c:v>7.424341125095915</c:v>
                </c:pt>
              </c:numCache>
            </c:numRef>
          </c:val>
        </c:ser>
        <c:ser>
          <c:idx val="7"/>
          <c:order val="7"/>
          <c:tx>
            <c:strRef>
              <c:f>Sheet1!$I$1</c:f>
              <c:strCache>
                <c:ptCount val="1"/>
                <c:pt idx="0">
                  <c:v>Other Diagnostic Applications</c:v>
                </c:pt>
              </c:strCache>
            </c:strRef>
          </c:tx>
          <c:spPr>
            <a:solidFill>
              <a:srgbClr val="A86F00"/>
            </a:solidFill>
            <a:ln>
              <a:noFill/>
            </a:ln>
          </c:spPr>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Sheet1!$I$2:$I$8</c:f>
              <c:numCache>
                <c:formatCode>General</c:formatCode>
                <c:ptCount val="7"/>
                <c:pt idx="0">
                  <c:v>1.4882798906165995</c:v>
                </c:pt>
                <c:pt idx="1">
                  <c:v>1.1665686071094545</c:v>
                </c:pt>
                <c:pt idx="2">
                  <c:v>1.4839846059913442</c:v>
                </c:pt>
                <c:pt idx="3">
                  <c:v>1.594703028051684</c:v>
                </c:pt>
                <c:pt idx="4">
                  <c:v>1.8446861224641924</c:v>
                </c:pt>
                <c:pt idx="5">
                  <c:v>1.485701791338858</c:v>
                </c:pt>
                <c:pt idx="6">
                  <c:v>1.315684623336783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Diabetes &amp; Glucose Testing</c:v>
                </c:pt>
              </c:strCache>
            </c:strRef>
          </c:tx>
          <c:spPr>
            <a:solidFill>
              <a:srgbClr val="3D85C6"/>
            </a:solidFill>
          </c:spPr>
          <c:invertIfNegative val="0"/>
          <c:xVal>
            <c:numRef>
              <c:f>Sheet1!$A$2:$A$2</c:f>
              <c:numCache>
                <c:formatCode>General</c:formatCode>
                <c:ptCount val="1"/>
                <c:pt idx="0">
                  <c:v>95.42185630997488</c:v>
                </c:pt>
              </c:numCache>
            </c:numRef>
          </c:xVal>
          <c:yVal>
            <c:numRef>
              <c:f>Sheet1!$B$2:$B$2</c:f>
              <c:numCache>
                <c:formatCode>General</c:formatCode>
                <c:ptCount val="1"/>
                <c:pt idx="0">
                  <c:v>322.13555795528634</c:v>
                </c:pt>
              </c:numCache>
            </c:numRef>
          </c:yVal>
          <c:bubbleSize>
            <c:numRef>
              <c:f>Sheet1!$C$2:$C$2</c:f>
              <c:numCache>
                <c:formatCode>General</c:formatCode>
                <c:ptCount val="1"/>
                <c:pt idx="0">
                  <c:v>1920.620782882425</c:v>
                </c:pt>
              </c:numCache>
            </c:numRef>
          </c:bubbleSize>
          <c:bubble3D val="0"/>
        </c:ser>
        <c:ser>
          <c:idx val="1"/>
          <c:order val="1"/>
          <c:tx>
            <c:strRef>
              <c:f>Sheet1!$B$4</c:f>
              <c:strCache>
                <c:ptCount val="1"/>
                <c:pt idx="0">
                  <c:v>Newborn Screening</c:v>
                </c:pt>
              </c:strCache>
            </c:strRef>
          </c:tx>
          <c:spPr>
            <a:solidFill>
              <a:srgbClr val="9E7E0A"/>
            </a:solidFill>
          </c:spPr>
          <c:invertIfNegative val="0"/>
          <c:xVal>
            <c:numRef>
              <c:f>Sheet1!$A$5:$A$5</c:f>
              <c:numCache>
                <c:formatCode>General</c:formatCode>
                <c:ptCount val="1"/>
                <c:pt idx="0">
                  <c:v>103.63842266703105</c:v>
                </c:pt>
              </c:numCache>
            </c:numRef>
          </c:xVal>
          <c:yVal>
            <c:numRef>
              <c:f>Sheet1!$B$5:$B$5</c:f>
              <c:numCache>
                <c:formatCode>General</c:formatCode>
                <c:ptCount val="1"/>
                <c:pt idx="0">
                  <c:v>100.87397269561487</c:v>
                </c:pt>
              </c:numCache>
            </c:numRef>
          </c:yVal>
          <c:bubbleSize>
            <c:numRef>
              <c:f>Sheet1!$C$5:$C$5</c:f>
              <c:numCache>
                <c:formatCode>General</c:formatCode>
                <c:ptCount val="1"/>
                <c:pt idx="0">
                  <c:v>638.7364404950316</c:v>
                </c:pt>
              </c:numCache>
            </c:numRef>
          </c:bubbleSize>
          <c:bubble3D val="0"/>
        </c:ser>
        <c:ser>
          <c:idx val="2"/>
          <c:order val="2"/>
          <c:tx>
            <c:strRef>
              <c:f>Sheet1!$B$7</c:f>
              <c:strCache>
                <c:ptCount val="1"/>
                <c:pt idx="0">
                  <c:v>Hematology Testing</c:v>
                </c:pt>
              </c:strCache>
            </c:strRef>
          </c:tx>
          <c:spPr>
            <a:solidFill>
              <a:srgbClr val="008189"/>
            </a:solidFill>
          </c:spPr>
          <c:invertIfNegative val="0"/>
          <c:xVal>
            <c:numRef>
              <c:f>Sheet1!$A$8:$A$8</c:f>
              <c:numCache>
                <c:formatCode>General</c:formatCode>
                <c:ptCount val="1"/>
                <c:pt idx="0">
                  <c:v>50.51896504414888</c:v>
                </c:pt>
              </c:numCache>
            </c:numRef>
          </c:xVal>
          <c:yVal>
            <c:numRef>
              <c:f>Sheet1!$B$8:$B$8</c:f>
              <c:numCache>
                <c:formatCode>General</c:formatCode>
                <c:ptCount val="1"/>
                <c:pt idx="0">
                  <c:v>99.2651043844649</c:v>
                </c:pt>
              </c:numCache>
            </c:numRef>
          </c:yVal>
          <c:bubbleSize>
            <c:numRef>
              <c:f>Sheet1!$C$8:$C$8</c:f>
              <c:numCache>
                <c:formatCode>General</c:formatCode>
                <c:ptCount val="1"/>
                <c:pt idx="0">
                  <c:v>423.15648893265</c:v>
                </c:pt>
              </c:numCache>
            </c:numRef>
          </c:bubbleSize>
          <c:bubble3D val="0"/>
        </c:ser>
        <c:ser>
          <c:idx val="3"/>
          <c:order val="3"/>
          <c:tx>
            <c:strRef>
              <c:f>Sheet1!$B$10</c:f>
              <c:strCache>
                <c:ptCount val="1"/>
                <c:pt idx="0">
                  <c:v>Infectious Disease Testing</c:v>
                </c:pt>
              </c:strCache>
            </c:strRef>
          </c:tx>
          <c:spPr>
            <a:solidFill>
              <a:srgbClr val="40315E"/>
            </a:solidFill>
          </c:spPr>
          <c:invertIfNegative val="0"/>
          <c:xVal>
            <c:numRef>
              <c:f>Sheet1!$A$11:$A$11</c:f>
              <c:numCache>
                <c:formatCode>General</c:formatCode>
                <c:ptCount val="1"/>
                <c:pt idx="0">
                  <c:v>92.27177708851502</c:v>
                </c:pt>
              </c:numCache>
            </c:numRef>
          </c:xVal>
          <c:yVal>
            <c:numRef>
              <c:f>Sheet1!$B$11:$B$11</c:f>
              <c:numCache>
                <c:formatCode>General</c:formatCode>
                <c:ptCount val="1"/>
                <c:pt idx="0">
                  <c:v>120.27442207728463</c:v>
                </c:pt>
              </c:numCache>
            </c:numRef>
          </c:yVal>
          <c:bubbleSize>
            <c:numRef>
              <c:f>Sheet1!$C$11:$C$11</c:f>
              <c:numCache>
                <c:formatCode>General</c:formatCode>
                <c:ptCount val="1"/>
                <c:pt idx="0">
                  <c:v>700.6690355825996</c:v>
                </c:pt>
              </c:numCache>
            </c:numRef>
          </c:bubbleSize>
          <c:bubble3D val="0"/>
        </c:ser>
        <c:ser>
          <c:idx val="4"/>
          <c:order val="4"/>
          <c:tx>
            <c:strRef>
              <c:f>Sheet1!$B$13</c:f>
              <c:strCache>
                <c:ptCount val="1"/>
                <c:pt idx="0">
                  <c:v>Genetic &amp; Molecular Testing</c:v>
                </c:pt>
              </c:strCache>
            </c:strRef>
          </c:tx>
          <c:spPr>
            <a:solidFill>
              <a:srgbClr val="A35313"/>
            </a:solidFill>
          </c:spPr>
          <c:invertIfNegative val="0"/>
          <c:xVal>
            <c:numRef>
              <c:f>Sheet1!$A$14:$A$14</c:f>
              <c:numCache>
                <c:formatCode>General</c:formatCode>
                <c:ptCount val="1"/>
                <c:pt idx="0">
                  <c:v>187.17133460567038</c:v>
                </c:pt>
              </c:numCache>
            </c:numRef>
          </c:xVal>
          <c:yVal>
            <c:numRef>
              <c:f>Sheet1!$B$14:$B$14</c:f>
              <c:numCache>
                <c:formatCode>General</c:formatCode>
                <c:ptCount val="1"/>
                <c:pt idx="0">
                  <c:v>51.62845604215247</c:v>
                </c:pt>
              </c:numCache>
            </c:numRef>
          </c:yVal>
          <c:bubbleSize>
            <c:numRef>
              <c:f>Sheet1!$C$14:$C$14</c:f>
              <c:numCache>
                <c:formatCode>General</c:formatCode>
                <c:ptCount val="1"/>
                <c:pt idx="0">
                  <c:v>591.033277483247</c:v>
                </c:pt>
              </c:numCache>
            </c:numRef>
          </c:bubbleSize>
          <c:bubble3D val="0"/>
        </c:ser>
        <c:ser>
          <c:idx val="5"/>
          <c:order val="5"/>
          <c:tx>
            <c:strRef>
              <c:f>Sheet1!$B$16</c:f>
              <c:strCache>
                <c:ptCount val="1"/>
                <c:pt idx="0">
                  <c:v>Therapeutic Drug Monitoring</c:v>
                </c:pt>
              </c:strCache>
            </c:strRef>
          </c:tx>
          <c:spPr>
            <a:solidFill>
              <a:srgbClr val="808080"/>
            </a:solidFill>
          </c:spPr>
          <c:invertIfNegative val="0"/>
          <c:xVal>
            <c:numRef>
              <c:f>Sheet1!$A$17:$A$17</c:f>
              <c:numCache>
                <c:formatCode>General</c:formatCode>
                <c:ptCount val="1"/>
                <c:pt idx="0">
                  <c:v>114.88293983671696</c:v>
                </c:pt>
              </c:numCache>
            </c:numRef>
          </c:xVal>
          <c:yVal>
            <c:numRef>
              <c:f>Sheet1!$B$17:$B$17</c:f>
              <c:numCache>
                <c:formatCode>General</c:formatCode>
                <c:ptCount val="1"/>
                <c:pt idx="0">
                  <c:v>24.986496286752132</c:v>
                </c:pt>
              </c:numCache>
            </c:numRef>
          </c:yVal>
          <c:bubbleSize>
            <c:numRef>
              <c:f>Sheet1!$C$17:$C$17</c:f>
              <c:numCache>
                <c:formatCode>General</c:formatCode>
                <c:ptCount val="1"/>
                <c:pt idx="0">
                  <c:v>171.69884189197322</c:v>
                </c:pt>
              </c:numCache>
            </c:numRef>
          </c:bubbleSize>
          <c:bubble3D val="0"/>
        </c:ser>
        <c:ser>
          <c:idx val="6"/>
          <c:order val="6"/>
          <c:tx>
            <c:strRef>
              <c:f>Sheet1!$B$19</c:f>
              <c:strCache>
                <c:ptCount val="1"/>
                <c:pt idx="0">
                  <c:v>Metabolic &amp; Biochemical Testing</c:v>
                </c:pt>
              </c:strCache>
            </c:strRef>
          </c:tx>
          <c:spPr>
            <a:solidFill>
              <a:srgbClr val="0E72AE"/>
            </a:solidFill>
          </c:spPr>
          <c:invertIfNegative val="0"/>
          <c:xVal>
            <c:numRef>
              <c:f>Sheet1!$A$20:$A$20</c:f>
              <c:numCache>
                <c:formatCode>General</c:formatCode>
                <c:ptCount val="1"/>
                <c:pt idx="0">
                  <c:v>102.89220500246759</c:v>
                </c:pt>
              </c:numCache>
            </c:numRef>
          </c:xVal>
          <c:yVal>
            <c:numRef>
              <c:f>Sheet1!$B$20:$B$20</c:f>
              <c:numCache>
                <c:formatCode>General</c:formatCode>
                <c:ptCount val="1"/>
                <c:pt idx="0">
                  <c:v>65.71343871638115</c:v>
                </c:pt>
              </c:numCache>
            </c:numRef>
          </c:yVal>
          <c:bubbleSize>
            <c:numRef>
              <c:f>Sheet1!$C$20:$C$20</c:f>
              <c:numCache>
                <c:formatCode>General</c:formatCode>
                <c:ptCount val="1"/>
                <c:pt idx="0">
                  <c:v>413.8369673640536</c:v>
                </c:pt>
              </c:numCache>
            </c:numRef>
          </c:bubbleSize>
          <c:bubble3D val="0"/>
        </c:ser>
        <c:ser>
          <c:idx val="7"/>
          <c:order val="7"/>
          <c:tx>
            <c:strRef>
              <c:f>Sheet1!$B$22</c:f>
              <c:strCache>
                <c:ptCount val="1"/>
                <c:pt idx="0">
                  <c:v>Other Diagnostic Applications</c:v>
                </c:pt>
              </c:strCache>
            </c:strRef>
          </c:tx>
          <c:spPr>
            <a:solidFill>
              <a:srgbClr val="A86F00"/>
            </a:solidFill>
          </c:spPr>
          <c:invertIfNegative val="0"/>
          <c:xVal>
            <c:numRef>
              <c:f>Sheet1!$A$23:$A$23</c:f>
              <c:numCache>
                <c:formatCode>General</c:formatCode>
                <c:ptCount val="1"/>
                <c:pt idx="0">
                  <c:v>66.72790634345724</c:v>
                </c:pt>
              </c:numCache>
            </c:numRef>
          </c:xVal>
          <c:yVal>
            <c:numRef>
              <c:f>Sheet1!$B$23:$B$23</c:f>
              <c:numCache>
                <c:formatCode>General</c:formatCode>
                <c:ptCount val="1"/>
                <c:pt idx="0">
                  <c:v>15.122551842063627</c:v>
                </c:pt>
              </c:numCache>
            </c:numRef>
          </c:yVal>
          <c:bubbleSize>
            <c:numRef>
              <c:f>Sheet1!$C$23:$C$23</c:f>
              <c:numCache>
                <c:formatCode>General</c:formatCode>
                <c:ptCount val="1"/>
                <c:pt idx="0">
                  <c:v>72.8599552141648</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1788.3952643188763</c:v>
                </c:pt>
                <c:pt idx="2">
                  <c:v>1861.4130113567153</c:v>
                </c:pt>
                <c:pt idx="3">
                  <c:v>1945.0781530895983</c:v>
                </c:pt>
                <c:pt idx="4">
                  <c:v>2046.7374711909774</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1788.3952643188763</c:v>
                </c:pt>
                <c:pt idx="1">
                  <c:v>73.01774703783894</c:v>
                </c:pt>
                <c:pt idx="2">
                  <c:v>83.66514173288306</c:v>
                </c:pt>
                <c:pt idx="3">
                  <c:v>101.65931810137909</c:v>
                </c:pt>
                <c:pt idx="4">
                  <c:v>118.51488883730099</c:v>
                </c:pt>
                <c:pt idx="5">
                  <c:v>2165.2523600282784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2305.7315644740966</c:v>
                </c:pt>
                <c:pt idx="2">
                  <c:v>2467.6750748507984</c:v>
                </c:pt>
                <c:pt idx="3">
                  <c:v>2650.0288253074377</c:v>
                </c:pt>
                <c:pt idx="4">
                  <c:v>2852.46133687767</c:v>
                </c:pt>
                <c:pt idx="5">
                  <c:v>3073.5790361887566</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2305.7315644740966</c:v>
                </c:pt>
                <c:pt idx="1">
                  <c:v>161.94351037670185</c:v>
                </c:pt>
                <c:pt idx="2">
                  <c:v>182.35375045663932</c:v>
                </c:pt>
                <c:pt idx="3">
                  <c:v>202.43251157023224</c:v>
                </c:pt>
                <c:pt idx="4">
                  <c:v>221.11769931108665</c:v>
                </c:pt>
                <c:pt idx="5">
                  <c:v>240.72558624028352</c:v>
                </c:pt>
                <c:pt idx="6">
                  <c:v>3314.30462242904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c:v>
                </c:pt>
                <c:pt idx="2">
                  <c:v>3578.15680988868</c:v>
                </c:pt>
                <c:pt idx="3">
                  <c:v>3864.78926260553</c:v>
                </c:pt>
                <c:pt idx="4">
                  <c:v>4185.475525020052</c:v>
                </c:pt>
                <c:pt idx="5">
                  <c:v>4538.412674806588</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c:v>
                </c:pt>
                <c:pt idx="1">
                  <c:v>263.85218745963994</c:v>
                </c:pt>
                <c:pt idx="2">
                  <c:v>286.6324527168499</c:v>
                </c:pt>
                <c:pt idx="3">
                  <c:v>320.6862624145224</c:v>
                </c:pt>
                <c:pt idx="4">
                  <c:v>352.9371497865359</c:v>
                </c:pt>
                <c:pt idx="5">
                  <c:v>394.199115039557</c:v>
                </c:pt>
                <c:pt idx="6">
                  <c:v>4932.611789846145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Diabetes &amp; Glucose Testing</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39.77989965743016</c:v>
                </c:pt>
                <c:pt idx="1">
                  <c:v>40.266944744410786</c:v>
                </c:pt>
                <c:pt idx="2">
                  <c:v>38.937197264054944</c:v>
                </c:pt>
              </c:numCache>
            </c:numRef>
          </c:val>
        </c:ser>
        <c:ser>
          <c:idx val="1"/>
          <c:order val="1"/>
          <c:tx>
            <c:strRef>
              <c:f>Sheet1!$C$1</c:f>
              <c:strCache>
                <c:ptCount val="1"/>
                <c:pt idx="0">
                  <c:v>Infectious Disease Testing</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15.251800144825815</c:v>
                </c:pt>
                <c:pt idx="1">
                  <c:v>15.034302759660575</c:v>
                </c:pt>
                <c:pt idx="2">
                  <c:v>14.204828302623312</c:v>
                </c:pt>
              </c:numCache>
            </c:numRef>
          </c:val>
        </c:ser>
        <c:ser>
          <c:idx val="2"/>
          <c:order val="2"/>
          <c:tx>
            <c:strRef>
              <c:f>Sheet1!$D$1</c:f>
              <c:strCache>
                <c:ptCount val="1"/>
                <c:pt idx="0">
                  <c:v>Newborn Screening</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12.23581541875213</c:v>
                </c:pt>
                <c:pt idx="1">
                  <c:v>12.609246586951855</c:v>
                </c:pt>
                <c:pt idx="2">
                  <c:v>12.949254222882086</c:v>
                </c:pt>
              </c:numCache>
            </c:numRef>
          </c:val>
        </c:ser>
        <c:ser>
          <c:idx val="3"/>
          <c:order val="3"/>
          <c:tx>
            <c:strRef>
              <c:f>Sheet1!$E$1</c:f>
              <c:strCache>
                <c:ptCount val="1"/>
                <c:pt idx="0">
                  <c:v>Genetic &amp; Molecular Testi…</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4.692376564446529</c:v>
                </c:pt>
                <c:pt idx="1">
                  <c:v>6.453557005269057</c:v>
                </c:pt>
                <c:pt idx="2">
                  <c:v>11.982156769358939</c:v>
                </c:pt>
              </c:numCache>
            </c:numRef>
          </c:val>
        </c:ser>
        <c:ser>
          <c:idx val="4"/>
          <c:order val="4"/>
          <c:tx>
            <c:strRef>
              <c:f>Sheet1!$F$1</c:f>
              <c:strCache>
                <c:ptCount val="1"/>
                <c:pt idx="0">
                  <c:v>Hematology Testing</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15.018931021191253</c:v>
                </c:pt>
                <c:pt idx="1">
                  <c:v>12.408138048058111</c:v>
                </c:pt>
                <c:pt idx="2">
                  <c:v>8.578751115255491</c:v>
                </c:pt>
              </c:numCache>
            </c:numRef>
          </c:val>
        </c:ser>
        <c:ser>
          <c:idx val="5"/>
          <c:order val="5"/>
          <c:tx>
            <c:strRef>
              <c:f>Sheet1!$G$1</c:f>
              <c:strCache>
                <c:ptCount val="1"/>
                <c:pt idx="0">
                  <c:v>Metabolic &amp; Biochemical T…</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7.973004953495868</c:v>
                </c:pt>
                <c:pt idx="1">
                  <c:v>8.214179839547642</c:v>
                </c:pt>
                <c:pt idx="2">
                  <c:v>8.38981426058996</c:v>
                </c:pt>
              </c:numCache>
            </c:numRef>
          </c:val>
        </c:ser>
        <c:ser>
          <c:idx val="6"/>
          <c:order val="6"/>
          <c:tx>
            <c:strRef>
              <c:f>Sheet1!$H$1</c:f>
              <c:strCache>
                <c:ptCount val="1"/>
                <c:pt idx="0">
                  <c:v>Therapeutic Drug Monitori…</c:v>
                </c:pt>
              </c:strCache>
            </c:strRef>
          </c:tx>
          <c:spPr>
            <a:solidFill>
              <a:srgbClr val="0E72A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Sheet1!$H$2:$H$4</c:f>
              <c:numCache>
                <c:formatCode>General</c:formatCode>
                <c:ptCount val="3"/>
                <c:pt idx="0">
                  <c:v>2.8952130799143756</c:v>
                </c:pt>
                <c:pt idx="1">
                  <c:v>3.123312035844016</c:v>
                </c:pt>
                <c:pt idx="2">
                  <c:v>3.4808910412414336</c:v>
                </c:pt>
              </c:numCache>
            </c:numRef>
          </c:val>
        </c:ser>
        <c:ser>
          <c:idx val="7"/>
          <c:order val="7"/>
          <c:tx>
            <c:strRef>
              <c:f>Sheet1!$I$1</c:f>
              <c:strCache>
                <c:ptCount val="1"/>
                <c:pt idx="0">
                  <c:v>Other Diagnostic Applicat…</c:v>
                </c:pt>
              </c:strCache>
            </c:strRef>
          </c:tx>
          <c:spPr>
            <a:solidFill>
              <a:srgbClr val="A86F0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Sheet1!$I$2:$I$4</c:f>
              <c:numCache>
                <c:formatCode>General</c:formatCode>
                <c:ptCount val="3"/>
                <c:pt idx="0">
                  <c:v>2.152959159943885</c:v>
                </c:pt>
                <c:pt idx="1">
                  <c:v>1.8903189802579532</c:v>
                </c:pt>
                <c:pt idx="2">
                  <c:v>1.4771070239938222</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Hospitals &amp; Clinics</c:v>
                </c:pt>
              </c:strCache>
            </c:strRef>
          </c:tx>
          <c:spPr>
            <a:solidFill>
              <a:srgbClr val="3D85C6"/>
            </a:solidFill>
            <a:ln>
              <a:noFill/>
            </a:ln>
          </c:spPr>
          <c:dLbls>
            <c:dLbl>
              <c:idx val="0"/>
              <c:tx>
                <c:rich>
                  <a:bodyPr/>
                  <a:lstStyle/>
                  <a:p>
                    <a:r>
                      <a:rPr sz="750">
                        <a:solidFill>
                          <a:srgbClr val="FFFFFF"/>
                        </a:solidFill>
                        <a:latin typeface="Calibri"/>
                      </a:rPr>
                      <a:t>35%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33%</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34%</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36%</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33%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35%</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37%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35.00328287428615</c:v>
                </c:pt>
                <c:pt idx="1">
                  <c:v>33.17352422716139</c:v>
                </c:pt>
                <c:pt idx="2">
                  <c:v>34.11723236725282</c:v>
                </c:pt>
                <c:pt idx="3">
                  <c:v>36.006105430721774</c:v>
                </c:pt>
                <c:pt idx="4">
                  <c:v>33.03486557131064</c:v>
                </c:pt>
                <c:pt idx="5">
                  <c:v>34.602506288368076</c:v>
                </c:pt>
                <c:pt idx="6">
                  <c:v>37.4611750871798</c:v>
                </c:pt>
              </c:numCache>
            </c:numRef>
          </c:val>
        </c:ser>
        <c:ser>
          <c:idx val="1"/>
          <c:order val="1"/>
          <c:tx>
            <c:strRef>
              <c:f>Sheet1!$C$1</c:f>
              <c:strCache>
                <c:ptCount val="1"/>
                <c:pt idx="0">
                  <c:v>Diagnostic Laboratories</c:v>
                </c:pt>
              </c:strCache>
            </c:strRef>
          </c:tx>
          <c:spPr>
            <a:solidFill>
              <a:srgbClr val="9E7E0A"/>
            </a:solidFill>
            <a:ln>
              <a:noFill/>
            </a:ln>
          </c:spPr>
          <c:dLbls>
            <c:dLbl>
              <c:idx val="0"/>
              <c:tx>
                <c:rich>
                  <a:bodyPr/>
                  <a:lstStyle/>
                  <a:p>
                    <a:r>
                      <a:rPr sz="750">
                        <a:solidFill>
                          <a:srgbClr val="FFFFFF"/>
                        </a:solidFill>
                        <a:latin typeface="Calibri"/>
                      </a:rPr>
                      <a:t>20%</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21%</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20%</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19%</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20%</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21%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20.07351659206966</c:v>
                </c:pt>
                <c:pt idx="1">
                  <c:v>20.827511071607905</c:v>
                </c:pt>
                <c:pt idx="2">
                  <c:v>20.913511784527962</c:v>
                </c:pt>
                <c:pt idx="3">
                  <c:v>20.008834621940643</c:v>
                </c:pt>
                <c:pt idx="4">
                  <c:v>19.284837099556633</c:v>
                </c:pt>
                <c:pt idx="5">
                  <c:v>20.182232948316152</c:v>
                </c:pt>
                <c:pt idx="6">
                  <c:v>21.204935896841054</c:v>
                </c:pt>
              </c:numCache>
            </c:numRef>
          </c:val>
        </c:ser>
        <c:ser>
          <c:idx val="2"/>
          <c:order val="2"/>
          <c:tx>
            <c:strRef>
              <c:f>Sheet1!$D$1</c:f>
              <c:strCache>
                <c:ptCount val="1"/>
                <c:pt idx="0">
                  <c:v>Physician Offices &amp; Outpatient Centers</c:v>
                </c:pt>
              </c:strCache>
            </c:strRef>
          </c:tx>
          <c:spPr>
            <a:solidFill>
              <a:srgbClr val="008189"/>
            </a:solidFill>
            <a:ln>
              <a:noFill/>
            </a:ln>
          </c:spPr>
          <c:dLbls>
            <c:dLbl>
              <c:idx val="0"/>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12.278075012996451</c:v>
                </c:pt>
                <c:pt idx="1">
                  <c:v>13.592745464698059</c:v>
                </c:pt>
                <c:pt idx="2">
                  <c:v>12.517639042576532</c:v>
                </c:pt>
                <c:pt idx="3">
                  <c:v>12.76475301311889</c:v>
                </c:pt>
                <c:pt idx="4">
                  <c:v>13.254011985815191</c:v>
                </c:pt>
                <c:pt idx="5">
                  <c:v>13.578276746905562</c:v>
                </c:pt>
                <c:pt idx="6">
                  <c:v>13.610756359804915</c:v>
                </c:pt>
              </c:numCache>
            </c:numRef>
          </c:val>
        </c:ser>
        <c:ser>
          <c:idx val="3"/>
          <c:order val="3"/>
          <c:tx>
            <c:strRef>
              <c:f>Sheet1!$E$1</c:f>
              <c:strCache>
                <c:ptCount val="1"/>
                <c:pt idx="0">
                  <c:v>Home &amp; Self-Testing</c:v>
                </c:pt>
              </c:strCache>
            </c:strRef>
          </c:tx>
          <c:spPr>
            <a:solidFill>
              <a:srgbClr val="40315E"/>
            </a:solidFill>
            <a:ln>
              <a:noFill/>
            </a:ln>
          </c:spPr>
          <c:dLbls>
            <c:dLbl>
              <c:idx val="0"/>
              <c:tx>
                <c:rich>
                  <a:bodyPr/>
                  <a:lstStyle/>
                  <a:p>
                    <a:r>
                      <a:rPr sz="750">
                        <a:solidFill>
                          <a:srgbClr val="FFFFFF"/>
                        </a:solidFill>
                        <a:latin typeface="Calibri"/>
                      </a:rPr>
                      <a:t>23%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25%</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22.508765314285945</c:v>
                </c:pt>
                <c:pt idx="1">
                  <c:v>21.83653747959943</c:v>
                </c:pt>
                <c:pt idx="2">
                  <c:v>22.81798560383971</c:v>
                </c:pt>
                <c:pt idx="3">
                  <c:v>21.709588250378136</c:v>
                </c:pt>
                <c:pt idx="4">
                  <c:v>25.386394577440484</c:v>
                </c:pt>
                <c:pt idx="5">
                  <c:v>22.141755681341017</c:v>
                </c:pt>
                <c:pt idx="6">
                  <c:v>18.41186590701234</c:v>
                </c:pt>
              </c:numCache>
            </c:numRef>
          </c:val>
        </c:ser>
        <c:ser>
          <c:idx val="4"/>
          <c:order val="4"/>
          <c:tx>
            <c:strRef>
              <c:f>Sheet1!$F$1</c:f>
              <c:strCache>
                <c:ptCount val="1"/>
                <c:pt idx="0">
                  <c:v>Research &amp; Academic Institutions</c:v>
                </c:pt>
              </c:strCache>
            </c:strRef>
          </c:tx>
          <c:spPr>
            <a:solidFill>
              <a:srgbClr val="A35313"/>
            </a:solidFill>
            <a:ln>
              <a:noFill/>
            </a:ln>
          </c:spPr>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Sheet1!$F$2:$F$8</c:f>
              <c:numCache>
                <c:formatCode>General</c:formatCode>
                <c:ptCount val="7"/>
                <c:pt idx="0">
                  <c:v>3.896744139205468</c:v>
                </c:pt>
                <c:pt idx="1">
                  <c:v>4.860981287463728</c:v>
                </c:pt>
                <c:pt idx="2">
                  <c:v>4.446615038878688</c:v>
                </c:pt>
                <c:pt idx="3">
                  <c:v>4.04612243964503</c:v>
                </c:pt>
                <c:pt idx="4">
                  <c:v>4.870268898376208</c:v>
                </c:pt>
                <c:pt idx="5">
                  <c:v>3.838996442303317</c:v>
                </c:pt>
                <c:pt idx="6">
                  <c:v>3.35397323435049</c:v>
                </c:pt>
              </c:numCache>
            </c:numRef>
          </c:val>
        </c:ser>
        <c:ser>
          <c:idx val="5"/>
          <c:order val="5"/>
          <c:tx>
            <c:strRef>
              <c:f>Sheet1!$G$1</c:f>
              <c:strCache>
                <c:ptCount val="1"/>
                <c:pt idx="0">
                  <c:v>Public Health &amp; Screening Programs</c:v>
                </c:pt>
              </c:strCache>
            </c:strRef>
          </c:tx>
          <c:spPr>
            <a:solidFill>
              <a:srgbClr val="808080"/>
            </a:solidFill>
            <a:ln>
              <a:noFill/>
            </a:ln>
          </c:spPr>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Sheet1!$G$2:$G$8</c:f>
              <c:numCache>
                <c:formatCode>General</c:formatCode>
                <c:ptCount val="7"/>
                <c:pt idx="0">
                  <c:v>6.239616067156324</c:v>
                </c:pt>
                <c:pt idx="1">
                  <c:v>5.708700469469487</c:v>
                </c:pt>
                <c:pt idx="2">
                  <c:v>5.187016162924294</c:v>
                </c:pt>
                <c:pt idx="3">
                  <c:v>5.464596244195525</c:v>
                </c:pt>
                <c:pt idx="4">
                  <c:v>4.169621867500834</c:v>
                </c:pt>
                <c:pt idx="5">
                  <c:v>5.656231892765871</c:v>
                </c:pt>
                <c:pt idx="6">
                  <c:v>5.957293514811413</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Hospitals &amp; Clinics</c:v>
                </c:pt>
              </c:strCache>
            </c:strRef>
          </c:tx>
          <c:spPr>
            <a:solidFill>
              <a:srgbClr val="3D85C6"/>
            </a:solidFill>
          </c:spPr>
          <c:invertIfNegative val="0"/>
          <c:xVal>
            <c:numRef>
              <c:f>Sheet1!$A$2:$A$2</c:f>
              <c:numCache>
                <c:formatCode>General</c:formatCode>
                <c:ptCount val="1"/>
                <c:pt idx="0">
                  <c:v>86.94078909686006</c:v>
                </c:pt>
              </c:numCache>
            </c:numRef>
          </c:xVal>
          <c:yVal>
            <c:numRef>
              <c:f>Sheet1!$B$2:$B$2</c:f>
              <c:numCache>
                <c:formatCode>General</c:formatCode>
                <c:ptCount val="1"/>
                <c:pt idx="0">
                  <c:v>233.0703121453558</c:v>
                </c:pt>
              </c:numCache>
            </c:numRef>
          </c:yVal>
          <c:bubbleSize>
            <c:numRef>
              <c:f>Sheet1!$C$2:$C$2</c:f>
              <c:numCache>
                <c:formatCode>General</c:formatCode>
                <c:ptCount val="1"/>
                <c:pt idx="0">
                  <c:v>1740.5301347203228</c:v>
                </c:pt>
              </c:numCache>
            </c:numRef>
          </c:bubbleSize>
          <c:bubble3D val="0"/>
        </c:ser>
        <c:ser>
          <c:idx val="1"/>
          <c:order val="1"/>
          <c:tx>
            <c:strRef>
              <c:f>Sheet1!$B$4</c:f>
              <c:strCache>
                <c:ptCount val="1"/>
                <c:pt idx="0">
                  <c:v>Diagnostic Laboratories</c:v>
                </c:pt>
              </c:strCache>
            </c:strRef>
          </c:tx>
          <c:spPr>
            <a:solidFill>
              <a:srgbClr val="9E7E0A"/>
            </a:solidFill>
          </c:spPr>
          <c:invertIfNegative val="0"/>
          <c:xVal>
            <c:numRef>
              <c:f>Sheet1!$A$5:$A$5</c:f>
              <c:numCache>
                <c:formatCode>General</c:formatCode>
                <c:ptCount val="1"/>
                <c:pt idx="0">
                  <c:v>92.03216824755458</c:v>
                </c:pt>
              </c:numCache>
            </c:numRef>
          </c:xVal>
          <c:yVal>
            <c:numRef>
              <c:f>Sheet1!$B$5:$B$5</c:f>
              <c:numCache>
                <c:formatCode>General</c:formatCode>
                <c:ptCount val="1"/>
                <c:pt idx="0">
                  <c:v>130.0777637033785</c:v>
                </c:pt>
              </c:numCache>
            </c:numRef>
          </c:yVal>
          <c:bubbleSize>
            <c:numRef>
              <c:f>Sheet1!$C$5:$C$5</c:f>
              <c:numCache>
                <c:formatCode>General</c:formatCode>
                <c:ptCount val="1"/>
                <c:pt idx="0">
                  <c:v>1008.5908648004549</c:v>
                </c:pt>
              </c:numCache>
            </c:numRef>
          </c:bubbleSize>
          <c:bubble3D val="0"/>
        </c:ser>
        <c:ser>
          <c:idx val="2"/>
          <c:order val="2"/>
          <c:tx>
            <c:strRef>
              <c:f>Sheet1!$B$7</c:f>
              <c:strCache>
                <c:ptCount val="1"/>
                <c:pt idx="0">
                  <c:v>Physician Offices &amp; Outpatient Centers</c:v>
                </c:pt>
              </c:strCache>
            </c:strRef>
          </c:tx>
          <c:spPr>
            <a:solidFill>
              <a:srgbClr val="008189"/>
            </a:solidFill>
          </c:spPr>
          <c:invertIfNegative val="0"/>
          <c:xVal>
            <c:numRef>
              <c:f>Sheet1!$A$8:$A$8</c:f>
              <c:numCache>
                <c:formatCode>General</c:formatCode>
                <c:ptCount val="1"/>
                <c:pt idx="0">
                  <c:v>90.58102178181204</c:v>
                </c:pt>
              </c:numCache>
            </c:numRef>
          </c:xVal>
          <c:yVal>
            <c:numRef>
              <c:f>Sheet1!$B$8:$B$8</c:f>
              <c:numCache>
                <c:formatCode>General</c:formatCode>
                <c:ptCount val="1"/>
                <c:pt idx="0">
                  <c:v>85.79236463441563</c:v>
                </c:pt>
              </c:numCache>
            </c:numRef>
          </c:yVal>
          <c:bubbleSize>
            <c:numRef>
              <c:f>Sheet1!$C$8:$C$8</c:f>
              <c:numCache>
                <c:formatCode>General</c:formatCode>
                <c:ptCount val="1"/>
                <c:pt idx="0">
                  <c:v>658.1366335267805</c:v>
                </c:pt>
              </c:numCache>
            </c:numRef>
          </c:bubbleSize>
          <c:bubble3D val="0"/>
        </c:ser>
        <c:ser>
          <c:idx val="3"/>
          <c:order val="3"/>
          <c:tx>
            <c:strRef>
              <c:f>Sheet1!$B$10</c:f>
              <c:strCache>
                <c:ptCount val="1"/>
                <c:pt idx="0">
                  <c:v>Home &amp; Self-Testing</c:v>
                </c:pt>
              </c:strCache>
            </c:strRef>
          </c:tx>
          <c:spPr>
            <a:solidFill>
              <a:srgbClr val="40315E"/>
            </a:solidFill>
          </c:spPr>
          <c:invertIfNegative val="0"/>
          <c:xVal>
            <c:numRef>
              <c:f>Sheet1!$A$11:$A$11</c:f>
              <c:numCache>
                <c:formatCode>General</c:formatCode>
                <c:ptCount val="1"/>
                <c:pt idx="0">
                  <c:v>139.08656324900065</c:v>
                </c:pt>
              </c:numCache>
            </c:numRef>
          </c:xVal>
          <c:yVal>
            <c:numRef>
              <c:f>Sheet1!$B$11:$B$11</c:f>
              <c:numCache>
                <c:formatCode>General</c:formatCode>
                <c:ptCount val="1"/>
                <c:pt idx="0">
                  <c:v>97.0980612823609</c:v>
                </c:pt>
              </c:numCache>
            </c:numRef>
          </c:yVal>
          <c:bubbleSize>
            <c:numRef>
              <c:f>Sheet1!$C$11:$C$11</c:f>
              <c:numCache>
                <c:formatCode>General</c:formatCode>
                <c:ptCount val="1"/>
                <c:pt idx="0">
                  <c:v>1058.509257285938</c:v>
                </c:pt>
              </c:numCache>
            </c:numRef>
          </c:bubbleSize>
          <c:bubble3D val="0"/>
        </c:ser>
        <c:ser>
          <c:idx val="4"/>
          <c:order val="4"/>
          <c:tx>
            <c:strRef>
              <c:f>Sheet1!$B$13</c:f>
              <c:strCache>
                <c:ptCount val="1"/>
                <c:pt idx="0">
                  <c:v>Research &amp; Academic Institutions</c:v>
                </c:pt>
              </c:strCache>
            </c:strRef>
          </c:tx>
          <c:spPr>
            <a:solidFill>
              <a:srgbClr val="A35313"/>
            </a:solidFill>
          </c:spPr>
          <c:invertIfNegative val="0"/>
          <c:xVal>
            <c:numRef>
              <c:f>Sheet1!$A$14:$A$14</c:f>
              <c:numCache>
                <c:formatCode>General</c:formatCode>
                <c:ptCount val="1"/>
                <c:pt idx="0">
                  <c:v>129.76163345983534</c:v>
                </c:pt>
              </c:numCache>
            </c:numRef>
          </c:xVal>
          <c:yVal>
            <c:numRef>
              <c:f>Sheet1!$B$14:$B$14</c:f>
              <c:numCache>
                <c:formatCode>General</c:formatCode>
                <c:ptCount val="1"/>
                <c:pt idx="0">
                  <c:v>19.21038483154257</c:v>
                </c:pt>
              </c:numCache>
            </c:numRef>
          </c:yVal>
          <c:bubbleSize>
            <c:numRef>
              <c:f>Sheet1!$C$14:$C$14</c:f>
              <c:numCache>
                <c:formatCode>General</c:formatCode>
                <c:ptCount val="1"/>
                <c:pt idx="0">
                  <c:v>195.926799482124</c:v>
                </c:pt>
              </c:numCache>
            </c:numRef>
          </c:bubbleSize>
          <c:bubble3D val="0"/>
        </c:ser>
        <c:ser>
          <c:idx val="5"/>
          <c:order val="5"/>
          <c:tx>
            <c:strRef>
              <c:f>Sheet1!$B$16</c:f>
              <c:strCache>
                <c:ptCount val="1"/>
                <c:pt idx="0">
                  <c:v>Public Health &amp; Screening Programs</c:v>
                </c:pt>
              </c:strCache>
            </c:strRef>
          </c:tx>
          <c:spPr>
            <a:solidFill>
              <a:srgbClr val="808080"/>
            </a:solidFill>
          </c:spPr>
          <c:invertIfNegative val="0"/>
          <c:xVal>
            <c:numRef>
              <c:f>Sheet1!$A$17:$A$17</c:f>
              <c:numCache>
                <c:formatCode>General</c:formatCode>
                <c:ptCount val="1"/>
                <c:pt idx="0">
                  <c:v>92.76928919381983</c:v>
                </c:pt>
              </c:numCache>
            </c:numRef>
          </c:xVal>
          <c:yVal>
            <c:numRef>
              <c:f>Sheet1!$B$17:$B$17</c:f>
              <c:numCache>
                <c:formatCode>General</c:formatCode>
                <c:ptCount val="1"/>
                <c:pt idx="0">
                  <c:v>34.75111340294652</c:v>
                </c:pt>
              </c:numCache>
            </c:numRef>
          </c:yVal>
          <c:bubbleSize>
            <c:numRef>
              <c:f>Sheet1!$C$17:$C$17</c:f>
              <c:numCache>
                <c:formatCode>General</c:formatCode>
                <c:ptCount val="1"/>
                <c:pt idx="0">
                  <c:v>270.91810003052456</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1788.3952643188763</c:v>
                </c:pt>
                <c:pt idx="2">
                  <c:v>1861.413011356715</c:v>
                </c:pt>
                <c:pt idx="3">
                  <c:v>1945.0781530895995</c:v>
                </c:pt>
                <c:pt idx="4">
                  <c:v>2046.7374711909777</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1788.3952643188763</c:v>
                </c:pt>
                <c:pt idx="1">
                  <c:v>73.01774703783872</c:v>
                </c:pt>
                <c:pt idx="2">
                  <c:v>83.66514173288442</c:v>
                </c:pt>
                <c:pt idx="3">
                  <c:v>101.65931810137818</c:v>
                </c:pt>
                <c:pt idx="4">
                  <c:v>118.51488883730167</c:v>
                </c:pt>
                <c:pt idx="5">
                  <c:v>2165.2523600282793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2305.7315644740966</c:v>
                </c:pt>
                <c:pt idx="2">
                  <c:v>2467.6750748508002</c:v>
                </c:pt>
                <c:pt idx="3">
                  <c:v>2650.0288253074395</c:v>
                </c:pt>
                <c:pt idx="4">
                  <c:v>2852.461336877672</c:v>
                </c:pt>
                <c:pt idx="5">
                  <c:v>3073.579036188753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2305.7315644740966</c:v>
                </c:pt>
                <c:pt idx="1">
                  <c:v>161.94351037670367</c:v>
                </c:pt>
                <c:pt idx="2">
                  <c:v>182.35375045663932</c:v>
                </c:pt>
                <c:pt idx="3">
                  <c:v>202.43251157023224</c:v>
                </c:pt>
                <c:pt idx="4">
                  <c:v>221.1176993110812</c:v>
                </c:pt>
                <c:pt idx="5">
                  <c:v>240.7255862402876</c:v>
                </c:pt>
                <c:pt idx="6">
                  <c:v>3314.3046224290406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3314.3046224290406</c:v>
                </c:pt>
                <c:pt idx="2">
                  <c:v>3578.1568098886746</c:v>
                </c:pt>
                <c:pt idx="3">
                  <c:v>3864.7892626055254</c:v>
                </c:pt>
                <c:pt idx="4">
                  <c:v>4185.475525020054</c:v>
                </c:pt>
                <c:pt idx="5">
                  <c:v>4538.412674806594</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3314.3046224290406</c:v>
                </c:pt>
                <c:pt idx="1">
                  <c:v>263.852187459634</c:v>
                </c:pt>
                <c:pt idx="2">
                  <c:v>286.6324527168508</c:v>
                </c:pt>
                <c:pt idx="3">
                  <c:v>320.68626241452876</c:v>
                </c:pt>
                <c:pt idx="4">
                  <c:v>352.9371497865395</c:v>
                </c:pt>
                <c:pt idx="5">
                  <c:v>394.19911503955063</c:v>
                </c:pt>
                <c:pt idx="6">
                  <c:v>4932.611789846144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Hospitals &amp; Clinics</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40.234945281180316</c:v>
                </c:pt>
                <c:pt idx="1">
                  <c:v>38.845052024225964</c:v>
                </c:pt>
                <c:pt idx="2">
                  <c:v>35.286177158786955</c:v>
                </c:pt>
              </c:numCache>
            </c:numRef>
          </c:val>
        </c:ser>
        <c:ser>
          <c:idx val="1"/>
          <c:order val="1"/>
          <c:tx>
            <c:strRef>
              <c:f>Sheet1!$C$1</c:f>
              <c:strCache>
                <c:ptCount val="1"/>
                <c:pt idx="0">
                  <c:v>Home &amp; Self-Testing</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14.779459954627317</c:v>
                </c:pt>
                <c:pt idx="1">
                  <c:v>16.18301021372682</c:v>
                </c:pt>
                <c:pt idx="2">
                  <c:v>21.459407356258914</c:v>
                </c:pt>
              </c:numCache>
            </c:numRef>
          </c:val>
        </c:ser>
        <c:ser>
          <c:idx val="2"/>
          <c:order val="2"/>
          <c:tx>
            <c:strRef>
              <c:f>Sheet1!$D$1</c:f>
              <c:strCache>
                <c:ptCount val="1"/>
                <c:pt idx="0">
                  <c:v>Diagnostic Laboratories</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21.958950240279773</c:v>
                </c:pt>
                <c:pt idx="1">
                  <c:v>21.679627283896423</c:v>
                </c:pt>
                <c:pt idx="2">
                  <c:v>20.447400034129068</c:v>
                </c:pt>
              </c:numCache>
            </c:numRef>
          </c:val>
        </c:ser>
        <c:ser>
          <c:idx val="3"/>
          <c:order val="3"/>
          <c:tx>
            <c:strRef>
              <c:f>Sheet1!$E$1</c:f>
              <c:strCache>
                <c:ptCount val="1"/>
                <c:pt idx="0">
                  <c:v>Physician Offices &amp; Outpa…</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14.529340551898818</c:v>
                </c:pt>
                <c:pt idx="1">
                  <c:v>14.298727439069275</c:v>
                </c:pt>
                <c:pt idx="2">
                  <c:v>13.342558903207518</c:v>
                </c:pt>
              </c:numCache>
            </c:numRef>
          </c:val>
        </c:ser>
        <c:ser>
          <c:idx val="4"/>
          <c:order val="4"/>
          <c:tx>
            <c:strRef>
              <c:f>Sheet1!$F$1</c:f>
              <c:strCache>
                <c:ptCount val="1"/>
                <c:pt idx="0">
                  <c:v>Public Health &amp; Screening…</c:v>
                </c:pt>
              </c:strCache>
            </c:strRef>
          </c:tx>
          <c:spPr>
            <a:solidFill>
              <a:srgbClr val="A35313"/>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Sheet1!$F$2:$F$4</c:f>
              <c:numCache>
                <c:formatCode>General</c:formatCode>
                <c:ptCount val="3"/>
                <c:pt idx="0">
                  <c:v>5.8447155723356055</c:v>
                </c:pt>
                <c:pt idx="1">
                  <c:v>5.791852233824421</c:v>
                </c:pt>
                <c:pt idx="2">
                  <c:v>5.492386418655803</c:v>
                </c:pt>
              </c:numCache>
            </c:numRef>
          </c:val>
        </c:ser>
        <c:ser>
          <c:idx val="5"/>
          <c:order val="5"/>
          <c:tx>
            <c:strRef>
              <c:f>Sheet1!$G$1</c:f>
              <c:strCache>
                <c:ptCount val="1"/>
                <c:pt idx="0">
                  <c:v>Research &amp; Academic Insti…</c:v>
                </c:pt>
              </c:strCache>
            </c:strRef>
          </c:tx>
          <c:spPr>
            <a:solidFill>
              <a:srgbClr val="808080"/>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Sheet1!$G$2:$G$4</c:f>
              <c:numCache>
                <c:formatCode>General</c:formatCode>
                <c:ptCount val="3"/>
                <c:pt idx="0">
                  <c:v>2.6525883996781663</c:v>
                </c:pt>
                <c:pt idx="1">
                  <c:v>3.2017308052570956</c:v>
                </c:pt>
                <c:pt idx="2">
                  <c:v>3.9720701289617453</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Whole Blood</c:v>
                </c:pt>
              </c:strCache>
            </c:strRef>
          </c:tx>
          <c:spPr>
            <a:solidFill>
              <a:srgbClr val="3D85C6"/>
            </a:solidFill>
            <a:ln>
              <a:noFill/>
            </a:ln>
          </c:spPr>
          <c:dLbls>
            <c:dLbl>
              <c:idx val="0"/>
              <c:tx>
                <c:rich>
                  <a:bodyPr/>
                  <a:lstStyle/>
                  <a:p>
                    <a:r>
                      <a:rPr sz="750">
                        <a:solidFill>
                          <a:srgbClr val="FFFFFF"/>
                        </a:solidFill>
                        <a:latin typeface="Calibri"/>
                      </a:rPr>
                      <a:t>52%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49%</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51%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53%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47%</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52%</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49%</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52.05642627286736</c:v>
                </c:pt>
                <c:pt idx="1">
                  <c:v>48.57735898254175</c:v>
                </c:pt>
                <c:pt idx="2">
                  <c:v>50.85656746552147</c:v>
                </c:pt>
                <c:pt idx="3">
                  <c:v>53.02599039984314</c:v>
                </c:pt>
                <c:pt idx="4">
                  <c:v>47.440840780265944</c:v>
                </c:pt>
                <c:pt idx="5">
                  <c:v>51.5558538450536</c:v>
                </c:pt>
                <c:pt idx="6">
                  <c:v>49.48016886376864</c:v>
                </c:pt>
              </c:numCache>
            </c:numRef>
          </c:val>
        </c:ser>
        <c:ser>
          <c:idx val="1"/>
          <c:order val="1"/>
          <c:tx>
            <c:strRef>
              <c:f>Sheet1!$C$1</c:f>
              <c:strCache>
                <c:ptCount val="1"/>
                <c:pt idx="0">
                  <c:v>Plasma</c:v>
                </c:pt>
              </c:strCache>
            </c:strRef>
          </c:tx>
          <c:spPr>
            <a:solidFill>
              <a:srgbClr val="9E7E0A"/>
            </a:solidFill>
            <a:ln>
              <a:noFill/>
            </a:ln>
          </c:spPr>
          <c:dLbls>
            <c:dLbl>
              <c:idx val="0"/>
              <c:tx>
                <c:rich>
                  <a:bodyPr/>
                  <a:lstStyle/>
                  <a:p>
                    <a:r>
                      <a:rPr sz="750">
                        <a:solidFill>
                          <a:srgbClr val="FFFFFF"/>
                        </a:solidFill>
                        <a:latin typeface="Calibri"/>
                      </a:rPr>
                      <a:t>18%</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19%</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18%</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20%</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19%</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22%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17.732499288424375</c:v>
                </c:pt>
                <c:pt idx="1">
                  <c:v>18.70629109629789</c:v>
                </c:pt>
                <c:pt idx="2">
                  <c:v>20.727492961912695</c:v>
                </c:pt>
                <c:pt idx="3">
                  <c:v>18.345448252927124</c:v>
                </c:pt>
                <c:pt idx="4">
                  <c:v>20.21568236411678</c:v>
                </c:pt>
                <c:pt idx="5">
                  <c:v>19.461866797307316</c:v>
                </c:pt>
                <c:pt idx="6">
                  <c:v>22.396657223002446</c:v>
                </c:pt>
              </c:numCache>
            </c:numRef>
          </c:val>
        </c:ser>
        <c:ser>
          <c:idx val="2"/>
          <c:order val="2"/>
          <c:tx>
            <c:strRef>
              <c:f>Sheet1!$D$1</c:f>
              <c:strCache>
                <c:ptCount val="1"/>
                <c:pt idx="0">
                  <c:v>Serum</c:v>
                </c:pt>
              </c:strCache>
            </c:strRef>
          </c:tx>
          <c:spPr>
            <a:solidFill>
              <a:srgbClr val="008189"/>
            </a:solidFill>
            <a:ln>
              <a:noFill/>
            </a:ln>
          </c:spPr>
          <c:dLbls>
            <c:dLbl>
              <c:idx val="0"/>
              <c:tx>
                <c:rich>
                  <a:bodyPr/>
                  <a:lstStyle/>
                  <a:p>
                    <a:r>
                      <a:rPr sz="750">
                        <a:solidFill>
                          <a:srgbClr val="FFFFFF"/>
                        </a:solidFill>
                        <a:latin typeface="Calibri"/>
                      </a:rPr>
                      <a:t>17%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18%</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20%</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16%</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15%</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16.854056691331447</c:v>
                </c:pt>
                <c:pt idx="1">
                  <c:v>17.614426826455514</c:v>
                </c:pt>
                <c:pt idx="2">
                  <c:v>13.712961136757034</c:v>
                </c:pt>
                <c:pt idx="3">
                  <c:v>14.860612594749742</c:v>
                </c:pt>
                <c:pt idx="4">
                  <c:v>19.5269445270629</c:v>
                </c:pt>
                <c:pt idx="5">
                  <c:v>15.849458741588768</c:v>
                </c:pt>
                <c:pt idx="6">
                  <c:v>14.654266808433695</c:v>
                </c:pt>
              </c:numCache>
            </c:numRef>
          </c:val>
        </c:ser>
        <c:ser>
          <c:idx val="3"/>
          <c:order val="3"/>
          <c:tx>
            <c:strRef>
              <c:f>Sheet1!$E$1</c:f>
              <c:strCache>
                <c:ptCount val="1"/>
                <c:pt idx="0">
                  <c:v>Dried Blood Spot</c:v>
                </c:pt>
              </c:strCache>
            </c:strRef>
          </c:tx>
          <c:spPr>
            <a:solidFill>
              <a:srgbClr val="40315E"/>
            </a:solidFill>
            <a:ln>
              <a:noFill/>
            </a:ln>
          </c:spPr>
          <c:dLbls>
            <c:dLbl>
              <c:idx val="0"/>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13.35701774737682</c:v>
                </c:pt>
                <c:pt idx="1">
                  <c:v>15.101923094704853</c:v>
                </c:pt>
                <c:pt idx="2">
                  <c:v>14.702978435808795</c:v>
                </c:pt>
                <c:pt idx="3">
                  <c:v>13.767948752479988</c:v>
                </c:pt>
                <c:pt idx="4">
                  <c:v>12.816532328554375</c:v>
                </c:pt>
                <c:pt idx="5">
                  <c:v>13.132820616050312</c:v>
                </c:pt>
                <c:pt idx="6">
                  <c:v>13.468907104795234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Whole Blood</c:v>
                </c:pt>
              </c:strCache>
            </c:strRef>
          </c:tx>
          <c:spPr>
            <a:solidFill>
              <a:srgbClr val="3D85C6"/>
            </a:solidFill>
          </c:spPr>
          <c:invertIfNegative val="0"/>
          <c:xVal>
            <c:numRef>
              <c:f>Sheet1!$A$2:$A$2</c:f>
              <c:numCache>
                <c:formatCode>General</c:formatCode>
                <c:ptCount val="1"/>
                <c:pt idx="0">
                  <c:v>90.30742656772941</c:v>
                </c:pt>
              </c:numCache>
            </c:numRef>
          </c:xVal>
          <c:yVal>
            <c:numRef>
              <c:f>Sheet1!$B$2:$B$2</c:f>
              <c:numCache>
                <c:formatCode>General</c:formatCode>
                <c:ptCount val="1"/>
                <c:pt idx="0">
                  <c:v>215.20055997201402</c:v>
                </c:pt>
              </c:numCache>
            </c:numRef>
          </c:yVal>
          <c:bubbleSize>
            <c:numRef>
              <c:f>Sheet1!$C$2:$C$2</c:f>
              <c:numCache>
                <c:formatCode>General</c:formatCode>
                <c:ptCount val="1"/>
                <c:pt idx="0">
                  <c:v>2471.30220921549</c:v>
                </c:pt>
              </c:numCache>
            </c:numRef>
          </c:bubbleSize>
          <c:bubble3D val="0"/>
        </c:ser>
        <c:ser>
          <c:idx val="1"/>
          <c:order val="1"/>
          <c:tx>
            <c:strRef>
              <c:f>Sheet1!$B$4</c:f>
              <c:strCache>
                <c:ptCount val="1"/>
                <c:pt idx="0">
                  <c:v>Plasma</c:v>
                </c:pt>
              </c:strCache>
            </c:strRef>
          </c:tx>
          <c:spPr>
            <a:solidFill>
              <a:srgbClr val="9E7E0A"/>
            </a:solidFill>
          </c:spPr>
          <c:invertIfNegative val="0"/>
          <c:xVal>
            <c:numRef>
              <c:f>Sheet1!$A$5:$A$5</c:f>
              <c:numCache>
                <c:formatCode>General</c:formatCode>
                <c:ptCount val="1"/>
                <c:pt idx="0">
                  <c:v>106.90915286960936</c:v>
                </c:pt>
              </c:numCache>
            </c:numRef>
          </c:xVal>
          <c:yVal>
            <c:numRef>
              <c:f>Sheet1!$B$5:$B$5</c:f>
              <c:numCache>
                <c:formatCode>General</c:formatCode>
                <c:ptCount val="1"/>
                <c:pt idx="0">
                  <c:v>77.7350784905283</c:v>
                </c:pt>
              </c:numCache>
            </c:numRef>
          </c:yVal>
          <c:bubbleSize>
            <c:numRef>
              <c:f>Sheet1!$C$5:$C$5</c:f>
              <c:numCache>
                <c:formatCode>General</c:formatCode>
                <c:ptCount val="1"/>
                <c:pt idx="0">
                  <c:v>1008.2105947349024</c:v>
                </c:pt>
              </c:numCache>
            </c:numRef>
          </c:bubbleSize>
          <c:bubble3D val="0"/>
        </c:ser>
        <c:ser>
          <c:idx val="2"/>
          <c:order val="2"/>
          <c:tx>
            <c:strRef>
              <c:f>Sheet1!$B$7</c:f>
              <c:strCache>
                <c:ptCount val="1"/>
                <c:pt idx="0">
                  <c:v>Serum</c:v>
                </c:pt>
              </c:strCache>
            </c:strRef>
          </c:tx>
          <c:spPr>
            <a:solidFill>
              <a:srgbClr val="008189"/>
            </a:solidFill>
          </c:spPr>
          <c:invertIfNegative val="0"/>
          <c:xVal>
            <c:numRef>
              <c:f>Sheet1!$A$8:$A$8</c:f>
              <c:numCache>
                <c:formatCode>General</c:formatCode>
                <c:ptCount val="1"/>
                <c:pt idx="0">
                  <c:v>80.53520835543142</c:v>
                </c:pt>
              </c:numCache>
            </c:numRef>
          </c:xVal>
          <c:yVal>
            <c:numRef>
              <c:f>Sheet1!$B$8:$B$8</c:f>
              <c:numCache>
                <c:formatCode>General</c:formatCode>
                <c:ptCount val="1"/>
                <c:pt idx="0">
                  <c:v>73.76881824163043</c:v>
                </c:pt>
              </c:numCache>
            </c:numRef>
          </c:yVal>
          <c:bubbleSize>
            <c:numRef>
              <c:f>Sheet1!$C$8:$C$8</c:f>
              <c:numCache>
                <c:formatCode>General</c:formatCode>
                <c:ptCount val="1"/>
                <c:pt idx="0">
                  <c:v>788.0285144162849</c:v>
                </c:pt>
              </c:numCache>
            </c:numRef>
          </c:bubbleSize>
          <c:bubble3D val="0"/>
        </c:ser>
        <c:ser>
          <c:idx val="3"/>
          <c:order val="3"/>
          <c:tx>
            <c:strRef>
              <c:f>Sheet1!$B$10</c:f>
              <c:strCache>
                <c:ptCount val="1"/>
                <c:pt idx="0">
                  <c:v>Dried Blood Spot</c:v>
                </c:pt>
              </c:strCache>
            </c:strRef>
          </c:tx>
          <c:spPr>
            <a:solidFill>
              <a:srgbClr val="40315E"/>
            </a:solidFill>
          </c:spPr>
          <c:invertIfNegative val="0"/>
          <c:xVal>
            <c:numRef>
              <c:f>Sheet1!$A$11:$A$11</c:f>
              <c:numCache>
                <c:formatCode>General</c:formatCode>
                <c:ptCount val="1"/>
                <c:pt idx="0">
                  <c:v>167.478902167402</c:v>
                </c:pt>
              </c:numCache>
            </c:numRef>
          </c:xVal>
          <c:yVal>
            <c:numRef>
              <c:f>Sheet1!$B$11:$B$11</c:f>
              <c:numCache>
                <c:formatCode>General</c:formatCode>
                <c:ptCount val="1"/>
                <c:pt idx="0">
                  <c:v>33.29554329582726</c:v>
                </c:pt>
              </c:numCache>
            </c:numRef>
          </c:yVal>
          <c:bubbleSize>
            <c:numRef>
              <c:f>Sheet1!$C$11:$C$11</c:f>
              <c:numCache>
                <c:formatCode>General</c:formatCode>
                <c:ptCount val="1"/>
                <c:pt idx="0">
                  <c:v>665.070471479471</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1788.395264318877</c:v>
                </c:pt>
                <c:pt idx="2">
                  <c:v>1861.4130113567157</c:v>
                </c:pt>
                <c:pt idx="3">
                  <c:v>1945.078153089598</c:v>
                </c:pt>
                <c:pt idx="4">
                  <c:v>2046.7374711909774</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1788.395264318877</c:v>
                </c:pt>
                <c:pt idx="1">
                  <c:v>73.01774703783872</c:v>
                </c:pt>
                <c:pt idx="2">
                  <c:v>83.66514173288215</c:v>
                </c:pt>
                <c:pt idx="3">
                  <c:v>101.65931810137954</c:v>
                </c:pt>
                <c:pt idx="4">
                  <c:v>118.5148888373019</c:v>
                </c:pt>
                <c:pt idx="5">
                  <c:v>2165.2523600282793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2305.7315644740966</c:v>
                </c:pt>
                <c:pt idx="2">
                  <c:v>2467.6750748507984</c:v>
                </c:pt>
                <c:pt idx="3">
                  <c:v>2650.0288253074405</c:v>
                </c:pt>
                <c:pt idx="4">
                  <c:v>2852.461336877671</c:v>
                </c:pt>
                <c:pt idx="5">
                  <c:v>3073.579036188752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2305.7315644740966</c:v>
                </c:pt>
                <c:pt idx="1">
                  <c:v>161.94351037670185</c:v>
                </c:pt>
                <c:pt idx="2">
                  <c:v>182.35375045664205</c:v>
                </c:pt>
                <c:pt idx="3">
                  <c:v>202.43251157023042</c:v>
                </c:pt>
                <c:pt idx="4">
                  <c:v>221.1176993110812</c:v>
                </c:pt>
                <c:pt idx="5">
                  <c:v>240.72558624028989</c:v>
                </c:pt>
                <c:pt idx="6">
                  <c:v>3314.304622429042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3314.304622429042</c:v>
                </c:pt>
                <c:pt idx="2">
                  <c:v>3578.1568098886746</c:v>
                </c:pt>
                <c:pt idx="3">
                  <c:v>3864.789262605533</c:v>
                </c:pt>
                <c:pt idx="4">
                  <c:v>4185.475525020053</c:v>
                </c:pt>
                <c:pt idx="5">
                  <c:v>4538.412674806592</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3314.304622429042</c:v>
                </c:pt>
                <c:pt idx="1">
                  <c:v>263.85218745963266</c:v>
                </c:pt>
                <c:pt idx="2">
                  <c:v>286.63245271685855</c:v>
                </c:pt>
                <c:pt idx="3">
                  <c:v>320.6862624145201</c:v>
                </c:pt>
                <c:pt idx="4">
                  <c:v>352.9371497865386</c:v>
                </c:pt>
                <c:pt idx="5">
                  <c:v>394.1991150395561</c:v>
                </c:pt>
                <c:pt idx="6">
                  <c:v>4932.611789846148</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Whole Blood</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55.49771967063879</c:v>
                </c:pt>
                <c:pt idx="1">
                  <c:v>53.800139993003505</c:v>
                </c:pt>
                <c:pt idx="2">
                  <c:v>50.10129145583079</c:v>
                </c:pt>
              </c:numCache>
            </c:numRef>
          </c:val>
        </c:ser>
        <c:ser>
          <c:idx val="1"/>
          <c:order val="1"/>
          <c:tx>
            <c:strRef>
              <c:f>Sheet1!$C$1</c:f>
              <c:strCache>
                <c:ptCount val="1"/>
                <c:pt idx="0">
                  <c:v>Plasma</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18.974587269855697</c:v>
                </c:pt>
                <c:pt idx="1">
                  <c:v>19.433769622632074</c:v>
                </c:pt>
                <c:pt idx="2">
                  <c:v>20.439690729570863</c:v>
                </c:pt>
              </c:numCache>
            </c:numRef>
          </c:val>
        </c:ser>
        <c:ser>
          <c:idx val="2"/>
          <c:order val="2"/>
          <c:tx>
            <c:strRef>
              <c:f>Sheet1!$D$1</c:f>
              <c:strCache>
                <c:ptCount val="1"/>
                <c:pt idx="0">
                  <c:v>Serum</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19.740308524800525</c:v>
                </c:pt>
                <c:pt idx="1">
                  <c:v>18.442204560407607</c:v>
                </c:pt>
                <c:pt idx="2">
                  <c:v>15.975887582283546</c:v>
                </c:pt>
              </c:numCache>
            </c:numRef>
          </c:val>
        </c:ser>
        <c:ser>
          <c:idx val="3"/>
          <c:order val="3"/>
          <c:tx>
            <c:strRef>
              <c:f>Sheet1!$E$1</c:f>
              <c:strCache>
                <c:ptCount val="1"/>
                <c:pt idx="0">
                  <c:v>Dried Blood Spot</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5.787384534704984</c:v>
                </c:pt>
                <c:pt idx="1">
                  <c:v>8.323885823956815</c:v>
                </c:pt>
                <c:pt idx="2">
                  <c:v>13.483130232314819</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Neonates</c:v>
                </c:pt>
              </c:strCache>
            </c:strRef>
          </c:tx>
          <c:spPr>
            <a:solidFill>
              <a:srgbClr val="3D85C6"/>
            </a:solidFill>
            <a:ln>
              <a:noFill/>
            </a:ln>
          </c:spPr>
          <c:dLbls>
            <c:dLbl>
              <c:idx val="0"/>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9%</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8%</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8%</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8.556266239403257</c:v>
                </c:pt>
                <c:pt idx="1">
                  <c:v>8.261201937569641</c:v>
                </c:pt>
                <c:pt idx="2">
                  <c:v>8.369239362562428</c:v>
                </c:pt>
                <c:pt idx="3">
                  <c:v>9.191319705221382</c:v>
                </c:pt>
                <c:pt idx="4">
                  <c:v>6.887196456235831</c:v>
                </c:pt>
                <c:pt idx="5">
                  <c:v>8.4443045726968</c:v>
                </c:pt>
                <c:pt idx="6">
                  <c:v>7.654346082434863</c:v>
                </c:pt>
              </c:numCache>
            </c:numRef>
          </c:val>
        </c:ser>
        <c:ser>
          <c:idx val="1"/>
          <c:order val="1"/>
          <c:tx>
            <c:strRef>
              <c:f>Sheet1!$C$1</c:f>
              <c:strCache>
                <c:ptCount val="1"/>
                <c:pt idx="0">
                  <c:v>Pediatric Patients</c:v>
                </c:pt>
              </c:strCache>
            </c:strRef>
          </c:tx>
          <c:spPr>
            <a:solidFill>
              <a:srgbClr val="9E7E0A"/>
            </a:solidFill>
            <a:ln>
              <a:noFill/>
            </a:ln>
          </c:spPr>
          <c:dLbls>
            <c:dLbl>
              <c:idx val="0"/>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12%</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13.378830821688567</c:v>
                </c:pt>
                <c:pt idx="1">
                  <c:v>12.012484547142979</c:v>
                </c:pt>
                <c:pt idx="2">
                  <c:v>13.489557935304855</c:v>
                </c:pt>
                <c:pt idx="3">
                  <c:v>13.157201677305649</c:v>
                </c:pt>
                <c:pt idx="4">
                  <c:v>12.534928312298774</c:v>
                </c:pt>
                <c:pt idx="5">
                  <c:v>13.247469766143697</c:v>
                </c:pt>
                <c:pt idx="6">
                  <c:v>12.271837833542447</c:v>
                </c:pt>
              </c:numCache>
            </c:numRef>
          </c:val>
        </c:ser>
        <c:ser>
          <c:idx val="2"/>
          <c:order val="2"/>
          <c:tx>
            <c:strRef>
              <c:f>Sheet1!$D$1</c:f>
              <c:strCache>
                <c:ptCount val="1"/>
                <c:pt idx="0">
                  <c:v>Adults</c:v>
                </c:pt>
              </c:strCache>
            </c:strRef>
          </c:tx>
          <c:spPr>
            <a:solidFill>
              <a:srgbClr val="008189"/>
            </a:solidFill>
            <a:ln>
              <a:noFill/>
            </a:ln>
          </c:spPr>
          <c:dLbls>
            <c:dLbl>
              <c:idx val="0"/>
              <c:tx>
                <c:rich>
                  <a:bodyPr/>
                  <a:lstStyle/>
                  <a:p>
                    <a:r>
                      <a:rPr sz="750">
                        <a:solidFill>
                          <a:srgbClr val="FFFFFF"/>
                        </a:solidFill>
                        <a:latin typeface="Calibri"/>
                      </a:rPr>
                      <a:t>52%</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56%</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53%</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52%</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53%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54%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51%</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51.9860388679668</c:v>
                </c:pt>
                <c:pt idx="1">
                  <c:v>55.52050659256202</c:v>
                </c:pt>
                <c:pt idx="2">
                  <c:v>53.15121796234643</c:v>
                </c:pt>
                <c:pt idx="3">
                  <c:v>51.85153579078844</c:v>
                </c:pt>
                <c:pt idx="4">
                  <c:v>52.922967478656325</c:v>
                </c:pt>
                <c:pt idx="5">
                  <c:v>53.87481980641332</c:v>
                </c:pt>
                <c:pt idx="6">
                  <c:v>50.572745517505155</c:v>
                </c:pt>
              </c:numCache>
            </c:numRef>
          </c:val>
        </c:ser>
        <c:ser>
          <c:idx val="3"/>
          <c:order val="3"/>
          <c:tx>
            <c:strRef>
              <c:f>Sheet1!$E$1</c:f>
              <c:strCache>
                <c:ptCount val="1"/>
                <c:pt idx="0">
                  <c:v>Geriatric Patients</c:v>
                </c:pt>
              </c:strCache>
            </c:strRef>
          </c:tx>
          <c:spPr>
            <a:solidFill>
              <a:srgbClr val="40315E"/>
            </a:solidFill>
            <a:ln>
              <a:noFill/>
            </a:ln>
          </c:spPr>
          <c:dLbls>
            <c:dLbl>
              <c:idx val="0"/>
              <c:tx>
                <c:rich>
                  <a:bodyPr/>
                  <a:lstStyle/>
                  <a:p>
                    <a:r>
                      <a:rPr sz="750">
                        <a:solidFill>
                          <a:srgbClr val="FFFFFF"/>
                        </a:solidFill>
                        <a:latin typeface="Calibri"/>
                      </a:rPr>
                      <a:t>26%</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25%</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26%</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28%</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30%</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26.07886407094137</c:v>
                </c:pt>
                <c:pt idx="1">
                  <c:v>24.205806922725362</c:v>
                </c:pt>
                <c:pt idx="2">
                  <c:v>24.989984739786284</c:v>
                </c:pt>
                <c:pt idx="3">
                  <c:v>25.799942826684514</c:v>
                </c:pt>
                <c:pt idx="4">
                  <c:v>27.65490775280907</c:v>
                </c:pt>
                <c:pt idx="5">
                  <c:v>24.433405854746187</c:v>
                </c:pt>
                <c:pt idx="6">
                  <c:v>29.501070566517544</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Neonates</c:v>
                </c:pt>
              </c:strCache>
            </c:strRef>
          </c:tx>
          <c:spPr>
            <a:solidFill>
              <a:srgbClr val="3D85C6"/>
            </a:solidFill>
          </c:spPr>
          <c:invertIfNegative val="0"/>
          <c:xVal>
            <c:numRef>
              <c:f>Sheet1!$A$2:$A$2</c:f>
              <c:numCache>
                <c:formatCode>General</c:formatCode>
                <c:ptCount val="1"/>
                <c:pt idx="0">
                  <c:v>104.37230281661482</c:v>
                </c:pt>
              </c:numCache>
            </c:numRef>
          </c:xVal>
          <c:yVal>
            <c:numRef>
              <c:f>Sheet1!$B$2:$B$2</c:f>
              <c:numCache>
                <c:formatCode>General</c:formatCode>
                <c:ptCount val="1"/>
                <c:pt idx="0">
                  <c:v>30.89366647771606</c:v>
                </c:pt>
              </c:numCache>
            </c:numRef>
          </c:yVal>
          <c:bubbleSize>
            <c:numRef>
              <c:f>Sheet1!$C$2:$C$2</c:f>
              <c:numCache>
                <c:formatCode>General</c:formatCode>
                <c:ptCount val="1"/>
                <c:pt idx="0">
                  <c:v>393.34089137012086</c:v>
                </c:pt>
              </c:numCache>
            </c:numRef>
          </c:bubbleSize>
          <c:bubble3D val="0"/>
        </c:ser>
        <c:ser>
          <c:idx val="1"/>
          <c:order val="1"/>
          <c:tx>
            <c:strRef>
              <c:f>Sheet1!$B$4</c:f>
              <c:strCache>
                <c:ptCount val="1"/>
                <c:pt idx="0">
                  <c:v>Pediatric Patients</c:v>
                </c:pt>
              </c:strCache>
            </c:strRef>
          </c:tx>
          <c:spPr>
            <a:solidFill>
              <a:srgbClr val="9E7E0A"/>
            </a:solidFill>
          </c:spPr>
          <c:invertIfNegative val="0"/>
          <c:xVal>
            <c:numRef>
              <c:f>Sheet1!$A$5:$A$5</c:f>
              <c:numCache>
                <c:formatCode>General</c:formatCode>
                <c:ptCount val="1"/>
                <c:pt idx="0">
                  <c:v>107.91647389250775</c:v>
                </c:pt>
              </c:numCache>
            </c:numRef>
          </c:xVal>
          <c:yVal>
            <c:numRef>
              <c:f>Sheet1!$B$5:$B$5</c:f>
              <c:numCache>
                <c:formatCode>General</c:formatCode>
                <c:ptCount val="1"/>
                <c:pt idx="0">
                  <c:v>48.144940654001964</c:v>
                </c:pt>
              </c:numCache>
            </c:numRef>
          </c:yVal>
          <c:bubbleSize>
            <c:numRef>
              <c:f>Sheet1!$C$5:$C$5</c:f>
              <c:numCache>
                <c:formatCode>General</c:formatCode>
                <c:ptCount val="1"/>
                <c:pt idx="0">
                  <c:v>629.0296029593919</c:v>
                </c:pt>
              </c:numCache>
            </c:numRef>
          </c:bubbleSize>
          <c:bubble3D val="0"/>
        </c:ser>
        <c:ser>
          <c:idx val="2"/>
          <c:order val="2"/>
          <c:tx>
            <c:strRef>
              <c:f>Sheet1!$B$7</c:f>
              <c:strCache>
                <c:ptCount val="1"/>
                <c:pt idx="0">
                  <c:v>Adults</c:v>
                </c:pt>
              </c:strCache>
            </c:strRef>
          </c:tx>
          <c:spPr>
            <a:solidFill>
              <a:srgbClr val="008189"/>
            </a:solidFill>
          </c:spPr>
          <c:invertIfNegative val="0"/>
          <c:xVal>
            <c:numRef>
              <c:f>Sheet1!$A$8:$A$8</c:f>
              <c:numCache>
                <c:formatCode>General</c:formatCode>
                <c:ptCount val="1"/>
                <c:pt idx="0">
                  <c:v>93.15208397808165</c:v>
                </c:pt>
              </c:numCache>
            </c:numRef>
          </c:xVal>
          <c:yVal>
            <c:numRef>
              <c:f>Sheet1!$B$8:$B$8</c:f>
              <c:numCache>
                <c:formatCode>General</c:formatCode>
                <c:ptCount val="1"/>
                <c:pt idx="0">
                  <c:v>220.61060577692788</c:v>
                </c:pt>
              </c:numCache>
            </c:numRef>
          </c:yVal>
          <c:bubbleSize>
            <c:numRef>
              <c:f>Sheet1!$C$8:$C$8</c:f>
              <c:numCache>
                <c:formatCode>General</c:formatCode>
                <c:ptCount val="1"/>
                <c:pt idx="0">
                  <c:v>2587.0845680885</c:v>
                </c:pt>
              </c:numCache>
            </c:numRef>
          </c:bubbleSize>
          <c:bubble3D val="0"/>
        </c:ser>
        <c:ser>
          <c:idx val="3"/>
          <c:order val="3"/>
          <c:tx>
            <c:strRef>
              <c:f>Sheet1!$B$10</c:f>
              <c:strCache>
                <c:ptCount val="1"/>
                <c:pt idx="0">
                  <c:v>Geriatric Patients</c:v>
                </c:pt>
              </c:strCache>
            </c:strRef>
          </c:tx>
          <c:spPr>
            <a:solidFill>
              <a:srgbClr val="40315E"/>
            </a:solidFill>
          </c:spPr>
          <c:invertIfNegative val="0"/>
          <c:xVal>
            <c:numRef>
              <c:f>Sheet1!$A$11:$A$11</c:f>
              <c:numCache>
                <c:formatCode>General</c:formatCode>
                <c:ptCount val="1"/>
                <c:pt idx="0">
                  <c:v>109.17264805381181</c:v>
                </c:pt>
              </c:numCache>
            </c:numRef>
          </c:xVal>
          <c:yVal>
            <c:numRef>
              <c:f>Sheet1!$B$11:$B$11</c:f>
              <c:numCache>
                <c:formatCode>General</c:formatCode>
                <c:ptCount val="1"/>
                <c:pt idx="0">
                  <c:v>100.35078709135412</c:v>
                </c:pt>
              </c:numCache>
            </c:numRef>
          </c:yVal>
          <c:bubbleSize>
            <c:numRef>
              <c:f>Sheet1!$C$11:$C$11</c:f>
              <c:numCache>
                <c:formatCode>General</c:formatCode>
                <c:ptCount val="1"/>
                <c:pt idx="0">
                  <c:v>1323.1567274281308</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1788.3952643188768</c:v>
                </c:pt>
                <c:pt idx="2">
                  <c:v>1861.4130113567148</c:v>
                </c:pt>
                <c:pt idx="3">
                  <c:v>1945.0781530895972</c:v>
                </c:pt>
                <c:pt idx="4">
                  <c:v>2046.7374711909792</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1788.3952643188768</c:v>
                </c:pt>
                <c:pt idx="1">
                  <c:v>73.01774703783803</c:v>
                </c:pt>
                <c:pt idx="2">
                  <c:v>83.66514173288238</c:v>
                </c:pt>
                <c:pt idx="3">
                  <c:v>101.65931810138204</c:v>
                </c:pt>
                <c:pt idx="4">
                  <c:v>118.51488883730008</c:v>
                </c:pt>
                <c:pt idx="5">
                  <c:v>2165.2523600282793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2305.731564474098</c:v>
                </c:pt>
                <c:pt idx="2">
                  <c:v>2467.6750748508002</c:v>
                </c:pt>
                <c:pt idx="3">
                  <c:v>2650.0288253074395</c:v>
                </c:pt>
                <c:pt idx="4">
                  <c:v>2852.4613368776695</c:v>
                </c:pt>
                <c:pt idx="5">
                  <c:v>3073.5790361887553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2305.731564474098</c:v>
                </c:pt>
                <c:pt idx="1">
                  <c:v>161.9435103767023</c:v>
                </c:pt>
                <c:pt idx="2">
                  <c:v>182.35375045663932</c:v>
                </c:pt>
                <c:pt idx="3">
                  <c:v>202.43251157022996</c:v>
                </c:pt>
                <c:pt idx="4">
                  <c:v>221.11769931108574</c:v>
                </c:pt>
                <c:pt idx="5">
                  <c:v>240.7255862402876</c:v>
                </c:pt>
                <c:pt idx="6">
                  <c:v>3314.304622429043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3314.304622429043</c:v>
                </c:pt>
                <c:pt idx="2">
                  <c:v>3578.1568098886773</c:v>
                </c:pt>
                <c:pt idx="3">
                  <c:v>3864.789262605532</c:v>
                </c:pt>
                <c:pt idx="4">
                  <c:v>4185.47552502006</c:v>
                </c:pt>
                <c:pt idx="5">
                  <c:v>4538.412674806597</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3314.304622429043</c:v>
                </c:pt>
                <c:pt idx="1">
                  <c:v>263.8521874596345</c:v>
                </c:pt>
                <c:pt idx="2">
                  <c:v>286.63245271685446</c:v>
                </c:pt>
                <c:pt idx="3">
                  <c:v>320.68626241452785</c:v>
                </c:pt>
                <c:pt idx="4">
                  <c:v>352.9371497865377</c:v>
                </c:pt>
                <c:pt idx="5">
                  <c:v>394.1991150395461</c:v>
                </c:pt>
                <c:pt idx="6">
                  <c:v>4932.611789846143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Adults</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56.2609512475937</c:v>
                </c:pt>
                <c:pt idx="1">
                  <c:v>55.15265144423197</c:v>
                </c:pt>
                <c:pt idx="2">
                  <c:v>52.44857447354874</c:v>
                </c:pt>
              </c:numCache>
            </c:numRef>
          </c:val>
        </c:ser>
        <c:ser>
          <c:idx val="1"/>
          <c:order val="1"/>
          <c:tx>
            <c:strRef>
              <c:f>Sheet1!$C$1</c:f>
              <c:strCache>
                <c:ptCount val="1"/>
                <c:pt idx="0">
                  <c:v>Geriatric Patients</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24.371827380841253</c:v>
                </c:pt>
                <c:pt idx="1">
                  <c:v>25.08769677283853</c:v>
                </c:pt>
                <c:pt idx="2">
                  <c:v>26.82466781902174</c:v>
                </c:pt>
              </c:numCache>
            </c:numRef>
          </c:val>
        </c:ser>
        <c:ser>
          <c:idx val="2"/>
          <c:order val="2"/>
          <c:tx>
            <c:strRef>
              <c:f>Sheet1!$D$1</c:f>
              <c:strCache>
                <c:ptCount val="1"/>
                <c:pt idx="0">
                  <c:v>Pediatric Patients</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11.72443500278011</c:v>
                </c:pt>
                <c:pt idx="1">
                  <c:v>12.036235163500491</c:v>
                </c:pt>
                <c:pt idx="2">
                  <c:v>12.752465220438774</c:v>
                </c:pt>
              </c:numCache>
            </c:numRef>
          </c:val>
        </c:ser>
        <c:ser>
          <c:idx val="3"/>
          <c:order val="3"/>
          <c:tx>
            <c:strRef>
              <c:f>Sheet1!$E$1</c:f>
              <c:strCache>
                <c:ptCount val="1"/>
                <c:pt idx="0">
                  <c:v>Neonates</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7.642786368784921</c:v>
                </c:pt>
                <c:pt idx="1">
                  <c:v>7.723416619429015</c:v>
                </c:pt>
                <c:pt idx="2">
                  <c:v>7.974292486990747</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varyColors val="0"/>
        <c:ser>
          <c:idx val="0"/>
          <c:order val="0"/>
          <c:tx>
            <c:strRef>
              <c:f>Sheet1!$B$1</c:f>
              <c:strCache>
                <c:ptCount val="1"/>
                <c:pt idx="0">
                  <c:v>Direct Sales</c:v>
                </c:pt>
              </c:strCache>
            </c:strRef>
          </c:tx>
          <c:spPr>
            <a:solidFill>
              <a:srgbClr val="3D85C6"/>
            </a:solidFill>
            <a:ln>
              <a:noFill/>
            </a:ln>
          </c:spPr>
          <c:dLbls>
            <c:dLbl>
              <c:idx val="0"/>
              <c:tx>
                <c:rich>
                  <a:bodyPr/>
                  <a:lstStyle/>
                  <a:p>
                    <a:r>
                      <a:rPr sz="750">
                        <a:solidFill>
                          <a:srgbClr val="FFFFFF"/>
                        </a:solidFill>
                        <a:latin typeface="Calibri"/>
                      </a:rPr>
                      <a:t>23%</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25%</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25%</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26%</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22%</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26%</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26%</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Sheet1!$B$2:$B$8</c:f>
              <c:numCache>
                <c:formatCode>General</c:formatCode>
                <c:ptCount val="7"/>
                <c:pt idx="0">
                  <c:v>22.70919580718496</c:v>
                </c:pt>
                <c:pt idx="1">
                  <c:v>24.518004441365218</c:v>
                </c:pt>
                <c:pt idx="2">
                  <c:v>25.186327598588186</c:v>
                </c:pt>
                <c:pt idx="3">
                  <c:v>25.7300550713166</c:v>
                </c:pt>
                <c:pt idx="4">
                  <c:v>22.05338646860923</c:v>
                </c:pt>
                <c:pt idx="5">
                  <c:v>26.23292596712996</c:v>
                </c:pt>
                <c:pt idx="6">
                  <c:v>25.99231396205557</c:v>
                </c:pt>
              </c:numCache>
            </c:numRef>
          </c:val>
        </c:ser>
        <c:ser>
          <c:idx val="1"/>
          <c:order val="1"/>
          <c:tx>
            <c:strRef>
              <c:f>Sheet1!$C$1</c:f>
              <c:strCache>
                <c:ptCount val="1"/>
                <c:pt idx="0">
                  <c:v>Medical Distributors &amp; Wholesalers</c:v>
                </c:pt>
              </c:strCache>
            </c:strRef>
          </c:tx>
          <c:spPr>
            <a:solidFill>
              <a:srgbClr val="9E7E0A"/>
            </a:solidFill>
            <a:ln>
              <a:noFill/>
            </a:ln>
          </c:spPr>
          <c:dLbls>
            <c:dLbl>
              <c:idx val="0"/>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40%</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31%</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39%</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37%</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36%</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34%</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Sheet1!$C$2:$C$8</c:f>
              <c:numCache>
                <c:formatCode>General</c:formatCode>
                <c:ptCount val="7"/>
                <c:pt idx="0">
                  <c:v>36.85126873919258</c:v>
                </c:pt>
                <c:pt idx="1">
                  <c:v>39.6078016107482</c:v>
                </c:pt>
                <c:pt idx="2">
                  <c:v>31.233654653710037</c:v>
                </c:pt>
                <c:pt idx="3">
                  <c:v>38.538090080495735</c:v>
                </c:pt>
                <c:pt idx="4">
                  <c:v>36.97418585473299</c:v>
                </c:pt>
                <c:pt idx="5">
                  <c:v>35.70716694020812</c:v>
                </c:pt>
                <c:pt idx="6">
                  <c:v>34.13428520264466</c:v>
                </c:pt>
              </c:numCache>
            </c:numRef>
          </c:val>
        </c:ser>
        <c:ser>
          <c:idx val="2"/>
          <c:order val="2"/>
          <c:tx>
            <c:strRef>
              <c:f>Sheet1!$D$1</c:f>
              <c:strCache>
                <c:ptCount val="1"/>
                <c:pt idx="0">
                  <c:v>Retail Pharmacy</c:v>
                </c:pt>
              </c:strCache>
            </c:strRef>
          </c:tx>
          <c:spPr>
            <a:solidFill>
              <a:srgbClr val="008189"/>
            </a:solidFill>
            <a:ln>
              <a:noFill/>
            </a:ln>
          </c:spPr>
          <c:dLbls>
            <c:dLbl>
              <c:idx val="0"/>
              <c:tx>
                <c:rich>
                  <a:bodyPr/>
                  <a:lstStyle/>
                  <a:p>
                    <a:r>
                      <a:rPr sz="750">
                        <a:solidFill>
                          <a:srgbClr val="FFFFFF"/>
                        </a:solidFill>
                        <a:latin typeface="Calibri"/>
                      </a:rPr>
                      <a:t>15%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12%</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16%</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13%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18%</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14%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13%</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Sheet1!$D$2:$D$8</c:f>
              <c:numCache>
                <c:formatCode>General</c:formatCode>
                <c:ptCount val="7"/>
                <c:pt idx="0">
                  <c:v>15.369528645634661</c:v>
                </c:pt>
                <c:pt idx="1">
                  <c:v>11.555622640373434</c:v>
                </c:pt>
                <c:pt idx="2">
                  <c:v>15.64727014004771</c:v>
                </c:pt>
                <c:pt idx="3">
                  <c:v>12.766047507875546</c:v>
                </c:pt>
                <c:pt idx="4">
                  <c:v>17.59705225859758</c:v>
                </c:pt>
                <c:pt idx="5">
                  <c:v>13.838947875766122</c:v>
                </c:pt>
                <c:pt idx="6">
                  <c:v>12.602582781658791</c:v>
                </c:pt>
              </c:numCache>
            </c:numRef>
          </c:val>
        </c:ser>
        <c:ser>
          <c:idx val="3"/>
          <c:order val="3"/>
          <c:tx>
            <c:strRef>
              <c:f>Sheet1!$E$1</c:f>
              <c:strCache>
                <c:ptCount val="1"/>
                <c:pt idx="0">
                  <c:v>E-Commerce / DTC</c:v>
                </c:pt>
              </c:strCache>
            </c:strRef>
          </c:tx>
          <c:spPr>
            <a:solidFill>
              <a:srgbClr val="40315E"/>
            </a:solidFill>
            <a:ln>
              <a:noFill/>
            </a:ln>
          </c:spPr>
          <c:dLbls>
            <c:dLbl>
              <c:idx val="0"/>
              <c:tx>
                <c:rich>
                  <a:bodyPr/>
                  <a:lstStyle/>
                  <a:p>
                    <a:r>
                      <a:rPr sz="750">
                        <a:solidFill>
                          <a:srgbClr val="FFFFFF"/>
                        </a:solidFill>
                        <a:latin typeface="Calibri"/>
                      </a:rPr>
                      <a:t>25%</a:t>
                    </a:r>
                  </a:p>
                </c:rich>
              </c:tx>
              <c:dLblPos val="ctr"/>
              <c:showLegendKey val="0"/>
              <c:showVal val="1"/>
              <c:showCatName val="0"/>
              <c:showSerName val="0"/>
              <c:showPercent val="0"/>
              <c:showBubbleSize val="0"/>
            </c:dLbl>
            <c:dLbl>
              <c:idx val="1"/>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2"/>
              <c:tx>
                <c:rich>
                  <a:bodyPr/>
                  <a:lstStyle/>
                  <a:p>
                    <a:r>
                      <a:rPr sz="750">
                        <a:solidFill>
                          <a:srgbClr val="FFFFFF"/>
                        </a:solidFill>
                        <a:latin typeface="Calibri"/>
                      </a:rPr>
                      <a:t>28%</a:t>
                    </a:r>
                  </a:p>
                </c:rich>
              </c:tx>
              <c:dLblPos val="ctr"/>
              <c:showLegendKey val="0"/>
              <c:showVal val="1"/>
              <c:showCatName val="0"/>
              <c:showSerName val="0"/>
              <c:showPercent val="0"/>
              <c:showBubbleSize val="0"/>
            </c:dLbl>
            <c:dLbl>
              <c:idx val="3"/>
              <c:tx>
                <c:rich>
                  <a:bodyPr/>
                  <a:lstStyle/>
                  <a:p>
                    <a:r>
                      <a:rPr sz="750">
                        <a:solidFill>
                          <a:srgbClr val="FFFFFF"/>
                        </a:solidFill>
                        <a:latin typeface="Calibri"/>
                      </a:rPr>
                      <a:t>23%</a:t>
                    </a:r>
                  </a:p>
                </c:rich>
              </c:tx>
              <c:dLblPos val="ctr"/>
              <c:showLegendKey val="0"/>
              <c:showVal val="1"/>
              <c:showCatName val="0"/>
              <c:showSerName val="0"/>
              <c:showPercent val="0"/>
              <c:showBubbleSize val="0"/>
            </c:dLbl>
            <c:dLbl>
              <c:idx val="4"/>
              <c:tx>
                <c:rich>
                  <a:bodyPr/>
                  <a:lstStyle/>
                  <a:p>
                    <a:r>
                      <a:rPr sz="750">
                        <a:solidFill>
                          <a:srgbClr val="FFFFFF"/>
                        </a:solidFill>
                        <a:latin typeface="Calibri"/>
                      </a:rPr>
                      <a:t>23%</a:t>
                    </a:r>
                  </a:p>
                </c:rich>
              </c:tx>
              <c:dLblPos val="ctr"/>
              <c:showLegendKey val="0"/>
              <c:showVal val="1"/>
              <c:showCatName val="0"/>
              <c:showSerName val="0"/>
              <c:showPercent val="0"/>
              <c:showBubbleSize val="0"/>
            </c:dLbl>
            <c:dLbl>
              <c:idx val="5"/>
              <c:tx>
                <c:rich>
                  <a:bodyPr/>
                  <a:lstStyle/>
                  <a:p>
                    <a:r>
                      <a:rPr sz="750">
                        <a:solidFill>
                          <a:srgbClr val="FFFFFF"/>
                        </a:solidFill>
                        <a:latin typeface="Calibri"/>
                      </a:rPr>
                      <a:t>24%</a:t>
                    </a:r>
                  </a:p>
                </c:rich>
              </c:tx>
              <c:dLblPos val="ctr"/>
              <c:showLegendKey val="0"/>
              <c:showVal val="1"/>
              <c:showCatName val="0"/>
              <c:showSerName val="0"/>
              <c:showPercent val="0"/>
              <c:showBubbleSize val="0"/>
            </c:dLbl>
            <c:dLbl>
              <c:idx val="6"/>
              <c:tx>
                <c:rich>
                  <a:bodyPr/>
                  <a:lstStyle/>
                  <a:p>
                    <a:r>
                      <a:rPr sz="750">
                        <a:solidFill>
                          <a:srgbClr val="FFFFFF"/>
                        </a:solidFill>
                        <a:latin typeface="Calibri"/>
                      </a:rPr>
                      <a:t>27%</a:t>
                    </a:r>
                  </a:p>
                </c:rich>
              </c:tx>
              <c:dLblPos val="ct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Middle East &amp; Africa  ·  213</c:v>
                </c:pt>
                <c:pt idx="1">
                  <c:v>Eastern Europe  ·  299</c:v>
                </c:pt>
                <c:pt idx="2">
                  <c:v>Latin America  ·  363</c:v>
                </c:pt>
                <c:pt idx="3">
                  <c:v>South Asia Pacific  ·  366</c:v>
                </c:pt>
                <c:pt idx="4">
                  <c:v>East Asia  ·  804</c:v>
                </c:pt>
                <c:pt idx="5">
                  <c:v>Western Europe  ·  1,266</c:v>
                </c:pt>
                <c:pt idx="6">
                  <c:v>North America  ·  1,622</c:v>
                </c:pt>
              </c:strCache>
            </c:strRef>
          </c:cat>
          <c:val>
            <c:numRef>
              <c:f>Sheet1!$E$2:$E$8</c:f>
              <c:numCache>
                <c:formatCode>General</c:formatCode>
                <c:ptCount val="7"/>
                <c:pt idx="0">
                  <c:v>25.07000680798781</c:v>
                </c:pt>
                <c:pt idx="1">
                  <c:v>24.31857130751315</c:v>
                </c:pt>
                <c:pt idx="2">
                  <c:v>27.93274760765406</c:v>
                </c:pt>
                <c:pt idx="3">
                  <c:v>22.965807340312118</c:v>
                </c:pt>
                <c:pt idx="4">
                  <c:v>23.37537541806022</c:v>
                </c:pt>
                <c:pt idx="5">
                  <c:v>24.220959216895807</c:v>
                </c:pt>
                <c:pt idx="6">
                  <c:v>27.270818053640976</c:v>
                </c:pt>
              </c:numCache>
            </c:numRef>
          </c:val>
        </c:ser>
        <c:gapWidth val="50"/>
        <c:overlap val="10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00.0"/>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chart>
    <c:autoTitleDeleted val="1"/>
    <c:plotArea>
      <c:layout/>
      <c:bubbleChart>
        <c:varyColors val="0"/>
        <c:ser>
          <c:idx val="0"/>
          <c:order val="0"/>
          <c:tx>
            <c:strRef>
              <c:f>Sheet1!$B$1</c:f>
              <c:strCache>
                <c:ptCount val="1"/>
                <c:pt idx="0">
                  <c:v>Direct Sales</c:v>
                </c:pt>
              </c:strCache>
            </c:strRef>
          </c:tx>
          <c:spPr>
            <a:solidFill>
              <a:srgbClr val="3D85C6"/>
            </a:solidFill>
          </c:spPr>
          <c:invertIfNegative val="0"/>
          <c:xVal>
            <c:numRef>
              <c:f>Sheet1!$A$2:$A$2</c:f>
              <c:numCache>
                <c:formatCode>General</c:formatCode>
                <c:ptCount val="1"/>
                <c:pt idx="0">
                  <c:v>86.38475729382955</c:v>
                </c:pt>
              </c:numCache>
            </c:numRef>
          </c:xVal>
          <c:yVal>
            <c:numRef>
              <c:f>Sheet1!$B$2:$B$2</c:f>
              <c:numCache>
                <c:formatCode>General</c:formatCode>
                <c:ptCount val="1"/>
                <c:pt idx="0">
                  <c:v>110.99147551831425</c:v>
                </c:pt>
              </c:numCache>
            </c:numRef>
          </c:yVal>
          <c:bubbleSize>
            <c:numRef>
              <c:f>Sheet1!$C$2:$C$2</c:f>
              <c:numCache>
                <c:formatCode>General</c:formatCode>
                <c:ptCount val="1"/>
                <c:pt idx="0">
                  <c:v>1238.196938047249</c:v>
                </c:pt>
              </c:numCache>
            </c:numRef>
          </c:bubbleSize>
          <c:bubble3D val="0"/>
        </c:ser>
        <c:ser>
          <c:idx val="1"/>
          <c:order val="1"/>
          <c:tx>
            <c:strRef>
              <c:f>Sheet1!$B$4</c:f>
              <c:strCache>
                <c:ptCount val="1"/>
                <c:pt idx="0">
                  <c:v>Medical Distributors &amp; Wholesalers</c:v>
                </c:pt>
              </c:strCache>
            </c:strRef>
          </c:tx>
          <c:spPr>
            <a:solidFill>
              <a:srgbClr val="9E7E0A"/>
            </a:solidFill>
          </c:spPr>
          <c:invertIfNegative val="0"/>
          <c:xVal>
            <c:numRef>
              <c:f>Sheet1!$A$5:$A$5</c:f>
              <c:numCache>
                <c:formatCode>General</c:formatCode>
                <c:ptCount val="1"/>
                <c:pt idx="0">
                  <c:v>80.23634409919238</c:v>
                </c:pt>
              </c:numCache>
            </c:numRef>
          </c:xVal>
          <c:yVal>
            <c:numRef>
              <c:f>Sheet1!$B$5:$B$5</c:f>
              <c:numCache>
                <c:formatCode>General</c:formatCode>
                <c:ptCount val="1"/>
                <c:pt idx="0">
                  <c:v>164.57933318638445</c:v>
                </c:pt>
              </c:numCache>
            </c:numRef>
          </c:yVal>
          <c:bubbleSize>
            <c:numRef>
              <c:f>Sheet1!$C$5:$C$5</c:f>
              <c:numCache>
                <c:formatCode>General</c:formatCode>
                <c:ptCount val="1"/>
                <c:pt idx="0">
                  <c:v>1754.2040060775219</c:v>
                </c:pt>
              </c:numCache>
            </c:numRef>
          </c:bubbleSize>
          <c:bubble3D val="0"/>
        </c:ser>
        <c:ser>
          <c:idx val="2"/>
          <c:order val="2"/>
          <c:tx>
            <c:strRef>
              <c:f>Sheet1!$B$7</c:f>
              <c:strCache>
                <c:ptCount val="1"/>
                <c:pt idx="0">
                  <c:v>Retail Pharmacy</c:v>
                </c:pt>
              </c:strCache>
            </c:strRef>
          </c:tx>
          <c:spPr>
            <a:solidFill>
              <a:srgbClr val="008189"/>
            </a:solidFill>
          </c:spPr>
          <c:invertIfNegative val="0"/>
          <c:xVal>
            <c:numRef>
              <c:f>Sheet1!$A$8:$A$8</c:f>
              <c:numCache>
                <c:formatCode>General</c:formatCode>
                <c:ptCount val="1"/>
                <c:pt idx="0">
                  <c:v>100.88034170855178</c:v>
                </c:pt>
              </c:numCache>
            </c:numRef>
          </c:xVal>
          <c:yVal>
            <c:numRef>
              <c:f>Sheet1!$B$8:$B$8</c:f>
              <c:numCache>
                <c:formatCode>General</c:formatCode>
                <c:ptCount val="1"/>
                <c:pt idx="0">
                  <c:v>55.74493362505072</c:v>
                </c:pt>
              </c:numCache>
            </c:numRef>
          </c:yVal>
          <c:bubbleSize>
            <c:numRef>
              <c:f>Sheet1!$C$8:$C$8</c:f>
              <c:numCache>
                <c:formatCode>General</c:formatCode>
                <c:ptCount val="1"/>
                <c:pt idx="0">
                  <c:v>691.8646343023399</c:v>
                </c:pt>
              </c:numCache>
            </c:numRef>
          </c:bubbleSize>
          <c:bubble3D val="0"/>
        </c:ser>
        <c:ser>
          <c:idx val="3"/>
          <c:order val="3"/>
          <c:tx>
            <c:strRef>
              <c:f>Sheet1!$B$10</c:f>
              <c:strCache>
                <c:ptCount val="1"/>
                <c:pt idx="0">
                  <c:v>E-Commerce / DTC</c:v>
                </c:pt>
              </c:strCache>
            </c:strRef>
          </c:tx>
          <c:spPr>
            <a:solidFill>
              <a:srgbClr val="40315E"/>
            </a:solidFill>
          </c:spPr>
          <c:invertIfNegative val="0"/>
          <c:xVal>
            <c:numRef>
              <c:f>Sheet1!$A$11:$A$11</c:f>
              <c:numCache>
                <c:formatCode>General</c:formatCode>
                <c:ptCount val="1"/>
                <c:pt idx="0">
                  <c:v>154.0121403544088</c:v>
                </c:pt>
              </c:numCache>
            </c:numRef>
          </c:xVal>
          <c:yVal>
            <c:numRef>
              <c:f>Sheet1!$B$11:$B$11</c:f>
              <c:numCache>
                <c:formatCode>General</c:formatCode>
                <c:ptCount val="1"/>
                <c:pt idx="0">
                  <c:v>68.68425767025059</c:v>
                </c:pt>
              </c:numCache>
            </c:numRef>
          </c:yVal>
          <c:bubbleSize>
            <c:numRef>
              <c:f>Sheet1!$C$11:$C$11</c:f>
              <c:numCache>
                <c:formatCode>General</c:formatCode>
                <c:ptCount val="1"/>
                <c:pt idx="0">
                  <c:v>1248.346211419032</c:v>
                </c:pt>
              </c:numCache>
            </c:numRef>
          </c:bubbleSize>
          <c:bubble3D val="0"/>
        </c:ser>
        <c:dLbls>
          <c:showLegendKey val="0"/>
          <c:showVal val="0"/>
          <c:showCatName val="0"/>
          <c:showSerName val="0"/>
          <c:showPercent val="0"/>
          <c:showBubbleSize val="0"/>
        </c:dLbls>
        <c:bubbleScale val="100"/>
        <c:showNegBubbles val="0"/>
        <c:axId val="-2115720072"/>
        <c:axId val="-2115723560"/>
      </c:bubbleChart>
      <c:valAx>
        <c:axId val="-2115720072"/>
        <c:scaling>
          <c:orientation val="minMax"/>
        </c:scaling>
        <c:delete val="0"/>
        <c:axPos val="b"/>
        <c:numFmt formatCode="General" sourceLinked="1"/>
        <c:majorTickMark val="out"/>
        <c:minorTickMark val="none"/>
        <c:tickLblPos val="nextTo"/>
        <c:spPr>
          <a:ln>
            <a:solidFill>
              <a:srgbClr val="C6D5E1"/>
            </a:solidFill>
          </a:ln>
        </c:spPr>
        <c:txPr>
          <a:bodyPr/>
          <a:lstStyle/>
          <a:p>
            <a:pPr>
              <a:defRPr sz="850"/>
            </a:pPr>
          </a:p>
        </c:txPr>
        <c:crossAx val="-2115723560"/>
        <c:crosses val="autoZero"/>
        <c:crossBetween val="midCat"/>
      </c:valAx>
      <c:valAx>
        <c:axId val="-2115723560"/>
        <c:scaling>
          <c:orientation val="minMax"/>
        </c:scaling>
        <c:delete val="0"/>
        <c:axPos val="l"/>
        <c:numFmt formatCode="General" sourceLinked="1"/>
        <c:majorTickMark val="out"/>
        <c:minorTickMark val="none"/>
        <c:tickLblPos val="nextTo"/>
        <c:spPr>
          <a:ln>
            <a:solidFill>
              <a:srgbClr val="C6D5E1"/>
            </a:solidFill>
          </a:ln>
        </c:spPr>
        <c:txPr>
          <a:bodyPr/>
          <a:lstStyle/>
          <a:p>
            <a:pPr>
              <a:defRPr sz="850"/>
            </a:pPr>
          </a:p>
        </c:txPr>
        <c:crossAx val="-2115720072"/>
        <c:crosses val="autoZero"/>
        <c:crossBetween val="midCat"/>
      </c:valAx>
    </c:plotArea>
    <c:legend>
      <c:legendPos val="b"/>
      <c:layout/>
      <c:overlay val="0"/>
      <c:txPr>
        <a:bodyPr/>
        <a:lstStyle/>
        <a:p>
          <a:pPr>
            <a:defRPr sz="850"/>
          </a:pPr>
        </a:p>
      </c:txPr>
    </c:legend>
    <c:plotVisOnly val="1"/>
    <c:dispBlanksAs val="gap"/>
    <c:showDLblsOverMax val="0"/>
  </c:chart>
  <c:txPr>
    <a:bodyPr/>
    <a:lstStyle/>
    <a:p>
      <a:pPr>
        <a:defRPr sz="800">
          <a:latin typeface="Calibri"/>
        </a:defRPr>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2021</c:v>
                </c:pt>
                <c:pt idx="1">
                  <c:v>2022</c:v>
                </c:pt>
                <c:pt idx="2">
                  <c:v>2023</c:v>
                </c:pt>
                <c:pt idx="3">
                  <c:v>2024</c:v>
                </c:pt>
                <c:pt idx="4">
                  <c:v>2025</c:v>
                </c:pt>
                <c:pt idx="5">
                  <c:v>2025 Total</c:v>
                </c:pt>
              </c:strCache>
            </c:strRef>
          </c:cat>
          <c:val>
            <c:numRef>
              <c:f>Sheet1!$B$2:$B$7</c:f>
              <c:numCache>
                <c:formatCode>General</c:formatCode>
                <c:ptCount val="6"/>
                <c:pt idx="0">
                  <c:v>0.0</c:v>
                </c:pt>
                <c:pt idx="1">
                  <c:v>1788.3952643188766</c:v>
                </c:pt>
                <c:pt idx="2">
                  <c:v>1861.4130113567148</c:v>
                </c:pt>
                <c:pt idx="3">
                  <c:v>1945.078153089597</c:v>
                </c:pt>
                <c:pt idx="4">
                  <c:v>2046.7374711909765</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2021</c:v>
                </c:pt>
                <c:pt idx="1">
                  <c:v>2022</c:v>
                </c:pt>
                <c:pt idx="2">
                  <c:v>2023</c:v>
                </c:pt>
                <c:pt idx="3">
                  <c:v>2024</c:v>
                </c:pt>
                <c:pt idx="4">
                  <c:v>2025</c:v>
                </c:pt>
                <c:pt idx="5">
                  <c:v>2025 Total</c:v>
                </c:pt>
              </c:strCache>
            </c:strRef>
          </c:cat>
          <c:val>
            <c:numRef>
              <c:f>Sheet1!$C$2:$C$7</c:f>
              <c:numCache>
                <c:formatCode>General</c:formatCode>
                <c:ptCount val="6"/>
                <c:pt idx="0">
                  <c:v>1788.3952643188766</c:v>
                </c:pt>
                <c:pt idx="1">
                  <c:v>73.01774703783826</c:v>
                </c:pt>
                <c:pt idx="2">
                  <c:v>83.66514173288215</c:v>
                </c:pt>
                <c:pt idx="3">
                  <c:v>101.65931810137954</c:v>
                </c:pt>
                <c:pt idx="4">
                  <c:v>118.5148888373019</c:v>
                </c:pt>
                <c:pt idx="5">
                  <c:v>2165.2523600282784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2026</c:v>
                </c:pt>
                <c:pt idx="1">
                  <c:v>2027</c:v>
                </c:pt>
                <c:pt idx="2">
                  <c:v>2028</c:v>
                </c:pt>
                <c:pt idx="3">
                  <c:v>2029</c:v>
                </c:pt>
                <c:pt idx="4">
                  <c:v>2030</c:v>
                </c:pt>
                <c:pt idx="5">
                  <c:v>2031</c:v>
                </c:pt>
                <c:pt idx="6">
                  <c:v>2031 Total</c:v>
                </c:pt>
              </c:strCache>
            </c:strRef>
          </c:cat>
          <c:val>
            <c:numRef>
              <c:f>Sheet1!$B$2:$B$8</c:f>
              <c:numCache>
                <c:formatCode>General</c:formatCode>
                <c:ptCount val="7"/>
                <c:pt idx="0">
                  <c:v>0.0</c:v>
                </c:pt>
                <c:pt idx="1">
                  <c:v>2305.731564474095</c:v>
                </c:pt>
                <c:pt idx="2">
                  <c:v>2467.6750748507984</c:v>
                </c:pt>
                <c:pt idx="3">
                  <c:v>2650.02882530744</c:v>
                </c:pt>
                <c:pt idx="4">
                  <c:v>2852.461336877671</c:v>
                </c:pt>
                <c:pt idx="5">
                  <c:v>3073.579036188751</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2026</c:v>
                </c:pt>
                <c:pt idx="1">
                  <c:v>2027</c:v>
                </c:pt>
                <c:pt idx="2">
                  <c:v>2028</c:v>
                </c:pt>
                <c:pt idx="3">
                  <c:v>2029</c:v>
                </c:pt>
                <c:pt idx="4">
                  <c:v>2030</c:v>
                </c:pt>
                <c:pt idx="5">
                  <c:v>2031</c:v>
                </c:pt>
                <c:pt idx="6">
                  <c:v>2031 Total</c:v>
                </c:pt>
              </c:strCache>
            </c:strRef>
          </c:cat>
          <c:val>
            <c:numRef>
              <c:f>Sheet1!$C$2:$C$8</c:f>
              <c:numCache>
                <c:formatCode>General</c:formatCode>
                <c:ptCount val="7"/>
                <c:pt idx="0">
                  <c:v>2305.731564474095</c:v>
                </c:pt>
                <c:pt idx="1">
                  <c:v>161.94351037670322</c:v>
                </c:pt>
                <c:pt idx="2">
                  <c:v>182.3537504566416</c:v>
                </c:pt>
                <c:pt idx="3">
                  <c:v>202.43251157023087</c:v>
                </c:pt>
                <c:pt idx="4">
                  <c:v>221.1176993110803</c:v>
                </c:pt>
                <c:pt idx="5">
                  <c:v>240.72558624028989</c:v>
                </c:pt>
                <c:pt idx="6">
                  <c:v>3314.304622429041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2031</c:v>
                </c:pt>
                <c:pt idx="1">
                  <c:v>2032</c:v>
                </c:pt>
                <c:pt idx="2">
                  <c:v>2033</c:v>
                </c:pt>
                <c:pt idx="3">
                  <c:v>2034</c:v>
                </c:pt>
                <c:pt idx="4">
                  <c:v>2035</c:v>
                </c:pt>
                <c:pt idx="5">
                  <c:v>2036</c:v>
                </c:pt>
                <c:pt idx="6">
                  <c:v>2036 Total</c:v>
                </c:pt>
              </c:strCache>
            </c:strRef>
          </c:cat>
          <c:val>
            <c:numRef>
              <c:f>Sheet1!$B$2:$B$8</c:f>
              <c:numCache>
                <c:formatCode>General</c:formatCode>
                <c:ptCount val="7"/>
                <c:pt idx="0">
                  <c:v>0.0</c:v>
                </c:pt>
                <c:pt idx="1">
                  <c:v>3314.304622429041</c:v>
                </c:pt>
                <c:pt idx="2">
                  <c:v>3578.156809888676</c:v>
                </c:pt>
                <c:pt idx="3">
                  <c:v>3864.789262605528</c:v>
                </c:pt>
                <c:pt idx="4">
                  <c:v>4185.475525020054</c:v>
                </c:pt>
                <c:pt idx="5">
                  <c:v>4538.412674806593</c:v>
                </c:pt>
                <c:pt idx="6">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2031</c:v>
                </c:pt>
                <c:pt idx="1">
                  <c:v>2032</c:v>
                </c:pt>
                <c:pt idx="2">
                  <c:v>2033</c:v>
                </c:pt>
                <c:pt idx="3">
                  <c:v>2034</c:v>
                </c:pt>
                <c:pt idx="4">
                  <c:v>2035</c:v>
                </c:pt>
                <c:pt idx="5">
                  <c:v>2036</c:v>
                </c:pt>
                <c:pt idx="6">
                  <c:v>2036 Total</c:v>
                </c:pt>
              </c:strCache>
            </c:strRef>
          </c:cat>
          <c:val>
            <c:numRef>
              <c:f>Sheet1!$C$2:$C$8</c:f>
              <c:numCache>
                <c:formatCode>General</c:formatCode>
                <c:ptCount val="7"/>
                <c:pt idx="0">
                  <c:v>3314.304622429041</c:v>
                </c:pt>
                <c:pt idx="1">
                  <c:v>263.85218745963493</c:v>
                </c:pt>
                <c:pt idx="2">
                  <c:v>286.6324527168522</c:v>
                </c:pt>
                <c:pt idx="3">
                  <c:v>320.686262414526</c:v>
                </c:pt>
                <c:pt idx="4">
                  <c:v>352.9371497865386</c:v>
                </c:pt>
                <c:pt idx="5">
                  <c:v>394.19911503955063</c:v>
                </c:pt>
                <c:pt idx="6">
                  <c:v>4932.611789846143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varyColors val="0"/>
        <c:ser>
          <c:idx val="0"/>
          <c:order val="0"/>
          <c:tx>
            <c:strRef>
              <c:f>Sheet1!$B$1</c:f>
              <c:strCache>
                <c:ptCount val="1"/>
                <c:pt idx="0">
                  <c:v>Medical Distributors &amp; Wh…</c:v>
                </c:pt>
              </c:strCache>
            </c:strRef>
          </c:tx>
          <c:spPr>
            <a:solidFill>
              <a:srgbClr val="3D85C6"/>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Sheet1!$B$2:$B$4</c:f>
              <c:numCache>
                <c:formatCode>General</c:formatCode>
                <c:ptCount val="3"/>
                <c:pt idx="0">
                  <c:v>43.29232567269597</c:v>
                </c:pt>
                <c:pt idx="1">
                  <c:v>41.14483329659611</c:v>
                </c:pt>
                <c:pt idx="2">
                  <c:v>35.56339077177283</c:v>
                </c:pt>
              </c:numCache>
            </c:numRef>
          </c:val>
        </c:ser>
        <c:ser>
          <c:idx val="1"/>
          <c:order val="1"/>
          <c:tx>
            <c:strRef>
              <c:f>Sheet1!$C$1</c:f>
              <c:strCache>
                <c:ptCount val="1"/>
                <c:pt idx="0">
                  <c:v>E-Commerce / DTC</c:v>
                </c:pt>
              </c:strCache>
            </c:strRef>
          </c:tx>
          <c:spPr>
            <a:solidFill>
              <a:srgbClr val="9E7E0A"/>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Sheet1!$C$2:$C$4</c:f>
              <c:numCache>
                <c:formatCode>General</c:formatCode>
                <c:ptCount val="3"/>
                <c:pt idx="0">
                  <c:v>14.10448480911609</c:v>
                </c:pt>
                <c:pt idx="1">
                  <c:v>17.171064417562647</c:v>
                </c:pt>
                <c:pt idx="2">
                  <c:v>25.308016616851376</c:v>
                </c:pt>
              </c:numCache>
            </c:numRef>
          </c:val>
        </c:ser>
        <c:ser>
          <c:idx val="2"/>
          <c:order val="2"/>
          <c:tx>
            <c:strRef>
              <c:f>Sheet1!$D$1</c:f>
              <c:strCache>
                <c:ptCount val="1"/>
                <c:pt idx="0">
                  <c:v>Direct Sales</c:v>
                </c:pt>
              </c:strCache>
            </c:strRef>
          </c:tx>
          <c:spPr>
            <a:solidFill>
              <a:srgbClr val="008189"/>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Sheet1!$D$2:$D$4</c:f>
              <c:numCache>
                <c:formatCode>General</c:formatCode>
                <c:ptCount val="3"/>
                <c:pt idx="0">
                  <c:v>28.78688151568307</c:v>
                </c:pt>
                <c:pt idx="1">
                  <c:v>27.74786887957856</c:v>
                </c:pt>
                <c:pt idx="2">
                  <c:v>25.102258008548255</c:v>
                </c:pt>
              </c:numCache>
            </c:numRef>
          </c:val>
        </c:ser>
        <c:ser>
          <c:idx val="3"/>
          <c:order val="3"/>
          <c:tx>
            <c:strRef>
              <c:f>Sheet1!$E$1</c:f>
              <c:strCache>
                <c:ptCount val="1"/>
                <c:pt idx="0">
                  <c:v>Retail Pharmacy</c:v>
                </c:pt>
              </c:strCache>
            </c:strRef>
          </c:tx>
          <c:spPr>
            <a:solidFill>
              <a:srgbClr val="40315E"/>
            </a:solidFill>
            <a:ln>
              <a:noFill/>
            </a:ln>
          </c:spPr>
          <c:dLbls>
            <c:numFmt formatCode="0&quot;%&quot;" sourceLinked="0"/>
            <c:txPr>
              <a:bodyPr rot="0" vert="horz"/>
              <a:lstStyle/>
              <a:p>
                <a:pPr>
                  <a:defRPr sz="700">
                    <a:solidFill>
                      <a:srgbClr val="FFFFFF"/>
                    </a:solidFill>
                    <a:latin typeface="Calibri"/>
                  </a:defRPr>
                </a:pPr>
              </a:p>
            </c:txPr>
            <c:dLblPos val="ctr"/>
            <c:showLegendKey val="0"/>
            <c:showVal val="1"/>
            <c:showCatName val="0"/>
            <c:showSerName val="0"/>
            <c:showPercent val="0"/>
            <c:showBubbleSize val="0"/>
            <c:showLeaderLines val="1"/>
          </c:dLbls>
          <c:cat>
            <c:strRef>
              <c:f>Sheet1!$A$2:$A$4</c:f>
              <c:strCache>
                <c:ptCount val="3"/>
                <c:pt idx="0">
                  <c:v>2021</c:v>
                </c:pt>
                <c:pt idx="1">
                  <c:v>2026</c:v>
                </c:pt>
                <c:pt idx="2">
                  <c:v>2036</c:v>
                </c:pt>
              </c:strCache>
            </c:strRef>
          </c:cat>
          <c:val>
            <c:numRef>
              <c:f>Sheet1!$E$2:$E$4</c:f>
              <c:numCache>
                <c:formatCode>General</c:formatCode>
                <c:ptCount val="3"/>
                <c:pt idx="0">
                  <c:v>13.816308002504869</c:v>
                </c:pt>
                <c:pt idx="1">
                  <c:v>13.93623340626268</c:v>
                </c:pt>
                <c:pt idx="2">
                  <c:v>14.026334602827529</c:v>
                </c:pt>
              </c:numCache>
            </c:numRef>
          </c:val>
        </c:ser>
        <c:gapWidth val="85"/>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Volume (Units)</c:v>
                </c:pt>
              </c:strCache>
            </c:strRef>
          </c:tx>
          <c:spPr>
            <a:solidFill>
              <a:srgbClr val="69B1E0"/>
            </a:solidFill>
            <a:ln>
              <a:noFill/>
            </a:ln>
          </c:spPr>
          <c:dLbls>
            <c:numFmt formatCode="#,##0"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532.306532</c:v>
                </c:pt>
                <c:pt idx="1">
                  <c:v>571.286593</c:v>
                </c:pt>
                <c:pt idx="2">
                  <c:v>613.8251339999999</c:v>
                </c:pt>
                <c:pt idx="3">
                  <c:v>660.490988</c:v>
                </c:pt>
                <c:pt idx="4">
                  <c:v>710.382332</c:v>
                </c:pt>
                <c:pt idx="5">
                  <c:v>765.482293</c:v>
                </c:pt>
                <c:pt idx="6">
                  <c:v>824.5622079999999</c:v>
                </c:pt>
                <c:pt idx="7">
                  <c:v>886.844587</c:v>
                </c:pt>
                <c:pt idx="8">
                  <c:v>953.212721</c:v>
                </c:pt>
                <c:pt idx="9">
                  <c:v>1023.174593</c:v>
                </c:pt>
                <c:pt idx="10">
                  <c:v>1097.3446040000001</c:v>
                </c:pt>
                <c:pt idx="11">
                  <c:v>1175.384591</c:v>
                </c:pt>
                <c:pt idx="12">
                  <c:v>1256.818164</c:v>
                </c:pt>
                <c:pt idx="13">
                  <c:v>1346.4201220000002</c:v>
                </c:pt>
                <c:pt idx="14">
                  <c:v>1439.108793</c:v>
                </c:pt>
                <c:pt idx="15">
                  <c:v>1541.883716</c:v>
                </c:pt>
              </c:numCache>
            </c:numRef>
          </c:val>
        </c:ser>
        <c:gapWidth val="100"/>
        <c:axId val="-2068027336"/>
        <c:axId val="-2113994440"/>
      </c:barChart>
      <c:barChart>
        <c:barDir val="col"/>
        <c:grouping val="clustered"/>
        <c:varyColors val="0"/>
        <c:ser>
          <c:idx val="1"/>
          <c:order val="1"/>
          <c:tx>
            <c:strRef>
              <c:f>Sheet1!$C$1</c:f>
              <c:strCache>
                <c:ptCount val="1"/>
                <c:pt idx="0">
                  <c:v>Previous Year Volume</c:v>
                </c:pt>
              </c:strCache>
            </c:strRef>
          </c:tx>
          <c:spPr>
            <a:solidFill>
              <a:srgbClr val="C55A11"/>
            </a:solidFill>
            <a:ln>
              <a:noFill/>
            </a:ln>
          </c:spPr>
          <c:dLbls>
            <c:numFmt formatCode="#,##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1">
                  <c:v>532.306532</c:v>
                </c:pt>
                <c:pt idx="2">
                  <c:v>571.286593</c:v>
                </c:pt>
                <c:pt idx="3">
                  <c:v>613.8251339999999</c:v>
                </c:pt>
                <c:pt idx="4">
                  <c:v>660.490988</c:v>
                </c:pt>
                <c:pt idx="5">
                  <c:v>710.382332</c:v>
                </c:pt>
                <c:pt idx="6">
                  <c:v>765.482293</c:v>
                </c:pt>
                <c:pt idx="7">
                  <c:v>824.5622079999999</c:v>
                </c:pt>
                <c:pt idx="8">
                  <c:v>886.844587</c:v>
                </c:pt>
                <c:pt idx="9">
                  <c:v>953.212721</c:v>
                </c:pt>
                <c:pt idx="10">
                  <c:v>1023.174593</c:v>
                </c:pt>
                <c:pt idx="11">
                  <c:v>1097.3446040000001</c:v>
                </c:pt>
                <c:pt idx="12">
                  <c:v>1175.384591</c:v>
                </c:pt>
                <c:pt idx="13">
                  <c:v>1256.818164</c:v>
                </c:pt>
                <c:pt idx="14">
                  <c:v>1346.4201220000002</c:v>
                </c:pt>
                <c:pt idx="15">
                  <c:v>1439.108793</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819"/>
          <c:min val="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dPt>
            <c:idx val="2"/>
            <c:spPr>
              <a:solidFill>
                <a:srgbClr val="008189"/>
              </a:solidFill>
            </c:spPr>
          </c:dPt>
          <c:cat>
            <c:strRef>
              <c:f>Sheet1!$A$2:$A$4</c:f>
              <c:strCache>
                <c:ptCount val="3"/>
                <c:pt idx="0">
                  <c:v>United States</c:v>
                </c:pt>
                <c:pt idx="1">
                  <c:v>North America</c:v>
                </c:pt>
                <c:pt idx="2">
                  <c:v>Global</c:v>
                </c:pt>
              </c:strCache>
            </c:strRef>
          </c:cat>
          <c:val>
            <c:numRef>
              <c:f>Sheet1!$B$2:$B$4</c:f>
              <c:numCache>
                <c:formatCode>General</c:formatCode>
                <c:ptCount val="3"/>
                <c:pt idx="0">
                  <c:v>7.253542937660229</c:v>
                </c:pt>
                <c:pt idx="1">
                  <c:v>7.117768916911271</c:v>
                </c:pt>
                <c:pt idx="2">
                  <c:v>7.027310780718166</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9.429605818958297"/>
          <c:min val="0.0"/>
        </c:scaling>
        <c:delete val="0"/>
        <c:axPos val="l"/>
        <c:numFmt formatCode="0&quot;%&quot;"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765.482293</c:v>
                </c:pt>
                <c:pt idx="2">
                  <c:v>824.5622079999999</c:v>
                </c:pt>
                <c:pt idx="3">
                  <c:v>886.844587</c:v>
                </c:pt>
                <c:pt idx="4">
                  <c:v>953.212721</c:v>
                </c:pt>
                <c:pt idx="5">
                  <c:v>1023.174593</c:v>
                </c:pt>
                <c:pt idx="6">
                  <c:v>1097.3446040000001</c:v>
                </c:pt>
                <c:pt idx="7">
                  <c:v>1175.384591</c:v>
                </c:pt>
                <c:pt idx="8">
                  <c:v>1256.818164</c:v>
                </c:pt>
                <c:pt idx="9">
                  <c:v>1346.4201220000002</c:v>
                </c:pt>
                <c:pt idx="10">
                  <c:v>1439.108793</c:v>
                </c:pt>
                <c:pt idx="11">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765.482293</c:v>
                </c:pt>
                <c:pt idx="1">
                  <c:v>59.079914999999914</c:v>
                </c:pt>
                <c:pt idx="2">
                  <c:v>62.282379000000105</c:v>
                </c:pt>
                <c:pt idx="3">
                  <c:v>66.36813399999994</c:v>
                </c:pt>
                <c:pt idx="4">
                  <c:v>69.96187199999997</c:v>
                </c:pt>
                <c:pt idx="5">
                  <c:v>74.17001100000016</c:v>
                </c:pt>
                <c:pt idx="6">
                  <c:v>78.03998699999988</c:v>
                </c:pt>
                <c:pt idx="7">
                  <c:v>81.43357300000002</c:v>
                </c:pt>
                <c:pt idx="8">
                  <c:v>89.6019580000002</c:v>
                </c:pt>
                <c:pt idx="9">
                  <c:v>92.68867099999989</c:v>
                </c:pt>
                <c:pt idx="10">
                  <c:v>102.77492299999994</c:v>
                </c:pt>
                <c:pt idx="11">
                  <c:v>1541.883716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cat>
            <c:strRef>
              <c:f>Sheet1!$A$2:$A$3</c:f>
              <c:strCache>
                <c:ptCount val="2"/>
                <c:pt idx="0">
                  <c:v>Share of North America</c:v>
                </c:pt>
                <c:pt idx="1">
                  <c:v>Share of Global</c:v>
                </c:pt>
              </c:strCache>
            </c:strRef>
          </c:cat>
          <c:val>
            <c:numRef>
              <c:f>Sheet1!$B$2:$B$3</c:f>
              <c:numCache>
                <c:formatCode>General</c:formatCode>
                <c:ptCount val="2"/>
                <c:pt idx="0">
                  <c:v>0.8478297423422474</c:v>
                </c:pt>
                <c:pt idx="1">
                  <c:v>0.2712395400257065</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852220701980766"/>
          <c:min val="0.0"/>
        </c:scaling>
        <c:delete val="0"/>
        <c:axPos val="b"/>
        <c:numFmt formatCode="0%"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Value (US$ Mn)</c:v>
                </c:pt>
              </c:strCache>
            </c:strRef>
          </c:tx>
          <c:spPr>
            <a:solidFill>
              <a:srgbClr val="69B1E0"/>
            </a:solidFill>
            <a:ln>
              <a:noFill/>
            </a:ln>
          </c:spPr>
          <c:dLbls>
            <c:numFmt formatCode="#,##0" sourceLinked="0"/>
            <c:txPr>
              <a:bodyPr rot="0" vert="horz"/>
              <a:lstStyle/>
              <a:p>
                <a:pPr>
                  <a:defRPr sz="700">
                    <a:solidFill>
                      <a:srgbClr val="6C7A89"/>
                    </a:solidFill>
                    <a:latin typeface="Calibri"/>
                  </a:defRPr>
                </a:pPr>
              </a:p>
            </c:txPr>
            <c:dLblPos val="outEnd"/>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Sheet1!$B$2:$B$17</c:f>
              <c:numCache>
                <c:formatCode>General</c:formatCode>
                <c:ptCount val="16"/>
                <c:pt idx="0">
                  <c:v>460.6699075713389</c:v>
                </c:pt>
                <c:pt idx="1">
                  <c:v>487.80335688105345</c:v>
                </c:pt>
                <c:pt idx="2">
                  <c:v>518.0972913323845</c:v>
                </c:pt>
                <c:pt idx="3">
                  <c:v>553.4795570984085</c:v>
                </c:pt>
                <c:pt idx="4">
                  <c:v>591.9897463389257</c:v>
                </c:pt>
                <c:pt idx="5">
                  <c:v>635.9092781113771</c:v>
                </c:pt>
                <c:pt idx="6">
                  <c:v>684.3438922430449</c:v>
                </c:pt>
                <c:pt idx="7">
                  <c:v>737.0244647992866</c:v>
                </c:pt>
                <c:pt idx="8">
                  <c:v>794.8442372141759</c:v>
                </c:pt>
                <c:pt idx="9">
                  <c:v>858.1345209532665</c:v>
                </c:pt>
                <c:pt idx="10">
                  <c:v>927.3863943591575</c:v>
                </c:pt>
                <c:pt idx="11">
                  <c:v>1003.2863373915375</c:v>
                </c:pt>
                <c:pt idx="12">
                  <c:v>1085.585731311518</c:v>
                </c:pt>
                <c:pt idx="13">
                  <c:v>1179.1508232654833</c:v>
                </c:pt>
                <c:pt idx="14">
                  <c:v>1281.0051524136375</c:v>
                </c:pt>
                <c:pt idx="15">
                  <c:v>1397.8240235231058</c:v>
                </c:pt>
              </c:numCache>
            </c:numRef>
          </c:val>
        </c:ser>
        <c:gapWidth val="100"/>
        <c:axId val="-2068027336"/>
        <c:axId val="-2113994440"/>
      </c:barChart>
      <c:barChart>
        <c:barDir val="col"/>
        <c:grouping val="clustered"/>
        <c:varyColors val="0"/>
        <c:ser>
          <c:idx val="1"/>
          <c:order val="1"/>
          <c:tx>
            <c:strRef>
              <c:f>Sheet1!$C$1</c:f>
              <c:strCache>
                <c:ptCount val="1"/>
                <c:pt idx="0">
                  <c:v>Previous Year Value</c:v>
                </c:pt>
              </c:strCache>
            </c:strRef>
          </c:tx>
          <c:spPr>
            <a:solidFill>
              <a:srgbClr val="C55A11"/>
            </a:solidFill>
            <a:ln>
              <a:noFill/>
            </a:ln>
          </c:spPr>
          <c:dLbls>
            <c:numFmt formatCode="#,##0" sourceLinked="0"/>
            <c:txPr>
              <a:bodyPr rot="0" vert="horz"/>
              <a:lstStyle/>
              <a:p>
                <a:pPr>
                  <a:defRPr sz="650">
                    <a:solidFill>
                      <a:srgbClr val="FFFFFF"/>
                    </a:solidFill>
                    <a:latin typeface="Calibri"/>
                  </a:defRPr>
                </a:pPr>
              </a:p>
            </c:txPr>
            <c:dLblPos val="ctr"/>
            <c:showLegendKey val="0"/>
            <c:showVal val="1"/>
            <c:showCatName val="0"/>
            <c:showSerName val="0"/>
            <c:showPercent val="0"/>
            <c:showBubbleSize val="0"/>
            <c:showLeaderLines val="1"/>
          </c:dLbls>
          <c:cat>
            <c:strRef>
              <c:f>Sheet1!$A$2:$A$17</c:f>
              <c:strCache>
                <c:ptCount val="16"/>
                <c:pt idx="0">
                  <c:v>2021</c:v>
                </c:pt>
                <c:pt idx="1">
                  <c:v>2022</c:v>
                </c:pt>
                <c:pt idx="2">
                  <c:v>2023</c:v>
                </c:pt>
                <c:pt idx="3">
                  <c:v>2024</c:v>
                </c:pt>
                <c:pt idx="4">
                  <c:v>2025</c:v>
                </c:pt>
                <c:pt idx="5">
                  <c:v>2026</c:v>
                </c:pt>
                <c:pt idx="6">
                  <c:v>2027</c:v>
                </c:pt>
                <c:pt idx="7">
                  <c:v>2028</c:v>
                </c:pt>
                <c:pt idx="8">
                  <c:v>2029</c:v>
                </c:pt>
                <c:pt idx="9">
                  <c:v>2030</c:v>
                </c:pt>
                <c:pt idx="10">
                  <c:v>2031</c:v>
                </c:pt>
                <c:pt idx="11">
                  <c:v>2032</c:v>
                </c:pt>
                <c:pt idx="12">
                  <c:v>2033</c:v>
                </c:pt>
                <c:pt idx="13">
                  <c:v>2034</c:v>
                </c:pt>
                <c:pt idx="14">
                  <c:v>2035</c:v>
                </c:pt>
                <c:pt idx="15">
                  <c:v>2036</c:v>
                </c:pt>
              </c:strCache>
            </c:strRef>
          </c:cat>
          <c:val>
            <c:numRef>
              <c:f>Sheet1!$C$2:$C$17</c:f>
              <c:numCache>
                <c:formatCode>General</c:formatCode>
                <c:ptCount val="16"/>
                <c:pt idx="1">
                  <c:v>460.6699075713389</c:v>
                </c:pt>
                <c:pt idx="2">
                  <c:v>487.80335688105345</c:v>
                </c:pt>
                <c:pt idx="3">
                  <c:v>518.0972913323845</c:v>
                </c:pt>
                <c:pt idx="4">
                  <c:v>553.4795570984085</c:v>
                </c:pt>
                <c:pt idx="5">
                  <c:v>591.9897463389257</c:v>
                </c:pt>
                <c:pt idx="6">
                  <c:v>635.9092781113771</c:v>
                </c:pt>
                <c:pt idx="7">
                  <c:v>684.3438922430449</c:v>
                </c:pt>
                <c:pt idx="8">
                  <c:v>737.0244647992866</c:v>
                </c:pt>
                <c:pt idx="9">
                  <c:v>794.8442372141759</c:v>
                </c:pt>
                <c:pt idx="10">
                  <c:v>858.1345209532665</c:v>
                </c:pt>
                <c:pt idx="11">
                  <c:v>927.3863943591575</c:v>
                </c:pt>
                <c:pt idx="12">
                  <c:v>1003.2863373915375</c:v>
                </c:pt>
                <c:pt idx="13">
                  <c:v>1085.585731311518</c:v>
                </c:pt>
                <c:pt idx="14">
                  <c:v>1179.1508232654833</c:v>
                </c:pt>
                <c:pt idx="15">
                  <c:v>1281.0051524136375</c:v>
                </c:pt>
              </c:numCache>
            </c:numRef>
          </c:val>
        </c:ser>
        <c:gapWidth val="32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max val="1649"/>
          <c:min val="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dPt>
            <c:idx val="2"/>
            <c:spPr>
              <a:solidFill>
                <a:srgbClr val="008189"/>
              </a:solidFill>
            </c:spPr>
          </c:dPt>
          <c:cat>
            <c:strRef>
              <c:f>Sheet1!$A$2:$A$4</c:f>
              <c:strCache>
                <c:ptCount val="3"/>
                <c:pt idx="0">
                  <c:v>United States</c:v>
                </c:pt>
                <c:pt idx="1">
                  <c:v>North America</c:v>
                </c:pt>
                <c:pt idx="2">
                  <c:v>Global</c:v>
                </c:pt>
              </c:strCache>
            </c:strRef>
          </c:cat>
          <c:val>
            <c:numRef>
              <c:f>Sheet1!$B$2:$B$4</c:f>
              <c:numCache>
                <c:formatCode>General</c:formatCode>
                <c:ptCount val="3"/>
                <c:pt idx="0">
                  <c:v>8.194636925446908</c:v>
                </c:pt>
                <c:pt idx="1">
                  <c:v>8.047703864073586</c:v>
                </c:pt>
                <c:pt idx="2">
                  <c:v>7.901335294347289</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85"/>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65302800308098"/>
          <c:min val="0.0"/>
        </c:scaling>
        <c:delete val="0"/>
        <c:axPos val="l"/>
        <c:numFmt formatCode="0&quot;%&quot;"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Sheet1!$B$2:$B$13</c:f>
              <c:numCache>
                <c:formatCode>General</c:formatCode>
                <c:ptCount val="12"/>
                <c:pt idx="0">
                  <c:v>0.0</c:v>
                </c:pt>
                <c:pt idx="1">
                  <c:v>635.9092781113771</c:v>
                </c:pt>
                <c:pt idx="2">
                  <c:v>684.3438922430449</c:v>
                </c:pt>
                <c:pt idx="3">
                  <c:v>737.0244647992866</c:v>
                </c:pt>
                <c:pt idx="4">
                  <c:v>794.8442372141759</c:v>
                </c:pt>
                <c:pt idx="5">
                  <c:v>858.1345209532665</c:v>
                </c:pt>
                <c:pt idx="6">
                  <c:v>927.3863943591575</c:v>
                </c:pt>
                <c:pt idx="7">
                  <c:v>1003.2863373915375</c:v>
                </c:pt>
                <c:pt idx="8">
                  <c:v>1085.585731311518</c:v>
                </c:pt>
                <c:pt idx="9">
                  <c:v>1179.1508232654833</c:v>
                </c:pt>
                <c:pt idx="10">
                  <c:v>1281.0051524136375</c:v>
                </c:pt>
                <c:pt idx="11">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08189"/>
              </a:solidFill>
            </c:spPr>
          </c:dPt>
          <c:dPt>
            <c:idx val="10"/>
            <c:spPr>
              <a:solidFill>
                <a:srgbClr val="008189"/>
              </a:solidFill>
            </c:spPr>
          </c:dPt>
          <c:dPt>
            <c:idx val="11"/>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Sheet1!$A$2:$A$13</c:f>
              <c:strCache>
                <c:ptCount val="12"/>
                <c:pt idx="0">
                  <c:v>2026</c:v>
                </c:pt>
                <c:pt idx="1">
                  <c:v>2027</c:v>
                </c:pt>
                <c:pt idx="2">
                  <c:v>2028</c:v>
                </c:pt>
                <c:pt idx="3">
                  <c:v>2029</c:v>
                </c:pt>
                <c:pt idx="4">
                  <c:v>2030</c:v>
                </c:pt>
                <c:pt idx="5">
                  <c:v>2031</c:v>
                </c:pt>
                <c:pt idx="6">
                  <c:v>2032</c:v>
                </c:pt>
                <c:pt idx="7">
                  <c:v>2033</c:v>
                </c:pt>
                <c:pt idx="8">
                  <c:v>2034</c:v>
                </c:pt>
                <c:pt idx="9">
                  <c:v>2035</c:v>
                </c:pt>
                <c:pt idx="10">
                  <c:v>2036</c:v>
                </c:pt>
                <c:pt idx="11">
                  <c:v>2036 Total</c:v>
                </c:pt>
              </c:strCache>
            </c:strRef>
          </c:cat>
          <c:val>
            <c:numRef>
              <c:f>Sheet1!$C$2:$C$13</c:f>
              <c:numCache>
                <c:formatCode>General</c:formatCode>
                <c:ptCount val="12"/>
                <c:pt idx="0">
                  <c:v>635.9092781113771</c:v>
                </c:pt>
                <c:pt idx="1">
                  <c:v>48.434614131667786</c:v>
                </c:pt>
                <c:pt idx="2">
                  <c:v>52.680572556241714</c:v>
                </c:pt>
                <c:pt idx="3">
                  <c:v>57.81977241488926</c:v>
                </c:pt>
                <c:pt idx="4">
                  <c:v>63.29028373909057</c:v>
                </c:pt>
                <c:pt idx="5">
                  <c:v>69.25187340589105</c:v>
                </c:pt>
                <c:pt idx="6">
                  <c:v>75.89994303237995</c:v>
                </c:pt>
                <c:pt idx="7">
                  <c:v>82.2993939199805</c:v>
                </c:pt>
                <c:pt idx="8">
                  <c:v>93.5650919539653</c:v>
                </c:pt>
                <c:pt idx="9">
                  <c:v>101.85432914815419</c:v>
                </c:pt>
                <c:pt idx="10">
                  <c:v>116.81887110946832</c:v>
                </c:pt>
                <c:pt idx="11">
                  <c:v>1397.8240235231058</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3D85C6"/>
              </a:solidFill>
            </c:spPr>
          </c:dPt>
          <c:dPt>
            <c:idx val="1"/>
            <c:spPr>
              <a:solidFill>
                <a:srgbClr val="9E7E0A"/>
              </a:solidFill>
            </c:spPr>
          </c:dPt>
          <c:cat>
            <c:strRef>
              <c:f>Sheet1!$A$2:$A$3</c:f>
              <c:strCache>
                <c:ptCount val="2"/>
                <c:pt idx="0">
                  <c:v>Share of North America</c:v>
                </c:pt>
                <c:pt idx="1">
                  <c:v>Share of Global</c:v>
                </c:pt>
              </c:strCache>
            </c:strRef>
          </c:cat>
          <c:val>
            <c:numRef>
              <c:f>Sheet1!$B$2:$B$3</c:f>
              <c:numCache>
                <c:formatCode>General</c:formatCode>
                <c:ptCount val="2"/>
                <c:pt idx="0">
                  <c:v>0.8501831678388009</c:v>
                </c:pt>
                <c:pt idx="1">
                  <c:v>0.275795017906353</c:v>
                </c:pt>
              </c:numCache>
            </c:numRef>
          </c:val>
        </c:ser>
        <c:dLbls>
          <c:numFmt formatCode="0.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178"/>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088234454833665"/>
          <c:min val="0.0"/>
        </c:scaling>
        <c:delete val="0"/>
        <c:axPos val="b"/>
        <c:numFmt formatCode="0%" sourceLinked="0"/>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9EC6DE"/>
              </a:solidFill>
            </c:spPr>
          </c:dPt>
          <c:dPt>
            <c:idx val="5"/>
            <c:spPr>
              <a:solidFill>
                <a:srgbClr val="6EAACE"/>
              </a:solidFill>
            </c:spPr>
          </c:dPt>
          <c:dPt>
            <c:idx val="6"/>
            <c:spPr>
              <a:solidFill>
                <a:srgbClr val="3E8EBE"/>
              </a:solidFill>
            </c:spPr>
          </c:dPt>
          <c:dPt>
            <c:idx val="7"/>
            <c:spPr>
              <a:solidFill>
                <a:srgbClr val="0E72AE"/>
              </a:solidFill>
            </c:spPr>
          </c:dPt>
          <c:cat>
            <c:strRef>
              <c:f>Sheet1!$A$2:$A$9</c:f>
              <c:strCache>
                <c:ptCount val="8"/>
                <c:pt idx="0">
                  <c:v> </c:v>
                </c:pt>
                <c:pt idx="1">
                  <c:v>  </c:v>
                </c:pt>
                <c:pt idx="2">
                  <c:v>   </c:v>
                </c:pt>
                <c:pt idx="3">
                  <c:v>    </c:v>
                </c:pt>
                <c:pt idx="4">
                  <c:v>Dried Blood Spot Coll…</c:v>
                </c:pt>
                <c:pt idx="5">
                  <c:v>Integrated Capillary…</c:v>
                </c:pt>
                <c:pt idx="6">
                  <c:v>Blood Collection Lanc…</c:v>
                </c:pt>
                <c:pt idx="7">
                  <c:v>Capillary Blood Colle…</c:v>
                </c:pt>
              </c:strCache>
            </c:strRef>
          </c:cat>
          <c:val>
            <c:numRef>
              <c:f>Sheet1!$B$2:$B$9</c:f>
              <c:numCache>
                <c:formatCode>General</c:formatCode>
                <c:ptCount val="8"/>
                <c:pt idx="4">
                  <c:v>40.01985462041143</c:v>
                </c:pt>
                <c:pt idx="5">
                  <c:v>54.1661637480296</c:v>
                </c:pt>
                <c:pt idx="6">
                  <c:v>243.679321036597</c:v>
                </c:pt>
                <c:pt idx="7">
                  <c:v>298.043938706339</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99.3788778664943"/>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9DABB6"/>
              </a:solidFill>
            </c:spPr>
          </c:dPt>
          <c:dPt>
            <c:idx val="1"/>
            <c:spPr>
              <a:solidFill>
                <a:srgbClr val="8899A7"/>
              </a:solidFill>
            </c:spPr>
          </c:dPt>
          <c:dPt>
            <c:idx val="2"/>
            <c:spPr>
              <a:solidFill>
                <a:srgbClr val="738797"/>
              </a:solidFill>
            </c:spPr>
          </c:dPt>
          <c:dPt>
            <c:idx val="3"/>
            <c:spPr>
              <a:solidFill>
                <a:srgbClr val="5E7588"/>
              </a:solidFill>
            </c:spPr>
          </c:dPt>
          <c:dPt>
            <c:idx val="4"/>
            <c:spPr>
              <a:solidFill>
                <a:srgbClr val="496378"/>
              </a:solidFill>
            </c:spPr>
          </c:dPt>
          <c:dPt>
            <c:idx val="5"/>
            <c:spPr>
              <a:solidFill>
                <a:srgbClr val="345169"/>
              </a:solidFill>
            </c:spPr>
          </c:dPt>
          <c:dPt>
            <c:idx val="6"/>
            <c:spPr>
              <a:solidFill>
                <a:srgbClr val="1F3F59"/>
              </a:solidFill>
            </c:spPr>
          </c:dPt>
          <c:dPt>
            <c:idx val="7"/>
            <c:spPr>
              <a:solidFill>
                <a:srgbClr val="0B2E4A"/>
              </a:solidFill>
            </c:spPr>
          </c:dPt>
          <c:cat>
            <c:strRef>
              <c:f>Sheet1!$A$2:$A$9</c:f>
              <c:strCache>
                <c:ptCount val="8"/>
                <c:pt idx="0">
                  <c:v>Other Diagnostic Appl…</c:v>
                </c:pt>
                <c:pt idx="1">
                  <c:v>Therapeutic Drug Moni…</c:v>
                </c:pt>
                <c:pt idx="2">
                  <c:v>Genetic &amp; Molecular T…</c:v>
                </c:pt>
                <c:pt idx="3">
                  <c:v>Metabolic &amp; Biochemic…</c:v>
                </c:pt>
                <c:pt idx="4">
                  <c:v>Newborn Screening</c:v>
                </c:pt>
                <c:pt idx="5">
                  <c:v>Hematology Testing</c:v>
                </c:pt>
                <c:pt idx="6">
                  <c:v>Infectious Disease Te…</c:v>
                </c:pt>
                <c:pt idx="7">
                  <c:v>Diabetes &amp; Glucose Te…</c:v>
                </c:pt>
              </c:strCache>
            </c:strRef>
          </c:cat>
          <c:val>
            <c:numRef>
              <c:f>Sheet1!$B$2:$B$9</c:f>
              <c:numCache>
                <c:formatCode>General</c:formatCode>
                <c:ptCount val="8"/>
                <c:pt idx="0">
                  <c:v>12.0442757181083</c:v>
                </c:pt>
                <c:pt idx="1">
                  <c:v>19.66426374755389</c:v>
                </c:pt>
                <c:pt idx="2">
                  <c:v>41.00816654079035</c:v>
                </c:pt>
                <c:pt idx="3">
                  <c:v>48.51962186880293</c:v>
                </c:pt>
                <c:pt idx="4">
                  <c:v>78.39111942888195</c:v>
                </c:pt>
                <c:pt idx="5">
                  <c:v>78.4721663682811</c:v>
                </c:pt>
                <c:pt idx="6">
                  <c:v>91.44999440512115</c:v>
                </c:pt>
                <c:pt idx="7">
                  <c:v>266.3596700338374</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56.92195784534215"/>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C5B1E6"/>
              </a:solidFill>
            </c:spPr>
          </c:dPt>
          <c:dPt>
            <c:idx val="3"/>
            <c:spPr>
              <a:solidFill>
                <a:srgbClr val="B499DF"/>
              </a:solidFill>
            </c:spPr>
          </c:dPt>
          <c:dPt>
            <c:idx val="4"/>
            <c:spPr>
              <a:solidFill>
                <a:srgbClr val="A282D7"/>
              </a:solidFill>
            </c:spPr>
          </c:dPt>
          <c:dPt>
            <c:idx val="5"/>
            <c:spPr>
              <a:solidFill>
                <a:srgbClr val="916AD0"/>
              </a:solidFill>
            </c:spPr>
          </c:dPt>
          <c:dPt>
            <c:idx val="6"/>
            <c:spPr>
              <a:solidFill>
                <a:srgbClr val="8053C9"/>
              </a:solidFill>
            </c:spPr>
          </c:dPt>
          <c:dPt>
            <c:idx val="7"/>
            <c:spPr>
              <a:solidFill>
                <a:srgbClr val="6F3CC2"/>
              </a:solidFill>
            </c:spPr>
          </c:dPt>
          <c:cat>
            <c:strRef>
              <c:f>Sheet1!$A$2:$A$9</c:f>
              <c:strCache>
                <c:ptCount val="8"/>
                <c:pt idx="0">
                  <c:v> </c:v>
                </c:pt>
                <c:pt idx="1">
                  <c:v>  </c:v>
                </c:pt>
                <c:pt idx="2">
                  <c:v>Research &amp; Academic I…</c:v>
                </c:pt>
                <c:pt idx="3">
                  <c:v>Public Health &amp; Scree…</c:v>
                </c:pt>
                <c:pt idx="4">
                  <c:v>Physician Offices &amp; O…</c:v>
                </c:pt>
                <c:pt idx="5">
                  <c:v>Home &amp; Self-Testing</c:v>
                </c:pt>
                <c:pt idx="6">
                  <c:v>Diagnostic Laboratori…</c:v>
                </c:pt>
                <c:pt idx="7">
                  <c:v>Hospitals &amp; Clinics</c:v>
                </c:pt>
              </c:strCache>
            </c:strRef>
          </c:cat>
          <c:val>
            <c:numRef>
              <c:f>Sheet1!$B$2:$B$9</c:f>
              <c:numCache>
                <c:formatCode>General</c:formatCode>
                <c:ptCount val="8"/>
                <c:pt idx="2">
                  <c:v>19.1971183739603</c:v>
                </c:pt>
                <c:pt idx="3">
                  <c:v>38.5234063124858</c:v>
                </c:pt>
                <c:pt idx="4">
                  <c:v>90.61248434789367</c:v>
                </c:pt>
                <c:pt idx="5">
                  <c:v>102.77860706271551</c:v>
                </c:pt>
                <c:pt idx="6">
                  <c:v>133.1405437114385</c:v>
                </c:pt>
                <c:pt idx="7">
                  <c:v>251.65711830288333</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37.2205385258637"/>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DABAA0"/>
              </a:solidFill>
            </c:spPr>
          </c:dPt>
          <c:dPt>
            <c:idx val="5"/>
            <c:spPr>
              <a:solidFill>
                <a:srgbClr val="C79771"/>
              </a:solidFill>
            </c:spPr>
          </c:dPt>
          <c:dPt>
            <c:idx val="6"/>
            <c:spPr>
              <a:solidFill>
                <a:srgbClr val="B57542"/>
              </a:solidFill>
            </c:spPr>
          </c:dPt>
          <c:dPt>
            <c:idx val="7"/>
            <c:spPr>
              <a:solidFill>
                <a:srgbClr val="A35313"/>
              </a:solidFill>
            </c:spPr>
          </c:dPt>
          <c:cat>
            <c:strRef>
              <c:f>Sheet1!$A$2:$A$9</c:f>
              <c:strCache>
                <c:ptCount val="8"/>
                <c:pt idx="0">
                  <c:v> </c:v>
                </c:pt>
                <c:pt idx="1">
                  <c:v>  </c:v>
                </c:pt>
                <c:pt idx="2">
                  <c:v>   </c:v>
                </c:pt>
                <c:pt idx="3">
                  <c:v>    </c:v>
                </c:pt>
                <c:pt idx="4">
                  <c:v>Dried Blood Spot</c:v>
                </c:pt>
                <c:pt idx="5">
                  <c:v>Serum</c:v>
                </c:pt>
                <c:pt idx="6">
                  <c:v>Plasma</c:v>
                </c:pt>
                <c:pt idx="7">
                  <c:v>Whole Blood</c:v>
                </c:pt>
              </c:strCache>
            </c:strRef>
          </c:cat>
          <c:val>
            <c:numRef>
              <c:f>Sheet1!$B$2:$B$9</c:f>
              <c:numCache>
                <c:formatCode>General</c:formatCode>
                <c:ptCount val="8"/>
                <c:pt idx="4">
                  <c:v>57.2296349287566</c:v>
                </c:pt>
                <c:pt idx="5">
                  <c:v>117.3247020567595</c:v>
                </c:pt>
                <c:pt idx="6">
                  <c:v>128.2619226626243</c:v>
                </c:pt>
                <c:pt idx="7">
                  <c:v>333.09301846323666</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446.3446447407371"/>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DCC599"/>
              </a:solidFill>
            </c:spPr>
          </c:dPt>
          <c:dPt>
            <c:idx val="5"/>
            <c:spPr>
              <a:solidFill>
                <a:srgbClr val="CAA865"/>
              </a:solidFill>
            </c:spPr>
          </c:dPt>
          <c:dPt>
            <c:idx val="6"/>
            <c:spPr>
              <a:solidFill>
                <a:srgbClr val="B98B32"/>
              </a:solidFill>
            </c:spPr>
          </c:dPt>
          <c:dPt>
            <c:idx val="7"/>
            <c:spPr>
              <a:solidFill>
                <a:srgbClr val="A86F00"/>
              </a:solidFill>
            </c:spPr>
          </c:dPt>
          <c:cat>
            <c:strRef>
              <c:f>Sheet1!$A$2:$A$9</c:f>
              <c:strCache>
                <c:ptCount val="8"/>
                <c:pt idx="0">
                  <c:v> </c:v>
                </c:pt>
                <c:pt idx="1">
                  <c:v>  </c:v>
                </c:pt>
                <c:pt idx="2">
                  <c:v>   </c:v>
                </c:pt>
                <c:pt idx="3">
                  <c:v>    </c:v>
                </c:pt>
                <c:pt idx="4">
                  <c:v>Neonates</c:v>
                </c:pt>
                <c:pt idx="5">
                  <c:v>Pediatric Patients</c:v>
                </c:pt>
                <c:pt idx="6">
                  <c:v>Geriatric Patients</c:v>
                </c:pt>
                <c:pt idx="7">
                  <c:v>Adults</c:v>
                </c:pt>
              </c:strCache>
            </c:strRef>
          </c:cat>
          <c:val>
            <c:numRef>
              <c:f>Sheet1!$B$2:$B$9</c:f>
              <c:numCache>
                <c:formatCode>General</c:formatCode>
                <c:ptCount val="8"/>
                <c:pt idx="4">
                  <c:v>48.71341358577336</c:v>
                </c:pt>
                <c:pt idx="5">
                  <c:v>76.936087934994</c:v>
                </c:pt>
                <c:pt idx="6">
                  <c:v>160.9085988845846</c:v>
                </c:pt>
                <c:pt idx="7">
                  <c:v>349.351177706025</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468.13057812607354"/>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3D85C6"/>
            </a:solidFill>
            <a:ln>
              <a:noFill/>
            </a:ln>
          </c:spPr>
          <c:dPt>
            <c:idx val="0"/>
            <c:spPr>
              <a:solidFill>
                <a:srgbClr val="FFFFFF"/>
              </a:solidFill>
            </c:spPr>
          </c:dPt>
          <c:dPt>
            <c:idx val="1"/>
            <c:spPr>
              <a:solidFill>
                <a:srgbClr val="FFFFFF"/>
              </a:solidFill>
            </c:spPr>
          </c:dPt>
          <c:dPt>
            <c:idx val="2"/>
            <c:spPr>
              <a:solidFill>
                <a:srgbClr val="FFFFFF"/>
              </a:solidFill>
            </c:spPr>
          </c:dPt>
          <c:dPt>
            <c:idx val="3"/>
            <c:spPr>
              <a:solidFill>
                <a:srgbClr val="FFFFFF"/>
              </a:solidFill>
            </c:spPr>
          </c:dPt>
          <c:dPt>
            <c:idx val="4"/>
            <c:spPr>
              <a:solidFill>
                <a:srgbClr val="E59999"/>
              </a:solidFill>
            </c:spPr>
          </c:dPt>
          <c:dPt>
            <c:idx val="5"/>
            <c:spPr>
              <a:solidFill>
                <a:srgbClr val="D96565"/>
              </a:solidFill>
            </c:spPr>
          </c:dPt>
          <c:dPt>
            <c:idx val="6"/>
            <c:spPr>
              <a:solidFill>
                <a:srgbClr val="CC3232"/>
              </a:solidFill>
            </c:spPr>
          </c:dPt>
          <c:dPt>
            <c:idx val="7"/>
            <c:spPr>
              <a:solidFill>
                <a:srgbClr val="C00000"/>
              </a:solidFill>
            </c:spPr>
          </c:dPt>
          <c:cat>
            <c:strRef>
              <c:f>Sheet1!$A$2:$A$9</c:f>
              <c:strCache>
                <c:ptCount val="8"/>
                <c:pt idx="0">
                  <c:v> </c:v>
                </c:pt>
                <c:pt idx="1">
                  <c:v>  </c:v>
                </c:pt>
                <c:pt idx="2">
                  <c:v>   </c:v>
                </c:pt>
                <c:pt idx="3">
                  <c:v>    </c:v>
                </c:pt>
                <c:pt idx="4">
                  <c:v>Retail Pharmacy</c:v>
                </c:pt>
                <c:pt idx="5">
                  <c:v>E-Commerce / DTC</c:v>
                </c:pt>
                <c:pt idx="6">
                  <c:v>Direct Sales</c:v>
                </c:pt>
                <c:pt idx="7">
                  <c:v>Medical Distributors…</c:v>
                </c:pt>
              </c:strCache>
            </c:strRef>
          </c:cat>
          <c:val>
            <c:numRef>
              <c:f>Sheet1!$B$2:$B$9</c:f>
              <c:numCache>
                <c:formatCode>General</c:formatCode>
                <c:ptCount val="8"/>
                <c:pt idx="4">
                  <c:v>86.6005287652897</c:v>
                </c:pt>
                <c:pt idx="5">
                  <c:v>111.0799090659253</c:v>
                </c:pt>
                <c:pt idx="6">
                  <c:v>181.9020142665966</c:v>
                </c:pt>
                <c:pt idx="7">
                  <c:v>256.3268260135663</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43.4779468581788"/>
          <c:min val="0.0"/>
        </c:scaling>
        <c:delete val="0"/>
        <c:axPos val="b"/>
        <c:majorTickMark val="none"/>
        <c:minorTickMark val="none"/>
        <c:tickLblPos val="none"/>
        <c:spPr>
          <a:ln>
            <a:no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Capillary Blood Collection Containers</c:v>
                </c:pt>
                <c:pt idx="2">
                  <c:v>Blood Collection Lancets</c:v>
                </c:pt>
                <c:pt idx="3">
                  <c:v>Integrated Capillary Blood Collection Devices</c:v>
                </c:pt>
                <c:pt idx="4">
                  <c:v>Dried Blood Spot Collection Products</c:v>
                </c:pt>
                <c:pt idx="5">
                  <c:v>2036 Total</c:v>
                </c:pt>
              </c:strCache>
            </c:strRef>
          </c:cat>
          <c:val>
            <c:numRef>
              <c:f>Sheet1!$B$2:$B$7</c:f>
              <c:numCache>
                <c:formatCode>General</c:formatCode>
                <c:ptCount val="6"/>
                <c:pt idx="0">
                  <c:v>0.0</c:v>
                </c:pt>
                <c:pt idx="1">
                  <c:v>635.9092781113771</c:v>
                </c:pt>
                <c:pt idx="2">
                  <c:v>936.2340056320088</c:v>
                </c:pt>
                <c:pt idx="3">
                  <c:v>1192.1973824965335</c:v>
                </c:pt>
                <c:pt idx="4">
                  <c:v>1317.4955642700716</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Capillary Blood Collection Containers</c:v>
                </c:pt>
                <c:pt idx="2">
                  <c:v>Blood Collection Lancets</c:v>
                </c:pt>
                <c:pt idx="3">
                  <c:v>Integrated Capillary Blood Collection Devices</c:v>
                </c:pt>
                <c:pt idx="4">
                  <c:v>Dried Blood Spot Collection Products</c:v>
                </c:pt>
                <c:pt idx="5">
                  <c:v>2036 Total</c:v>
                </c:pt>
              </c:strCache>
            </c:strRef>
          </c:cat>
          <c:val>
            <c:numRef>
              <c:f>Sheet1!$C$2:$C$7</c:f>
              <c:numCache>
                <c:formatCode>General</c:formatCode>
                <c:ptCount val="6"/>
                <c:pt idx="0">
                  <c:v>635.9092781113771</c:v>
                </c:pt>
                <c:pt idx="1">
                  <c:v>300.3247275206317</c:v>
                </c:pt>
                <c:pt idx="2">
                  <c:v>255.9633768645246</c:v>
                </c:pt>
                <c:pt idx="3">
                  <c:v>125.298181773538</c:v>
                </c:pt>
                <c:pt idx="4">
                  <c:v>80.32845925303451</c:v>
                </c:pt>
                <c:pt idx="5">
                  <c:v>1397.8240235231058</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Capillary Blood Collection Containers</c:v>
                </c:pt>
                <c:pt idx="1">
                  <c:v>Blood Collection Lancets</c:v>
                </c:pt>
                <c:pt idx="2">
                  <c:v>Integrated Capillary Blood Collection Devices</c:v>
                </c:pt>
                <c:pt idx="3">
                  <c:v>Dried Blood Spot Collection Products</c:v>
                </c:pt>
                <c:pt idx="4">
                  <c:v>Total</c:v>
                </c:pt>
              </c:strCache>
            </c:strRef>
          </c:cat>
          <c:val>
            <c:numRef>
              <c:f>Sheet1!$B$2:$B$6</c:f>
              <c:numCache>
                <c:formatCode>General</c:formatCode>
                <c:ptCount val="5"/>
                <c:pt idx="0">
                  <c:v>0.0</c:v>
                </c:pt>
                <c:pt idx="1">
                  <c:v>300.3247275206317</c:v>
                </c:pt>
                <c:pt idx="2">
                  <c:v>556.2881043851563</c:v>
                </c:pt>
                <c:pt idx="3">
                  <c:v>681.5862861586943</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Capillary Blood Collection Containers</c:v>
                </c:pt>
                <c:pt idx="1">
                  <c:v>Blood Collection Lancets</c:v>
                </c:pt>
                <c:pt idx="2">
                  <c:v>Integrated Capillary Blood Collection Devices</c:v>
                </c:pt>
                <c:pt idx="3">
                  <c:v>Dried Blood Spot Collection Products</c:v>
                </c:pt>
                <c:pt idx="4">
                  <c:v>Total</c:v>
                </c:pt>
              </c:strCache>
            </c:strRef>
          </c:cat>
          <c:val>
            <c:numRef>
              <c:f>Sheet1!$C$2:$C$6</c:f>
              <c:numCache>
                <c:formatCode>General</c:formatCode>
                <c:ptCount val="5"/>
                <c:pt idx="0">
                  <c:v>300.3247275206317</c:v>
                </c:pt>
                <c:pt idx="1">
                  <c:v>255.9633768645246</c:v>
                </c:pt>
                <c:pt idx="2">
                  <c:v>125.298181773538</c:v>
                </c:pt>
                <c:pt idx="3">
                  <c:v>80.32845925303451</c:v>
                </c:pt>
                <c:pt idx="4">
                  <c:v>761.9147454117287</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Sheet1!$A$2:$A$11</c:f>
              <c:strCache>
                <c:ptCount val="10"/>
                <c:pt idx="0">
                  <c:v>2026</c:v>
                </c:pt>
                <c:pt idx="1">
                  <c:v>Diabetes &amp; Glucose Testing</c:v>
                </c:pt>
                <c:pt idx="2">
                  <c:v>Newborn Screening</c:v>
                </c:pt>
                <c:pt idx="3">
                  <c:v>Hematology Testing</c:v>
                </c:pt>
                <c:pt idx="4">
                  <c:v>Infectious Disease Testing</c:v>
                </c:pt>
                <c:pt idx="5">
                  <c:v>Genetic &amp; Molecular Testing</c:v>
                </c:pt>
                <c:pt idx="6">
                  <c:v>Therapeutic Drug Monitoring</c:v>
                </c:pt>
                <c:pt idx="7">
                  <c:v>Metabolic &amp; Biochemical Testing</c:v>
                </c:pt>
                <c:pt idx="8">
                  <c:v>Other Diagnostic Applications</c:v>
                </c:pt>
                <c:pt idx="9">
                  <c:v>2036 Total</c:v>
                </c:pt>
              </c:strCache>
            </c:strRef>
          </c:cat>
          <c:val>
            <c:numRef>
              <c:f>Sheet1!$B$2:$B$11</c:f>
              <c:numCache>
                <c:formatCode>General</c:formatCode>
                <c:ptCount val="10"/>
                <c:pt idx="0">
                  <c:v>0.0</c:v>
                </c:pt>
                <c:pt idx="1">
                  <c:v>635.909278111377</c:v>
                </c:pt>
                <c:pt idx="2">
                  <c:v>993.7168071914114</c:v>
                </c:pt>
                <c:pt idx="3">
                  <c:v>1071.7259689021716</c:v>
                </c:pt>
                <c:pt idx="4">
                  <c:v>1090.123831751702</c:v>
                </c:pt>
                <c:pt idx="5">
                  <c:v>1186.5604616591368</c:v>
                </c:pt>
                <c:pt idx="6">
                  <c:v>1314.588411045101</c:v>
                </c:pt>
                <c:pt idx="7">
                  <c:v>1340.7664376960997</c:v>
                </c:pt>
                <c:pt idx="8">
                  <c:v>1392.8535704215772</c:v>
                </c:pt>
                <c:pt idx="9">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08189"/>
              </a:solidFill>
            </c:spPr>
          </c:dPt>
          <c:dPt>
            <c:idx val="9"/>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Sheet1!$A$2:$A$11</c:f>
              <c:strCache>
                <c:ptCount val="10"/>
                <c:pt idx="0">
                  <c:v>2026</c:v>
                </c:pt>
                <c:pt idx="1">
                  <c:v>Diabetes &amp; Glucose Testing</c:v>
                </c:pt>
                <c:pt idx="2">
                  <c:v>Newborn Screening</c:v>
                </c:pt>
                <c:pt idx="3">
                  <c:v>Hematology Testing</c:v>
                </c:pt>
                <c:pt idx="4">
                  <c:v>Infectious Disease Testing</c:v>
                </c:pt>
                <c:pt idx="5">
                  <c:v>Genetic &amp; Molecular Testing</c:v>
                </c:pt>
                <c:pt idx="6">
                  <c:v>Therapeutic Drug Monitoring</c:v>
                </c:pt>
                <c:pt idx="7">
                  <c:v>Metabolic &amp; Biochemical Testing</c:v>
                </c:pt>
                <c:pt idx="8">
                  <c:v>Other Diagnostic Applications</c:v>
                </c:pt>
                <c:pt idx="9">
                  <c:v>2036 Total</c:v>
                </c:pt>
              </c:strCache>
            </c:strRef>
          </c:cat>
          <c:val>
            <c:numRef>
              <c:f>Sheet1!$C$2:$C$11</c:f>
              <c:numCache>
                <c:formatCode>General</c:formatCode>
                <c:ptCount val="10"/>
                <c:pt idx="0">
                  <c:v>635.909278111377</c:v>
                </c:pt>
                <c:pt idx="1">
                  <c:v>357.80752908003427</c:v>
                </c:pt>
                <c:pt idx="2">
                  <c:v>78.00916171076017</c:v>
                </c:pt>
                <c:pt idx="3">
                  <c:v>18.397862849530313</c:v>
                </c:pt>
                <c:pt idx="4">
                  <c:v>96.4366299074347</c:v>
                </c:pt>
                <c:pt idx="5">
                  <c:v>128.02794938596446</c:v>
                </c:pt>
                <c:pt idx="6">
                  <c:v>26.178026650998632</c:v>
                </c:pt>
                <c:pt idx="7">
                  <c:v>52.087132725477375</c:v>
                </c:pt>
                <c:pt idx="8">
                  <c:v>4.970453101529399</c:v>
                </c:pt>
                <c:pt idx="9">
                  <c:v>1397.8240235231065</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Sheet1!$A$2:$A$10</c:f>
              <c:strCache>
                <c:ptCount val="9"/>
                <c:pt idx="0">
                  <c:v>Diabetes &amp; Glucose Testing</c:v>
                </c:pt>
                <c:pt idx="1">
                  <c:v>Newborn Screening</c:v>
                </c:pt>
                <c:pt idx="2">
                  <c:v>Hematology Testing</c:v>
                </c:pt>
                <c:pt idx="3">
                  <c:v>Infectious Disease Testing</c:v>
                </c:pt>
                <c:pt idx="4">
                  <c:v>Genetic &amp; Molecular Testing</c:v>
                </c:pt>
                <c:pt idx="5">
                  <c:v>Therapeutic Drug Monitoring</c:v>
                </c:pt>
                <c:pt idx="6">
                  <c:v>Metabolic &amp; Biochemical Testing</c:v>
                </c:pt>
                <c:pt idx="7">
                  <c:v>Other Diagnostic Applications</c:v>
                </c:pt>
                <c:pt idx="8">
                  <c:v>Total</c:v>
                </c:pt>
              </c:strCache>
            </c:strRef>
          </c:cat>
          <c:val>
            <c:numRef>
              <c:f>Sheet1!$B$2:$B$10</c:f>
              <c:numCache>
                <c:formatCode>General</c:formatCode>
                <c:ptCount val="9"/>
                <c:pt idx="0">
                  <c:v>0.0</c:v>
                </c:pt>
                <c:pt idx="1">
                  <c:v>357.80752908003427</c:v>
                </c:pt>
                <c:pt idx="2">
                  <c:v>435.81669079079444</c:v>
                </c:pt>
                <c:pt idx="3">
                  <c:v>454.21455364032477</c:v>
                </c:pt>
                <c:pt idx="4">
                  <c:v>550.6511835477595</c:v>
                </c:pt>
                <c:pt idx="5">
                  <c:v>678.679132933724</c:v>
                </c:pt>
                <c:pt idx="6">
                  <c:v>704.8571595847226</c:v>
                </c:pt>
                <c:pt idx="7">
                  <c:v>756.9442923101999</c:v>
                </c:pt>
                <c:pt idx="8">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08189"/>
              </a:solidFill>
            </c:spPr>
          </c:dPt>
          <c:dPt>
            <c:idx val="8"/>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Sheet1!$A$2:$A$10</c:f>
              <c:strCache>
                <c:ptCount val="9"/>
                <c:pt idx="0">
                  <c:v>Diabetes &amp; Glucose Testing</c:v>
                </c:pt>
                <c:pt idx="1">
                  <c:v>Newborn Screening</c:v>
                </c:pt>
                <c:pt idx="2">
                  <c:v>Hematology Testing</c:v>
                </c:pt>
                <c:pt idx="3">
                  <c:v>Infectious Disease Testing</c:v>
                </c:pt>
                <c:pt idx="4">
                  <c:v>Genetic &amp; Molecular Testing</c:v>
                </c:pt>
                <c:pt idx="5">
                  <c:v>Therapeutic Drug Monitoring</c:v>
                </c:pt>
                <c:pt idx="6">
                  <c:v>Metabolic &amp; Biochemical Testing</c:v>
                </c:pt>
                <c:pt idx="7">
                  <c:v>Other Diagnostic Applications</c:v>
                </c:pt>
                <c:pt idx="8">
                  <c:v>Total</c:v>
                </c:pt>
              </c:strCache>
            </c:strRef>
          </c:cat>
          <c:val>
            <c:numRef>
              <c:f>Sheet1!$C$2:$C$10</c:f>
              <c:numCache>
                <c:formatCode>General</c:formatCode>
                <c:ptCount val="9"/>
                <c:pt idx="0">
                  <c:v>357.80752908003427</c:v>
                </c:pt>
                <c:pt idx="1">
                  <c:v>78.00916171076017</c:v>
                </c:pt>
                <c:pt idx="2">
                  <c:v>18.397862849530313</c:v>
                </c:pt>
                <c:pt idx="3">
                  <c:v>96.4366299074347</c:v>
                </c:pt>
                <c:pt idx="4">
                  <c:v>128.02794938596446</c:v>
                </c:pt>
                <c:pt idx="5">
                  <c:v>26.178026650998632</c:v>
                </c:pt>
                <c:pt idx="6">
                  <c:v>52.087132725477375</c:v>
                </c:pt>
                <c:pt idx="7">
                  <c:v>4.970453101529399</c:v>
                </c:pt>
                <c:pt idx="8">
                  <c:v>761.9147454117294</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Sheet1!$A$2:$A$9</c:f>
              <c:strCache>
                <c:ptCount val="8"/>
                <c:pt idx="0">
                  <c:v>2026</c:v>
                </c:pt>
                <c:pt idx="1">
                  <c:v>Hospitals &amp; Clinics</c:v>
                </c:pt>
                <c:pt idx="2">
                  <c:v>Diagnostic Laboratories</c:v>
                </c:pt>
                <c:pt idx="3">
                  <c:v>Physician Offices &amp; Outpatient Centers</c:v>
                </c:pt>
                <c:pt idx="4">
                  <c:v>Home &amp; Self-Testing</c:v>
                </c:pt>
                <c:pt idx="5">
                  <c:v>Research &amp; Academic Institutions</c:v>
                </c:pt>
                <c:pt idx="6">
                  <c:v>Public Health &amp; Screening Programs</c:v>
                </c:pt>
                <c:pt idx="7">
                  <c:v>2036 Total</c:v>
                </c:pt>
              </c:strCache>
            </c:strRef>
          </c:cat>
          <c:val>
            <c:numRef>
              <c:f>Sheet1!$B$2:$B$9</c:f>
              <c:numCache>
                <c:formatCode>General</c:formatCode>
                <c:ptCount val="8"/>
                <c:pt idx="0">
                  <c:v>0.0</c:v>
                </c:pt>
                <c:pt idx="1">
                  <c:v>635.9092781113771</c:v>
                </c:pt>
                <c:pt idx="2">
                  <c:v>912.2208386049024</c:v>
                </c:pt>
                <c:pt idx="3">
                  <c:v>1079.7992734279878</c:v>
                </c:pt>
                <c:pt idx="4">
                  <c:v>1178.4644007844192</c:v>
                </c:pt>
                <c:pt idx="5">
                  <c:v>1327.5208338999207</c:v>
                </c:pt>
                <c:pt idx="6">
                  <c:v>1352.5399006403895</c:v>
                </c:pt>
                <c:pt idx="7">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08189"/>
              </a:solidFill>
            </c:spPr>
          </c:dPt>
          <c:dPt>
            <c:idx val="7"/>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Sheet1!$A$2:$A$9</c:f>
              <c:strCache>
                <c:ptCount val="8"/>
                <c:pt idx="0">
                  <c:v>2026</c:v>
                </c:pt>
                <c:pt idx="1">
                  <c:v>Hospitals &amp; Clinics</c:v>
                </c:pt>
                <c:pt idx="2">
                  <c:v>Diagnostic Laboratories</c:v>
                </c:pt>
                <c:pt idx="3">
                  <c:v>Physician Offices &amp; Outpatient Centers</c:v>
                </c:pt>
                <c:pt idx="4">
                  <c:v>Home &amp; Self-Testing</c:v>
                </c:pt>
                <c:pt idx="5">
                  <c:v>Research &amp; Academic Institutions</c:v>
                </c:pt>
                <c:pt idx="6">
                  <c:v>Public Health &amp; Screening Programs</c:v>
                </c:pt>
                <c:pt idx="7">
                  <c:v>2036 Total</c:v>
                </c:pt>
              </c:strCache>
            </c:strRef>
          </c:cat>
          <c:val>
            <c:numRef>
              <c:f>Sheet1!$C$2:$C$9</c:f>
              <c:numCache>
                <c:formatCode>General</c:formatCode>
                <c:ptCount val="8"/>
                <c:pt idx="0">
                  <c:v>635.9092781113771</c:v>
                </c:pt>
                <c:pt idx="1">
                  <c:v>276.31156049352523</c:v>
                </c:pt>
                <c:pt idx="2">
                  <c:v>167.5784348230855</c:v>
                </c:pt>
                <c:pt idx="3">
                  <c:v>98.66512735643151</c:v>
                </c:pt>
                <c:pt idx="4">
                  <c:v>149.0564331155014</c:v>
                </c:pt>
                <c:pt idx="5">
                  <c:v>25.0190667404688</c:v>
                </c:pt>
                <c:pt idx="6">
                  <c:v>45.28412288271573</c:v>
                </c:pt>
                <c:pt idx="7">
                  <c:v>1397.8240235231053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Hospitals &amp; Clinics</c:v>
                </c:pt>
                <c:pt idx="1">
                  <c:v>Diagnostic Laboratories</c:v>
                </c:pt>
                <c:pt idx="2">
                  <c:v>Physician Offices &amp; Outpatient Centers</c:v>
                </c:pt>
                <c:pt idx="3">
                  <c:v>Home &amp; Self-Testing</c:v>
                </c:pt>
                <c:pt idx="4">
                  <c:v>Research &amp; Academic Institutions</c:v>
                </c:pt>
                <c:pt idx="5">
                  <c:v>Public Health &amp; Screening Programs</c:v>
                </c:pt>
                <c:pt idx="6">
                  <c:v>Total</c:v>
                </c:pt>
              </c:strCache>
            </c:strRef>
          </c:cat>
          <c:val>
            <c:numRef>
              <c:f>Sheet1!$B$2:$B$8</c:f>
              <c:numCache>
                <c:formatCode>General</c:formatCode>
                <c:ptCount val="7"/>
                <c:pt idx="0">
                  <c:v>0.0</c:v>
                </c:pt>
                <c:pt idx="1">
                  <c:v>276.31156049352523</c:v>
                </c:pt>
                <c:pt idx="2">
                  <c:v>443.88999531661074</c:v>
                </c:pt>
                <c:pt idx="3">
                  <c:v>542.5551226730422</c:v>
                </c:pt>
                <c:pt idx="4">
                  <c:v>691.6115557885436</c:v>
                </c:pt>
                <c:pt idx="5">
                  <c:v>716.6306225290124</c:v>
                </c:pt>
                <c:pt idx="6">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08189"/>
              </a:solidFill>
            </c:spPr>
          </c:dPt>
          <c:dPt>
            <c:idx val="6"/>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Sheet1!$A$2:$A$8</c:f>
              <c:strCache>
                <c:ptCount val="7"/>
                <c:pt idx="0">
                  <c:v>Hospitals &amp; Clinics</c:v>
                </c:pt>
                <c:pt idx="1">
                  <c:v>Diagnostic Laboratories</c:v>
                </c:pt>
                <c:pt idx="2">
                  <c:v>Physician Offices &amp; Outpatient Centers</c:v>
                </c:pt>
                <c:pt idx="3">
                  <c:v>Home &amp; Self-Testing</c:v>
                </c:pt>
                <c:pt idx="4">
                  <c:v>Research &amp; Academic Institutions</c:v>
                </c:pt>
                <c:pt idx="5">
                  <c:v>Public Health &amp; Screening Programs</c:v>
                </c:pt>
                <c:pt idx="6">
                  <c:v>Total</c:v>
                </c:pt>
              </c:strCache>
            </c:strRef>
          </c:cat>
          <c:val>
            <c:numRef>
              <c:f>Sheet1!$C$2:$C$8</c:f>
              <c:numCache>
                <c:formatCode>General</c:formatCode>
                <c:ptCount val="7"/>
                <c:pt idx="0">
                  <c:v>276.31156049352523</c:v>
                </c:pt>
                <c:pt idx="1">
                  <c:v>167.5784348230855</c:v>
                </c:pt>
                <c:pt idx="2">
                  <c:v>98.66512735643151</c:v>
                </c:pt>
                <c:pt idx="3">
                  <c:v>149.0564331155014</c:v>
                </c:pt>
                <c:pt idx="4">
                  <c:v>25.0190667404688</c:v>
                </c:pt>
                <c:pt idx="5">
                  <c:v>45.28412288271573</c:v>
                </c:pt>
                <c:pt idx="6">
                  <c:v>761.9147454117281</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Whole Blood</c:v>
                </c:pt>
                <c:pt idx="2">
                  <c:v>Plasma</c:v>
                </c:pt>
                <c:pt idx="3">
                  <c:v>Serum</c:v>
                </c:pt>
                <c:pt idx="4">
                  <c:v>Dried Blood Spot</c:v>
                </c:pt>
                <c:pt idx="5">
                  <c:v>2036 Total</c:v>
                </c:pt>
              </c:strCache>
            </c:strRef>
          </c:cat>
          <c:val>
            <c:numRef>
              <c:f>Sheet1!$B$2:$B$7</c:f>
              <c:numCache>
                <c:formatCode>General</c:formatCode>
                <c:ptCount val="6"/>
                <c:pt idx="0">
                  <c:v>0.0</c:v>
                </c:pt>
                <c:pt idx="1">
                  <c:v>635.909278111377</c:v>
                </c:pt>
                <c:pt idx="2">
                  <c:v>1004.4221815841195</c:v>
                </c:pt>
                <c:pt idx="3">
                  <c:v>1190.7856851280546</c:v>
                </c:pt>
                <c:pt idx="4">
                  <c:v>1275.5963489372848</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Whole Blood</c:v>
                </c:pt>
                <c:pt idx="2">
                  <c:v>Plasma</c:v>
                </c:pt>
                <c:pt idx="3">
                  <c:v>Serum</c:v>
                </c:pt>
                <c:pt idx="4">
                  <c:v>Dried Blood Spot</c:v>
                </c:pt>
                <c:pt idx="5">
                  <c:v>2036 Total</c:v>
                </c:pt>
              </c:strCache>
            </c:strRef>
          </c:cat>
          <c:val>
            <c:numRef>
              <c:f>Sheet1!$C$2:$C$7</c:f>
              <c:numCache>
                <c:formatCode>General</c:formatCode>
                <c:ptCount val="6"/>
                <c:pt idx="0">
                  <c:v>635.909278111377</c:v>
                </c:pt>
                <c:pt idx="1">
                  <c:v>368.5129034727425</c:v>
                </c:pt>
                <c:pt idx="2">
                  <c:v>186.3635035439352</c:v>
                </c:pt>
                <c:pt idx="3">
                  <c:v>84.81066380923009</c:v>
                </c:pt>
                <c:pt idx="4">
                  <c:v>122.22767458582138</c:v>
                </c:pt>
                <c:pt idx="5">
                  <c:v>1397.8240235231062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Whole Blood</c:v>
                </c:pt>
                <c:pt idx="1">
                  <c:v>Plasma</c:v>
                </c:pt>
                <c:pt idx="2">
                  <c:v>Serum</c:v>
                </c:pt>
                <c:pt idx="3">
                  <c:v>Dried Blood Spot</c:v>
                </c:pt>
                <c:pt idx="4">
                  <c:v>Total</c:v>
                </c:pt>
              </c:strCache>
            </c:strRef>
          </c:cat>
          <c:val>
            <c:numRef>
              <c:f>Sheet1!$B$2:$B$6</c:f>
              <c:numCache>
                <c:formatCode>General</c:formatCode>
                <c:ptCount val="5"/>
                <c:pt idx="0">
                  <c:v>0.0</c:v>
                </c:pt>
                <c:pt idx="1">
                  <c:v>368.5129034727425</c:v>
                </c:pt>
                <c:pt idx="2">
                  <c:v>554.8764070166777</c:v>
                </c:pt>
                <c:pt idx="3">
                  <c:v>639.6870708259078</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Whole Blood</c:v>
                </c:pt>
                <c:pt idx="1">
                  <c:v>Plasma</c:v>
                </c:pt>
                <c:pt idx="2">
                  <c:v>Serum</c:v>
                </c:pt>
                <c:pt idx="3">
                  <c:v>Dried Blood Spot</c:v>
                </c:pt>
                <c:pt idx="4">
                  <c:v>Total</c:v>
                </c:pt>
              </c:strCache>
            </c:strRef>
          </c:cat>
          <c:val>
            <c:numRef>
              <c:f>Sheet1!$C$2:$C$6</c:f>
              <c:numCache>
                <c:formatCode>General</c:formatCode>
                <c:ptCount val="5"/>
                <c:pt idx="0">
                  <c:v>368.5129034727425</c:v>
                </c:pt>
                <c:pt idx="1">
                  <c:v>186.3635035439352</c:v>
                </c:pt>
                <c:pt idx="2">
                  <c:v>84.81066380923009</c:v>
                </c:pt>
                <c:pt idx="3">
                  <c:v>122.22767458582138</c:v>
                </c:pt>
                <c:pt idx="4">
                  <c:v>761.9147454117292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Neonates</c:v>
                </c:pt>
                <c:pt idx="2">
                  <c:v>Pediatric Patients</c:v>
                </c:pt>
                <c:pt idx="3">
                  <c:v>Adults</c:v>
                </c:pt>
                <c:pt idx="4">
                  <c:v>Geriatric Patients</c:v>
                </c:pt>
                <c:pt idx="5">
                  <c:v>2036 Total</c:v>
                </c:pt>
              </c:strCache>
            </c:strRef>
          </c:cat>
          <c:val>
            <c:numRef>
              <c:f>Sheet1!$B$2:$B$7</c:f>
              <c:numCache>
                <c:formatCode>General</c:formatCode>
                <c:ptCount val="6"/>
                <c:pt idx="0">
                  <c:v>0.0</c:v>
                </c:pt>
                <c:pt idx="1">
                  <c:v>635.909278111377</c:v>
                </c:pt>
                <c:pt idx="2">
                  <c:v>696.3498342599871</c:v>
                </c:pt>
                <c:pt idx="3">
                  <c:v>792.7435407519677</c:v>
                </c:pt>
                <c:pt idx="4">
                  <c:v>1138.4638148098816</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Neonates</c:v>
                </c:pt>
                <c:pt idx="2">
                  <c:v>Pediatric Patients</c:v>
                </c:pt>
                <c:pt idx="3">
                  <c:v>Adults</c:v>
                </c:pt>
                <c:pt idx="4">
                  <c:v>Geriatric Patients</c:v>
                </c:pt>
                <c:pt idx="5">
                  <c:v>2036 Total</c:v>
                </c:pt>
              </c:strCache>
            </c:strRef>
          </c:cat>
          <c:val>
            <c:numRef>
              <c:f>Sheet1!$C$2:$C$7</c:f>
              <c:numCache>
                <c:formatCode>General</c:formatCode>
                <c:ptCount val="6"/>
                <c:pt idx="0">
                  <c:v>635.909278111377</c:v>
                </c:pt>
                <c:pt idx="1">
                  <c:v>60.440556148610035</c:v>
                </c:pt>
                <c:pt idx="2">
                  <c:v>96.3937064919805</c:v>
                </c:pt>
                <c:pt idx="3">
                  <c:v>345.72027405791397</c:v>
                </c:pt>
                <c:pt idx="4">
                  <c:v>259.3602087132245</c:v>
                </c:pt>
                <c:pt idx="5">
                  <c:v>1397.824023523106</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Neonates</c:v>
                </c:pt>
                <c:pt idx="1">
                  <c:v>Pediatric Patients</c:v>
                </c:pt>
                <c:pt idx="2">
                  <c:v>Adults</c:v>
                </c:pt>
                <c:pt idx="3">
                  <c:v>Geriatric Patients</c:v>
                </c:pt>
                <c:pt idx="4">
                  <c:v>Total</c:v>
                </c:pt>
              </c:strCache>
            </c:strRef>
          </c:cat>
          <c:val>
            <c:numRef>
              <c:f>Sheet1!$B$2:$B$6</c:f>
              <c:numCache>
                <c:formatCode>General</c:formatCode>
                <c:ptCount val="5"/>
                <c:pt idx="0">
                  <c:v>0.0</c:v>
                </c:pt>
                <c:pt idx="1">
                  <c:v>60.440556148610035</c:v>
                </c:pt>
                <c:pt idx="2">
                  <c:v>156.83426264059054</c:v>
                </c:pt>
                <c:pt idx="3">
                  <c:v>502.55453669850453</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Neonates</c:v>
                </c:pt>
                <c:pt idx="1">
                  <c:v>Pediatric Patients</c:v>
                </c:pt>
                <c:pt idx="2">
                  <c:v>Adults</c:v>
                </c:pt>
                <c:pt idx="3">
                  <c:v>Geriatric Patients</c:v>
                </c:pt>
                <c:pt idx="4">
                  <c:v>Total</c:v>
                </c:pt>
              </c:strCache>
            </c:strRef>
          </c:cat>
          <c:val>
            <c:numRef>
              <c:f>Sheet1!$C$2:$C$6</c:f>
              <c:numCache>
                <c:formatCode>General</c:formatCode>
                <c:ptCount val="5"/>
                <c:pt idx="0">
                  <c:v>60.440556148610035</c:v>
                </c:pt>
                <c:pt idx="1">
                  <c:v>96.3937064919805</c:v>
                </c:pt>
                <c:pt idx="2">
                  <c:v>345.72027405791397</c:v>
                </c:pt>
                <c:pt idx="3">
                  <c:v>259.3602087132245</c:v>
                </c:pt>
                <c:pt idx="4">
                  <c:v>761.914745411729</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Sheet1!$A$2:$A$7</c:f>
              <c:strCache>
                <c:ptCount val="6"/>
                <c:pt idx="0">
                  <c:v>2026</c:v>
                </c:pt>
                <c:pt idx="1">
                  <c:v>Direct Sales</c:v>
                </c:pt>
                <c:pt idx="2">
                  <c:v>Medical Distributors &amp; Wholesalers</c:v>
                </c:pt>
                <c:pt idx="3">
                  <c:v>Retail Pharmacy</c:v>
                </c:pt>
                <c:pt idx="4">
                  <c:v>E-Commerce / DTC</c:v>
                </c:pt>
                <c:pt idx="5">
                  <c:v>2036 Total</c:v>
                </c:pt>
              </c:strCache>
            </c:strRef>
          </c:cat>
          <c:val>
            <c:numRef>
              <c:f>Sheet1!$B$2:$B$7</c:f>
              <c:numCache>
                <c:formatCode>General</c:formatCode>
                <c:ptCount val="6"/>
                <c:pt idx="0">
                  <c:v>0.0</c:v>
                </c:pt>
                <c:pt idx="1">
                  <c:v>635.909278111378</c:v>
                </c:pt>
                <c:pt idx="2">
                  <c:v>821.6393406823522</c:v>
                </c:pt>
                <c:pt idx="3">
                  <c:v>1030.394239303896</c:v>
                </c:pt>
                <c:pt idx="4">
                  <c:v>1120.3481347672957</c:v>
                </c:pt>
                <c:pt idx="5">
                  <c:v>0.0</c:v>
                </c:pt>
              </c:numCache>
            </c:numRef>
          </c:val>
        </c:ser>
        <c:ser>
          <c:idx val="1"/>
          <c:order val="1"/>
          <c:tx>
            <c:strRef>
              <c:f>Sheet1!$C$1</c:f>
              <c:strCache>
                <c:ptCount val="1"/>
                <c:pt idx="0">
                  <c:v>value</c:v>
                </c:pt>
              </c:strCache>
            </c:strRef>
          </c:tx>
          <c:dPt>
            <c:idx val="0"/>
            <c:spPr>
              <a:solidFill>
                <a:srgbClr val="0E72AE"/>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08189"/>
              </a:solidFill>
            </c:spPr>
          </c:dPt>
          <c:dPt>
            <c:idx val="5"/>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Sheet1!$A$2:$A$7</c:f>
              <c:strCache>
                <c:ptCount val="6"/>
                <c:pt idx="0">
                  <c:v>2026</c:v>
                </c:pt>
                <c:pt idx="1">
                  <c:v>Direct Sales</c:v>
                </c:pt>
                <c:pt idx="2">
                  <c:v>Medical Distributors &amp; Wholesalers</c:v>
                </c:pt>
                <c:pt idx="3">
                  <c:v>Retail Pharmacy</c:v>
                </c:pt>
                <c:pt idx="4">
                  <c:v>E-Commerce / DTC</c:v>
                </c:pt>
                <c:pt idx="5">
                  <c:v>2036 Total</c:v>
                </c:pt>
              </c:strCache>
            </c:strRef>
          </c:cat>
          <c:val>
            <c:numRef>
              <c:f>Sheet1!$C$2:$C$7</c:f>
              <c:numCache>
                <c:formatCode>General</c:formatCode>
                <c:ptCount val="6"/>
                <c:pt idx="0">
                  <c:v>635.909278111378</c:v>
                </c:pt>
                <c:pt idx="1">
                  <c:v>185.73006257097427</c:v>
                </c:pt>
                <c:pt idx="2">
                  <c:v>208.75489862154387</c:v>
                </c:pt>
                <c:pt idx="3">
                  <c:v>89.9538954633996</c:v>
                </c:pt>
                <c:pt idx="4">
                  <c:v>277.4758887558106</c:v>
                </c:pt>
                <c:pt idx="5">
                  <c:v>1397.8240235231062</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numFmt formatCode="#,##0" sourceLinked="0"/>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varyColors val="0"/>
        <c:ser>
          <c:idx val="0"/>
          <c:order val="0"/>
          <c:tx>
            <c:strRef>
              <c:f>Sheet1!$B$1</c:f>
              <c:strCache>
                <c:ptCount val="1"/>
                <c:pt idx="0">
                  <c:v>base</c:v>
                </c:pt>
              </c:strCache>
            </c:strRef>
          </c:tx>
          <c:spPr>
            <a:noFill/>
            <a:ln>
              <a:noFill/>
            </a:ln>
          </c:spPr>
          <c:cat>
            <c:strRef>
              <c:f>Sheet1!$A$2:$A$6</c:f>
              <c:strCache>
                <c:ptCount val="5"/>
                <c:pt idx="0">
                  <c:v>Direct Sales</c:v>
                </c:pt>
                <c:pt idx="1">
                  <c:v>Medical Distributors &amp; Wholesalers</c:v>
                </c:pt>
                <c:pt idx="2">
                  <c:v>Retail Pharmacy</c:v>
                </c:pt>
                <c:pt idx="3">
                  <c:v>E-Commerce / DTC</c:v>
                </c:pt>
                <c:pt idx="4">
                  <c:v>Total</c:v>
                </c:pt>
              </c:strCache>
            </c:strRef>
          </c:cat>
          <c:val>
            <c:numRef>
              <c:f>Sheet1!$B$2:$B$6</c:f>
              <c:numCache>
                <c:formatCode>General</c:formatCode>
                <c:ptCount val="5"/>
                <c:pt idx="0">
                  <c:v>0.0</c:v>
                </c:pt>
                <c:pt idx="1">
                  <c:v>185.73006257097427</c:v>
                </c:pt>
                <c:pt idx="2">
                  <c:v>394.48496119251814</c:v>
                </c:pt>
                <c:pt idx="3">
                  <c:v>484.43885665591773</c:v>
                </c:pt>
                <c:pt idx="4">
                  <c:v>0.0</c:v>
                </c:pt>
              </c:numCache>
            </c:numRef>
          </c:val>
        </c:ser>
        <c:ser>
          <c:idx val="1"/>
          <c:order val="1"/>
          <c:tx>
            <c:strRef>
              <c:f>Sheet1!$C$1</c:f>
              <c:strCache>
                <c:ptCount val="1"/>
                <c:pt idx="0">
                  <c:v>value</c:v>
                </c:pt>
              </c:strCache>
            </c:strRef>
          </c:tx>
          <c:dPt>
            <c:idx val="0"/>
            <c:spPr>
              <a:solidFill>
                <a:srgbClr val="008189"/>
              </a:solidFill>
            </c:spPr>
          </c:dPt>
          <c:dPt>
            <c:idx val="1"/>
            <c:spPr>
              <a:solidFill>
                <a:srgbClr val="008189"/>
              </a:solidFill>
            </c:spPr>
          </c:dPt>
          <c:dPt>
            <c:idx val="2"/>
            <c:spPr>
              <a:solidFill>
                <a:srgbClr val="008189"/>
              </a:solidFill>
            </c:spPr>
          </c:dPt>
          <c:dPt>
            <c:idx val="3"/>
            <c:spPr>
              <a:solidFill>
                <a:srgbClr val="008189"/>
              </a:solidFill>
            </c:spPr>
          </c:dPt>
          <c:dPt>
            <c:idx val="4"/>
            <c:spPr>
              <a:solidFill>
                <a:srgbClr val="0E72AE"/>
              </a:solidFill>
            </c:spPr>
          </c:dPt>
          <c:dLbls>
            <c:numFmt formatCode="#,##0" sourceLinked="0"/>
            <c:txPr>
              <a:bodyPr/>
              <a:lstStyle/>
              <a:p>
                <a:pPr>
                  <a:defRPr sz="600">
                    <a:latin typeface="Calibri"/>
                  </a:defRPr>
                </a:pPr>
              </a:p>
            </c:txPr>
            <c:dLblPos val="inEnd"/>
            <c:showLegendKey val="0"/>
            <c:showVal val="1"/>
            <c:showCatName val="0"/>
            <c:showSerName val="0"/>
            <c:showPercent val="0"/>
            <c:showBubbleSize val="0"/>
            <c:showLeaderLines val="1"/>
          </c:dLbls>
          <c:cat>
            <c:strRef>
              <c:f>Sheet1!$A$2:$A$6</c:f>
              <c:strCache>
                <c:ptCount val="5"/>
                <c:pt idx="0">
                  <c:v>Direct Sales</c:v>
                </c:pt>
                <c:pt idx="1">
                  <c:v>Medical Distributors &amp; Wholesalers</c:v>
                </c:pt>
                <c:pt idx="2">
                  <c:v>Retail Pharmacy</c:v>
                </c:pt>
                <c:pt idx="3">
                  <c:v>E-Commerce / DTC</c:v>
                </c:pt>
                <c:pt idx="4">
                  <c:v>Total</c:v>
                </c:pt>
              </c:strCache>
            </c:strRef>
          </c:cat>
          <c:val>
            <c:numRef>
              <c:f>Sheet1!$C$2:$C$6</c:f>
              <c:numCache>
                <c:formatCode>General</c:formatCode>
                <c:ptCount val="5"/>
                <c:pt idx="0">
                  <c:v>185.73006257097427</c:v>
                </c:pt>
                <c:pt idx="1">
                  <c:v>208.75489862154387</c:v>
                </c:pt>
                <c:pt idx="2">
                  <c:v>89.9538954633996</c:v>
                </c:pt>
                <c:pt idx="3">
                  <c:v>277.4758887558106</c:v>
                </c:pt>
                <c:pt idx="4">
                  <c:v>761.9147454117283</c:v>
                </c:pt>
              </c:numCache>
            </c:numRef>
          </c:val>
        </c:ser>
        <c:gapWidth val="100"/>
        <c:overlap val="10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catAx>
      <c:valAx>
        <c:axId val="-211399444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16.4%</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14.4%</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9.9%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7.0%</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6.9%</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6.9%</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5.5%</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3.3%</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29.8%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16.40671985632649</c:v>
                </c:pt>
                <c:pt idx="1">
                  <c:v>14.36342749497713</c:v>
                </c:pt>
                <c:pt idx="2">
                  <c:v>9.906466607900706</c:v>
                </c:pt>
                <c:pt idx="3">
                  <c:v>6.95937915947461</c:v>
                </c:pt>
                <c:pt idx="4">
                  <c:v>6.895934323353047</c:v>
                </c:pt>
                <c:pt idx="5">
                  <c:v>6.853242844843239</c:v>
                </c:pt>
                <c:pt idx="6">
                  <c:v>5.486614965564599</c:v>
                </c:pt>
                <c:pt idx="7">
                  <c:v>3.3040038111377297</c:v>
                </c:pt>
                <c:pt idx="8">
                  <c:v>29.824210936422443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12.8%</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11.0%</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12.4%</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12.7%</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10.1%</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6.2%</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4.1%</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3.6%</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27.2%</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12.825191395384453</c:v>
                </c:pt>
                <c:pt idx="1">
                  <c:v>10.95571182148254</c:v>
                </c:pt>
                <c:pt idx="2">
                  <c:v>12.354580159020578</c:v>
                </c:pt>
                <c:pt idx="3">
                  <c:v>12.659425329755038</c:v>
                </c:pt>
                <c:pt idx="4">
                  <c:v>10.058161896840053</c:v>
                </c:pt>
                <c:pt idx="5">
                  <c:v>6.24469615282758</c:v>
                </c:pt>
                <c:pt idx="6">
                  <c:v>4.114628946933352</c:v>
                </c:pt>
                <c:pt idx="7">
                  <c:v>3.5536186824780462</c:v>
                </c:pt>
                <c:pt idx="8">
                  <c:v>27.23398561527836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13.2%</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14.8%</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14.9%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11.7%</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7.5%</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4.9%</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4.8%</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4.8%</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23.4%</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13.241300171729673</c:v>
                </c:pt>
                <c:pt idx="1">
                  <c:v>14.757821817091273</c:v>
                </c:pt>
                <c:pt idx="2">
                  <c:v>14.928751533095168</c:v>
                </c:pt>
                <c:pt idx="3">
                  <c:v>11.734746524584317</c:v>
                </c:pt>
                <c:pt idx="4">
                  <c:v>7.483554686717547</c:v>
                </c:pt>
                <c:pt idx="5">
                  <c:v>4.943534691833558</c:v>
                </c:pt>
                <c:pt idx="6">
                  <c:v>4.751324429490797</c:v>
                </c:pt>
                <c:pt idx="7">
                  <c:v>4.789948922030665</c:v>
                </c:pt>
                <c:pt idx="8">
                  <c:v>23.369017223427004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17.8%</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16.9%</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13.1%</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8.5%</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6.2%</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6.0%</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6.3%</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5.1%</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20.2%</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17.755466218387074</c:v>
                </c:pt>
                <c:pt idx="1">
                  <c:v>16.923512057220726</c:v>
                </c:pt>
                <c:pt idx="2">
                  <c:v>13.06398834839756</c:v>
                </c:pt>
                <c:pt idx="3">
                  <c:v>8.501111419992805</c:v>
                </c:pt>
                <c:pt idx="4">
                  <c:v>6.212483469935218</c:v>
                </c:pt>
                <c:pt idx="5">
                  <c:v>6.00372205577132</c:v>
                </c:pt>
                <c:pt idx="6">
                  <c:v>6.25214775447386</c:v>
                </c:pt>
                <c:pt idx="7">
                  <c:v>5.093976971379507</c:v>
                </c:pt>
                <c:pt idx="8">
                  <c:v>20.193591704441936</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18.4%</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13.5%</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9.0%</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8.0%</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8.7%</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7.4%</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5.0%</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3.1%</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26.8%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18.37549448147982</c:v>
                </c:pt>
                <c:pt idx="1">
                  <c:v>13.506860544917368</c:v>
                </c:pt>
                <c:pt idx="2">
                  <c:v>9.018334357772934</c:v>
                </c:pt>
                <c:pt idx="3">
                  <c:v>8.012018797426348</c:v>
                </c:pt>
                <c:pt idx="4">
                  <c:v>8.659500702792569</c:v>
                </c:pt>
                <c:pt idx="5">
                  <c:v>7.446236638942668</c:v>
                </c:pt>
                <c:pt idx="6">
                  <c:v>5.048380480706809</c:v>
                </c:pt>
                <c:pt idx="7">
                  <c:v>3.083338281460257</c:v>
                </c:pt>
                <c:pt idx="8">
                  <c:v>26.849835714501204</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17.1%</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11.6%</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11.5%</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12.6%</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10.6%</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6.6%</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4.5%</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4.2%</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21.3%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17.059182852443715</c:v>
                </c:pt>
                <c:pt idx="1">
                  <c:v>11.555110199289217</c:v>
                </c:pt>
                <c:pt idx="2">
                  <c:v>11.49241996011639</c:v>
                </c:pt>
                <c:pt idx="3">
                  <c:v>12.62567293240893</c:v>
                </c:pt>
                <c:pt idx="4">
                  <c:v>10.645270539100778</c:v>
                </c:pt>
                <c:pt idx="5">
                  <c:v>6.6195232003608835</c:v>
                </c:pt>
                <c:pt idx="6">
                  <c:v>4.493101603948456</c:v>
                </c:pt>
                <c:pt idx="7">
                  <c:v>4.22083041567492</c:v>
                </c:pt>
                <c:pt idx="8">
                  <c:v>21.288888296656708</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Pt>
            <c:idx val="4"/>
            <c:spPr>
              <a:solidFill>
                <a:srgbClr val="A35313"/>
              </a:solidFill>
            </c:spPr>
          </c:dPt>
          <c:dPt>
            <c:idx val="5"/>
            <c:spPr>
              <a:solidFill>
                <a:srgbClr val="808080"/>
              </a:solidFill>
            </c:spPr>
          </c:dPt>
          <c:dPt>
            <c:idx val="6"/>
            <c:spPr>
              <a:solidFill>
                <a:srgbClr val="0E72AE"/>
              </a:solidFill>
            </c:spPr>
          </c:dPt>
          <c:dPt>
            <c:idx val="7"/>
            <c:spPr>
              <a:solidFill>
                <a:srgbClr val="A86F00"/>
              </a:solidFill>
            </c:spPr>
          </c:dPt>
          <c:dPt>
            <c:idx val="8"/>
            <c:spPr>
              <a:solidFill>
                <a:srgbClr val="B9B3AC"/>
              </a:solidFill>
            </c:spPr>
          </c:dPt>
          <c:dLbls>
            <c:dLbl>
              <c:idx val="0"/>
              <c:tx>
                <c:rich>
                  <a:bodyPr/>
                  <a:lstStyle/>
                  <a:p>
                    <a:pPr>
                      <a:defRPr sz="850" b="1">
                        <a:solidFill>
                          <a:srgbClr val="FFFFFF"/>
                        </a:solidFill>
                        <a:latin typeface="Calibri"/>
                      </a:defRPr>
                    </a:pPr>
                    <a:r>
                      <a:t>12.9%</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13.5%</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14.6%</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11.9%</a:t>
                    </a:r>
                  </a:p>
                </c:rich>
              </c:tx>
              <c:showLegendKey val="0"/>
              <c:showVal val="1"/>
              <c:showCatName val="0"/>
              <c:showSerName val="0"/>
              <c:showPercent val="0"/>
              <c:showBubbleSize val="0"/>
            </c:dLbl>
            <c:dLbl>
              <c:idx val="4"/>
              <c:tx>
                <c:rich>
                  <a:bodyPr/>
                  <a:lstStyle/>
                  <a:p>
                    <a:pPr>
                      <a:defRPr sz="850" b="1">
                        <a:solidFill>
                          <a:srgbClr val="FFFFFF"/>
                        </a:solidFill>
                        <a:latin typeface="Calibri"/>
                      </a:defRPr>
                    </a:pPr>
                    <a:r>
                      <a:t>7.5%</a:t>
                    </a:r>
                  </a:p>
                </c:rich>
              </c:tx>
              <c:showLegendKey val="0"/>
              <c:showVal val="1"/>
              <c:showCatName val="0"/>
              <c:showSerName val="0"/>
              <c:showPercent val="0"/>
              <c:showBubbleSize val="0"/>
            </c:dLbl>
            <c:dLbl>
              <c:idx val="5"/>
              <c:tx>
                <c:rich>
                  <a:bodyPr/>
                  <a:lstStyle/>
                  <a:p>
                    <a:pPr>
                      <a:defRPr sz="850" b="1">
                        <a:solidFill>
                          <a:srgbClr val="FFFFFF"/>
                        </a:solidFill>
                        <a:latin typeface="Calibri"/>
                      </a:defRPr>
                    </a:pPr>
                    <a:r>
                      <a:t>5.3%</a:t>
                    </a:r>
                  </a:p>
                </c:rich>
              </c:tx>
              <c:showLegendKey val="0"/>
              <c:showVal val="1"/>
              <c:showCatName val="0"/>
              <c:showSerName val="0"/>
              <c:showPercent val="0"/>
              <c:showBubbleSize val="0"/>
            </c:dLbl>
            <c:dLbl>
              <c:idx val="6"/>
              <c:tx>
                <c:rich>
                  <a:bodyPr/>
                  <a:lstStyle/>
                  <a:p>
                    <a:pPr>
                      <a:defRPr sz="850" b="1">
                        <a:solidFill>
                          <a:srgbClr val="FFFFFF"/>
                        </a:solidFill>
                        <a:latin typeface="Calibri"/>
                      </a:defRPr>
                    </a:pPr>
                    <a:r>
                      <a:t>5.5%</a:t>
                    </a:r>
                  </a:p>
                </c:rich>
              </c:tx>
              <c:showLegendKey val="0"/>
              <c:showVal val="1"/>
              <c:showCatName val="0"/>
              <c:showSerName val="0"/>
              <c:showPercent val="0"/>
              <c:showBubbleSize val="0"/>
            </c:dLbl>
            <c:dLbl>
              <c:idx val="7"/>
              <c:tx>
                <c:rich>
                  <a:bodyPr/>
                  <a:lstStyle/>
                  <a:p>
                    <a:pPr>
                      <a:defRPr sz="850" b="1">
                        <a:solidFill>
                          <a:srgbClr val="FFFFFF"/>
                        </a:solidFill>
                        <a:latin typeface="Calibri"/>
                      </a:defRPr>
                    </a:pPr>
                    <a:r>
                      <a:t>5.2%</a:t>
                    </a:r>
                  </a:p>
                </c:rich>
              </c:tx>
              <c:showLegendKey val="0"/>
              <c:showVal val="1"/>
              <c:showCatName val="0"/>
              <c:showSerName val="0"/>
              <c:showPercent val="0"/>
              <c:showBubbleSize val="0"/>
            </c:dLbl>
            <c:dLbl>
              <c:idx val="8"/>
              <c:tx>
                <c:rich>
                  <a:bodyPr/>
                  <a:lstStyle/>
                  <a:p>
                    <a:pPr>
                      <a:defRPr sz="850" b="1">
                        <a:solidFill>
                          <a:srgbClr val="2E2E2E"/>
                        </a:solidFill>
                        <a:latin typeface="Calibri"/>
                      </a:defRPr>
                    </a:pPr>
                    <a:r>
                      <a:t>23.5%</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Sheet1!$A$2:$A$10</c:f>
              <c:strCache>
                <c:ptCount val="9"/>
                <c:pt idx="0">
                  <c:v>Company A</c:v>
                </c:pt>
                <c:pt idx="1">
                  <c:v>Company B</c:v>
                </c:pt>
                <c:pt idx="2">
                  <c:v>Company C</c:v>
                </c:pt>
                <c:pt idx="3">
                  <c:v>Company D</c:v>
                </c:pt>
                <c:pt idx="4">
                  <c:v>Company E</c:v>
                </c:pt>
                <c:pt idx="5">
                  <c:v>Company F</c:v>
                </c:pt>
                <c:pt idx="6">
                  <c:v>Company G</c:v>
                </c:pt>
                <c:pt idx="7">
                  <c:v>Company H</c:v>
                </c:pt>
                <c:pt idx="8">
                  <c:v>Others</c:v>
                </c:pt>
              </c:strCache>
            </c:strRef>
          </c:cat>
          <c:val>
            <c:numRef>
              <c:f>Sheet1!$B$2:$B$10</c:f>
              <c:numCache>
                <c:formatCode>General</c:formatCode>
                <c:ptCount val="9"/>
                <c:pt idx="0">
                  <c:v>12.876523990364657</c:v>
                </c:pt>
                <c:pt idx="1">
                  <c:v>13.484520794788187</c:v>
                </c:pt>
                <c:pt idx="2">
                  <c:v>14.630342262412304</c:v>
                </c:pt>
                <c:pt idx="3">
                  <c:v>11.89730604671204</c:v>
                </c:pt>
                <c:pt idx="4">
                  <c:v>7.527261983494516</c:v>
                </c:pt>
                <c:pt idx="5">
                  <c:v>5.308283766897342</c:v>
                </c:pt>
                <c:pt idx="6">
                  <c:v>5.537502197974982</c:v>
                </c:pt>
                <c:pt idx="7">
                  <c:v>5.1895630640594845</c:v>
                </c:pt>
                <c:pt idx="8">
                  <c:v>23.5486958932965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Diabetes &amp; Glucose Testing</c:v>
                </c:pt>
                <c:pt idx="1">
                  <c:v>Newborn Screening</c:v>
                </c:pt>
                <c:pt idx="2">
                  <c:v>Hematology Testing</c:v>
                </c:pt>
                <c:pt idx="3">
                  <c:v>Infectious Disease Testing</c:v>
                </c:pt>
              </c:strCache>
            </c:strRef>
          </c:cat>
          <c:val>
            <c:numRef>
              <c:f>Sheet1!$B$2:$B$5</c:f>
              <c:numCache>
                <c:formatCode>General</c:formatCode>
                <c:ptCount val="4"/>
                <c:pt idx="0">
                  <c:v>226.08892353917065</c:v>
                </c:pt>
                <c:pt idx="1">
                  <c:v>125.7812810453484</c:v>
                </c:pt>
                <c:pt idx="2">
                  <c:v>158.32282644041692</c:v>
                </c:pt>
                <c:pt idx="3">
                  <c:v>299.08676693525314</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94.79453235453417"/>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152.87566156371827</c:v>
                </c:pt>
                <c:pt idx="1">
                  <c:v>93.05507481878243</c:v>
                </c:pt>
                <c:pt idx="2">
                  <c:v>50.18190422306941</c:v>
                </c:pt>
                <c:pt idx="3">
                  <c:v>56.70171054067737</c:v>
                </c:pt>
                <c:pt idx="4">
                  <c:v>107.68043433282867</c:v>
                </c:pt>
                <c:pt idx="5">
                  <c:v>164.538393773057</c:v>
                </c:pt>
                <c:pt idx="6">
                  <c:v>184.24661870805588</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43.20553669463376"/>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8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11.5%</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16.0%</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29.9%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42.6%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Capillary Blood Collection Containers</c:v>
                </c:pt>
                <c:pt idx="1">
                  <c:v>Blood Collection Lancets</c:v>
                </c:pt>
                <c:pt idx="2">
                  <c:v>Integrated Capillary Blood Collection Devices</c:v>
                </c:pt>
                <c:pt idx="3">
                  <c:v>Dried Blood Spot Collection Products</c:v>
                </c:pt>
              </c:strCache>
            </c:strRef>
          </c:cat>
          <c:val>
            <c:numRef>
              <c:f>Sheet1!$B$2:$B$5</c:f>
              <c:numCache>
                <c:formatCode>General</c:formatCode>
                <c:ptCount val="4"/>
                <c:pt idx="0">
                  <c:v>93.24417827041523</c:v>
                </c:pt>
                <c:pt idx="1">
                  <c:v>129.63107870712705</c:v>
                </c:pt>
                <c:pt idx="2">
                  <c:v>241.7200801063918</c:v>
                </c:pt>
                <c:pt idx="3">
                  <c:v>344.68446087625495</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8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549.6338851542848</c:v>
                </c:pt>
                <c:pt idx="1">
                  <c:v>494.06712859336966</c:v>
                </c:pt>
                <c:pt idx="2">
                  <c:v>361.0729078071543</c:v>
                </c:pt>
                <c:pt idx="3">
                  <c:v>231.32373251576038</c:v>
                </c:pt>
                <c:pt idx="4">
                  <c:v>183.52371138642457</c:v>
                </c:pt>
                <c:pt idx="5">
                  <c:v>246.66769582232942</c:v>
                </c:pt>
                <c:pt idx="6">
                  <c:v>382.4533921744811</c:v>
                </c:pt>
              </c:numCache>
            </c:numRef>
          </c:val>
        </c:ser>
        <c:ser>
          <c:idx val="1"/>
          <c:order val="1"/>
          <c:tx>
            <c:strRef>
              <c:f>Sheet1!$C$1</c:f>
              <c:strCache>
                <c:ptCount val="1"/>
                <c:pt idx="0">
                  <c:v>SOM</c:v>
                </c:pt>
              </c:strCache>
            </c:strRef>
          </c:tx>
          <c:spPr>
            <a:solidFill>
              <a:srgbClr val="0E72AE"/>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Sheet1!$C$2:$C$8</c:f>
              <c:numCache>
                <c:formatCode>General</c:formatCode>
                <c:ptCount val="7"/>
                <c:pt idx="0">
                  <c:v>152.87566156371827</c:v>
                </c:pt>
                <c:pt idx="1">
                  <c:v>93.05507481878243</c:v>
                </c:pt>
                <c:pt idx="2">
                  <c:v>50.18190422306941</c:v>
                </c:pt>
                <c:pt idx="3">
                  <c:v>56.70171054067737</c:v>
                </c:pt>
                <c:pt idx="4">
                  <c:v>107.68043433282867</c:v>
                </c:pt>
                <c:pt idx="5">
                  <c:v>164.538393773057</c:v>
                </c:pt>
                <c:pt idx="6">
                  <c:v>184.24661870805588</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703.5313729974846"/>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8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Diabetes &amp; Glucose Testing</c:v>
                </c:pt>
                <c:pt idx="1">
                  <c:v>Newborn Screening</c:v>
                </c:pt>
                <c:pt idx="2">
                  <c:v>Hematology Testing</c:v>
                </c:pt>
                <c:pt idx="3">
                  <c:v>Infectious Disease Testing</c:v>
                </c:pt>
              </c:strCache>
            </c:strRef>
          </c:cat>
          <c:val>
            <c:numRef>
              <c:f>Sheet1!$B$2:$B$5</c:f>
              <c:numCache>
                <c:formatCode>General</c:formatCode>
                <c:ptCount val="4"/>
                <c:pt idx="0">
                  <c:v>81.63155131824779</c:v>
                </c:pt>
                <c:pt idx="1">
                  <c:v>113.48682834902672</c:v>
                </c:pt>
                <c:pt idx="2">
                  <c:v>211.616269131909</c:v>
                </c:pt>
                <c:pt idx="3">
                  <c:v>301.75746924406116</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398.3198594021607"/>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75.93987933707164</c:v>
                </c:pt>
                <c:pt idx="1">
                  <c:v>42.24804628162675</c:v>
                </c:pt>
                <c:pt idx="2">
                  <c:v>53.17826343715758</c:v>
                </c:pt>
                <c:pt idx="3">
                  <c:v>100.4587603710845</c:v>
                </c:pt>
                <c:pt idx="4">
                  <c:v>148.30859961339272</c:v>
                </c:pt>
                <c:pt idx="5">
                  <c:v>160.51597678580106</c:v>
                </c:pt>
                <c:pt idx="6">
                  <c:v>127.84259221711041</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11.8810893572574"/>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12.7%</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23.2%</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31.9%</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32.3%</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Capillary Blood Collection Containers</c:v>
                </c:pt>
                <c:pt idx="1">
                  <c:v>Blood Collection Lancets</c:v>
                </c:pt>
                <c:pt idx="2">
                  <c:v>Integrated Capillary Blood Collection Devices</c:v>
                </c:pt>
                <c:pt idx="3">
                  <c:v>Dried Blood Spot Collection Products</c:v>
                </c:pt>
              </c:strCache>
            </c:strRef>
          </c:cat>
          <c:val>
            <c:numRef>
              <c:f>Sheet1!$B$2:$B$5</c:f>
              <c:numCache>
                <c:formatCode>General</c:formatCode>
                <c:ptCount val="4"/>
                <c:pt idx="0">
                  <c:v>89.72115742803936</c:v>
                </c:pt>
                <c:pt idx="1">
                  <c:v>164.1318711634031</c:v>
                </c:pt>
                <c:pt idx="2">
                  <c:v>226.04135149130346</c:v>
                </c:pt>
                <c:pt idx="3">
                  <c:v>228.59773796049873</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581.3435323747243</c:v>
                </c:pt>
                <c:pt idx="1">
                  <c:v>522.5710013968334</c:v>
                </c:pt>
                <c:pt idx="2">
                  <c:v>381.90403710372095</c:v>
                </c:pt>
                <c:pt idx="3">
                  <c:v>244.66933246859273</c:v>
                </c:pt>
                <c:pt idx="4">
                  <c:v>194.11161781256448</c:v>
                </c:pt>
                <c:pt idx="5">
                  <c:v>260.8985244274638</c:v>
                </c:pt>
                <c:pt idx="6">
                  <c:v>404.5180109537782</c:v>
                </c:pt>
              </c:numCache>
            </c:numRef>
          </c:val>
        </c:ser>
        <c:ser>
          <c:idx val="1"/>
          <c:order val="1"/>
          <c:tx>
            <c:strRef>
              <c:f>Sheet1!$C$1</c:f>
              <c:strCache>
                <c:ptCount val="1"/>
                <c:pt idx="0">
                  <c:v>SOM</c:v>
                </c:pt>
              </c:strCache>
            </c:strRef>
          </c:tx>
          <c:spPr>
            <a:solidFill>
              <a:srgbClr val="0E72AE"/>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Sheet1!$C$2:$C$8</c:f>
              <c:numCache>
                <c:formatCode>General</c:formatCode>
                <c:ptCount val="7"/>
                <c:pt idx="0">
                  <c:v>75.93987933707164</c:v>
                </c:pt>
                <c:pt idx="1">
                  <c:v>42.24804628162675</c:v>
                </c:pt>
                <c:pt idx="2">
                  <c:v>53.17826343715758</c:v>
                </c:pt>
                <c:pt idx="3">
                  <c:v>100.4587603710845</c:v>
                </c:pt>
                <c:pt idx="4">
                  <c:v>148.30859961339272</c:v>
                </c:pt>
                <c:pt idx="5">
                  <c:v>160.51597678580106</c:v>
                </c:pt>
                <c:pt idx="6">
                  <c:v>127.84259221711041</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744.1197214396472"/>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1668A8"/>
            </a:solidFill>
            <a:ln>
              <a:noFill/>
            </a:ln>
          </c:spPr>
          <c:cat>
            <c:strRef>
              <c:f>Sheet1!$A$2:$A$5</c:f>
              <c:strCache>
                <c:ptCount val="4"/>
                <c:pt idx="0">
                  <c:v>Diabetes &amp; Glucose Testing</c:v>
                </c:pt>
                <c:pt idx="1">
                  <c:v>Newborn Screening</c:v>
                </c:pt>
                <c:pt idx="2">
                  <c:v>Hematology Testing</c:v>
                </c:pt>
                <c:pt idx="3">
                  <c:v>Infectious Disease Testing</c:v>
                </c:pt>
              </c:strCache>
            </c:strRef>
          </c:cat>
          <c:val>
            <c:numRef>
              <c:f>Sheet1!$B$2:$B$5</c:f>
              <c:numCache>
                <c:formatCode>General</c:formatCode>
                <c:ptCount val="4"/>
                <c:pt idx="0">
                  <c:v>61.880748894641854</c:v>
                </c:pt>
                <c:pt idx="1">
                  <c:v>113.20187340668598</c:v>
                </c:pt>
                <c:pt idx="2">
                  <c:v>155.90088795563693</c:v>
                </c:pt>
                <c:pt idx="3">
                  <c:v>157.66402960151692</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208.11651907400233"/>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S1</c:v>
                </c:pt>
              </c:strCache>
            </c:strRef>
          </c:tx>
          <c:spPr>
            <a:solidFill>
              <a:srgbClr val="0E3A5F"/>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28.381119697753444</c:v>
                </c:pt>
                <c:pt idx="1">
                  <c:v>39.456352445578666</c:v>
                </c:pt>
                <c:pt idx="2">
                  <c:v>73.57334960853753</c:v>
                </c:pt>
                <c:pt idx="3">
                  <c:v>104.91304790862675</c:v>
                </c:pt>
                <c:pt idx="4">
                  <c:v>109.75818847752916</c:v>
                </c:pt>
                <c:pt idx="5">
                  <c:v>84.44206552804462</c:v>
                </c:pt>
                <c:pt idx="6">
                  <c:v>48.12341619241158</c:v>
                </c:pt>
              </c:numCache>
            </c:numRef>
          </c:val>
        </c:ser>
        <c:dLbls>
          <c:numFmt formatCode="#,##0"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144.8808087903385"/>
          <c:min val="0.0"/>
        </c:scaling>
        <c:delete val="0"/>
        <c:axPos val="l"/>
        <c:majorTickMark val="out"/>
        <c:minorTickMark val="none"/>
        <c:tickLblPos val="nextTo"/>
        <c:spPr>
          <a:ln>
            <a:solidFill>
              <a:srgbClr val="C6D5E1"/>
            </a:solidFill>
          </a:ln>
        </c:spPr>
        <c:txPr>
          <a:bodyPr/>
          <a:lstStyle/>
          <a:p>
            <a:pPr>
              <a:defRPr sz="850"/>
            </a:pPr>
          </a:p>
        </c:txPr>
        <c:crossAx val="-2068027336"/>
        <c:crosses val="autoZero"/>
      </c:valAx>
    </c:plotArea>
    <c:dispBlanksAs val="gap"/>
  </c:chart>
  <c:txPr>
    <a:bodyPr/>
    <a:lstStyle/>
    <a:p>
      <a:pPr>
        <a:defRPr sz="800">
          <a:latin typeface="Calibri"/>
        </a:defRPr>
      </a:pPr>
      <a:endParaRPr lang="en-US"/>
    </a:p>
  </c:tx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1"/>
          <c:y val="0.04"/>
          <c:w val="0.68"/>
          <c:h val="0.92"/>
        </c:manualLayout>
      </c:layout>
      <c:doughnutChart>
        <c:varyColors val="0"/>
        <c:ser>
          <c:idx val="0"/>
          <c:order val="0"/>
          <c:tx>
            <c:strRef>
              <c:f>Sheet1!$B$1</c:f>
              <c:strCache>
                <c:ptCount val="1"/>
                <c:pt idx="0">
                  <c:v>Share</c:v>
                </c:pt>
              </c:strCache>
            </c:strRef>
          </c:tx>
          <c:dPt>
            <c:idx val="0"/>
            <c:spPr>
              <a:solidFill>
                <a:srgbClr val="3D85C6"/>
              </a:solidFill>
            </c:spPr>
          </c:dPt>
          <c:dPt>
            <c:idx val="1"/>
            <c:spPr>
              <a:solidFill>
                <a:srgbClr val="9E7E0A"/>
              </a:solidFill>
            </c:spPr>
          </c:dPt>
          <c:dPt>
            <c:idx val="2"/>
            <c:spPr>
              <a:solidFill>
                <a:srgbClr val="008189"/>
              </a:solidFill>
            </c:spPr>
          </c:dPt>
          <c:dPt>
            <c:idx val="3"/>
            <c:spPr>
              <a:solidFill>
                <a:srgbClr val="40315E"/>
              </a:solidFill>
            </c:spPr>
          </c:dPt>
          <c:dLbls>
            <c:dLbl>
              <c:idx val="0"/>
              <c:tx>
                <c:rich>
                  <a:bodyPr/>
                  <a:lstStyle/>
                  <a:p>
                    <a:pPr>
                      <a:defRPr sz="850" b="1">
                        <a:solidFill>
                          <a:srgbClr val="FFFFFF"/>
                        </a:solidFill>
                        <a:latin typeface="Calibri"/>
                      </a:defRPr>
                    </a:pPr>
                    <a:r>
                      <a:t>21.9%</a:t>
                    </a:r>
                  </a:p>
                </c:rich>
              </c:tx>
              <c:showLegendKey val="0"/>
              <c:showVal val="1"/>
              <c:showCatName val="0"/>
              <c:showSerName val="0"/>
              <c:showPercent val="0"/>
              <c:showBubbleSize val="0"/>
            </c:dLbl>
            <c:dLbl>
              <c:idx val="1"/>
              <c:tx>
                <c:rich>
                  <a:bodyPr/>
                  <a:lstStyle/>
                  <a:p>
                    <a:pPr>
                      <a:defRPr sz="850" b="1">
                        <a:solidFill>
                          <a:srgbClr val="FFFFFF"/>
                        </a:solidFill>
                        <a:latin typeface="Calibri"/>
                      </a:defRPr>
                    </a:pPr>
                    <a:r>
                      <a:t>29.1%</a:t>
                    </a:r>
                  </a:p>
                </c:rich>
              </c:tx>
              <c:showLegendKey val="0"/>
              <c:showVal val="1"/>
              <c:showCatName val="0"/>
              <c:showSerName val="0"/>
              <c:showPercent val="0"/>
              <c:showBubbleSize val="0"/>
            </c:dLbl>
            <c:dLbl>
              <c:idx val="2"/>
              <c:tx>
                <c:rich>
                  <a:bodyPr/>
                  <a:lstStyle/>
                  <a:p>
                    <a:pPr>
                      <a:defRPr sz="850" b="1">
                        <a:solidFill>
                          <a:srgbClr val="FFFFFF"/>
                        </a:solidFill>
                        <a:latin typeface="Calibri"/>
                      </a:defRPr>
                    </a:pPr>
                    <a:r>
                      <a:t>28.5%</a:t>
                    </a:r>
                  </a:p>
                </c:rich>
              </c:tx>
              <c:showLegendKey val="0"/>
              <c:showVal val="1"/>
              <c:showCatName val="0"/>
              <c:showSerName val="0"/>
              <c:showPercent val="0"/>
              <c:showBubbleSize val="0"/>
            </c:dLbl>
            <c:dLbl>
              <c:idx val="3"/>
              <c:tx>
                <c:rich>
                  <a:bodyPr/>
                  <a:lstStyle/>
                  <a:p>
                    <a:pPr>
                      <a:defRPr sz="850" b="1">
                        <a:solidFill>
                          <a:srgbClr val="FFFFFF"/>
                        </a:solidFill>
                        <a:latin typeface="Calibri"/>
                      </a:defRPr>
                    </a:pPr>
                    <a:r>
                      <a:t>20.4%</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Capillary Blood Collection Containers</c:v>
                </c:pt>
                <c:pt idx="1">
                  <c:v>Blood Collection Lancets</c:v>
                </c:pt>
                <c:pt idx="2">
                  <c:v>Integrated Capillary Blood Collection Devices</c:v>
                </c:pt>
                <c:pt idx="3">
                  <c:v>Dried Blood Spot Collection Products</c:v>
                </c:pt>
              </c:strCache>
            </c:strRef>
          </c:cat>
          <c:val>
            <c:numRef>
              <c:f>Sheet1!$B$2:$B$5</c:f>
              <c:numCache>
                <c:formatCode>General</c:formatCode>
                <c:ptCount val="4"/>
                <c:pt idx="0">
                  <c:v>107.07431893615039</c:v>
                </c:pt>
                <c:pt idx="1">
                  <c:v>142.42024837168597</c:v>
                </c:pt>
                <c:pt idx="2">
                  <c:v>139.23156707361167</c:v>
                </c:pt>
                <c:pt idx="3">
                  <c:v>99.92140547703372</c:v>
                </c:pt>
              </c:numCache>
            </c:numRef>
          </c:val>
        </c:ser>
        <c:dLbls>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850"/>
          </a:pPr>
        </a:p>
      </c:txPr>
    </c:legend>
    <c:plotVisOnly val="1"/>
    <c:dispBlanksAs val="gap"/>
    <c:showDLblsOverMax val="0"/>
  </c:chart>
  <c:txPr>
    <a:bodyPr/>
    <a:lstStyle/>
    <a:p>
      <a:pPr>
        <a:defRPr sz="800">
          <a:latin typeface="Calibri"/>
        </a:defRPr>
      </a:pPr>
      <a:endParaRPr/>
    </a:p>
  </c:tx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SAM</c:v>
                </c:pt>
              </c:strCache>
            </c:strRef>
          </c:tx>
          <c:spPr>
            <a:solidFill>
              <a:srgbClr val="69B1E0"/>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Sheet1!$B$2:$B$8</c:f>
              <c:numCache>
                <c:formatCode>General</c:formatCode>
                <c:ptCount val="7"/>
                <c:pt idx="0">
                  <c:v>613.0531795951639</c:v>
                </c:pt>
                <c:pt idx="1">
                  <c:v>551.074874200297</c:v>
                </c:pt>
                <c:pt idx="2">
                  <c:v>402.7351664002876</c:v>
                </c:pt>
                <c:pt idx="3">
                  <c:v>258.01493242142504</c:v>
                </c:pt>
                <c:pt idx="4">
                  <c:v>204.69952423870436</c:v>
                </c:pt>
                <c:pt idx="5">
                  <c:v>275.12935303259826</c:v>
                </c:pt>
                <c:pt idx="6">
                  <c:v>426.5826297330751</c:v>
                </c:pt>
              </c:numCache>
            </c:numRef>
          </c:val>
        </c:ser>
        <c:ser>
          <c:idx val="1"/>
          <c:order val="1"/>
          <c:tx>
            <c:strRef>
              <c:f>Sheet1!$C$1</c:f>
              <c:strCache>
                <c:ptCount val="1"/>
                <c:pt idx="0">
                  <c:v>SOM</c:v>
                </c:pt>
              </c:strCache>
            </c:strRef>
          </c:tx>
          <c:spPr>
            <a:solidFill>
              <a:srgbClr val="0E72AE"/>
            </a:solidFill>
            <a:ln>
              <a:noFill/>
            </a:ln>
          </c:spPr>
          <c:cat>
            <c:strRef>
              <c:f>Sheet1!$A$2:$A$8</c:f>
              <c:strCache>
                <c:ptCount val="7"/>
                <c:pt idx="0">
                  <c:v>North America</c:v>
                </c:pt>
                <c:pt idx="1">
                  <c:v>Latin America</c:v>
                </c:pt>
                <c:pt idx="2">
                  <c:v>Western Europe</c:v>
                </c:pt>
                <c:pt idx="3">
                  <c:v>Eastern Europe</c:v>
                </c:pt>
                <c:pt idx="4">
                  <c:v>East Asia</c:v>
                </c:pt>
                <c:pt idx="5">
                  <c:v>South Asia Pacific</c:v>
                </c:pt>
                <c:pt idx="6">
                  <c:v>Middle East &amp; Africa</c:v>
                </c:pt>
              </c:strCache>
            </c:strRef>
          </c:cat>
          <c:val>
            <c:numRef>
              <c:f>Sheet1!$C$2:$C$8</c:f>
              <c:numCache>
                <c:formatCode>General</c:formatCode>
                <c:ptCount val="7"/>
                <c:pt idx="0">
                  <c:v>28.381119697753444</c:v>
                </c:pt>
                <c:pt idx="1">
                  <c:v>39.456352445578666</c:v>
                </c:pt>
                <c:pt idx="2">
                  <c:v>73.57334960853753</c:v>
                </c:pt>
                <c:pt idx="3">
                  <c:v>104.91304790862675</c:v>
                </c:pt>
                <c:pt idx="4">
                  <c:v>109.75818847752916</c:v>
                </c:pt>
                <c:pt idx="5">
                  <c:v>84.44206552804462</c:v>
                </c:pt>
                <c:pt idx="6">
                  <c:v>48.12341619241158</c:v>
                </c:pt>
              </c:numCache>
            </c:numRef>
          </c:val>
        </c:ser>
        <c:dLbls>
          <c:numFmt formatCode="0.0&quot;%&quot;" sourceLinked="0"/>
          <c:txPr>
            <a:bodyPr rot="0" vert="horz"/>
            <a:lstStyle/>
            <a:p>
              <a:pPr>
                <a:defRPr sz="700">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C6D5E1"/>
            </a:solidFill>
          </a:ln>
        </c:spPr>
        <c:txPr>
          <a:bodyPr/>
          <a:lstStyle/>
          <a:p>
            <a:pPr>
              <a:defRPr sz="850"/>
            </a:pPr>
          </a:p>
        </c:txPr>
        <c:crossAx val="-2113994440"/>
        <c:crosses val="autoZero"/>
        <c:auto val="1"/>
        <c:lblAlgn val="ctr"/>
        <c:lblOffset val="100"/>
        <c:noMultiLvlLbl val="0"/>
        <c:tickLblSkip val="1"/>
        <c:tickMarkSkip val="1"/>
      </c:catAx>
      <c:valAx>
        <c:axId val="-2113994440"/>
        <c:scaling>
          <c:max val="784.7080698818098"/>
          <c:min val="0.0"/>
        </c:scaling>
        <c:delete val="0"/>
        <c:axPos val="b"/>
        <c:numFmt formatCode="0&quot;%&quot;" sourceLinked="0"/>
        <c:majorTickMark val="out"/>
        <c:minorTickMark val="none"/>
        <c:tickLblPos val="nextTo"/>
        <c:spPr>
          <a:ln>
            <a:solidFill>
              <a:srgbClr val="C6D5E1"/>
            </a:solidFill>
          </a:ln>
        </c:spPr>
        <c:txPr>
          <a:bodyPr/>
          <a:lstStyle/>
          <a:p>
            <a:pPr>
              <a:defRPr sz="850"/>
            </a:pPr>
          </a:p>
        </c:txPr>
        <c:crossAx val="-2068027336"/>
        <c:crosses val="autoZero"/>
      </c:valAx>
    </c:plotArea>
    <c:legend>
      <c:legendPos val="b"/>
      <c:overlay val="0"/>
      <c:txPr>
        <a:bodyPr/>
        <a:lstStyle/>
        <a:p>
          <a:pPr>
            <a:defRPr sz="850"/>
          </a:pPr>
        </a:p>
      </c:txPr>
    </c:legend>
    <c:dispBlanksAs val="gap"/>
  </c:chart>
  <c:txPr>
    <a:bodyPr/>
    <a:lstStyle/>
    <a:p>
      <a:pPr>
        <a:defRPr sz="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Signals Market Signals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Taxonomy Geographic Coverage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Taxonomy Market Segments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Taxonomy Company Coverage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Volume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Pricing &amp; Price Index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Value Market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Market Volume &amp;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Country Outlook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Market Overview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Supply Side Trends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Analysis and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Global Overview Scenario Outlook (4/4)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Global Capillary Blood Collection Devices – Regional Outlook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Market Analysis By Region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Market Analysis By Region (2/2)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Volume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Value Share Analysis By Region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Market Trends By Region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By Region Top Countries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By Product Type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Product Type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By Application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Application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By End User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End User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By Specimen Collected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Specimen Collected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By Patient Group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Patient Group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By Distribution Channel Segment Outlook</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Market Structure &amp; Attractiveness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Absolute $ Analysis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Market Volume Analysis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Market Value Analysis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Value &amp; Share Shift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YoY Analysis Volume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Distribution Channel YoY Analysis Value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Product Pricing &amp; Regional Price Index Trends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Global Pricing Assessment  (1/2)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Global Pricing Assessment  (2/2)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Price Positioning &amp; Key Findings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Key Pricing Drivers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Factors Impacting Pricing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Regional Price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Global Pricing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Price Forecast &amp; Dynamics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Pricing Competitor Pricing Strategies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Supply Chain Analysis Value Chain &amp; Stakeholder Mapping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Supply Chain Analysis Operating Margin Analysis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Supply Chain Analysis Buyers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Overview Volume Overview</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Overview Value Overview</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Overview Key Segments (Value)  (1/2)</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Overview Key Segments (Value)  (2/2)</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Product Type Segmental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Product Type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Product Type YoY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Application Segmental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Application Table (Volume &amp; Value)  (1/2)</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Application Table (Volume &amp; Value)  (2/2)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Application YoY  (1/2)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Application YoY  (2/2)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End User Segmental</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End User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End User YoY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Specimen Collected Segmental</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Specimen Collected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Specimen Collected YoY</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Patient Group Segmental</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Patient Group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Patient Group YoY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Distribution Channel Segmental</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Distribution Channel Table (Volume &amp; Value)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Country Distribution Channel YoY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Global Driving Factors Market Dynamics by Geography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Global Driving Factors Driving Factors Supply Side (1/2)</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Global Driving Factors Driving Factors Demand Side (2/2)</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Market Dynamics &amp; Forces Market Drivers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Market Dynamics &amp; Forces Market Restraints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Market Dynamics &amp; Forces Market 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Market Dynamics &amp; Forces Recent Developments &amp; Milestones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Market Dynamics Market Dynamics &amp; Forces Five Forces Analysis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Industry Structure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Advice for Vendors &amp; Suppliers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Company Value Share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Company Share by Product Type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Company Share by Region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Who Shaped Growth</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Market Share by Leading Players Competitive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A Snapshot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A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A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A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A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B Snapshot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B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B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B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B Strategy Analysis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C Snapshot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C Penetration &amp; Win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C SWOT Analysis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C Key Financials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Blood Collection Devices Market Competitor Company Profiles &amp; Strategic Benchmarking Company C Strategy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10.xml"/><Relationship Id="rId8" Type="http://schemas.openxmlformats.org/officeDocument/2006/relationships/slide" Target="slide97.xml"/><Relationship Id="rId9" Type="http://schemas.openxmlformats.org/officeDocument/2006/relationships/slide" Target="slide82.xml"/><Relationship Id="rId10" Type="http://schemas.openxmlformats.org/officeDocument/2006/relationships/slide" Target="slide128.xml"/><Relationship Id="rId11" Type="http://schemas.openxmlformats.org/officeDocument/2006/relationships/slide" Target="slide93.xml"/><Relationship Id="rId12" Type="http://schemas.openxmlformats.org/officeDocument/2006/relationships/slide" Target="slide1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slide" Target="slide2.xml"/><Relationship Id="rId5" Type="http://schemas.openxmlformats.org/officeDocument/2006/relationships/slide" Target="slide6.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slide" Target="slide2.xml"/><Relationship Id="rId5" Type="http://schemas.openxmlformats.org/officeDocument/2006/relationships/slide" Target="slide7.xml"/><Relationship Id="rId6"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8.xml"/><Relationship Id="rId5"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5.xml"/><Relationship Id="rId6" Type="http://schemas.openxmlformats.org/officeDocument/2006/relationships/slide" Target="slide2.xml"/><Relationship Id="rId7" Type="http://schemas.openxmlformats.org/officeDocument/2006/relationships/slide" Target="slide9.xml"/><Relationship Id="rId8"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slide" Target="slide2.xml"/><Relationship Id="rId5" Type="http://schemas.openxmlformats.org/officeDocument/2006/relationships/slide" Target="slide10.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notesSlide" Target="../notesSlides/notesSlide7.xml"/><Relationship Id="rId6" Type="http://schemas.openxmlformats.org/officeDocument/2006/relationships/slide" Target="slide2.xml"/><Relationship Id="rId7" Type="http://schemas.openxmlformats.org/officeDocument/2006/relationships/slide" Target="slide11.xml"/><Relationship Id="rId8"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xml"/><Relationship Id="rId4" Type="http://schemas.openxmlformats.org/officeDocument/2006/relationships/chart" Target="../charts/chart6.xml"/><Relationship Id="rId5" Type="http://schemas.openxmlformats.org/officeDocument/2006/relationships/notesSlide" Target="../notesSlides/notesSlide8.xml"/><Relationship Id="rId6" Type="http://schemas.openxmlformats.org/officeDocument/2006/relationships/slide" Target="slide2.xml"/><Relationship Id="rId7" Type="http://schemas.openxmlformats.org/officeDocument/2006/relationships/slide" Target="slide12.xml"/><Relationship Id="rId8"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notesSlide" Target="../notesSlides/notesSlide9.xml"/><Relationship Id="rId6" Type="http://schemas.openxmlformats.org/officeDocument/2006/relationships/slide" Target="slide2.xml"/><Relationship Id="rId7" Type="http://schemas.openxmlformats.org/officeDocument/2006/relationships/slide" Target="slide13.xml"/><Relationship Id="rId8"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 Id="rId4" Type="http://schemas.openxmlformats.org/officeDocument/2006/relationships/slide" Target="slide2.xml"/><Relationship Id="rId5" Type="http://schemas.openxmlformats.org/officeDocument/2006/relationships/slide" Target="slide14.xml"/><Relationship Id="rId6"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xml"/><Relationship Id="rId4" Type="http://schemas.openxmlformats.org/officeDocument/2006/relationships/notesSlide" Target="../notesSlides/notesSlide11.xml"/><Relationship Id="rId5" Type="http://schemas.openxmlformats.org/officeDocument/2006/relationships/slide" Target="slide2.xml"/><Relationship Id="rId6" Type="http://schemas.openxmlformats.org/officeDocument/2006/relationships/slide" Target="slide15.xml"/><Relationship Id="rId7"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 Id="rId4" Type="http://schemas.openxmlformats.org/officeDocument/2006/relationships/slide" Target="slide2.xml"/><Relationship Id="rId5" Type="http://schemas.openxmlformats.org/officeDocument/2006/relationships/slide" Target="slide16.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notesSlide" Target="../notesSlides/notesSlide13.xml"/><Relationship Id="rId6" Type="http://schemas.openxmlformats.org/officeDocument/2006/relationships/slide" Target="slide2.xml"/><Relationship Id="rId7" Type="http://schemas.openxmlformats.org/officeDocument/2006/relationships/slide" Target="slide17.xml"/><Relationship Id="rId8"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8.xml"/><Relationship Id="rId5"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slide" Target="slide2.xml"/><Relationship Id="rId5" Type="http://schemas.openxmlformats.org/officeDocument/2006/relationships/slide" Target="slide19.xml"/><Relationship Id="rId6"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2.xml"/><Relationship Id="rId4" Type="http://schemas.openxmlformats.org/officeDocument/2006/relationships/notesSlide" Target="../notesSlides/notesSlide15.xml"/><Relationship Id="rId5" Type="http://schemas.openxmlformats.org/officeDocument/2006/relationships/slide" Target="slide2.xml"/><Relationship Id="rId6" Type="http://schemas.openxmlformats.org/officeDocument/2006/relationships/slide" Target="slide20.xml"/><Relationship Id="rId7"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3.xml"/><Relationship Id="rId4" Type="http://schemas.openxmlformats.org/officeDocument/2006/relationships/notesSlide" Target="../notesSlides/notesSlide16.xml"/><Relationship Id="rId5" Type="http://schemas.openxmlformats.org/officeDocument/2006/relationships/slide" Target="slide2.xml"/><Relationship Id="rId6" Type="http://schemas.openxmlformats.org/officeDocument/2006/relationships/slide" Target="slide21.xml"/><Relationship Id="rId7" Type="http://schemas.openxmlformats.org/officeDocument/2006/relationships/slide" Target="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slide" Target="slide2.xml"/><Relationship Id="rId5" Type="http://schemas.openxmlformats.org/officeDocument/2006/relationships/slide" Target="slide22.xml"/><Relationship Id="rId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 Id="rId4" Type="http://schemas.openxmlformats.org/officeDocument/2006/relationships/slide" Target="slide2.xml"/><Relationship Id="rId5" Type="http://schemas.openxmlformats.org/officeDocument/2006/relationships/slide" Target="slide23.xml"/><Relationship Id="rId6"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notesSlide" Target="../notesSlides/notesSlide19.xml"/><Relationship Id="rId6" Type="http://schemas.openxmlformats.org/officeDocument/2006/relationships/slide" Target="slide2.xml"/><Relationship Id="rId7" Type="http://schemas.openxmlformats.org/officeDocument/2006/relationships/slide" Target="slide24.xml"/><Relationship Id="rId8"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 Id="rId4" Type="http://schemas.openxmlformats.org/officeDocument/2006/relationships/slide" Target="slide2.xml"/><Relationship Id="rId5" Type="http://schemas.openxmlformats.org/officeDocument/2006/relationships/slide" Target="slide25.xml"/><Relationship Id="rId6"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26.xml"/><Relationship Id="rId5" Type="http://schemas.openxmlformats.org/officeDocument/2006/relationships/slide" Target="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 Id="rId4" Type="http://schemas.openxmlformats.org/officeDocument/2006/relationships/slide" Target="slide2.xml"/><Relationship Id="rId5" Type="http://schemas.openxmlformats.org/officeDocument/2006/relationships/slide" Target="slide27.xml"/><Relationship Id="rId6" Type="http://schemas.openxmlformats.org/officeDocument/2006/relationships/slide" Target="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6.xml"/><Relationship Id="rId4" Type="http://schemas.openxmlformats.org/officeDocument/2006/relationships/chart" Target="../charts/chart17.xml"/><Relationship Id="rId5" Type="http://schemas.openxmlformats.org/officeDocument/2006/relationships/notesSlide" Target="../notesSlides/notesSlide22.xml"/><Relationship Id="rId6" Type="http://schemas.openxmlformats.org/officeDocument/2006/relationships/slide" Target="slide2.xml"/><Relationship Id="rId7" Type="http://schemas.openxmlformats.org/officeDocument/2006/relationships/slide" Target="slide28.xml"/><Relationship Id="rId8" Type="http://schemas.openxmlformats.org/officeDocument/2006/relationships/slide" Target="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8.xml"/><Relationship Id="rId4" Type="http://schemas.openxmlformats.org/officeDocument/2006/relationships/chart" Target="../charts/chart19.xml"/><Relationship Id="rId5" Type="http://schemas.openxmlformats.org/officeDocument/2006/relationships/chart" Target="../charts/chart20.xml"/><Relationship Id="rId6" Type="http://schemas.openxmlformats.org/officeDocument/2006/relationships/notesSlide" Target="../notesSlides/notesSlide23.xml"/><Relationship Id="rId7" Type="http://schemas.openxmlformats.org/officeDocument/2006/relationships/slide" Target="slide2.xml"/><Relationship Id="rId8" Type="http://schemas.openxmlformats.org/officeDocument/2006/relationships/slide" Target="slide29.xml"/><Relationship Id="rId9" Type="http://schemas.openxmlformats.org/officeDocument/2006/relationships/slide" Target="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 Id="rId4" Type="http://schemas.openxmlformats.org/officeDocument/2006/relationships/slide" Target="slide2.xml"/><Relationship Id="rId5" Type="http://schemas.openxmlformats.org/officeDocument/2006/relationships/slide" Target="slide30.xml"/><Relationship Id="rId6"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 Id="rId4" Type="http://schemas.openxmlformats.org/officeDocument/2006/relationships/slide" Target="slide2.xml"/><Relationship Id="rId5" Type="http://schemas.openxmlformats.org/officeDocument/2006/relationships/slide" Target="slide31.xml"/><Relationship Id="rId6"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1.xml"/><Relationship Id="rId4" Type="http://schemas.openxmlformats.org/officeDocument/2006/relationships/notesSlide" Target="../notesSlides/notesSlide26.xml"/><Relationship Id="rId5" Type="http://schemas.openxmlformats.org/officeDocument/2006/relationships/slide" Target="slide2.xml"/><Relationship Id="rId6" Type="http://schemas.openxmlformats.org/officeDocument/2006/relationships/slide" Target="slide32.xml"/><Relationship Id="rId7"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 Id="rId4" Type="http://schemas.openxmlformats.org/officeDocument/2006/relationships/slide" Target="slide2.xml"/><Relationship Id="rId5" Type="http://schemas.openxmlformats.org/officeDocument/2006/relationships/slide" Target="slide33.xml"/><Relationship Id="rId6"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 Id="rId4" Type="http://schemas.openxmlformats.org/officeDocument/2006/relationships/slide" Target="slide2.xml"/><Relationship Id="rId5" Type="http://schemas.openxmlformats.org/officeDocument/2006/relationships/slide" Target="slide34.xml"/><Relationship Id="rId6" Type="http://schemas.openxmlformats.org/officeDocument/2006/relationships/slide" Target="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35.xml"/><Relationship Id="rId5"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 Id="rId4" Type="http://schemas.openxmlformats.org/officeDocument/2006/relationships/slide" Target="slide2.xml"/><Relationship Id="rId5" Type="http://schemas.openxmlformats.org/officeDocument/2006/relationships/slide" Target="slide36.xml"/><Relationship Id="rId6"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2.xml"/><Relationship Id="rId4" Type="http://schemas.openxmlformats.org/officeDocument/2006/relationships/chart" Target="../charts/chart23.xml"/><Relationship Id="rId5" Type="http://schemas.openxmlformats.org/officeDocument/2006/relationships/notesSlide" Target="../notesSlides/notesSlide30.xml"/><Relationship Id="rId6" Type="http://schemas.openxmlformats.org/officeDocument/2006/relationships/slide" Target="slide2.xml"/><Relationship Id="rId7" Type="http://schemas.openxmlformats.org/officeDocument/2006/relationships/slide" Target="slide37.xml"/><Relationship Id="rId8" Type="http://schemas.openxmlformats.org/officeDocument/2006/relationships/slide" Target="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4.xml"/><Relationship Id="rId4" Type="http://schemas.openxmlformats.org/officeDocument/2006/relationships/chart" Target="../charts/chart25.xml"/><Relationship Id="rId5" Type="http://schemas.openxmlformats.org/officeDocument/2006/relationships/chart" Target="../charts/chart26.xml"/><Relationship Id="rId6" Type="http://schemas.openxmlformats.org/officeDocument/2006/relationships/notesSlide" Target="../notesSlides/notesSlide31.xml"/><Relationship Id="rId7" Type="http://schemas.openxmlformats.org/officeDocument/2006/relationships/slide" Target="slide2.xml"/><Relationship Id="rId8" Type="http://schemas.openxmlformats.org/officeDocument/2006/relationships/slide" Target="slide38.xml"/><Relationship Id="rId9" Type="http://schemas.openxmlformats.org/officeDocument/2006/relationships/slide" Target="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 Id="rId4" Type="http://schemas.openxmlformats.org/officeDocument/2006/relationships/slide" Target="slide2.xml"/><Relationship Id="rId5" Type="http://schemas.openxmlformats.org/officeDocument/2006/relationships/slide" Target="slide39.xml"/><Relationship Id="rId6" Type="http://schemas.openxmlformats.org/officeDocument/2006/relationships/slide" Target="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 Id="rId4" Type="http://schemas.openxmlformats.org/officeDocument/2006/relationships/slide" Target="slide2.xml"/><Relationship Id="rId5" Type="http://schemas.openxmlformats.org/officeDocument/2006/relationships/slide" Target="slide40.xml"/><Relationship Id="rId6" Type="http://schemas.openxmlformats.org/officeDocument/2006/relationships/slide" Target="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7.xml"/><Relationship Id="rId4" Type="http://schemas.openxmlformats.org/officeDocument/2006/relationships/notesSlide" Target="../notesSlides/notesSlide34.xml"/><Relationship Id="rId5" Type="http://schemas.openxmlformats.org/officeDocument/2006/relationships/slide" Target="slide2.xml"/><Relationship Id="rId6" Type="http://schemas.openxmlformats.org/officeDocument/2006/relationships/slide" Target="slide41.xml"/><Relationship Id="rId7" Type="http://schemas.openxmlformats.org/officeDocument/2006/relationships/slide" Target="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 Id="rId4" Type="http://schemas.openxmlformats.org/officeDocument/2006/relationships/slide" Target="slide2.xml"/><Relationship Id="rId5" Type="http://schemas.openxmlformats.org/officeDocument/2006/relationships/slide" Target="slide42.xml"/><Relationship Id="rId6"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 Id="rId4" Type="http://schemas.openxmlformats.org/officeDocument/2006/relationships/slide" Target="slide2.xml"/><Relationship Id="rId5" Type="http://schemas.openxmlformats.org/officeDocument/2006/relationships/slide" Target="slide43.xml"/><Relationship Id="rId6" Type="http://schemas.openxmlformats.org/officeDocument/2006/relationships/slide" Target="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44.xml"/><Relationship Id="rId5"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 Id="rId4" Type="http://schemas.openxmlformats.org/officeDocument/2006/relationships/slide" Target="slide2.xml"/><Relationship Id="rId5" Type="http://schemas.openxmlformats.org/officeDocument/2006/relationships/slide" Target="slide45.xml"/><Relationship Id="rId6"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8.xml"/><Relationship Id="rId4" Type="http://schemas.openxmlformats.org/officeDocument/2006/relationships/chart" Target="../charts/chart29.xml"/><Relationship Id="rId5" Type="http://schemas.openxmlformats.org/officeDocument/2006/relationships/notesSlide" Target="../notesSlides/notesSlide38.xml"/><Relationship Id="rId6" Type="http://schemas.openxmlformats.org/officeDocument/2006/relationships/slide" Target="slide2.xml"/><Relationship Id="rId7" Type="http://schemas.openxmlformats.org/officeDocument/2006/relationships/slide" Target="slide46.xml"/><Relationship Id="rId8" Type="http://schemas.openxmlformats.org/officeDocument/2006/relationships/slide" Target="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0.xml"/><Relationship Id="rId4" Type="http://schemas.openxmlformats.org/officeDocument/2006/relationships/chart" Target="../charts/chart31.xml"/><Relationship Id="rId5" Type="http://schemas.openxmlformats.org/officeDocument/2006/relationships/chart" Target="../charts/chart32.xml"/><Relationship Id="rId6" Type="http://schemas.openxmlformats.org/officeDocument/2006/relationships/notesSlide" Target="../notesSlides/notesSlide39.xml"/><Relationship Id="rId7" Type="http://schemas.openxmlformats.org/officeDocument/2006/relationships/slide" Target="slide2.xml"/><Relationship Id="rId8" Type="http://schemas.openxmlformats.org/officeDocument/2006/relationships/slide" Target="slide47.xml"/><Relationship Id="rId9" Type="http://schemas.openxmlformats.org/officeDocument/2006/relationships/slide" Target="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 Id="rId4" Type="http://schemas.openxmlformats.org/officeDocument/2006/relationships/slide" Target="slide2.xml"/><Relationship Id="rId5" Type="http://schemas.openxmlformats.org/officeDocument/2006/relationships/slide" Target="slide48.xml"/><Relationship Id="rId6" Type="http://schemas.openxmlformats.org/officeDocument/2006/relationships/slide" Target="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 Id="rId4" Type="http://schemas.openxmlformats.org/officeDocument/2006/relationships/slide" Target="slide2.xml"/><Relationship Id="rId5" Type="http://schemas.openxmlformats.org/officeDocument/2006/relationships/slide" Target="slide49.xml"/><Relationship Id="rId6" Type="http://schemas.openxmlformats.org/officeDocument/2006/relationships/slide" Target="slide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3.xml"/><Relationship Id="rId4" Type="http://schemas.openxmlformats.org/officeDocument/2006/relationships/notesSlide" Target="../notesSlides/notesSlide42.xml"/><Relationship Id="rId5" Type="http://schemas.openxmlformats.org/officeDocument/2006/relationships/slide" Target="slide2.xml"/><Relationship Id="rId6" Type="http://schemas.openxmlformats.org/officeDocument/2006/relationships/slide" Target="slide50.xml"/><Relationship Id="rId7" Type="http://schemas.openxmlformats.org/officeDocument/2006/relationships/slide" Target="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 Id="rId4" Type="http://schemas.openxmlformats.org/officeDocument/2006/relationships/slide" Target="slide2.xml"/><Relationship Id="rId5" Type="http://schemas.openxmlformats.org/officeDocument/2006/relationships/slide" Target="slide51.xml"/><Relationship Id="rId6" Type="http://schemas.openxmlformats.org/officeDocument/2006/relationships/slide" Target="slide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 Id="rId4" Type="http://schemas.openxmlformats.org/officeDocument/2006/relationships/slide" Target="slide2.xml"/><Relationship Id="rId5" Type="http://schemas.openxmlformats.org/officeDocument/2006/relationships/slide" Target="slide52.xml"/><Relationship Id="rId6" Type="http://schemas.openxmlformats.org/officeDocument/2006/relationships/slide" Target="slide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53.xml"/><Relationship Id="rId5" Type="http://schemas.openxmlformats.org/officeDocument/2006/relationships/slide" Target="slide5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 Id="rId4" Type="http://schemas.openxmlformats.org/officeDocument/2006/relationships/slide" Target="slide2.xml"/><Relationship Id="rId5" Type="http://schemas.openxmlformats.org/officeDocument/2006/relationships/slide" Target="slide54.xml"/><Relationship Id="rId6" Type="http://schemas.openxmlformats.org/officeDocument/2006/relationships/slide" Target="slide5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4.xml"/><Relationship Id="rId4" Type="http://schemas.openxmlformats.org/officeDocument/2006/relationships/chart" Target="../charts/chart35.xml"/><Relationship Id="rId5" Type="http://schemas.openxmlformats.org/officeDocument/2006/relationships/notesSlide" Target="../notesSlides/notesSlide46.xml"/><Relationship Id="rId6" Type="http://schemas.openxmlformats.org/officeDocument/2006/relationships/slide" Target="slide2.xml"/><Relationship Id="rId7" Type="http://schemas.openxmlformats.org/officeDocument/2006/relationships/slide" Target="slide55.xml"/><Relationship Id="rId8" Type="http://schemas.openxmlformats.org/officeDocument/2006/relationships/slide" Target="slide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6.xml"/><Relationship Id="rId4" Type="http://schemas.openxmlformats.org/officeDocument/2006/relationships/chart" Target="../charts/chart37.xml"/><Relationship Id="rId5" Type="http://schemas.openxmlformats.org/officeDocument/2006/relationships/chart" Target="../charts/chart38.xml"/><Relationship Id="rId6" Type="http://schemas.openxmlformats.org/officeDocument/2006/relationships/notesSlide" Target="../notesSlides/notesSlide47.xml"/><Relationship Id="rId7" Type="http://schemas.openxmlformats.org/officeDocument/2006/relationships/slide" Target="slide2.xml"/><Relationship Id="rId8" Type="http://schemas.openxmlformats.org/officeDocument/2006/relationships/slide" Target="slide56.xml"/><Relationship Id="rId9" Type="http://schemas.openxmlformats.org/officeDocument/2006/relationships/slide" Target="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 Id="rId4" Type="http://schemas.openxmlformats.org/officeDocument/2006/relationships/slide" Target="slide2.xml"/><Relationship Id="rId5" Type="http://schemas.openxmlformats.org/officeDocument/2006/relationships/slide" Target="slide57.xml"/><Relationship Id="rId6" Type="http://schemas.openxmlformats.org/officeDocument/2006/relationships/slide" Target="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 Id="rId4" Type="http://schemas.openxmlformats.org/officeDocument/2006/relationships/slide" Target="slide2.xml"/><Relationship Id="rId5" Type="http://schemas.openxmlformats.org/officeDocument/2006/relationships/slide" Target="slide58.xml"/><Relationship Id="rId6" Type="http://schemas.openxmlformats.org/officeDocument/2006/relationships/slide" Target="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9.xml"/><Relationship Id="rId4" Type="http://schemas.openxmlformats.org/officeDocument/2006/relationships/notesSlide" Target="../notesSlides/notesSlide50.xml"/><Relationship Id="rId5" Type="http://schemas.openxmlformats.org/officeDocument/2006/relationships/slide" Target="slide2.xml"/><Relationship Id="rId6" Type="http://schemas.openxmlformats.org/officeDocument/2006/relationships/slide" Target="slide59.xml"/><Relationship Id="rId7" Type="http://schemas.openxmlformats.org/officeDocument/2006/relationships/slide" Target="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 Id="rId4" Type="http://schemas.openxmlformats.org/officeDocument/2006/relationships/slide" Target="slide2.xml"/><Relationship Id="rId5" Type="http://schemas.openxmlformats.org/officeDocument/2006/relationships/slide" Target="slide60.xml"/><Relationship Id="rId6" Type="http://schemas.openxmlformats.org/officeDocument/2006/relationships/slide" Target="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 Id="rId4" Type="http://schemas.openxmlformats.org/officeDocument/2006/relationships/slide" Target="slide2.xml"/><Relationship Id="rId5" Type="http://schemas.openxmlformats.org/officeDocument/2006/relationships/slide" Target="slide61.xml"/><Relationship Id="rId6" Type="http://schemas.openxmlformats.org/officeDocument/2006/relationships/slide" Target="slide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62.xml"/><Relationship Id="rId5" Type="http://schemas.openxmlformats.org/officeDocument/2006/relationships/slide" Target="slide6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 Id="rId4" Type="http://schemas.openxmlformats.org/officeDocument/2006/relationships/slide" Target="slide2.xml"/><Relationship Id="rId5" Type="http://schemas.openxmlformats.org/officeDocument/2006/relationships/slide" Target="slide63.xml"/><Relationship Id="rId6" Type="http://schemas.openxmlformats.org/officeDocument/2006/relationships/slide" Target="slide6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0.xml"/><Relationship Id="rId4" Type="http://schemas.openxmlformats.org/officeDocument/2006/relationships/chart" Target="../charts/chart41.xml"/><Relationship Id="rId5" Type="http://schemas.openxmlformats.org/officeDocument/2006/relationships/notesSlide" Target="../notesSlides/notesSlide54.xml"/><Relationship Id="rId6" Type="http://schemas.openxmlformats.org/officeDocument/2006/relationships/slide" Target="slide2.xml"/><Relationship Id="rId7" Type="http://schemas.openxmlformats.org/officeDocument/2006/relationships/slide" Target="slide64.xml"/><Relationship Id="rId8" Type="http://schemas.openxmlformats.org/officeDocument/2006/relationships/slide" Target="slide6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2.xml"/><Relationship Id="rId4" Type="http://schemas.openxmlformats.org/officeDocument/2006/relationships/chart" Target="../charts/chart43.xml"/><Relationship Id="rId5" Type="http://schemas.openxmlformats.org/officeDocument/2006/relationships/chart" Target="../charts/chart44.xml"/><Relationship Id="rId6" Type="http://schemas.openxmlformats.org/officeDocument/2006/relationships/notesSlide" Target="../notesSlides/notesSlide55.xml"/><Relationship Id="rId7" Type="http://schemas.openxmlformats.org/officeDocument/2006/relationships/slide" Target="slide2.xml"/><Relationship Id="rId8" Type="http://schemas.openxmlformats.org/officeDocument/2006/relationships/slide" Target="slide65.xml"/><Relationship Id="rId9" Type="http://schemas.openxmlformats.org/officeDocument/2006/relationships/slide" Target="slide6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 Id="rId4" Type="http://schemas.openxmlformats.org/officeDocument/2006/relationships/slide" Target="slide2.xml"/><Relationship Id="rId5" Type="http://schemas.openxmlformats.org/officeDocument/2006/relationships/slide" Target="slide66.xml"/><Relationship Id="rId6" Type="http://schemas.openxmlformats.org/officeDocument/2006/relationships/slide" Target="slide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 Id="rId4" Type="http://schemas.openxmlformats.org/officeDocument/2006/relationships/slide" Target="slide2.xml"/><Relationship Id="rId5" Type="http://schemas.openxmlformats.org/officeDocument/2006/relationships/slide" Target="slide67.xml"/><Relationship Id="rId6" Type="http://schemas.openxmlformats.org/officeDocument/2006/relationships/slide" Target="slide6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5.xml"/><Relationship Id="rId4" Type="http://schemas.openxmlformats.org/officeDocument/2006/relationships/notesSlide" Target="../notesSlides/notesSlide58.xml"/><Relationship Id="rId5" Type="http://schemas.openxmlformats.org/officeDocument/2006/relationships/slide" Target="slide2.xml"/><Relationship Id="rId6" Type="http://schemas.openxmlformats.org/officeDocument/2006/relationships/slide" Target="slide68.xml"/><Relationship Id="rId7" Type="http://schemas.openxmlformats.org/officeDocument/2006/relationships/slide" Target="slide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 Id="rId4" Type="http://schemas.openxmlformats.org/officeDocument/2006/relationships/slide" Target="slide2.xml"/><Relationship Id="rId5" Type="http://schemas.openxmlformats.org/officeDocument/2006/relationships/slide" Target="slide69.xml"/><Relationship Id="rId6" Type="http://schemas.openxmlformats.org/officeDocument/2006/relationships/slide" Target="slide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 Id="rId4" Type="http://schemas.openxmlformats.org/officeDocument/2006/relationships/slide" Target="slide2.xml"/><Relationship Id="rId5" Type="http://schemas.openxmlformats.org/officeDocument/2006/relationships/slide" Target="slide70.xml"/><Relationship Id="rId6" Type="http://schemas.openxmlformats.org/officeDocument/2006/relationships/slide" Target="slide7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71.xml"/><Relationship Id="rId5" Type="http://schemas.openxmlformats.org/officeDocument/2006/relationships/slide" Target="slide7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 Id="rId4" Type="http://schemas.openxmlformats.org/officeDocument/2006/relationships/slide" Target="slide2.xml"/><Relationship Id="rId5" Type="http://schemas.openxmlformats.org/officeDocument/2006/relationships/slide" Target="slide72.xml"/><Relationship Id="rId6" Type="http://schemas.openxmlformats.org/officeDocument/2006/relationships/slide" Target="slide7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6.xml"/><Relationship Id="rId4" Type="http://schemas.openxmlformats.org/officeDocument/2006/relationships/chart" Target="../charts/chart47.xml"/><Relationship Id="rId5" Type="http://schemas.openxmlformats.org/officeDocument/2006/relationships/notesSlide" Target="../notesSlides/notesSlide62.xml"/><Relationship Id="rId6" Type="http://schemas.openxmlformats.org/officeDocument/2006/relationships/slide" Target="slide2.xml"/><Relationship Id="rId7" Type="http://schemas.openxmlformats.org/officeDocument/2006/relationships/slide" Target="slide73.xml"/><Relationship Id="rId8" Type="http://schemas.openxmlformats.org/officeDocument/2006/relationships/slide" Target="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48.xml"/><Relationship Id="rId4" Type="http://schemas.openxmlformats.org/officeDocument/2006/relationships/chart" Target="../charts/chart49.xml"/><Relationship Id="rId5" Type="http://schemas.openxmlformats.org/officeDocument/2006/relationships/chart" Target="../charts/chart50.xml"/><Relationship Id="rId6" Type="http://schemas.openxmlformats.org/officeDocument/2006/relationships/notesSlide" Target="../notesSlides/notesSlide63.xml"/><Relationship Id="rId7" Type="http://schemas.openxmlformats.org/officeDocument/2006/relationships/slide" Target="slide2.xml"/><Relationship Id="rId8" Type="http://schemas.openxmlformats.org/officeDocument/2006/relationships/slide" Target="slide74.xml"/><Relationship Id="rId9" Type="http://schemas.openxmlformats.org/officeDocument/2006/relationships/slide" Target="slide7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 Id="rId4" Type="http://schemas.openxmlformats.org/officeDocument/2006/relationships/slide" Target="slide2.xml"/><Relationship Id="rId5" Type="http://schemas.openxmlformats.org/officeDocument/2006/relationships/slide" Target="slide75.xml"/><Relationship Id="rId6" Type="http://schemas.openxmlformats.org/officeDocument/2006/relationships/slide" Target="slide7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 Id="rId4" Type="http://schemas.openxmlformats.org/officeDocument/2006/relationships/slide" Target="slide2.xml"/><Relationship Id="rId5" Type="http://schemas.openxmlformats.org/officeDocument/2006/relationships/slide" Target="slide76.xml"/><Relationship Id="rId6" Type="http://schemas.openxmlformats.org/officeDocument/2006/relationships/slide" Target="slide7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1.xml"/><Relationship Id="rId4" Type="http://schemas.openxmlformats.org/officeDocument/2006/relationships/notesSlide" Target="../notesSlides/notesSlide66.xml"/><Relationship Id="rId5" Type="http://schemas.openxmlformats.org/officeDocument/2006/relationships/slide" Target="slide2.xml"/><Relationship Id="rId6" Type="http://schemas.openxmlformats.org/officeDocument/2006/relationships/slide" Target="slide77.xml"/><Relationship Id="rId7" Type="http://schemas.openxmlformats.org/officeDocument/2006/relationships/slide" Target="slide7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 Id="rId4" Type="http://schemas.openxmlformats.org/officeDocument/2006/relationships/slide" Target="slide2.xml"/><Relationship Id="rId5" Type="http://schemas.openxmlformats.org/officeDocument/2006/relationships/slide" Target="slide78.xml"/><Relationship Id="rId6" Type="http://schemas.openxmlformats.org/officeDocument/2006/relationships/slide" Target="slide8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 Id="rId4" Type="http://schemas.openxmlformats.org/officeDocument/2006/relationships/slide" Target="slide2.xml"/><Relationship Id="rId5" Type="http://schemas.openxmlformats.org/officeDocument/2006/relationships/slide" Target="slide79.xml"/><Relationship Id="rId6" Type="http://schemas.openxmlformats.org/officeDocument/2006/relationships/slide" Target="slide8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80.xml"/><Relationship Id="rId5" Type="http://schemas.openxmlformats.org/officeDocument/2006/relationships/slide" Target="slide8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 Id="rId4" Type="http://schemas.openxmlformats.org/officeDocument/2006/relationships/slide" Target="slide2.xml"/><Relationship Id="rId5" Type="http://schemas.openxmlformats.org/officeDocument/2006/relationships/slide" Target="slide81.xml"/><Relationship Id="rId6" Type="http://schemas.openxmlformats.org/officeDocument/2006/relationships/slide" Target="slide8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 Id="rId4" Type="http://schemas.openxmlformats.org/officeDocument/2006/relationships/slide" Target="slide2.xml"/><Relationship Id="rId5" Type="http://schemas.openxmlformats.org/officeDocument/2006/relationships/slide" Target="slide82.xml"/><Relationship Id="rId6" Type="http://schemas.openxmlformats.org/officeDocument/2006/relationships/slide" Target="slide8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 Id="rId4" Type="http://schemas.openxmlformats.org/officeDocument/2006/relationships/slide" Target="slide2.xml"/><Relationship Id="rId5" Type="http://schemas.openxmlformats.org/officeDocument/2006/relationships/slide" Target="slide83.xml"/><Relationship Id="rId6" Type="http://schemas.openxmlformats.org/officeDocument/2006/relationships/slide" Target="slide8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 Id="rId4" Type="http://schemas.openxmlformats.org/officeDocument/2006/relationships/slide" Target="slide2.xml"/><Relationship Id="rId5" Type="http://schemas.openxmlformats.org/officeDocument/2006/relationships/slide" Target="slide84.xml"/><Relationship Id="rId6" Type="http://schemas.openxmlformats.org/officeDocument/2006/relationships/slide" Target="slide8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 Id="rId4" Type="http://schemas.openxmlformats.org/officeDocument/2006/relationships/slide" Target="slide2.xml"/><Relationship Id="rId5" Type="http://schemas.openxmlformats.org/officeDocument/2006/relationships/slide" Target="slide85.xml"/><Relationship Id="rId6" Type="http://schemas.openxmlformats.org/officeDocument/2006/relationships/slide" Target="slide8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 Id="rId4" Type="http://schemas.openxmlformats.org/officeDocument/2006/relationships/slide" Target="slide2.xml"/><Relationship Id="rId5" Type="http://schemas.openxmlformats.org/officeDocument/2006/relationships/slide" Target="slide86.xml"/><Relationship Id="rId6" Type="http://schemas.openxmlformats.org/officeDocument/2006/relationships/slide" Target="slide8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 Id="rId4" Type="http://schemas.openxmlformats.org/officeDocument/2006/relationships/slide" Target="slide2.xml"/><Relationship Id="rId5" Type="http://schemas.openxmlformats.org/officeDocument/2006/relationships/slide" Target="slide87.xml"/><Relationship Id="rId6" Type="http://schemas.openxmlformats.org/officeDocument/2006/relationships/slide" Target="slide8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 Id="rId4" Type="http://schemas.openxmlformats.org/officeDocument/2006/relationships/slide" Target="slide2.xml"/><Relationship Id="rId5" Type="http://schemas.openxmlformats.org/officeDocument/2006/relationships/slide" Target="slide88.xml"/><Relationship Id="rId6" Type="http://schemas.openxmlformats.org/officeDocument/2006/relationships/slide" Target="slide9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 Id="rId4" Type="http://schemas.openxmlformats.org/officeDocument/2006/relationships/slide" Target="slide2.xml"/><Relationship Id="rId5" Type="http://schemas.openxmlformats.org/officeDocument/2006/relationships/slide" Target="slide89.xml"/><Relationship Id="rId6" Type="http://schemas.openxmlformats.org/officeDocument/2006/relationships/slide" Target="slide9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 Id="rId4" Type="http://schemas.openxmlformats.org/officeDocument/2006/relationships/slide" Target="slide2.xml"/><Relationship Id="rId5" Type="http://schemas.openxmlformats.org/officeDocument/2006/relationships/slide" Target="slide90.xml"/><Relationship Id="rId6" Type="http://schemas.openxmlformats.org/officeDocument/2006/relationships/slide" Target="slide9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91.xml"/><Relationship Id="rId5" Type="http://schemas.openxmlformats.org/officeDocument/2006/relationships/slide" Target="slide9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 Id="rId4" Type="http://schemas.openxmlformats.org/officeDocument/2006/relationships/slide" Target="slide2.xml"/><Relationship Id="rId5" Type="http://schemas.openxmlformats.org/officeDocument/2006/relationships/slide" Target="slide92.xml"/><Relationship Id="rId6" Type="http://schemas.openxmlformats.org/officeDocument/2006/relationships/slide" Target="slide9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 Id="rId4" Type="http://schemas.openxmlformats.org/officeDocument/2006/relationships/slide" Target="slide2.xml"/><Relationship Id="rId5" Type="http://schemas.openxmlformats.org/officeDocument/2006/relationships/slide" Target="slide93.xml"/><Relationship Id="rId6" Type="http://schemas.openxmlformats.org/officeDocument/2006/relationships/slide" Target="slide9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 Id="rId4" Type="http://schemas.openxmlformats.org/officeDocument/2006/relationships/slide" Target="slide2.xml"/><Relationship Id="rId5" Type="http://schemas.openxmlformats.org/officeDocument/2006/relationships/slide" Target="slide94.xml"/><Relationship Id="rId6" Type="http://schemas.openxmlformats.org/officeDocument/2006/relationships/slide" Target="slide9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95.xml"/><Relationship Id="rId5" Type="http://schemas.openxmlformats.org/officeDocument/2006/relationships/slide" Target="slide9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2.xml"/><Relationship Id="rId4" Type="http://schemas.openxmlformats.org/officeDocument/2006/relationships/chart" Target="../charts/chart53.xml"/><Relationship Id="rId5" Type="http://schemas.openxmlformats.org/officeDocument/2006/relationships/chart" Target="../charts/chart54.xml"/><Relationship Id="rId6" Type="http://schemas.openxmlformats.org/officeDocument/2006/relationships/chart" Target="../charts/chart55.xml"/><Relationship Id="rId7" Type="http://schemas.openxmlformats.org/officeDocument/2006/relationships/notesSlide" Target="../notesSlides/notesSlide82.xml"/><Relationship Id="rId8" Type="http://schemas.openxmlformats.org/officeDocument/2006/relationships/slide" Target="slide2.xml"/><Relationship Id="rId9" Type="http://schemas.openxmlformats.org/officeDocument/2006/relationships/slide" Target="slide96.xml"/><Relationship Id="rId10" Type="http://schemas.openxmlformats.org/officeDocument/2006/relationships/slide" Target="slide9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56.xml"/><Relationship Id="rId4" Type="http://schemas.openxmlformats.org/officeDocument/2006/relationships/chart" Target="../charts/chart57.xml"/><Relationship Id="rId5" Type="http://schemas.openxmlformats.org/officeDocument/2006/relationships/chart" Target="../charts/chart58.xml"/><Relationship Id="rId6" Type="http://schemas.openxmlformats.org/officeDocument/2006/relationships/chart" Target="../charts/chart59.xml"/><Relationship Id="rId7" Type="http://schemas.openxmlformats.org/officeDocument/2006/relationships/notesSlide" Target="../notesSlides/notesSlide83.xml"/><Relationship Id="rId8" Type="http://schemas.openxmlformats.org/officeDocument/2006/relationships/slide" Target="slide2.xml"/><Relationship Id="rId9" Type="http://schemas.openxmlformats.org/officeDocument/2006/relationships/slide" Target="slide97.xml"/><Relationship Id="rId10" Type="http://schemas.openxmlformats.org/officeDocument/2006/relationships/slide" Target="slide9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0.xml"/><Relationship Id="rId4" Type="http://schemas.openxmlformats.org/officeDocument/2006/relationships/chart" Target="../charts/chart61.xml"/><Relationship Id="rId5" Type="http://schemas.openxmlformats.org/officeDocument/2006/relationships/chart" Target="../charts/chart62.xml"/><Relationship Id="rId6" Type="http://schemas.openxmlformats.org/officeDocument/2006/relationships/chart" Target="../charts/chart63.xml"/><Relationship Id="rId7" Type="http://schemas.openxmlformats.org/officeDocument/2006/relationships/chart" Target="../charts/chart64.xml"/><Relationship Id="rId8" Type="http://schemas.openxmlformats.org/officeDocument/2006/relationships/chart" Target="../charts/chart65.xml"/><Relationship Id="rId9" Type="http://schemas.openxmlformats.org/officeDocument/2006/relationships/notesSlide" Target="../notesSlides/notesSlide84.xml"/><Relationship Id="rId10" Type="http://schemas.openxmlformats.org/officeDocument/2006/relationships/slide" Target="slide2.xml"/><Relationship Id="rId11" Type="http://schemas.openxmlformats.org/officeDocument/2006/relationships/slide" Target="slide98.xml"/><Relationship Id="rId12" Type="http://schemas.openxmlformats.org/officeDocument/2006/relationships/slide" Target="slide10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 Id="rId4" Type="http://schemas.openxmlformats.org/officeDocument/2006/relationships/slide" Target="slide2.xml"/><Relationship Id="rId5" Type="http://schemas.openxmlformats.org/officeDocument/2006/relationships/slide" Target="slide99.xml"/><Relationship Id="rId6" Type="http://schemas.openxmlformats.org/officeDocument/2006/relationships/slide" Target="slide10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00.xml"/><Relationship Id="rId5" Type="http://schemas.openxmlformats.org/officeDocument/2006/relationships/slide" Target="slide10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6.xml"/><Relationship Id="rId4" Type="http://schemas.openxmlformats.org/officeDocument/2006/relationships/chart" Target="../charts/chart67.xml"/><Relationship Id="rId5" Type="http://schemas.openxmlformats.org/officeDocument/2006/relationships/notesSlide" Target="../notesSlides/notesSlide86.xml"/><Relationship Id="rId6" Type="http://schemas.openxmlformats.org/officeDocument/2006/relationships/slide" Target="slide2.xml"/><Relationship Id="rId7" Type="http://schemas.openxmlformats.org/officeDocument/2006/relationships/slide" Target="slide101.xml"/><Relationship Id="rId8" Type="http://schemas.openxmlformats.org/officeDocument/2006/relationships/slide" Target="slide10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 Id="rId4" Type="http://schemas.openxmlformats.org/officeDocument/2006/relationships/slide" Target="slide2.xml"/><Relationship Id="rId5" Type="http://schemas.openxmlformats.org/officeDocument/2006/relationships/slide" Target="slide102.xml"/><Relationship Id="rId6" Type="http://schemas.openxmlformats.org/officeDocument/2006/relationships/slide" Target="slide10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 Id="rId4" Type="http://schemas.openxmlformats.org/officeDocument/2006/relationships/slide" Target="slide2.xml"/><Relationship Id="rId5" Type="http://schemas.openxmlformats.org/officeDocument/2006/relationships/slide" Target="slide103.xml"/><Relationship Id="rId6" Type="http://schemas.openxmlformats.org/officeDocument/2006/relationships/slide" Target="slide10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04.xml"/><Relationship Id="rId5" Type="http://schemas.openxmlformats.org/officeDocument/2006/relationships/slide" Target="slide10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68.xml"/><Relationship Id="rId4" Type="http://schemas.openxmlformats.org/officeDocument/2006/relationships/chart" Target="../charts/chart69.xml"/><Relationship Id="rId5" Type="http://schemas.openxmlformats.org/officeDocument/2006/relationships/notesSlide" Target="../notesSlides/notesSlide89.xml"/><Relationship Id="rId6" Type="http://schemas.openxmlformats.org/officeDocument/2006/relationships/slide" Target="slide2.xml"/><Relationship Id="rId7" Type="http://schemas.openxmlformats.org/officeDocument/2006/relationships/slide" Target="slide105.xml"/><Relationship Id="rId8" Type="http://schemas.openxmlformats.org/officeDocument/2006/relationships/slide" Target="slide10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 Id="rId4" Type="http://schemas.openxmlformats.org/officeDocument/2006/relationships/slide" Target="slide2.xml"/><Relationship Id="rId5" Type="http://schemas.openxmlformats.org/officeDocument/2006/relationships/slide" Target="slide106.xml"/><Relationship Id="rId6" Type="http://schemas.openxmlformats.org/officeDocument/2006/relationships/slide" Target="slide10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 Id="rId4" Type="http://schemas.openxmlformats.org/officeDocument/2006/relationships/slide" Target="slide2.xml"/><Relationship Id="rId5" Type="http://schemas.openxmlformats.org/officeDocument/2006/relationships/slide" Target="slide107.xml"/><Relationship Id="rId6" Type="http://schemas.openxmlformats.org/officeDocument/2006/relationships/slide" Target="slide10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 Id="rId4" Type="http://schemas.openxmlformats.org/officeDocument/2006/relationships/slide" Target="slide2.xml"/><Relationship Id="rId5" Type="http://schemas.openxmlformats.org/officeDocument/2006/relationships/slide" Target="slide108.xml"/><Relationship Id="rId6" Type="http://schemas.openxmlformats.org/officeDocument/2006/relationships/slide" Target="slide1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 Id="rId4" Type="http://schemas.openxmlformats.org/officeDocument/2006/relationships/slide" Target="slide2.xml"/><Relationship Id="rId5" Type="http://schemas.openxmlformats.org/officeDocument/2006/relationships/slide" Target="slide109.xml"/><Relationship Id="rId6" Type="http://schemas.openxmlformats.org/officeDocument/2006/relationships/slide" Target="slide11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10.xml"/><Relationship Id="rId5" Type="http://schemas.openxmlformats.org/officeDocument/2006/relationships/slide" Target="slide1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0.xml"/><Relationship Id="rId4" Type="http://schemas.openxmlformats.org/officeDocument/2006/relationships/chart" Target="../charts/chart71.xml"/><Relationship Id="rId5" Type="http://schemas.openxmlformats.org/officeDocument/2006/relationships/notesSlide" Target="../notesSlides/notesSlide94.xml"/><Relationship Id="rId6" Type="http://schemas.openxmlformats.org/officeDocument/2006/relationships/slide" Target="slide2.xml"/><Relationship Id="rId7" Type="http://schemas.openxmlformats.org/officeDocument/2006/relationships/slide" Target="slide111.xml"/><Relationship Id="rId8" Type="http://schemas.openxmlformats.org/officeDocument/2006/relationships/slide" Target="slide1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 Id="rId4" Type="http://schemas.openxmlformats.org/officeDocument/2006/relationships/slide" Target="slide2.xml"/><Relationship Id="rId5" Type="http://schemas.openxmlformats.org/officeDocument/2006/relationships/slide" Target="slide112.xml"/><Relationship Id="rId6" Type="http://schemas.openxmlformats.org/officeDocument/2006/relationships/slide" Target="slide11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 Id="rId4" Type="http://schemas.openxmlformats.org/officeDocument/2006/relationships/slide" Target="slide2.xml"/><Relationship Id="rId5" Type="http://schemas.openxmlformats.org/officeDocument/2006/relationships/slide" Target="slide113.xml"/><Relationship Id="rId6" Type="http://schemas.openxmlformats.org/officeDocument/2006/relationships/slide" Target="slide11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14.xml"/><Relationship Id="rId5" Type="http://schemas.openxmlformats.org/officeDocument/2006/relationships/slide" Target="slide11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2.xml"/><Relationship Id="rId4" Type="http://schemas.openxmlformats.org/officeDocument/2006/relationships/chart" Target="../charts/chart73.xml"/><Relationship Id="rId5" Type="http://schemas.openxmlformats.org/officeDocument/2006/relationships/notesSlide" Target="../notesSlides/notesSlide97.xml"/><Relationship Id="rId6" Type="http://schemas.openxmlformats.org/officeDocument/2006/relationships/slide" Target="slide2.xml"/><Relationship Id="rId7" Type="http://schemas.openxmlformats.org/officeDocument/2006/relationships/slide" Target="slide115.xml"/><Relationship Id="rId8" Type="http://schemas.openxmlformats.org/officeDocument/2006/relationships/slide" Target="slide1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 Id="rId4" Type="http://schemas.openxmlformats.org/officeDocument/2006/relationships/slide" Target="slide2.xml"/><Relationship Id="rId5" Type="http://schemas.openxmlformats.org/officeDocument/2006/relationships/slide" Target="slide116.xml"/><Relationship Id="rId6" Type="http://schemas.openxmlformats.org/officeDocument/2006/relationships/slide" Target="slide11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 Id="rId4" Type="http://schemas.openxmlformats.org/officeDocument/2006/relationships/slide" Target="slide2.xml"/><Relationship Id="rId5" Type="http://schemas.openxmlformats.org/officeDocument/2006/relationships/slide" Target="slide117.xml"/><Relationship Id="rId6" Type="http://schemas.openxmlformats.org/officeDocument/2006/relationships/slide" Target="slide11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18.xml"/><Relationship Id="rId5" Type="http://schemas.openxmlformats.org/officeDocument/2006/relationships/slide" Target="slide12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4.xml"/><Relationship Id="rId4" Type="http://schemas.openxmlformats.org/officeDocument/2006/relationships/chart" Target="../charts/chart75.xml"/><Relationship Id="rId5" Type="http://schemas.openxmlformats.org/officeDocument/2006/relationships/notesSlide" Target="../notesSlides/notesSlide100.xml"/><Relationship Id="rId6" Type="http://schemas.openxmlformats.org/officeDocument/2006/relationships/slide" Target="slide2.xml"/><Relationship Id="rId7" Type="http://schemas.openxmlformats.org/officeDocument/2006/relationships/slide" Target="slide119.xml"/><Relationship Id="rId8" Type="http://schemas.openxmlformats.org/officeDocument/2006/relationships/slide" Target="slide12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 Id="rId4" Type="http://schemas.openxmlformats.org/officeDocument/2006/relationships/slide" Target="slide2.xml"/><Relationship Id="rId5" Type="http://schemas.openxmlformats.org/officeDocument/2006/relationships/slide" Target="slide120.xml"/><Relationship Id="rId6" Type="http://schemas.openxmlformats.org/officeDocument/2006/relationships/slide" Target="slide12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 Id="rId4" Type="http://schemas.openxmlformats.org/officeDocument/2006/relationships/slide" Target="slide2.xml"/><Relationship Id="rId5" Type="http://schemas.openxmlformats.org/officeDocument/2006/relationships/slide" Target="slide121.xml"/><Relationship Id="rId6" Type="http://schemas.openxmlformats.org/officeDocument/2006/relationships/slide" Target="slide12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22.xml"/><Relationship Id="rId5" Type="http://schemas.openxmlformats.org/officeDocument/2006/relationships/slide" Target="slide1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6.xml"/><Relationship Id="rId4" Type="http://schemas.openxmlformats.org/officeDocument/2006/relationships/chart" Target="../charts/chart77.xml"/><Relationship Id="rId5" Type="http://schemas.openxmlformats.org/officeDocument/2006/relationships/notesSlide" Target="../notesSlides/notesSlide103.xml"/><Relationship Id="rId6" Type="http://schemas.openxmlformats.org/officeDocument/2006/relationships/slide" Target="slide2.xml"/><Relationship Id="rId7" Type="http://schemas.openxmlformats.org/officeDocument/2006/relationships/slide" Target="slide123.xml"/><Relationship Id="rId8" Type="http://schemas.openxmlformats.org/officeDocument/2006/relationships/slide" Target="slide1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 Id="rId4" Type="http://schemas.openxmlformats.org/officeDocument/2006/relationships/slide" Target="slide2.xml"/><Relationship Id="rId5" Type="http://schemas.openxmlformats.org/officeDocument/2006/relationships/slide" Target="slide124.xml"/><Relationship Id="rId6" Type="http://schemas.openxmlformats.org/officeDocument/2006/relationships/slide" Target="slide12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 Id="rId4" Type="http://schemas.openxmlformats.org/officeDocument/2006/relationships/slide" Target="slide2.xml"/><Relationship Id="rId5" Type="http://schemas.openxmlformats.org/officeDocument/2006/relationships/slide" Target="slide125.xml"/><Relationship Id="rId6" Type="http://schemas.openxmlformats.org/officeDocument/2006/relationships/slide" Target="slide12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26.xml"/><Relationship Id="rId5" Type="http://schemas.openxmlformats.org/officeDocument/2006/relationships/slide" Target="slide12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 Id="rId4" Type="http://schemas.openxmlformats.org/officeDocument/2006/relationships/slide" Target="slide2.xml"/><Relationship Id="rId5" Type="http://schemas.openxmlformats.org/officeDocument/2006/relationships/slide" Target="slide127.xml"/><Relationship Id="rId6" Type="http://schemas.openxmlformats.org/officeDocument/2006/relationships/slide" Target="slide12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 Id="rId4" Type="http://schemas.openxmlformats.org/officeDocument/2006/relationships/slide" Target="slide2.xml"/><Relationship Id="rId5" Type="http://schemas.openxmlformats.org/officeDocument/2006/relationships/slide" Target="slide128.xml"/><Relationship Id="rId6" Type="http://schemas.openxmlformats.org/officeDocument/2006/relationships/slide" Target="slide13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 Id="rId4" Type="http://schemas.openxmlformats.org/officeDocument/2006/relationships/slide" Target="slide2.xml"/><Relationship Id="rId5" Type="http://schemas.openxmlformats.org/officeDocument/2006/relationships/slide" Target="slide129.xml"/><Relationship Id="rId6" Type="http://schemas.openxmlformats.org/officeDocument/2006/relationships/slide" Target="slide13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30.xml"/><Relationship Id="rId5" Type="http://schemas.openxmlformats.org/officeDocument/2006/relationships/slide" Target="slide13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 Id="rId4" Type="http://schemas.openxmlformats.org/officeDocument/2006/relationships/slide" Target="slide2.xml"/><Relationship Id="rId5" Type="http://schemas.openxmlformats.org/officeDocument/2006/relationships/slide" Target="slide131.xml"/><Relationship Id="rId6" Type="http://schemas.openxmlformats.org/officeDocument/2006/relationships/slide" Target="slide13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 Id="rId4" Type="http://schemas.openxmlformats.org/officeDocument/2006/relationships/slide" Target="slide2.xml"/><Relationship Id="rId5" Type="http://schemas.openxmlformats.org/officeDocument/2006/relationships/slide" Target="slide132.xml"/><Relationship Id="rId6" Type="http://schemas.openxmlformats.org/officeDocument/2006/relationships/slide" Target="slide13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 Id="rId4" Type="http://schemas.openxmlformats.org/officeDocument/2006/relationships/slide" Target="slide2.xml"/><Relationship Id="rId5" Type="http://schemas.openxmlformats.org/officeDocument/2006/relationships/slide" Target="slide133.xml"/><Relationship Id="rId6" Type="http://schemas.openxmlformats.org/officeDocument/2006/relationships/slide" Target="slide13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 Id="rId4" Type="http://schemas.openxmlformats.org/officeDocument/2006/relationships/slide" Target="slide2.xml"/><Relationship Id="rId5" Type="http://schemas.openxmlformats.org/officeDocument/2006/relationships/slide" Target="slide134.xml"/><Relationship Id="rId6" Type="http://schemas.openxmlformats.org/officeDocument/2006/relationships/slide" Target="slide13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 Id="rId4" Type="http://schemas.openxmlformats.org/officeDocument/2006/relationships/slide" Target="slide2.xml"/><Relationship Id="rId5" Type="http://schemas.openxmlformats.org/officeDocument/2006/relationships/slide" Target="slide135.xml"/><Relationship Id="rId6" Type="http://schemas.openxmlformats.org/officeDocument/2006/relationships/slide" Target="slide13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36.xml"/><Relationship Id="rId5" Type="http://schemas.openxmlformats.org/officeDocument/2006/relationships/slide" Target="slide13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 Id="rId4" Type="http://schemas.openxmlformats.org/officeDocument/2006/relationships/slide" Target="slide2.xml"/><Relationship Id="rId5" Type="http://schemas.openxmlformats.org/officeDocument/2006/relationships/slide" Target="slide137.xml"/><Relationship Id="rId6" Type="http://schemas.openxmlformats.org/officeDocument/2006/relationships/slide" Target="slide13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 Id="rId4" Type="http://schemas.openxmlformats.org/officeDocument/2006/relationships/slide" Target="slide2.xml"/><Relationship Id="rId5" Type="http://schemas.openxmlformats.org/officeDocument/2006/relationships/slide" Target="slide138.xml"/><Relationship Id="rId6" Type="http://schemas.openxmlformats.org/officeDocument/2006/relationships/slide" Target="slide14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8.xml"/><Relationship Id="rId4" Type="http://schemas.openxmlformats.org/officeDocument/2006/relationships/notesSlide" Target="../notesSlides/notesSlide116.xml"/><Relationship Id="rId5" Type="http://schemas.openxmlformats.org/officeDocument/2006/relationships/slide" Target="slide2.xml"/><Relationship Id="rId6" Type="http://schemas.openxmlformats.org/officeDocument/2006/relationships/slide" Target="slide139.xml"/><Relationship Id="rId7" Type="http://schemas.openxmlformats.org/officeDocument/2006/relationships/slide" Target="slide14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79.xml"/><Relationship Id="rId4" Type="http://schemas.openxmlformats.org/officeDocument/2006/relationships/chart" Target="../charts/chart80.xml"/><Relationship Id="rId5" Type="http://schemas.openxmlformats.org/officeDocument/2006/relationships/chart" Target="../charts/chart81.xml"/><Relationship Id="rId6" Type="http://schemas.openxmlformats.org/officeDocument/2006/relationships/notesSlide" Target="../notesSlides/notesSlide117.xml"/><Relationship Id="rId7" Type="http://schemas.openxmlformats.org/officeDocument/2006/relationships/slide" Target="slide2.xml"/><Relationship Id="rId8" Type="http://schemas.openxmlformats.org/officeDocument/2006/relationships/slide" Target="slide140.xml"/><Relationship Id="rId9" Type="http://schemas.openxmlformats.org/officeDocument/2006/relationships/slide" Target="slide14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2.xml"/><Relationship Id="rId4" Type="http://schemas.openxmlformats.org/officeDocument/2006/relationships/chart" Target="../charts/chart83.xml"/><Relationship Id="rId5" Type="http://schemas.openxmlformats.org/officeDocument/2006/relationships/chart" Target="../charts/chart84.xml"/><Relationship Id="rId6" Type="http://schemas.openxmlformats.org/officeDocument/2006/relationships/notesSlide" Target="../notesSlides/notesSlide118.xml"/><Relationship Id="rId7" Type="http://schemas.openxmlformats.org/officeDocument/2006/relationships/slide" Target="slide2.xml"/><Relationship Id="rId8" Type="http://schemas.openxmlformats.org/officeDocument/2006/relationships/slide" Target="slide141.xml"/><Relationship Id="rId9" Type="http://schemas.openxmlformats.org/officeDocument/2006/relationships/slide" Target="slide14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 Id="rId4" Type="http://schemas.openxmlformats.org/officeDocument/2006/relationships/slide" Target="slide2.xml"/><Relationship Id="rId5" Type="http://schemas.openxmlformats.org/officeDocument/2006/relationships/slide" Target="slide142.xml"/><Relationship Id="rId6" Type="http://schemas.openxmlformats.org/officeDocument/2006/relationships/slide" Target="slide14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 Id="rId4" Type="http://schemas.openxmlformats.org/officeDocument/2006/relationships/slide" Target="slide2.xml"/><Relationship Id="rId5" Type="http://schemas.openxmlformats.org/officeDocument/2006/relationships/slide" Target="slide143.xml"/><Relationship Id="rId6" Type="http://schemas.openxmlformats.org/officeDocument/2006/relationships/slide" Target="slide14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 Id="rId4" Type="http://schemas.openxmlformats.org/officeDocument/2006/relationships/slide" Target="slide144.xml"/><Relationship Id="rId5" Type="http://schemas.openxmlformats.org/officeDocument/2006/relationships/slide" Target="slide14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5.xml"/><Relationship Id="rId4" Type="http://schemas.openxmlformats.org/officeDocument/2006/relationships/chart" Target="../charts/chart86.xml"/><Relationship Id="rId5" Type="http://schemas.openxmlformats.org/officeDocument/2006/relationships/chart" Target="../charts/chart87.xml"/><Relationship Id="rId6" Type="http://schemas.openxmlformats.org/officeDocument/2006/relationships/notesSlide" Target="../notesSlides/notesSlide121.xml"/><Relationship Id="rId7" Type="http://schemas.openxmlformats.org/officeDocument/2006/relationships/slide" Target="slide2.xml"/><Relationship Id="rId8" Type="http://schemas.openxmlformats.org/officeDocument/2006/relationships/slide" Target="slide145.xml"/><Relationship Id="rId9" Type="http://schemas.openxmlformats.org/officeDocument/2006/relationships/slide" Target="slide14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8.xml"/><Relationship Id="rId4" Type="http://schemas.openxmlformats.org/officeDocument/2006/relationships/notesSlide" Target="../notesSlides/notesSlide122.xml"/><Relationship Id="rId5" Type="http://schemas.openxmlformats.org/officeDocument/2006/relationships/slide" Target="slide2.xml"/><Relationship Id="rId6" Type="http://schemas.openxmlformats.org/officeDocument/2006/relationships/slide" Target="slide146.xml"/><Relationship Id="rId7" Type="http://schemas.openxmlformats.org/officeDocument/2006/relationships/slide" Target="slide14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 Id="rId4" Type="http://schemas.openxmlformats.org/officeDocument/2006/relationships/slide" Target="slide2.xml"/><Relationship Id="rId5" Type="http://schemas.openxmlformats.org/officeDocument/2006/relationships/slide" Target="slide147.xml"/><Relationship Id="rId6" Type="http://schemas.openxmlformats.org/officeDocument/2006/relationships/slide" Target="slide14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 Id="rId4" Type="http://schemas.openxmlformats.org/officeDocument/2006/relationships/slide" Target="slide2.xml"/><Relationship Id="rId5" Type="http://schemas.openxmlformats.org/officeDocument/2006/relationships/slide" Target="slide148.xml"/><Relationship Id="rId6" Type="http://schemas.openxmlformats.org/officeDocument/2006/relationships/slide" Target="slide15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 Id="rId4" Type="http://schemas.openxmlformats.org/officeDocument/2006/relationships/slide" Target="slide2.xml"/><Relationship Id="rId5" Type="http://schemas.openxmlformats.org/officeDocument/2006/relationships/slide" Target="slide149.xml"/><Relationship Id="rId6" Type="http://schemas.openxmlformats.org/officeDocument/2006/relationships/slide" Target="slide15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89.xml"/><Relationship Id="rId4" Type="http://schemas.openxmlformats.org/officeDocument/2006/relationships/chart" Target="../charts/chart90.xml"/><Relationship Id="rId5" Type="http://schemas.openxmlformats.org/officeDocument/2006/relationships/chart" Target="../charts/chart91.xml"/><Relationship Id="rId6" Type="http://schemas.openxmlformats.org/officeDocument/2006/relationships/notesSlide" Target="../notesSlides/notesSlide126.xml"/><Relationship Id="rId7" Type="http://schemas.openxmlformats.org/officeDocument/2006/relationships/slide" Target="slide2.xml"/><Relationship Id="rId8" Type="http://schemas.openxmlformats.org/officeDocument/2006/relationships/slide" Target="slide150.xml"/><Relationship Id="rId9" Type="http://schemas.openxmlformats.org/officeDocument/2006/relationships/slide" Target="slide15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2.xml"/><Relationship Id="rId4" Type="http://schemas.openxmlformats.org/officeDocument/2006/relationships/notesSlide" Target="../notesSlides/notesSlide127.xml"/><Relationship Id="rId5" Type="http://schemas.openxmlformats.org/officeDocument/2006/relationships/slide" Target="slide2.xml"/><Relationship Id="rId6" Type="http://schemas.openxmlformats.org/officeDocument/2006/relationships/slide" Target="slide151.xml"/><Relationship Id="rId7" Type="http://schemas.openxmlformats.org/officeDocument/2006/relationships/slide" Target="slide15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 Id="rId4" Type="http://schemas.openxmlformats.org/officeDocument/2006/relationships/slide" Target="slide2.xml"/><Relationship Id="rId5" Type="http://schemas.openxmlformats.org/officeDocument/2006/relationships/slide" Target="slide152.xml"/><Relationship Id="rId6" Type="http://schemas.openxmlformats.org/officeDocument/2006/relationships/slide" Target="slide154.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 Id="rId4" Type="http://schemas.openxmlformats.org/officeDocument/2006/relationships/slide" Target="slide2.xml"/><Relationship Id="rId5" Type="http://schemas.openxmlformats.org/officeDocument/2006/relationships/slide" Target="slide153.xml"/><Relationship Id="rId6" Type="http://schemas.openxmlformats.org/officeDocument/2006/relationships/slide" Target="slide15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 Id="rId4" Type="http://schemas.openxmlformats.org/officeDocument/2006/relationships/slide" Target="slide2.xml"/><Relationship Id="rId5" Type="http://schemas.openxmlformats.org/officeDocument/2006/relationships/slide" Target="slide154.xml"/><Relationship Id="rId6" Type="http://schemas.openxmlformats.org/officeDocument/2006/relationships/slide" Target="slide156.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3.xml"/><Relationship Id="rId4" Type="http://schemas.openxmlformats.org/officeDocument/2006/relationships/chart" Target="../charts/chart94.xml"/><Relationship Id="rId5" Type="http://schemas.openxmlformats.org/officeDocument/2006/relationships/chart" Target="../charts/chart95.xml"/><Relationship Id="rId6" Type="http://schemas.openxmlformats.org/officeDocument/2006/relationships/notesSlide" Target="../notesSlides/notesSlide131.xml"/><Relationship Id="rId7" Type="http://schemas.openxmlformats.org/officeDocument/2006/relationships/slide" Target="slide2.xml"/><Relationship Id="rId8" Type="http://schemas.openxmlformats.org/officeDocument/2006/relationships/slide" Target="slide155.xml"/><Relationship Id="rId9" Type="http://schemas.openxmlformats.org/officeDocument/2006/relationships/slide" Target="slide15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96.xml"/><Relationship Id="rId4" Type="http://schemas.openxmlformats.org/officeDocument/2006/relationships/notesSlide" Target="../notesSlides/notesSlide132.xml"/><Relationship Id="rId5" Type="http://schemas.openxmlformats.org/officeDocument/2006/relationships/slide" Target="slide2.xml"/><Relationship Id="rId6" Type="http://schemas.openxmlformats.org/officeDocument/2006/relationships/slide" Target="slide156.xml"/><Relationship Id="rId7" Type="http://schemas.openxmlformats.org/officeDocument/2006/relationships/slide" Target="slide158.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 Id="rId4" Type="http://schemas.openxmlformats.org/officeDocument/2006/relationships/slide" Target="slide2.xml"/><Relationship Id="rId5" Type="http://schemas.openxmlformats.org/officeDocument/2006/relationships/slide" Target="slide157.xml"/><Relationship Id="rId6" Type="http://schemas.openxmlformats.org/officeDocument/2006/relationships/slide" Target="slide15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 Id="rId4" Type="http://schemas.openxmlformats.org/officeDocument/2006/relationships/slide" Target="slide2.xml"/><Relationship Id="rId5" Type="http://schemas.openxmlformats.org/officeDocument/2006/relationships/slide" Target="slide158.xml"/><Relationship Id="rId6" Type="http://schemas.openxmlformats.org/officeDocument/2006/relationships/slide" Target="slide160.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 Id="rId4" Type="http://schemas.openxmlformats.org/officeDocument/2006/relationships/slide" Target="slide2.xml"/><Relationship Id="rId5" Type="http://schemas.openxmlformats.org/officeDocument/2006/relationships/slide" Target="slide15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905000" y="4476750"/>
            <a:ext cx="5334000" cy="5334000"/>
          </a:xfrm>
          <a:prstGeom prst="ellipse">
            <a:avLst/>
          </a:prstGeom>
          <a:solidFill>
            <a:srgbClr val="EAF6FB">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01000" y="-2000250"/>
            <a:ext cx="5334000" cy="533400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15375" y="-1285875"/>
            <a:ext cx="3905250" cy="39052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82125" y="-619125"/>
            <a:ext cx="2571750" cy="2571750"/>
          </a:xfrm>
          <a:prstGeom prst="ellipse">
            <a:avLst/>
          </a:prstGeom>
          <a:noFill/>
          <a:ln w="19050">
            <a:solidFill>
              <a:srgbClr val="B2B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96500" y="95250"/>
            <a:ext cx="1143000" cy="1143000"/>
          </a:xfrm>
          <a:prstGeom prst="ellipse">
            <a:avLst/>
          </a:prstGeom>
          <a:solidFill>
            <a:srgbClr val="EAF6F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010650" y="5848350"/>
            <a:ext cx="228600" cy="2476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391650" y="5676900"/>
            <a:ext cx="228600" cy="4191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72650" y="5772150"/>
            <a:ext cx="228600" cy="3238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153650" y="5524500"/>
            <a:ext cx="228600" cy="5715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34650" y="5314950"/>
            <a:ext cx="228600" cy="78105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15650" y="5600700"/>
            <a:ext cx="228600" cy="4953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296650" y="5181600"/>
            <a:ext cx="228600" cy="914400"/>
          </a:xfrm>
          <a:prstGeom prst="roundRect">
            <a:avLst/>
          </a:prstGeom>
          <a:solidFill>
            <a:srgbClr val="3D85C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4400" y="609600"/>
            <a:ext cx="1132901" cy="685800"/>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mi_logo_fmi.png"/>
          <p:cNvPicPr>
            <a:picLocks noChangeAspect="1"/>
          </p:cNvPicPr>
          <p:nvPr/>
        </p:nvPicPr>
        <p:blipFill>
          <a:blip r:embed="rId2"/>
          <a:stretch>
            <a:fillRect/>
          </a:stretch>
        </p:blipFill>
        <p:spPr>
          <a:xfrm>
            <a:off x="1019175" y="695325"/>
            <a:ext cx="923351" cy="514350"/>
          </a:xfrm>
          <a:prstGeom prst="rect">
            <a:avLst/>
          </a:prstGeom>
        </p:spPr>
      </p:pic>
      <p:sp>
        <p:nvSpPr>
          <p:cNvPr id="17" name="TextBox 16"/>
          <p:cNvSpPr txBox="1"/>
          <p:nvPr/>
        </p:nvSpPr>
        <p:spPr>
          <a:xfrm>
            <a:off x="1143000" y="2667000"/>
            <a:ext cx="9334500" cy="1809750"/>
          </a:xfrm>
          <a:prstGeom prst="rect">
            <a:avLst/>
          </a:prstGeom>
          <a:noFill/>
        </p:spPr>
        <p:txBody>
          <a:bodyPr wrap="square" lIns="28575" rIns="28575" tIns="9525" bIns="9525" anchor="ctr">
            <a:spAutoFit/>
          </a:bodyPr>
          <a:lstStyle/>
          <a:p>
            <a:pPr algn="l"/>
            <a:r>
              <a:rPr sz="3400" b="1">
                <a:solidFill>
                  <a:srgbClr val="0B2E4A"/>
                </a:solidFill>
                <a:latin typeface="Calibri"/>
              </a:rPr>
              <a:t>Global Capillary Blood Collection Devices Market</a:t>
            </a:r>
          </a:p>
        </p:txBody>
      </p:sp>
      <p:sp>
        <p:nvSpPr>
          <p:cNvPr id="18" name="TextBox 17"/>
          <p:cNvSpPr txBox="1"/>
          <p:nvPr/>
        </p:nvSpPr>
        <p:spPr>
          <a:xfrm>
            <a:off x="1162050" y="4686300"/>
            <a:ext cx="9334500" cy="857250"/>
          </a:xfrm>
          <a:prstGeom prst="rect">
            <a:avLst/>
          </a:prstGeom>
          <a:noFill/>
        </p:spPr>
        <p:txBody>
          <a:bodyPr wrap="square" lIns="28575" rIns="28575" tIns="9525" bIns="9525">
            <a:spAutoFit/>
          </a:bodyPr>
          <a:lstStyle/>
          <a:p>
            <a:pPr algn="l"/>
            <a:r>
              <a:rPr sz="1600" b="0">
                <a:solidFill>
                  <a:srgbClr val="6C7A89"/>
                </a:solidFill>
                <a:latin typeface="Calibri"/>
              </a:rPr>
              <a:t>Value (US$ Mn) and Volume (Units) Analysis and Forecast, 2021–2036</a:t>
            </a:r>
          </a:p>
          <a:p>
            <a:pPr algn="l"/>
            <a:r>
              <a:rPr sz="1000" b="0">
                <a:solidFill>
                  <a:srgbClr val="8FCBE6"/>
                </a:solidFill>
                <a:latin typeface="Calibri"/>
              </a:rPr>
              <a:t>Region focus: Global   ·   Country focus: United States   ·   Generated 08 Sep 2026   ·   Source: FMI Analysis, 2026</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Agenda</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Storyline of the report by section · click a section card to jump to it</a:t>
            </a:r>
          </a:p>
        </p:txBody>
      </p:sp>
      <p:sp>
        <p:nvSpPr>
          <p:cNvPr id="11" name="Rounded Rectangle 10">
            <a:hlinkClick action="ppaction://hlinksldjump" r:id="rId3"/>
          </p:cNvPr>
          <p:cNvSpPr/>
          <p:nvPr/>
        </p:nvSpPr>
        <p:spPr>
          <a:xfrm>
            <a:off x="142875" y="9525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Market Signals</a:t>
            </a:r>
          </a:p>
        </p:txBody>
      </p:sp>
      <p:sp>
        <p:nvSpPr>
          <p:cNvPr id="12" name="Rounded Rectangle 11">
            <a:hlinkClick action="ppaction://hlinksldjump" r:id="rId4"/>
          </p:cNvPr>
          <p:cNvSpPr/>
          <p:nvPr/>
        </p:nvSpPr>
        <p:spPr>
          <a:xfrm>
            <a:off x="142875" y="16954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Geographic Coverage</a:t>
            </a:r>
          </a:p>
        </p:txBody>
      </p:sp>
      <p:sp>
        <p:nvSpPr>
          <p:cNvPr id="13" name="Rounded Rectangle 12">
            <a:hlinkClick action="ppaction://hlinksldjump" r:id="rId5"/>
          </p:cNvPr>
          <p:cNvSpPr/>
          <p:nvPr/>
        </p:nvSpPr>
        <p:spPr>
          <a:xfrm>
            <a:off x="142875" y="24384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Market Segments</a:t>
            </a:r>
          </a:p>
        </p:txBody>
      </p:sp>
      <p:sp>
        <p:nvSpPr>
          <p:cNvPr id="14" name="Rounded Rectangle 13">
            <a:hlinkClick action="ppaction://hlinksldjump" r:id="rId6"/>
          </p:cNvPr>
          <p:cNvSpPr/>
          <p:nvPr/>
        </p:nvSpPr>
        <p:spPr>
          <a:xfrm>
            <a:off x="142875" y="31813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Company Coverage</a:t>
            </a:r>
          </a:p>
        </p:txBody>
      </p:sp>
      <p:sp>
        <p:nvSpPr>
          <p:cNvPr id="15" name="Rounded Rectangle 14">
            <a:hlinkClick action="ppaction://hlinksldjump" r:id="rId7"/>
          </p:cNvPr>
          <p:cNvSpPr/>
          <p:nvPr/>
        </p:nvSpPr>
        <p:spPr>
          <a:xfrm>
            <a:off x="142875" y="39243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Global Market Assessment</a:t>
            </a:r>
          </a:p>
        </p:txBody>
      </p:sp>
      <p:sp>
        <p:nvSpPr>
          <p:cNvPr id="16" name="Rounded Rectangle 15">
            <a:hlinkClick action="ppaction://hlinksldjump" r:id="rId8"/>
          </p:cNvPr>
          <p:cNvSpPr/>
          <p:nvPr/>
        </p:nvSpPr>
        <p:spPr>
          <a:xfrm>
            <a:off x="6219825" y="9525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Country Assessment</a:t>
            </a:r>
          </a:p>
        </p:txBody>
      </p:sp>
      <p:sp>
        <p:nvSpPr>
          <p:cNvPr id="17" name="Rounded Rectangle 16">
            <a:hlinkClick action="ppaction://hlinksldjump" r:id="rId9"/>
          </p:cNvPr>
          <p:cNvSpPr/>
          <p:nvPr/>
        </p:nvSpPr>
        <p:spPr>
          <a:xfrm>
            <a:off x="6219825" y="16954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Pricing Analysis</a:t>
            </a:r>
          </a:p>
        </p:txBody>
      </p:sp>
      <p:sp>
        <p:nvSpPr>
          <p:cNvPr id="18" name="Rounded Rectangle 17">
            <a:hlinkClick action="ppaction://hlinksldjump" r:id="rId10"/>
          </p:cNvPr>
          <p:cNvSpPr/>
          <p:nvPr/>
        </p:nvSpPr>
        <p:spPr>
          <a:xfrm>
            <a:off x="6219825" y="24384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Market Dynamics and Trends</a:t>
            </a:r>
          </a:p>
        </p:txBody>
      </p:sp>
      <p:sp>
        <p:nvSpPr>
          <p:cNvPr id="19" name="Rounded Rectangle 18">
            <a:hlinkClick action="ppaction://hlinksldjump" r:id="rId11"/>
          </p:cNvPr>
          <p:cNvSpPr/>
          <p:nvPr/>
        </p:nvSpPr>
        <p:spPr>
          <a:xfrm>
            <a:off x="6219825" y="318135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Supply Chain Analysis</a:t>
            </a:r>
          </a:p>
        </p:txBody>
      </p:sp>
      <p:sp>
        <p:nvSpPr>
          <p:cNvPr id="20" name="Rounded Rectangle 19">
            <a:hlinkClick action="ppaction://hlinksldjump" r:id="rId12"/>
          </p:cNvPr>
          <p:cNvSpPr/>
          <p:nvPr/>
        </p:nvSpPr>
        <p:spPr>
          <a:xfrm>
            <a:off x="6219825" y="3924300"/>
            <a:ext cx="5829300" cy="628650"/>
          </a:xfrm>
          <a:prstGeom prst="roundRect">
            <a:avLst>
              <a:gd name="adj" fmla="val 12121"/>
            </a:avLst>
          </a:prstGeom>
          <a:solidFill>
            <a:srgbClr val="E0E8EF"/>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300" b="1">
                <a:solidFill>
                  <a:srgbClr val="0B2E4A"/>
                </a:solidFill>
                <a:latin typeface="Calibri"/>
              </a:rPr>
              <a:t>Capillary Blood Collection Devices Competition Assessment</a:t>
            </a:r>
          </a:p>
        </p:txBody>
      </p:sp>
      <p:sp>
        <p:nvSpPr>
          <p:cNvPr id="21" name="Rectangle 2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59556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84321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Signals</a:t>
            </a:r>
          </a:p>
        </p:txBody>
      </p:sp>
      <p:sp>
        <p:nvSpPr>
          <p:cNvPr id="8" name="TextBox 7"/>
          <p:cNvSpPr txBox="1"/>
          <p:nvPr/>
        </p:nvSpPr>
        <p:spPr>
          <a:xfrm>
            <a:off x="1219200" y="3433762"/>
            <a:ext cx="6667500" cy="3333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Signals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Market Signals Reshaping Capillary Blood Collection Devices Demand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Signals reshaping Capillary Blood Collection Devices demand, the evidence behind each and what it implies for the global…</a:t>
            </a:r>
          </a:p>
        </p:txBody>
      </p:sp>
      <p:graphicFrame>
        <p:nvGraphicFramePr>
          <p:cNvPr id="11" name="Table 10"/>
          <p:cNvGraphicFramePr>
            <a:graphicFrameLocks noGrp="1"/>
          </p:cNvGraphicFramePr>
          <p:nvPr/>
        </p:nvGraphicFramePr>
        <p:xfrm>
          <a:off x="142875" y="914400"/>
          <a:ext cx="11906250" cy="5791200"/>
        </p:xfrm>
        <a:graphic>
          <a:graphicData uri="http://schemas.openxmlformats.org/drawingml/2006/table">
            <a:tbl>
              <a:tblPr>
                <a:tableStyleId>{5C22544A-7EE6-4342-B048-85BDC9FD1C3A}</a:tableStyleId>
              </a:tblPr>
              <a:tblGrid>
                <a:gridCol w="3571875"/>
                <a:gridCol w="5000625"/>
                <a:gridCol w="3333750"/>
              </a:tblGrid>
              <a:tr h="361950">
                <a:tc>
                  <a:txBody>
                    <a:bodyPr wrap="square"/>
                    <a:lstStyle/>
                    <a:p>
                      <a:pPr algn="l"/>
                      <a:r>
                        <a:rPr sz="1100" b="1">
                          <a:solidFill>
                            <a:srgbClr val="0B2E4A"/>
                          </a:solidFill>
                          <a:latin typeface="Calibri"/>
                        </a:rPr>
                        <a:t>QUESTIONS WE'RE HEARING</a:t>
                      </a:r>
                    </a:p>
                  </a:txBody>
                  <a:tcPr marL="70000" marR="70000" marT="45000" marB="45000" anchor="t">
                    <a:solidFill>
                      <a:srgbClr val="EAF1F8"/>
                    </a:solidFill>
                  </a:tcPr>
                </a:tc>
                <a:tc>
                  <a:txBody>
                    <a:bodyPr wrap="square"/>
                    <a:lstStyle/>
                    <a:p>
                      <a:pPr algn="l"/>
                      <a:r>
                        <a:rPr sz="1100" b="1">
                          <a:solidFill>
                            <a:srgbClr val="0B2E4A"/>
                          </a:solidFill>
                          <a:latin typeface="Calibri"/>
                        </a:rPr>
                        <a:t>WHAT WE'RE OBSERVING</a:t>
                      </a:r>
                    </a:p>
                  </a:txBody>
                  <a:tcPr marL="70000" marR="70000" marT="45000" marB="45000" anchor="t">
                    <a:solidFill>
                      <a:srgbClr val="EAF1F8"/>
                    </a:solidFill>
                  </a:tcPr>
                </a:tc>
                <a:tc>
                  <a:txBody>
                    <a:bodyPr wrap="square"/>
                    <a:lstStyle/>
                    <a:p>
                      <a:pPr algn="l"/>
                      <a:r>
                        <a:rPr sz="1100" b="1">
                          <a:solidFill>
                            <a:srgbClr val="0B2E4A"/>
                          </a:solidFill>
                          <a:latin typeface="Calibri"/>
                        </a:rPr>
                        <a:t>SELECT DATA POINTS</a:t>
                      </a:r>
                    </a:p>
                  </a:txBody>
                  <a:tcPr marL="70000" marR="70000" marT="45000" marB="45000" anchor="t">
                    <a:solidFill>
                      <a:srgbClr val="EAF1F8"/>
                    </a:solidFill>
                  </a:tcPr>
                </a:tc>
              </a:tr>
              <a:tr h="1085850">
                <a:tc>
                  <a:txBody>
                    <a:bodyPr wrap="square"/>
                    <a:lstStyle/>
                    <a:p>
                      <a:pPr algn="l"/>
                      <a:r>
                        <a:rPr sz="1050" b="1">
                          <a:solidFill>
                            <a:srgbClr val="0B2E4A"/>
                          </a:solidFill>
                          <a:latin typeface="Calibri"/>
                        </a:rPr>
                        <a:t>How fast is Capillary Blood Collection Devices demand set to grow through 2036?</a:t>
                      </a:r>
                    </a:p>
                  </a:txBody>
                  <a:tcPr marL="70000" marR="70000" marT="45000" marB="45000" anchor="t">
                    <a:solidFill>
                      <a:srgbClr val="FFFFFF"/>
                    </a:solidFill>
                  </a:tcPr>
                </a:tc>
                <a:tc>
                  <a:txBody>
                    <a:bodyPr wrap="square"/>
                    <a:lstStyle/>
                    <a:p>
                      <a:pPr algn="l"/>
                      <a:r>
                        <a:rPr sz="1050" b="0">
                          <a:solidFill>
                            <a:srgbClr val="2E2E2E"/>
                          </a:solidFill>
                          <a:latin typeface="Calibri"/>
                        </a:rPr>
                        <a:t>Global demand expands at a 7.9% forecast CAGR (2026–2036), accelerating from 4.9% across 2021–2025.</a:t>
                      </a:r>
                    </a:p>
                  </a:txBody>
                  <a:tcPr marL="70000" marR="70000" marT="45000" marB="45000" anchor="t">
                    <a:solidFill>
                      <a:srgbClr val="FFFFFF"/>
                    </a:solidFill>
                  </a:tcPr>
                </a:tc>
                <a:tc>
                  <a:txBody>
                    <a:bodyPr wrap="square"/>
                    <a:lstStyle/>
                    <a:p>
                      <a:pPr algn="l"/>
                      <a:r>
                        <a:rPr sz="1050" b="0">
                          <a:solidFill>
                            <a:srgbClr val="2E2E2E"/>
                          </a:solidFill>
                          <a:latin typeface="Calibri"/>
                        </a:rPr>
                        <a:t>2,306 → 4,933 US$ Mn  ·  CAGR 7.9%</a:t>
                      </a:r>
                    </a:p>
                  </a:txBody>
                  <a:tcPr marL="70000" marR="70000" marT="45000" marB="45000" anchor="t">
                    <a:solidFill>
                      <a:srgbClr val="FFFFFF"/>
                    </a:solidFill>
                  </a:tcPr>
                </a:tc>
              </a:tr>
              <a:tr h="1085850">
                <a:tc>
                  <a:txBody>
                    <a:bodyPr wrap="square"/>
                    <a:lstStyle/>
                    <a:p>
                      <a:pPr algn="l"/>
                      <a:r>
                        <a:rPr sz="1050" b="1">
                          <a:solidFill>
                            <a:srgbClr val="0B2E4A"/>
                          </a:solidFill>
                          <a:latin typeface="Calibri"/>
                        </a:rPr>
                        <a:t>Which product type categories are buyers prioritising?</a:t>
                      </a:r>
                    </a:p>
                  </a:txBody>
                  <a:tcPr marL="70000" marR="70000" marT="45000" marB="45000" anchor="t">
                    <a:solidFill>
                      <a:srgbClr val="F6F9FC"/>
                    </a:solidFill>
                  </a:tcPr>
                </a:tc>
                <a:tc>
                  <a:txBody>
                    <a:bodyPr wrap="square"/>
                    <a:lstStyle/>
                    <a:p>
                      <a:pPr algn="l"/>
                      <a:r>
                        <a:rPr sz="1050" b="0">
                          <a:solidFill>
                            <a:srgbClr val="2E2E2E"/>
                          </a:solidFill>
                          <a:latin typeface="Calibri"/>
                        </a:rPr>
                        <a:t>Capillary Blood Collection Containers leads Product Type, at 42.9% of 2036 value, within a mix of 4 tracked categories.</a:t>
                      </a:r>
                    </a:p>
                  </a:txBody>
                  <a:tcPr marL="70000" marR="70000" marT="45000" marB="45000" anchor="t">
                    <a:solidFill>
                      <a:srgbClr val="F6F9FC"/>
                    </a:solidFill>
                  </a:tcPr>
                </a:tc>
                <a:tc>
                  <a:txBody>
                    <a:bodyPr wrap="square"/>
                    <a:lstStyle/>
                    <a:p>
                      <a:pPr algn="l"/>
                      <a:r>
                        <a:rPr sz="1050" b="0">
                          <a:solidFill>
                            <a:srgbClr val="2E2E2E"/>
                          </a:solidFill>
                          <a:latin typeface="Calibri"/>
                        </a:rPr>
                        <a:t>Lead: Capillary Blood Collection Containers  ·  42.9% share (2036)</a:t>
                      </a:r>
                    </a:p>
                  </a:txBody>
                  <a:tcPr marL="70000" marR="70000" marT="45000" marB="45000" anchor="t">
                    <a:solidFill>
                      <a:srgbClr val="F6F9FC"/>
                    </a:solidFill>
                  </a:tcPr>
                </a:tc>
              </a:tr>
              <a:tr h="1085850">
                <a:tc>
                  <a:txBody>
                    <a:bodyPr wrap="square"/>
                    <a:lstStyle/>
                    <a:p>
                      <a:pPr algn="l"/>
                      <a:r>
                        <a:rPr sz="1050" b="1">
                          <a:solidFill>
                            <a:srgbClr val="0B2E4A"/>
                          </a:solidFill>
                          <a:latin typeface="Calibri"/>
                        </a:rPr>
                        <a:t>Where is incremental demand concentrating?</a:t>
                      </a:r>
                    </a:p>
                  </a:txBody>
                  <a:tcPr marL="70000" marR="70000" marT="45000" marB="45000" anchor="t">
                    <a:solidFill>
                      <a:srgbClr val="FFFFFF"/>
                    </a:solidFill>
                  </a:tcPr>
                </a:tc>
                <a:tc>
                  <a:txBody>
                    <a:bodyPr wrap="square"/>
                    <a:lstStyle/>
                    <a:p>
                      <a:pPr algn="l"/>
                      <a:r>
                        <a:rPr sz="1050" b="0">
                          <a:solidFill>
                            <a:srgbClr val="2E2E2E"/>
                          </a:solidFill>
                          <a:latin typeface="Calibri"/>
                        </a:rPr>
                        <a:t>Genetic &amp; Molecular Testing is the fastest-growing part of Application, at a 14.8% forecast CAGR outpacing the wider market.</a:t>
                      </a:r>
                    </a:p>
                  </a:txBody>
                  <a:tcPr marL="70000" marR="70000" marT="45000" marB="45000" anchor="t">
                    <a:solidFill>
                      <a:srgbClr val="FFFFFF"/>
                    </a:solidFill>
                  </a:tcPr>
                </a:tc>
                <a:tc>
                  <a:txBody>
                    <a:bodyPr wrap="square"/>
                    <a:lstStyle/>
                    <a:p>
                      <a:pPr algn="l"/>
                      <a:r>
                        <a:rPr sz="1050" b="0">
                          <a:solidFill>
                            <a:srgbClr val="2E2E2E"/>
                          </a:solidFill>
                          <a:latin typeface="Calibri"/>
                        </a:rPr>
                        <a:t>Fastest: Genetic &amp; Molecular Testing  ·  14.8% F-CAGR</a:t>
                      </a:r>
                    </a:p>
                  </a:txBody>
                  <a:tcPr marL="70000" marR="70000" marT="45000" marB="45000" anchor="t">
                    <a:solidFill>
                      <a:srgbClr val="FFFFFF"/>
                    </a:solidFill>
                  </a:tcPr>
                </a:tc>
              </a:tr>
              <a:tr h="1085850">
                <a:tc>
                  <a:txBody>
                    <a:bodyPr wrap="square"/>
                    <a:lstStyle/>
                    <a:p>
                      <a:pPr algn="l"/>
                      <a:r>
                        <a:rPr sz="1050" b="1">
                          <a:solidFill>
                            <a:srgbClr val="0B2E4A"/>
                          </a:solidFill>
                          <a:latin typeface="Calibri"/>
                        </a:rPr>
                        <a:t>Which regions will drive the next wave of Capillary Blood Collection Devices demand?</a:t>
                      </a:r>
                    </a:p>
                  </a:txBody>
                  <a:tcPr marL="70000" marR="70000" marT="45000" marB="45000" anchor="t">
                    <a:solidFill>
                      <a:srgbClr val="F6F9FC"/>
                    </a:solidFill>
                  </a:tcPr>
                </a:tc>
                <a:tc>
                  <a:txBody>
                    <a:bodyPr wrap="square"/>
                    <a:lstStyle/>
                    <a:p>
                      <a:pPr algn="l"/>
                      <a:r>
                        <a:rPr sz="1050" b="0">
                          <a:solidFill>
                            <a:srgbClr val="2E2E2E"/>
                          </a:solidFill>
                          <a:latin typeface="Calibri"/>
                        </a:rPr>
                        <a:t>North America is the largest regional market (32.9% of 2036 value), while East Asia grows fastest at 8.4%.</a:t>
                      </a:r>
                    </a:p>
                  </a:txBody>
                  <a:tcPr marL="70000" marR="70000" marT="45000" marB="45000" anchor="t">
                    <a:solidFill>
                      <a:srgbClr val="F6F9FC"/>
                    </a:solidFill>
                  </a:tcPr>
                </a:tc>
                <a:tc>
                  <a:txBody>
                    <a:bodyPr wrap="square"/>
                    <a:lstStyle/>
                    <a:p>
                      <a:pPr algn="l"/>
                      <a:r>
                        <a:rPr sz="1050" b="0">
                          <a:solidFill>
                            <a:srgbClr val="2E2E2E"/>
                          </a:solidFill>
                          <a:latin typeface="Calibri"/>
                        </a:rPr>
                        <a:t>Largest: North America (32.9%)  ·  Fastest: East Asia (8.4%)</a:t>
                      </a:r>
                    </a:p>
                  </a:txBody>
                  <a:tcPr marL="70000" marR="70000" marT="45000" marB="45000" anchor="t">
                    <a:solidFill>
                      <a:srgbClr val="F6F9FC"/>
                    </a:solidFill>
                  </a:tcPr>
                </a:tc>
              </a:tr>
              <a:tr h="1085850">
                <a:tc>
                  <a:txBody>
                    <a:bodyPr wrap="square"/>
                    <a:lstStyle/>
                    <a:p>
                      <a:pPr algn="l"/>
                      <a:r>
                        <a:rPr sz="1050" b="1">
                          <a:solidFill>
                            <a:srgbClr val="0B2E4A"/>
                          </a:solidFill>
                          <a:latin typeface="Calibri"/>
                        </a:rPr>
                        <a:t>Where should suppliers focus investment?</a:t>
                      </a:r>
                    </a:p>
                  </a:txBody>
                  <a:tcPr marL="70000" marR="70000" marT="45000" marB="45000" anchor="t">
                    <a:solidFill>
                      <a:srgbClr val="FFFFFF"/>
                    </a:solidFill>
                  </a:tcPr>
                </a:tc>
                <a:tc>
                  <a:txBody>
                    <a:bodyPr wrap="square"/>
                    <a:lstStyle/>
                    <a:p>
                      <a:pPr algn="l"/>
                      <a:r>
                        <a:rPr sz="1050" b="0">
                          <a:solidFill>
                            <a:srgbClr val="2E2E2E"/>
                          </a:solidFill>
                          <a:latin typeface="Calibri"/>
                        </a:rPr>
                        <a:t>An incremental 2,627 US$ Mn of demand is added between 2026 and 2036, front-loaded in the leading categories and regions above.</a:t>
                      </a:r>
                    </a:p>
                  </a:txBody>
                  <a:tcPr marL="70000" marR="70000" marT="45000" marB="45000" anchor="t">
                    <a:solidFill>
                      <a:srgbClr val="FFFFFF"/>
                    </a:solidFill>
                  </a:tcPr>
                </a:tc>
                <a:tc>
                  <a:txBody>
                    <a:bodyPr wrap="square"/>
                    <a:lstStyle/>
                    <a:p>
                      <a:pPr algn="l"/>
                      <a:r>
                        <a:rPr sz="1050" b="0">
                          <a:solidFill>
                            <a:srgbClr val="2E2E2E"/>
                          </a:solidFill>
                          <a:latin typeface="Calibri"/>
                        </a:rPr>
                        <a:t>$ opportunity 2,627 US$ Mn (2026–2036)  ·  1,009 by 2031</a:t>
                      </a:r>
                    </a:p>
                  </a:txBody>
                  <a:tcPr marL="70000" marR="70000" marT="45000" marB="45000" anchor="t">
                    <a:solidFill>
                      <a:srgbClr val="FFFFFF"/>
                    </a:solidFill>
                  </a:tcPr>
                </a:tc>
              </a:tr>
            </a:tbl>
          </a:graphicData>
        </a:graphic>
      </p:graphicFrame>
      <p:sp>
        <p:nvSpPr>
          <p:cNvPr id="12" name="Rectangle 1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 name="Rounded Rectangle 1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5" name="Rounded Rectangle 1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6" name="Rounded Rectangle 1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Taxonomy</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Geographic Coverage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Segments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Coverage</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Market Taxonomy Regions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Geographic scope of the study: the global market broken into 7 regions and the countries assessed under each</a:t>
            </a:r>
          </a:p>
        </p:txBody>
      </p:sp>
      <p:cxnSp>
        <p:nvCxnSpPr>
          <p:cNvPr id="11" name="Connector 10"/>
          <p:cNvCxnSpPr/>
          <p:nvPr/>
        </p:nvCxnSpPr>
        <p:spPr>
          <a:xfrm>
            <a:off x="6096000" y="156210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2975" y="1733550"/>
            <a:ext cx="1029652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4297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65747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7197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8647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1050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2500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23950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9650"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09650" y="2686050"/>
            <a:ext cx="0" cy="2476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9650" y="3248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24150"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724150" y="2686050"/>
            <a:ext cx="0" cy="2476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724150" y="3248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438650"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38650" y="26860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438650" y="32575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38650" y="38290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38650" y="44005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438650" y="49720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438650" y="55435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438650" y="61150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153150"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153150" y="2686050"/>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53150" y="3257550"/>
            <a:ext cx="0" cy="2667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53150" y="383857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53150" y="441007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77175"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877175" y="2686050"/>
            <a:ext cx="0" cy="2476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877175" y="3248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91675"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591675" y="2686050"/>
            <a:ext cx="0" cy="2476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591675" y="3248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591675" y="4000500"/>
            <a:ext cx="0" cy="2476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06175" y="2200275"/>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306175" y="2867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306175" y="34385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1306175" y="4010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306175" y="45815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1306175" y="5153025"/>
            <a:ext cx="0" cy="2571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524375" y="933450"/>
            <a:ext cx="3133725" cy="628650"/>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Capillary Blood Collection Devices Market</a:t>
            </a:r>
          </a:p>
        </p:txBody>
      </p:sp>
      <p:sp>
        <p:nvSpPr>
          <p:cNvPr id="53" name="Rounded Rectangle 52"/>
          <p:cNvSpPr/>
          <p:nvPr/>
        </p:nvSpPr>
        <p:spPr>
          <a:xfrm>
            <a:off x="142875"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North America</a:t>
            </a:r>
          </a:p>
        </p:txBody>
      </p:sp>
      <p:sp>
        <p:nvSpPr>
          <p:cNvPr id="54" name="Rounded Rectangle 53"/>
          <p:cNvSpPr/>
          <p:nvPr/>
        </p:nvSpPr>
        <p:spPr>
          <a:xfrm>
            <a:off x="276225"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United States</a:t>
            </a:r>
          </a:p>
        </p:txBody>
      </p:sp>
      <p:sp>
        <p:nvSpPr>
          <p:cNvPr id="55" name="Rounded Rectangle 54"/>
          <p:cNvSpPr/>
          <p:nvPr/>
        </p:nvSpPr>
        <p:spPr>
          <a:xfrm>
            <a:off x="276225" y="2933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Canada</a:t>
            </a:r>
          </a:p>
        </p:txBody>
      </p:sp>
      <p:sp>
        <p:nvSpPr>
          <p:cNvPr id="56" name="Rounded Rectangle 55"/>
          <p:cNvSpPr/>
          <p:nvPr/>
        </p:nvSpPr>
        <p:spPr>
          <a:xfrm>
            <a:off x="276225" y="3505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Mexico</a:t>
            </a:r>
          </a:p>
        </p:txBody>
      </p:sp>
      <p:sp>
        <p:nvSpPr>
          <p:cNvPr id="57" name="Rounded Rectangle 56"/>
          <p:cNvSpPr/>
          <p:nvPr/>
        </p:nvSpPr>
        <p:spPr>
          <a:xfrm>
            <a:off x="1857375"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Latin America</a:t>
            </a:r>
          </a:p>
        </p:txBody>
      </p:sp>
      <p:sp>
        <p:nvSpPr>
          <p:cNvPr id="58" name="Rounded Rectangle 57"/>
          <p:cNvSpPr/>
          <p:nvPr/>
        </p:nvSpPr>
        <p:spPr>
          <a:xfrm>
            <a:off x="1990725"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Brazil</a:t>
            </a:r>
          </a:p>
        </p:txBody>
      </p:sp>
      <p:sp>
        <p:nvSpPr>
          <p:cNvPr id="59" name="Rounded Rectangle 58"/>
          <p:cNvSpPr/>
          <p:nvPr/>
        </p:nvSpPr>
        <p:spPr>
          <a:xfrm>
            <a:off x="1990725" y="2933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Chile</a:t>
            </a:r>
          </a:p>
        </p:txBody>
      </p:sp>
      <p:sp>
        <p:nvSpPr>
          <p:cNvPr id="60" name="Rounded Rectangle 59"/>
          <p:cNvSpPr/>
          <p:nvPr/>
        </p:nvSpPr>
        <p:spPr>
          <a:xfrm>
            <a:off x="1990725" y="3505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LATAM</a:t>
            </a:r>
          </a:p>
        </p:txBody>
      </p:sp>
      <p:sp>
        <p:nvSpPr>
          <p:cNvPr id="61" name="Rounded Rectangle 60"/>
          <p:cNvSpPr/>
          <p:nvPr/>
        </p:nvSpPr>
        <p:spPr>
          <a:xfrm>
            <a:off x="3571875"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Western Europe</a:t>
            </a:r>
          </a:p>
        </p:txBody>
      </p:sp>
      <p:sp>
        <p:nvSpPr>
          <p:cNvPr id="62" name="Rounded Rectangle 61"/>
          <p:cNvSpPr/>
          <p:nvPr/>
        </p:nvSpPr>
        <p:spPr>
          <a:xfrm>
            <a:off x="3705225"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Germany</a:t>
            </a:r>
          </a:p>
        </p:txBody>
      </p:sp>
      <p:sp>
        <p:nvSpPr>
          <p:cNvPr id="63" name="Rounded Rectangle 62"/>
          <p:cNvSpPr/>
          <p:nvPr/>
        </p:nvSpPr>
        <p:spPr>
          <a:xfrm>
            <a:off x="3705225" y="29432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United Kingdom</a:t>
            </a:r>
          </a:p>
        </p:txBody>
      </p:sp>
      <p:sp>
        <p:nvSpPr>
          <p:cNvPr id="64" name="Rounded Rectangle 63"/>
          <p:cNvSpPr/>
          <p:nvPr/>
        </p:nvSpPr>
        <p:spPr>
          <a:xfrm>
            <a:off x="3705225" y="3514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France</a:t>
            </a:r>
          </a:p>
        </p:txBody>
      </p:sp>
      <p:sp>
        <p:nvSpPr>
          <p:cNvPr id="65" name="Rounded Rectangle 64"/>
          <p:cNvSpPr/>
          <p:nvPr/>
        </p:nvSpPr>
        <p:spPr>
          <a:xfrm>
            <a:off x="3705225" y="40862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Italy</a:t>
            </a:r>
          </a:p>
        </p:txBody>
      </p:sp>
      <p:sp>
        <p:nvSpPr>
          <p:cNvPr id="66" name="Rounded Rectangle 65"/>
          <p:cNvSpPr/>
          <p:nvPr/>
        </p:nvSpPr>
        <p:spPr>
          <a:xfrm>
            <a:off x="3705225" y="4657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Spain</a:t>
            </a:r>
          </a:p>
        </p:txBody>
      </p:sp>
      <p:sp>
        <p:nvSpPr>
          <p:cNvPr id="67" name="Rounded Rectangle 66"/>
          <p:cNvSpPr/>
          <p:nvPr/>
        </p:nvSpPr>
        <p:spPr>
          <a:xfrm>
            <a:off x="3705225" y="52292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BENELUX</a:t>
            </a:r>
          </a:p>
        </p:txBody>
      </p:sp>
      <p:sp>
        <p:nvSpPr>
          <p:cNvPr id="68" name="Rounded Rectangle 67"/>
          <p:cNvSpPr/>
          <p:nvPr/>
        </p:nvSpPr>
        <p:spPr>
          <a:xfrm>
            <a:off x="3705225" y="5800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Nordic Countries</a:t>
            </a:r>
          </a:p>
        </p:txBody>
      </p:sp>
      <p:sp>
        <p:nvSpPr>
          <p:cNvPr id="69" name="Rounded Rectangle 68"/>
          <p:cNvSpPr/>
          <p:nvPr/>
        </p:nvSpPr>
        <p:spPr>
          <a:xfrm>
            <a:off x="3705225" y="63722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W. Europe</a:t>
            </a:r>
          </a:p>
        </p:txBody>
      </p:sp>
      <p:sp>
        <p:nvSpPr>
          <p:cNvPr id="70" name="Rounded Rectangle 69"/>
          <p:cNvSpPr/>
          <p:nvPr/>
        </p:nvSpPr>
        <p:spPr>
          <a:xfrm>
            <a:off x="5286375"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Eastern Europe</a:t>
            </a:r>
          </a:p>
        </p:txBody>
      </p:sp>
      <p:sp>
        <p:nvSpPr>
          <p:cNvPr id="71" name="Rounded Rectangle 70"/>
          <p:cNvSpPr/>
          <p:nvPr/>
        </p:nvSpPr>
        <p:spPr>
          <a:xfrm>
            <a:off x="5419725"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Russia</a:t>
            </a:r>
          </a:p>
        </p:txBody>
      </p:sp>
      <p:sp>
        <p:nvSpPr>
          <p:cNvPr id="72" name="Rounded Rectangle 71"/>
          <p:cNvSpPr/>
          <p:nvPr/>
        </p:nvSpPr>
        <p:spPr>
          <a:xfrm>
            <a:off x="5419725" y="29432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Poland</a:t>
            </a:r>
          </a:p>
        </p:txBody>
      </p:sp>
      <p:sp>
        <p:nvSpPr>
          <p:cNvPr id="73" name="Rounded Rectangle 72"/>
          <p:cNvSpPr/>
          <p:nvPr/>
        </p:nvSpPr>
        <p:spPr>
          <a:xfrm>
            <a:off x="5419725" y="352425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Hungary</a:t>
            </a:r>
          </a:p>
        </p:txBody>
      </p:sp>
      <p:sp>
        <p:nvSpPr>
          <p:cNvPr id="74" name="Rounded Rectangle 73"/>
          <p:cNvSpPr/>
          <p:nvPr/>
        </p:nvSpPr>
        <p:spPr>
          <a:xfrm>
            <a:off x="5419725" y="409575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Balkan &amp; Baltics</a:t>
            </a:r>
          </a:p>
        </p:txBody>
      </p:sp>
      <p:sp>
        <p:nvSpPr>
          <p:cNvPr id="75" name="Rounded Rectangle 74"/>
          <p:cNvSpPr/>
          <p:nvPr/>
        </p:nvSpPr>
        <p:spPr>
          <a:xfrm>
            <a:off x="5419725" y="466725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E. Europe</a:t>
            </a:r>
          </a:p>
        </p:txBody>
      </p:sp>
      <p:sp>
        <p:nvSpPr>
          <p:cNvPr id="76" name="Rounded Rectangle 75"/>
          <p:cNvSpPr/>
          <p:nvPr/>
        </p:nvSpPr>
        <p:spPr>
          <a:xfrm>
            <a:off x="7010400"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East Asia</a:t>
            </a:r>
          </a:p>
        </p:txBody>
      </p:sp>
      <p:sp>
        <p:nvSpPr>
          <p:cNvPr id="77" name="Rounded Rectangle 76"/>
          <p:cNvSpPr/>
          <p:nvPr/>
        </p:nvSpPr>
        <p:spPr>
          <a:xfrm>
            <a:off x="7143750"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China</a:t>
            </a:r>
          </a:p>
        </p:txBody>
      </p:sp>
      <p:sp>
        <p:nvSpPr>
          <p:cNvPr id="78" name="Rounded Rectangle 77"/>
          <p:cNvSpPr/>
          <p:nvPr/>
        </p:nvSpPr>
        <p:spPr>
          <a:xfrm>
            <a:off x="7143750" y="2933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Japan</a:t>
            </a:r>
          </a:p>
        </p:txBody>
      </p:sp>
      <p:sp>
        <p:nvSpPr>
          <p:cNvPr id="79" name="Rounded Rectangle 78"/>
          <p:cNvSpPr/>
          <p:nvPr/>
        </p:nvSpPr>
        <p:spPr>
          <a:xfrm>
            <a:off x="7143750" y="3505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Korea</a:t>
            </a:r>
          </a:p>
        </p:txBody>
      </p:sp>
      <p:sp>
        <p:nvSpPr>
          <p:cNvPr id="80" name="Rounded Rectangle 79"/>
          <p:cNvSpPr/>
          <p:nvPr/>
        </p:nvSpPr>
        <p:spPr>
          <a:xfrm>
            <a:off x="8724900"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South Asia Pacific</a:t>
            </a:r>
          </a:p>
        </p:txBody>
      </p:sp>
      <p:sp>
        <p:nvSpPr>
          <p:cNvPr id="81" name="Rounded Rectangle 80"/>
          <p:cNvSpPr/>
          <p:nvPr/>
        </p:nvSpPr>
        <p:spPr>
          <a:xfrm>
            <a:off x="8858250" y="2371725"/>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India</a:t>
            </a:r>
          </a:p>
        </p:txBody>
      </p:sp>
      <p:sp>
        <p:nvSpPr>
          <p:cNvPr id="82" name="Rounded Rectangle 81"/>
          <p:cNvSpPr/>
          <p:nvPr/>
        </p:nvSpPr>
        <p:spPr>
          <a:xfrm>
            <a:off x="8858250" y="2933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ASEAN</a:t>
            </a:r>
          </a:p>
        </p:txBody>
      </p:sp>
      <p:sp>
        <p:nvSpPr>
          <p:cNvPr id="83" name="Rounded Rectangle 82"/>
          <p:cNvSpPr/>
          <p:nvPr/>
        </p:nvSpPr>
        <p:spPr>
          <a:xfrm>
            <a:off x="8858250" y="3505200"/>
            <a:ext cx="146685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Australia &amp; New Zealand</a:t>
            </a:r>
          </a:p>
        </p:txBody>
      </p:sp>
      <p:sp>
        <p:nvSpPr>
          <p:cNvPr id="84" name="Rounded Rectangle 83"/>
          <p:cNvSpPr/>
          <p:nvPr/>
        </p:nvSpPr>
        <p:spPr>
          <a:xfrm>
            <a:off x="8858250" y="424815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SAP</a:t>
            </a:r>
          </a:p>
        </p:txBody>
      </p:sp>
      <p:sp>
        <p:nvSpPr>
          <p:cNvPr id="85" name="Rounded Rectangle 84"/>
          <p:cNvSpPr/>
          <p:nvPr/>
        </p:nvSpPr>
        <p:spPr>
          <a:xfrm>
            <a:off x="10439400" y="1905000"/>
            <a:ext cx="1600200" cy="295275"/>
          </a:xfrm>
          <a:prstGeom prst="roundRect">
            <a:avLst>
              <a:gd name="adj" fmla="val 22580"/>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000" b="1">
                <a:solidFill>
                  <a:srgbClr val="FFFFFF"/>
                </a:solidFill>
                <a:latin typeface="Calibri"/>
              </a:rPr>
              <a:t>Middle East &amp; Africa</a:t>
            </a:r>
          </a:p>
        </p:txBody>
      </p:sp>
      <p:sp>
        <p:nvSpPr>
          <p:cNvPr id="86" name="Rounded Rectangle 85"/>
          <p:cNvSpPr/>
          <p:nvPr/>
        </p:nvSpPr>
        <p:spPr>
          <a:xfrm>
            <a:off x="10572750" y="2371725"/>
            <a:ext cx="146685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Kingdom of Saudi Arabia</a:t>
            </a:r>
          </a:p>
        </p:txBody>
      </p:sp>
      <p:sp>
        <p:nvSpPr>
          <p:cNvPr id="87" name="Rounded Rectangle 86"/>
          <p:cNvSpPr/>
          <p:nvPr/>
        </p:nvSpPr>
        <p:spPr>
          <a:xfrm>
            <a:off x="10572750" y="3124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GCC Countries</a:t>
            </a:r>
          </a:p>
        </p:txBody>
      </p:sp>
      <p:sp>
        <p:nvSpPr>
          <p:cNvPr id="88" name="Rounded Rectangle 87"/>
          <p:cNvSpPr/>
          <p:nvPr/>
        </p:nvSpPr>
        <p:spPr>
          <a:xfrm>
            <a:off x="10572750" y="3695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Türkiye</a:t>
            </a:r>
          </a:p>
        </p:txBody>
      </p:sp>
      <p:sp>
        <p:nvSpPr>
          <p:cNvPr id="89" name="Rounded Rectangle 88"/>
          <p:cNvSpPr/>
          <p:nvPr/>
        </p:nvSpPr>
        <p:spPr>
          <a:xfrm>
            <a:off x="10572750" y="4267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South Africa</a:t>
            </a:r>
          </a:p>
        </p:txBody>
      </p:sp>
      <p:sp>
        <p:nvSpPr>
          <p:cNvPr id="90" name="Rounded Rectangle 89"/>
          <p:cNvSpPr/>
          <p:nvPr/>
        </p:nvSpPr>
        <p:spPr>
          <a:xfrm>
            <a:off x="10572750" y="48387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African Union</a:t>
            </a:r>
          </a:p>
        </p:txBody>
      </p:sp>
      <p:sp>
        <p:nvSpPr>
          <p:cNvPr id="91" name="Rounded Rectangle 90"/>
          <p:cNvSpPr/>
          <p:nvPr/>
        </p:nvSpPr>
        <p:spPr>
          <a:xfrm>
            <a:off x="10572750" y="5410200"/>
            <a:ext cx="146685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Rest of MEA</a:t>
            </a:r>
          </a:p>
        </p:txBody>
      </p:sp>
      <p:sp>
        <p:nvSpPr>
          <p:cNvPr id="92" name="Rectangle 9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94" name="Rounded Rectangle 9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5" name="Rounded Rectangle 9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6" name="Rounded Rectangle 9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Market Taxonomy Segments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Segmentation framework of the study: 6 axes and the sub-segments sized under each</a:t>
            </a:r>
          </a:p>
        </p:txBody>
      </p:sp>
      <p:cxnSp>
        <p:nvCxnSpPr>
          <p:cNvPr id="11" name="Connector 10"/>
          <p:cNvCxnSpPr/>
          <p:nvPr/>
        </p:nvCxnSpPr>
        <p:spPr>
          <a:xfrm>
            <a:off x="6096000" y="156210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85850" y="1733550"/>
            <a:ext cx="10010775" cy="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8585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8610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086350"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09612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9637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096625" y="1733550"/>
            <a:ext cx="0" cy="1714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52525"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52525" y="2876550"/>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52525" y="3286125"/>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52525" y="3876675"/>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152775"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152775" y="2876550"/>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152775" y="3295650"/>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52775" y="370522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52775" y="4305300"/>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152775" y="4895850"/>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52775" y="5495925"/>
            <a:ext cx="0" cy="9525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152775" y="60864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153025"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153025" y="26955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53025" y="311467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153025" y="37242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153025" y="414337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153025" y="47529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162800"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162800" y="269557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162800" y="3124200"/>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162800" y="355282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163050"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163050" y="269557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163050" y="3124200"/>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163050" y="3552825"/>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1163300" y="2219325"/>
            <a:ext cx="0" cy="16192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163300" y="26955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163300" y="3295650"/>
            <a:ext cx="0" cy="114300"/>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1163300" y="3724275"/>
            <a:ext cx="0" cy="104775"/>
          </a:xfrm>
          <a:prstGeom prst="line">
            <a:avLst/>
          </a:prstGeom>
          <a:ln w="15875">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4524375" y="933450"/>
            <a:ext cx="3133725" cy="628650"/>
          </a:xfrm>
          <a:prstGeom prst="roundRect">
            <a:avLst>
              <a:gd name="adj" fmla="val 10606"/>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500" b="1">
                <a:solidFill>
                  <a:srgbClr val="FFFFFF"/>
                </a:solidFill>
                <a:latin typeface="Calibri"/>
              </a:rPr>
              <a:t>Capillary Blood Collection Devices Market</a:t>
            </a:r>
          </a:p>
        </p:txBody>
      </p:sp>
      <p:sp>
        <p:nvSpPr>
          <p:cNvPr id="50" name="Rounded Rectangle 49"/>
          <p:cNvSpPr/>
          <p:nvPr/>
        </p:nvSpPr>
        <p:spPr>
          <a:xfrm>
            <a:off x="142875"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Product Type</a:t>
            </a:r>
          </a:p>
        </p:txBody>
      </p:sp>
      <p:sp>
        <p:nvSpPr>
          <p:cNvPr id="51" name="Rounded Rectangle 50"/>
          <p:cNvSpPr/>
          <p:nvPr/>
        </p:nvSpPr>
        <p:spPr>
          <a:xfrm>
            <a:off x="276225" y="23812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Capillary Blood Collection Containers</a:t>
            </a:r>
          </a:p>
        </p:txBody>
      </p:sp>
      <p:sp>
        <p:nvSpPr>
          <p:cNvPr id="52" name="Rounded Rectangle 51"/>
          <p:cNvSpPr/>
          <p:nvPr/>
        </p:nvSpPr>
        <p:spPr>
          <a:xfrm>
            <a:off x="276225" y="29718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Blood Collection Lancets</a:t>
            </a:r>
          </a:p>
        </p:txBody>
      </p:sp>
      <p:sp>
        <p:nvSpPr>
          <p:cNvPr id="53" name="Rounded Rectangle 52"/>
          <p:cNvSpPr/>
          <p:nvPr/>
        </p:nvSpPr>
        <p:spPr>
          <a:xfrm>
            <a:off x="276225" y="338137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Integrated Capillary Blood Collection Devices</a:t>
            </a:r>
          </a:p>
        </p:txBody>
      </p:sp>
      <p:sp>
        <p:nvSpPr>
          <p:cNvPr id="54" name="Rounded Rectangle 53"/>
          <p:cNvSpPr/>
          <p:nvPr/>
        </p:nvSpPr>
        <p:spPr>
          <a:xfrm>
            <a:off x="276225" y="397192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Dried Blood Spot Collection Products</a:t>
            </a:r>
          </a:p>
        </p:txBody>
      </p:sp>
      <p:sp>
        <p:nvSpPr>
          <p:cNvPr id="55" name="Rounded Rectangle 54"/>
          <p:cNvSpPr/>
          <p:nvPr/>
        </p:nvSpPr>
        <p:spPr>
          <a:xfrm>
            <a:off x="2143125"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Application</a:t>
            </a:r>
          </a:p>
        </p:txBody>
      </p:sp>
      <p:sp>
        <p:nvSpPr>
          <p:cNvPr id="56" name="Rounded Rectangle 55"/>
          <p:cNvSpPr/>
          <p:nvPr/>
        </p:nvSpPr>
        <p:spPr>
          <a:xfrm>
            <a:off x="2276475" y="23812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Diabetes &amp; Glucose Testing</a:t>
            </a:r>
          </a:p>
        </p:txBody>
      </p:sp>
      <p:sp>
        <p:nvSpPr>
          <p:cNvPr id="57" name="Rounded Rectangle 56"/>
          <p:cNvSpPr/>
          <p:nvPr/>
        </p:nvSpPr>
        <p:spPr>
          <a:xfrm>
            <a:off x="2276475" y="29813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Newborn Screening</a:t>
            </a:r>
          </a:p>
        </p:txBody>
      </p:sp>
      <p:sp>
        <p:nvSpPr>
          <p:cNvPr id="58" name="Rounded Rectangle 57"/>
          <p:cNvSpPr/>
          <p:nvPr/>
        </p:nvSpPr>
        <p:spPr>
          <a:xfrm>
            <a:off x="2276475" y="33909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Hematology Testing</a:t>
            </a:r>
          </a:p>
        </p:txBody>
      </p:sp>
      <p:sp>
        <p:nvSpPr>
          <p:cNvPr id="59" name="Rounded Rectangle 58"/>
          <p:cNvSpPr/>
          <p:nvPr/>
        </p:nvSpPr>
        <p:spPr>
          <a:xfrm>
            <a:off x="2276475" y="381000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Infectious Disease Testing</a:t>
            </a:r>
          </a:p>
        </p:txBody>
      </p:sp>
      <p:sp>
        <p:nvSpPr>
          <p:cNvPr id="60" name="Rounded Rectangle 59"/>
          <p:cNvSpPr/>
          <p:nvPr/>
        </p:nvSpPr>
        <p:spPr>
          <a:xfrm>
            <a:off x="2276475" y="44005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Genetic &amp; Molecular Testing</a:t>
            </a:r>
          </a:p>
        </p:txBody>
      </p:sp>
      <p:sp>
        <p:nvSpPr>
          <p:cNvPr id="61" name="Rounded Rectangle 60"/>
          <p:cNvSpPr/>
          <p:nvPr/>
        </p:nvSpPr>
        <p:spPr>
          <a:xfrm>
            <a:off x="2276475" y="500062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Therapeutic Drug Monitoring</a:t>
            </a:r>
          </a:p>
        </p:txBody>
      </p:sp>
      <p:sp>
        <p:nvSpPr>
          <p:cNvPr id="62" name="Rounded Rectangle 61"/>
          <p:cNvSpPr/>
          <p:nvPr/>
        </p:nvSpPr>
        <p:spPr>
          <a:xfrm>
            <a:off x="2276475" y="559117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Metabolic &amp; Biochemical Testing</a:t>
            </a:r>
          </a:p>
        </p:txBody>
      </p:sp>
      <p:sp>
        <p:nvSpPr>
          <p:cNvPr id="63" name="Rounded Rectangle 62"/>
          <p:cNvSpPr/>
          <p:nvPr/>
        </p:nvSpPr>
        <p:spPr>
          <a:xfrm>
            <a:off x="2276475" y="61912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Other Diagnostic Applications</a:t>
            </a:r>
          </a:p>
        </p:txBody>
      </p:sp>
      <p:sp>
        <p:nvSpPr>
          <p:cNvPr id="64" name="Rounded Rectangle 63"/>
          <p:cNvSpPr/>
          <p:nvPr/>
        </p:nvSpPr>
        <p:spPr>
          <a:xfrm>
            <a:off x="4143375"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End User</a:t>
            </a:r>
          </a:p>
        </p:txBody>
      </p:sp>
      <p:sp>
        <p:nvSpPr>
          <p:cNvPr id="65" name="Rounded Rectangle 64"/>
          <p:cNvSpPr/>
          <p:nvPr/>
        </p:nvSpPr>
        <p:spPr>
          <a:xfrm>
            <a:off x="4276725" y="23812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Hospitals &amp; Clinics</a:t>
            </a:r>
          </a:p>
        </p:txBody>
      </p:sp>
      <p:sp>
        <p:nvSpPr>
          <p:cNvPr id="66" name="Rounded Rectangle 65"/>
          <p:cNvSpPr/>
          <p:nvPr/>
        </p:nvSpPr>
        <p:spPr>
          <a:xfrm>
            <a:off x="4276725" y="28003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Diagnostic Laboratories</a:t>
            </a:r>
          </a:p>
        </p:txBody>
      </p:sp>
      <p:sp>
        <p:nvSpPr>
          <p:cNvPr id="67" name="Rounded Rectangle 66"/>
          <p:cNvSpPr/>
          <p:nvPr/>
        </p:nvSpPr>
        <p:spPr>
          <a:xfrm>
            <a:off x="4276725" y="322897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Physician Offices &amp; Outpatient Centers</a:t>
            </a:r>
          </a:p>
        </p:txBody>
      </p:sp>
      <p:sp>
        <p:nvSpPr>
          <p:cNvPr id="68" name="Rounded Rectangle 67"/>
          <p:cNvSpPr/>
          <p:nvPr/>
        </p:nvSpPr>
        <p:spPr>
          <a:xfrm>
            <a:off x="4276725" y="38290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Home &amp; Self-Testing</a:t>
            </a:r>
          </a:p>
        </p:txBody>
      </p:sp>
      <p:sp>
        <p:nvSpPr>
          <p:cNvPr id="69" name="Rounded Rectangle 68"/>
          <p:cNvSpPr/>
          <p:nvPr/>
        </p:nvSpPr>
        <p:spPr>
          <a:xfrm>
            <a:off x="4276725" y="4257675"/>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Research &amp; Academic Institutions</a:t>
            </a:r>
          </a:p>
        </p:txBody>
      </p:sp>
      <p:sp>
        <p:nvSpPr>
          <p:cNvPr id="70" name="Rounded Rectangle 69"/>
          <p:cNvSpPr/>
          <p:nvPr/>
        </p:nvSpPr>
        <p:spPr>
          <a:xfrm>
            <a:off x="4276725" y="48577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Public Health &amp; Screening Programs</a:t>
            </a:r>
          </a:p>
        </p:txBody>
      </p:sp>
      <p:sp>
        <p:nvSpPr>
          <p:cNvPr id="71" name="Rounded Rectangle 70"/>
          <p:cNvSpPr/>
          <p:nvPr/>
        </p:nvSpPr>
        <p:spPr>
          <a:xfrm>
            <a:off x="6153150"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Specimen Collected</a:t>
            </a:r>
          </a:p>
        </p:txBody>
      </p:sp>
      <p:sp>
        <p:nvSpPr>
          <p:cNvPr id="72" name="Rounded Rectangle 71"/>
          <p:cNvSpPr/>
          <p:nvPr/>
        </p:nvSpPr>
        <p:spPr>
          <a:xfrm>
            <a:off x="6286500" y="23812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Whole Blood</a:t>
            </a:r>
          </a:p>
        </p:txBody>
      </p:sp>
      <p:sp>
        <p:nvSpPr>
          <p:cNvPr id="73" name="Rounded Rectangle 72"/>
          <p:cNvSpPr/>
          <p:nvPr/>
        </p:nvSpPr>
        <p:spPr>
          <a:xfrm>
            <a:off x="6286500" y="28098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Plasma</a:t>
            </a:r>
          </a:p>
        </p:txBody>
      </p:sp>
      <p:sp>
        <p:nvSpPr>
          <p:cNvPr id="74" name="Rounded Rectangle 73"/>
          <p:cNvSpPr/>
          <p:nvPr/>
        </p:nvSpPr>
        <p:spPr>
          <a:xfrm>
            <a:off x="6286500" y="32385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Serum</a:t>
            </a:r>
          </a:p>
        </p:txBody>
      </p:sp>
      <p:sp>
        <p:nvSpPr>
          <p:cNvPr id="75" name="Rounded Rectangle 74"/>
          <p:cNvSpPr/>
          <p:nvPr/>
        </p:nvSpPr>
        <p:spPr>
          <a:xfrm>
            <a:off x="6286500" y="36671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Dried Blood Spot</a:t>
            </a:r>
          </a:p>
        </p:txBody>
      </p:sp>
      <p:sp>
        <p:nvSpPr>
          <p:cNvPr id="76" name="Rounded Rectangle 75"/>
          <p:cNvSpPr/>
          <p:nvPr/>
        </p:nvSpPr>
        <p:spPr>
          <a:xfrm>
            <a:off x="8153400"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Patient Group</a:t>
            </a:r>
          </a:p>
        </p:txBody>
      </p:sp>
      <p:sp>
        <p:nvSpPr>
          <p:cNvPr id="77" name="Rounded Rectangle 76"/>
          <p:cNvSpPr/>
          <p:nvPr/>
        </p:nvSpPr>
        <p:spPr>
          <a:xfrm>
            <a:off x="8286750" y="23812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Neonates</a:t>
            </a:r>
          </a:p>
        </p:txBody>
      </p:sp>
      <p:sp>
        <p:nvSpPr>
          <p:cNvPr id="78" name="Rounded Rectangle 77"/>
          <p:cNvSpPr/>
          <p:nvPr/>
        </p:nvSpPr>
        <p:spPr>
          <a:xfrm>
            <a:off x="8286750" y="280987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Pediatric Patients</a:t>
            </a:r>
          </a:p>
        </p:txBody>
      </p:sp>
      <p:sp>
        <p:nvSpPr>
          <p:cNvPr id="79" name="Rounded Rectangle 78"/>
          <p:cNvSpPr/>
          <p:nvPr/>
        </p:nvSpPr>
        <p:spPr>
          <a:xfrm>
            <a:off x="8286750" y="323850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Adults</a:t>
            </a:r>
          </a:p>
        </p:txBody>
      </p:sp>
      <p:sp>
        <p:nvSpPr>
          <p:cNvPr id="80" name="Rounded Rectangle 79"/>
          <p:cNvSpPr/>
          <p:nvPr/>
        </p:nvSpPr>
        <p:spPr>
          <a:xfrm>
            <a:off x="8286750" y="3667125"/>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Geriatric Patients</a:t>
            </a:r>
          </a:p>
        </p:txBody>
      </p:sp>
      <p:sp>
        <p:nvSpPr>
          <p:cNvPr id="81" name="Rounded Rectangle 80"/>
          <p:cNvSpPr/>
          <p:nvPr/>
        </p:nvSpPr>
        <p:spPr>
          <a:xfrm>
            <a:off x="10153650" y="1905000"/>
            <a:ext cx="1885950" cy="314325"/>
          </a:xfrm>
          <a:prstGeom prst="roundRect">
            <a:avLst>
              <a:gd name="adj" fmla="val 21212"/>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ctr"/>
            <a:r>
              <a:rPr sz="1100" b="1">
                <a:solidFill>
                  <a:srgbClr val="FFFFFF"/>
                </a:solidFill>
                <a:latin typeface="Calibri"/>
              </a:rPr>
              <a:t>Distribution Channel</a:t>
            </a:r>
          </a:p>
        </p:txBody>
      </p:sp>
      <p:sp>
        <p:nvSpPr>
          <p:cNvPr id="82" name="Rounded Rectangle 81"/>
          <p:cNvSpPr/>
          <p:nvPr/>
        </p:nvSpPr>
        <p:spPr>
          <a:xfrm>
            <a:off x="10287000" y="23812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Direct Sales</a:t>
            </a:r>
          </a:p>
        </p:txBody>
      </p:sp>
      <p:sp>
        <p:nvSpPr>
          <p:cNvPr id="83" name="Rounded Rectangle 82"/>
          <p:cNvSpPr/>
          <p:nvPr/>
        </p:nvSpPr>
        <p:spPr>
          <a:xfrm>
            <a:off x="10287000" y="2800350"/>
            <a:ext cx="1752600" cy="495300"/>
          </a:xfrm>
          <a:prstGeom prst="roundRect">
            <a:avLst>
              <a:gd name="adj" fmla="val 13461"/>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Medical Distributors &amp; Wholesalers</a:t>
            </a:r>
          </a:p>
        </p:txBody>
      </p:sp>
      <p:sp>
        <p:nvSpPr>
          <p:cNvPr id="84" name="Rounded Rectangle 83"/>
          <p:cNvSpPr/>
          <p:nvPr/>
        </p:nvSpPr>
        <p:spPr>
          <a:xfrm>
            <a:off x="10287000" y="34099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Retail Pharmacy</a:t>
            </a:r>
          </a:p>
        </p:txBody>
      </p:sp>
      <p:sp>
        <p:nvSpPr>
          <p:cNvPr id="85" name="Rounded Rectangle 84"/>
          <p:cNvSpPr/>
          <p:nvPr/>
        </p:nvSpPr>
        <p:spPr>
          <a:xfrm>
            <a:off x="10287000" y="3829050"/>
            <a:ext cx="1752600" cy="314325"/>
          </a:xfrm>
          <a:prstGeom prst="roundRect">
            <a:avLst>
              <a:gd name="adj" fmla="val 21212"/>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tIns="9525" bIns="9525" lIns="28575" rIns="28575"/>
          <a:lstStyle/>
          <a:p>
            <a:pPr algn="l"/>
            <a:r>
              <a:rPr sz="1100" b="0">
                <a:solidFill>
                  <a:srgbClr val="0B2E4A"/>
                </a:solidFill>
                <a:latin typeface="Calibri"/>
              </a:rPr>
              <a:t>E-Commerce / DTC</a:t>
            </a:r>
          </a:p>
        </p:txBody>
      </p:sp>
      <p:sp>
        <p:nvSpPr>
          <p:cNvPr id="86" name="Rectangle 8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88" name="Rounded Rectangle 8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9" name="Rounded Rectangle 8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0" name="Rounded Rectangle 8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Company Coverage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Companies profiled and benchmarked across the competition assessment (8 players)</a:t>
            </a:r>
          </a:p>
        </p:txBody>
      </p:sp>
      <p:sp>
        <p:nvSpPr>
          <p:cNvPr id="11" name="TextBox 10"/>
          <p:cNvSpPr txBox="1"/>
          <p:nvPr/>
        </p:nvSpPr>
        <p:spPr>
          <a:xfrm>
            <a:off x="142875" y="857250"/>
            <a:ext cx="11906250" cy="190500"/>
          </a:xfrm>
          <a:prstGeom prst="rect">
            <a:avLst/>
          </a:prstGeom>
          <a:noFill/>
        </p:spPr>
        <p:txBody>
          <a:bodyPr wrap="square" lIns="28575" rIns="28575" tIns="9525" bIns="9525" anchor="ctr">
            <a:spAutoFit/>
          </a:bodyPr>
          <a:lstStyle/>
          <a:p>
            <a:pPr algn="l"/>
            <a:r>
              <a:rPr sz="1100" b="0">
                <a:solidFill>
                  <a:srgbClr val="6C7A89"/>
                </a:solidFill>
                <a:latin typeface="Calibri"/>
              </a:rPr>
              <a:t>Companies covered in this study of the Capillary Blood Collection Devices Market profiled and benchmarked in the Competition Assessment section.</a:t>
            </a:r>
          </a:p>
        </p:txBody>
      </p:sp>
      <p:sp>
        <p:nvSpPr>
          <p:cNvPr id="12" name="Rectangle 11"/>
          <p:cNvSpPr/>
          <p:nvPr/>
        </p:nvSpPr>
        <p:spPr>
          <a:xfrm>
            <a:off x="142875" y="2724150"/>
            <a:ext cx="5857875" cy="22669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2875" y="2724150"/>
            <a:ext cx="5857875" cy="28575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875" y="2790825"/>
            <a:ext cx="5857875" cy="171450"/>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15" name="TextBox 14"/>
          <p:cNvSpPr txBox="1"/>
          <p:nvPr/>
        </p:nvSpPr>
        <p:spPr>
          <a:xfrm>
            <a:off x="352425" y="30099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16" name="TextBox 15"/>
          <p:cNvSpPr txBox="1"/>
          <p:nvPr/>
        </p:nvSpPr>
        <p:spPr>
          <a:xfrm>
            <a:off x="581025" y="30099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A</a:t>
            </a:r>
          </a:p>
        </p:txBody>
      </p:sp>
      <p:sp>
        <p:nvSpPr>
          <p:cNvPr id="17" name="Rectangle 16"/>
          <p:cNvSpPr/>
          <p:nvPr/>
        </p:nvSpPr>
        <p:spPr>
          <a:xfrm>
            <a:off x="152400" y="3505200"/>
            <a:ext cx="5838825" cy="4953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152400" y="35052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52425" y="35052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20" name="TextBox 19"/>
          <p:cNvSpPr txBox="1"/>
          <p:nvPr/>
        </p:nvSpPr>
        <p:spPr>
          <a:xfrm>
            <a:off x="581025" y="35052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B</a:t>
            </a:r>
          </a:p>
        </p:txBody>
      </p:sp>
      <p:cxnSp>
        <p:nvCxnSpPr>
          <p:cNvPr id="21" name="Connector 20"/>
          <p:cNvCxnSpPr/>
          <p:nvPr/>
        </p:nvCxnSpPr>
        <p:spPr>
          <a:xfrm>
            <a:off x="152400" y="40005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2425" y="40005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23" name="TextBox 22"/>
          <p:cNvSpPr txBox="1"/>
          <p:nvPr/>
        </p:nvSpPr>
        <p:spPr>
          <a:xfrm>
            <a:off x="581025" y="40005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C</a:t>
            </a:r>
          </a:p>
        </p:txBody>
      </p:sp>
      <p:sp>
        <p:nvSpPr>
          <p:cNvPr id="24" name="Rectangle 23"/>
          <p:cNvSpPr/>
          <p:nvPr/>
        </p:nvSpPr>
        <p:spPr>
          <a:xfrm>
            <a:off x="152400" y="4495800"/>
            <a:ext cx="5838825" cy="48577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152400" y="44958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2425" y="44958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27" name="TextBox 26"/>
          <p:cNvSpPr txBox="1"/>
          <p:nvPr/>
        </p:nvSpPr>
        <p:spPr>
          <a:xfrm>
            <a:off x="581025" y="44958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D</a:t>
            </a:r>
          </a:p>
        </p:txBody>
      </p:sp>
      <p:sp>
        <p:nvSpPr>
          <p:cNvPr id="28" name="Rectangle 27"/>
          <p:cNvSpPr/>
          <p:nvPr/>
        </p:nvSpPr>
        <p:spPr>
          <a:xfrm>
            <a:off x="6191250" y="2724150"/>
            <a:ext cx="5857875" cy="2266950"/>
          </a:xfrm>
          <a:prstGeom prst="rect">
            <a:avLst/>
          </a:prstGeom>
          <a:solidFill>
            <a:srgbClr val="FFFFFF"/>
          </a:solidFill>
          <a:ln w="12700">
            <a:solidFill>
              <a:srgbClr val="C9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1250" y="2724150"/>
            <a:ext cx="5857875" cy="285750"/>
          </a:xfrm>
          <a:prstGeom prst="rect">
            <a:avLst/>
          </a:prstGeom>
          <a:solidFill>
            <a:srgbClr val="0B2E4A"/>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91250" y="2790825"/>
            <a:ext cx="5857875" cy="171450"/>
          </a:xfrm>
          <a:prstGeom prst="rect">
            <a:avLst/>
          </a:prstGeom>
          <a:noFill/>
        </p:spPr>
        <p:txBody>
          <a:bodyPr wrap="square" lIns="28575" rIns="28575" tIns="9525" bIns="9525" anchor="ctr">
            <a:spAutoFit/>
          </a:bodyPr>
          <a:lstStyle/>
          <a:p>
            <a:pPr algn="ctr"/>
            <a:r>
              <a:rPr sz="1100" b="1">
                <a:solidFill>
                  <a:srgbClr val="FFFFFF"/>
                </a:solidFill>
                <a:latin typeface="Calibri"/>
              </a:rPr>
              <a:t>List Companies</a:t>
            </a:r>
          </a:p>
        </p:txBody>
      </p:sp>
      <p:sp>
        <p:nvSpPr>
          <p:cNvPr id="31" name="TextBox 30"/>
          <p:cNvSpPr txBox="1"/>
          <p:nvPr/>
        </p:nvSpPr>
        <p:spPr>
          <a:xfrm>
            <a:off x="6400800" y="30099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2" name="TextBox 31"/>
          <p:cNvSpPr txBox="1"/>
          <p:nvPr/>
        </p:nvSpPr>
        <p:spPr>
          <a:xfrm>
            <a:off x="6629400" y="30099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E</a:t>
            </a:r>
          </a:p>
        </p:txBody>
      </p:sp>
      <p:sp>
        <p:nvSpPr>
          <p:cNvPr id="33" name="Rectangle 32"/>
          <p:cNvSpPr/>
          <p:nvPr/>
        </p:nvSpPr>
        <p:spPr>
          <a:xfrm>
            <a:off x="6200775" y="3505200"/>
            <a:ext cx="5838825" cy="49530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200775" y="35052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00800" y="35052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6" name="TextBox 35"/>
          <p:cNvSpPr txBox="1"/>
          <p:nvPr/>
        </p:nvSpPr>
        <p:spPr>
          <a:xfrm>
            <a:off x="6629400" y="35052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F</a:t>
            </a:r>
          </a:p>
        </p:txBody>
      </p:sp>
      <p:cxnSp>
        <p:nvCxnSpPr>
          <p:cNvPr id="37" name="Connector 36"/>
          <p:cNvCxnSpPr/>
          <p:nvPr/>
        </p:nvCxnSpPr>
        <p:spPr>
          <a:xfrm>
            <a:off x="6200775" y="40005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00800" y="40005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39" name="TextBox 38"/>
          <p:cNvSpPr txBox="1"/>
          <p:nvPr/>
        </p:nvSpPr>
        <p:spPr>
          <a:xfrm>
            <a:off x="6629400" y="40005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G</a:t>
            </a:r>
          </a:p>
        </p:txBody>
      </p:sp>
      <p:sp>
        <p:nvSpPr>
          <p:cNvPr id="40" name="Rectangle 39"/>
          <p:cNvSpPr/>
          <p:nvPr/>
        </p:nvSpPr>
        <p:spPr>
          <a:xfrm>
            <a:off x="6200775" y="4495800"/>
            <a:ext cx="5838825" cy="485775"/>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6200775" y="4495800"/>
            <a:ext cx="5838825"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400800" y="4495800"/>
            <a:ext cx="152400" cy="495300"/>
          </a:xfrm>
          <a:prstGeom prst="rect">
            <a:avLst/>
          </a:prstGeom>
          <a:noFill/>
        </p:spPr>
        <p:txBody>
          <a:bodyPr wrap="none" lIns="0" rIns="0" tIns="0" bIns="0" anchor="ctr">
            <a:spAutoFit/>
          </a:bodyPr>
          <a:lstStyle/>
          <a:p>
            <a:pPr algn="l"/>
            <a:r>
              <a:rPr sz="1000" b="0">
                <a:solidFill>
                  <a:srgbClr val="6C7A89"/>
                </a:solidFill>
                <a:latin typeface="Calibri"/>
              </a:rPr>
              <a:t>❑</a:t>
            </a:r>
          </a:p>
        </p:txBody>
      </p:sp>
      <p:sp>
        <p:nvSpPr>
          <p:cNvPr id="43" name="TextBox 42"/>
          <p:cNvSpPr txBox="1"/>
          <p:nvPr/>
        </p:nvSpPr>
        <p:spPr>
          <a:xfrm>
            <a:off x="6629400" y="4495800"/>
            <a:ext cx="5286375" cy="495300"/>
          </a:xfrm>
          <a:prstGeom prst="rect">
            <a:avLst/>
          </a:prstGeom>
          <a:noFill/>
        </p:spPr>
        <p:txBody>
          <a:bodyPr wrap="square" lIns="28575" rIns="28575" tIns="9525" bIns="9525" anchor="ctr">
            <a:spAutoFit/>
          </a:bodyPr>
          <a:lstStyle/>
          <a:p>
            <a:pPr algn="l"/>
            <a:r>
              <a:rPr sz="1050" b="0">
                <a:solidFill>
                  <a:srgbClr val="2E2E2E"/>
                </a:solidFill>
                <a:latin typeface="Calibri"/>
              </a:rPr>
              <a:t>Company H</a:t>
            </a:r>
          </a:p>
        </p:txBody>
      </p:sp>
      <p:sp>
        <p:nvSpPr>
          <p:cNvPr id="44" name="TextBox 43"/>
          <p:cNvSpPr txBox="1"/>
          <p:nvPr/>
        </p:nvSpPr>
        <p:spPr>
          <a:xfrm>
            <a:off x="142875" y="6438900"/>
            <a:ext cx="11906250" cy="152400"/>
          </a:xfrm>
          <a:prstGeom prst="rect">
            <a:avLst/>
          </a:prstGeom>
          <a:noFill/>
        </p:spPr>
        <p:txBody>
          <a:bodyPr wrap="square" lIns="28575" rIns="28575" tIns="9525" bIns="9525" anchor="ctr">
            <a:spAutoFit/>
          </a:bodyPr>
          <a:lstStyle/>
          <a:p>
            <a:pPr algn="l"/>
            <a:r>
              <a:rPr sz="900" b="1">
                <a:solidFill>
                  <a:srgbClr val="B06A2C"/>
                </a:solidFill>
                <a:latin typeface="Calibri"/>
              </a:rPr>
              <a:t>Note: the list of companies is indicative and can be customised on request.</a:t>
            </a:r>
          </a:p>
        </p:txBody>
      </p:sp>
      <p:sp>
        <p:nvSpPr>
          <p:cNvPr id="45" name="Rectangle 4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7" name="Rounded Rectangle 4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8" name="Rounded Rectangle 4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9" name="Rounded Rectangle 4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Global Overview</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Market Summary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Pricing &amp; Price Index</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Market Summary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&amp; Value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Country Outlook</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Summary, By Volume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global market volume growth, incremental opportunity and the geographies driving it,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MARKET SIZE (UNITS)</a:t>
            </a:r>
          </a:p>
          <a:p>
            <a:pPr algn="ctr"/>
            <a:r>
              <a:rPr sz="1500" b="1">
                <a:solidFill>
                  <a:srgbClr val="0E72AE"/>
                </a:solidFill>
                <a:latin typeface="Calibri"/>
              </a:rPr>
              <a:t>2,822</a:t>
            </a:r>
          </a:p>
        </p:txBody>
      </p:sp>
      <p:sp>
        <p:nvSpPr>
          <p:cNvPr id="13" name="Rounded Rectangle 12"/>
          <p:cNvSpPr/>
          <p:nvPr/>
        </p:nvSpPr>
        <p:spPr>
          <a:xfrm>
            <a:off x="31432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(UNITS)</a:t>
            </a:r>
          </a:p>
          <a:p>
            <a:pPr algn="ctr"/>
            <a:r>
              <a:rPr sz="1500" b="1">
                <a:solidFill>
                  <a:srgbClr val="0E72AE"/>
                </a:solidFill>
                <a:latin typeface="Calibri"/>
              </a:rPr>
              <a:t>5,566</a:t>
            </a:r>
          </a:p>
        </p:txBody>
      </p:sp>
      <p:sp>
        <p:nvSpPr>
          <p:cNvPr id="14" name="Rounded Rectangle 13"/>
          <p:cNvSpPr/>
          <p:nvPr/>
        </p:nvSpPr>
        <p:spPr>
          <a:xfrm>
            <a:off x="61531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2021–2025</a:t>
            </a:r>
          </a:p>
          <a:p>
            <a:pPr algn="ctr"/>
            <a:r>
              <a:rPr sz="1500" b="1">
                <a:solidFill>
                  <a:srgbClr val="0E72AE"/>
                </a:solidFill>
                <a:latin typeface="Calibri"/>
              </a:rPr>
              <a:t>5.9%</a:t>
            </a:r>
          </a:p>
        </p:txBody>
      </p:sp>
      <p:sp>
        <p:nvSpPr>
          <p:cNvPr id="15" name="Rounded Rectangle 14"/>
          <p:cNvSpPr/>
          <p:nvPr/>
        </p:nvSpPr>
        <p:spPr>
          <a:xfrm>
            <a:off x="91630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1500" b="1">
                <a:solidFill>
                  <a:srgbClr val="0E72AE"/>
                </a:solidFill>
                <a:latin typeface="Calibri"/>
              </a:rPr>
              <a:t>7.0%</a:t>
            </a:r>
          </a:p>
        </p:txBody>
      </p:sp>
      <p:sp>
        <p:nvSpPr>
          <p:cNvPr id="16" name="Rounded Rectangle 15"/>
          <p:cNvSpPr/>
          <p:nvPr/>
        </p:nvSpPr>
        <p:spPr>
          <a:xfrm>
            <a:off x="142875" y="1504950"/>
            <a:ext cx="769620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15621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8" name="Chart 17"/>
          <p:cNvGraphicFramePr>
            <a:graphicFrameLocks noGrp="1"/>
          </p:cNvGraphicFramePr>
          <p:nvPr/>
        </p:nvGraphicFramePr>
        <p:xfrm>
          <a:off x="238125" y="1790700"/>
          <a:ext cx="7505700" cy="2114550"/>
        </p:xfrm>
        <a:graphic>
          <a:graphicData uri="http://schemas.openxmlformats.org/drawingml/2006/chart">
            <c:chart xmlns:c="http://schemas.openxmlformats.org/drawingml/2006/chart" r:id="rId3"/>
          </a:graphicData>
        </a:graphic>
      </p:graphicFrame>
      <p:sp>
        <p:nvSpPr>
          <p:cNvPr id="19" name="Rounded Rectangle 18"/>
          <p:cNvSpPr/>
          <p:nvPr/>
        </p:nvSpPr>
        <p:spPr>
          <a:xfrm>
            <a:off x="142875" y="4019550"/>
            <a:ext cx="769620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40767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(Units)</a:t>
            </a:r>
          </a:p>
        </p:txBody>
      </p:sp>
      <p:graphicFrame>
        <p:nvGraphicFramePr>
          <p:cNvPr id="21" name="Chart 20"/>
          <p:cNvGraphicFramePr>
            <a:graphicFrameLocks noGrp="1"/>
          </p:cNvGraphicFramePr>
          <p:nvPr/>
        </p:nvGraphicFramePr>
        <p:xfrm>
          <a:off x="238125" y="4305300"/>
          <a:ext cx="7505700" cy="2286000"/>
        </p:xfrm>
        <a:graphic>
          <a:graphicData uri="http://schemas.openxmlformats.org/drawingml/2006/chart">
            <c:chart xmlns:c="http://schemas.openxmlformats.org/drawingml/2006/chart" r:id="rId4"/>
          </a:graphicData>
        </a:graphic>
      </p:graphicFrame>
      <p:sp>
        <p:nvSpPr>
          <p:cNvPr id="22" name="Rounded Rectangle 21"/>
          <p:cNvSpPr/>
          <p:nvPr/>
        </p:nvSpPr>
        <p:spPr>
          <a:xfrm>
            <a:off x="7915275" y="1504950"/>
            <a:ext cx="41338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1590675"/>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4" name="Rectangle 23"/>
          <p:cNvSpPr/>
          <p:nvPr/>
        </p:nvSpPr>
        <p:spPr>
          <a:xfrm>
            <a:off x="8048625" y="18288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1914525"/>
            <a:ext cx="38671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grows at 6.1% CAGR (2021–2026), accelerating to 7.0%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volume of 722.3 Units is added between 2021 and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 further 2,744 Units is added 2026–2036 more than the previous period.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incremental volume: 3,466 Units over 2021–2036, a 2.7× expansion.</a:t>
            </a:r>
          </a:p>
        </p:txBody>
      </p:sp>
      <p:sp>
        <p:nvSpPr>
          <p:cNvPr id="26" name="Rounded Rectangle 25"/>
          <p:cNvSpPr/>
          <p:nvPr/>
        </p:nvSpPr>
        <p:spPr>
          <a:xfrm>
            <a:off x="7915275" y="4019550"/>
            <a:ext cx="41338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105275"/>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8" name="Rectangle 27"/>
          <p:cNvSpPr/>
          <p:nvPr/>
        </p:nvSpPr>
        <p:spPr>
          <a:xfrm>
            <a:off x="8048625" y="43434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8625" y="4429125"/>
            <a:ext cx="3867150" cy="2143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leads regional growth at 7.7%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concentrates in 'Capillary Blood Collection Containers' within Product Type.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Expanding end-use applications and access.</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Pricing &amp; Regional Price Index</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average price by sub-segment and price variation by region, highlighting where pricing power sits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904875"/>
            <a:ext cx="7696200" cy="2781300"/>
          </a:xfrm>
          <a:prstGeom prst="roundRect">
            <a:avLst>
              <a:gd name="adj" fmla="val 273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6202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by Product Type  ·  range across 2021–2036 (US$/Units)</a:t>
            </a:r>
          </a:p>
        </p:txBody>
      </p:sp>
      <p:sp>
        <p:nvSpPr>
          <p:cNvPr id="14" name="TextBox 13"/>
          <p:cNvSpPr txBox="1"/>
          <p:nvPr/>
        </p:nvSpPr>
        <p:spPr>
          <a:xfrm>
            <a:off x="219075" y="3238500"/>
            <a:ext cx="419722" cy="133350"/>
          </a:xfrm>
          <a:prstGeom prst="rect">
            <a:avLst/>
          </a:prstGeom>
          <a:noFill/>
        </p:spPr>
        <p:txBody>
          <a:bodyPr wrap="square" lIns="28575" rIns="28575" tIns="9525" bIns="9525" anchor="ctr">
            <a:spAutoFit/>
          </a:bodyPr>
          <a:lstStyle/>
          <a:p>
            <a:pPr algn="r"/>
            <a:r>
              <a:rPr sz="750" b="0">
                <a:solidFill>
                  <a:srgbClr val="6C7A89"/>
                </a:solidFill>
                <a:latin typeface="Calibri"/>
              </a:rPr>
              <a:t>804,192</a:t>
            </a:r>
          </a:p>
        </p:txBody>
      </p:sp>
      <p:sp>
        <p:nvSpPr>
          <p:cNvPr id="15" name="TextBox 14"/>
          <p:cNvSpPr txBox="1"/>
          <p:nvPr/>
        </p:nvSpPr>
        <p:spPr>
          <a:xfrm>
            <a:off x="219075" y="2238375"/>
            <a:ext cx="419722" cy="133350"/>
          </a:xfrm>
          <a:prstGeom prst="rect">
            <a:avLst/>
          </a:prstGeom>
          <a:noFill/>
        </p:spPr>
        <p:txBody>
          <a:bodyPr wrap="square" lIns="28575" rIns="28575" tIns="9525" bIns="9525" anchor="ctr">
            <a:spAutoFit/>
          </a:bodyPr>
          <a:lstStyle/>
          <a:p>
            <a:pPr algn="r"/>
            <a:r>
              <a:rPr sz="750" b="0">
                <a:solidFill>
                  <a:srgbClr val="6C7A89"/>
                </a:solidFill>
                <a:latin typeface="Calibri"/>
              </a:rPr>
              <a:t>851,091</a:t>
            </a:r>
          </a:p>
        </p:txBody>
      </p:sp>
      <p:sp>
        <p:nvSpPr>
          <p:cNvPr id="16" name="TextBox 15"/>
          <p:cNvSpPr txBox="1"/>
          <p:nvPr/>
        </p:nvSpPr>
        <p:spPr>
          <a:xfrm>
            <a:off x="219075" y="1238250"/>
            <a:ext cx="419722" cy="133350"/>
          </a:xfrm>
          <a:prstGeom prst="rect">
            <a:avLst/>
          </a:prstGeom>
          <a:noFill/>
        </p:spPr>
        <p:txBody>
          <a:bodyPr wrap="square" lIns="28575" rIns="28575" tIns="9525" bIns="9525" anchor="ctr">
            <a:spAutoFit/>
          </a:bodyPr>
          <a:lstStyle/>
          <a:p>
            <a:pPr algn="r"/>
            <a:r>
              <a:rPr sz="750" b="0">
                <a:solidFill>
                  <a:srgbClr val="6C7A89"/>
                </a:solidFill>
                <a:latin typeface="Calibri"/>
              </a:rPr>
              <a:t>897,989</a:t>
            </a:r>
          </a:p>
        </p:txBody>
      </p:sp>
      <p:cxnSp>
        <p:nvCxnSpPr>
          <p:cNvPr id="17" name="Connector 16"/>
          <p:cNvCxnSpPr/>
          <p:nvPr/>
        </p:nvCxnSpPr>
        <p:spPr>
          <a:xfrm flipV="1">
            <a:off x="1567406" y="1556364"/>
            <a:ext cx="0" cy="148684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35961" y="304320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435961" y="155636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348331" y="2381888"/>
            <a:ext cx="438150" cy="578441"/>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348331" y="2750066"/>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5947" y="1403964"/>
            <a:ext cx="1742920" cy="133350"/>
          </a:xfrm>
          <a:prstGeom prst="rect">
            <a:avLst/>
          </a:prstGeom>
          <a:noFill/>
        </p:spPr>
        <p:txBody>
          <a:bodyPr wrap="square" lIns="28575" rIns="28575" tIns="9525" bIns="9525">
            <a:spAutoFit/>
          </a:bodyPr>
          <a:lstStyle/>
          <a:p>
            <a:pPr algn="ctr"/>
            <a:r>
              <a:rPr sz="750" b="1">
                <a:solidFill>
                  <a:srgbClr val="0B2E4A"/>
                </a:solidFill>
                <a:latin typeface="Calibri"/>
              </a:rPr>
              <a:t>830,223</a:t>
            </a:r>
          </a:p>
        </p:txBody>
      </p:sp>
      <p:sp>
        <p:nvSpPr>
          <p:cNvPr id="23" name="TextBox 22"/>
          <p:cNvSpPr txBox="1"/>
          <p:nvPr/>
        </p:nvSpPr>
        <p:spPr>
          <a:xfrm>
            <a:off x="695947" y="3333750"/>
            <a:ext cx="1742920" cy="285750"/>
          </a:xfrm>
          <a:prstGeom prst="rect">
            <a:avLst/>
          </a:prstGeom>
          <a:noFill/>
        </p:spPr>
        <p:txBody>
          <a:bodyPr wrap="square" lIns="28575" rIns="28575" tIns="9525" bIns="9525">
            <a:spAutoFit/>
          </a:bodyPr>
          <a:lstStyle/>
          <a:p>
            <a:pPr algn="ctr"/>
            <a:r>
              <a:rPr sz="750" b="0">
                <a:solidFill>
                  <a:srgbClr val="2E2E2E"/>
                </a:solidFill>
                <a:latin typeface="Calibri"/>
              </a:rPr>
              <a:t>Capillary Blood Colle…</a:t>
            </a:r>
          </a:p>
        </p:txBody>
      </p:sp>
      <p:cxnSp>
        <p:nvCxnSpPr>
          <p:cNvPr id="24" name="Connector 23"/>
          <p:cNvCxnSpPr/>
          <p:nvPr/>
        </p:nvCxnSpPr>
        <p:spPr>
          <a:xfrm flipV="1">
            <a:off x="3310326" y="1548663"/>
            <a:ext cx="0" cy="1525714"/>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178881" y="307437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178881" y="154866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3091251" y="2398382"/>
            <a:ext cx="438150" cy="599898"/>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3091251" y="278682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8866" y="1396263"/>
            <a:ext cx="1742920" cy="133350"/>
          </a:xfrm>
          <a:prstGeom prst="rect">
            <a:avLst/>
          </a:prstGeom>
          <a:noFill/>
        </p:spPr>
        <p:txBody>
          <a:bodyPr wrap="square" lIns="28575" rIns="28575" tIns="9525" bIns="9525">
            <a:spAutoFit/>
          </a:bodyPr>
          <a:lstStyle/>
          <a:p>
            <a:pPr algn="ctr"/>
            <a:r>
              <a:rPr sz="750" b="1">
                <a:solidFill>
                  <a:srgbClr val="0B2E4A"/>
                </a:solidFill>
                <a:latin typeface="Calibri"/>
              </a:rPr>
              <a:t>828,499</a:t>
            </a:r>
          </a:p>
        </p:txBody>
      </p:sp>
      <p:sp>
        <p:nvSpPr>
          <p:cNvPr id="30" name="TextBox 29"/>
          <p:cNvSpPr txBox="1"/>
          <p:nvPr/>
        </p:nvSpPr>
        <p:spPr>
          <a:xfrm>
            <a:off x="2438866" y="3333750"/>
            <a:ext cx="1742920" cy="285750"/>
          </a:xfrm>
          <a:prstGeom prst="rect">
            <a:avLst/>
          </a:prstGeom>
          <a:noFill/>
        </p:spPr>
        <p:txBody>
          <a:bodyPr wrap="square" lIns="28575" rIns="28575" tIns="9525" bIns="9525">
            <a:spAutoFit/>
          </a:bodyPr>
          <a:lstStyle/>
          <a:p>
            <a:pPr algn="ctr"/>
            <a:r>
              <a:rPr sz="750" b="0">
                <a:solidFill>
                  <a:srgbClr val="2E2E2E"/>
                </a:solidFill>
                <a:latin typeface="Calibri"/>
              </a:rPr>
              <a:t>Blood Collection Lanc…</a:t>
            </a:r>
          </a:p>
        </p:txBody>
      </p:sp>
      <p:cxnSp>
        <p:nvCxnSpPr>
          <p:cNvPr id="31" name="Connector 30"/>
          <p:cNvCxnSpPr/>
          <p:nvPr/>
        </p:nvCxnSpPr>
        <p:spPr>
          <a:xfrm flipV="1">
            <a:off x="5053246" y="1584314"/>
            <a:ext cx="0" cy="1486643"/>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921801" y="3070957"/>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921801" y="1584314"/>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4834171" y="2406820"/>
            <a:ext cx="438150" cy="574722"/>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4834171" y="2770144"/>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181786" y="1431914"/>
            <a:ext cx="1742920" cy="133350"/>
          </a:xfrm>
          <a:prstGeom prst="rect">
            <a:avLst/>
          </a:prstGeom>
          <a:noFill/>
        </p:spPr>
        <p:txBody>
          <a:bodyPr wrap="square" lIns="28575" rIns="28575" tIns="9525" bIns="9525">
            <a:spAutoFit/>
          </a:bodyPr>
          <a:lstStyle/>
          <a:p>
            <a:pPr algn="ctr"/>
            <a:r>
              <a:rPr sz="750" b="1">
                <a:solidFill>
                  <a:srgbClr val="0B2E4A"/>
                </a:solidFill>
                <a:latin typeface="Calibri"/>
              </a:rPr>
              <a:t>829,281</a:t>
            </a:r>
          </a:p>
        </p:txBody>
      </p:sp>
      <p:sp>
        <p:nvSpPr>
          <p:cNvPr id="37" name="TextBox 36"/>
          <p:cNvSpPr txBox="1"/>
          <p:nvPr/>
        </p:nvSpPr>
        <p:spPr>
          <a:xfrm>
            <a:off x="4181786" y="3333750"/>
            <a:ext cx="1742920" cy="285750"/>
          </a:xfrm>
          <a:prstGeom prst="rect">
            <a:avLst/>
          </a:prstGeom>
          <a:noFill/>
        </p:spPr>
        <p:txBody>
          <a:bodyPr wrap="square" lIns="28575" rIns="28575" tIns="9525" bIns="9525">
            <a:spAutoFit/>
          </a:bodyPr>
          <a:lstStyle/>
          <a:p>
            <a:pPr algn="ctr"/>
            <a:r>
              <a:rPr sz="750" b="0">
                <a:solidFill>
                  <a:srgbClr val="2E2E2E"/>
                </a:solidFill>
                <a:latin typeface="Calibri"/>
              </a:rPr>
              <a:t>Integrated Capillary…</a:t>
            </a:r>
          </a:p>
        </p:txBody>
      </p:sp>
      <p:cxnSp>
        <p:nvCxnSpPr>
          <p:cNvPr id="38" name="Connector 37"/>
          <p:cNvCxnSpPr/>
          <p:nvPr/>
        </p:nvCxnSpPr>
        <p:spPr>
          <a:xfrm flipV="1">
            <a:off x="6796165" y="1535723"/>
            <a:ext cx="0" cy="1527195"/>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664720" y="3062918"/>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664720" y="1535723"/>
            <a:ext cx="262890" cy="0"/>
          </a:xfrm>
          <a:prstGeom prst="line">
            <a:avLst/>
          </a:prstGeom>
          <a:ln w="17780">
            <a:solidFill>
              <a:srgbClr val="8FB6CC"/>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577090" y="2373707"/>
            <a:ext cx="438150" cy="597845"/>
          </a:xfrm>
          <a:prstGeom prst="rect">
            <a:avLst/>
          </a:prstGeom>
          <a:solidFill>
            <a:srgbClr val="CFE7F5"/>
          </a:solidFill>
          <a:ln w="15875">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6577090" y="2750967"/>
            <a:ext cx="438150" cy="0"/>
          </a:xfrm>
          <a:prstGeom prst="line">
            <a:avLst/>
          </a:prstGeom>
          <a:ln w="2540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924705" y="1383323"/>
            <a:ext cx="1742920" cy="133350"/>
          </a:xfrm>
          <a:prstGeom prst="rect">
            <a:avLst/>
          </a:prstGeom>
          <a:noFill/>
        </p:spPr>
        <p:txBody>
          <a:bodyPr wrap="square" lIns="28575" rIns="28575" tIns="9525" bIns="9525">
            <a:spAutoFit/>
          </a:bodyPr>
          <a:lstStyle/>
          <a:p>
            <a:pPr algn="ctr"/>
            <a:r>
              <a:rPr sz="750" b="1">
                <a:solidFill>
                  <a:srgbClr val="0B2E4A"/>
                </a:solidFill>
                <a:latin typeface="Calibri"/>
              </a:rPr>
              <a:t>830,180</a:t>
            </a:r>
          </a:p>
        </p:txBody>
      </p:sp>
      <p:sp>
        <p:nvSpPr>
          <p:cNvPr id="44" name="TextBox 43"/>
          <p:cNvSpPr txBox="1"/>
          <p:nvPr/>
        </p:nvSpPr>
        <p:spPr>
          <a:xfrm>
            <a:off x="5924705" y="3333750"/>
            <a:ext cx="1742920" cy="285750"/>
          </a:xfrm>
          <a:prstGeom prst="rect">
            <a:avLst/>
          </a:prstGeom>
          <a:noFill/>
        </p:spPr>
        <p:txBody>
          <a:bodyPr wrap="square" lIns="28575" rIns="28575" tIns="9525" bIns="9525">
            <a:spAutoFit/>
          </a:bodyPr>
          <a:lstStyle/>
          <a:p>
            <a:pPr algn="ctr"/>
            <a:r>
              <a:rPr sz="750" b="0">
                <a:solidFill>
                  <a:srgbClr val="2E2E2E"/>
                </a:solidFill>
                <a:latin typeface="Calibri"/>
              </a:rPr>
              <a:t>Dried Blood Spot Coll…</a:t>
            </a:r>
          </a:p>
        </p:txBody>
      </p:sp>
      <p:sp>
        <p:nvSpPr>
          <p:cNvPr id="45" name="Rounded Rectangle 44"/>
          <p:cNvSpPr/>
          <p:nvPr/>
        </p:nvSpPr>
        <p:spPr>
          <a:xfrm>
            <a:off x="142875" y="3743325"/>
            <a:ext cx="7696200" cy="2905125"/>
          </a:xfrm>
          <a:prstGeom prst="roundRect">
            <a:avLst>
              <a:gd name="adj" fmla="val 26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8125" y="380047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 vs Global  ·  2026–2036</a:t>
            </a:r>
          </a:p>
        </p:txBody>
      </p:sp>
      <p:sp>
        <p:nvSpPr>
          <p:cNvPr id="47" name="TextBox 46"/>
          <p:cNvSpPr txBox="1"/>
          <p:nvPr/>
        </p:nvSpPr>
        <p:spPr>
          <a:xfrm>
            <a:off x="219075" y="4237143"/>
            <a:ext cx="361950" cy="133350"/>
          </a:xfrm>
          <a:prstGeom prst="rect">
            <a:avLst/>
          </a:prstGeom>
          <a:noFill/>
        </p:spPr>
        <p:txBody>
          <a:bodyPr wrap="none" lIns="0" rIns="0" tIns="0" bIns="0" anchor="ctr">
            <a:spAutoFit/>
          </a:bodyPr>
          <a:lstStyle/>
          <a:p>
            <a:pPr algn="r"/>
            <a:r>
              <a:rPr sz="750" b="0">
                <a:solidFill>
                  <a:srgbClr val="6C7A89"/>
                </a:solidFill>
                <a:latin typeface="Calibri"/>
              </a:rPr>
              <a:t>+14%</a:t>
            </a:r>
          </a:p>
        </p:txBody>
      </p:sp>
      <p:sp>
        <p:nvSpPr>
          <p:cNvPr id="48" name="TextBox 47"/>
          <p:cNvSpPr txBox="1"/>
          <p:nvPr/>
        </p:nvSpPr>
        <p:spPr>
          <a:xfrm>
            <a:off x="219075" y="5157788"/>
            <a:ext cx="361950" cy="133350"/>
          </a:xfrm>
          <a:prstGeom prst="rect">
            <a:avLst/>
          </a:prstGeom>
          <a:noFill/>
        </p:spPr>
        <p:txBody>
          <a:bodyPr wrap="square" lIns="28575" rIns="28575" tIns="9525" bIns="9525" anchor="ctr">
            <a:spAutoFit/>
          </a:bodyPr>
          <a:lstStyle/>
          <a:p>
            <a:pPr algn="r"/>
            <a:r>
              <a:rPr sz="750" b="1">
                <a:solidFill>
                  <a:srgbClr val="6C7A89"/>
                </a:solidFill>
                <a:latin typeface="Calibri"/>
              </a:rPr>
              <a:t>Global</a:t>
            </a:r>
          </a:p>
        </p:txBody>
      </p:sp>
      <p:sp>
        <p:nvSpPr>
          <p:cNvPr id="49" name="TextBox 48"/>
          <p:cNvSpPr txBox="1"/>
          <p:nvPr/>
        </p:nvSpPr>
        <p:spPr>
          <a:xfrm>
            <a:off x="219075" y="6078432"/>
            <a:ext cx="361950" cy="133350"/>
          </a:xfrm>
          <a:prstGeom prst="rect">
            <a:avLst/>
          </a:prstGeom>
          <a:noFill/>
        </p:spPr>
        <p:txBody>
          <a:bodyPr wrap="none" lIns="0" rIns="0" tIns="0" bIns="0" anchor="ctr">
            <a:spAutoFit/>
          </a:bodyPr>
          <a:lstStyle/>
          <a:p>
            <a:pPr algn="r"/>
            <a:r>
              <a:rPr sz="750" b="0">
                <a:solidFill>
                  <a:srgbClr val="6C7A89"/>
                </a:solidFill>
                <a:latin typeface="Calibri"/>
              </a:rPr>
              <a:t>-14%</a:t>
            </a:r>
          </a:p>
        </p:txBody>
      </p:sp>
      <p:cxnSp>
        <p:nvCxnSpPr>
          <p:cNvPr id="50" name="Connector 49"/>
          <p:cNvCxnSpPr/>
          <p:nvPr/>
        </p:nvCxnSpPr>
        <p:spPr>
          <a:xfrm>
            <a:off x="619125" y="5224462"/>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93989" y="5114602"/>
            <a:ext cx="457200" cy="10986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9125" y="4971727"/>
            <a:ext cx="1006929" cy="133350"/>
          </a:xfrm>
          <a:prstGeom prst="rect">
            <a:avLst/>
          </a:prstGeom>
          <a:noFill/>
        </p:spPr>
        <p:txBody>
          <a:bodyPr wrap="square" lIns="28575" rIns="28575" tIns="9525" bIns="9525">
            <a:spAutoFit/>
          </a:bodyPr>
          <a:lstStyle/>
          <a:p>
            <a:pPr algn="ctr"/>
            <a:r>
              <a:rPr sz="800" b="1">
                <a:solidFill>
                  <a:srgbClr val="2E2E2E"/>
                </a:solidFill>
                <a:latin typeface="Calibri"/>
              </a:rPr>
              <a:t>+1.7%</a:t>
            </a:r>
          </a:p>
        </p:txBody>
      </p:sp>
      <p:sp>
        <p:nvSpPr>
          <p:cNvPr id="53" name="TextBox 52"/>
          <p:cNvSpPr txBox="1"/>
          <p:nvPr/>
        </p:nvSpPr>
        <p:spPr>
          <a:xfrm>
            <a:off x="619125"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North America</a:t>
            </a:r>
          </a:p>
        </p:txBody>
      </p:sp>
      <p:sp>
        <p:nvSpPr>
          <p:cNvPr id="54" name="Rectangle 53"/>
          <p:cNvSpPr/>
          <p:nvPr/>
        </p:nvSpPr>
        <p:spPr>
          <a:xfrm>
            <a:off x="1900918" y="5224462"/>
            <a:ext cx="457200" cy="295153"/>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26054" y="5529140"/>
            <a:ext cx="1006929" cy="133350"/>
          </a:xfrm>
          <a:prstGeom prst="rect">
            <a:avLst/>
          </a:prstGeom>
          <a:noFill/>
        </p:spPr>
        <p:txBody>
          <a:bodyPr wrap="square" lIns="28575" rIns="28575" tIns="9525" bIns="9525">
            <a:spAutoFit/>
          </a:bodyPr>
          <a:lstStyle/>
          <a:p>
            <a:pPr algn="ctr"/>
            <a:r>
              <a:rPr sz="800" b="1">
                <a:solidFill>
                  <a:srgbClr val="2E2E2E"/>
                </a:solidFill>
                <a:latin typeface="Calibri"/>
              </a:rPr>
              <a:t>-4.6%</a:t>
            </a:r>
          </a:p>
        </p:txBody>
      </p:sp>
      <p:sp>
        <p:nvSpPr>
          <p:cNvPr id="56" name="TextBox 55"/>
          <p:cNvSpPr txBox="1"/>
          <p:nvPr/>
        </p:nvSpPr>
        <p:spPr>
          <a:xfrm>
            <a:off x="1626054"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Latin America</a:t>
            </a:r>
          </a:p>
        </p:txBody>
      </p:sp>
      <p:sp>
        <p:nvSpPr>
          <p:cNvPr id="57" name="Rectangle 56"/>
          <p:cNvSpPr/>
          <p:nvPr/>
        </p:nvSpPr>
        <p:spPr>
          <a:xfrm>
            <a:off x="2907846" y="4423913"/>
            <a:ext cx="457200" cy="80054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32982" y="4281038"/>
            <a:ext cx="1006929" cy="133350"/>
          </a:xfrm>
          <a:prstGeom prst="rect">
            <a:avLst/>
          </a:prstGeom>
          <a:noFill/>
        </p:spPr>
        <p:txBody>
          <a:bodyPr wrap="square" lIns="28575" rIns="28575" tIns="9525" bIns="9525">
            <a:spAutoFit/>
          </a:bodyPr>
          <a:lstStyle/>
          <a:p>
            <a:pPr algn="ctr"/>
            <a:r>
              <a:rPr sz="800" b="1">
                <a:solidFill>
                  <a:srgbClr val="2E2E2E"/>
                </a:solidFill>
                <a:latin typeface="Calibri"/>
              </a:rPr>
              <a:t>+12.6%</a:t>
            </a:r>
          </a:p>
        </p:txBody>
      </p:sp>
      <p:sp>
        <p:nvSpPr>
          <p:cNvPr id="59" name="TextBox 58"/>
          <p:cNvSpPr txBox="1"/>
          <p:nvPr/>
        </p:nvSpPr>
        <p:spPr>
          <a:xfrm>
            <a:off x="2632982"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Western Europe</a:t>
            </a:r>
          </a:p>
        </p:txBody>
      </p:sp>
      <p:sp>
        <p:nvSpPr>
          <p:cNvPr id="60" name="Rectangle 59"/>
          <p:cNvSpPr/>
          <p:nvPr/>
        </p:nvSpPr>
        <p:spPr>
          <a:xfrm>
            <a:off x="3914775" y="5224462"/>
            <a:ext cx="457200" cy="390755"/>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39911" y="5624742"/>
            <a:ext cx="1006929" cy="133350"/>
          </a:xfrm>
          <a:prstGeom prst="rect">
            <a:avLst/>
          </a:prstGeom>
          <a:noFill/>
        </p:spPr>
        <p:txBody>
          <a:bodyPr wrap="square" lIns="28575" rIns="28575" tIns="9525" bIns="9525">
            <a:spAutoFit/>
          </a:bodyPr>
          <a:lstStyle/>
          <a:p>
            <a:pPr algn="ctr"/>
            <a:r>
              <a:rPr sz="800" b="1">
                <a:solidFill>
                  <a:srgbClr val="2E2E2E"/>
                </a:solidFill>
                <a:latin typeface="Calibri"/>
              </a:rPr>
              <a:t>-6.2%</a:t>
            </a:r>
          </a:p>
        </p:txBody>
      </p:sp>
      <p:sp>
        <p:nvSpPr>
          <p:cNvPr id="62" name="TextBox 61"/>
          <p:cNvSpPr txBox="1"/>
          <p:nvPr/>
        </p:nvSpPr>
        <p:spPr>
          <a:xfrm>
            <a:off x="3639911"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Eastern Europe</a:t>
            </a:r>
          </a:p>
        </p:txBody>
      </p:sp>
      <p:sp>
        <p:nvSpPr>
          <p:cNvPr id="63" name="Rectangle 62"/>
          <p:cNvSpPr/>
          <p:nvPr/>
        </p:nvSpPr>
        <p:spPr>
          <a:xfrm>
            <a:off x="4921704" y="5224462"/>
            <a:ext cx="457200" cy="574931"/>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46839" y="5808919"/>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-9.1%</a:t>
            </a:r>
          </a:p>
        </p:txBody>
      </p:sp>
      <p:sp>
        <p:nvSpPr>
          <p:cNvPr id="65" name="TextBox 64"/>
          <p:cNvSpPr txBox="1"/>
          <p:nvPr/>
        </p:nvSpPr>
        <p:spPr>
          <a:xfrm>
            <a:off x="4646839"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East Asia</a:t>
            </a:r>
          </a:p>
        </p:txBody>
      </p:sp>
      <p:sp>
        <p:nvSpPr>
          <p:cNvPr id="66" name="Rectangle 65"/>
          <p:cNvSpPr/>
          <p:nvPr/>
        </p:nvSpPr>
        <p:spPr>
          <a:xfrm>
            <a:off x="5928632" y="5224462"/>
            <a:ext cx="457200" cy="800806"/>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53768" y="6034793"/>
            <a:ext cx="1006929" cy="133350"/>
          </a:xfrm>
          <a:prstGeom prst="rect">
            <a:avLst/>
          </a:prstGeom>
          <a:noFill/>
        </p:spPr>
        <p:txBody>
          <a:bodyPr wrap="square" lIns="28575" rIns="28575" tIns="9525" bIns="9525">
            <a:spAutoFit/>
          </a:bodyPr>
          <a:lstStyle/>
          <a:p>
            <a:pPr algn="ctr"/>
            <a:r>
              <a:rPr sz="800" b="1">
                <a:solidFill>
                  <a:srgbClr val="2E2E2E"/>
                </a:solidFill>
                <a:latin typeface="Calibri"/>
              </a:rPr>
              <a:t>-12.6%</a:t>
            </a:r>
          </a:p>
        </p:txBody>
      </p:sp>
      <p:sp>
        <p:nvSpPr>
          <p:cNvPr id="68" name="TextBox 67"/>
          <p:cNvSpPr txBox="1"/>
          <p:nvPr/>
        </p:nvSpPr>
        <p:spPr>
          <a:xfrm>
            <a:off x="5653768"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South Asia Pacific</a:t>
            </a:r>
          </a:p>
        </p:txBody>
      </p:sp>
      <p:sp>
        <p:nvSpPr>
          <p:cNvPr id="69" name="Rectangle 68"/>
          <p:cNvSpPr/>
          <p:nvPr/>
        </p:nvSpPr>
        <p:spPr>
          <a:xfrm>
            <a:off x="6935561" y="5224462"/>
            <a:ext cx="457200" cy="87777"/>
          </a:xfrm>
          <a:prstGeom prst="rect">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60696" y="5321765"/>
            <a:ext cx="1006929" cy="133350"/>
          </a:xfrm>
          <a:prstGeom prst="rect">
            <a:avLst/>
          </a:prstGeom>
          <a:noFill/>
        </p:spPr>
        <p:txBody>
          <a:bodyPr wrap="square" lIns="28575" rIns="28575" tIns="9525" bIns="9525">
            <a:spAutoFit/>
          </a:bodyPr>
          <a:lstStyle/>
          <a:p>
            <a:pPr algn="ctr"/>
            <a:r>
              <a:rPr sz="800" b="1">
                <a:solidFill>
                  <a:srgbClr val="2E2E2E"/>
                </a:solidFill>
                <a:latin typeface="Calibri"/>
              </a:rPr>
              <a:t>-1.4%</a:t>
            </a:r>
          </a:p>
        </p:txBody>
      </p:sp>
      <p:sp>
        <p:nvSpPr>
          <p:cNvPr id="71" name="TextBox 70"/>
          <p:cNvSpPr txBox="1"/>
          <p:nvPr/>
        </p:nvSpPr>
        <p:spPr>
          <a:xfrm>
            <a:off x="6660696"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Middle East &amp; Africa</a:t>
            </a:r>
          </a:p>
        </p:txBody>
      </p:sp>
      <p:sp>
        <p:nvSpPr>
          <p:cNvPr id="72" name="Rounded Rectangle 71"/>
          <p:cNvSpPr/>
          <p:nvPr/>
        </p:nvSpPr>
        <p:spPr>
          <a:xfrm>
            <a:off x="7915275" y="904875"/>
            <a:ext cx="4133850" cy="5743575"/>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048625" y="990600"/>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74" name="Rectangle 73"/>
          <p:cNvSpPr/>
          <p:nvPr/>
        </p:nvSpPr>
        <p:spPr>
          <a:xfrm>
            <a:off x="8048625" y="1228725"/>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48625" y="1314450"/>
            <a:ext cx="3867150" cy="52578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selling price is derived as Value ÷ Volume; 'Dried Blood Spot Collection Products' commands the highest product type price at 887,167 US$/Units in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'Blood Collection Lancets' shows the steepest price uplift over 2026–2036 (+8.6%).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Against the global price of 842,274 US$/Units, 2 of 7 regions price above and 5 below.</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'Western Europe' is the dearest at +12.6% versus Global, 'South Asia Pacific' the cheapest at -12.6% pointing to premiumisation headroom in the lower-priced regions.</a:t>
            </a:r>
          </a:p>
        </p:txBody>
      </p:sp>
      <p:sp>
        <p:nvSpPr>
          <p:cNvPr id="76" name="Rectangle 7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8" name="Rounded Rectangle 7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9" name="Rounded Rectangle 7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0" name="Rounded Rectangle 7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Summary, By Value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global market value growth, incremental opportunity and the geographies driving it,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MARKET SIZE (US$ MN)</a:t>
            </a:r>
          </a:p>
          <a:p>
            <a:pPr algn="ctr"/>
            <a:r>
              <a:rPr sz="1500" b="1">
                <a:solidFill>
                  <a:srgbClr val="0E72AE"/>
                </a:solidFill>
                <a:latin typeface="Calibri"/>
              </a:rPr>
              <a:t>2,306</a:t>
            </a:r>
          </a:p>
        </p:txBody>
      </p:sp>
      <p:sp>
        <p:nvSpPr>
          <p:cNvPr id="13" name="Rounded Rectangle 12"/>
          <p:cNvSpPr/>
          <p:nvPr/>
        </p:nvSpPr>
        <p:spPr>
          <a:xfrm>
            <a:off x="31432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(US$ MN)</a:t>
            </a:r>
          </a:p>
          <a:p>
            <a:pPr algn="ctr"/>
            <a:r>
              <a:rPr sz="1500" b="1">
                <a:solidFill>
                  <a:srgbClr val="0E72AE"/>
                </a:solidFill>
                <a:latin typeface="Calibri"/>
              </a:rPr>
              <a:t>4,933</a:t>
            </a:r>
          </a:p>
        </p:txBody>
      </p:sp>
      <p:sp>
        <p:nvSpPr>
          <p:cNvPr id="14" name="Rounded Rectangle 13"/>
          <p:cNvSpPr/>
          <p:nvPr/>
        </p:nvSpPr>
        <p:spPr>
          <a:xfrm>
            <a:off x="61531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2021–2025</a:t>
            </a:r>
          </a:p>
          <a:p>
            <a:pPr algn="ctr"/>
            <a:r>
              <a:rPr sz="1500" b="1">
                <a:solidFill>
                  <a:srgbClr val="0E72AE"/>
                </a:solidFill>
                <a:latin typeface="Calibri"/>
              </a:rPr>
              <a:t>4.9%</a:t>
            </a:r>
          </a:p>
        </p:txBody>
      </p:sp>
      <p:sp>
        <p:nvSpPr>
          <p:cNvPr id="15" name="Rounded Rectangle 14"/>
          <p:cNvSpPr/>
          <p:nvPr/>
        </p:nvSpPr>
        <p:spPr>
          <a:xfrm>
            <a:off x="9163050" y="876300"/>
            <a:ext cx="2876550" cy="5334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1500" b="1">
                <a:solidFill>
                  <a:srgbClr val="0E72AE"/>
                </a:solidFill>
                <a:latin typeface="Calibri"/>
              </a:rPr>
              <a:t>7.9%</a:t>
            </a:r>
          </a:p>
        </p:txBody>
      </p:sp>
      <p:sp>
        <p:nvSpPr>
          <p:cNvPr id="16" name="Rounded Rectangle 15"/>
          <p:cNvSpPr/>
          <p:nvPr/>
        </p:nvSpPr>
        <p:spPr>
          <a:xfrm>
            <a:off x="142875" y="1504950"/>
            <a:ext cx="769620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15621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(2021–2036)</a:t>
            </a:r>
          </a:p>
        </p:txBody>
      </p:sp>
      <p:graphicFrame>
        <p:nvGraphicFramePr>
          <p:cNvPr id="18" name="Chart 17"/>
          <p:cNvGraphicFramePr>
            <a:graphicFrameLocks noGrp="1"/>
          </p:cNvGraphicFramePr>
          <p:nvPr/>
        </p:nvGraphicFramePr>
        <p:xfrm>
          <a:off x="238125" y="1790700"/>
          <a:ext cx="7505700" cy="2114550"/>
        </p:xfrm>
        <a:graphic>
          <a:graphicData uri="http://schemas.openxmlformats.org/drawingml/2006/chart">
            <c:chart xmlns:c="http://schemas.openxmlformats.org/drawingml/2006/chart" r:id="rId3"/>
          </a:graphicData>
        </a:graphic>
      </p:graphicFrame>
      <p:sp>
        <p:nvSpPr>
          <p:cNvPr id="19" name="Rounded Rectangle 18"/>
          <p:cNvSpPr/>
          <p:nvPr/>
        </p:nvSpPr>
        <p:spPr>
          <a:xfrm>
            <a:off x="142875" y="4019550"/>
            <a:ext cx="769620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407670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Incremental Market Addition (US$ Mn)</a:t>
            </a:r>
          </a:p>
        </p:txBody>
      </p:sp>
      <p:graphicFrame>
        <p:nvGraphicFramePr>
          <p:cNvPr id="21" name="Chart 20"/>
          <p:cNvGraphicFramePr>
            <a:graphicFrameLocks noGrp="1"/>
          </p:cNvGraphicFramePr>
          <p:nvPr/>
        </p:nvGraphicFramePr>
        <p:xfrm>
          <a:off x="238125" y="4305300"/>
          <a:ext cx="7505700" cy="2286000"/>
        </p:xfrm>
        <a:graphic>
          <a:graphicData uri="http://schemas.openxmlformats.org/drawingml/2006/chart">
            <c:chart xmlns:c="http://schemas.openxmlformats.org/drawingml/2006/chart" r:id="rId4"/>
          </a:graphicData>
        </a:graphic>
      </p:graphicFrame>
      <p:sp>
        <p:nvSpPr>
          <p:cNvPr id="22" name="Rounded Rectangle 21"/>
          <p:cNvSpPr/>
          <p:nvPr/>
        </p:nvSpPr>
        <p:spPr>
          <a:xfrm>
            <a:off x="7915275" y="1504950"/>
            <a:ext cx="41338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8625" y="1590675"/>
            <a:ext cx="3867150"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24" name="Rectangle 23"/>
          <p:cNvSpPr/>
          <p:nvPr/>
        </p:nvSpPr>
        <p:spPr>
          <a:xfrm>
            <a:off x="8048625" y="18288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8625" y="1914525"/>
            <a:ext cx="38671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grows at 5.2% CAGR (2021–2026), accelerating to 7.9%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value of 517.3 US$ Mn is added between 2021 and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 further 2,627 US$ Mn is added 2026–2036 more than the previous period.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incremental value: 3,144 US$ Mn over 2021–2036, a 2.8× expansion.</a:t>
            </a:r>
          </a:p>
        </p:txBody>
      </p:sp>
      <p:sp>
        <p:nvSpPr>
          <p:cNvPr id="26" name="Rounded Rectangle 25"/>
          <p:cNvSpPr/>
          <p:nvPr/>
        </p:nvSpPr>
        <p:spPr>
          <a:xfrm>
            <a:off x="7915275" y="4019550"/>
            <a:ext cx="4133850" cy="2628900"/>
          </a:xfrm>
          <a:prstGeom prst="roundRect">
            <a:avLst>
              <a:gd name="adj" fmla="val 28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8625" y="4105275"/>
            <a:ext cx="3867150" cy="209550"/>
          </a:xfrm>
          <a:prstGeom prst="rect">
            <a:avLst/>
          </a:prstGeom>
          <a:noFill/>
        </p:spPr>
        <p:txBody>
          <a:bodyPr wrap="square" lIns="0" rIns="19050" tIns="9525" bIns="9525">
            <a:spAutoFit/>
          </a:bodyPr>
          <a:lstStyle/>
          <a:p>
            <a:pPr algn="l"/>
            <a:r>
              <a:rPr sz="1300" b="1">
                <a:solidFill>
                  <a:srgbClr val="0B2E4A"/>
                </a:solidFill>
                <a:latin typeface="Calibri"/>
              </a:rPr>
              <a:t>Growth Drivers</a:t>
            </a:r>
          </a:p>
        </p:txBody>
      </p:sp>
      <p:sp>
        <p:nvSpPr>
          <p:cNvPr id="28" name="Rectangle 27"/>
          <p:cNvSpPr/>
          <p:nvPr/>
        </p:nvSpPr>
        <p:spPr>
          <a:xfrm>
            <a:off x="8048625" y="434340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8625" y="4429125"/>
            <a:ext cx="3867150" cy="2143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leads regional growth at 8.4%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concentrates in 'Capillary Blood Collection Containers' within Product Type.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Product innovation and premiumisation lifting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Expanding end-use applications and access.</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Volume &amp; Value Analysis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volume and value growth of the global market and the incremental $ opportunity it creates,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4695825" cy="2647950"/>
          </a:xfrm>
          <a:prstGeom prst="roundRect">
            <a:avLst>
              <a:gd name="adj" fmla="val 2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2021–2025 (Historical)</a:t>
            </a:r>
          </a:p>
        </p:txBody>
      </p:sp>
      <p:graphicFrame>
        <p:nvGraphicFramePr>
          <p:cNvPr id="14" name="Chart 13"/>
          <p:cNvGraphicFramePr>
            <a:graphicFrameLocks noGrp="1"/>
          </p:cNvGraphicFramePr>
          <p:nvPr/>
        </p:nvGraphicFramePr>
        <p:xfrm>
          <a:off x="238125" y="1143000"/>
          <a:ext cx="4505325" cy="2305050"/>
        </p:xfrm>
        <a:graphic>
          <a:graphicData uri="http://schemas.openxmlformats.org/drawingml/2006/chart">
            <c:chart xmlns:c="http://schemas.openxmlformats.org/drawingml/2006/chart" r:id="rId3"/>
          </a:graphicData>
        </a:graphic>
      </p:graphicFrame>
      <p:sp>
        <p:nvSpPr>
          <p:cNvPr id="15" name="Rounded Rectangle 14"/>
          <p:cNvSpPr/>
          <p:nvPr/>
        </p:nvSpPr>
        <p:spPr>
          <a:xfrm>
            <a:off x="4991100" y="857250"/>
            <a:ext cx="7048500" cy="2647950"/>
          </a:xfrm>
          <a:prstGeom prst="roundRect">
            <a:avLst>
              <a:gd name="adj" fmla="val 287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6350" y="914400"/>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2026–2036 (Forecast)</a:t>
            </a:r>
          </a:p>
        </p:txBody>
      </p:sp>
      <p:graphicFrame>
        <p:nvGraphicFramePr>
          <p:cNvPr id="17" name="Chart 16"/>
          <p:cNvGraphicFramePr>
            <a:graphicFrameLocks noGrp="1"/>
          </p:cNvGraphicFramePr>
          <p:nvPr/>
        </p:nvGraphicFramePr>
        <p:xfrm>
          <a:off x="5086350" y="1143000"/>
          <a:ext cx="6858000" cy="23050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638550"/>
            <a:ext cx="25146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VALUE CAGR 2021–2025</a:t>
            </a:r>
          </a:p>
          <a:p>
            <a:pPr algn="ctr"/>
            <a:r>
              <a:rPr sz="2000" b="1">
                <a:solidFill>
                  <a:srgbClr val="0E72AE"/>
                </a:solidFill>
                <a:latin typeface="Calibri"/>
              </a:rPr>
              <a:t>4.9%</a:t>
            </a:r>
          </a:p>
        </p:txBody>
      </p:sp>
      <p:sp>
        <p:nvSpPr>
          <p:cNvPr id="19" name="Rounded Rectangle 18"/>
          <p:cNvSpPr/>
          <p:nvPr/>
        </p:nvSpPr>
        <p:spPr>
          <a:xfrm>
            <a:off x="2809875" y="3638550"/>
            <a:ext cx="25146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VALUE CAGR 2026–2036</a:t>
            </a:r>
          </a:p>
          <a:p>
            <a:pPr algn="ctr"/>
            <a:r>
              <a:rPr sz="2000" b="1">
                <a:solidFill>
                  <a:srgbClr val="0E72AE"/>
                </a:solidFill>
                <a:latin typeface="Calibri"/>
              </a:rPr>
              <a:t>7.9%</a:t>
            </a:r>
          </a:p>
        </p:txBody>
      </p:sp>
      <p:sp>
        <p:nvSpPr>
          <p:cNvPr id="20" name="Rounded Rectangle 19"/>
          <p:cNvSpPr/>
          <p:nvPr/>
        </p:nvSpPr>
        <p:spPr>
          <a:xfrm>
            <a:off x="5476875" y="3638550"/>
            <a:ext cx="32004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INCREMENTAL $ OPPORTUNITY 2026–2031</a:t>
            </a:r>
          </a:p>
          <a:p>
            <a:pPr algn="ctr"/>
            <a:r>
              <a:rPr sz="2000" b="1">
                <a:solidFill>
                  <a:srgbClr val="0E72AE"/>
                </a:solidFill>
                <a:latin typeface="Calibri"/>
              </a:rPr>
              <a:t>1,009 US$ Mn</a:t>
            </a:r>
          </a:p>
        </p:txBody>
      </p:sp>
      <p:sp>
        <p:nvSpPr>
          <p:cNvPr id="21" name="Rounded Rectangle 20"/>
          <p:cNvSpPr/>
          <p:nvPr/>
        </p:nvSpPr>
        <p:spPr>
          <a:xfrm>
            <a:off x="8829675" y="3638550"/>
            <a:ext cx="3200400" cy="809625"/>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INCREMENTAL $ OPPORTUNITY 2026–2036</a:t>
            </a:r>
          </a:p>
          <a:p>
            <a:pPr algn="ctr"/>
            <a:r>
              <a:rPr sz="2000" b="1">
                <a:solidFill>
                  <a:srgbClr val="0E72AE"/>
                </a:solidFill>
                <a:latin typeface="Calibri"/>
              </a:rPr>
              <a:t>2,627 US$ Mn</a:t>
            </a:r>
          </a:p>
        </p:txBody>
      </p:sp>
      <p:sp>
        <p:nvSpPr>
          <p:cNvPr id="22" name="Rounded Rectangle 21"/>
          <p:cNvSpPr/>
          <p:nvPr/>
        </p:nvSpPr>
        <p:spPr>
          <a:xfrm>
            <a:off x="142875" y="4581525"/>
            <a:ext cx="11906250" cy="213360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6672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&amp; Value Analysis</a:t>
            </a:r>
          </a:p>
        </p:txBody>
      </p:sp>
      <p:sp>
        <p:nvSpPr>
          <p:cNvPr id="24" name="Rectangle 23"/>
          <p:cNvSpPr/>
          <p:nvPr/>
        </p:nvSpPr>
        <p:spPr>
          <a:xfrm>
            <a:off x="276225" y="49053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6225" y="4991100"/>
            <a:ext cx="11639550" cy="16478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expands from 2,306 to 4,933 US$ Mn by 2036 7.9% CAGR, accelerating from 4.9% in 2021–2025.</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Volume rises from 2,822 to 5,566 Units over the same decade.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grows 87 BPS of CAGR faster than volume firming price/mix.</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forecast decade adds 2,627 US$ Mn of incremental opportunity (1,009 in the first five years) the market reaches 2.1× its 2026 value.</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Summary Country Indices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Country outlook ranking 2036 market size, growth and absolute-growth indices to highlight the strongest markets</a:t>
            </a:r>
          </a:p>
        </p:txBody>
      </p:sp>
      <p:sp>
        <p:nvSpPr>
          <p:cNvPr id="11" name="Rounded Rectangle 10"/>
          <p:cNvSpPr/>
          <p:nvPr/>
        </p:nvSpPr>
        <p:spPr>
          <a:xfrm>
            <a:off x="142875" y="857250"/>
            <a:ext cx="3933825" cy="2552700"/>
          </a:xfrm>
          <a:prstGeom prst="roundRect">
            <a:avLst>
              <a:gd name="adj" fmla="val 29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CAGR Index</a:t>
            </a:r>
          </a:p>
        </p:txBody>
      </p:sp>
      <p:graphicFrame>
        <p:nvGraphicFramePr>
          <p:cNvPr id="13" name="Chart 12"/>
          <p:cNvGraphicFramePr>
            <a:graphicFrameLocks noGrp="1"/>
          </p:cNvGraphicFramePr>
          <p:nvPr/>
        </p:nvGraphicFramePr>
        <p:xfrm>
          <a:off x="238125" y="1143000"/>
          <a:ext cx="3743325" cy="2209800"/>
        </p:xfrm>
        <a:graphic>
          <a:graphicData uri="http://schemas.openxmlformats.org/drawingml/2006/chart">
            <c:chart xmlns:c="http://schemas.openxmlformats.org/drawingml/2006/chart" r:id="rId3"/>
          </a:graphicData>
        </a:graphic>
      </p:graphicFrame>
      <p:sp>
        <p:nvSpPr>
          <p:cNvPr id="14" name="Rounded Rectangle 13"/>
          <p:cNvSpPr/>
          <p:nvPr/>
        </p:nvSpPr>
        <p:spPr>
          <a:xfrm>
            <a:off x="142875" y="3448050"/>
            <a:ext cx="3933825" cy="2543175"/>
          </a:xfrm>
          <a:prstGeom prst="roundRect">
            <a:avLst>
              <a:gd name="adj" fmla="val 29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219075" y="3524250"/>
          <a:ext cx="3781424" cy="1990725"/>
        </p:xfrm>
        <a:graphic>
          <a:graphicData uri="http://schemas.openxmlformats.org/drawingml/2006/table">
            <a:tbl>
              <a:tblPr>
                <a:tableStyleId>{5C22544A-7EE6-4342-B048-85BDC9FD1C3A}</a:tableStyleId>
              </a:tblPr>
              <a:tblGrid>
                <a:gridCol w="1134428"/>
                <a:gridCol w="882332"/>
                <a:gridCol w="882332"/>
                <a:gridCol w="882332"/>
              </a:tblGrid>
              <a:tr h="180975">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CAGR Index</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c>
                  <a:txBody>
                    <a:bodyPr wrap="none"/>
                    <a:lstStyle/>
                    <a:p>
                      <a:pPr algn="l"/>
                      <a:r>
                        <a:rPr sz="900" b="1">
                          <a:solidFill>
                            <a:srgbClr val="0B2E4A"/>
                          </a:solidFill>
                          <a:latin typeface="Calibri"/>
                        </a:rPr>
                        <a:t>$ Opp (US$ Mn)</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India</a:t>
                      </a:r>
                    </a:p>
                  </a:txBody>
                  <a:tcPr marL="85725" marR="38100" marT="19050" marB="19050" anchor="ctr">
                    <a:solidFill>
                      <a:srgbClr val="FFFFFF"/>
                    </a:solidFill>
                  </a:tcPr>
                </a:tc>
                <a:tc>
                  <a:txBody>
                    <a:bodyPr wrap="none"/>
                    <a:lstStyle/>
                    <a:p>
                      <a:pPr algn="l"/>
                      <a:r>
                        <a:rPr sz="900" b="0">
                          <a:solidFill>
                            <a:srgbClr val="2E2E2E"/>
                          </a:solidFill>
                          <a:latin typeface="Calibri"/>
                        </a:rPr>
                        <a:t>115</a:t>
                      </a:r>
                    </a:p>
                  </a:txBody>
                  <a:tcPr marL="85725" marR="38100" marT="19050" marB="19050" anchor="ctr">
                    <a:solidFill>
                      <a:srgbClr val="FFFFFF"/>
                    </a:solidFill>
                  </a:tcPr>
                </a:tc>
                <a:tc>
                  <a:txBody>
                    <a:bodyPr wrap="none"/>
                    <a:lstStyle/>
                    <a:p>
                      <a:pPr algn="l"/>
                      <a:r>
                        <a:rPr sz="900" b="0">
                          <a:solidFill>
                            <a:srgbClr val="2E2E2E"/>
                          </a:solidFill>
                          <a:latin typeface="Calibri"/>
                        </a:rPr>
                        <a:t>9.1%</a:t>
                      </a:r>
                    </a:p>
                  </a:txBody>
                  <a:tcPr marL="85725" marR="38100" marT="19050" marB="19050" anchor="ctr">
                    <a:solidFill>
                      <a:srgbClr val="FFFFFF"/>
                    </a:solidFill>
                  </a:tcPr>
                </a:tc>
                <a:tc>
                  <a:txBody>
                    <a:bodyPr wrap="none"/>
                    <a:lstStyle/>
                    <a:p>
                      <a:pPr algn="l"/>
                      <a:r>
                        <a:rPr sz="900" b="0">
                          <a:solidFill>
                            <a:srgbClr val="2E2E2E"/>
                          </a:solidFill>
                          <a:latin typeface="Calibri"/>
                        </a:rPr>
                        <a:t>106.2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China</a:t>
                      </a:r>
                    </a:p>
                  </a:txBody>
                  <a:tcPr marL="85725" marR="38100" marT="19050" marB="19050" anchor="ctr">
                    <a:solidFill>
                      <a:srgbClr val="F5F8FA"/>
                    </a:solidFill>
                  </a:tcPr>
                </a:tc>
                <a:tc>
                  <a:txBody>
                    <a:bodyPr wrap="none"/>
                    <a:lstStyle/>
                    <a:p>
                      <a:pPr algn="l"/>
                      <a:r>
                        <a:rPr sz="900" b="0">
                          <a:solidFill>
                            <a:srgbClr val="2E2E2E"/>
                          </a:solidFill>
                          <a:latin typeface="Calibri"/>
                        </a:rPr>
                        <a:t>115</a:t>
                      </a:r>
                    </a:p>
                  </a:txBody>
                  <a:tcPr marL="85725" marR="38100" marT="19050" marB="19050" anchor="ctr">
                    <a:solidFill>
                      <a:srgbClr val="F5F8FA"/>
                    </a:solidFill>
                  </a:tcPr>
                </a:tc>
                <a:tc>
                  <a:txBody>
                    <a:bodyPr wrap="none"/>
                    <a:lstStyle/>
                    <a:p>
                      <a:pPr algn="l"/>
                      <a:r>
                        <a:rPr sz="900" b="0">
                          <a:solidFill>
                            <a:srgbClr val="2E2E2E"/>
                          </a:solidFill>
                          <a:latin typeface="Calibri"/>
                        </a:rPr>
                        <a:t>9.1%</a:t>
                      </a:r>
                    </a:p>
                  </a:txBody>
                  <a:tcPr marL="85725" marR="38100" marT="19050" marB="19050" anchor="ctr">
                    <a:solidFill>
                      <a:srgbClr val="F5F8FA"/>
                    </a:solidFill>
                  </a:tcPr>
                </a:tc>
                <a:tc>
                  <a:txBody>
                    <a:bodyPr wrap="none"/>
                    <a:lstStyle/>
                    <a:p>
                      <a:pPr algn="l"/>
                      <a:r>
                        <a:rPr sz="900" b="0">
                          <a:solidFill>
                            <a:srgbClr val="2E2E2E"/>
                          </a:solidFill>
                          <a:latin typeface="Calibri"/>
                        </a:rPr>
                        <a:t>319.4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Rest of SAP</a:t>
                      </a:r>
                    </a:p>
                  </a:txBody>
                  <a:tcPr marL="85725" marR="38100" marT="19050" marB="19050" anchor="ctr">
                    <a:solidFill>
                      <a:srgbClr val="FFFFFF"/>
                    </a:solidFill>
                  </a:tcPr>
                </a:tc>
                <a:tc>
                  <a:txBody>
                    <a:bodyPr wrap="none"/>
                    <a:lstStyle/>
                    <a:p>
                      <a:pPr algn="l"/>
                      <a:r>
                        <a:rPr sz="900" b="0">
                          <a:solidFill>
                            <a:srgbClr val="2E2E2E"/>
                          </a:solidFill>
                          <a:latin typeface="Calibri"/>
                        </a:rPr>
                        <a:t>113</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c>
                  <a:txBody>
                    <a:bodyPr wrap="none"/>
                    <a:lstStyle/>
                    <a:p>
                      <a:pPr algn="l"/>
                      <a:r>
                        <a:rPr sz="900" b="0">
                          <a:solidFill>
                            <a:srgbClr val="2E2E2E"/>
                          </a:solidFill>
                          <a:latin typeface="Calibri"/>
                        </a:rPr>
                        <a:t>15.3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Kingdom of Saudi Arabia</a:t>
                      </a:r>
                    </a:p>
                  </a:txBody>
                  <a:tcPr marL="85725" marR="38100" marT="19050" marB="19050" anchor="ctr">
                    <a:solidFill>
                      <a:srgbClr val="F5F8FA"/>
                    </a:solidFill>
                  </a:tcPr>
                </a:tc>
                <a:tc>
                  <a:txBody>
                    <a:bodyPr wrap="none"/>
                    <a:lstStyle/>
                    <a:p>
                      <a:pPr algn="l"/>
                      <a:r>
                        <a:rPr sz="900" b="0">
                          <a:solidFill>
                            <a:srgbClr val="2E2E2E"/>
                          </a:solidFill>
                          <a:latin typeface="Calibri"/>
                        </a:rPr>
                        <a:t>110</a:t>
                      </a:r>
                    </a:p>
                  </a:txBody>
                  <a:tcPr marL="85725" marR="38100" marT="19050" marB="19050" anchor="ctr">
                    <a:solidFill>
                      <a:srgbClr val="F5F8FA"/>
                    </a:solidFill>
                  </a:tcPr>
                </a:tc>
                <a:tc>
                  <a:txBody>
                    <a:bodyPr wrap="none"/>
                    <a:lstStyle/>
                    <a:p>
                      <a:pPr algn="l"/>
                      <a:r>
                        <a:rPr sz="900" b="0">
                          <a:solidFill>
                            <a:srgbClr val="2E2E2E"/>
                          </a:solidFill>
                          <a:latin typeface="Calibri"/>
                        </a:rPr>
                        <a:t>8.7%</a:t>
                      </a:r>
                    </a:p>
                  </a:txBody>
                  <a:tcPr marL="85725" marR="38100" marT="19050" marB="19050" anchor="ctr">
                    <a:solidFill>
                      <a:srgbClr val="F5F8FA"/>
                    </a:solidFill>
                  </a:tcPr>
                </a:tc>
                <a:tc>
                  <a:txBody>
                    <a:bodyPr wrap="none"/>
                    <a:lstStyle/>
                    <a:p>
                      <a:pPr algn="l"/>
                      <a:r>
                        <a:rPr sz="900" b="0">
                          <a:solidFill>
                            <a:srgbClr val="2E2E2E"/>
                          </a:solidFill>
                          <a:latin typeface="Calibri"/>
                        </a:rPr>
                        <a:t>30.9</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ASEAN</a:t>
                      </a:r>
                    </a:p>
                  </a:txBody>
                  <a:tcPr marL="85725" marR="38100" marT="19050" marB="19050" anchor="ctr">
                    <a:solidFill>
                      <a:srgbClr val="FFFFFF"/>
                    </a:solidFill>
                  </a:tcPr>
                </a:tc>
                <a:tc>
                  <a:txBody>
                    <a:bodyPr wrap="none"/>
                    <a:lstStyle/>
                    <a:p>
                      <a:pPr algn="l"/>
                      <a:r>
                        <a:rPr sz="900" b="0">
                          <a:solidFill>
                            <a:srgbClr val="2E2E2E"/>
                          </a:solidFill>
                          <a:latin typeface="Calibri"/>
                        </a:rPr>
                        <a:t>109</a:t>
                      </a:r>
                    </a:p>
                  </a:txBody>
                  <a:tcPr marL="85725" marR="38100" marT="19050" marB="19050" anchor="ctr">
                    <a:solidFill>
                      <a:srgbClr val="FFFFFF"/>
                    </a:solidFill>
                  </a:tcPr>
                </a:tc>
                <a:tc>
                  <a:txBody>
                    <a:bodyPr wrap="none"/>
                    <a:lstStyle/>
                    <a:p>
                      <a:pPr algn="l"/>
                      <a:r>
                        <a:rPr sz="900" b="0">
                          <a:solidFill>
                            <a:srgbClr val="2E2E2E"/>
                          </a:solidFill>
                          <a:latin typeface="Calibri"/>
                        </a:rPr>
                        <a:t>8.6%</a:t>
                      </a:r>
                    </a:p>
                  </a:txBody>
                  <a:tcPr marL="85725" marR="38100" marT="19050" marB="19050" anchor="ctr">
                    <a:solidFill>
                      <a:srgbClr val="FFFFFF"/>
                    </a:solidFill>
                  </a:tcPr>
                </a:tc>
                <a:tc>
                  <a:txBody>
                    <a:bodyPr wrap="none"/>
                    <a:lstStyle/>
                    <a:p>
                      <a:pPr algn="l"/>
                      <a:r>
                        <a:rPr sz="900" b="0">
                          <a:solidFill>
                            <a:srgbClr val="2E2E2E"/>
                          </a:solidFill>
                          <a:latin typeface="Calibri"/>
                        </a:rPr>
                        <a:t>59.2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Rest of W. Europe</a:t>
                      </a:r>
                    </a:p>
                  </a:txBody>
                  <a:tcPr marL="85725" marR="38100" marT="19050" marB="19050" anchor="ctr">
                    <a:solidFill>
                      <a:srgbClr val="F5F8FA"/>
                    </a:solidFill>
                  </a:tcPr>
                </a:tc>
                <a:tc>
                  <a:txBody>
                    <a:bodyPr wrap="none"/>
                    <a:lstStyle/>
                    <a:p>
                      <a:pPr algn="l"/>
                      <a:r>
                        <a:rPr sz="900" b="0">
                          <a:solidFill>
                            <a:srgbClr val="2E2E2E"/>
                          </a:solidFill>
                          <a:latin typeface="Calibri"/>
                        </a:rPr>
                        <a:t>106</a:t>
                      </a:r>
                    </a:p>
                  </a:txBody>
                  <a:tcPr marL="85725" marR="38100" marT="19050" marB="19050" anchor="ctr">
                    <a:solidFill>
                      <a:srgbClr val="F5F8FA"/>
                    </a:solidFill>
                  </a:tcPr>
                </a:tc>
                <a:tc>
                  <a:txBody>
                    <a:bodyPr wrap="none"/>
                    <a:lstStyle/>
                    <a:p>
                      <a:pPr algn="l"/>
                      <a:r>
                        <a:rPr sz="900" b="0">
                          <a:solidFill>
                            <a:srgbClr val="2E2E2E"/>
                          </a:solidFill>
                          <a:latin typeface="Calibri"/>
                        </a:rPr>
                        <a:t>8.4%</a:t>
                      </a:r>
                    </a:p>
                  </a:txBody>
                  <a:tcPr marL="85725" marR="38100" marT="19050" marB="19050" anchor="ctr">
                    <a:solidFill>
                      <a:srgbClr val="F5F8FA"/>
                    </a:solidFill>
                  </a:tcPr>
                </a:tc>
                <a:tc>
                  <a:txBody>
                    <a:bodyPr wrap="none"/>
                    <a:lstStyle/>
                    <a:p>
                      <a:pPr algn="l"/>
                      <a:r>
                        <a:rPr sz="900" b="0">
                          <a:solidFill>
                            <a:srgbClr val="2E2E2E"/>
                          </a:solidFill>
                          <a:latin typeface="Calibri"/>
                        </a:rPr>
                        <a:t>62.2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Nordic Countries</a:t>
                      </a:r>
                    </a:p>
                  </a:txBody>
                  <a:tcPr marL="85725" marR="38100" marT="19050" marB="19050" anchor="ctr">
                    <a:solidFill>
                      <a:srgbClr val="FFFFFF"/>
                    </a:solidFill>
                  </a:tcPr>
                </a:tc>
                <a:tc>
                  <a:txBody>
                    <a:bodyPr wrap="none"/>
                    <a:lstStyle/>
                    <a:p>
                      <a:pPr algn="l"/>
                      <a:r>
                        <a:rPr sz="900" b="0">
                          <a:solidFill>
                            <a:srgbClr val="2E2E2E"/>
                          </a:solidFill>
                          <a:latin typeface="Calibri"/>
                        </a:rPr>
                        <a:t>106</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c>
                  <a:txBody>
                    <a:bodyPr wrap="none"/>
                    <a:lstStyle/>
                    <a:p>
                      <a:pPr algn="l"/>
                      <a:r>
                        <a:rPr sz="900" b="0">
                          <a:solidFill>
                            <a:srgbClr val="2E2E2E"/>
                          </a:solidFill>
                          <a:latin typeface="Calibri"/>
                        </a:rPr>
                        <a:t>52.0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United States</a:t>
                      </a:r>
                    </a:p>
                  </a:txBody>
                  <a:tcPr marL="85725" marR="38100" marT="19050" marB="19050" anchor="ctr">
                    <a:solidFill>
                      <a:srgbClr val="F5F8FA"/>
                    </a:solidFill>
                  </a:tcPr>
                </a:tc>
                <a:tc>
                  <a:txBody>
                    <a:bodyPr wrap="none"/>
                    <a:lstStyle/>
                    <a:p>
                      <a:pPr algn="l"/>
                      <a:r>
                        <a:rPr sz="900" b="0">
                          <a:solidFill>
                            <a:srgbClr val="2E2E2E"/>
                          </a:solidFill>
                          <a:latin typeface="Calibri"/>
                        </a:rPr>
                        <a:t>104</a:t>
                      </a:r>
                    </a:p>
                  </a:txBody>
                  <a:tcPr marL="85725" marR="38100" marT="19050" marB="19050" anchor="ctr">
                    <a:solidFill>
                      <a:srgbClr val="F5F8FA"/>
                    </a:solidFill>
                  </a:tcPr>
                </a:tc>
                <a:tc>
                  <a:txBody>
                    <a:bodyPr wrap="none"/>
                    <a:lstStyle/>
                    <a:p>
                      <a:pPr algn="l"/>
                      <a:r>
                        <a:rPr sz="900" b="0">
                          <a:solidFill>
                            <a:srgbClr val="2E2E2E"/>
                          </a:solidFill>
                          <a:latin typeface="Calibri"/>
                        </a:rPr>
                        <a:t>8.2%</a:t>
                      </a:r>
                    </a:p>
                  </a:txBody>
                  <a:tcPr marL="85725" marR="38100" marT="19050" marB="19050" anchor="ctr">
                    <a:solidFill>
                      <a:srgbClr val="F5F8FA"/>
                    </a:solidFill>
                  </a:tcPr>
                </a:tc>
                <a:tc>
                  <a:txBody>
                    <a:bodyPr wrap="none"/>
                    <a:lstStyle/>
                    <a:p>
                      <a:pPr algn="l"/>
                      <a:r>
                        <a:rPr sz="900" b="0">
                          <a:solidFill>
                            <a:srgbClr val="2E2E2E"/>
                          </a:solidFill>
                          <a:latin typeface="Calibri"/>
                        </a:rPr>
                        <a:t>761.9</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Other African Union</a:t>
                      </a:r>
                    </a:p>
                  </a:txBody>
                  <a:tcPr marL="85725" marR="38100" marT="19050" marB="19050" anchor="ctr">
                    <a:solidFill>
                      <a:srgbClr val="FFFFFF"/>
                    </a:solidFill>
                  </a:tcPr>
                </a:tc>
                <a:tc>
                  <a:txBody>
                    <a:bodyPr wrap="none"/>
                    <a:lstStyle/>
                    <a:p>
                      <a:pPr algn="l"/>
                      <a:r>
                        <a:rPr sz="900" b="0">
                          <a:solidFill>
                            <a:srgbClr val="2E2E2E"/>
                          </a:solidFill>
                          <a:latin typeface="Calibri"/>
                        </a:rPr>
                        <a:t>103</a:t>
                      </a:r>
                    </a:p>
                  </a:txBody>
                  <a:tcPr marL="85725" marR="38100" marT="19050" marB="19050" anchor="ctr">
                    <a:solidFill>
                      <a:srgbClr val="FFFFFF"/>
                    </a:solidFill>
                  </a:tcPr>
                </a:tc>
                <a:tc>
                  <a:txBody>
                    <a:bodyPr wrap="none"/>
                    <a:lstStyle/>
                    <a:p>
                      <a:pPr algn="l"/>
                      <a:r>
                        <a:rPr sz="900" b="0">
                          <a:solidFill>
                            <a:srgbClr val="2E2E2E"/>
                          </a:solidFill>
                          <a:latin typeface="Calibri"/>
                        </a:rPr>
                        <a:t>8.2%</a:t>
                      </a:r>
                    </a:p>
                  </a:txBody>
                  <a:tcPr marL="85725" marR="38100" marT="19050" marB="19050" anchor="ctr">
                    <a:solidFill>
                      <a:srgbClr val="FFFFFF"/>
                    </a:solidFill>
                  </a:tcPr>
                </a:tc>
                <a:tc>
                  <a:txBody>
                    <a:bodyPr wrap="none"/>
                    <a:lstStyle/>
                    <a:p>
                      <a:pPr algn="l"/>
                      <a:r>
                        <a:rPr sz="900" b="0">
                          <a:solidFill>
                            <a:srgbClr val="2E2E2E"/>
                          </a:solidFill>
                          <a:latin typeface="Calibri"/>
                        </a:rPr>
                        <a:t>14.9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Mexico</a:t>
                      </a:r>
                    </a:p>
                  </a:txBody>
                  <a:tcPr marL="85725" marR="38100" marT="19050" marB="19050" anchor="ctr">
                    <a:solidFill>
                      <a:srgbClr val="F5F8FA"/>
                    </a:solidFill>
                  </a:tcPr>
                </a:tc>
                <a:tc>
                  <a:txBody>
                    <a:bodyPr wrap="none"/>
                    <a:lstStyle/>
                    <a:p>
                      <a:pPr algn="l"/>
                      <a:r>
                        <a:rPr sz="900" b="0">
                          <a:solidFill>
                            <a:srgbClr val="2E2E2E"/>
                          </a:solidFill>
                          <a:latin typeface="Calibri"/>
                        </a:rPr>
                        <a:t>103</a:t>
                      </a:r>
                    </a:p>
                  </a:txBody>
                  <a:tcPr marL="85725" marR="38100" marT="19050" marB="19050" anchor="ctr">
                    <a:solidFill>
                      <a:srgbClr val="F5F8FA"/>
                    </a:solidFill>
                  </a:tcPr>
                </a:tc>
                <a:tc>
                  <a:txBody>
                    <a:bodyPr wrap="none"/>
                    <a:lstStyle/>
                    <a:p>
                      <a:pPr algn="l"/>
                      <a:r>
                        <a:rPr sz="900" b="0">
                          <a:solidFill>
                            <a:srgbClr val="2E2E2E"/>
                          </a:solidFill>
                          <a:latin typeface="Calibri"/>
                        </a:rPr>
                        <a:t>8.1%</a:t>
                      </a:r>
                    </a:p>
                  </a:txBody>
                  <a:tcPr marL="85725" marR="38100" marT="19050" marB="19050" anchor="ctr">
                    <a:solidFill>
                      <a:srgbClr val="F5F8FA"/>
                    </a:solidFill>
                  </a:tcPr>
                </a:tc>
                <a:tc>
                  <a:txBody>
                    <a:bodyPr wrap="none"/>
                    <a:lstStyle/>
                    <a:p>
                      <a:pPr algn="l"/>
                      <a:r>
                        <a:rPr sz="900" b="0">
                          <a:solidFill>
                            <a:srgbClr val="2E2E2E"/>
                          </a:solidFill>
                          <a:latin typeface="Calibri"/>
                        </a:rPr>
                        <a:t>53.9</a:t>
                      </a:r>
                    </a:p>
                  </a:txBody>
                  <a:tcPr marL="85725" marR="38100" marT="19050" marB="19050" anchor="ctr">
                    <a:solidFill>
                      <a:srgbClr val="F5F8FA"/>
                    </a:solidFill>
                  </a:tcPr>
                </a:tc>
              </a:tr>
            </a:tbl>
          </a:graphicData>
        </a:graphic>
      </p:graphicFrame>
      <p:sp>
        <p:nvSpPr>
          <p:cNvPr id="16" name="TextBox 15"/>
          <p:cNvSpPr txBox="1"/>
          <p:nvPr/>
        </p:nvSpPr>
        <p:spPr>
          <a:xfrm>
            <a:off x="219075" y="5848350"/>
            <a:ext cx="37814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7" name="Rounded Rectangle 16"/>
          <p:cNvSpPr/>
          <p:nvPr/>
        </p:nvSpPr>
        <p:spPr>
          <a:xfrm>
            <a:off x="4114800" y="857250"/>
            <a:ext cx="3933825" cy="5143500"/>
          </a:xfrm>
          <a:prstGeom prst="roundRect">
            <a:avLst>
              <a:gd name="adj" fmla="val 193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0050"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2036 Market By Country (US$ Mn)  ·  Top 10</a:t>
            </a:r>
          </a:p>
        </p:txBody>
      </p:sp>
      <p:sp>
        <p:nvSpPr>
          <p:cNvPr id="19" name="Rectangle 18"/>
          <p:cNvSpPr/>
          <p:nvPr/>
        </p:nvSpPr>
        <p:spPr>
          <a:xfrm>
            <a:off x="4210050" y="1143000"/>
            <a:ext cx="3743325" cy="1948166"/>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United States</a:t>
            </a:r>
          </a:p>
          <a:p>
            <a:pPr algn="ctr"/>
            <a:r>
              <a:rPr sz="700" b="0">
                <a:solidFill>
                  <a:srgbClr val="FFFFFF"/>
                </a:solidFill>
                <a:latin typeface="Calibri"/>
              </a:rPr>
              <a:t>1,398</a:t>
            </a:r>
          </a:p>
        </p:txBody>
      </p:sp>
      <p:sp>
        <p:nvSpPr>
          <p:cNvPr id="20" name="Rectangle 19"/>
          <p:cNvSpPr/>
          <p:nvPr/>
        </p:nvSpPr>
        <p:spPr>
          <a:xfrm>
            <a:off x="4210050" y="3091166"/>
            <a:ext cx="1503926" cy="1907981"/>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China</a:t>
            </a:r>
          </a:p>
          <a:p>
            <a:pPr algn="ctr"/>
            <a:r>
              <a:rPr sz="700" b="0">
                <a:solidFill>
                  <a:srgbClr val="FFFFFF"/>
                </a:solidFill>
                <a:latin typeface="Calibri"/>
              </a:rPr>
              <a:t>550</a:t>
            </a:r>
          </a:p>
        </p:txBody>
      </p:sp>
      <p:sp>
        <p:nvSpPr>
          <p:cNvPr id="21" name="Rectangle 20"/>
          <p:cNvSpPr/>
          <p:nvPr/>
        </p:nvSpPr>
        <p:spPr>
          <a:xfrm>
            <a:off x="4210050" y="4999147"/>
            <a:ext cx="1503926" cy="944453"/>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Germany</a:t>
            </a:r>
          </a:p>
          <a:p>
            <a:pPr algn="ctr"/>
            <a:r>
              <a:rPr sz="700" b="0">
                <a:solidFill>
                  <a:srgbClr val="FFFFFF"/>
                </a:solidFill>
                <a:latin typeface="Calibri"/>
              </a:rPr>
              <a:t>272</a:t>
            </a:r>
          </a:p>
        </p:txBody>
      </p:sp>
      <p:sp>
        <p:nvSpPr>
          <p:cNvPr id="22" name="Rectangle 21"/>
          <p:cNvSpPr/>
          <p:nvPr/>
        </p:nvSpPr>
        <p:spPr>
          <a:xfrm>
            <a:off x="5713976" y="3091166"/>
            <a:ext cx="1133731" cy="1015839"/>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United Kingdom</a:t>
            </a:r>
          </a:p>
          <a:p>
            <a:pPr algn="ctr"/>
            <a:r>
              <a:rPr sz="700" b="0">
                <a:solidFill>
                  <a:srgbClr val="FFFFFF"/>
                </a:solidFill>
                <a:latin typeface="Calibri"/>
              </a:rPr>
              <a:t>221</a:t>
            </a:r>
          </a:p>
        </p:txBody>
      </p:sp>
      <p:sp>
        <p:nvSpPr>
          <p:cNvPr id="23" name="Rectangle 22"/>
          <p:cNvSpPr/>
          <p:nvPr/>
        </p:nvSpPr>
        <p:spPr>
          <a:xfrm>
            <a:off x="6847707" y="3091166"/>
            <a:ext cx="1105668" cy="1015839"/>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France</a:t>
            </a:r>
          </a:p>
          <a:p>
            <a:pPr algn="ctr"/>
            <a:r>
              <a:rPr sz="700" b="0">
                <a:solidFill>
                  <a:srgbClr val="FFFFFF"/>
                </a:solidFill>
                <a:latin typeface="Calibri"/>
              </a:rPr>
              <a:t>215</a:t>
            </a:r>
          </a:p>
        </p:txBody>
      </p:sp>
      <p:sp>
        <p:nvSpPr>
          <p:cNvPr id="24" name="Rectangle 23"/>
          <p:cNvSpPr/>
          <p:nvPr/>
        </p:nvSpPr>
        <p:spPr>
          <a:xfrm>
            <a:off x="5713976" y="4107005"/>
            <a:ext cx="1011197" cy="943218"/>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India</a:t>
            </a:r>
          </a:p>
          <a:p>
            <a:pPr algn="ctr"/>
            <a:r>
              <a:rPr sz="700" b="0">
                <a:solidFill>
                  <a:srgbClr val="FFFFFF"/>
                </a:solidFill>
                <a:latin typeface="Calibri"/>
              </a:rPr>
              <a:t>183</a:t>
            </a:r>
          </a:p>
        </p:txBody>
      </p:sp>
      <p:sp>
        <p:nvSpPr>
          <p:cNvPr id="25" name="Rectangle 24"/>
          <p:cNvSpPr/>
          <p:nvPr/>
        </p:nvSpPr>
        <p:spPr>
          <a:xfrm>
            <a:off x="5713976" y="5050224"/>
            <a:ext cx="1011197" cy="893376"/>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Brazil</a:t>
            </a:r>
          </a:p>
          <a:p>
            <a:pPr algn="ctr"/>
            <a:r>
              <a:rPr sz="700" b="0">
                <a:solidFill>
                  <a:srgbClr val="FFFFFF"/>
                </a:solidFill>
                <a:latin typeface="Calibri"/>
              </a:rPr>
              <a:t>173</a:t>
            </a:r>
          </a:p>
        </p:txBody>
      </p:sp>
      <p:sp>
        <p:nvSpPr>
          <p:cNvPr id="26" name="Rectangle 25"/>
          <p:cNvSpPr/>
          <p:nvPr/>
        </p:nvSpPr>
        <p:spPr>
          <a:xfrm>
            <a:off x="6725173" y="4107005"/>
            <a:ext cx="1228202" cy="650962"/>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Japan</a:t>
            </a:r>
          </a:p>
          <a:p>
            <a:pPr algn="ctr"/>
            <a:r>
              <a:rPr sz="700" b="0">
                <a:solidFill>
                  <a:srgbClr val="FFFFFF"/>
                </a:solidFill>
                <a:latin typeface="Calibri"/>
              </a:rPr>
              <a:t>153</a:t>
            </a:r>
          </a:p>
        </p:txBody>
      </p:sp>
      <p:sp>
        <p:nvSpPr>
          <p:cNvPr id="27" name="Rectangle 26"/>
          <p:cNvSpPr/>
          <p:nvPr/>
        </p:nvSpPr>
        <p:spPr>
          <a:xfrm>
            <a:off x="6725173" y="4757968"/>
            <a:ext cx="625174" cy="1185632"/>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Rest of LATAM</a:t>
            </a:r>
          </a:p>
          <a:p>
            <a:pPr algn="ctr"/>
            <a:r>
              <a:rPr sz="700" b="0">
                <a:solidFill>
                  <a:srgbClr val="FFFFFF"/>
                </a:solidFill>
                <a:latin typeface="Calibri"/>
              </a:rPr>
              <a:t>142</a:t>
            </a:r>
          </a:p>
        </p:txBody>
      </p:sp>
      <p:sp>
        <p:nvSpPr>
          <p:cNvPr id="28" name="Rectangle 27"/>
          <p:cNvSpPr/>
          <p:nvPr/>
        </p:nvSpPr>
        <p:spPr>
          <a:xfrm>
            <a:off x="7350347" y="4757968"/>
            <a:ext cx="603028" cy="1185632"/>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Italy</a:t>
            </a:r>
          </a:p>
          <a:p>
            <a:pPr algn="ctr"/>
            <a:r>
              <a:rPr sz="700" b="0">
                <a:solidFill>
                  <a:srgbClr val="FFFFFF"/>
                </a:solidFill>
                <a:latin typeface="Calibri"/>
              </a:rPr>
              <a:t>137</a:t>
            </a:r>
          </a:p>
        </p:txBody>
      </p:sp>
      <p:sp>
        <p:nvSpPr>
          <p:cNvPr id="29" name="Rounded Rectangle 28"/>
          <p:cNvSpPr/>
          <p:nvPr/>
        </p:nvSpPr>
        <p:spPr>
          <a:xfrm>
            <a:off x="8086725" y="857250"/>
            <a:ext cx="3933825" cy="2543175"/>
          </a:xfrm>
          <a:prstGeom prst="roundRect">
            <a:avLst>
              <a:gd name="adj" fmla="val 299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1975" y="914400"/>
            <a:ext cx="3743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Top 10 Countries By Absolute Index</a:t>
            </a:r>
          </a:p>
        </p:txBody>
      </p:sp>
      <p:graphicFrame>
        <p:nvGraphicFramePr>
          <p:cNvPr id="31" name="Chart 30"/>
          <p:cNvGraphicFramePr>
            <a:graphicFrameLocks noGrp="1"/>
          </p:cNvGraphicFramePr>
          <p:nvPr/>
        </p:nvGraphicFramePr>
        <p:xfrm>
          <a:off x="8181975" y="1143000"/>
          <a:ext cx="3743325" cy="2200275"/>
        </p:xfrm>
        <a:graphic>
          <a:graphicData uri="http://schemas.openxmlformats.org/drawingml/2006/chart">
            <c:chart xmlns:c="http://schemas.openxmlformats.org/drawingml/2006/chart" r:id="rId4"/>
          </a:graphicData>
        </a:graphic>
      </p:graphicFrame>
      <p:sp>
        <p:nvSpPr>
          <p:cNvPr id="32" name="Rounded Rectangle 31"/>
          <p:cNvSpPr/>
          <p:nvPr/>
        </p:nvSpPr>
        <p:spPr>
          <a:xfrm>
            <a:off x="8086725" y="3429000"/>
            <a:ext cx="3933825" cy="2571750"/>
          </a:xfrm>
          <a:prstGeom prst="roundRect">
            <a:avLst>
              <a:gd name="adj" fmla="val 296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3" name="Table 32"/>
          <p:cNvGraphicFramePr>
            <a:graphicFrameLocks noGrp="1"/>
          </p:cNvGraphicFramePr>
          <p:nvPr/>
        </p:nvGraphicFramePr>
        <p:xfrm>
          <a:off x="8162925" y="3505200"/>
          <a:ext cx="3781424" cy="1990725"/>
        </p:xfrm>
        <a:graphic>
          <a:graphicData uri="http://schemas.openxmlformats.org/drawingml/2006/table">
            <a:tbl>
              <a:tblPr>
                <a:tableStyleId>{5C22544A-7EE6-4342-B048-85BDC9FD1C3A}</a:tableStyleId>
              </a:tblPr>
              <a:tblGrid>
                <a:gridCol w="1134428"/>
                <a:gridCol w="882332"/>
                <a:gridCol w="882332"/>
                <a:gridCol w="882332"/>
              </a:tblGrid>
              <a:tr h="180975">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Absolute Index</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c>
                  <a:txBody>
                    <a:bodyPr wrap="none"/>
                    <a:lstStyle/>
                    <a:p>
                      <a:pPr algn="l"/>
                      <a:r>
                        <a:rPr sz="900" b="1">
                          <a:solidFill>
                            <a:srgbClr val="0B2E4A"/>
                          </a:solidFill>
                          <a:latin typeface="Calibri"/>
                        </a:rPr>
                        <a:t>$ Opp (US$ Mn)</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United States</a:t>
                      </a:r>
                    </a:p>
                  </a:txBody>
                  <a:tcPr marL="85725" marR="38100" marT="19050" marB="19050" anchor="ctr">
                    <a:solidFill>
                      <a:srgbClr val="FFFFFF"/>
                    </a:solidFill>
                  </a:tcPr>
                </a:tc>
                <a:tc>
                  <a:txBody>
                    <a:bodyPr wrap="none"/>
                    <a:lstStyle/>
                    <a:p>
                      <a:pPr algn="l"/>
                      <a:r>
                        <a:rPr sz="900" b="0">
                          <a:solidFill>
                            <a:srgbClr val="2E2E2E"/>
                          </a:solidFill>
                          <a:latin typeface="Calibri"/>
                        </a:rPr>
                        <a:t>29</a:t>
                      </a:r>
                    </a:p>
                  </a:txBody>
                  <a:tcPr marL="85725" marR="38100" marT="19050" marB="19050" anchor="ctr">
                    <a:solidFill>
                      <a:srgbClr val="FFFFFF"/>
                    </a:solidFill>
                  </a:tcPr>
                </a:tc>
                <a:tc>
                  <a:txBody>
                    <a:bodyPr wrap="none"/>
                    <a:lstStyle/>
                    <a:p>
                      <a:pPr algn="l"/>
                      <a:r>
                        <a:rPr sz="900" b="0">
                          <a:solidFill>
                            <a:srgbClr val="2E2E2E"/>
                          </a:solidFill>
                          <a:latin typeface="Calibri"/>
                        </a:rPr>
                        <a:t>8.2%</a:t>
                      </a:r>
                    </a:p>
                  </a:txBody>
                  <a:tcPr marL="85725" marR="38100" marT="19050" marB="19050" anchor="ctr">
                    <a:solidFill>
                      <a:srgbClr val="FFFFFF"/>
                    </a:solidFill>
                  </a:tcPr>
                </a:tc>
                <a:tc>
                  <a:txBody>
                    <a:bodyPr wrap="none"/>
                    <a:lstStyle/>
                    <a:p>
                      <a:pPr algn="l"/>
                      <a:r>
                        <a:rPr sz="900" b="0">
                          <a:solidFill>
                            <a:srgbClr val="2E2E2E"/>
                          </a:solidFill>
                          <a:latin typeface="Calibri"/>
                        </a:rPr>
                        <a:t>761.9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China</a:t>
                      </a:r>
                    </a:p>
                  </a:txBody>
                  <a:tcPr marL="85725" marR="38100" marT="19050" marB="19050" anchor="ctr">
                    <a:solidFill>
                      <a:srgbClr val="F5F8FA"/>
                    </a:solidFill>
                  </a:tcPr>
                </a:tc>
                <a:tc>
                  <a:txBody>
                    <a:bodyPr wrap="none"/>
                    <a:lstStyle/>
                    <a:p>
                      <a:pPr algn="l"/>
                      <a:r>
                        <a:rPr sz="900" b="0">
                          <a:solidFill>
                            <a:srgbClr val="2E2E2E"/>
                          </a:solidFill>
                          <a:latin typeface="Calibri"/>
                        </a:rPr>
                        <a:t>12</a:t>
                      </a:r>
                    </a:p>
                  </a:txBody>
                  <a:tcPr marL="85725" marR="38100" marT="19050" marB="19050" anchor="ctr">
                    <a:solidFill>
                      <a:srgbClr val="F5F8FA"/>
                    </a:solidFill>
                  </a:tcPr>
                </a:tc>
                <a:tc>
                  <a:txBody>
                    <a:bodyPr wrap="none"/>
                    <a:lstStyle/>
                    <a:p>
                      <a:pPr algn="l"/>
                      <a:r>
                        <a:rPr sz="900" b="0">
                          <a:solidFill>
                            <a:srgbClr val="2E2E2E"/>
                          </a:solidFill>
                          <a:latin typeface="Calibri"/>
                        </a:rPr>
                        <a:t>9.1%</a:t>
                      </a:r>
                    </a:p>
                  </a:txBody>
                  <a:tcPr marL="85725" marR="38100" marT="19050" marB="19050" anchor="ctr">
                    <a:solidFill>
                      <a:srgbClr val="F5F8FA"/>
                    </a:solidFill>
                  </a:tcPr>
                </a:tc>
                <a:tc>
                  <a:txBody>
                    <a:bodyPr wrap="none"/>
                    <a:lstStyle/>
                    <a:p>
                      <a:pPr algn="l"/>
                      <a:r>
                        <a:rPr sz="900" b="0">
                          <a:solidFill>
                            <a:srgbClr val="2E2E2E"/>
                          </a:solidFill>
                          <a:latin typeface="Calibri"/>
                        </a:rPr>
                        <a:t>319.4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Germany</a:t>
                      </a:r>
                    </a:p>
                  </a:txBody>
                  <a:tcPr marL="85725" marR="38100" marT="19050" marB="19050" anchor="ctr">
                    <a:solidFill>
                      <a:srgbClr val="FFFFFF"/>
                    </a:solidFill>
                  </a:tcPr>
                </a:tc>
                <a:tc>
                  <a:txBody>
                    <a:bodyPr wrap="none"/>
                    <a:lstStyle/>
                    <a:p>
                      <a:pPr algn="l"/>
                      <a:r>
                        <a:rPr sz="900" b="0">
                          <a:solidFill>
                            <a:srgbClr val="2E2E2E"/>
                          </a:solidFill>
                          <a:latin typeface="Calibri"/>
                        </a:rPr>
                        <a:t>5</a:t>
                      </a:r>
                    </a:p>
                  </a:txBody>
                  <a:tcPr marL="85725" marR="38100" marT="19050" marB="19050" anchor="ctr">
                    <a:solidFill>
                      <a:srgbClr val="FFFFFF"/>
                    </a:solidFill>
                  </a:tcPr>
                </a:tc>
                <a:tc>
                  <a:txBody>
                    <a:bodyPr wrap="none"/>
                    <a:lstStyle/>
                    <a:p>
                      <a:pPr algn="l"/>
                      <a:r>
                        <a:rPr sz="900" b="0">
                          <a:solidFill>
                            <a:srgbClr val="2E2E2E"/>
                          </a:solidFill>
                          <a:latin typeface="Calibri"/>
                        </a:rPr>
                        <a:t>7.1%</a:t>
                      </a:r>
                    </a:p>
                  </a:txBody>
                  <a:tcPr marL="85725" marR="38100" marT="19050" marB="19050" anchor="ctr">
                    <a:solidFill>
                      <a:srgbClr val="FFFFFF"/>
                    </a:solidFill>
                  </a:tcPr>
                </a:tc>
                <a:tc>
                  <a:txBody>
                    <a:bodyPr wrap="none"/>
                    <a:lstStyle/>
                    <a:p>
                      <a:pPr algn="l"/>
                      <a:r>
                        <a:rPr sz="900" b="0">
                          <a:solidFill>
                            <a:srgbClr val="2E2E2E"/>
                          </a:solidFill>
                          <a:latin typeface="Calibri"/>
                        </a:rPr>
                        <a:t>134.7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France</a:t>
                      </a:r>
                    </a:p>
                  </a:txBody>
                  <a:tcPr marL="85725" marR="38100" marT="19050" marB="19050" anchor="ctr">
                    <a:solidFill>
                      <a:srgbClr val="F5F8FA"/>
                    </a:solidFill>
                  </a:tcPr>
                </a:tc>
                <a:tc>
                  <a:txBody>
                    <a:bodyPr wrap="none"/>
                    <a:lstStyle/>
                    <a:p>
                      <a:pPr algn="l"/>
                      <a:r>
                        <a:rPr sz="900" b="0">
                          <a:solidFill>
                            <a:srgbClr val="2E2E2E"/>
                          </a:solidFill>
                          <a:latin typeface="Calibri"/>
                        </a:rPr>
                        <a:t>4</a:t>
                      </a:r>
                    </a:p>
                  </a:txBody>
                  <a:tcPr marL="85725" marR="38100" marT="19050" marB="19050" anchor="ctr">
                    <a:solidFill>
                      <a:srgbClr val="F5F8FA"/>
                    </a:solidFill>
                  </a:tcPr>
                </a:tc>
                <a:tc>
                  <a:txBody>
                    <a:bodyPr wrap="none"/>
                    <a:lstStyle/>
                    <a:p>
                      <a:pPr algn="l"/>
                      <a:r>
                        <a:rPr sz="900" b="0">
                          <a:solidFill>
                            <a:srgbClr val="2E2E2E"/>
                          </a:solidFill>
                          <a:latin typeface="Calibri"/>
                        </a:rPr>
                        <a:t>7.8%</a:t>
                      </a:r>
                    </a:p>
                  </a:txBody>
                  <a:tcPr marL="85725" marR="38100" marT="19050" marB="19050" anchor="ctr">
                    <a:solidFill>
                      <a:srgbClr val="F5F8FA"/>
                    </a:solidFill>
                  </a:tcPr>
                </a:tc>
                <a:tc>
                  <a:txBody>
                    <a:bodyPr wrap="none"/>
                    <a:lstStyle/>
                    <a:p>
                      <a:pPr algn="l"/>
                      <a:r>
                        <a:rPr sz="900" b="0">
                          <a:solidFill>
                            <a:srgbClr val="2E2E2E"/>
                          </a:solidFill>
                          <a:latin typeface="Calibri"/>
                        </a:rPr>
                        <a:t>113.4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United Kingdom</a:t>
                      </a:r>
                    </a:p>
                  </a:txBody>
                  <a:tcPr marL="85725" marR="38100" marT="19050" marB="19050" anchor="ctr">
                    <a:solidFill>
                      <a:srgbClr val="FFFFFF"/>
                    </a:solidFill>
                  </a:tcPr>
                </a:tc>
                <a:tc>
                  <a:txBody>
                    <a:bodyPr wrap="none"/>
                    <a:lstStyle/>
                    <a:p>
                      <a:pPr algn="l"/>
                      <a:r>
                        <a:rPr sz="900" b="0">
                          <a:solidFill>
                            <a:srgbClr val="2E2E2E"/>
                          </a:solidFill>
                          <a:latin typeface="Calibri"/>
                        </a:rPr>
                        <a:t>4</a:t>
                      </a:r>
                    </a:p>
                  </a:txBody>
                  <a:tcPr marL="85725" marR="38100" marT="19050" marB="19050" anchor="ctr">
                    <a:solidFill>
                      <a:srgbClr val="FFFFFF"/>
                    </a:solidFill>
                  </a:tcPr>
                </a:tc>
                <a:tc>
                  <a:txBody>
                    <a:bodyPr wrap="none"/>
                    <a:lstStyle/>
                    <a:p>
                      <a:pPr algn="l"/>
                      <a:r>
                        <a:rPr sz="900" b="0">
                          <a:solidFill>
                            <a:srgbClr val="2E2E2E"/>
                          </a:solidFill>
                          <a:latin typeface="Calibri"/>
                        </a:rPr>
                        <a:t>6.9%</a:t>
                      </a:r>
                    </a:p>
                  </a:txBody>
                  <a:tcPr marL="85725" marR="38100" marT="19050" marB="19050" anchor="ctr">
                    <a:solidFill>
                      <a:srgbClr val="FFFFFF"/>
                    </a:solidFill>
                  </a:tcPr>
                </a:tc>
                <a:tc>
                  <a:txBody>
                    <a:bodyPr wrap="none"/>
                    <a:lstStyle/>
                    <a:p>
                      <a:pPr algn="l"/>
                      <a:r>
                        <a:rPr sz="900" b="0">
                          <a:solidFill>
                            <a:srgbClr val="2E2E2E"/>
                          </a:solidFill>
                          <a:latin typeface="Calibri"/>
                        </a:rPr>
                        <a:t>107.4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India</a:t>
                      </a:r>
                    </a:p>
                  </a:txBody>
                  <a:tcPr marL="85725" marR="38100" marT="19050" marB="19050" anchor="ctr">
                    <a:solidFill>
                      <a:srgbClr val="F5F8FA"/>
                    </a:solidFill>
                  </a:tcPr>
                </a:tc>
                <a:tc>
                  <a:txBody>
                    <a:bodyPr wrap="none"/>
                    <a:lstStyle/>
                    <a:p>
                      <a:pPr algn="l"/>
                      <a:r>
                        <a:rPr sz="900" b="0">
                          <a:solidFill>
                            <a:srgbClr val="2E2E2E"/>
                          </a:solidFill>
                          <a:latin typeface="Calibri"/>
                        </a:rPr>
                        <a:t>4</a:t>
                      </a:r>
                    </a:p>
                  </a:txBody>
                  <a:tcPr marL="85725" marR="38100" marT="19050" marB="19050" anchor="ctr">
                    <a:solidFill>
                      <a:srgbClr val="F5F8FA"/>
                    </a:solidFill>
                  </a:tcPr>
                </a:tc>
                <a:tc>
                  <a:txBody>
                    <a:bodyPr wrap="none"/>
                    <a:lstStyle/>
                    <a:p>
                      <a:pPr algn="l"/>
                      <a:r>
                        <a:rPr sz="900" b="0">
                          <a:solidFill>
                            <a:srgbClr val="2E2E2E"/>
                          </a:solidFill>
                          <a:latin typeface="Calibri"/>
                        </a:rPr>
                        <a:t>9.1%</a:t>
                      </a:r>
                    </a:p>
                  </a:txBody>
                  <a:tcPr marL="85725" marR="38100" marT="19050" marB="19050" anchor="ctr">
                    <a:solidFill>
                      <a:srgbClr val="F5F8FA"/>
                    </a:solidFill>
                  </a:tcPr>
                </a:tc>
                <a:tc>
                  <a:txBody>
                    <a:bodyPr wrap="none"/>
                    <a:lstStyle/>
                    <a:p>
                      <a:pPr algn="l"/>
                      <a:r>
                        <a:rPr sz="900" b="0">
                          <a:solidFill>
                            <a:srgbClr val="2E2E2E"/>
                          </a:solidFill>
                          <a:latin typeface="Calibri"/>
                        </a:rPr>
                        <a:t>106.2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Brazil</a:t>
                      </a:r>
                    </a:p>
                  </a:txBody>
                  <a:tcPr marL="85725" marR="38100" marT="19050" marB="19050" anchor="ctr">
                    <a:solidFill>
                      <a:srgbClr val="FFFFFF"/>
                    </a:solidFill>
                  </a:tcPr>
                </a:tc>
                <a:tc>
                  <a:txBody>
                    <a:bodyPr wrap="none"/>
                    <a:lstStyle/>
                    <a:p>
                      <a:pPr algn="l"/>
                      <a:r>
                        <a:rPr sz="900" b="0">
                          <a:solidFill>
                            <a:srgbClr val="2E2E2E"/>
                          </a:solidFill>
                          <a:latin typeface="Calibri"/>
                        </a:rPr>
                        <a:t>3</a:t>
                      </a:r>
                    </a:p>
                  </a:txBody>
                  <a:tcPr marL="85725" marR="38100" marT="19050" marB="19050" anchor="ctr">
                    <a:solidFill>
                      <a:srgbClr val="FFFFFF"/>
                    </a:solidFill>
                  </a:tcPr>
                </a:tc>
                <a:tc>
                  <a:txBody>
                    <a:bodyPr wrap="none"/>
                    <a:lstStyle/>
                    <a:p>
                      <a:pPr algn="l"/>
                      <a:r>
                        <a:rPr sz="900" b="0">
                          <a:solidFill>
                            <a:srgbClr val="2E2E2E"/>
                          </a:solidFill>
                          <a:latin typeface="Calibri"/>
                        </a:rPr>
                        <a:t>7.2%</a:t>
                      </a:r>
                    </a:p>
                  </a:txBody>
                  <a:tcPr marL="85725" marR="38100" marT="19050" marB="19050" anchor="ctr">
                    <a:solidFill>
                      <a:srgbClr val="FFFFFF"/>
                    </a:solidFill>
                  </a:tcPr>
                </a:tc>
                <a:tc>
                  <a:txBody>
                    <a:bodyPr wrap="none"/>
                    <a:lstStyle/>
                    <a:p>
                      <a:pPr algn="l"/>
                      <a:r>
                        <a:rPr sz="900" b="0">
                          <a:solidFill>
                            <a:srgbClr val="2E2E2E"/>
                          </a:solidFill>
                          <a:latin typeface="Calibri"/>
                        </a:rPr>
                        <a:t>87.0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Japan</a:t>
                      </a:r>
                    </a:p>
                  </a:txBody>
                  <a:tcPr marL="85725" marR="38100" marT="19050" marB="19050" anchor="ctr">
                    <a:solidFill>
                      <a:srgbClr val="F5F8FA"/>
                    </a:solidFill>
                  </a:tcPr>
                </a:tc>
                <a:tc>
                  <a:txBody>
                    <a:bodyPr wrap="none"/>
                    <a:lstStyle/>
                    <a:p>
                      <a:pPr algn="l"/>
                      <a:r>
                        <a:rPr sz="900" b="0">
                          <a:solidFill>
                            <a:srgbClr val="2E2E2E"/>
                          </a:solidFill>
                          <a:latin typeface="Calibri"/>
                        </a:rPr>
                        <a:t>3</a:t>
                      </a:r>
                    </a:p>
                  </a:txBody>
                  <a:tcPr marL="85725" marR="38100" marT="19050" marB="19050" anchor="ctr">
                    <a:solidFill>
                      <a:srgbClr val="F5F8FA"/>
                    </a:solidFill>
                  </a:tcPr>
                </a:tc>
                <a:tc>
                  <a:txBody>
                    <a:bodyPr wrap="none"/>
                    <a:lstStyle/>
                    <a:p>
                      <a:pPr algn="l"/>
                      <a:r>
                        <a:rPr sz="900" b="0">
                          <a:solidFill>
                            <a:srgbClr val="2E2E2E"/>
                          </a:solidFill>
                          <a:latin typeface="Calibri"/>
                        </a:rPr>
                        <a:t>6.8%</a:t>
                      </a:r>
                    </a:p>
                  </a:txBody>
                  <a:tcPr marL="85725" marR="38100" marT="19050" marB="19050" anchor="ctr">
                    <a:solidFill>
                      <a:srgbClr val="F5F8FA"/>
                    </a:solidFill>
                  </a:tcPr>
                </a:tc>
                <a:tc>
                  <a:txBody>
                    <a:bodyPr wrap="none"/>
                    <a:lstStyle/>
                    <a:p>
                      <a:pPr algn="l"/>
                      <a:r>
                        <a:rPr sz="900" b="0">
                          <a:solidFill>
                            <a:srgbClr val="2E2E2E"/>
                          </a:solidFill>
                          <a:latin typeface="Calibri"/>
                        </a:rPr>
                        <a:t>74.0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Rest of LATAM</a:t>
                      </a:r>
                    </a:p>
                  </a:txBody>
                  <a:tcPr marL="85725" marR="38100" marT="19050" marB="19050" anchor="ctr">
                    <a:solidFill>
                      <a:srgbClr val="FFFFFF"/>
                    </a:solidFill>
                  </a:tcPr>
                </a:tc>
                <a:tc>
                  <a:txBody>
                    <a:bodyPr wrap="none"/>
                    <a:lstStyle/>
                    <a:p>
                      <a:pPr algn="l"/>
                      <a:r>
                        <a:rPr sz="900" b="0">
                          <a:solidFill>
                            <a:srgbClr val="2E2E2E"/>
                          </a:solidFill>
                          <a:latin typeface="Calibri"/>
                        </a:rPr>
                        <a:t>3</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c>
                  <a:txBody>
                    <a:bodyPr wrap="none"/>
                    <a:lstStyle/>
                    <a:p>
                      <a:pPr algn="l"/>
                      <a:r>
                        <a:rPr sz="900" b="0">
                          <a:solidFill>
                            <a:srgbClr val="2E2E2E"/>
                          </a:solidFill>
                          <a:latin typeface="Calibri"/>
                        </a:rPr>
                        <a:t>73.0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Italy</a:t>
                      </a:r>
                    </a:p>
                  </a:txBody>
                  <a:tcPr marL="85725" marR="38100" marT="19050" marB="19050" anchor="ctr">
                    <a:solidFill>
                      <a:srgbClr val="F5F8FA"/>
                    </a:solidFill>
                  </a:tcPr>
                </a:tc>
                <a:tc>
                  <a:txBody>
                    <a:bodyPr wrap="none"/>
                    <a:lstStyle/>
                    <a:p>
                      <a:pPr algn="l"/>
                      <a:r>
                        <a:rPr sz="900" b="0">
                          <a:solidFill>
                            <a:srgbClr val="2E2E2E"/>
                          </a:solidFill>
                          <a:latin typeface="Calibri"/>
                        </a:rPr>
                        <a:t>3</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c>
                  <a:txBody>
                    <a:bodyPr wrap="none"/>
                    <a:lstStyle/>
                    <a:p>
                      <a:pPr algn="l"/>
                      <a:r>
                        <a:rPr sz="900" b="0">
                          <a:solidFill>
                            <a:srgbClr val="2E2E2E"/>
                          </a:solidFill>
                          <a:latin typeface="Calibri"/>
                        </a:rPr>
                        <a:t>70.4</a:t>
                      </a:r>
                    </a:p>
                  </a:txBody>
                  <a:tcPr marL="85725" marR="38100" marT="19050" marB="19050" anchor="ctr">
                    <a:solidFill>
                      <a:srgbClr val="F5F8FA"/>
                    </a:solidFill>
                  </a:tcPr>
                </a:tc>
              </a:tr>
            </a:tbl>
          </a:graphicData>
        </a:graphic>
      </p:graphicFrame>
      <p:sp>
        <p:nvSpPr>
          <p:cNvPr id="34" name="TextBox 33"/>
          <p:cNvSpPr txBox="1"/>
          <p:nvPr/>
        </p:nvSpPr>
        <p:spPr>
          <a:xfrm>
            <a:off x="8162925" y="5857875"/>
            <a:ext cx="3781425" cy="123825"/>
          </a:xfrm>
          <a:prstGeom prst="rect">
            <a:avLst/>
          </a:prstGeom>
          <a:noFill/>
        </p:spPr>
        <p:txBody>
          <a:bodyPr wrap="none">
            <a:spAutoFit/>
          </a:bodyPr>
          <a:lstStyle/>
          <a:p>
            <a:r>
              <a:rPr sz="700" i="1">
                <a:solidFill>
                  <a:srgbClr val="6C7A89"/>
                </a:solidFill>
                <a:latin typeface="Calibri"/>
              </a:rPr>
              <a:t>Source: FMI Analysis, 2026</a:t>
            </a:r>
          </a:p>
        </p:txBody>
      </p:sp>
      <p:sp>
        <p:nvSpPr>
          <p:cNvPr id="35" name="Rounded Rectangle 34"/>
          <p:cNvSpPr/>
          <p:nvPr/>
        </p:nvSpPr>
        <p:spPr>
          <a:xfrm>
            <a:off x="142875" y="6096000"/>
            <a:ext cx="10858500" cy="628650"/>
          </a:xfrm>
          <a:prstGeom prst="roundRect">
            <a:avLst>
              <a:gd name="adj" fmla="val 1212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India posts the highest CAGR Index (115), growing at 9.1% against the global benchmark, while United States offers the largest absolute opportunity 761.9 US$ Mn of incremental market between 2026 and 2036 (29% of the global increment).</a:t>
            </a:r>
          </a:p>
        </p:txBody>
      </p:sp>
      <p:sp>
        <p:nvSpPr>
          <p:cNvPr id="36" name="Rectangle 3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8" name="Rounded Rectangle 3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9" name="Rounded Rectangle 3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0" name="Rounded Rectangle 3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Market Overview (1/4)</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Executive summary of market size, competitive landscape and the drivers, restraints and trends shaping demand</a:t>
            </a:r>
          </a:p>
        </p:txBody>
      </p:sp>
      <p:sp>
        <p:nvSpPr>
          <p:cNvPr id="11" name="Rounded Rectangle 10"/>
          <p:cNvSpPr/>
          <p:nvPr/>
        </p:nvSpPr>
        <p:spPr>
          <a:xfrm>
            <a:off x="142875" y="85725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942975"/>
            <a:ext cx="11639550" cy="209550"/>
          </a:xfrm>
          <a:prstGeom prst="rect">
            <a:avLst/>
          </a:prstGeom>
          <a:noFill/>
        </p:spPr>
        <p:txBody>
          <a:bodyPr wrap="square" lIns="0" rIns="19050" tIns="9525" bIns="9525">
            <a:spAutoFit/>
          </a:bodyPr>
          <a:lstStyle/>
          <a:p>
            <a:pPr algn="l"/>
            <a:r>
              <a:rPr sz="1300" b="1">
                <a:solidFill>
                  <a:srgbClr val="0B2E4A"/>
                </a:solidFill>
                <a:latin typeface="Calibri"/>
              </a:rPr>
              <a:t>Market Overview</a:t>
            </a:r>
          </a:p>
        </p:txBody>
      </p:sp>
      <p:sp>
        <p:nvSpPr>
          <p:cNvPr id="13" name="Rectangle 12"/>
          <p:cNvSpPr/>
          <p:nvPr/>
        </p:nvSpPr>
        <p:spPr>
          <a:xfrm>
            <a:off x="276225" y="1181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26682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global Capillary Blood Collection Devices market is valued at 2,306 US$ Mn in 2026 and is forecast to reach 4,933 US$ Mn by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That implies a 7.9% forecast CAGR (2026–2036), versus 4.9% over 2021–2025.</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An incremental 2,627 US$ Mn of demand is created over the forecast a 2.1× expansion.</a:t>
            </a:r>
          </a:p>
        </p:txBody>
      </p:sp>
      <p:sp>
        <p:nvSpPr>
          <p:cNvPr id="15" name="Rounded Rectangle 14"/>
          <p:cNvSpPr/>
          <p:nvPr/>
        </p:nvSpPr>
        <p:spPr>
          <a:xfrm>
            <a:off x="142875" y="2857500"/>
            <a:ext cx="119062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29432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Competitive Landscape</a:t>
            </a:r>
          </a:p>
        </p:txBody>
      </p:sp>
      <p:sp>
        <p:nvSpPr>
          <p:cNvPr id="17" name="Rectangle 16"/>
          <p:cNvSpPr/>
          <p:nvPr/>
        </p:nvSpPr>
        <p:spPr>
          <a:xfrm>
            <a:off x="276225" y="3181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3267075"/>
            <a:ext cx="116395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market is consolidated: the leading product type category 'Capillary Blood Collection Containers' holds 42.9% of 2036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spans 7 regions and 6 segmentation lenses (4 product type categories).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is the largest regional market at 32.9% of 2036 value.</a:t>
            </a:r>
          </a:p>
        </p:txBody>
      </p:sp>
      <p:sp>
        <p:nvSpPr>
          <p:cNvPr id="19" name="Rounded Rectangle 18"/>
          <p:cNvSpPr/>
          <p:nvPr/>
        </p:nvSpPr>
        <p:spPr>
          <a:xfrm>
            <a:off x="142875" y="4857750"/>
            <a:ext cx="3943350"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4943475"/>
            <a:ext cx="3676650" cy="209550"/>
          </a:xfrm>
          <a:prstGeom prst="rect">
            <a:avLst/>
          </a:prstGeom>
          <a:noFill/>
        </p:spPr>
        <p:txBody>
          <a:bodyPr wrap="square" lIns="0" rIns="19050" tIns="9525" bIns="9525">
            <a:spAutoFit/>
          </a:bodyPr>
          <a:lstStyle/>
          <a:p>
            <a:pPr algn="l"/>
            <a:r>
              <a:rPr sz="1300" b="1">
                <a:solidFill>
                  <a:srgbClr val="0B2E4A"/>
                </a:solidFill>
                <a:latin typeface="Calibri"/>
              </a:rPr>
              <a:t>Drivers</a:t>
            </a:r>
          </a:p>
        </p:txBody>
      </p:sp>
      <p:sp>
        <p:nvSpPr>
          <p:cNvPr id="21" name="Rectangle 20"/>
          <p:cNvSpPr/>
          <p:nvPr/>
        </p:nvSpPr>
        <p:spPr>
          <a:xfrm>
            <a:off x="276225" y="5181600"/>
            <a:ext cx="3676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5267325"/>
            <a:ext cx="3676650"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Accelerating uptake of 'Integrated Capillary Blood Collection Devices' (12.5%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Fast-growing demand in East Asia (8.4%).</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Momentum in Genetic &amp; Molecular Testing within application (14.8%).</a:t>
            </a:r>
          </a:p>
        </p:txBody>
      </p:sp>
      <p:sp>
        <p:nvSpPr>
          <p:cNvPr id="23" name="Rounded Rectangle 22"/>
          <p:cNvSpPr/>
          <p:nvPr/>
        </p:nvSpPr>
        <p:spPr>
          <a:xfrm>
            <a:off x="4238625" y="4857750"/>
            <a:ext cx="3819525"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1975" y="4943475"/>
            <a:ext cx="3552825" cy="209550"/>
          </a:xfrm>
          <a:prstGeom prst="rect">
            <a:avLst/>
          </a:prstGeom>
          <a:noFill/>
        </p:spPr>
        <p:txBody>
          <a:bodyPr wrap="square" lIns="0" rIns="19050" tIns="9525" bIns="9525">
            <a:spAutoFit/>
          </a:bodyPr>
          <a:lstStyle/>
          <a:p>
            <a:pPr algn="l"/>
            <a:r>
              <a:rPr sz="1300" b="1">
                <a:solidFill>
                  <a:srgbClr val="0B2E4A"/>
                </a:solidFill>
                <a:latin typeface="Calibri"/>
              </a:rPr>
              <a:t>Restraints</a:t>
            </a:r>
          </a:p>
        </p:txBody>
      </p:sp>
      <p:sp>
        <p:nvSpPr>
          <p:cNvPr id="25" name="Rectangle 24"/>
          <p:cNvSpPr/>
          <p:nvPr/>
        </p:nvSpPr>
        <p:spPr>
          <a:xfrm>
            <a:off x="4371975" y="518160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1975" y="5267325"/>
            <a:ext cx="3552825"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Slower momentum in 'Blood Collection Lancets' (7.0%).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Maturing demand in established categories caps the blended 7.9%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concentration in 'Capillary Blood Collection Containers' raises barriers for new entrants.</a:t>
            </a:r>
          </a:p>
        </p:txBody>
      </p:sp>
      <p:sp>
        <p:nvSpPr>
          <p:cNvPr id="27" name="Rounded Rectangle 26"/>
          <p:cNvSpPr/>
          <p:nvPr/>
        </p:nvSpPr>
        <p:spPr>
          <a:xfrm>
            <a:off x="8210550" y="4857750"/>
            <a:ext cx="3819525" cy="1866900"/>
          </a:xfrm>
          <a:prstGeom prst="roundRect">
            <a:avLst>
              <a:gd name="adj" fmla="val 408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3900" y="4943475"/>
            <a:ext cx="3552825" cy="209550"/>
          </a:xfrm>
          <a:prstGeom prst="rect">
            <a:avLst/>
          </a:prstGeom>
          <a:noFill/>
        </p:spPr>
        <p:txBody>
          <a:bodyPr wrap="square" lIns="0" rIns="19050" tIns="9525" bIns="9525">
            <a:spAutoFit/>
          </a:bodyPr>
          <a:lstStyle/>
          <a:p>
            <a:pPr algn="l"/>
            <a:r>
              <a:rPr sz="1300" b="1">
                <a:solidFill>
                  <a:srgbClr val="0B2E4A"/>
                </a:solidFill>
                <a:latin typeface="Calibri"/>
              </a:rPr>
              <a:t>Trends</a:t>
            </a:r>
          </a:p>
        </p:txBody>
      </p:sp>
      <p:sp>
        <p:nvSpPr>
          <p:cNvPr id="29" name="Rectangle 28"/>
          <p:cNvSpPr/>
          <p:nvPr/>
        </p:nvSpPr>
        <p:spPr>
          <a:xfrm>
            <a:off x="8343900" y="5181600"/>
            <a:ext cx="35528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3900" y="5267325"/>
            <a:ext cx="3552825" cy="13811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Mix shifting toward 'Integrated Capillary Blood Collection Devices' and higher-growth tiers.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outpacing the global average.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 broadening across 4 product type categories.</a:t>
            </a:r>
          </a:p>
        </p:txBody>
      </p:sp>
      <p:sp>
        <p:nvSpPr>
          <p:cNvPr id="31" name="Rectangle 3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3" name="Rounded Rectangle 3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Supply Side Trends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Executive summary of recent developments, investments and R&amp;D activity shaping the supply side of the market</a:t>
            </a:r>
          </a:p>
        </p:txBody>
      </p:sp>
      <p:sp>
        <p:nvSpPr>
          <p:cNvPr id="11" name="Rounded Rectangle 10"/>
          <p:cNvSpPr/>
          <p:nvPr/>
        </p:nvSpPr>
        <p:spPr>
          <a:xfrm>
            <a:off x="142875" y="857250"/>
            <a:ext cx="5876925"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Recent Developments &amp; Key Industry Activities</a:t>
            </a:r>
          </a:p>
        </p:txBody>
      </p:sp>
      <p:sp>
        <p:nvSpPr>
          <p:cNvPr id="13" name="Rectangle 12"/>
          <p:cNvSpPr/>
          <p:nvPr/>
        </p:nvSpPr>
        <p:spPr>
          <a:xfrm>
            <a:off x="276225"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266825"/>
            <a:ext cx="5610225" cy="13430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Capacity and product development are concentrating in 'Integrated Capillary Blood Collection Devices' and East Asia.</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Portfolio expansion tracks the shift toward higher-growth product type categories.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Commercial focus is intensifying across North America and East Asia.</a:t>
            </a:r>
          </a:p>
        </p:txBody>
      </p:sp>
      <p:sp>
        <p:nvSpPr>
          <p:cNvPr id="15" name="Rounded Rectangle 14"/>
          <p:cNvSpPr/>
          <p:nvPr/>
        </p:nvSpPr>
        <p:spPr>
          <a:xfrm>
            <a:off x="6172200" y="857250"/>
            <a:ext cx="5876925" cy="1828800"/>
          </a:xfrm>
          <a:prstGeom prst="roundRect">
            <a:avLst>
              <a:gd name="adj" fmla="val 41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Key Insights</a:t>
            </a:r>
          </a:p>
        </p:txBody>
      </p:sp>
      <p:sp>
        <p:nvSpPr>
          <p:cNvPr id="17" name="Rectangle 16"/>
          <p:cNvSpPr/>
          <p:nvPr/>
        </p:nvSpPr>
        <p:spPr>
          <a:xfrm>
            <a:off x="6305550"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1266825"/>
            <a:ext cx="5610225" cy="13430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2026 size 2,306 US$ Mn; 2036 4,933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Forecast CAGR 7.9%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category 'Capillary Blood Collection Containers' 42.9% of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region North America 32.9%.</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Incremental opportunity 2,627 US$ Mn.</a:t>
            </a:r>
          </a:p>
        </p:txBody>
      </p:sp>
      <p:sp>
        <p:nvSpPr>
          <p:cNvPr id="19" name="Rounded Rectangle 18"/>
          <p:cNvSpPr/>
          <p:nvPr/>
        </p:nvSpPr>
        <p:spPr>
          <a:xfrm>
            <a:off x="142875" y="2819400"/>
            <a:ext cx="5876925" cy="1333500"/>
          </a:xfrm>
          <a:prstGeom prst="roundRect">
            <a:avLst>
              <a:gd name="adj" fmla="val 571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2905125"/>
            <a:ext cx="5610225" cy="209550"/>
          </a:xfrm>
          <a:prstGeom prst="rect">
            <a:avLst/>
          </a:prstGeom>
          <a:noFill/>
        </p:spPr>
        <p:txBody>
          <a:bodyPr wrap="square" lIns="0" rIns="19050" tIns="9525" bIns="9525">
            <a:spAutoFit/>
          </a:bodyPr>
          <a:lstStyle/>
          <a:p>
            <a:pPr algn="l"/>
            <a:r>
              <a:rPr sz="1300" b="1">
                <a:solidFill>
                  <a:srgbClr val="0B2E4A"/>
                </a:solidFill>
                <a:latin typeface="Calibri"/>
              </a:rPr>
              <a:t>Strategic Acquisitions &amp; New Investments</a:t>
            </a:r>
          </a:p>
        </p:txBody>
      </p:sp>
      <p:sp>
        <p:nvSpPr>
          <p:cNvPr id="21" name="Rectangle 20"/>
          <p:cNvSpPr/>
          <p:nvPr/>
        </p:nvSpPr>
        <p:spPr>
          <a:xfrm>
            <a:off x="276225" y="31432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3228975"/>
            <a:ext cx="5610225" cy="84772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Investment is flowing toward the fastest-growing tier 'Integrated Capillary Blood Collection Devices' (12.5%).</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East Asia (8.4%) is a priority region for new capacity.</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Scale players anchor around 'Capillary Blood Collection Containers' (42.9% share).</a:t>
            </a:r>
          </a:p>
        </p:txBody>
      </p:sp>
      <p:sp>
        <p:nvSpPr>
          <p:cNvPr id="23" name="Rounded Rectangle 22"/>
          <p:cNvSpPr/>
          <p:nvPr/>
        </p:nvSpPr>
        <p:spPr>
          <a:xfrm>
            <a:off x="6172200" y="2819400"/>
            <a:ext cx="5876925" cy="1333500"/>
          </a:xfrm>
          <a:prstGeom prst="roundRect">
            <a:avLst>
              <a:gd name="adj" fmla="val 571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5550" y="2905125"/>
            <a:ext cx="5610225" cy="209550"/>
          </a:xfrm>
          <a:prstGeom prst="rect">
            <a:avLst/>
          </a:prstGeom>
          <a:noFill/>
        </p:spPr>
        <p:txBody>
          <a:bodyPr wrap="square" lIns="0" rIns="19050" tIns="9525" bIns="9525">
            <a:spAutoFit/>
          </a:bodyPr>
          <a:lstStyle/>
          <a:p>
            <a:pPr algn="l"/>
            <a:r>
              <a:rPr sz="1300" b="1">
                <a:solidFill>
                  <a:srgbClr val="0B2E4A"/>
                </a:solidFill>
                <a:latin typeface="Calibri"/>
              </a:rPr>
              <a:t>Substantial Investment in R&amp;D</a:t>
            </a:r>
          </a:p>
        </p:txBody>
      </p:sp>
      <p:sp>
        <p:nvSpPr>
          <p:cNvPr id="25" name="Rectangle 24"/>
          <p:cNvSpPr/>
          <p:nvPr/>
        </p:nvSpPr>
        <p:spPr>
          <a:xfrm>
            <a:off x="6305550" y="314325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5550" y="3228975"/>
            <a:ext cx="5610225" cy="84772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R&amp;D aligns with the migration to 'Integrated Capillary Blood Collection Devices' and adjacent premium tiers.</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Development spend targets product type categories gaining share to 2036.</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Innovation underpins the 7.9% forecast CAGR.</a:t>
            </a:r>
          </a:p>
        </p:txBody>
      </p:sp>
      <p:sp>
        <p:nvSpPr>
          <p:cNvPr id="27" name="Rounded Rectangle 26"/>
          <p:cNvSpPr/>
          <p:nvPr/>
        </p:nvSpPr>
        <p:spPr>
          <a:xfrm>
            <a:off x="142875" y="4286250"/>
            <a:ext cx="11906250" cy="2438400"/>
          </a:xfrm>
          <a:prstGeom prst="roundRect">
            <a:avLst>
              <a:gd name="adj" fmla="val 31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8125" y="4343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structure product type share (2036)</a:t>
            </a:r>
          </a:p>
        </p:txBody>
      </p:sp>
      <p:graphicFrame>
        <p:nvGraphicFramePr>
          <p:cNvPr id="29" name="Chart 28"/>
          <p:cNvGraphicFramePr>
            <a:graphicFrameLocks noGrp="1"/>
          </p:cNvGraphicFramePr>
          <p:nvPr/>
        </p:nvGraphicFramePr>
        <p:xfrm>
          <a:off x="238125" y="4572000"/>
          <a:ext cx="11715750" cy="2095500"/>
        </p:xfrm>
        <a:graphic>
          <a:graphicData uri="http://schemas.openxmlformats.org/drawingml/2006/chart">
            <c:chart xmlns:c="http://schemas.openxmlformats.org/drawingml/2006/chart" r:id="rId3"/>
          </a:graphicData>
        </a:graphic>
      </p:graphicFrame>
      <p:sp>
        <p:nvSpPr>
          <p:cNvPr id="30" name="TextBox 29"/>
          <p:cNvSpPr txBox="1"/>
          <p:nvPr/>
        </p:nvSpPr>
        <p:spPr>
          <a:xfrm>
            <a:off x="3837394" y="5505450"/>
            <a:ext cx="1002487" cy="228600"/>
          </a:xfrm>
          <a:prstGeom prst="rect">
            <a:avLst/>
          </a:prstGeom>
          <a:noFill/>
        </p:spPr>
        <p:txBody>
          <a:bodyPr wrap="square" lIns="28575" rIns="28575" tIns="9525" bIns="9525" anchor="ctr">
            <a:spAutoFit/>
          </a:bodyPr>
          <a:lstStyle/>
          <a:p>
            <a:pPr algn="ctr"/>
            <a:r>
              <a:rPr sz="1300" b="1">
                <a:solidFill>
                  <a:srgbClr val="2E2E2E"/>
                </a:solidFill>
                <a:latin typeface="Calibri"/>
              </a:rPr>
              <a:t>2036</a:t>
            </a:r>
          </a:p>
        </p:txBody>
      </p:sp>
      <p:sp>
        <p:nvSpPr>
          <p:cNvPr id="31" name="Rectangle 3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3" name="Rounded Rectangle 32">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Analysis and Recommendation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Executive summary of the market approach, differentiating strategy and FMI's analysis and recommendation</a:t>
            </a:r>
          </a:p>
        </p:txBody>
      </p:sp>
      <p:sp>
        <p:nvSpPr>
          <p:cNvPr id="11" name="Rounded Rectangle 10"/>
          <p:cNvSpPr/>
          <p:nvPr/>
        </p:nvSpPr>
        <p:spPr>
          <a:xfrm>
            <a:off x="142875" y="8572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Overall Market Approach</a:t>
            </a:r>
          </a:p>
        </p:txBody>
      </p:sp>
      <p:sp>
        <p:nvSpPr>
          <p:cNvPr id="13" name="Rectangle 12"/>
          <p:cNvSpPr/>
          <p:nvPr/>
        </p:nvSpPr>
        <p:spPr>
          <a:xfrm>
            <a:off x="276225"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2668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Balance scale in 'Capillary Blood Collection Containers' with targeted growth in 'Integrated Capillary Blood Collection Devices', pursuing the 7.9% CAGR trajectory to 2036.</a:t>
            </a:r>
          </a:p>
        </p:txBody>
      </p:sp>
      <p:sp>
        <p:nvSpPr>
          <p:cNvPr id="15" name="Rounded Rectangle 14"/>
          <p:cNvSpPr/>
          <p:nvPr/>
        </p:nvSpPr>
        <p:spPr>
          <a:xfrm>
            <a:off x="6172200" y="8572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5550" y="942975"/>
            <a:ext cx="5610225" cy="209550"/>
          </a:xfrm>
          <a:prstGeom prst="rect">
            <a:avLst/>
          </a:prstGeom>
          <a:noFill/>
        </p:spPr>
        <p:txBody>
          <a:bodyPr wrap="square" lIns="0" rIns="19050" tIns="9525" bIns="9525">
            <a:spAutoFit/>
          </a:bodyPr>
          <a:lstStyle/>
          <a:p>
            <a:pPr algn="l"/>
            <a:r>
              <a:rPr sz="1300" b="1">
                <a:solidFill>
                  <a:srgbClr val="0B2E4A"/>
                </a:solidFill>
                <a:latin typeface="Calibri"/>
              </a:rPr>
              <a:t>Differentiating Strategy</a:t>
            </a:r>
          </a:p>
        </p:txBody>
      </p:sp>
      <p:sp>
        <p:nvSpPr>
          <p:cNvPr id="17" name="Rectangle 16"/>
          <p:cNvSpPr/>
          <p:nvPr/>
        </p:nvSpPr>
        <p:spPr>
          <a:xfrm>
            <a:off x="6305550" y="11811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5550" y="12668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Differentiate through the high-growth 'Integrated Capillary Blood Collection Devices' tier and Genetic &amp; Molecular Testing within application.</a:t>
            </a:r>
          </a:p>
        </p:txBody>
      </p:sp>
      <p:sp>
        <p:nvSpPr>
          <p:cNvPr id="19" name="Rounded Rectangle 18"/>
          <p:cNvSpPr/>
          <p:nvPr/>
        </p:nvSpPr>
        <p:spPr>
          <a:xfrm>
            <a:off x="142875" y="26860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27717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Segment</a:t>
            </a:r>
          </a:p>
        </p:txBody>
      </p:sp>
      <p:sp>
        <p:nvSpPr>
          <p:cNvPr id="21" name="Rectangle 20"/>
          <p:cNvSpPr/>
          <p:nvPr/>
        </p:nvSpPr>
        <p:spPr>
          <a:xfrm>
            <a:off x="276225" y="30099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30956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Prioritise 'Integrated Capillary Blood Collection Devices' (12.5%); 'Capillary Blood Collection Containers' anchors 42.9% of value.</a:t>
            </a:r>
          </a:p>
        </p:txBody>
      </p:sp>
      <p:sp>
        <p:nvSpPr>
          <p:cNvPr id="23" name="Rounded Rectangle 22"/>
          <p:cNvSpPr/>
          <p:nvPr/>
        </p:nvSpPr>
        <p:spPr>
          <a:xfrm>
            <a:off x="6172200" y="2686050"/>
            <a:ext cx="5876925" cy="1695450"/>
          </a:xfrm>
          <a:prstGeom prst="roundRect">
            <a:avLst>
              <a:gd name="adj" fmla="val 449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5550" y="2771775"/>
            <a:ext cx="5610225" cy="209550"/>
          </a:xfrm>
          <a:prstGeom prst="rect">
            <a:avLst/>
          </a:prstGeom>
          <a:noFill/>
        </p:spPr>
        <p:txBody>
          <a:bodyPr wrap="square" lIns="0" rIns="19050" tIns="9525" bIns="9525">
            <a:spAutoFit/>
          </a:bodyPr>
          <a:lstStyle/>
          <a:p>
            <a:pPr algn="l"/>
            <a:r>
              <a:rPr sz="1300" b="1">
                <a:solidFill>
                  <a:srgbClr val="0B2E4A"/>
                </a:solidFill>
                <a:latin typeface="Calibri"/>
              </a:rPr>
              <a:t>Market Region</a:t>
            </a:r>
          </a:p>
        </p:txBody>
      </p:sp>
      <p:sp>
        <p:nvSpPr>
          <p:cNvPr id="25" name="Rectangle 24"/>
          <p:cNvSpPr/>
          <p:nvPr/>
        </p:nvSpPr>
        <p:spPr>
          <a:xfrm>
            <a:off x="6305550" y="3009900"/>
            <a:ext cx="561022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5550" y="3095625"/>
            <a:ext cx="5610225" cy="1209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 with North America (32.9%); capture upside in East Asia (8.4%).</a:t>
            </a:r>
          </a:p>
        </p:txBody>
      </p:sp>
      <p:sp>
        <p:nvSpPr>
          <p:cNvPr id="27" name="Rounded Rectangle 26"/>
          <p:cNvSpPr/>
          <p:nvPr/>
        </p:nvSpPr>
        <p:spPr>
          <a:xfrm>
            <a:off x="142875" y="4514850"/>
            <a:ext cx="11906250" cy="2190750"/>
          </a:xfrm>
          <a:prstGeom prst="roundRect">
            <a:avLst>
              <a:gd name="adj" fmla="val 347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225" y="4600575"/>
            <a:ext cx="11639550" cy="209550"/>
          </a:xfrm>
          <a:prstGeom prst="rect">
            <a:avLst/>
          </a:prstGeom>
          <a:noFill/>
        </p:spPr>
        <p:txBody>
          <a:bodyPr wrap="square" lIns="0" rIns="19050" tIns="9525" bIns="9525">
            <a:spAutoFit/>
          </a:bodyPr>
          <a:lstStyle/>
          <a:p>
            <a:pPr algn="l"/>
            <a:r>
              <a:rPr sz="1300" b="1">
                <a:solidFill>
                  <a:srgbClr val="0B2E4A"/>
                </a:solidFill>
                <a:latin typeface="Calibri"/>
              </a:rPr>
              <a:t>Fact.MR Analysis &amp; Recommendation</a:t>
            </a:r>
          </a:p>
        </p:txBody>
      </p:sp>
      <p:sp>
        <p:nvSpPr>
          <p:cNvPr id="29" name="Rectangle 28"/>
          <p:cNvSpPr/>
          <p:nvPr/>
        </p:nvSpPr>
        <p:spPr>
          <a:xfrm>
            <a:off x="276225" y="48387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6225" y="4924425"/>
            <a:ext cx="11639550" cy="17049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Devices adds 2,627 US$ Mn of demand to 2036 a 2.1× expansion.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Concentrate resources on the leading segment/region while seeding the fastest-growing pockets early.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share in 'Capillary Blood Collection Containers' as the value anchor of the portfolio.</a:t>
            </a:r>
          </a:p>
        </p:txBody>
      </p:sp>
      <p:sp>
        <p:nvSpPr>
          <p:cNvPr id="31" name="Rectangle 3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3" name="Rounded Rectangle 3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5" name="Rounded Rectangle 3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Scenario Outlook (4/4)</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Scenario outlook comparing optimistic, likely and conservative outcomes for 2036 and the CAGR behind each</a:t>
            </a:r>
          </a:p>
        </p:txBody>
      </p:sp>
      <p:sp>
        <p:nvSpPr>
          <p:cNvPr id="11" name="Rounded Rectangle 10"/>
          <p:cNvSpPr/>
          <p:nvPr/>
        </p:nvSpPr>
        <p:spPr>
          <a:xfrm>
            <a:off x="142875" y="857250"/>
            <a:ext cx="3943350"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OPTIMISTIC (2036)</a:t>
            </a:r>
          </a:p>
          <a:p>
            <a:pPr algn="ctr"/>
            <a:r>
              <a:rPr sz="2000" b="1">
                <a:solidFill>
                  <a:srgbClr val="0E72AE"/>
                </a:solidFill>
                <a:latin typeface="Calibri"/>
              </a:rPr>
              <a:t>5,914 US$ Mn</a:t>
            </a:r>
          </a:p>
          <a:p>
            <a:pPr algn="ctr"/>
            <a:r>
              <a:rPr sz="750" b="0">
                <a:solidFill>
                  <a:srgbClr val="6C7A89"/>
                </a:solidFill>
                <a:latin typeface="Calibri"/>
              </a:rPr>
              <a:t>CAGR 9.9%</a:t>
            </a:r>
          </a:p>
        </p:txBody>
      </p:sp>
      <p:sp>
        <p:nvSpPr>
          <p:cNvPr id="12" name="Rounded Rectangle 11"/>
          <p:cNvSpPr/>
          <p:nvPr/>
        </p:nvSpPr>
        <p:spPr>
          <a:xfrm>
            <a:off x="4238625" y="857250"/>
            <a:ext cx="3819525"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LIKELY (2036)</a:t>
            </a:r>
          </a:p>
          <a:p>
            <a:pPr algn="ctr"/>
            <a:r>
              <a:rPr sz="2000" b="1">
                <a:solidFill>
                  <a:srgbClr val="0E72AE"/>
                </a:solidFill>
                <a:latin typeface="Calibri"/>
              </a:rPr>
              <a:t>4,933 US$ Mn</a:t>
            </a:r>
          </a:p>
          <a:p>
            <a:pPr algn="ctr"/>
            <a:r>
              <a:rPr sz="750" b="0">
                <a:solidFill>
                  <a:srgbClr val="6C7A89"/>
                </a:solidFill>
                <a:latin typeface="Calibri"/>
              </a:rPr>
              <a:t>CAGR 7.9%</a:t>
            </a:r>
          </a:p>
        </p:txBody>
      </p:sp>
      <p:sp>
        <p:nvSpPr>
          <p:cNvPr id="13" name="Rounded Rectangle 12"/>
          <p:cNvSpPr/>
          <p:nvPr/>
        </p:nvSpPr>
        <p:spPr>
          <a:xfrm>
            <a:off x="8210550" y="857250"/>
            <a:ext cx="3819525" cy="9525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CONSERVATIVE (2036)</a:t>
            </a:r>
          </a:p>
          <a:p>
            <a:pPr algn="ctr"/>
            <a:r>
              <a:rPr sz="2000" b="1">
                <a:solidFill>
                  <a:srgbClr val="0E72AE"/>
                </a:solidFill>
                <a:latin typeface="Calibri"/>
              </a:rPr>
              <a:t>4,100 US$ Mn</a:t>
            </a:r>
          </a:p>
          <a:p>
            <a:pPr algn="ctr"/>
            <a:r>
              <a:rPr sz="750" b="0">
                <a:solidFill>
                  <a:srgbClr val="6C7A89"/>
                </a:solidFill>
                <a:latin typeface="Calibri"/>
              </a:rPr>
              <a:t>CAGR 5.9%</a:t>
            </a:r>
          </a:p>
        </p:txBody>
      </p:sp>
      <p:sp>
        <p:nvSpPr>
          <p:cNvPr id="14" name="Rounded Rectangle 13"/>
          <p:cNvSpPr/>
          <p:nvPr/>
        </p:nvSpPr>
        <p:spPr>
          <a:xfrm>
            <a:off x="142875" y="1943100"/>
            <a:ext cx="4457700"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8125" y="2000250"/>
            <a:ext cx="4267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Scenario CAGR (%)</a:t>
            </a:r>
          </a:p>
        </p:txBody>
      </p:sp>
      <p:graphicFrame>
        <p:nvGraphicFramePr>
          <p:cNvPr id="16" name="Chart 15"/>
          <p:cNvGraphicFramePr>
            <a:graphicFrameLocks noGrp="1"/>
          </p:cNvGraphicFramePr>
          <p:nvPr/>
        </p:nvGraphicFramePr>
        <p:xfrm>
          <a:off x="238125" y="2228850"/>
          <a:ext cx="4267200" cy="2447925"/>
        </p:xfrm>
        <a:graphic>
          <a:graphicData uri="http://schemas.openxmlformats.org/drawingml/2006/chart">
            <c:chart xmlns:c="http://schemas.openxmlformats.org/drawingml/2006/chart" r:id="rId3"/>
          </a:graphicData>
        </a:graphic>
      </p:graphicFrame>
      <p:sp>
        <p:nvSpPr>
          <p:cNvPr id="17" name="Rounded Rectangle 16"/>
          <p:cNvSpPr/>
          <p:nvPr/>
        </p:nvSpPr>
        <p:spPr>
          <a:xfrm>
            <a:off x="4752975" y="1943100"/>
            <a:ext cx="7286625"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8225" y="2000250"/>
            <a:ext cx="709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Scenario trajectories, 2026–2036 (US$ Mn)</a:t>
            </a:r>
          </a:p>
        </p:txBody>
      </p:sp>
      <p:graphicFrame>
        <p:nvGraphicFramePr>
          <p:cNvPr id="19" name="Chart 18"/>
          <p:cNvGraphicFramePr>
            <a:graphicFrameLocks noGrp="1"/>
          </p:cNvGraphicFramePr>
          <p:nvPr/>
        </p:nvGraphicFramePr>
        <p:xfrm>
          <a:off x="4848225" y="2228850"/>
          <a:ext cx="7096125" cy="2447925"/>
        </p:xfrm>
        <a:graphic>
          <a:graphicData uri="http://schemas.openxmlformats.org/drawingml/2006/chart">
            <c:chart xmlns:c="http://schemas.openxmlformats.org/drawingml/2006/chart" r:id="rId4"/>
          </a:graphicData>
        </a:graphic>
      </p:graphicFrame>
      <p:sp>
        <p:nvSpPr>
          <p:cNvPr id="20" name="Rounded Rectangle 19"/>
          <p:cNvSpPr/>
          <p:nvPr/>
        </p:nvSpPr>
        <p:spPr>
          <a:xfrm>
            <a:off x="142875" y="4867275"/>
            <a:ext cx="1190625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953000"/>
            <a:ext cx="11639550" cy="209550"/>
          </a:xfrm>
          <a:prstGeom prst="rect">
            <a:avLst/>
          </a:prstGeom>
          <a:noFill/>
        </p:spPr>
        <p:txBody>
          <a:bodyPr wrap="square" lIns="0" rIns="19050" tIns="9525" bIns="9525">
            <a:spAutoFit/>
          </a:bodyPr>
          <a:lstStyle/>
          <a:p>
            <a:pPr algn="l"/>
            <a:r>
              <a:rPr sz="1300" b="1">
                <a:solidFill>
                  <a:srgbClr val="0B2E4A"/>
                </a:solidFill>
                <a:latin typeface="Calibri"/>
              </a:rPr>
              <a:t>Scenario Assumptions &amp; Outlook</a:t>
            </a:r>
          </a:p>
        </p:txBody>
      </p:sp>
      <p:sp>
        <p:nvSpPr>
          <p:cNvPr id="22" name="Rectangle 21"/>
          <p:cNvSpPr/>
          <p:nvPr/>
        </p:nvSpPr>
        <p:spPr>
          <a:xfrm>
            <a:off x="276225" y="51911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5276850"/>
            <a:ext cx="11639550" cy="1352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Optimistic: 5,914 US$ Mn by 2036 at 9.9%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Likely (base forecast): 4,933 US$ Mn at 7.9%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Conservative: 4,100 US$ Mn at 5.9%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Scenarios flex the forecast CAGR by ±25% across the 2026–2036 horizon.</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By Region</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Global Capillary Blood Collection Devices – Regional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Analysis By Region (1/2)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Analysis By Region (2/2)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Share Analysis By Region</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Share Analysis By Region</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04</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 Regional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Regional analysis of size, growth and share across 7 regions, highlighting where value concentrates,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By Region view breaks the Global market down geographically. Each region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Region</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1330779"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1330779"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North America</a:t>
            </a:r>
          </a:p>
        </p:txBody>
      </p:sp>
      <p:sp>
        <p:nvSpPr>
          <p:cNvPr id="24" name="Rectangle 23"/>
          <p:cNvSpPr/>
          <p:nvPr/>
        </p:nvSpPr>
        <p:spPr>
          <a:xfrm>
            <a:off x="1866900"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748.0</a:t>
            </a:r>
          </a:p>
        </p:txBody>
      </p:sp>
      <p:sp>
        <p:nvSpPr>
          <p:cNvPr id="25" name="Rectangle 24"/>
          <p:cNvSpPr/>
          <p:nvPr/>
        </p:nvSpPr>
        <p:spPr>
          <a:xfrm>
            <a:off x="1866900"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1,622</a:t>
            </a:r>
          </a:p>
        </p:txBody>
      </p:sp>
      <p:sp>
        <p:nvSpPr>
          <p:cNvPr id="26" name="Rectangle 25"/>
          <p:cNvSpPr/>
          <p:nvPr/>
        </p:nvSpPr>
        <p:spPr>
          <a:xfrm>
            <a:off x="1866900"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8.0%</a:t>
            </a:r>
          </a:p>
        </p:txBody>
      </p:sp>
      <p:sp>
        <p:nvSpPr>
          <p:cNvPr id="27" name="Oval 26"/>
          <p:cNvSpPr/>
          <p:nvPr/>
        </p:nvSpPr>
        <p:spPr>
          <a:xfrm>
            <a:off x="2370364"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3311979" y="1657350"/>
            <a:ext cx="1330779"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11979" y="1885950"/>
            <a:ext cx="1330779"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50079"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Western Europe</a:t>
            </a:r>
          </a:p>
        </p:txBody>
      </p:sp>
      <p:sp>
        <p:nvSpPr>
          <p:cNvPr id="31" name="Rectangle 30"/>
          <p:cNvSpPr/>
          <p:nvPr/>
        </p:nvSpPr>
        <p:spPr>
          <a:xfrm>
            <a:off x="3311979"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612.9</a:t>
            </a:r>
          </a:p>
        </p:txBody>
      </p:sp>
      <p:sp>
        <p:nvSpPr>
          <p:cNvPr id="32" name="Rectangle 31"/>
          <p:cNvSpPr/>
          <p:nvPr/>
        </p:nvSpPr>
        <p:spPr>
          <a:xfrm>
            <a:off x="3311979"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1,266</a:t>
            </a:r>
          </a:p>
        </p:txBody>
      </p:sp>
      <p:sp>
        <p:nvSpPr>
          <p:cNvPr id="33" name="Rectangle 32"/>
          <p:cNvSpPr/>
          <p:nvPr/>
        </p:nvSpPr>
        <p:spPr>
          <a:xfrm>
            <a:off x="3311979"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7.5%</a:t>
            </a:r>
          </a:p>
        </p:txBody>
      </p:sp>
      <p:sp>
        <p:nvSpPr>
          <p:cNvPr id="34" name="Oval 33"/>
          <p:cNvSpPr/>
          <p:nvPr/>
        </p:nvSpPr>
        <p:spPr>
          <a:xfrm>
            <a:off x="3815443"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4757057" y="1657350"/>
            <a:ext cx="1330779"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7057" y="1885950"/>
            <a:ext cx="1330779"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95157"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East Asia</a:t>
            </a:r>
          </a:p>
        </p:txBody>
      </p:sp>
      <p:sp>
        <p:nvSpPr>
          <p:cNvPr id="38" name="Rectangle 37"/>
          <p:cNvSpPr/>
          <p:nvPr/>
        </p:nvSpPr>
        <p:spPr>
          <a:xfrm>
            <a:off x="4757057"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357.9</a:t>
            </a:r>
          </a:p>
        </p:txBody>
      </p:sp>
      <p:sp>
        <p:nvSpPr>
          <p:cNvPr id="39" name="Rectangle 38"/>
          <p:cNvSpPr/>
          <p:nvPr/>
        </p:nvSpPr>
        <p:spPr>
          <a:xfrm>
            <a:off x="4757057"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804.5</a:t>
            </a:r>
          </a:p>
        </p:txBody>
      </p:sp>
      <p:sp>
        <p:nvSpPr>
          <p:cNvPr id="40" name="Rectangle 39"/>
          <p:cNvSpPr/>
          <p:nvPr/>
        </p:nvSpPr>
        <p:spPr>
          <a:xfrm>
            <a:off x="4757057"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8.4%</a:t>
            </a:r>
          </a:p>
        </p:txBody>
      </p:sp>
      <p:sp>
        <p:nvSpPr>
          <p:cNvPr id="41" name="Oval 40"/>
          <p:cNvSpPr/>
          <p:nvPr/>
        </p:nvSpPr>
        <p:spPr>
          <a:xfrm>
            <a:off x="5260521"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6202136" y="1657350"/>
            <a:ext cx="1330779"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02136" y="1885950"/>
            <a:ext cx="1330779"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0236"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Latin America</a:t>
            </a:r>
          </a:p>
        </p:txBody>
      </p:sp>
      <p:sp>
        <p:nvSpPr>
          <p:cNvPr id="45" name="Rectangle 44"/>
          <p:cNvSpPr/>
          <p:nvPr/>
        </p:nvSpPr>
        <p:spPr>
          <a:xfrm>
            <a:off x="6202136"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177.3</a:t>
            </a:r>
          </a:p>
        </p:txBody>
      </p:sp>
      <p:sp>
        <p:nvSpPr>
          <p:cNvPr id="46" name="Rectangle 45"/>
          <p:cNvSpPr/>
          <p:nvPr/>
        </p:nvSpPr>
        <p:spPr>
          <a:xfrm>
            <a:off x="6202136"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362.5</a:t>
            </a:r>
          </a:p>
        </p:txBody>
      </p:sp>
      <p:sp>
        <p:nvSpPr>
          <p:cNvPr id="47" name="Rectangle 46"/>
          <p:cNvSpPr/>
          <p:nvPr/>
        </p:nvSpPr>
        <p:spPr>
          <a:xfrm>
            <a:off x="6202136"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7.4%</a:t>
            </a:r>
          </a:p>
        </p:txBody>
      </p:sp>
      <p:sp>
        <p:nvSpPr>
          <p:cNvPr id="48" name="Oval 47"/>
          <p:cNvSpPr/>
          <p:nvPr/>
        </p:nvSpPr>
        <p:spPr>
          <a:xfrm>
            <a:off x="6705600"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7647214" y="1657350"/>
            <a:ext cx="1330779" cy="457200"/>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647214" y="1885950"/>
            <a:ext cx="1330779" cy="2286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85314"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South Asia Pacific</a:t>
            </a:r>
          </a:p>
        </p:txBody>
      </p:sp>
      <p:sp>
        <p:nvSpPr>
          <p:cNvPr id="52" name="Rectangle 51"/>
          <p:cNvSpPr/>
          <p:nvPr/>
        </p:nvSpPr>
        <p:spPr>
          <a:xfrm>
            <a:off x="7647214"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163.5</a:t>
            </a:r>
          </a:p>
        </p:txBody>
      </p:sp>
      <p:sp>
        <p:nvSpPr>
          <p:cNvPr id="53" name="Rectangle 52"/>
          <p:cNvSpPr/>
          <p:nvPr/>
        </p:nvSpPr>
        <p:spPr>
          <a:xfrm>
            <a:off x="7647214"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366.2</a:t>
            </a:r>
          </a:p>
        </p:txBody>
      </p:sp>
      <p:sp>
        <p:nvSpPr>
          <p:cNvPr id="54" name="Rectangle 53"/>
          <p:cNvSpPr/>
          <p:nvPr/>
        </p:nvSpPr>
        <p:spPr>
          <a:xfrm>
            <a:off x="7647214"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8.4%</a:t>
            </a:r>
          </a:p>
        </p:txBody>
      </p:sp>
      <p:sp>
        <p:nvSpPr>
          <p:cNvPr id="55" name="Oval 54"/>
          <p:cNvSpPr/>
          <p:nvPr/>
        </p:nvSpPr>
        <p:spPr>
          <a:xfrm>
            <a:off x="8150679" y="1314450"/>
            <a:ext cx="323850" cy="323850"/>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6" name="Rounded Rectangle 55"/>
          <p:cNvSpPr/>
          <p:nvPr/>
        </p:nvSpPr>
        <p:spPr>
          <a:xfrm>
            <a:off x="9092293" y="1657350"/>
            <a:ext cx="1330779" cy="457200"/>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092293" y="1885950"/>
            <a:ext cx="1330779" cy="22860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30393"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Eastern Europe</a:t>
            </a:r>
          </a:p>
        </p:txBody>
      </p:sp>
      <p:sp>
        <p:nvSpPr>
          <p:cNvPr id="59" name="Rectangle 58"/>
          <p:cNvSpPr/>
          <p:nvPr/>
        </p:nvSpPr>
        <p:spPr>
          <a:xfrm>
            <a:off x="9092293"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145.3</a:t>
            </a:r>
          </a:p>
        </p:txBody>
      </p:sp>
      <p:sp>
        <p:nvSpPr>
          <p:cNvPr id="60" name="Rectangle 59"/>
          <p:cNvSpPr/>
          <p:nvPr/>
        </p:nvSpPr>
        <p:spPr>
          <a:xfrm>
            <a:off x="9092293"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298.5</a:t>
            </a:r>
          </a:p>
        </p:txBody>
      </p:sp>
      <p:sp>
        <p:nvSpPr>
          <p:cNvPr id="61" name="Rectangle 60"/>
          <p:cNvSpPr/>
          <p:nvPr/>
        </p:nvSpPr>
        <p:spPr>
          <a:xfrm>
            <a:off x="9092293"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7.5%</a:t>
            </a:r>
          </a:p>
        </p:txBody>
      </p:sp>
      <p:sp>
        <p:nvSpPr>
          <p:cNvPr id="62" name="Oval 61"/>
          <p:cNvSpPr/>
          <p:nvPr/>
        </p:nvSpPr>
        <p:spPr>
          <a:xfrm>
            <a:off x="9595757" y="1314450"/>
            <a:ext cx="323850" cy="323850"/>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3" name="Rounded Rectangle 62"/>
          <p:cNvSpPr/>
          <p:nvPr/>
        </p:nvSpPr>
        <p:spPr>
          <a:xfrm>
            <a:off x="10537371" y="1657350"/>
            <a:ext cx="1330779" cy="457200"/>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537371" y="1885950"/>
            <a:ext cx="1330779" cy="228600"/>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75471" y="1657350"/>
            <a:ext cx="1254579" cy="457200"/>
          </a:xfrm>
          <a:prstGeom prst="rect">
            <a:avLst/>
          </a:prstGeom>
          <a:noFill/>
        </p:spPr>
        <p:txBody>
          <a:bodyPr wrap="square" lIns="28575" rIns="28575" tIns="9525" bIns="9525" anchor="ctr">
            <a:spAutoFit/>
          </a:bodyPr>
          <a:lstStyle/>
          <a:p>
            <a:pPr algn="ctr"/>
            <a:r>
              <a:rPr sz="1100" b="1">
                <a:solidFill>
                  <a:srgbClr val="FFFFFF"/>
                </a:solidFill>
                <a:latin typeface="Calibri"/>
              </a:rPr>
              <a:t>Middle East &amp; Africa</a:t>
            </a:r>
          </a:p>
        </p:txBody>
      </p:sp>
      <p:sp>
        <p:nvSpPr>
          <p:cNvPr id="66" name="Rectangle 65"/>
          <p:cNvSpPr/>
          <p:nvPr/>
        </p:nvSpPr>
        <p:spPr>
          <a:xfrm>
            <a:off x="10537371" y="21336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100.9</a:t>
            </a:r>
          </a:p>
        </p:txBody>
      </p:sp>
      <p:sp>
        <p:nvSpPr>
          <p:cNvPr id="67" name="Rectangle 66"/>
          <p:cNvSpPr/>
          <p:nvPr/>
        </p:nvSpPr>
        <p:spPr>
          <a:xfrm>
            <a:off x="10537371" y="2647950"/>
            <a:ext cx="1330779"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212.6</a:t>
            </a:r>
          </a:p>
        </p:txBody>
      </p:sp>
      <p:sp>
        <p:nvSpPr>
          <p:cNvPr id="68" name="Rectangle 67"/>
          <p:cNvSpPr/>
          <p:nvPr/>
        </p:nvSpPr>
        <p:spPr>
          <a:xfrm>
            <a:off x="10537371" y="3162300"/>
            <a:ext cx="1330779"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7.7%</a:t>
            </a:r>
          </a:p>
        </p:txBody>
      </p:sp>
      <p:sp>
        <p:nvSpPr>
          <p:cNvPr id="69" name="Oval 68"/>
          <p:cNvSpPr/>
          <p:nvPr/>
        </p:nvSpPr>
        <p:spPr>
          <a:xfrm>
            <a:off x="11040836" y="1314450"/>
            <a:ext cx="323850" cy="323850"/>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70" name="Rounded Rectangle 69"/>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2" name="Rectangle 71"/>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'North America' holds the largest share in 2026 32% of market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'East Asia' is the fastest-growing region at 8.4%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Market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7 regions make up the geographic landscape.</a:t>
            </a:r>
          </a:p>
        </p:txBody>
      </p:sp>
      <p:sp>
        <p:nvSpPr>
          <p:cNvPr id="74" name="Rounded Rectangle 73"/>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76" name="Rectangle 75"/>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North America: </a:t>
            </a:r>
            <a:r>
              <a:rPr sz="1000" b="0">
                <a:solidFill>
                  <a:srgbClr val="2E2E2E"/>
                </a:solidFill>
                <a:latin typeface="Calibri"/>
              </a:rPr>
              <a:t>32% of 2026 value · 8.0% CAGR leads the market.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Western Europe: </a:t>
            </a:r>
            <a:r>
              <a:rPr sz="1000" b="0">
                <a:solidFill>
                  <a:srgbClr val="2E2E2E"/>
                </a:solidFill>
                <a:latin typeface="Calibri"/>
              </a:rPr>
              <a:t>27% of 2026 value · 7.5% CAGR a smaller market.</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East Asia: </a:t>
            </a:r>
            <a:r>
              <a:rPr sz="1000" b="0">
                <a:solidFill>
                  <a:srgbClr val="2E2E2E"/>
                </a:solidFill>
                <a:latin typeface="Calibri"/>
              </a:rPr>
              <a:t>16% of 2026 value · 8.4% CAGR grows fastest.</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Latin America: </a:t>
            </a:r>
            <a:r>
              <a:rPr sz="1000" b="0">
                <a:solidFill>
                  <a:srgbClr val="2E2E2E"/>
                </a:solidFill>
                <a:latin typeface="Calibri"/>
              </a:rPr>
              <a:t>8% of 2026 value · 7.4% CAGR a smaller market.</a:t>
            </a:r>
          </a:p>
          <a:p>
            <a:pPr algn="l">
              <a:lnSpc>
                <a:spcPct val="110000"/>
              </a:lnSpc>
              <a:spcBef>
                <a:spcPts val="0"/>
              </a:spcBef>
              <a:spcAft>
                <a:spcPts val="500"/>
              </a:spcAft>
            </a:pPr>
            <a:r>
              <a:rPr sz="900" b="0">
                <a:solidFill>
                  <a:srgbClr val="A86F00"/>
                </a:solidFill>
                <a:latin typeface="Calibri"/>
              </a:rPr>
              <a:t>●  </a:t>
            </a:r>
            <a:r>
              <a:rPr sz="1000" b="1">
                <a:solidFill>
                  <a:srgbClr val="A86F00"/>
                </a:solidFill>
                <a:latin typeface="Calibri"/>
              </a:rPr>
              <a:t>South Asia Pacific: </a:t>
            </a:r>
            <a:r>
              <a:rPr sz="1000" b="0">
                <a:solidFill>
                  <a:srgbClr val="2E2E2E"/>
                </a:solidFill>
                <a:latin typeface="Calibri"/>
              </a:rPr>
              <a:t>7% of 2026 value · 8.4% CAGR a smaller market.</a:t>
            </a:r>
          </a:p>
          <a:p>
            <a:pPr algn="l">
              <a:lnSpc>
                <a:spcPct val="110000"/>
              </a:lnSpc>
              <a:spcBef>
                <a:spcPts val="0"/>
              </a:spcBef>
              <a:spcAft>
                <a:spcPts val="500"/>
              </a:spcAft>
            </a:pPr>
            <a:r>
              <a:rPr sz="900" b="0">
                <a:solidFill>
                  <a:srgbClr val="A35313"/>
                </a:solidFill>
                <a:latin typeface="Calibri"/>
              </a:rPr>
              <a:t>●  </a:t>
            </a:r>
            <a:r>
              <a:rPr sz="1000" b="1">
                <a:solidFill>
                  <a:srgbClr val="A35313"/>
                </a:solidFill>
                <a:latin typeface="Calibri"/>
              </a:rPr>
              <a:t>Eastern Europe: </a:t>
            </a:r>
            <a:r>
              <a:rPr sz="1000" b="0">
                <a:solidFill>
                  <a:srgbClr val="2E2E2E"/>
                </a:solidFill>
                <a:latin typeface="Calibri"/>
              </a:rPr>
              <a:t>6% of 2026 value · 7.5% CAGR a smaller market.</a:t>
            </a:r>
          </a:p>
          <a:p>
            <a:pPr algn="l">
              <a:lnSpc>
                <a:spcPct val="110000"/>
              </a:lnSpc>
              <a:spcBef>
                <a:spcPts val="0"/>
              </a:spcBef>
              <a:spcAft>
                <a:spcPts val="500"/>
              </a:spcAft>
            </a:pPr>
            <a:r>
              <a:rPr sz="900" b="0">
                <a:solidFill>
                  <a:srgbClr val="6C7A89"/>
                </a:solidFill>
                <a:latin typeface="Calibri"/>
              </a:rPr>
              <a:t>●  </a:t>
            </a:r>
            <a:r>
              <a:rPr sz="1000" b="1">
                <a:solidFill>
                  <a:srgbClr val="6C7A89"/>
                </a:solidFill>
                <a:latin typeface="Calibri"/>
              </a:rPr>
              <a:t>Middle East &amp; Africa: </a:t>
            </a:r>
            <a:r>
              <a:rPr sz="1000" b="0">
                <a:solidFill>
                  <a:srgbClr val="2E2E2E"/>
                </a:solidFill>
                <a:latin typeface="Calibri"/>
              </a:rPr>
              <a:t>4% of 2026 value · 7.7% CAGR a smaller market.</a:t>
            </a:r>
          </a:p>
        </p:txBody>
      </p:sp>
      <p:sp>
        <p:nvSpPr>
          <p:cNvPr id="78" name="Rounded Rectangle 77"/>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80" name="Rectangle 79"/>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By Region split shows where market value concentrates and where growth is fastest.</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demand and access dynamics are rebalancing the geographic mix through 2036.</a:t>
            </a:r>
          </a:p>
        </p:txBody>
      </p:sp>
      <p:sp>
        <p:nvSpPr>
          <p:cNvPr id="82" name="Rectangle 81"/>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Global market is projected to grow at a CAGR of 7.9% from 2026 to 2036.</a:t>
            </a:r>
          </a:p>
        </p:txBody>
      </p:sp>
      <p:sp>
        <p:nvSpPr>
          <p:cNvPr id="84" name="TextBox 83"/>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85" name="Rectangle 8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87" name="Rounded Rectangle 8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8" name="Rounded Rectangle 8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9" name="Rounded Rectangle 8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Analysis, By Region Volume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volume share by region in 2026 and 2036, highlighting share gains and losses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810375"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4" name="Chart 13"/>
          <p:cNvGraphicFramePr>
            <a:graphicFrameLocks noGrp="1"/>
          </p:cNvGraphicFramePr>
          <p:nvPr/>
        </p:nvGraphicFramePr>
        <p:xfrm>
          <a:off x="238125" y="1285875"/>
          <a:ext cx="5163502" cy="4152900"/>
        </p:xfrm>
        <a:graphic>
          <a:graphicData uri="http://schemas.openxmlformats.org/drawingml/2006/chart">
            <c:chart xmlns:c="http://schemas.openxmlformats.org/drawingml/2006/chart" r:id="rId3"/>
          </a:graphicData>
        </a:graphic>
      </p:graphicFrame>
      <p:sp>
        <p:nvSpPr>
          <p:cNvPr id="15" name="TextBox 14"/>
          <p:cNvSpPr txBox="1"/>
          <p:nvPr/>
        </p:nvSpPr>
        <p:spPr>
          <a:xfrm>
            <a:off x="5401628" y="1295400"/>
            <a:ext cx="1456372" cy="137541"/>
          </a:xfrm>
          <a:prstGeom prst="rect">
            <a:avLst/>
          </a:prstGeom>
          <a:noFill/>
        </p:spPr>
        <p:txBody>
          <a:bodyPr wrap="square" lIns="28575" rIns="28575" tIns="9525" bIns="9525" anchor="ctr">
            <a:spAutoFit/>
          </a:bodyPr>
          <a:lstStyle/>
          <a:p>
            <a:pPr algn="ctr"/>
            <a:r>
              <a:rPr sz="950" b="1">
                <a:solidFill>
                  <a:srgbClr val="2E2E2E"/>
                </a:solidFill>
                <a:latin typeface="Calibri"/>
              </a:rPr>
              <a:t>BPS Δ  (2026→2036)</a:t>
            </a:r>
          </a:p>
        </p:txBody>
      </p:sp>
      <p:cxnSp>
        <p:nvCxnSpPr>
          <p:cNvPr id="16" name="Connector 15"/>
          <p:cNvCxnSpPr/>
          <p:nvPr/>
        </p:nvCxnSpPr>
        <p:spPr>
          <a:xfrm>
            <a:off x="6419850" y="1451991"/>
            <a:ext cx="0" cy="2843784"/>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58778" y="2873883"/>
            <a:ext cx="961072"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48425" y="3900971"/>
            <a:ext cx="419100" cy="133350"/>
          </a:xfrm>
          <a:prstGeom prst="rect">
            <a:avLst/>
          </a:prstGeom>
          <a:noFill/>
        </p:spPr>
        <p:txBody>
          <a:bodyPr wrap="none" lIns="0" rIns="0" tIns="0" bIns="0" anchor="ctr">
            <a:spAutoFit/>
          </a:bodyPr>
          <a:lstStyle/>
          <a:p>
            <a:pPr algn="l"/>
            <a:r>
              <a:rPr sz="750" b="0">
                <a:solidFill>
                  <a:srgbClr val="6C7A89"/>
                </a:solidFill>
                <a:latin typeface="Calibri"/>
              </a:rPr>
              <a:t>-102</a:t>
            </a:r>
          </a:p>
        </p:txBody>
      </p:sp>
      <p:sp>
        <p:nvSpPr>
          <p:cNvPr id="19" name="TextBox 18"/>
          <p:cNvSpPr txBox="1"/>
          <p:nvPr/>
        </p:nvSpPr>
        <p:spPr>
          <a:xfrm>
            <a:off x="6448425" y="2807208"/>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6448425" y="1713445"/>
            <a:ext cx="419100" cy="133350"/>
          </a:xfrm>
          <a:prstGeom prst="rect">
            <a:avLst/>
          </a:prstGeom>
          <a:noFill/>
        </p:spPr>
        <p:txBody>
          <a:bodyPr wrap="none" lIns="0" rIns="0" tIns="0" bIns="0" anchor="ctr">
            <a:spAutoFit/>
          </a:bodyPr>
          <a:lstStyle/>
          <a:p>
            <a:pPr algn="l"/>
            <a:r>
              <a:rPr sz="750" b="0">
                <a:solidFill>
                  <a:srgbClr val="6C7A89"/>
                </a:solidFill>
                <a:latin typeface="Calibri"/>
              </a:rPr>
              <a:t>+102</a:t>
            </a:r>
          </a:p>
        </p:txBody>
      </p:sp>
      <p:sp>
        <p:nvSpPr>
          <p:cNvPr id="21" name="Oval 20"/>
          <p:cNvSpPr/>
          <p:nvPr/>
        </p:nvSpPr>
        <p:spPr>
          <a:xfrm>
            <a:off x="5511165" y="1737257"/>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11165" y="2331821"/>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511165" y="2538977"/>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511165" y="2938302"/>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11165" y="316023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511165" y="329578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11165" y="3814769"/>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20702" y="1703920"/>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+102</a:t>
            </a:r>
          </a:p>
        </p:txBody>
      </p:sp>
      <p:sp>
        <p:nvSpPr>
          <p:cNvPr id="29" name="TextBox 28"/>
          <p:cNvSpPr txBox="1"/>
          <p:nvPr/>
        </p:nvSpPr>
        <p:spPr>
          <a:xfrm>
            <a:off x="5620702" y="229848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+46</a:t>
            </a:r>
          </a:p>
        </p:txBody>
      </p:sp>
      <p:sp>
        <p:nvSpPr>
          <p:cNvPr id="30" name="TextBox 29"/>
          <p:cNvSpPr txBox="1"/>
          <p:nvPr/>
        </p:nvSpPr>
        <p:spPr>
          <a:xfrm>
            <a:off x="5620702" y="2505639"/>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+27</a:t>
            </a:r>
          </a:p>
        </p:txBody>
      </p:sp>
      <p:sp>
        <p:nvSpPr>
          <p:cNvPr id="31" name="TextBox 30"/>
          <p:cNvSpPr txBox="1"/>
          <p:nvPr/>
        </p:nvSpPr>
        <p:spPr>
          <a:xfrm>
            <a:off x="5620702" y="2904965"/>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-10</a:t>
            </a:r>
          </a:p>
        </p:txBody>
      </p:sp>
      <p:sp>
        <p:nvSpPr>
          <p:cNvPr id="32" name="TextBox 31"/>
          <p:cNvSpPr txBox="1"/>
          <p:nvPr/>
        </p:nvSpPr>
        <p:spPr>
          <a:xfrm>
            <a:off x="5620702" y="312689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-31</a:t>
            </a:r>
          </a:p>
        </p:txBody>
      </p:sp>
      <p:sp>
        <p:nvSpPr>
          <p:cNvPr id="33" name="TextBox 32"/>
          <p:cNvSpPr txBox="1"/>
          <p:nvPr/>
        </p:nvSpPr>
        <p:spPr>
          <a:xfrm>
            <a:off x="5620702" y="3262447"/>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-43</a:t>
            </a:r>
          </a:p>
        </p:txBody>
      </p:sp>
      <p:sp>
        <p:nvSpPr>
          <p:cNvPr id="34" name="TextBox 33"/>
          <p:cNvSpPr txBox="1"/>
          <p:nvPr/>
        </p:nvSpPr>
        <p:spPr>
          <a:xfrm>
            <a:off x="5620702" y="3781431"/>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-91</a:t>
            </a:r>
          </a:p>
        </p:txBody>
      </p:sp>
      <p:sp>
        <p:nvSpPr>
          <p:cNvPr id="35" name="Rounded Rectangle 34"/>
          <p:cNvSpPr/>
          <p:nvPr/>
        </p:nvSpPr>
        <p:spPr>
          <a:xfrm>
            <a:off x="7105650" y="857250"/>
            <a:ext cx="4933950"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0" y="942975"/>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37" name="Rectangle 36"/>
          <p:cNvSpPr/>
          <p:nvPr/>
        </p:nvSpPr>
        <p:spPr>
          <a:xfrm>
            <a:off x="7239000" y="1181100"/>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0" y="1266825"/>
            <a:ext cx="4667250" cy="41529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is the largest region, at 32.3% of 2036 volume.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gains the most share +102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'Western Europe' cedes the most -91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grows fastest 7.7%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rises from 2,822 to 5,566 Units across 7 regions.</a:t>
            </a:r>
          </a:p>
        </p:txBody>
      </p:sp>
      <p:sp>
        <p:nvSpPr>
          <p:cNvPr id="39" name="Rounded Rectangle 38"/>
          <p:cNvSpPr/>
          <p:nvPr/>
        </p:nvSpPr>
        <p:spPr>
          <a:xfrm>
            <a:off x="142875" y="5629275"/>
            <a:ext cx="3943350"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TOTAL (UNITS)</a:t>
            </a:r>
          </a:p>
          <a:p>
            <a:pPr algn="ctr"/>
            <a:r>
              <a:rPr sz="2000" b="1">
                <a:solidFill>
                  <a:srgbClr val="0E72AE"/>
                </a:solidFill>
                <a:latin typeface="Calibri"/>
              </a:rPr>
              <a:t>2,822</a:t>
            </a:r>
          </a:p>
        </p:txBody>
      </p:sp>
      <p:sp>
        <p:nvSpPr>
          <p:cNvPr id="40" name="Rounded Rectangle 39"/>
          <p:cNvSpPr/>
          <p:nvPr/>
        </p:nvSpPr>
        <p:spPr>
          <a:xfrm>
            <a:off x="4238625"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TOTAL (UNITS)</a:t>
            </a:r>
          </a:p>
          <a:p>
            <a:pPr algn="ctr"/>
            <a:r>
              <a:rPr sz="2000" b="1">
                <a:solidFill>
                  <a:srgbClr val="0E72AE"/>
                </a:solidFill>
                <a:latin typeface="Calibri"/>
              </a:rPr>
              <a:t>5,566</a:t>
            </a:r>
          </a:p>
        </p:txBody>
      </p:sp>
      <p:sp>
        <p:nvSpPr>
          <p:cNvPr id="41" name="Rounded Rectangle 40"/>
          <p:cNvSpPr/>
          <p:nvPr/>
        </p:nvSpPr>
        <p:spPr>
          <a:xfrm>
            <a:off x="8210550"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2000" b="1">
                <a:solidFill>
                  <a:srgbClr val="0E72AE"/>
                </a:solidFill>
                <a:latin typeface="Calibri"/>
              </a:rPr>
              <a:t>7.0%</a:t>
            </a:r>
          </a:p>
        </p:txBody>
      </p:sp>
      <p:sp>
        <p:nvSpPr>
          <p:cNvPr id="42" name="Rectangle 4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4" name="Rounded Rectangle 4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5" name="Rounded Rectangle 4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6" name="Rounded Rectangle 4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Analysis, By Region Value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value share by region in 2026 and 2036, highlighting share gains and losses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810375"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6198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Share and BPS Assessment By Region, 2026 &amp; 2036</a:t>
            </a:r>
          </a:p>
        </p:txBody>
      </p:sp>
      <p:graphicFrame>
        <p:nvGraphicFramePr>
          <p:cNvPr id="14" name="Chart 13"/>
          <p:cNvGraphicFramePr>
            <a:graphicFrameLocks noGrp="1"/>
          </p:cNvGraphicFramePr>
          <p:nvPr/>
        </p:nvGraphicFramePr>
        <p:xfrm>
          <a:off x="238125" y="1285875"/>
          <a:ext cx="5163502" cy="4152900"/>
        </p:xfrm>
        <a:graphic>
          <a:graphicData uri="http://schemas.openxmlformats.org/drawingml/2006/chart">
            <c:chart xmlns:c="http://schemas.openxmlformats.org/drawingml/2006/chart" r:id="rId3"/>
          </a:graphicData>
        </a:graphic>
      </p:graphicFrame>
      <p:sp>
        <p:nvSpPr>
          <p:cNvPr id="15" name="TextBox 14"/>
          <p:cNvSpPr txBox="1"/>
          <p:nvPr/>
        </p:nvSpPr>
        <p:spPr>
          <a:xfrm>
            <a:off x="5401628" y="1295400"/>
            <a:ext cx="1456372" cy="137541"/>
          </a:xfrm>
          <a:prstGeom prst="rect">
            <a:avLst/>
          </a:prstGeom>
          <a:noFill/>
        </p:spPr>
        <p:txBody>
          <a:bodyPr wrap="square" lIns="28575" rIns="28575" tIns="9525" bIns="9525" anchor="ctr">
            <a:spAutoFit/>
          </a:bodyPr>
          <a:lstStyle/>
          <a:p>
            <a:pPr algn="ctr"/>
            <a:r>
              <a:rPr sz="950" b="1">
                <a:solidFill>
                  <a:srgbClr val="2E2E2E"/>
                </a:solidFill>
                <a:latin typeface="Calibri"/>
              </a:rPr>
              <a:t>BPS Δ  (2026→2036)</a:t>
            </a:r>
          </a:p>
        </p:txBody>
      </p:sp>
      <p:cxnSp>
        <p:nvCxnSpPr>
          <p:cNvPr id="16" name="Connector 15"/>
          <p:cNvCxnSpPr/>
          <p:nvPr/>
        </p:nvCxnSpPr>
        <p:spPr>
          <a:xfrm>
            <a:off x="6419850" y="1451991"/>
            <a:ext cx="0" cy="2843784"/>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458778" y="2873883"/>
            <a:ext cx="961072"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48425" y="3900971"/>
            <a:ext cx="419100" cy="133350"/>
          </a:xfrm>
          <a:prstGeom prst="rect">
            <a:avLst/>
          </a:prstGeom>
          <a:noFill/>
        </p:spPr>
        <p:txBody>
          <a:bodyPr wrap="none" lIns="0" rIns="0" tIns="0" bIns="0" anchor="ctr">
            <a:spAutoFit/>
          </a:bodyPr>
          <a:lstStyle/>
          <a:p>
            <a:pPr algn="l"/>
            <a:r>
              <a:rPr sz="750" b="0">
                <a:solidFill>
                  <a:srgbClr val="6C7A89"/>
                </a:solidFill>
                <a:latin typeface="Calibri"/>
              </a:rPr>
              <a:t>-91</a:t>
            </a:r>
          </a:p>
        </p:txBody>
      </p:sp>
      <p:sp>
        <p:nvSpPr>
          <p:cNvPr id="19" name="TextBox 18"/>
          <p:cNvSpPr txBox="1"/>
          <p:nvPr/>
        </p:nvSpPr>
        <p:spPr>
          <a:xfrm>
            <a:off x="6448425" y="2807208"/>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6448425" y="1713445"/>
            <a:ext cx="419100" cy="133350"/>
          </a:xfrm>
          <a:prstGeom prst="rect">
            <a:avLst/>
          </a:prstGeom>
          <a:noFill/>
        </p:spPr>
        <p:txBody>
          <a:bodyPr wrap="none" lIns="0" rIns="0" tIns="0" bIns="0" anchor="ctr">
            <a:spAutoFit/>
          </a:bodyPr>
          <a:lstStyle/>
          <a:p>
            <a:pPr algn="l"/>
            <a:r>
              <a:rPr sz="750" b="0">
                <a:solidFill>
                  <a:srgbClr val="6C7A89"/>
                </a:solidFill>
                <a:latin typeface="Calibri"/>
              </a:rPr>
              <a:t>+91</a:t>
            </a:r>
          </a:p>
        </p:txBody>
      </p:sp>
      <p:sp>
        <p:nvSpPr>
          <p:cNvPr id="21" name="Oval 20"/>
          <p:cNvSpPr/>
          <p:nvPr/>
        </p:nvSpPr>
        <p:spPr>
          <a:xfrm>
            <a:off x="5511165" y="1885088"/>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11165" y="2298054"/>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511165" y="2430930"/>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511165" y="290986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11165" y="313028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511165" y="3238145"/>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511165" y="392478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20702" y="1851751"/>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+79</a:t>
            </a:r>
          </a:p>
        </p:txBody>
      </p:sp>
      <p:sp>
        <p:nvSpPr>
          <p:cNvPr id="29" name="TextBox 28"/>
          <p:cNvSpPr txBox="1"/>
          <p:nvPr/>
        </p:nvSpPr>
        <p:spPr>
          <a:xfrm>
            <a:off x="5620702" y="226471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+44</a:t>
            </a:r>
          </a:p>
        </p:txBody>
      </p:sp>
      <p:sp>
        <p:nvSpPr>
          <p:cNvPr id="30" name="TextBox 29"/>
          <p:cNvSpPr txBox="1"/>
          <p:nvPr/>
        </p:nvSpPr>
        <p:spPr>
          <a:xfrm>
            <a:off x="5620702" y="2397592"/>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+33</a:t>
            </a:r>
          </a:p>
        </p:txBody>
      </p:sp>
      <p:sp>
        <p:nvSpPr>
          <p:cNvPr id="31" name="TextBox 30"/>
          <p:cNvSpPr txBox="1"/>
          <p:nvPr/>
        </p:nvSpPr>
        <p:spPr>
          <a:xfrm>
            <a:off x="5620702" y="2876523"/>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-7</a:t>
            </a:r>
          </a:p>
        </p:txBody>
      </p:sp>
      <p:sp>
        <p:nvSpPr>
          <p:cNvPr id="32" name="TextBox 31"/>
          <p:cNvSpPr txBox="1"/>
          <p:nvPr/>
        </p:nvSpPr>
        <p:spPr>
          <a:xfrm>
            <a:off x="5620702" y="3096945"/>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-25</a:t>
            </a:r>
          </a:p>
        </p:txBody>
      </p:sp>
      <p:sp>
        <p:nvSpPr>
          <p:cNvPr id="33" name="TextBox 32"/>
          <p:cNvSpPr txBox="1"/>
          <p:nvPr/>
        </p:nvSpPr>
        <p:spPr>
          <a:xfrm>
            <a:off x="5620702" y="322077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-34</a:t>
            </a:r>
          </a:p>
        </p:txBody>
      </p:sp>
      <p:sp>
        <p:nvSpPr>
          <p:cNvPr id="34" name="TextBox 33"/>
          <p:cNvSpPr txBox="1"/>
          <p:nvPr/>
        </p:nvSpPr>
        <p:spPr>
          <a:xfrm>
            <a:off x="5620702" y="389144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-91</a:t>
            </a:r>
          </a:p>
        </p:txBody>
      </p:sp>
      <p:sp>
        <p:nvSpPr>
          <p:cNvPr id="35" name="Rounded Rectangle 34"/>
          <p:cNvSpPr/>
          <p:nvPr/>
        </p:nvSpPr>
        <p:spPr>
          <a:xfrm>
            <a:off x="7105650" y="857250"/>
            <a:ext cx="4933950" cy="4638675"/>
          </a:xfrm>
          <a:prstGeom prst="roundRect">
            <a:avLst>
              <a:gd name="adj" fmla="val 164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0" y="942975"/>
            <a:ext cx="4667250" cy="209550"/>
          </a:xfrm>
          <a:prstGeom prst="rect">
            <a:avLst/>
          </a:prstGeom>
          <a:noFill/>
        </p:spPr>
        <p:txBody>
          <a:bodyPr wrap="square" lIns="0" rIns="19050" tIns="9525" bIns="9525">
            <a:spAutoFit/>
          </a:bodyPr>
          <a:lstStyle/>
          <a:p>
            <a:pPr algn="l"/>
            <a:r>
              <a:rPr sz="1300" b="1">
                <a:solidFill>
                  <a:srgbClr val="0B2E4A"/>
                </a:solidFill>
                <a:latin typeface="Calibri"/>
              </a:rPr>
              <a:t>Regional Highlights</a:t>
            </a:r>
          </a:p>
        </p:txBody>
      </p:sp>
      <p:sp>
        <p:nvSpPr>
          <p:cNvPr id="37" name="Rectangle 36"/>
          <p:cNvSpPr/>
          <p:nvPr/>
        </p:nvSpPr>
        <p:spPr>
          <a:xfrm>
            <a:off x="7239000" y="1181100"/>
            <a:ext cx="46672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39000" y="1266825"/>
            <a:ext cx="4667250" cy="41529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is the largest region, at 32.9% of 2036 value.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gains the most share +79 BPS between 2026 and 2036 (</a:t>
            </a:r>
            <a:r>
              <a:rPr sz="1150" b="0">
                <a:solidFill>
                  <a:srgbClr val="2E7D32"/>
                </a:solidFill>
                <a:latin typeface="Calibri"/>
              </a:rPr>
              <a:t>▲</a:t>
            </a:r>
            <a:r>
              <a:rPr sz="1150" b="0">
                <a:solidFill>
                  <a:srgbClr val="2E2E2E"/>
                </a:solidFill>
                <a:latin typeface="Calibri"/>
              </a:rPr>
              <a:t> on the right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'Western Europe' cedes the most -91 BPS over the same window (</a:t>
            </a:r>
            <a:r>
              <a:rPr sz="1150" b="0">
                <a:solidFill>
                  <a:srgbClr val="E44D3A"/>
                </a:solidFill>
                <a:latin typeface="Calibri"/>
              </a:rPr>
              <a:t>▼</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grows fastest 8.4%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rises from 2,306 to 4,933 US$ Mn across 7 regions.</a:t>
            </a:r>
          </a:p>
        </p:txBody>
      </p:sp>
      <p:sp>
        <p:nvSpPr>
          <p:cNvPr id="39" name="Rounded Rectangle 38"/>
          <p:cNvSpPr/>
          <p:nvPr/>
        </p:nvSpPr>
        <p:spPr>
          <a:xfrm>
            <a:off x="142875" y="5629275"/>
            <a:ext cx="3943350"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2026 TOTAL (US$ MN)</a:t>
            </a:r>
          </a:p>
          <a:p>
            <a:pPr algn="ctr"/>
            <a:r>
              <a:rPr sz="2000" b="1">
                <a:solidFill>
                  <a:srgbClr val="0E72AE"/>
                </a:solidFill>
                <a:latin typeface="Calibri"/>
              </a:rPr>
              <a:t>2,306</a:t>
            </a:r>
          </a:p>
        </p:txBody>
      </p:sp>
      <p:sp>
        <p:nvSpPr>
          <p:cNvPr id="40" name="Rounded Rectangle 39"/>
          <p:cNvSpPr/>
          <p:nvPr/>
        </p:nvSpPr>
        <p:spPr>
          <a:xfrm>
            <a:off x="4238625"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TOTAL (US$ MN)</a:t>
            </a:r>
          </a:p>
          <a:p>
            <a:pPr algn="ctr"/>
            <a:r>
              <a:rPr sz="2000" b="1">
                <a:solidFill>
                  <a:srgbClr val="0E72AE"/>
                </a:solidFill>
                <a:latin typeface="Calibri"/>
              </a:rPr>
              <a:t>4,933</a:t>
            </a:r>
          </a:p>
        </p:txBody>
      </p:sp>
      <p:sp>
        <p:nvSpPr>
          <p:cNvPr id="41" name="Rounded Rectangle 40"/>
          <p:cNvSpPr/>
          <p:nvPr/>
        </p:nvSpPr>
        <p:spPr>
          <a:xfrm>
            <a:off x="8210550" y="5629275"/>
            <a:ext cx="3819525" cy="10858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CAGR (2026–2036)</a:t>
            </a:r>
          </a:p>
          <a:p>
            <a:pPr algn="ctr"/>
            <a:r>
              <a:rPr sz="2000" b="1">
                <a:solidFill>
                  <a:srgbClr val="0E72AE"/>
                </a:solidFill>
                <a:latin typeface="Calibri"/>
              </a:rPr>
              <a:t>7.9%</a:t>
            </a:r>
          </a:p>
        </p:txBody>
      </p:sp>
      <p:sp>
        <p:nvSpPr>
          <p:cNvPr id="42" name="Rectangle 4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4" name="Rounded Rectangle 43">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5" name="Rounded Rectangle 44">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6" name="Rounded Rectangle 45">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Share Analysis, By Region Volume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share by region, 2021–2036, highlighting the geographies gaining and ceding ground</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448050"/>
          </a:xfrm>
          <a:prstGeom prst="roundRect">
            <a:avLst>
              <a:gd name="adj" fmla="val 22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(Units)</a:t>
            </a:r>
          </a:p>
        </p:txBody>
      </p:sp>
      <p:graphicFrame>
        <p:nvGraphicFramePr>
          <p:cNvPr id="14" name="Table 13"/>
          <p:cNvGraphicFramePr>
            <a:graphicFrameLocks noGrp="1"/>
          </p:cNvGraphicFramePr>
          <p:nvPr/>
        </p:nvGraphicFramePr>
        <p:xfrm>
          <a:off x="238125" y="1143000"/>
          <a:ext cx="11715752" cy="16287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Region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North America</a:t>
                      </a:r>
                    </a:p>
                  </a:txBody>
                  <a:tcPr marL="85725" marR="38100" marT="19050" marB="19050" anchor="ctr">
                    <a:solidFill>
                      <a:srgbClr val="FFFFFF"/>
                    </a:solidFill>
                  </a:tcPr>
                </a:tc>
                <a:tc>
                  <a:txBody>
                    <a:bodyPr wrap="none"/>
                    <a:lstStyle/>
                    <a:p>
                      <a:pPr algn="l"/>
                      <a:r>
                        <a:rPr sz="800" b="0">
                          <a:solidFill>
                            <a:srgbClr val="2E2E2E"/>
                          </a:solidFill>
                          <a:latin typeface="Calibri"/>
                        </a:rPr>
                        <a:t>639.7</a:t>
                      </a:r>
                    </a:p>
                  </a:txBody>
                  <a:tcPr marL="85725" marR="38100" marT="19050" marB="19050" anchor="ctr">
                    <a:solidFill>
                      <a:srgbClr val="FFFFFF"/>
                    </a:solidFill>
                  </a:tcPr>
                </a:tc>
                <a:tc>
                  <a:txBody>
                    <a:bodyPr wrap="none"/>
                    <a:lstStyle/>
                    <a:p>
                      <a:pPr algn="l"/>
                      <a:r>
                        <a:rPr sz="800" b="0">
                          <a:solidFill>
                            <a:srgbClr val="2E2E2E"/>
                          </a:solidFill>
                          <a:latin typeface="Calibri"/>
                        </a:rPr>
                        <a:t>683.2</a:t>
                      </a:r>
                    </a:p>
                  </a:txBody>
                  <a:tcPr marL="85725" marR="38100" marT="19050" marB="19050" anchor="ctr">
                    <a:solidFill>
                      <a:srgbClr val="FFFFFF"/>
                    </a:solidFill>
                  </a:tcPr>
                </a:tc>
                <a:tc>
                  <a:txBody>
                    <a:bodyPr wrap="none"/>
                    <a:lstStyle/>
                    <a:p>
                      <a:pPr algn="l"/>
                      <a:r>
                        <a:rPr sz="800" b="0">
                          <a:solidFill>
                            <a:srgbClr val="2E2E2E"/>
                          </a:solidFill>
                          <a:latin typeface="Calibri"/>
                        </a:rPr>
                        <a:t>730.7</a:t>
                      </a:r>
                    </a:p>
                  </a:txBody>
                  <a:tcPr marL="85725" marR="38100" marT="19050" marB="19050" anchor="ctr">
                    <a:solidFill>
                      <a:srgbClr val="FFFFFF"/>
                    </a:solidFill>
                  </a:tcPr>
                </a:tc>
                <a:tc>
                  <a:txBody>
                    <a:bodyPr wrap="none"/>
                    <a:lstStyle/>
                    <a:p>
                      <a:pPr algn="l"/>
                      <a:r>
                        <a:rPr sz="800" b="0">
                          <a:solidFill>
                            <a:srgbClr val="2E2E2E"/>
                          </a:solidFill>
                          <a:latin typeface="Calibri"/>
                        </a:rPr>
                        <a:t>783.0</a:t>
                      </a:r>
                    </a:p>
                  </a:txBody>
                  <a:tcPr marL="85725" marR="38100" marT="19050" marB="19050" anchor="ctr">
                    <a:solidFill>
                      <a:srgbClr val="FFFFFF"/>
                    </a:solidFill>
                  </a:tcPr>
                </a:tc>
                <a:tc>
                  <a:txBody>
                    <a:bodyPr wrap="none"/>
                    <a:lstStyle/>
                    <a:p>
                      <a:pPr algn="l"/>
                      <a:r>
                        <a:rPr sz="800" b="0">
                          <a:solidFill>
                            <a:srgbClr val="2E2E2E"/>
                          </a:solidFill>
                          <a:latin typeface="Calibri"/>
                        </a:rPr>
                        <a:t>839.7</a:t>
                      </a:r>
                    </a:p>
                  </a:txBody>
                  <a:tcPr marL="85725" marR="38100" marT="19050" marB="19050" anchor="ctr">
                    <a:solidFill>
                      <a:srgbClr val="FFFFFF"/>
                    </a:solidFill>
                  </a:tcPr>
                </a:tc>
                <a:tc>
                  <a:txBody>
                    <a:bodyPr wrap="none"/>
                    <a:lstStyle/>
                    <a:p>
                      <a:pPr algn="l"/>
                      <a:r>
                        <a:rPr sz="800" b="0">
                          <a:solidFill>
                            <a:srgbClr val="2E2E2E"/>
                          </a:solidFill>
                          <a:latin typeface="Calibri"/>
                        </a:rPr>
                        <a:t>902.9</a:t>
                      </a:r>
                    </a:p>
                  </a:txBody>
                  <a:tcPr marL="85725" marR="38100" marT="19050" marB="19050" anchor="ctr">
                    <a:solidFill>
                      <a:srgbClr val="FFFFFF"/>
                    </a:solidFill>
                  </a:tcPr>
                </a:tc>
                <a:tc>
                  <a:txBody>
                    <a:bodyPr wrap="none"/>
                    <a:lstStyle/>
                    <a:p>
                      <a:pPr algn="l"/>
                      <a:r>
                        <a:rPr sz="800" b="0">
                          <a:solidFill>
                            <a:srgbClr val="2E2E2E"/>
                          </a:solidFill>
                          <a:latin typeface="Calibri"/>
                        </a:rPr>
                        <a:t>971.1</a:t>
                      </a:r>
                    </a:p>
                  </a:txBody>
                  <a:tcPr marL="85725" marR="38100" marT="19050" marB="19050" anchor="ctr">
                    <a:solidFill>
                      <a:srgbClr val="FFFFFF"/>
                    </a:solidFill>
                  </a:tcPr>
                </a:tc>
                <a:tc>
                  <a:txBody>
                    <a:bodyPr wrap="none"/>
                    <a:lstStyle/>
                    <a:p>
                      <a:pPr algn="l"/>
                      <a:r>
                        <a:rPr sz="800" b="0">
                          <a:solidFill>
                            <a:srgbClr val="2E2E2E"/>
                          </a:solidFill>
                          <a:latin typeface="Calibri"/>
                        </a:rPr>
                        <a:t>1,043</a:t>
                      </a:r>
                    </a:p>
                  </a:txBody>
                  <a:tcPr marL="85725" marR="38100" marT="19050" marB="19050" anchor="ctr">
                    <a:solidFill>
                      <a:srgbClr val="FFFFFF"/>
                    </a:solidFill>
                  </a:tcPr>
                </a:tc>
                <a:tc>
                  <a:txBody>
                    <a:bodyPr wrap="none"/>
                    <a:lstStyle/>
                    <a:p>
                      <a:pPr algn="l"/>
                      <a:r>
                        <a:rPr sz="800" b="0">
                          <a:solidFill>
                            <a:srgbClr val="2E2E2E"/>
                          </a:solidFill>
                          <a:latin typeface="Calibri"/>
                        </a:rPr>
                        <a:t>1,120</a:t>
                      </a:r>
                    </a:p>
                  </a:txBody>
                  <a:tcPr marL="85725" marR="38100" marT="19050" marB="19050" anchor="ctr">
                    <a:solidFill>
                      <a:srgbClr val="FFFFFF"/>
                    </a:solidFill>
                  </a:tcPr>
                </a:tc>
                <a:tc>
                  <a:txBody>
                    <a:bodyPr wrap="none"/>
                    <a:lstStyle/>
                    <a:p>
                      <a:pPr algn="l"/>
                      <a:r>
                        <a:rPr sz="800" b="0">
                          <a:solidFill>
                            <a:srgbClr val="2E2E2E"/>
                          </a:solidFill>
                          <a:latin typeface="Calibri"/>
                        </a:rPr>
                        <a:t>1,200</a:t>
                      </a:r>
                    </a:p>
                  </a:txBody>
                  <a:tcPr marL="85725" marR="38100" marT="19050" marB="19050" anchor="ctr">
                    <a:solidFill>
                      <a:srgbClr val="FFFFFF"/>
                    </a:solidFill>
                  </a:tcPr>
                </a:tc>
                <a:tc>
                  <a:txBody>
                    <a:bodyPr wrap="none"/>
                    <a:lstStyle/>
                    <a:p>
                      <a:pPr algn="l"/>
                      <a:r>
                        <a:rPr sz="800" b="0">
                          <a:solidFill>
                            <a:srgbClr val="2E2E2E"/>
                          </a:solidFill>
                          <a:latin typeface="Calibri"/>
                        </a:rPr>
                        <a:t>1,286</a:t>
                      </a:r>
                    </a:p>
                  </a:txBody>
                  <a:tcPr marL="85725" marR="38100" marT="19050" marB="19050" anchor="ctr">
                    <a:solidFill>
                      <a:srgbClr val="FFFFFF"/>
                    </a:solidFill>
                  </a:tcPr>
                </a:tc>
                <a:tc>
                  <a:txBody>
                    <a:bodyPr wrap="none"/>
                    <a:lstStyle/>
                    <a:p>
                      <a:pPr algn="l"/>
                      <a:r>
                        <a:rPr sz="800" b="0">
                          <a:solidFill>
                            <a:srgbClr val="2E2E2E"/>
                          </a:solidFill>
                          <a:latin typeface="Calibri"/>
                        </a:rPr>
                        <a:t>1,375</a:t>
                      </a:r>
                    </a:p>
                  </a:txBody>
                  <a:tcPr marL="85725" marR="38100" marT="19050" marB="19050" anchor="ctr">
                    <a:solidFill>
                      <a:srgbClr val="FFFFFF"/>
                    </a:solidFill>
                  </a:tcPr>
                </a:tc>
                <a:tc>
                  <a:txBody>
                    <a:bodyPr wrap="none"/>
                    <a:lstStyle/>
                    <a:p>
                      <a:pPr algn="l"/>
                      <a:r>
                        <a:rPr sz="800" b="0">
                          <a:solidFill>
                            <a:srgbClr val="2E2E2E"/>
                          </a:solidFill>
                          <a:latin typeface="Calibri"/>
                        </a:rPr>
                        <a:t>1,469</a:t>
                      </a:r>
                    </a:p>
                  </a:txBody>
                  <a:tcPr marL="85725" marR="38100" marT="19050" marB="19050" anchor="ctr">
                    <a:solidFill>
                      <a:srgbClr val="FFFFFF"/>
                    </a:solidFill>
                  </a:tcPr>
                </a:tc>
                <a:tc>
                  <a:txBody>
                    <a:bodyPr wrap="none"/>
                    <a:lstStyle/>
                    <a:p>
                      <a:pPr algn="l"/>
                      <a:r>
                        <a:rPr sz="800" b="0">
                          <a:solidFill>
                            <a:srgbClr val="2E2E2E"/>
                          </a:solidFill>
                          <a:latin typeface="Calibri"/>
                        </a:rPr>
                        <a:t>1,572</a:t>
                      </a:r>
                    </a:p>
                  </a:txBody>
                  <a:tcPr marL="85725" marR="38100" marT="19050" marB="19050" anchor="ctr">
                    <a:solidFill>
                      <a:srgbClr val="FFFFFF"/>
                    </a:solidFill>
                  </a:tcPr>
                </a:tc>
                <a:tc>
                  <a:txBody>
                    <a:bodyPr wrap="none"/>
                    <a:lstStyle/>
                    <a:p>
                      <a:pPr algn="l"/>
                      <a:r>
                        <a:rPr sz="800" b="0">
                          <a:solidFill>
                            <a:srgbClr val="2E2E2E"/>
                          </a:solidFill>
                          <a:latin typeface="Calibri"/>
                        </a:rPr>
                        <a:t>1,678</a:t>
                      </a:r>
                    </a:p>
                  </a:txBody>
                  <a:tcPr marL="85725" marR="38100" marT="19050" marB="19050" anchor="ctr">
                    <a:solidFill>
                      <a:srgbClr val="FFFFFF"/>
                    </a:solidFill>
                  </a:tcPr>
                </a:tc>
                <a:tc>
                  <a:txBody>
                    <a:bodyPr wrap="none"/>
                    <a:lstStyle/>
                    <a:p>
                      <a:pPr algn="l"/>
                      <a:r>
                        <a:rPr sz="800" b="0">
                          <a:solidFill>
                            <a:srgbClr val="2E2E2E"/>
                          </a:solidFill>
                          <a:latin typeface="Calibri"/>
                        </a:rPr>
                        <a:t>1,796</a:t>
                      </a:r>
                    </a:p>
                  </a:txBody>
                  <a:tcPr marL="85725" marR="38100" marT="19050" marB="19050" anchor="ctr">
                    <a:solidFill>
                      <a:srgbClr val="FFFFFF"/>
                    </a:solidFill>
                  </a:tcPr>
                </a:tc>
                <a:tc>
                  <a:txBody>
                    <a:bodyPr wrap="none"/>
                    <a:lstStyle/>
                    <a:p>
                      <a:pPr algn="l"/>
                      <a:r>
                        <a:rPr sz="800" b="0">
                          <a:solidFill>
                            <a:srgbClr val="2E2E2E"/>
                          </a:solidFill>
                          <a:latin typeface="Calibri"/>
                        </a:rPr>
                        <a:t>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Latin America</a:t>
                      </a:r>
                    </a:p>
                  </a:txBody>
                  <a:tcPr marL="85725" marR="38100" marT="19050" marB="19050" anchor="ctr">
                    <a:solidFill>
                      <a:srgbClr val="F5F8FA"/>
                    </a:solidFill>
                  </a:tcPr>
                </a:tc>
                <a:tc>
                  <a:txBody>
                    <a:bodyPr wrap="none"/>
                    <a:lstStyle/>
                    <a:p>
                      <a:pPr algn="l"/>
                      <a:r>
                        <a:rPr sz="800" b="0">
                          <a:solidFill>
                            <a:srgbClr val="2E2E2E"/>
                          </a:solidFill>
                          <a:latin typeface="Calibri"/>
                        </a:rPr>
                        <a:t>183.4</a:t>
                      </a:r>
                    </a:p>
                  </a:txBody>
                  <a:tcPr marL="85725" marR="38100" marT="19050" marB="19050" anchor="ctr">
                    <a:solidFill>
                      <a:srgbClr val="F5F8FA"/>
                    </a:solidFill>
                  </a:tcPr>
                </a:tc>
                <a:tc>
                  <a:txBody>
                    <a:bodyPr wrap="none"/>
                    <a:lstStyle/>
                    <a:p>
                      <a:pPr algn="l"/>
                      <a:r>
                        <a:rPr sz="800" b="0">
                          <a:solidFill>
                            <a:srgbClr val="2E2E2E"/>
                          </a:solidFill>
                          <a:latin typeface="Calibri"/>
                        </a:rPr>
                        <a:t>190.2</a:t>
                      </a:r>
                    </a:p>
                  </a:txBody>
                  <a:tcPr marL="85725" marR="38100" marT="19050" marB="19050" anchor="ctr">
                    <a:solidFill>
                      <a:srgbClr val="F5F8FA"/>
                    </a:solidFill>
                  </a:tcPr>
                </a:tc>
                <a:tc>
                  <a:txBody>
                    <a:bodyPr wrap="none"/>
                    <a:lstStyle/>
                    <a:p>
                      <a:pPr algn="l"/>
                      <a:r>
                        <a:rPr sz="800" b="0">
                          <a:solidFill>
                            <a:srgbClr val="2E2E2E"/>
                          </a:solidFill>
                          <a:latin typeface="Calibri"/>
                        </a:rPr>
                        <a:t>197.8</a:t>
                      </a:r>
                    </a:p>
                  </a:txBody>
                  <a:tcPr marL="85725" marR="38100" marT="19050" marB="19050" anchor="ctr">
                    <a:solidFill>
                      <a:srgbClr val="F5F8FA"/>
                    </a:solidFill>
                  </a:tcPr>
                </a:tc>
                <a:tc>
                  <a:txBody>
                    <a:bodyPr wrap="none"/>
                    <a:lstStyle/>
                    <a:p>
                      <a:pPr algn="l"/>
                      <a:r>
                        <a:rPr sz="800" b="0">
                          <a:solidFill>
                            <a:srgbClr val="2E2E2E"/>
                          </a:solidFill>
                          <a:latin typeface="Calibri"/>
                        </a:rPr>
                        <a:t>206.3</a:t>
                      </a:r>
                    </a:p>
                  </a:txBody>
                  <a:tcPr marL="85725" marR="38100" marT="19050" marB="19050" anchor="ctr">
                    <a:solidFill>
                      <a:srgbClr val="F5F8FA"/>
                    </a:solidFill>
                  </a:tcPr>
                </a:tc>
                <a:tc>
                  <a:txBody>
                    <a:bodyPr wrap="none"/>
                    <a:lstStyle/>
                    <a:p>
                      <a:pPr algn="l"/>
                      <a:r>
                        <a:rPr sz="800" b="0">
                          <a:solidFill>
                            <a:srgbClr val="2E2E2E"/>
                          </a:solidFill>
                          <a:latin typeface="Calibri"/>
                        </a:rPr>
                        <a:t>216.5</a:t>
                      </a:r>
                    </a:p>
                  </a:txBody>
                  <a:tcPr marL="85725" marR="38100" marT="19050" marB="19050" anchor="ctr">
                    <a:solidFill>
                      <a:srgbClr val="F5F8FA"/>
                    </a:solidFill>
                  </a:tcPr>
                </a:tc>
                <a:tc>
                  <a:txBody>
                    <a:bodyPr wrap="none"/>
                    <a:lstStyle/>
                    <a:p>
                      <a:pPr algn="l"/>
                      <a:r>
                        <a:rPr sz="800" b="0">
                          <a:solidFill>
                            <a:srgbClr val="2E2E2E"/>
                          </a:solidFill>
                          <a:latin typeface="Calibri"/>
                        </a:rPr>
                        <a:t>228.6</a:t>
                      </a:r>
                    </a:p>
                  </a:txBody>
                  <a:tcPr marL="85725" marR="38100" marT="19050" marB="19050" anchor="ctr">
                    <a:solidFill>
                      <a:srgbClr val="F5F8FA"/>
                    </a:solidFill>
                  </a:tcPr>
                </a:tc>
                <a:tc>
                  <a:txBody>
                    <a:bodyPr wrap="none"/>
                    <a:lstStyle/>
                    <a:p>
                      <a:pPr algn="l"/>
                      <a:r>
                        <a:rPr sz="800" b="0">
                          <a:solidFill>
                            <a:srgbClr val="2E2E2E"/>
                          </a:solidFill>
                          <a:latin typeface="Calibri"/>
                        </a:rPr>
                        <a:t>242.9</a:t>
                      </a:r>
                    </a:p>
                  </a:txBody>
                  <a:tcPr marL="85725" marR="38100" marT="19050" marB="19050" anchor="ctr">
                    <a:solidFill>
                      <a:srgbClr val="F5F8FA"/>
                    </a:solidFill>
                  </a:tcPr>
                </a:tc>
                <a:tc>
                  <a:txBody>
                    <a:bodyPr wrap="none"/>
                    <a:lstStyle/>
                    <a:p>
                      <a:pPr algn="l"/>
                      <a:r>
                        <a:rPr sz="800" b="0">
                          <a:solidFill>
                            <a:srgbClr val="2E2E2E"/>
                          </a:solidFill>
                          <a:latin typeface="Calibri"/>
                        </a:rPr>
                        <a:t>259.7</a:t>
                      </a:r>
                    </a:p>
                  </a:txBody>
                  <a:tcPr marL="85725" marR="38100" marT="19050" marB="19050" anchor="ctr">
                    <a:solidFill>
                      <a:srgbClr val="F5F8FA"/>
                    </a:solidFill>
                  </a:tcPr>
                </a:tc>
                <a:tc>
                  <a:txBody>
                    <a:bodyPr wrap="none"/>
                    <a:lstStyle/>
                    <a:p>
                      <a:pPr algn="l"/>
                      <a:r>
                        <a:rPr sz="800" b="0">
                          <a:solidFill>
                            <a:srgbClr val="2E2E2E"/>
                          </a:solidFill>
                          <a:latin typeface="Calibri"/>
                        </a:rPr>
                        <a:t>278.3</a:t>
                      </a:r>
                    </a:p>
                  </a:txBody>
                  <a:tcPr marL="85725" marR="38100" marT="19050" marB="19050" anchor="ctr">
                    <a:solidFill>
                      <a:srgbClr val="F5F8FA"/>
                    </a:solidFill>
                  </a:tcPr>
                </a:tc>
                <a:tc>
                  <a:txBody>
                    <a:bodyPr wrap="none"/>
                    <a:lstStyle/>
                    <a:p>
                      <a:pPr algn="l"/>
                      <a:r>
                        <a:rPr sz="800" b="0">
                          <a:solidFill>
                            <a:srgbClr val="2E2E2E"/>
                          </a:solidFill>
                          <a:latin typeface="Calibri"/>
                        </a:rPr>
                        <a:t>297.6</a:t>
                      </a:r>
                    </a:p>
                  </a:txBody>
                  <a:tcPr marL="85725" marR="38100" marT="19050" marB="19050" anchor="ctr">
                    <a:solidFill>
                      <a:srgbClr val="F5F8FA"/>
                    </a:solidFill>
                  </a:tcPr>
                </a:tc>
                <a:tc>
                  <a:txBody>
                    <a:bodyPr wrap="none"/>
                    <a:lstStyle/>
                    <a:p>
                      <a:pPr algn="l"/>
                      <a:r>
                        <a:rPr sz="800" b="0">
                          <a:solidFill>
                            <a:srgbClr val="2E2E2E"/>
                          </a:solidFill>
                          <a:latin typeface="Calibri"/>
                        </a:rPr>
                        <a:t>317.7</a:t>
                      </a:r>
                    </a:p>
                  </a:txBody>
                  <a:tcPr marL="85725" marR="38100" marT="19050" marB="19050" anchor="ctr">
                    <a:solidFill>
                      <a:srgbClr val="F5F8FA"/>
                    </a:solidFill>
                  </a:tcPr>
                </a:tc>
                <a:tc>
                  <a:txBody>
                    <a:bodyPr wrap="none"/>
                    <a:lstStyle/>
                    <a:p>
                      <a:pPr algn="l"/>
                      <a:r>
                        <a:rPr sz="800" b="0">
                          <a:solidFill>
                            <a:srgbClr val="2E2E2E"/>
                          </a:solidFill>
                          <a:latin typeface="Calibri"/>
                        </a:rPr>
                        <a:t>338.1</a:t>
                      </a:r>
                    </a:p>
                  </a:txBody>
                  <a:tcPr marL="85725" marR="38100" marT="19050" marB="19050" anchor="ctr">
                    <a:solidFill>
                      <a:srgbClr val="F5F8FA"/>
                    </a:solidFill>
                  </a:tcPr>
                </a:tc>
                <a:tc>
                  <a:txBody>
                    <a:bodyPr wrap="none"/>
                    <a:lstStyle/>
                    <a:p>
                      <a:pPr algn="l"/>
                      <a:r>
                        <a:rPr sz="800" b="0">
                          <a:solidFill>
                            <a:srgbClr val="2E2E2E"/>
                          </a:solidFill>
                          <a:latin typeface="Calibri"/>
                        </a:rPr>
                        <a:t>358.9</a:t>
                      </a:r>
                    </a:p>
                  </a:txBody>
                  <a:tcPr marL="85725" marR="38100" marT="19050" marB="19050" anchor="ctr">
                    <a:solidFill>
                      <a:srgbClr val="F5F8FA"/>
                    </a:solidFill>
                  </a:tcPr>
                </a:tc>
                <a:tc>
                  <a:txBody>
                    <a:bodyPr wrap="none"/>
                    <a:lstStyle/>
                    <a:p>
                      <a:pPr algn="l"/>
                      <a:r>
                        <a:rPr sz="800" b="0">
                          <a:solidFill>
                            <a:srgbClr val="2E2E2E"/>
                          </a:solidFill>
                          <a:latin typeface="Calibri"/>
                        </a:rPr>
                        <a:t>380.8</a:t>
                      </a:r>
                    </a:p>
                  </a:txBody>
                  <a:tcPr marL="85725" marR="38100" marT="19050" marB="19050" anchor="ctr">
                    <a:solidFill>
                      <a:srgbClr val="F5F8FA"/>
                    </a:solidFill>
                  </a:tcPr>
                </a:tc>
                <a:tc>
                  <a:txBody>
                    <a:bodyPr wrap="none"/>
                    <a:lstStyle/>
                    <a:p>
                      <a:pPr algn="l"/>
                      <a:r>
                        <a:rPr sz="800" b="0">
                          <a:solidFill>
                            <a:srgbClr val="2E2E2E"/>
                          </a:solidFill>
                          <a:latin typeface="Calibri"/>
                        </a:rPr>
                        <a:t>403.4</a:t>
                      </a:r>
                    </a:p>
                  </a:txBody>
                  <a:tcPr marL="85725" marR="38100" marT="19050" marB="19050" anchor="ctr">
                    <a:solidFill>
                      <a:srgbClr val="F5F8FA"/>
                    </a:solidFill>
                  </a:tcPr>
                </a:tc>
                <a:tc>
                  <a:txBody>
                    <a:bodyPr wrap="none"/>
                    <a:lstStyle/>
                    <a:p>
                      <a:pPr algn="l"/>
                      <a:r>
                        <a:rPr sz="800" b="0">
                          <a:solidFill>
                            <a:srgbClr val="2E2E2E"/>
                          </a:solidFill>
                          <a:latin typeface="Calibri"/>
                        </a:rPr>
                        <a:t>426.8</a:t>
                      </a:r>
                    </a:p>
                  </a:txBody>
                  <a:tcPr marL="85725" marR="38100" marT="19050" marB="19050" anchor="ctr">
                    <a:solidFill>
                      <a:srgbClr val="F5F8FA"/>
                    </a:solidFill>
                  </a:tcPr>
                </a:tc>
                <a:tc>
                  <a:txBody>
                    <a:bodyPr wrap="none"/>
                    <a:lstStyle/>
                    <a:p>
                      <a:pPr algn="l"/>
                      <a:r>
                        <a:rPr sz="8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Western Europe</a:t>
                      </a:r>
                    </a:p>
                  </a:txBody>
                  <a:tcPr marL="85725" marR="38100" marT="19050" marB="19050" anchor="ctr">
                    <a:solidFill>
                      <a:srgbClr val="FFFFFF"/>
                    </a:solidFill>
                  </a:tcPr>
                </a:tc>
                <a:tc>
                  <a:txBody>
                    <a:bodyPr wrap="none"/>
                    <a:lstStyle/>
                    <a:p>
                      <a:pPr algn="l"/>
                      <a:r>
                        <a:rPr sz="800" b="0">
                          <a:solidFill>
                            <a:srgbClr val="2E2E2E"/>
                          </a:solidFill>
                          <a:latin typeface="Calibri"/>
                        </a:rPr>
                        <a:t>503.0</a:t>
                      </a:r>
                    </a:p>
                  </a:txBody>
                  <a:tcPr marL="85725" marR="38100" marT="19050" marB="19050" anchor="ctr">
                    <a:solidFill>
                      <a:srgbClr val="FFFFFF"/>
                    </a:solidFill>
                  </a:tcPr>
                </a:tc>
                <a:tc>
                  <a:txBody>
                    <a:bodyPr wrap="none"/>
                    <a:lstStyle/>
                    <a:p>
                      <a:pPr algn="l"/>
                      <a:r>
                        <a:rPr sz="800" b="0">
                          <a:solidFill>
                            <a:srgbClr val="2E2E2E"/>
                          </a:solidFill>
                          <a:latin typeface="Calibri"/>
                        </a:rPr>
                        <a:t>528.7</a:t>
                      </a:r>
                    </a:p>
                  </a:txBody>
                  <a:tcPr marL="85725" marR="38100" marT="19050" marB="19050" anchor="ctr">
                    <a:solidFill>
                      <a:srgbClr val="FFFFFF"/>
                    </a:solidFill>
                  </a:tcPr>
                </a:tc>
                <a:tc>
                  <a:txBody>
                    <a:bodyPr wrap="none"/>
                    <a:lstStyle/>
                    <a:p>
                      <a:pPr algn="l"/>
                      <a:r>
                        <a:rPr sz="800" b="0">
                          <a:solidFill>
                            <a:srgbClr val="2E2E2E"/>
                          </a:solidFill>
                          <a:latin typeface="Calibri"/>
                        </a:rPr>
                        <a:t>557.1</a:t>
                      </a:r>
                    </a:p>
                  </a:txBody>
                  <a:tcPr marL="85725" marR="38100" marT="19050" marB="19050" anchor="ctr">
                    <a:solidFill>
                      <a:srgbClr val="FFFFFF"/>
                    </a:solidFill>
                  </a:tcPr>
                </a:tc>
                <a:tc>
                  <a:txBody>
                    <a:bodyPr wrap="none"/>
                    <a:lstStyle/>
                    <a:p>
                      <a:pPr algn="l"/>
                      <a:r>
                        <a:rPr sz="800" b="0">
                          <a:solidFill>
                            <a:srgbClr val="2E2E2E"/>
                          </a:solidFill>
                          <a:latin typeface="Calibri"/>
                        </a:rPr>
                        <a:t>589.0</a:t>
                      </a:r>
                    </a:p>
                  </a:txBody>
                  <a:tcPr marL="85725" marR="38100" marT="19050" marB="19050" anchor="ctr">
                    <a:solidFill>
                      <a:srgbClr val="FFFFFF"/>
                    </a:solidFill>
                  </a:tcPr>
                </a:tc>
                <a:tc>
                  <a:txBody>
                    <a:bodyPr wrap="none"/>
                    <a:lstStyle/>
                    <a:p>
                      <a:pPr algn="l"/>
                      <a:r>
                        <a:rPr sz="800" b="0">
                          <a:solidFill>
                            <a:srgbClr val="2E2E2E"/>
                          </a:solidFill>
                          <a:latin typeface="Calibri"/>
                        </a:rPr>
                        <a:t>625.8</a:t>
                      </a:r>
                    </a:p>
                  </a:txBody>
                  <a:tcPr marL="85725" marR="38100" marT="19050" marB="19050" anchor="ctr">
                    <a:solidFill>
                      <a:srgbClr val="FFFFFF"/>
                    </a:solidFill>
                  </a:tcPr>
                </a:tc>
                <a:tc>
                  <a:txBody>
                    <a:bodyPr wrap="none"/>
                    <a:lstStyle/>
                    <a:p>
                      <a:pPr algn="l"/>
                      <a:r>
                        <a:rPr sz="800" b="0">
                          <a:solidFill>
                            <a:srgbClr val="2E2E2E"/>
                          </a:solidFill>
                          <a:latin typeface="Calibri"/>
                        </a:rPr>
                        <a:t>667.6</a:t>
                      </a:r>
                    </a:p>
                  </a:txBody>
                  <a:tcPr marL="85725" marR="38100" marT="19050" marB="19050" anchor="ctr">
                    <a:solidFill>
                      <a:srgbClr val="FFFFFF"/>
                    </a:solidFill>
                  </a:tcPr>
                </a:tc>
                <a:tc>
                  <a:txBody>
                    <a:bodyPr wrap="none"/>
                    <a:lstStyle/>
                    <a:p>
                      <a:pPr algn="l"/>
                      <a:r>
                        <a:rPr sz="800" b="0">
                          <a:solidFill>
                            <a:srgbClr val="2E2E2E"/>
                          </a:solidFill>
                          <a:latin typeface="Calibri"/>
                        </a:rPr>
                        <a:t>713.9</a:t>
                      </a:r>
                    </a:p>
                  </a:txBody>
                  <a:tcPr marL="85725" marR="38100" marT="19050" marB="19050" anchor="ctr">
                    <a:solidFill>
                      <a:srgbClr val="FFFFFF"/>
                    </a:solidFill>
                  </a:tcPr>
                </a:tc>
                <a:tc>
                  <a:txBody>
                    <a:bodyPr wrap="none"/>
                    <a:lstStyle/>
                    <a:p>
                      <a:pPr algn="l"/>
                      <a:r>
                        <a:rPr sz="800" b="0">
                          <a:solidFill>
                            <a:srgbClr val="2E2E2E"/>
                          </a:solidFill>
                          <a:latin typeface="Calibri"/>
                        </a:rPr>
                        <a:t>763.4</a:t>
                      </a:r>
                    </a:p>
                  </a:txBody>
                  <a:tcPr marL="85725" marR="38100" marT="19050" marB="19050" anchor="ctr">
                    <a:solidFill>
                      <a:srgbClr val="FFFFFF"/>
                    </a:solidFill>
                  </a:tcPr>
                </a:tc>
                <a:tc>
                  <a:txBody>
                    <a:bodyPr wrap="none"/>
                    <a:lstStyle/>
                    <a:p>
                      <a:pPr algn="l"/>
                      <a:r>
                        <a:rPr sz="800" b="0">
                          <a:solidFill>
                            <a:srgbClr val="2E2E2E"/>
                          </a:solidFill>
                          <a:latin typeface="Calibri"/>
                        </a:rPr>
                        <a:t>815.7</a:t>
                      </a:r>
                    </a:p>
                  </a:txBody>
                  <a:tcPr marL="85725" marR="38100" marT="19050" marB="19050" anchor="ctr">
                    <a:solidFill>
                      <a:srgbClr val="FFFFFF"/>
                    </a:solidFill>
                  </a:tcPr>
                </a:tc>
                <a:tc>
                  <a:txBody>
                    <a:bodyPr wrap="none"/>
                    <a:lstStyle/>
                    <a:p>
                      <a:pPr algn="l"/>
                      <a:r>
                        <a:rPr sz="800" b="0">
                          <a:solidFill>
                            <a:srgbClr val="2E2E2E"/>
                          </a:solidFill>
                          <a:latin typeface="Calibri"/>
                        </a:rPr>
                        <a:t>869.9</a:t>
                      </a:r>
                    </a:p>
                  </a:txBody>
                  <a:tcPr marL="85725" marR="38100" marT="19050" marB="19050" anchor="ctr">
                    <a:solidFill>
                      <a:srgbClr val="FFFFFF"/>
                    </a:solidFill>
                  </a:tcPr>
                </a:tc>
                <a:tc>
                  <a:txBody>
                    <a:bodyPr wrap="none"/>
                    <a:lstStyle/>
                    <a:p>
                      <a:pPr algn="l"/>
                      <a:r>
                        <a:rPr sz="800" b="0">
                          <a:solidFill>
                            <a:srgbClr val="2E2E2E"/>
                          </a:solidFill>
                          <a:latin typeface="Calibri"/>
                        </a:rPr>
                        <a:t>926.9</a:t>
                      </a:r>
                    </a:p>
                  </a:txBody>
                  <a:tcPr marL="85725" marR="38100" marT="19050" marB="19050" anchor="ctr">
                    <a:solidFill>
                      <a:srgbClr val="FFFFFF"/>
                    </a:solidFill>
                  </a:tcPr>
                </a:tc>
                <a:tc>
                  <a:txBody>
                    <a:bodyPr wrap="none"/>
                    <a:lstStyle/>
                    <a:p>
                      <a:pPr algn="l"/>
                      <a:r>
                        <a:rPr sz="800" b="0">
                          <a:solidFill>
                            <a:srgbClr val="2E2E2E"/>
                          </a:solidFill>
                          <a:latin typeface="Calibri"/>
                        </a:rPr>
                        <a:t>987.3</a:t>
                      </a:r>
                    </a:p>
                  </a:txBody>
                  <a:tcPr marL="85725" marR="38100" marT="19050" marB="19050" anchor="ctr">
                    <a:solidFill>
                      <a:srgbClr val="FFFFFF"/>
                    </a:solidFill>
                  </a:tcPr>
                </a:tc>
                <a:tc>
                  <a:txBody>
                    <a:bodyPr wrap="none"/>
                    <a:lstStyle/>
                    <a:p>
                      <a:pPr algn="l"/>
                      <a:r>
                        <a:rPr sz="800" b="0">
                          <a:solidFill>
                            <a:srgbClr val="2E2E2E"/>
                          </a:solidFill>
                          <a:latin typeface="Calibri"/>
                        </a:rPr>
                        <a:t>1,051</a:t>
                      </a:r>
                    </a:p>
                  </a:txBody>
                  <a:tcPr marL="85725" marR="38100" marT="19050" marB="19050" anchor="ctr">
                    <a:solidFill>
                      <a:srgbClr val="FFFFFF"/>
                    </a:solidFill>
                  </a:tcPr>
                </a:tc>
                <a:tc>
                  <a:txBody>
                    <a:bodyPr wrap="none"/>
                    <a:lstStyle/>
                    <a:p>
                      <a:pPr algn="l"/>
                      <a:r>
                        <a:rPr sz="800" b="0">
                          <a:solidFill>
                            <a:srgbClr val="2E2E2E"/>
                          </a:solidFill>
                          <a:latin typeface="Calibri"/>
                        </a:rPr>
                        <a:t>1,119</a:t>
                      </a:r>
                    </a:p>
                  </a:txBody>
                  <a:tcPr marL="85725" marR="38100" marT="19050" marB="19050" anchor="ctr">
                    <a:solidFill>
                      <a:srgbClr val="FFFFFF"/>
                    </a:solidFill>
                  </a:tcPr>
                </a:tc>
                <a:tc>
                  <a:txBody>
                    <a:bodyPr wrap="none"/>
                    <a:lstStyle/>
                    <a:p>
                      <a:pPr algn="l"/>
                      <a:r>
                        <a:rPr sz="800" b="0">
                          <a:solidFill>
                            <a:srgbClr val="2E2E2E"/>
                          </a:solidFill>
                          <a:latin typeface="Calibri"/>
                        </a:rPr>
                        <a:t>1,190</a:t>
                      </a:r>
                    </a:p>
                  </a:txBody>
                  <a:tcPr marL="85725" marR="38100" marT="19050" marB="19050" anchor="ctr">
                    <a:solidFill>
                      <a:srgbClr val="FFFFFF"/>
                    </a:solidFill>
                  </a:tcPr>
                </a:tc>
                <a:tc>
                  <a:txBody>
                    <a:bodyPr wrap="none"/>
                    <a:lstStyle/>
                    <a:p>
                      <a:pPr algn="l"/>
                      <a:r>
                        <a:rPr sz="800" b="0">
                          <a:solidFill>
                            <a:srgbClr val="2E2E2E"/>
                          </a:solidFill>
                          <a:latin typeface="Calibri"/>
                        </a:rPr>
                        <a:t>1,266</a:t>
                      </a:r>
                    </a:p>
                  </a:txBody>
                  <a:tcPr marL="85725" marR="38100" marT="19050" marB="19050" anchor="ctr">
                    <a:solidFill>
                      <a:srgbClr val="FFFFFF"/>
                    </a:solidFill>
                  </a:tcPr>
                </a:tc>
                <a:tc>
                  <a:txBody>
                    <a:bodyPr wrap="none"/>
                    <a:lstStyle/>
                    <a:p>
                      <a:pPr algn="l"/>
                      <a:r>
                        <a:rPr sz="800" b="0">
                          <a:solidFill>
                            <a:srgbClr val="2E2E2E"/>
                          </a:solidFill>
                          <a:latin typeface="Calibri"/>
                        </a:rPr>
                        <a:t>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Eastern Europe</a:t>
                      </a:r>
                    </a:p>
                  </a:txBody>
                  <a:tcPr marL="85725" marR="38100" marT="19050" marB="19050" anchor="ctr">
                    <a:solidFill>
                      <a:srgbClr val="F5F8FA"/>
                    </a:solidFill>
                  </a:tcPr>
                </a:tc>
                <a:tc>
                  <a:txBody>
                    <a:bodyPr wrap="none"/>
                    <a:lstStyle/>
                    <a:p>
                      <a:pPr algn="l"/>
                      <a:r>
                        <a:rPr sz="800" b="0">
                          <a:solidFill>
                            <a:srgbClr val="2E2E2E"/>
                          </a:solidFill>
                          <a:latin typeface="Calibri"/>
                        </a:rPr>
                        <a:t>147.7</a:t>
                      </a:r>
                    </a:p>
                  </a:txBody>
                  <a:tcPr marL="85725" marR="38100" marT="19050" marB="19050" anchor="ctr">
                    <a:solidFill>
                      <a:srgbClr val="F5F8FA"/>
                    </a:solidFill>
                  </a:tcPr>
                </a:tc>
                <a:tc>
                  <a:txBody>
                    <a:bodyPr wrap="none"/>
                    <a:lstStyle/>
                    <a:p>
                      <a:pPr algn="l"/>
                      <a:r>
                        <a:rPr sz="800" b="0">
                          <a:solidFill>
                            <a:srgbClr val="2E2E2E"/>
                          </a:solidFill>
                          <a:latin typeface="Calibri"/>
                        </a:rPr>
                        <a:t>154.4</a:t>
                      </a:r>
                    </a:p>
                  </a:txBody>
                  <a:tcPr marL="85725" marR="38100" marT="19050" marB="19050" anchor="ctr">
                    <a:solidFill>
                      <a:srgbClr val="F5F8FA"/>
                    </a:solidFill>
                  </a:tcPr>
                </a:tc>
                <a:tc>
                  <a:txBody>
                    <a:bodyPr wrap="none"/>
                    <a:lstStyle/>
                    <a:p>
                      <a:pPr algn="l"/>
                      <a:r>
                        <a:rPr sz="800" b="0">
                          <a:solidFill>
                            <a:srgbClr val="2E2E2E"/>
                          </a:solidFill>
                          <a:latin typeface="Calibri"/>
                        </a:rPr>
                        <a:t>161.8</a:t>
                      </a:r>
                    </a:p>
                  </a:txBody>
                  <a:tcPr marL="85725" marR="38100" marT="19050" marB="19050" anchor="ctr">
                    <a:solidFill>
                      <a:srgbClr val="F5F8FA"/>
                    </a:solidFill>
                  </a:tcPr>
                </a:tc>
                <a:tc>
                  <a:txBody>
                    <a:bodyPr wrap="none"/>
                    <a:lstStyle/>
                    <a:p>
                      <a:pPr algn="l"/>
                      <a:r>
                        <a:rPr sz="800" b="0">
                          <a:solidFill>
                            <a:srgbClr val="2E2E2E"/>
                          </a:solidFill>
                          <a:latin typeface="Calibri"/>
                        </a:rPr>
                        <a:t>170.1</a:t>
                      </a:r>
                    </a:p>
                  </a:txBody>
                  <a:tcPr marL="85725" marR="38100" marT="19050" marB="19050" anchor="ctr">
                    <a:solidFill>
                      <a:srgbClr val="F5F8FA"/>
                    </a:solidFill>
                  </a:tcPr>
                </a:tc>
                <a:tc>
                  <a:txBody>
                    <a:bodyPr wrap="none"/>
                    <a:lstStyle/>
                    <a:p>
                      <a:pPr algn="l"/>
                      <a:r>
                        <a:rPr sz="800" b="0">
                          <a:solidFill>
                            <a:srgbClr val="2E2E2E"/>
                          </a:solidFill>
                          <a:latin typeface="Calibri"/>
                        </a:rPr>
                        <a:t>179.6</a:t>
                      </a:r>
                    </a:p>
                  </a:txBody>
                  <a:tcPr marL="85725" marR="38100" marT="19050" marB="19050" anchor="ctr">
                    <a:solidFill>
                      <a:srgbClr val="F5F8FA"/>
                    </a:solidFill>
                  </a:tcPr>
                </a:tc>
                <a:tc>
                  <a:txBody>
                    <a:bodyPr wrap="none"/>
                    <a:lstStyle/>
                    <a:p>
                      <a:pPr algn="l"/>
                      <a:r>
                        <a:rPr sz="800" b="0">
                          <a:solidFill>
                            <a:srgbClr val="2E2E2E"/>
                          </a:solidFill>
                          <a:latin typeface="Calibri"/>
                        </a:rPr>
                        <a:t>190.1</a:t>
                      </a:r>
                    </a:p>
                  </a:txBody>
                  <a:tcPr marL="85725" marR="38100" marT="19050" marB="19050" anchor="ctr">
                    <a:solidFill>
                      <a:srgbClr val="F5F8FA"/>
                    </a:solidFill>
                  </a:tcPr>
                </a:tc>
                <a:tc>
                  <a:txBody>
                    <a:bodyPr wrap="none"/>
                    <a:lstStyle/>
                    <a:p>
                      <a:pPr algn="l"/>
                      <a:r>
                        <a:rPr sz="800" b="0">
                          <a:solidFill>
                            <a:srgbClr val="2E2E2E"/>
                          </a:solidFill>
                          <a:latin typeface="Calibri"/>
                        </a:rPr>
                        <a:t>202.0</a:t>
                      </a:r>
                    </a:p>
                  </a:txBody>
                  <a:tcPr marL="85725" marR="38100" marT="19050" marB="19050" anchor="ctr">
                    <a:solidFill>
                      <a:srgbClr val="F5F8FA"/>
                    </a:solidFill>
                  </a:tcPr>
                </a:tc>
                <a:tc>
                  <a:txBody>
                    <a:bodyPr wrap="none"/>
                    <a:lstStyle/>
                    <a:p>
                      <a:pPr algn="l"/>
                      <a:r>
                        <a:rPr sz="800" b="0">
                          <a:solidFill>
                            <a:srgbClr val="2E2E2E"/>
                          </a:solidFill>
                          <a:latin typeface="Calibri"/>
                        </a:rPr>
                        <a:t>215.1</a:t>
                      </a:r>
                    </a:p>
                  </a:txBody>
                  <a:tcPr marL="85725" marR="38100" marT="19050" marB="19050" anchor="ctr">
                    <a:solidFill>
                      <a:srgbClr val="F5F8FA"/>
                    </a:solidFill>
                  </a:tcPr>
                </a:tc>
                <a:tc>
                  <a:txBody>
                    <a:bodyPr wrap="none"/>
                    <a:lstStyle/>
                    <a:p>
                      <a:pPr algn="l"/>
                      <a:r>
                        <a:rPr sz="800" b="0">
                          <a:solidFill>
                            <a:srgbClr val="2E2E2E"/>
                          </a:solidFill>
                          <a:latin typeface="Calibri"/>
                        </a:rPr>
                        <a:t>229.4</a:t>
                      </a:r>
                    </a:p>
                  </a:txBody>
                  <a:tcPr marL="85725" marR="38100" marT="19050" marB="19050" anchor="ctr">
                    <a:solidFill>
                      <a:srgbClr val="F5F8FA"/>
                    </a:solidFill>
                  </a:tcPr>
                </a:tc>
                <a:tc>
                  <a:txBody>
                    <a:bodyPr wrap="none"/>
                    <a:lstStyle/>
                    <a:p>
                      <a:pPr algn="l"/>
                      <a:r>
                        <a:rPr sz="800" b="0">
                          <a:solidFill>
                            <a:srgbClr val="2E2E2E"/>
                          </a:solidFill>
                          <a:latin typeface="Calibri"/>
                        </a:rPr>
                        <a:t>244.7</a:t>
                      </a:r>
                    </a:p>
                  </a:txBody>
                  <a:tcPr marL="85725" marR="38100" marT="19050" marB="19050" anchor="ctr">
                    <a:solidFill>
                      <a:srgbClr val="F5F8FA"/>
                    </a:solidFill>
                  </a:tcPr>
                </a:tc>
                <a:tc>
                  <a:txBody>
                    <a:bodyPr wrap="none"/>
                    <a:lstStyle/>
                    <a:p>
                      <a:pPr algn="l"/>
                      <a:r>
                        <a:rPr sz="800" b="0">
                          <a:solidFill>
                            <a:srgbClr val="2E2E2E"/>
                          </a:solidFill>
                          <a:latin typeface="Calibri"/>
                        </a:rPr>
                        <a:t>260.9</a:t>
                      </a:r>
                    </a:p>
                  </a:txBody>
                  <a:tcPr marL="85725" marR="38100" marT="19050" marB="19050" anchor="ctr">
                    <a:solidFill>
                      <a:srgbClr val="F5F8FA"/>
                    </a:solidFill>
                  </a:tcPr>
                </a:tc>
                <a:tc>
                  <a:txBody>
                    <a:bodyPr wrap="none"/>
                    <a:lstStyle/>
                    <a:p>
                      <a:pPr algn="l"/>
                      <a:r>
                        <a:rPr sz="800" b="0">
                          <a:solidFill>
                            <a:srgbClr val="2E2E2E"/>
                          </a:solidFill>
                          <a:latin typeface="Calibri"/>
                        </a:rPr>
                        <a:t>278.0</a:t>
                      </a:r>
                    </a:p>
                  </a:txBody>
                  <a:tcPr marL="85725" marR="38100" marT="19050" marB="19050" anchor="ctr">
                    <a:solidFill>
                      <a:srgbClr val="F5F8FA"/>
                    </a:solidFill>
                  </a:tcPr>
                </a:tc>
                <a:tc>
                  <a:txBody>
                    <a:bodyPr wrap="none"/>
                    <a:lstStyle/>
                    <a:p>
                      <a:pPr algn="l"/>
                      <a:r>
                        <a:rPr sz="800" b="0">
                          <a:solidFill>
                            <a:srgbClr val="2E2E2E"/>
                          </a:solidFill>
                          <a:latin typeface="Calibri"/>
                        </a:rPr>
                        <a:t>296.1</a:t>
                      </a:r>
                    </a:p>
                  </a:txBody>
                  <a:tcPr marL="85725" marR="38100" marT="19050" marB="19050" anchor="ctr">
                    <a:solidFill>
                      <a:srgbClr val="F5F8FA"/>
                    </a:solidFill>
                  </a:tcPr>
                </a:tc>
                <a:tc>
                  <a:txBody>
                    <a:bodyPr wrap="none"/>
                    <a:lstStyle/>
                    <a:p>
                      <a:pPr algn="l"/>
                      <a:r>
                        <a:rPr sz="800" b="0">
                          <a:solidFill>
                            <a:srgbClr val="2E2E2E"/>
                          </a:solidFill>
                          <a:latin typeface="Calibri"/>
                        </a:rPr>
                        <a:t>315.3</a:t>
                      </a:r>
                    </a:p>
                  </a:txBody>
                  <a:tcPr marL="85725" marR="38100" marT="19050" marB="19050" anchor="ctr">
                    <a:solidFill>
                      <a:srgbClr val="F5F8FA"/>
                    </a:solidFill>
                  </a:tcPr>
                </a:tc>
                <a:tc>
                  <a:txBody>
                    <a:bodyPr wrap="none"/>
                    <a:lstStyle/>
                    <a:p>
                      <a:pPr algn="l"/>
                      <a:r>
                        <a:rPr sz="800" b="0">
                          <a:solidFill>
                            <a:srgbClr val="2E2E2E"/>
                          </a:solidFill>
                          <a:latin typeface="Calibri"/>
                        </a:rPr>
                        <a:t>336.0</a:t>
                      </a:r>
                    </a:p>
                  </a:txBody>
                  <a:tcPr marL="85725" marR="38100" marT="19050" marB="19050" anchor="ctr">
                    <a:solidFill>
                      <a:srgbClr val="F5F8FA"/>
                    </a:solidFill>
                  </a:tcPr>
                </a:tc>
                <a:tc>
                  <a:txBody>
                    <a:bodyPr wrap="none"/>
                    <a:lstStyle/>
                    <a:p>
                      <a:pPr algn="l"/>
                      <a:r>
                        <a:rPr sz="800" b="0">
                          <a:solidFill>
                            <a:srgbClr val="2E2E2E"/>
                          </a:solidFill>
                          <a:latin typeface="Calibri"/>
                        </a:rPr>
                        <a:t>357.9</a:t>
                      </a:r>
                    </a:p>
                  </a:txBody>
                  <a:tcPr marL="85725" marR="38100" marT="19050" marB="19050" anchor="ctr">
                    <a:solidFill>
                      <a:srgbClr val="F5F8FA"/>
                    </a:solidFill>
                  </a:tcPr>
                </a:tc>
                <a:tc>
                  <a:txBody>
                    <a:bodyPr wrap="none"/>
                    <a:lstStyle/>
                    <a:p>
                      <a:pPr algn="l"/>
                      <a:r>
                        <a:rPr sz="800" b="0">
                          <a:solidFill>
                            <a:srgbClr val="2E2E2E"/>
                          </a:solidFill>
                          <a:latin typeface="Calibri"/>
                        </a:rPr>
                        <a:t>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East Asia</a:t>
                      </a:r>
                    </a:p>
                  </a:txBody>
                  <a:tcPr marL="85725" marR="38100" marT="19050" marB="19050" anchor="ctr">
                    <a:solidFill>
                      <a:srgbClr val="FFFFFF"/>
                    </a:solidFill>
                  </a:tcPr>
                </a:tc>
                <a:tc>
                  <a:txBody>
                    <a:bodyPr wrap="none"/>
                    <a:lstStyle/>
                    <a:p>
                      <a:pPr algn="l"/>
                      <a:r>
                        <a:rPr sz="800" b="0">
                          <a:solidFill>
                            <a:srgbClr val="2E2E2E"/>
                          </a:solidFill>
                          <a:latin typeface="Calibri"/>
                        </a:rPr>
                        <a:t>352.0</a:t>
                      </a:r>
                    </a:p>
                  </a:txBody>
                  <a:tcPr marL="85725" marR="38100" marT="19050" marB="19050" anchor="ctr">
                    <a:solidFill>
                      <a:srgbClr val="FFFFFF"/>
                    </a:solidFill>
                  </a:tcPr>
                </a:tc>
                <a:tc>
                  <a:txBody>
                    <a:bodyPr wrap="none"/>
                    <a:lstStyle/>
                    <a:p>
                      <a:pPr algn="l"/>
                      <a:r>
                        <a:rPr sz="800" b="0">
                          <a:solidFill>
                            <a:srgbClr val="2E2E2E"/>
                          </a:solidFill>
                          <a:latin typeface="Calibri"/>
                        </a:rPr>
                        <a:t>371.8</a:t>
                      </a:r>
                    </a:p>
                  </a:txBody>
                  <a:tcPr marL="85725" marR="38100" marT="19050" marB="19050" anchor="ctr">
                    <a:solidFill>
                      <a:srgbClr val="FFFFFF"/>
                    </a:solidFill>
                  </a:tcPr>
                </a:tc>
                <a:tc>
                  <a:txBody>
                    <a:bodyPr wrap="none"/>
                    <a:lstStyle/>
                    <a:p>
                      <a:pPr algn="l"/>
                      <a:r>
                        <a:rPr sz="800" b="0">
                          <a:solidFill>
                            <a:srgbClr val="2E2E2E"/>
                          </a:solidFill>
                          <a:latin typeface="Calibri"/>
                        </a:rPr>
                        <a:t>393.6</a:t>
                      </a:r>
                    </a:p>
                  </a:txBody>
                  <a:tcPr marL="85725" marR="38100" marT="19050" marB="19050" anchor="ctr">
                    <a:solidFill>
                      <a:srgbClr val="FFFFFF"/>
                    </a:solidFill>
                  </a:tcPr>
                </a:tc>
                <a:tc>
                  <a:txBody>
                    <a:bodyPr wrap="none"/>
                    <a:lstStyle/>
                    <a:p>
                      <a:pPr algn="l"/>
                      <a:r>
                        <a:rPr sz="800" b="0">
                          <a:solidFill>
                            <a:srgbClr val="2E2E2E"/>
                          </a:solidFill>
                          <a:latin typeface="Calibri"/>
                        </a:rPr>
                        <a:t>418.0</a:t>
                      </a:r>
                    </a:p>
                  </a:txBody>
                  <a:tcPr marL="85725" marR="38100" marT="19050" marB="19050" anchor="ctr">
                    <a:solidFill>
                      <a:srgbClr val="FFFFFF"/>
                    </a:solidFill>
                  </a:tcPr>
                </a:tc>
                <a:tc>
                  <a:txBody>
                    <a:bodyPr wrap="none"/>
                    <a:lstStyle/>
                    <a:p>
                      <a:pPr algn="l"/>
                      <a:r>
                        <a:rPr sz="800" b="0">
                          <a:solidFill>
                            <a:srgbClr val="2E2E2E"/>
                          </a:solidFill>
                          <a:latin typeface="Calibri"/>
                        </a:rPr>
                        <a:t>446.3</a:t>
                      </a:r>
                    </a:p>
                  </a:txBody>
                  <a:tcPr marL="85725" marR="38100" marT="19050" marB="19050" anchor="ctr">
                    <a:solidFill>
                      <a:srgbClr val="FFFFFF"/>
                    </a:solidFill>
                  </a:tcPr>
                </a:tc>
                <a:tc>
                  <a:txBody>
                    <a:bodyPr wrap="none"/>
                    <a:lstStyle/>
                    <a:p>
                      <a:pPr algn="l"/>
                      <a:r>
                        <a:rPr sz="800" b="0">
                          <a:solidFill>
                            <a:srgbClr val="2E2E2E"/>
                          </a:solidFill>
                          <a:latin typeface="Calibri"/>
                        </a:rPr>
                        <a:t>479.4</a:t>
                      </a:r>
                    </a:p>
                  </a:txBody>
                  <a:tcPr marL="85725" marR="38100" marT="19050" marB="19050" anchor="ctr">
                    <a:solidFill>
                      <a:srgbClr val="FFFFFF"/>
                    </a:solidFill>
                  </a:tcPr>
                </a:tc>
                <a:tc>
                  <a:txBody>
                    <a:bodyPr wrap="none"/>
                    <a:lstStyle/>
                    <a:p>
                      <a:pPr algn="l"/>
                      <a:r>
                        <a:rPr sz="800" b="0">
                          <a:solidFill>
                            <a:srgbClr val="2E2E2E"/>
                          </a:solidFill>
                          <a:latin typeface="Calibri"/>
                        </a:rPr>
                        <a:t>517.1</a:t>
                      </a:r>
                    </a:p>
                  </a:txBody>
                  <a:tcPr marL="85725" marR="38100" marT="19050" marB="19050" anchor="ctr">
                    <a:solidFill>
                      <a:srgbClr val="FFFFFF"/>
                    </a:solidFill>
                  </a:tcPr>
                </a:tc>
                <a:tc>
                  <a:txBody>
                    <a:bodyPr wrap="none"/>
                    <a:lstStyle/>
                    <a:p>
                      <a:pPr algn="l"/>
                      <a:r>
                        <a:rPr sz="800" b="0">
                          <a:solidFill>
                            <a:srgbClr val="2E2E2E"/>
                          </a:solidFill>
                          <a:latin typeface="Calibri"/>
                        </a:rPr>
                        <a:t>559.2</a:t>
                      </a:r>
                    </a:p>
                  </a:txBody>
                  <a:tcPr marL="85725" marR="38100" marT="19050" marB="19050" anchor="ctr">
                    <a:solidFill>
                      <a:srgbClr val="FFFFFF"/>
                    </a:solidFill>
                  </a:tcPr>
                </a:tc>
                <a:tc>
                  <a:txBody>
                    <a:bodyPr wrap="none"/>
                    <a:lstStyle/>
                    <a:p>
                      <a:pPr algn="l"/>
                      <a:r>
                        <a:rPr sz="800" b="0">
                          <a:solidFill>
                            <a:srgbClr val="2E2E2E"/>
                          </a:solidFill>
                          <a:latin typeface="Calibri"/>
                        </a:rPr>
                        <a:t>604.8</a:t>
                      </a:r>
                    </a:p>
                  </a:txBody>
                  <a:tcPr marL="85725" marR="38100" marT="19050" marB="19050" anchor="ctr">
                    <a:solidFill>
                      <a:srgbClr val="FFFFFF"/>
                    </a:solidFill>
                  </a:tcPr>
                </a:tc>
                <a:tc>
                  <a:txBody>
                    <a:bodyPr wrap="none"/>
                    <a:lstStyle/>
                    <a:p>
                      <a:pPr algn="l"/>
                      <a:r>
                        <a:rPr sz="800" b="0">
                          <a:solidFill>
                            <a:srgbClr val="2E2E2E"/>
                          </a:solidFill>
                          <a:latin typeface="Calibri"/>
                        </a:rPr>
                        <a:t>652.9</a:t>
                      </a:r>
                    </a:p>
                  </a:txBody>
                  <a:tcPr marL="85725" marR="38100" marT="19050" marB="19050" anchor="ctr">
                    <a:solidFill>
                      <a:srgbClr val="FFFFFF"/>
                    </a:solidFill>
                  </a:tcPr>
                </a:tc>
                <a:tc>
                  <a:txBody>
                    <a:bodyPr wrap="none"/>
                    <a:lstStyle/>
                    <a:p>
                      <a:pPr algn="l"/>
                      <a:r>
                        <a:rPr sz="800" b="0">
                          <a:solidFill>
                            <a:srgbClr val="2E2E2E"/>
                          </a:solidFill>
                          <a:latin typeface="Calibri"/>
                        </a:rPr>
                        <a:t>702.5</a:t>
                      </a:r>
                    </a:p>
                  </a:txBody>
                  <a:tcPr marL="85725" marR="38100" marT="19050" marB="19050" anchor="ctr">
                    <a:solidFill>
                      <a:srgbClr val="FFFFFF"/>
                    </a:solidFill>
                  </a:tcPr>
                </a:tc>
                <a:tc>
                  <a:txBody>
                    <a:bodyPr wrap="none"/>
                    <a:lstStyle/>
                    <a:p>
                      <a:pPr algn="l"/>
                      <a:r>
                        <a:rPr sz="800" b="0">
                          <a:solidFill>
                            <a:srgbClr val="2E2E2E"/>
                          </a:solidFill>
                          <a:latin typeface="Calibri"/>
                        </a:rPr>
                        <a:t>754.8</a:t>
                      </a:r>
                    </a:p>
                  </a:txBody>
                  <a:tcPr marL="85725" marR="38100" marT="19050" marB="19050" anchor="ctr">
                    <a:solidFill>
                      <a:srgbClr val="FFFFFF"/>
                    </a:solidFill>
                  </a:tcPr>
                </a:tc>
                <a:tc>
                  <a:txBody>
                    <a:bodyPr wrap="none"/>
                    <a:lstStyle/>
                    <a:p>
                      <a:pPr algn="l"/>
                      <a:r>
                        <a:rPr sz="800" b="0">
                          <a:solidFill>
                            <a:srgbClr val="2E2E2E"/>
                          </a:solidFill>
                          <a:latin typeface="Calibri"/>
                        </a:rPr>
                        <a:t>810.1</a:t>
                      </a:r>
                    </a:p>
                  </a:txBody>
                  <a:tcPr marL="85725" marR="38100" marT="19050" marB="19050" anchor="ctr">
                    <a:solidFill>
                      <a:srgbClr val="FFFFFF"/>
                    </a:solidFill>
                  </a:tcPr>
                </a:tc>
                <a:tc>
                  <a:txBody>
                    <a:bodyPr wrap="none"/>
                    <a:lstStyle/>
                    <a:p>
                      <a:pPr algn="l"/>
                      <a:r>
                        <a:rPr sz="800" b="0">
                          <a:solidFill>
                            <a:srgbClr val="2E2E2E"/>
                          </a:solidFill>
                          <a:latin typeface="Calibri"/>
                        </a:rPr>
                        <a:t>869.8</a:t>
                      </a:r>
                    </a:p>
                  </a:txBody>
                  <a:tcPr marL="85725" marR="38100" marT="19050" marB="19050" anchor="ctr">
                    <a:solidFill>
                      <a:srgbClr val="FFFFFF"/>
                    </a:solidFill>
                  </a:tcPr>
                </a:tc>
                <a:tc>
                  <a:txBody>
                    <a:bodyPr wrap="none"/>
                    <a:lstStyle/>
                    <a:p>
                      <a:pPr algn="l"/>
                      <a:r>
                        <a:rPr sz="800" b="0">
                          <a:solidFill>
                            <a:srgbClr val="2E2E2E"/>
                          </a:solidFill>
                          <a:latin typeface="Calibri"/>
                        </a:rPr>
                        <a:t>933.8</a:t>
                      </a:r>
                    </a:p>
                  </a:txBody>
                  <a:tcPr marL="85725" marR="38100" marT="19050" marB="19050" anchor="ctr">
                    <a:solidFill>
                      <a:srgbClr val="FFFFFF"/>
                    </a:solidFill>
                  </a:tcPr>
                </a:tc>
                <a:tc>
                  <a:txBody>
                    <a:bodyPr wrap="none"/>
                    <a:lstStyle/>
                    <a:p>
                      <a:pPr algn="l"/>
                      <a:r>
                        <a:rPr sz="800" b="0">
                          <a:solidFill>
                            <a:srgbClr val="2E2E2E"/>
                          </a:solidFill>
                          <a:latin typeface="Calibri"/>
                        </a:rPr>
                        <a:t>1,002</a:t>
                      </a:r>
                    </a:p>
                  </a:txBody>
                  <a:tcPr marL="85725" marR="38100" marT="19050" marB="19050" anchor="ctr">
                    <a:solidFill>
                      <a:srgbClr val="FFFFFF"/>
                    </a:solidFill>
                  </a:tcPr>
                </a:tc>
                <a:tc>
                  <a:txBody>
                    <a:bodyPr wrap="none"/>
                    <a:lstStyle/>
                    <a:p>
                      <a:pPr algn="l"/>
                      <a:r>
                        <a:rPr sz="8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800" b="0">
                          <a:solidFill>
                            <a:srgbClr val="2E2E2E"/>
                          </a:solidFill>
                          <a:latin typeface="Calibri"/>
                        </a:rPr>
                        <a:t>174.2</a:t>
                      </a:r>
                    </a:p>
                  </a:txBody>
                  <a:tcPr marL="85725" marR="38100" marT="19050" marB="19050" anchor="ctr">
                    <a:solidFill>
                      <a:srgbClr val="F5F8FA"/>
                    </a:solidFill>
                  </a:tcPr>
                </a:tc>
                <a:tc>
                  <a:txBody>
                    <a:bodyPr wrap="none"/>
                    <a:lstStyle/>
                    <a:p>
                      <a:pPr algn="l"/>
                      <a:r>
                        <a:rPr sz="800" b="0">
                          <a:solidFill>
                            <a:srgbClr val="2E2E2E"/>
                          </a:solidFill>
                          <a:latin typeface="Calibri"/>
                        </a:rPr>
                        <a:t>182.7</a:t>
                      </a:r>
                    </a:p>
                  </a:txBody>
                  <a:tcPr marL="85725" marR="38100" marT="19050" marB="19050" anchor="ctr">
                    <a:solidFill>
                      <a:srgbClr val="F5F8FA"/>
                    </a:solidFill>
                  </a:tcPr>
                </a:tc>
                <a:tc>
                  <a:txBody>
                    <a:bodyPr wrap="none"/>
                    <a:lstStyle/>
                    <a:p>
                      <a:pPr algn="l"/>
                      <a:r>
                        <a:rPr sz="800" b="0">
                          <a:solidFill>
                            <a:srgbClr val="2E2E2E"/>
                          </a:solidFill>
                          <a:latin typeface="Calibri"/>
                        </a:rPr>
                        <a:t>191.9</a:t>
                      </a:r>
                    </a:p>
                  </a:txBody>
                  <a:tcPr marL="85725" marR="38100" marT="19050" marB="19050" anchor="ctr">
                    <a:solidFill>
                      <a:srgbClr val="F5F8FA"/>
                    </a:solidFill>
                  </a:tcPr>
                </a:tc>
                <a:tc>
                  <a:txBody>
                    <a:bodyPr wrap="none"/>
                    <a:lstStyle/>
                    <a:p>
                      <a:pPr algn="l"/>
                      <a:r>
                        <a:rPr sz="800" b="0">
                          <a:solidFill>
                            <a:srgbClr val="2E2E2E"/>
                          </a:solidFill>
                          <a:latin typeface="Calibri"/>
                        </a:rPr>
                        <a:t>202.0</a:t>
                      </a:r>
                    </a:p>
                  </a:txBody>
                  <a:tcPr marL="85725" marR="38100" marT="19050" marB="19050" anchor="ctr">
                    <a:solidFill>
                      <a:srgbClr val="F5F8FA"/>
                    </a:solidFill>
                  </a:tcPr>
                </a:tc>
                <a:tc>
                  <a:txBody>
                    <a:bodyPr wrap="none"/>
                    <a:lstStyle/>
                    <a:p>
                      <a:pPr algn="l"/>
                      <a:r>
                        <a:rPr sz="800" b="0">
                          <a:solidFill>
                            <a:srgbClr val="2E2E2E"/>
                          </a:solidFill>
                          <a:latin typeface="Calibri"/>
                        </a:rPr>
                        <a:t>213.9</a:t>
                      </a:r>
                    </a:p>
                  </a:txBody>
                  <a:tcPr marL="85725" marR="38100" marT="19050" marB="19050" anchor="ctr">
                    <a:solidFill>
                      <a:srgbClr val="F5F8FA"/>
                    </a:solidFill>
                  </a:tcPr>
                </a:tc>
                <a:tc>
                  <a:txBody>
                    <a:bodyPr wrap="none"/>
                    <a:lstStyle/>
                    <a:p>
                      <a:pPr algn="l"/>
                      <a:r>
                        <a:rPr sz="800" b="0">
                          <a:solidFill>
                            <a:srgbClr val="2E2E2E"/>
                          </a:solidFill>
                          <a:latin typeface="Calibri"/>
                        </a:rPr>
                        <a:t>227.9</a:t>
                      </a:r>
                    </a:p>
                  </a:txBody>
                  <a:tcPr marL="85725" marR="38100" marT="19050" marB="19050" anchor="ctr">
                    <a:solidFill>
                      <a:srgbClr val="F5F8FA"/>
                    </a:solidFill>
                  </a:tcPr>
                </a:tc>
                <a:tc>
                  <a:txBody>
                    <a:bodyPr wrap="none"/>
                    <a:lstStyle/>
                    <a:p>
                      <a:pPr algn="l"/>
                      <a:r>
                        <a:rPr sz="800" b="0">
                          <a:solidFill>
                            <a:srgbClr val="2E2E2E"/>
                          </a:solidFill>
                          <a:latin typeface="Calibri"/>
                        </a:rPr>
                        <a:t>244.2</a:t>
                      </a:r>
                    </a:p>
                  </a:txBody>
                  <a:tcPr marL="85725" marR="38100" marT="19050" marB="19050" anchor="ctr">
                    <a:solidFill>
                      <a:srgbClr val="F5F8FA"/>
                    </a:solidFill>
                  </a:tcPr>
                </a:tc>
                <a:tc>
                  <a:txBody>
                    <a:bodyPr wrap="none"/>
                    <a:lstStyle/>
                    <a:p>
                      <a:pPr algn="l"/>
                      <a:r>
                        <a:rPr sz="800" b="0">
                          <a:solidFill>
                            <a:srgbClr val="2E2E2E"/>
                          </a:solidFill>
                          <a:latin typeface="Calibri"/>
                        </a:rPr>
                        <a:t>263.2</a:t>
                      </a:r>
                    </a:p>
                  </a:txBody>
                  <a:tcPr marL="85725" marR="38100" marT="19050" marB="19050" anchor="ctr">
                    <a:solidFill>
                      <a:srgbClr val="F5F8FA"/>
                    </a:solidFill>
                  </a:tcPr>
                </a:tc>
                <a:tc>
                  <a:txBody>
                    <a:bodyPr wrap="none"/>
                    <a:lstStyle/>
                    <a:p>
                      <a:pPr algn="l"/>
                      <a:r>
                        <a:rPr sz="800" b="0">
                          <a:solidFill>
                            <a:srgbClr val="2E2E2E"/>
                          </a:solidFill>
                          <a:latin typeface="Calibri"/>
                        </a:rPr>
                        <a:t>284.6</a:t>
                      </a:r>
                    </a:p>
                  </a:txBody>
                  <a:tcPr marL="85725" marR="38100" marT="19050" marB="19050" anchor="ctr">
                    <a:solidFill>
                      <a:srgbClr val="F5F8FA"/>
                    </a:solidFill>
                  </a:tcPr>
                </a:tc>
                <a:tc>
                  <a:txBody>
                    <a:bodyPr wrap="none"/>
                    <a:lstStyle/>
                    <a:p>
                      <a:pPr algn="l"/>
                      <a:r>
                        <a:rPr sz="800" b="0">
                          <a:solidFill>
                            <a:srgbClr val="2E2E2E"/>
                          </a:solidFill>
                          <a:latin typeface="Calibri"/>
                        </a:rPr>
                        <a:t>307.9</a:t>
                      </a:r>
                    </a:p>
                  </a:txBody>
                  <a:tcPr marL="85725" marR="38100" marT="19050" marB="19050" anchor="ctr">
                    <a:solidFill>
                      <a:srgbClr val="F5F8FA"/>
                    </a:solidFill>
                  </a:tcPr>
                </a:tc>
                <a:tc>
                  <a:txBody>
                    <a:bodyPr wrap="none"/>
                    <a:lstStyle/>
                    <a:p>
                      <a:pPr algn="l"/>
                      <a:r>
                        <a:rPr sz="800" b="0">
                          <a:solidFill>
                            <a:srgbClr val="2E2E2E"/>
                          </a:solidFill>
                          <a:latin typeface="Calibri"/>
                        </a:rPr>
                        <a:t>332.5</a:t>
                      </a:r>
                    </a:p>
                  </a:txBody>
                  <a:tcPr marL="85725" marR="38100" marT="19050" marB="19050" anchor="ctr">
                    <a:solidFill>
                      <a:srgbClr val="F5F8FA"/>
                    </a:solidFill>
                  </a:tcPr>
                </a:tc>
                <a:tc>
                  <a:txBody>
                    <a:bodyPr wrap="none"/>
                    <a:lstStyle/>
                    <a:p>
                      <a:pPr algn="l"/>
                      <a:r>
                        <a:rPr sz="800" b="0">
                          <a:solidFill>
                            <a:srgbClr val="2E2E2E"/>
                          </a:solidFill>
                          <a:latin typeface="Calibri"/>
                        </a:rPr>
                        <a:t>358.4</a:t>
                      </a:r>
                    </a:p>
                  </a:txBody>
                  <a:tcPr marL="85725" marR="38100" marT="19050" marB="19050" anchor="ctr">
                    <a:solidFill>
                      <a:srgbClr val="F5F8FA"/>
                    </a:solidFill>
                  </a:tcPr>
                </a:tc>
                <a:tc>
                  <a:txBody>
                    <a:bodyPr wrap="none"/>
                    <a:lstStyle/>
                    <a:p>
                      <a:pPr algn="l"/>
                      <a:r>
                        <a:rPr sz="800" b="0">
                          <a:solidFill>
                            <a:srgbClr val="2E2E2E"/>
                          </a:solidFill>
                          <a:latin typeface="Calibri"/>
                        </a:rPr>
                        <a:t>385.2</a:t>
                      </a:r>
                    </a:p>
                  </a:txBody>
                  <a:tcPr marL="85725" marR="38100" marT="19050" marB="19050" anchor="ctr">
                    <a:solidFill>
                      <a:srgbClr val="F5F8FA"/>
                    </a:solidFill>
                  </a:tcPr>
                </a:tc>
                <a:tc>
                  <a:txBody>
                    <a:bodyPr wrap="none"/>
                    <a:lstStyle/>
                    <a:p>
                      <a:pPr algn="l"/>
                      <a:r>
                        <a:rPr sz="800" b="0">
                          <a:solidFill>
                            <a:srgbClr val="2E2E2E"/>
                          </a:solidFill>
                          <a:latin typeface="Calibri"/>
                        </a:rPr>
                        <a:t>413.5</a:t>
                      </a:r>
                    </a:p>
                  </a:txBody>
                  <a:tcPr marL="85725" marR="38100" marT="19050" marB="19050" anchor="ctr">
                    <a:solidFill>
                      <a:srgbClr val="F5F8FA"/>
                    </a:solidFill>
                  </a:tcPr>
                </a:tc>
                <a:tc>
                  <a:txBody>
                    <a:bodyPr wrap="none"/>
                    <a:lstStyle/>
                    <a:p>
                      <a:pPr algn="l"/>
                      <a:r>
                        <a:rPr sz="800" b="0">
                          <a:solidFill>
                            <a:srgbClr val="2E2E2E"/>
                          </a:solidFill>
                          <a:latin typeface="Calibri"/>
                        </a:rPr>
                        <a:t>443.6</a:t>
                      </a:r>
                    </a:p>
                  </a:txBody>
                  <a:tcPr marL="85725" marR="38100" marT="19050" marB="19050" anchor="ctr">
                    <a:solidFill>
                      <a:srgbClr val="F5F8FA"/>
                    </a:solidFill>
                  </a:tcPr>
                </a:tc>
                <a:tc>
                  <a:txBody>
                    <a:bodyPr wrap="none"/>
                    <a:lstStyle/>
                    <a:p>
                      <a:pPr algn="l"/>
                      <a:r>
                        <a:rPr sz="800" b="0">
                          <a:solidFill>
                            <a:srgbClr val="2E2E2E"/>
                          </a:solidFill>
                          <a:latin typeface="Calibri"/>
                        </a:rPr>
                        <a:t>475.2</a:t>
                      </a:r>
                    </a:p>
                  </a:txBody>
                  <a:tcPr marL="85725" marR="38100" marT="19050" marB="19050" anchor="ctr">
                    <a:solidFill>
                      <a:srgbClr val="F5F8FA"/>
                    </a:solidFill>
                  </a:tcPr>
                </a:tc>
                <a:tc>
                  <a:txBody>
                    <a:bodyPr wrap="none"/>
                    <a:lstStyle/>
                    <a:p>
                      <a:pPr algn="l"/>
                      <a:r>
                        <a:rPr sz="800" b="0">
                          <a:solidFill>
                            <a:srgbClr val="2E2E2E"/>
                          </a:solidFill>
                          <a:latin typeface="Calibri"/>
                        </a:rPr>
                        <a:t>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800" b="0">
                          <a:solidFill>
                            <a:srgbClr val="2E2E2E"/>
                          </a:solidFill>
                          <a:latin typeface="Calibri"/>
                        </a:rPr>
                        <a:t>99.7</a:t>
                      </a:r>
                    </a:p>
                  </a:txBody>
                  <a:tcPr marL="85725" marR="38100" marT="19050" marB="19050" anchor="ctr">
                    <a:solidFill>
                      <a:srgbClr val="FFFFFF"/>
                    </a:solidFill>
                  </a:tcPr>
                </a:tc>
                <a:tc>
                  <a:txBody>
                    <a:bodyPr wrap="none"/>
                    <a:lstStyle/>
                    <a:p>
                      <a:pPr algn="l"/>
                      <a:r>
                        <a:rPr sz="800" b="0">
                          <a:solidFill>
                            <a:srgbClr val="2E2E2E"/>
                          </a:solidFill>
                          <a:latin typeface="Calibri"/>
                        </a:rPr>
                        <a:t>103.8</a:t>
                      </a:r>
                    </a:p>
                  </a:txBody>
                  <a:tcPr marL="85725" marR="38100" marT="19050" marB="19050" anchor="ctr">
                    <a:solidFill>
                      <a:srgbClr val="FFFFFF"/>
                    </a:solidFill>
                  </a:tcPr>
                </a:tc>
                <a:tc>
                  <a:txBody>
                    <a:bodyPr wrap="none"/>
                    <a:lstStyle/>
                    <a:p>
                      <a:pPr algn="l"/>
                      <a:r>
                        <a:rPr sz="800" b="0">
                          <a:solidFill>
                            <a:srgbClr val="2E2E2E"/>
                          </a:solidFill>
                          <a:latin typeface="Calibri"/>
                        </a:rPr>
                        <a:t>108.2</a:t>
                      </a:r>
                    </a:p>
                  </a:txBody>
                  <a:tcPr marL="85725" marR="38100" marT="19050" marB="19050" anchor="ctr">
                    <a:solidFill>
                      <a:srgbClr val="FFFFFF"/>
                    </a:solidFill>
                  </a:tcPr>
                </a:tc>
                <a:tc>
                  <a:txBody>
                    <a:bodyPr wrap="none"/>
                    <a:lstStyle/>
                    <a:p>
                      <a:pPr algn="l"/>
                      <a:r>
                        <a:rPr sz="800" b="0">
                          <a:solidFill>
                            <a:srgbClr val="2E2E2E"/>
                          </a:solidFill>
                          <a:latin typeface="Calibri"/>
                        </a:rPr>
                        <a:t>113.1</a:t>
                      </a:r>
                    </a:p>
                  </a:txBody>
                  <a:tcPr marL="85725" marR="38100" marT="19050" marB="19050" anchor="ctr">
                    <a:solidFill>
                      <a:srgbClr val="FFFFFF"/>
                    </a:solidFill>
                  </a:tcPr>
                </a:tc>
                <a:tc>
                  <a:txBody>
                    <a:bodyPr wrap="none"/>
                    <a:lstStyle/>
                    <a:p>
                      <a:pPr algn="l"/>
                      <a:r>
                        <a:rPr sz="800" b="0">
                          <a:solidFill>
                            <a:srgbClr val="2E2E2E"/>
                          </a:solidFill>
                          <a:latin typeface="Calibri"/>
                        </a:rPr>
                        <a:t>118.8</a:t>
                      </a:r>
                    </a:p>
                  </a:txBody>
                  <a:tcPr marL="85725" marR="38100" marT="19050" marB="19050" anchor="ctr">
                    <a:solidFill>
                      <a:srgbClr val="FFFFFF"/>
                    </a:solidFill>
                  </a:tcPr>
                </a:tc>
                <a:tc>
                  <a:txBody>
                    <a:bodyPr wrap="none"/>
                    <a:lstStyle/>
                    <a:p>
                      <a:pPr algn="l"/>
                      <a:r>
                        <a:rPr sz="800" b="0">
                          <a:solidFill>
                            <a:srgbClr val="2E2E2E"/>
                          </a:solidFill>
                          <a:latin typeface="Calibri"/>
                        </a:rPr>
                        <a:t>125.7</a:t>
                      </a:r>
                    </a:p>
                  </a:txBody>
                  <a:tcPr marL="85725" marR="38100" marT="19050" marB="19050" anchor="ctr">
                    <a:solidFill>
                      <a:srgbClr val="FFFFFF"/>
                    </a:solidFill>
                  </a:tcPr>
                </a:tc>
                <a:tc>
                  <a:txBody>
                    <a:bodyPr wrap="none"/>
                    <a:lstStyle/>
                    <a:p>
                      <a:pPr algn="l"/>
                      <a:r>
                        <a:rPr sz="800" b="0">
                          <a:solidFill>
                            <a:srgbClr val="2E2E2E"/>
                          </a:solidFill>
                          <a:latin typeface="Calibri"/>
                        </a:rPr>
                        <a:t>133.8</a:t>
                      </a:r>
                    </a:p>
                  </a:txBody>
                  <a:tcPr marL="85725" marR="38100" marT="19050" marB="19050" anchor="ctr">
                    <a:solidFill>
                      <a:srgbClr val="FFFFFF"/>
                    </a:solidFill>
                  </a:tcPr>
                </a:tc>
                <a:tc>
                  <a:txBody>
                    <a:bodyPr wrap="none"/>
                    <a:lstStyle/>
                    <a:p>
                      <a:pPr algn="l"/>
                      <a:r>
                        <a:rPr sz="800" b="0">
                          <a:solidFill>
                            <a:srgbClr val="2E2E2E"/>
                          </a:solidFill>
                          <a:latin typeface="Calibri"/>
                        </a:rPr>
                        <a:t>143.0</a:t>
                      </a:r>
                    </a:p>
                  </a:txBody>
                  <a:tcPr marL="85725" marR="38100" marT="19050" marB="19050" anchor="ctr">
                    <a:solidFill>
                      <a:srgbClr val="FFFFFF"/>
                    </a:solidFill>
                  </a:tcPr>
                </a:tc>
                <a:tc>
                  <a:txBody>
                    <a:bodyPr wrap="none"/>
                    <a:lstStyle/>
                    <a:p>
                      <a:pPr algn="l"/>
                      <a:r>
                        <a:rPr sz="800" b="0">
                          <a:solidFill>
                            <a:srgbClr val="2E2E2E"/>
                          </a:solidFill>
                          <a:latin typeface="Calibri"/>
                        </a:rPr>
                        <a:t>153.4</a:t>
                      </a:r>
                    </a:p>
                  </a:txBody>
                  <a:tcPr marL="85725" marR="38100" marT="19050" marB="19050" anchor="ctr">
                    <a:solidFill>
                      <a:srgbClr val="FFFFFF"/>
                    </a:solidFill>
                  </a:tcPr>
                </a:tc>
                <a:tc>
                  <a:txBody>
                    <a:bodyPr wrap="none"/>
                    <a:lstStyle/>
                    <a:p>
                      <a:pPr algn="l"/>
                      <a:r>
                        <a:rPr sz="800" b="0">
                          <a:solidFill>
                            <a:srgbClr val="2E2E2E"/>
                          </a:solidFill>
                          <a:latin typeface="Calibri"/>
                        </a:rPr>
                        <a:t>164.6</a:t>
                      </a:r>
                    </a:p>
                  </a:txBody>
                  <a:tcPr marL="85725" marR="38100" marT="19050" marB="19050" anchor="ctr">
                    <a:solidFill>
                      <a:srgbClr val="FFFFFF"/>
                    </a:solidFill>
                  </a:tcPr>
                </a:tc>
                <a:tc>
                  <a:txBody>
                    <a:bodyPr wrap="none"/>
                    <a:lstStyle/>
                    <a:p>
                      <a:pPr algn="l"/>
                      <a:r>
                        <a:rPr sz="800" b="0">
                          <a:solidFill>
                            <a:srgbClr val="2E2E2E"/>
                          </a:solidFill>
                          <a:latin typeface="Calibri"/>
                        </a:rPr>
                        <a:t>176.2</a:t>
                      </a:r>
                    </a:p>
                  </a:txBody>
                  <a:tcPr marL="85725" marR="38100" marT="19050" marB="19050" anchor="ctr">
                    <a:solidFill>
                      <a:srgbClr val="FFFFFF"/>
                    </a:solidFill>
                  </a:tcPr>
                </a:tc>
                <a:tc>
                  <a:txBody>
                    <a:bodyPr wrap="none"/>
                    <a:lstStyle/>
                    <a:p>
                      <a:pPr algn="l"/>
                      <a:r>
                        <a:rPr sz="800" b="0">
                          <a:solidFill>
                            <a:srgbClr val="2E2E2E"/>
                          </a:solidFill>
                          <a:latin typeface="Calibri"/>
                        </a:rPr>
                        <a:t>188.4</a:t>
                      </a:r>
                    </a:p>
                  </a:txBody>
                  <a:tcPr marL="85725" marR="38100" marT="19050" marB="19050" anchor="ctr">
                    <a:solidFill>
                      <a:srgbClr val="FFFFFF"/>
                    </a:solidFill>
                  </a:tcPr>
                </a:tc>
                <a:tc>
                  <a:txBody>
                    <a:bodyPr wrap="none"/>
                    <a:lstStyle/>
                    <a:p>
                      <a:pPr algn="l"/>
                      <a:r>
                        <a:rPr sz="800" b="0">
                          <a:solidFill>
                            <a:srgbClr val="2E2E2E"/>
                          </a:solidFill>
                          <a:latin typeface="Calibri"/>
                        </a:rPr>
                        <a:t>200.9</a:t>
                      </a:r>
                    </a:p>
                  </a:txBody>
                  <a:tcPr marL="85725" marR="38100" marT="19050" marB="19050" anchor="ctr">
                    <a:solidFill>
                      <a:srgbClr val="FFFFFF"/>
                    </a:solidFill>
                  </a:tcPr>
                </a:tc>
                <a:tc>
                  <a:txBody>
                    <a:bodyPr wrap="none"/>
                    <a:lstStyle/>
                    <a:p>
                      <a:pPr algn="l"/>
                      <a:r>
                        <a:rPr sz="800" b="0">
                          <a:solidFill>
                            <a:srgbClr val="2E2E2E"/>
                          </a:solidFill>
                          <a:latin typeface="Calibri"/>
                        </a:rPr>
                        <a:t>214.1</a:t>
                      </a:r>
                    </a:p>
                  </a:txBody>
                  <a:tcPr marL="85725" marR="38100" marT="19050" marB="19050" anchor="ctr">
                    <a:solidFill>
                      <a:srgbClr val="FFFFFF"/>
                    </a:solidFill>
                  </a:tcPr>
                </a:tc>
                <a:tc>
                  <a:txBody>
                    <a:bodyPr wrap="none"/>
                    <a:lstStyle/>
                    <a:p>
                      <a:pPr algn="l"/>
                      <a:r>
                        <a:rPr sz="800" b="0">
                          <a:solidFill>
                            <a:srgbClr val="2E2E2E"/>
                          </a:solidFill>
                          <a:latin typeface="Calibri"/>
                        </a:rPr>
                        <a:t>227.9</a:t>
                      </a:r>
                    </a:p>
                  </a:txBody>
                  <a:tcPr marL="85725" marR="38100" marT="19050" marB="19050" anchor="ctr">
                    <a:solidFill>
                      <a:srgbClr val="FFFFFF"/>
                    </a:solidFill>
                  </a:tcPr>
                </a:tc>
                <a:tc>
                  <a:txBody>
                    <a:bodyPr wrap="none"/>
                    <a:lstStyle/>
                    <a:p>
                      <a:pPr algn="l"/>
                      <a:r>
                        <a:rPr sz="800" b="0">
                          <a:solidFill>
                            <a:srgbClr val="2E2E2E"/>
                          </a:solidFill>
                          <a:latin typeface="Calibri"/>
                        </a:rPr>
                        <a:t>242.4</a:t>
                      </a:r>
                    </a:p>
                  </a:txBody>
                  <a:tcPr marL="85725" marR="38100" marT="19050" marB="19050" anchor="ctr">
                    <a:solidFill>
                      <a:srgbClr val="FFFFFF"/>
                    </a:solidFill>
                  </a:tcPr>
                </a:tc>
                <a:tc>
                  <a:txBody>
                    <a:bodyPr wrap="none"/>
                    <a:lstStyle/>
                    <a:p>
                      <a:pPr algn="l"/>
                      <a:r>
                        <a:rPr sz="8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41624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438650"/>
            <a:ext cx="11906250" cy="2286000"/>
          </a:xfrm>
          <a:prstGeom prst="roundRect">
            <a:avLst>
              <a:gd name="adj" fmla="val 3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5243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Share Read-out, By Region</a:t>
            </a:r>
          </a:p>
        </p:txBody>
      </p:sp>
      <p:sp>
        <p:nvSpPr>
          <p:cNvPr id="18" name="Rectangle 17"/>
          <p:cNvSpPr/>
          <p:nvPr/>
        </p:nvSpPr>
        <p:spPr>
          <a:xfrm>
            <a:off x="276225" y="47625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848225"/>
            <a:ext cx="11639550" cy="18002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is the largest region 32.3% of 2036 volume (1,796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grows fastest at 7.7%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'East Asia' (+102 BPS) and away from 'Western Europe' (-91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7 regions.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Share Analysis, By Region Value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and share by region, 2021–2036, highlighting the geographies gaining and ceding ground</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448050"/>
          </a:xfrm>
          <a:prstGeom prst="roundRect">
            <a:avLst>
              <a:gd name="adj" fmla="val 22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Size, By Region (US$ Mn)</a:t>
            </a:r>
          </a:p>
        </p:txBody>
      </p:sp>
      <p:graphicFrame>
        <p:nvGraphicFramePr>
          <p:cNvPr id="14" name="Table 13"/>
          <p:cNvGraphicFramePr>
            <a:graphicFrameLocks noGrp="1"/>
          </p:cNvGraphicFramePr>
          <p:nvPr/>
        </p:nvGraphicFramePr>
        <p:xfrm>
          <a:off x="238125" y="1143000"/>
          <a:ext cx="11715752" cy="1628775"/>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Region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North America</a:t>
                      </a:r>
                    </a:p>
                  </a:txBody>
                  <a:tcPr marL="85725" marR="38100" marT="19050" marB="19050" anchor="ctr">
                    <a:solidFill>
                      <a:srgbClr val="FFFFFF"/>
                    </a:solidFill>
                  </a:tcPr>
                </a:tc>
                <a:tc>
                  <a:txBody>
                    <a:bodyPr wrap="none"/>
                    <a:lstStyle/>
                    <a:p>
                      <a:pPr algn="l"/>
                      <a:r>
                        <a:rPr sz="800" b="0">
                          <a:solidFill>
                            <a:srgbClr val="2E2E2E"/>
                          </a:solidFill>
                          <a:latin typeface="Calibri"/>
                        </a:rPr>
                        <a:t>552.3</a:t>
                      </a:r>
                    </a:p>
                  </a:txBody>
                  <a:tcPr marL="85725" marR="38100" marT="19050" marB="19050" anchor="ctr">
                    <a:solidFill>
                      <a:srgbClr val="FFFFFF"/>
                    </a:solidFill>
                  </a:tcPr>
                </a:tc>
                <a:tc>
                  <a:txBody>
                    <a:bodyPr wrap="none"/>
                    <a:lstStyle/>
                    <a:p>
                      <a:pPr algn="l"/>
                      <a:r>
                        <a:rPr sz="800" b="0">
                          <a:solidFill>
                            <a:srgbClr val="2E2E2E"/>
                          </a:solidFill>
                          <a:latin typeface="Calibri"/>
                        </a:rPr>
                        <a:t>581.9</a:t>
                      </a:r>
                    </a:p>
                  </a:txBody>
                  <a:tcPr marL="85725" marR="38100" marT="19050" marB="19050" anchor="ctr">
                    <a:solidFill>
                      <a:srgbClr val="FFFFFF"/>
                    </a:solidFill>
                  </a:tcPr>
                </a:tc>
                <a:tc>
                  <a:txBody>
                    <a:bodyPr wrap="none"/>
                    <a:lstStyle/>
                    <a:p>
                      <a:pPr algn="l"/>
                      <a:r>
                        <a:rPr sz="800" b="0">
                          <a:solidFill>
                            <a:srgbClr val="2E2E2E"/>
                          </a:solidFill>
                          <a:latin typeface="Calibri"/>
                        </a:rPr>
                        <a:t>615.1</a:t>
                      </a:r>
                    </a:p>
                  </a:txBody>
                  <a:tcPr marL="85725" marR="38100" marT="19050" marB="19050" anchor="ctr">
                    <a:solidFill>
                      <a:srgbClr val="FFFFFF"/>
                    </a:solidFill>
                  </a:tcPr>
                </a:tc>
                <a:tc>
                  <a:txBody>
                    <a:bodyPr wrap="none"/>
                    <a:lstStyle/>
                    <a:p>
                      <a:pPr algn="l"/>
                      <a:r>
                        <a:rPr sz="800" b="0">
                          <a:solidFill>
                            <a:srgbClr val="2E2E2E"/>
                          </a:solidFill>
                          <a:latin typeface="Calibri"/>
                        </a:rPr>
                        <a:t>654.5</a:t>
                      </a:r>
                    </a:p>
                  </a:txBody>
                  <a:tcPr marL="85725" marR="38100" marT="19050" marB="19050" anchor="ctr">
                    <a:solidFill>
                      <a:srgbClr val="FFFFFF"/>
                    </a:solidFill>
                  </a:tcPr>
                </a:tc>
                <a:tc>
                  <a:txBody>
                    <a:bodyPr wrap="none"/>
                    <a:lstStyle/>
                    <a:p>
                      <a:pPr algn="l"/>
                      <a:r>
                        <a:rPr sz="800" b="0">
                          <a:solidFill>
                            <a:srgbClr val="2E2E2E"/>
                          </a:solidFill>
                          <a:latin typeface="Calibri"/>
                        </a:rPr>
                        <a:t>697.9</a:t>
                      </a:r>
                    </a:p>
                  </a:txBody>
                  <a:tcPr marL="85725" marR="38100" marT="19050" marB="19050" anchor="ctr">
                    <a:solidFill>
                      <a:srgbClr val="FFFFFF"/>
                    </a:solidFill>
                  </a:tcPr>
                </a:tc>
                <a:tc>
                  <a:txBody>
                    <a:bodyPr wrap="none"/>
                    <a:lstStyle/>
                    <a:p>
                      <a:pPr algn="l"/>
                      <a:r>
                        <a:rPr sz="800" b="0">
                          <a:solidFill>
                            <a:srgbClr val="2E2E2E"/>
                          </a:solidFill>
                          <a:latin typeface="Calibri"/>
                        </a:rPr>
                        <a:t>748.0</a:t>
                      </a:r>
                    </a:p>
                  </a:txBody>
                  <a:tcPr marL="85725" marR="38100" marT="19050" marB="19050" anchor="ctr">
                    <a:solidFill>
                      <a:srgbClr val="FFFFFF"/>
                    </a:solidFill>
                  </a:tcPr>
                </a:tc>
                <a:tc>
                  <a:txBody>
                    <a:bodyPr wrap="none"/>
                    <a:lstStyle/>
                    <a:p>
                      <a:pPr algn="l"/>
                      <a:r>
                        <a:rPr sz="800" b="0">
                          <a:solidFill>
                            <a:srgbClr val="2E2E2E"/>
                          </a:solidFill>
                          <a:latin typeface="Calibri"/>
                        </a:rPr>
                        <a:t>803.7</a:t>
                      </a:r>
                    </a:p>
                  </a:txBody>
                  <a:tcPr marL="85725" marR="38100" marT="19050" marB="19050" anchor="ctr">
                    <a:solidFill>
                      <a:srgbClr val="FFFFFF"/>
                    </a:solidFill>
                  </a:tcPr>
                </a:tc>
                <a:tc>
                  <a:txBody>
                    <a:bodyPr wrap="none"/>
                    <a:lstStyle/>
                    <a:p>
                      <a:pPr algn="l"/>
                      <a:r>
                        <a:rPr sz="800" b="0">
                          <a:solidFill>
                            <a:srgbClr val="2E2E2E"/>
                          </a:solidFill>
                          <a:latin typeface="Calibri"/>
                        </a:rPr>
                        <a:t>864.3</a:t>
                      </a:r>
                    </a:p>
                  </a:txBody>
                  <a:tcPr marL="85725" marR="38100" marT="19050" marB="19050" anchor="ctr">
                    <a:solidFill>
                      <a:srgbClr val="FFFFFF"/>
                    </a:solidFill>
                  </a:tcPr>
                </a:tc>
                <a:tc>
                  <a:txBody>
                    <a:bodyPr wrap="none"/>
                    <a:lstStyle/>
                    <a:p>
                      <a:pPr algn="l"/>
                      <a:r>
                        <a:rPr sz="800" b="0">
                          <a:solidFill>
                            <a:srgbClr val="2E2E2E"/>
                          </a:solidFill>
                          <a:latin typeface="Calibri"/>
                        </a:rPr>
                        <a:t>930.9</a:t>
                      </a:r>
                    </a:p>
                  </a:txBody>
                  <a:tcPr marL="85725" marR="38100" marT="19050" marB="19050" anchor="ctr">
                    <a:solidFill>
                      <a:srgbClr val="FFFFFF"/>
                    </a:solidFill>
                  </a:tcPr>
                </a:tc>
                <a:tc>
                  <a:txBody>
                    <a:bodyPr wrap="none"/>
                    <a:lstStyle/>
                    <a:p>
                      <a:pPr algn="l"/>
                      <a:r>
                        <a:rPr sz="800" b="0">
                          <a:solidFill>
                            <a:srgbClr val="2E2E2E"/>
                          </a:solidFill>
                          <a:latin typeface="Calibri"/>
                        </a:rPr>
                        <a:t>1,004</a:t>
                      </a:r>
                    </a:p>
                  </a:txBody>
                  <a:tcPr marL="85725" marR="38100" marT="19050" marB="19050" anchor="ctr">
                    <a:solidFill>
                      <a:srgbClr val="FFFFFF"/>
                    </a:solidFill>
                  </a:tcPr>
                </a:tc>
                <a:tc>
                  <a:txBody>
                    <a:bodyPr wrap="none"/>
                    <a:lstStyle/>
                    <a:p>
                      <a:pPr algn="l"/>
                      <a:r>
                        <a:rPr sz="800" b="0">
                          <a:solidFill>
                            <a:srgbClr val="2E2E2E"/>
                          </a:solidFill>
                          <a:latin typeface="Calibri"/>
                        </a:rPr>
                        <a:t>1,083</a:t>
                      </a:r>
                    </a:p>
                  </a:txBody>
                  <a:tcPr marL="85725" marR="38100" marT="19050" marB="19050" anchor="ctr">
                    <a:solidFill>
                      <a:srgbClr val="FFFFFF"/>
                    </a:solidFill>
                  </a:tcPr>
                </a:tc>
                <a:tc>
                  <a:txBody>
                    <a:bodyPr wrap="none"/>
                    <a:lstStyle/>
                    <a:p>
                      <a:pPr algn="l"/>
                      <a:r>
                        <a:rPr sz="800" b="0">
                          <a:solidFill>
                            <a:srgbClr val="2E2E2E"/>
                          </a:solidFill>
                          <a:latin typeface="Calibri"/>
                        </a:rPr>
                        <a:t>1,170</a:t>
                      </a:r>
                    </a:p>
                  </a:txBody>
                  <a:tcPr marL="85725" marR="38100" marT="19050" marB="19050" anchor="ctr">
                    <a:solidFill>
                      <a:srgbClr val="FFFFFF"/>
                    </a:solidFill>
                  </a:tcPr>
                </a:tc>
                <a:tc>
                  <a:txBody>
                    <a:bodyPr wrap="none"/>
                    <a:lstStyle/>
                    <a:p>
                      <a:pPr algn="l"/>
                      <a:r>
                        <a:rPr sz="800" b="0">
                          <a:solidFill>
                            <a:srgbClr val="2E2E2E"/>
                          </a:solidFill>
                          <a:latin typeface="Calibri"/>
                        </a:rPr>
                        <a:t>1,265</a:t>
                      </a:r>
                    </a:p>
                  </a:txBody>
                  <a:tcPr marL="85725" marR="38100" marT="19050" marB="19050" anchor="ctr">
                    <a:solidFill>
                      <a:srgbClr val="FFFFFF"/>
                    </a:solidFill>
                  </a:tcPr>
                </a:tc>
                <a:tc>
                  <a:txBody>
                    <a:bodyPr wrap="none"/>
                    <a:lstStyle/>
                    <a:p>
                      <a:pPr algn="l"/>
                      <a:r>
                        <a:rPr sz="800" b="0">
                          <a:solidFill>
                            <a:srgbClr val="2E2E2E"/>
                          </a:solidFill>
                          <a:latin typeface="Calibri"/>
                        </a:rPr>
                        <a:t>1,372</a:t>
                      </a:r>
                    </a:p>
                  </a:txBody>
                  <a:tcPr marL="85725" marR="38100" marT="19050" marB="19050" anchor="ctr">
                    <a:solidFill>
                      <a:srgbClr val="FFFFFF"/>
                    </a:solidFill>
                  </a:tcPr>
                </a:tc>
                <a:tc>
                  <a:txBody>
                    <a:bodyPr wrap="none"/>
                    <a:lstStyle/>
                    <a:p>
                      <a:pPr algn="l"/>
                      <a:r>
                        <a:rPr sz="800" b="0">
                          <a:solidFill>
                            <a:srgbClr val="2E2E2E"/>
                          </a:solidFill>
                          <a:latin typeface="Calibri"/>
                        </a:rPr>
                        <a:t>1,489</a:t>
                      </a:r>
                    </a:p>
                  </a:txBody>
                  <a:tcPr marL="85725" marR="38100" marT="19050" marB="19050" anchor="ctr">
                    <a:solidFill>
                      <a:srgbClr val="FFFFFF"/>
                    </a:solidFill>
                  </a:tcPr>
                </a:tc>
                <a:tc>
                  <a:txBody>
                    <a:bodyPr wrap="none"/>
                    <a:lstStyle/>
                    <a:p>
                      <a:pPr algn="l"/>
                      <a:r>
                        <a:rPr sz="800" b="0">
                          <a:solidFill>
                            <a:srgbClr val="2E2E2E"/>
                          </a:solidFill>
                          <a:latin typeface="Calibri"/>
                        </a:rPr>
                        <a:t>1,622</a:t>
                      </a:r>
                    </a:p>
                  </a:txBody>
                  <a:tcPr marL="85725" marR="38100" marT="19050" marB="19050" anchor="ctr">
                    <a:solidFill>
                      <a:srgbClr val="FFFFFF"/>
                    </a:solidFill>
                  </a:tcPr>
                </a:tc>
                <a:tc>
                  <a:txBody>
                    <a:bodyPr wrap="none"/>
                    <a:lstStyle/>
                    <a:p>
                      <a:pPr algn="l"/>
                      <a:r>
                        <a:rPr sz="800" b="0">
                          <a:solidFill>
                            <a:srgbClr val="2E2E2E"/>
                          </a:solidFill>
                          <a:latin typeface="Calibri"/>
                        </a:rPr>
                        <a:t>8.0%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Latin America</a:t>
                      </a:r>
                    </a:p>
                  </a:txBody>
                  <a:tcPr marL="85725" marR="38100" marT="19050" marB="19050" anchor="ctr">
                    <a:solidFill>
                      <a:srgbClr val="F5F8FA"/>
                    </a:solidFill>
                  </a:tcPr>
                </a:tc>
                <a:tc>
                  <a:txBody>
                    <a:bodyPr wrap="none"/>
                    <a:lstStyle/>
                    <a:p>
                      <a:pPr algn="l"/>
                      <a:r>
                        <a:rPr sz="800" b="0">
                          <a:solidFill>
                            <a:srgbClr val="2E2E2E"/>
                          </a:solidFill>
                          <a:latin typeface="Calibri"/>
                        </a:rPr>
                        <a:t>147.9</a:t>
                      </a:r>
                    </a:p>
                  </a:txBody>
                  <a:tcPr marL="85725" marR="38100" marT="19050" marB="19050" anchor="ctr">
                    <a:solidFill>
                      <a:srgbClr val="F5F8FA"/>
                    </a:solidFill>
                  </a:tcPr>
                </a:tc>
                <a:tc>
                  <a:txBody>
                    <a:bodyPr wrap="none"/>
                    <a:lstStyle/>
                    <a:p>
                      <a:pPr algn="l"/>
                      <a:r>
                        <a:rPr sz="800" b="0">
                          <a:solidFill>
                            <a:srgbClr val="2E2E2E"/>
                          </a:solidFill>
                          <a:latin typeface="Calibri"/>
                        </a:rPr>
                        <a:t>151.5</a:t>
                      </a:r>
                    </a:p>
                  </a:txBody>
                  <a:tcPr marL="85725" marR="38100" marT="19050" marB="19050" anchor="ctr">
                    <a:solidFill>
                      <a:srgbClr val="F5F8FA"/>
                    </a:solidFill>
                  </a:tcPr>
                </a:tc>
                <a:tc>
                  <a:txBody>
                    <a:bodyPr wrap="none"/>
                    <a:lstStyle/>
                    <a:p>
                      <a:pPr algn="l"/>
                      <a:r>
                        <a:rPr sz="800" b="0">
                          <a:solidFill>
                            <a:srgbClr val="2E2E2E"/>
                          </a:solidFill>
                          <a:latin typeface="Calibri"/>
                        </a:rPr>
                        <a:t>155.8</a:t>
                      </a:r>
                    </a:p>
                  </a:txBody>
                  <a:tcPr marL="85725" marR="38100" marT="19050" marB="19050" anchor="ctr">
                    <a:solidFill>
                      <a:srgbClr val="F5F8FA"/>
                    </a:solidFill>
                  </a:tcPr>
                </a:tc>
                <a:tc>
                  <a:txBody>
                    <a:bodyPr wrap="none"/>
                    <a:lstStyle/>
                    <a:p>
                      <a:pPr algn="l"/>
                      <a:r>
                        <a:rPr sz="800" b="0">
                          <a:solidFill>
                            <a:srgbClr val="2E2E2E"/>
                          </a:solidFill>
                          <a:latin typeface="Calibri"/>
                        </a:rPr>
                        <a:t>161.4</a:t>
                      </a:r>
                    </a:p>
                  </a:txBody>
                  <a:tcPr marL="85725" marR="38100" marT="19050" marB="19050" anchor="ctr">
                    <a:solidFill>
                      <a:srgbClr val="F5F8FA"/>
                    </a:solidFill>
                  </a:tcPr>
                </a:tc>
                <a:tc>
                  <a:txBody>
                    <a:bodyPr wrap="none"/>
                    <a:lstStyle/>
                    <a:p>
                      <a:pPr algn="l"/>
                      <a:r>
                        <a:rPr sz="800" b="0">
                          <a:solidFill>
                            <a:srgbClr val="2E2E2E"/>
                          </a:solidFill>
                          <a:latin typeface="Calibri"/>
                        </a:rPr>
                        <a:t>168.5</a:t>
                      </a:r>
                    </a:p>
                  </a:txBody>
                  <a:tcPr marL="85725" marR="38100" marT="19050" marB="19050" anchor="ctr">
                    <a:solidFill>
                      <a:srgbClr val="F5F8FA"/>
                    </a:solidFill>
                  </a:tcPr>
                </a:tc>
                <a:tc>
                  <a:txBody>
                    <a:bodyPr wrap="none"/>
                    <a:lstStyle/>
                    <a:p>
                      <a:pPr algn="l"/>
                      <a:r>
                        <a:rPr sz="800" b="0">
                          <a:solidFill>
                            <a:srgbClr val="2E2E2E"/>
                          </a:solidFill>
                          <a:latin typeface="Calibri"/>
                        </a:rPr>
                        <a:t>177.3</a:t>
                      </a:r>
                    </a:p>
                  </a:txBody>
                  <a:tcPr marL="85725" marR="38100" marT="19050" marB="19050" anchor="ctr">
                    <a:solidFill>
                      <a:srgbClr val="F5F8FA"/>
                    </a:solidFill>
                  </a:tcPr>
                </a:tc>
                <a:tc>
                  <a:txBody>
                    <a:bodyPr wrap="none"/>
                    <a:lstStyle/>
                    <a:p>
                      <a:pPr algn="l"/>
                      <a:r>
                        <a:rPr sz="800" b="0">
                          <a:solidFill>
                            <a:srgbClr val="2E2E2E"/>
                          </a:solidFill>
                          <a:latin typeface="Calibri"/>
                        </a:rPr>
                        <a:t>188.2</a:t>
                      </a:r>
                    </a:p>
                  </a:txBody>
                  <a:tcPr marL="85725" marR="38100" marT="19050" marB="19050" anchor="ctr">
                    <a:solidFill>
                      <a:srgbClr val="F5F8FA"/>
                    </a:solidFill>
                  </a:tcPr>
                </a:tc>
                <a:tc>
                  <a:txBody>
                    <a:bodyPr wrap="none"/>
                    <a:lstStyle/>
                    <a:p>
                      <a:pPr algn="l"/>
                      <a:r>
                        <a:rPr sz="800" b="0">
                          <a:solidFill>
                            <a:srgbClr val="2E2E2E"/>
                          </a:solidFill>
                          <a:latin typeface="Calibri"/>
                        </a:rPr>
                        <a:t>201.4</a:t>
                      </a:r>
                    </a:p>
                  </a:txBody>
                  <a:tcPr marL="85725" marR="38100" marT="19050" marB="19050" anchor="ctr">
                    <a:solidFill>
                      <a:srgbClr val="F5F8FA"/>
                    </a:solidFill>
                  </a:tcPr>
                </a:tc>
                <a:tc>
                  <a:txBody>
                    <a:bodyPr wrap="none"/>
                    <a:lstStyle/>
                    <a:p>
                      <a:pPr algn="l"/>
                      <a:r>
                        <a:rPr sz="800" b="0">
                          <a:solidFill>
                            <a:srgbClr val="2E2E2E"/>
                          </a:solidFill>
                          <a:latin typeface="Calibri"/>
                        </a:rPr>
                        <a:t>216.6</a:t>
                      </a:r>
                    </a:p>
                  </a:txBody>
                  <a:tcPr marL="85725" marR="38100" marT="19050" marB="19050" anchor="ctr">
                    <a:solidFill>
                      <a:srgbClr val="F5F8FA"/>
                    </a:solidFill>
                  </a:tcPr>
                </a:tc>
                <a:tc>
                  <a:txBody>
                    <a:bodyPr wrap="none"/>
                    <a:lstStyle/>
                    <a:p>
                      <a:pPr algn="l"/>
                      <a:r>
                        <a:rPr sz="800" b="0">
                          <a:solidFill>
                            <a:srgbClr val="2E2E2E"/>
                          </a:solidFill>
                          <a:latin typeface="Calibri"/>
                        </a:rPr>
                        <a:t>233.0</a:t>
                      </a:r>
                    </a:p>
                  </a:txBody>
                  <a:tcPr marL="85725" marR="38100" marT="19050" marB="19050" anchor="ctr">
                    <a:solidFill>
                      <a:srgbClr val="F5F8FA"/>
                    </a:solidFill>
                  </a:tcPr>
                </a:tc>
                <a:tc>
                  <a:txBody>
                    <a:bodyPr wrap="none"/>
                    <a:lstStyle/>
                    <a:p>
                      <a:pPr algn="l"/>
                      <a:r>
                        <a:rPr sz="800" b="0">
                          <a:solidFill>
                            <a:srgbClr val="2E2E2E"/>
                          </a:solidFill>
                          <a:latin typeface="Calibri"/>
                        </a:rPr>
                        <a:t>250.7</a:t>
                      </a:r>
                    </a:p>
                  </a:txBody>
                  <a:tcPr marL="85725" marR="38100" marT="19050" marB="19050" anchor="ctr">
                    <a:solidFill>
                      <a:srgbClr val="F5F8FA"/>
                    </a:solidFill>
                  </a:tcPr>
                </a:tc>
                <a:tc>
                  <a:txBody>
                    <a:bodyPr wrap="none"/>
                    <a:lstStyle/>
                    <a:p>
                      <a:pPr algn="l"/>
                      <a:r>
                        <a:rPr sz="800" b="0">
                          <a:solidFill>
                            <a:srgbClr val="2E2E2E"/>
                          </a:solidFill>
                          <a:latin typeface="Calibri"/>
                        </a:rPr>
                        <a:t>269.6</a:t>
                      </a:r>
                    </a:p>
                  </a:txBody>
                  <a:tcPr marL="85725" marR="38100" marT="19050" marB="19050" anchor="ctr">
                    <a:solidFill>
                      <a:srgbClr val="F5F8FA"/>
                    </a:solidFill>
                  </a:tcPr>
                </a:tc>
                <a:tc>
                  <a:txBody>
                    <a:bodyPr wrap="none"/>
                    <a:lstStyle/>
                    <a:p>
                      <a:pPr algn="l"/>
                      <a:r>
                        <a:rPr sz="800" b="0">
                          <a:solidFill>
                            <a:srgbClr val="2E2E2E"/>
                          </a:solidFill>
                          <a:latin typeface="Calibri"/>
                        </a:rPr>
                        <a:t>289.8</a:t>
                      </a:r>
                    </a:p>
                  </a:txBody>
                  <a:tcPr marL="85725" marR="38100" marT="19050" marB="19050" anchor="ctr">
                    <a:solidFill>
                      <a:srgbClr val="F5F8FA"/>
                    </a:solidFill>
                  </a:tcPr>
                </a:tc>
                <a:tc>
                  <a:txBody>
                    <a:bodyPr wrap="none"/>
                    <a:lstStyle/>
                    <a:p>
                      <a:pPr algn="l"/>
                      <a:r>
                        <a:rPr sz="800" b="0">
                          <a:solidFill>
                            <a:srgbClr val="2E2E2E"/>
                          </a:solidFill>
                          <a:latin typeface="Calibri"/>
                        </a:rPr>
                        <a:t>312.0</a:t>
                      </a:r>
                    </a:p>
                  </a:txBody>
                  <a:tcPr marL="85725" marR="38100" marT="19050" marB="19050" anchor="ctr">
                    <a:solidFill>
                      <a:srgbClr val="F5F8FA"/>
                    </a:solidFill>
                  </a:tcPr>
                </a:tc>
                <a:tc>
                  <a:txBody>
                    <a:bodyPr wrap="none"/>
                    <a:lstStyle/>
                    <a:p>
                      <a:pPr algn="l"/>
                      <a:r>
                        <a:rPr sz="800" b="0">
                          <a:solidFill>
                            <a:srgbClr val="2E2E2E"/>
                          </a:solidFill>
                          <a:latin typeface="Calibri"/>
                        </a:rPr>
                        <a:t>336.3</a:t>
                      </a:r>
                    </a:p>
                  </a:txBody>
                  <a:tcPr marL="85725" marR="38100" marT="19050" marB="19050" anchor="ctr">
                    <a:solidFill>
                      <a:srgbClr val="F5F8FA"/>
                    </a:solidFill>
                  </a:tcPr>
                </a:tc>
                <a:tc>
                  <a:txBody>
                    <a:bodyPr wrap="none"/>
                    <a:lstStyle/>
                    <a:p>
                      <a:pPr algn="l"/>
                      <a:r>
                        <a:rPr sz="800" b="0">
                          <a:solidFill>
                            <a:srgbClr val="2E2E2E"/>
                          </a:solidFill>
                          <a:latin typeface="Calibri"/>
                        </a:rPr>
                        <a:t>362.5</a:t>
                      </a:r>
                    </a:p>
                  </a:txBody>
                  <a:tcPr marL="85725" marR="38100" marT="19050" marB="19050" anchor="ctr">
                    <a:solidFill>
                      <a:srgbClr val="F5F8FA"/>
                    </a:solidFill>
                  </a:tcPr>
                </a:tc>
                <a:tc>
                  <a:txBody>
                    <a:bodyPr wrap="none"/>
                    <a:lstStyle/>
                    <a:p>
                      <a:pPr algn="l"/>
                      <a:r>
                        <a:rPr sz="800" b="0">
                          <a:solidFill>
                            <a:srgbClr val="2E2E2E"/>
                          </a:solidFill>
                          <a:latin typeface="Calibri"/>
                        </a:rPr>
                        <a:t>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Western Europe</a:t>
                      </a:r>
                    </a:p>
                  </a:txBody>
                  <a:tcPr marL="85725" marR="38100" marT="19050" marB="19050" anchor="ctr">
                    <a:solidFill>
                      <a:srgbClr val="FFFFFF"/>
                    </a:solidFill>
                  </a:tcPr>
                </a:tc>
                <a:tc>
                  <a:txBody>
                    <a:bodyPr wrap="none"/>
                    <a:lstStyle/>
                    <a:p>
                      <a:pPr algn="l"/>
                      <a:r>
                        <a:rPr sz="800" b="0">
                          <a:solidFill>
                            <a:srgbClr val="2E2E2E"/>
                          </a:solidFill>
                          <a:latin typeface="Calibri"/>
                        </a:rPr>
                        <a:t>482.3</a:t>
                      </a:r>
                    </a:p>
                  </a:txBody>
                  <a:tcPr marL="85725" marR="38100" marT="19050" marB="19050" anchor="ctr">
                    <a:solidFill>
                      <a:srgbClr val="FFFFFF"/>
                    </a:solidFill>
                  </a:tcPr>
                </a:tc>
                <a:tc>
                  <a:txBody>
                    <a:bodyPr wrap="none"/>
                    <a:lstStyle/>
                    <a:p>
                      <a:pPr algn="l"/>
                      <a:r>
                        <a:rPr sz="800" b="0">
                          <a:solidFill>
                            <a:srgbClr val="2E2E2E"/>
                          </a:solidFill>
                          <a:latin typeface="Calibri"/>
                        </a:rPr>
                        <a:t>499.9</a:t>
                      </a:r>
                    </a:p>
                  </a:txBody>
                  <a:tcPr marL="85725" marR="38100" marT="19050" marB="19050" anchor="ctr">
                    <a:solidFill>
                      <a:srgbClr val="FFFFFF"/>
                    </a:solidFill>
                  </a:tcPr>
                </a:tc>
                <a:tc>
                  <a:txBody>
                    <a:bodyPr wrap="none"/>
                    <a:lstStyle/>
                    <a:p>
                      <a:pPr algn="l"/>
                      <a:r>
                        <a:rPr sz="800" b="0">
                          <a:solidFill>
                            <a:srgbClr val="2E2E2E"/>
                          </a:solidFill>
                          <a:latin typeface="Calibri"/>
                        </a:rPr>
                        <a:t>520.5</a:t>
                      </a:r>
                    </a:p>
                  </a:txBody>
                  <a:tcPr marL="85725" marR="38100" marT="19050" marB="19050" anchor="ctr">
                    <a:solidFill>
                      <a:srgbClr val="FFFFFF"/>
                    </a:solidFill>
                  </a:tcPr>
                </a:tc>
                <a:tc>
                  <a:txBody>
                    <a:bodyPr wrap="none"/>
                    <a:lstStyle/>
                    <a:p>
                      <a:pPr algn="l"/>
                      <a:r>
                        <a:rPr sz="800" b="0">
                          <a:solidFill>
                            <a:srgbClr val="2E2E2E"/>
                          </a:solidFill>
                          <a:latin typeface="Calibri"/>
                        </a:rPr>
                        <a:t>546.1</a:t>
                      </a:r>
                    </a:p>
                  </a:txBody>
                  <a:tcPr marL="85725" marR="38100" marT="19050" marB="19050" anchor="ctr">
                    <a:solidFill>
                      <a:srgbClr val="FFFFFF"/>
                    </a:solidFill>
                  </a:tcPr>
                </a:tc>
                <a:tc>
                  <a:txBody>
                    <a:bodyPr wrap="none"/>
                    <a:lstStyle/>
                    <a:p>
                      <a:pPr algn="l"/>
                      <a:r>
                        <a:rPr sz="800" b="0">
                          <a:solidFill>
                            <a:srgbClr val="2E2E2E"/>
                          </a:solidFill>
                          <a:latin typeface="Calibri"/>
                        </a:rPr>
                        <a:t>576.7</a:t>
                      </a:r>
                    </a:p>
                  </a:txBody>
                  <a:tcPr marL="85725" marR="38100" marT="19050" marB="19050" anchor="ctr">
                    <a:solidFill>
                      <a:srgbClr val="FFFFFF"/>
                    </a:solidFill>
                  </a:tcPr>
                </a:tc>
                <a:tc>
                  <a:txBody>
                    <a:bodyPr wrap="none"/>
                    <a:lstStyle/>
                    <a:p>
                      <a:pPr algn="l"/>
                      <a:r>
                        <a:rPr sz="800" b="0">
                          <a:solidFill>
                            <a:srgbClr val="2E2E2E"/>
                          </a:solidFill>
                          <a:latin typeface="Calibri"/>
                        </a:rPr>
                        <a:t>612.9</a:t>
                      </a:r>
                    </a:p>
                  </a:txBody>
                  <a:tcPr marL="85725" marR="38100" marT="19050" marB="19050" anchor="ctr">
                    <a:solidFill>
                      <a:srgbClr val="FFFFFF"/>
                    </a:solidFill>
                  </a:tcPr>
                </a:tc>
                <a:tc>
                  <a:txBody>
                    <a:bodyPr wrap="none"/>
                    <a:lstStyle/>
                    <a:p>
                      <a:pPr algn="l"/>
                      <a:r>
                        <a:rPr sz="800" b="0">
                          <a:solidFill>
                            <a:srgbClr val="2E2E2E"/>
                          </a:solidFill>
                          <a:latin typeface="Calibri"/>
                        </a:rPr>
                        <a:t>654.5</a:t>
                      </a:r>
                    </a:p>
                  </a:txBody>
                  <a:tcPr marL="85725" marR="38100" marT="19050" marB="19050" anchor="ctr">
                    <a:solidFill>
                      <a:srgbClr val="FFFFFF"/>
                    </a:solidFill>
                  </a:tcPr>
                </a:tc>
                <a:tc>
                  <a:txBody>
                    <a:bodyPr wrap="none"/>
                    <a:lstStyle/>
                    <a:p>
                      <a:pPr algn="l"/>
                      <a:r>
                        <a:rPr sz="800" b="0">
                          <a:solidFill>
                            <a:srgbClr val="2E2E2E"/>
                          </a:solidFill>
                          <a:latin typeface="Calibri"/>
                        </a:rPr>
                        <a:t>700.5</a:t>
                      </a:r>
                    </a:p>
                  </a:txBody>
                  <a:tcPr marL="85725" marR="38100" marT="19050" marB="19050" anchor="ctr">
                    <a:solidFill>
                      <a:srgbClr val="FFFFFF"/>
                    </a:solidFill>
                  </a:tcPr>
                </a:tc>
                <a:tc>
                  <a:txBody>
                    <a:bodyPr wrap="none"/>
                    <a:lstStyle/>
                    <a:p>
                      <a:pPr algn="l"/>
                      <a:r>
                        <a:rPr sz="800" b="0">
                          <a:solidFill>
                            <a:srgbClr val="2E2E2E"/>
                          </a:solidFill>
                          <a:latin typeface="Calibri"/>
                        </a:rPr>
                        <a:t>750.7</a:t>
                      </a:r>
                    </a:p>
                  </a:txBody>
                  <a:tcPr marL="85725" marR="38100" marT="19050" marB="19050" anchor="ctr">
                    <a:solidFill>
                      <a:srgbClr val="FFFFFF"/>
                    </a:solidFill>
                  </a:tcPr>
                </a:tc>
                <a:tc>
                  <a:txBody>
                    <a:bodyPr wrap="none"/>
                    <a:lstStyle/>
                    <a:p>
                      <a:pPr algn="l"/>
                      <a:r>
                        <a:rPr sz="800" b="0">
                          <a:solidFill>
                            <a:srgbClr val="2E2E2E"/>
                          </a:solidFill>
                          <a:latin typeface="Calibri"/>
                        </a:rPr>
                        <a:t>805.0</a:t>
                      </a:r>
                    </a:p>
                  </a:txBody>
                  <a:tcPr marL="85725" marR="38100" marT="19050" marB="19050" anchor="ctr">
                    <a:solidFill>
                      <a:srgbClr val="FFFFFF"/>
                    </a:solidFill>
                  </a:tcPr>
                </a:tc>
                <a:tc>
                  <a:txBody>
                    <a:bodyPr wrap="none"/>
                    <a:lstStyle/>
                    <a:p>
                      <a:pPr algn="l"/>
                      <a:r>
                        <a:rPr sz="800" b="0">
                          <a:solidFill>
                            <a:srgbClr val="2E2E2E"/>
                          </a:solidFill>
                          <a:latin typeface="Calibri"/>
                        </a:rPr>
                        <a:t>864.2</a:t>
                      </a:r>
                    </a:p>
                  </a:txBody>
                  <a:tcPr marL="85725" marR="38100" marT="19050" marB="19050" anchor="ctr">
                    <a:solidFill>
                      <a:srgbClr val="FFFFFF"/>
                    </a:solidFill>
                  </a:tcPr>
                </a:tc>
                <a:tc>
                  <a:txBody>
                    <a:bodyPr wrap="none"/>
                    <a:lstStyle/>
                    <a:p>
                      <a:pPr algn="l"/>
                      <a:r>
                        <a:rPr sz="800" b="0">
                          <a:solidFill>
                            <a:srgbClr val="2E2E2E"/>
                          </a:solidFill>
                          <a:latin typeface="Calibri"/>
                        </a:rPr>
                        <a:t>929.9</a:t>
                      </a:r>
                    </a:p>
                  </a:txBody>
                  <a:tcPr marL="85725" marR="38100" marT="19050" marB="19050" anchor="ctr">
                    <a:solidFill>
                      <a:srgbClr val="FFFFFF"/>
                    </a:solidFill>
                  </a:tcPr>
                </a:tc>
                <a:tc>
                  <a:txBody>
                    <a:bodyPr wrap="none"/>
                    <a:lstStyle/>
                    <a:p>
                      <a:pPr algn="l"/>
                      <a:r>
                        <a:rPr sz="800" b="0">
                          <a:solidFill>
                            <a:srgbClr val="2E2E2E"/>
                          </a:solidFill>
                          <a:latin typeface="Calibri"/>
                        </a:rPr>
                        <a:t>1,001</a:t>
                      </a:r>
                    </a:p>
                  </a:txBody>
                  <a:tcPr marL="85725" marR="38100" marT="19050" marB="19050" anchor="ctr">
                    <a:solidFill>
                      <a:srgbClr val="FFFFFF"/>
                    </a:solidFill>
                  </a:tcPr>
                </a:tc>
                <a:tc>
                  <a:txBody>
                    <a:bodyPr wrap="none"/>
                    <a:lstStyle/>
                    <a:p>
                      <a:pPr algn="l"/>
                      <a:r>
                        <a:rPr sz="800" b="0">
                          <a:solidFill>
                            <a:srgbClr val="2E2E2E"/>
                          </a:solidFill>
                          <a:latin typeface="Calibri"/>
                        </a:rPr>
                        <a:t>1,081</a:t>
                      </a:r>
                    </a:p>
                  </a:txBody>
                  <a:tcPr marL="85725" marR="38100" marT="19050" marB="19050" anchor="ctr">
                    <a:solidFill>
                      <a:srgbClr val="FFFFFF"/>
                    </a:solidFill>
                  </a:tcPr>
                </a:tc>
                <a:tc>
                  <a:txBody>
                    <a:bodyPr wrap="none"/>
                    <a:lstStyle/>
                    <a:p>
                      <a:pPr algn="l"/>
                      <a:r>
                        <a:rPr sz="800" b="0">
                          <a:solidFill>
                            <a:srgbClr val="2E2E2E"/>
                          </a:solidFill>
                          <a:latin typeface="Calibri"/>
                        </a:rPr>
                        <a:t>1,169</a:t>
                      </a:r>
                    </a:p>
                  </a:txBody>
                  <a:tcPr marL="85725" marR="38100" marT="19050" marB="19050" anchor="ctr">
                    <a:solidFill>
                      <a:srgbClr val="FFFFFF"/>
                    </a:solidFill>
                  </a:tcPr>
                </a:tc>
                <a:tc>
                  <a:txBody>
                    <a:bodyPr wrap="none"/>
                    <a:lstStyle/>
                    <a:p>
                      <a:pPr algn="l"/>
                      <a:r>
                        <a:rPr sz="800" b="0">
                          <a:solidFill>
                            <a:srgbClr val="2E2E2E"/>
                          </a:solidFill>
                          <a:latin typeface="Calibri"/>
                        </a:rPr>
                        <a:t>1,266</a:t>
                      </a:r>
                    </a:p>
                  </a:txBody>
                  <a:tcPr marL="85725" marR="38100" marT="19050" marB="19050" anchor="ctr">
                    <a:solidFill>
                      <a:srgbClr val="FFFFFF"/>
                    </a:solidFill>
                  </a:tcPr>
                </a:tc>
                <a:tc>
                  <a:txBody>
                    <a:bodyPr wrap="none"/>
                    <a:lstStyle/>
                    <a:p>
                      <a:pPr algn="l"/>
                      <a:r>
                        <a:rPr sz="800" b="0">
                          <a:solidFill>
                            <a:srgbClr val="2E2E2E"/>
                          </a:solidFill>
                          <a:latin typeface="Calibri"/>
                        </a:rPr>
                        <a:t>7.5%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Eastern Europe</a:t>
                      </a:r>
                    </a:p>
                  </a:txBody>
                  <a:tcPr marL="85725" marR="38100" marT="19050" marB="19050" anchor="ctr">
                    <a:solidFill>
                      <a:srgbClr val="F5F8FA"/>
                    </a:solidFill>
                  </a:tcPr>
                </a:tc>
                <a:tc>
                  <a:txBody>
                    <a:bodyPr wrap="none"/>
                    <a:lstStyle/>
                    <a:p>
                      <a:pPr algn="l"/>
                      <a:r>
                        <a:rPr sz="800" b="0">
                          <a:solidFill>
                            <a:srgbClr val="2E2E2E"/>
                          </a:solidFill>
                          <a:latin typeface="Calibri"/>
                        </a:rPr>
                        <a:t>117.4</a:t>
                      </a:r>
                    </a:p>
                  </a:txBody>
                  <a:tcPr marL="85725" marR="38100" marT="19050" marB="19050" anchor="ctr">
                    <a:solidFill>
                      <a:srgbClr val="F5F8FA"/>
                    </a:solidFill>
                  </a:tcPr>
                </a:tc>
                <a:tc>
                  <a:txBody>
                    <a:bodyPr wrap="none"/>
                    <a:lstStyle/>
                    <a:p>
                      <a:pPr algn="l"/>
                      <a:r>
                        <a:rPr sz="800" b="0">
                          <a:solidFill>
                            <a:srgbClr val="2E2E2E"/>
                          </a:solidFill>
                          <a:latin typeface="Calibri"/>
                        </a:rPr>
                        <a:t>121.2</a:t>
                      </a:r>
                    </a:p>
                  </a:txBody>
                  <a:tcPr marL="85725" marR="38100" marT="19050" marB="19050" anchor="ctr">
                    <a:solidFill>
                      <a:srgbClr val="F5F8FA"/>
                    </a:solidFill>
                  </a:tcPr>
                </a:tc>
                <a:tc>
                  <a:txBody>
                    <a:bodyPr wrap="none"/>
                    <a:lstStyle/>
                    <a:p>
                      <a:pPr algn="l"/>
                      <a:r>
                        <a:rPr sz="800" b="0">
                          <a:solidFill>
                            <a:srgbClr val="2E2E2E"/>
                          </a:solidFill>
                          <a:latin typeface="Calibri"/>
                        </a:rPr>
                        <a:t>125.6</a:t>
                      </a:r>
                    </a:p>
                  </a:txBody>
                  <a:tcPr marL="85725" marR="38100" marT="19050" marB="19050" anchor="ctr">
                    <a:solidFill>
                      <a:srgbClr val="F5F8FA"/>
                    </a:solidFill>
                  </a:tcPr>
                </a:tc>
                <a:tc>
                  <a:txBody>
                    <a:bodyPr wrap="none"/>
                    <a:lstStyle/>
                    <a:p>
                      <a:pPr algn="l"/>
                      <a:r>
                        <a:rPr sz="800" b="0">
                          <a:solidFill>
                            <a:srgbClr val="2E2E2E"/>
                          </a:solidFill>
                          <a:latin typeface="Calibri"/>
                        </a:rPr>
                        <a:t>131.1</a:t>
                      </a:r>
                    </a:p>
                  </a:txBody>
                  <a:tcPr marL="85725" marR="38100" marT="19050" marB="19050" anchor="ctr">
                    <a:solidFill>
                      <a:srgbClr val="F5F8FA"/>
                    </a:solidFill>
                  </a:tcPr>
                </a:tc>
                <a:tc>
                  <a:txBody>
                    <a:bodyPr wrap="none"/>
                    <a:lstStyle/>
                    <a:p>
                      <a:pPr algn="l"/>
                      <a:r>
                        <a:rPr sz="800" b="0">
                          <a:solidFill>
                            <a:srgbClr val="2E2E2E"/>
                          </a:solidFill>
                          <a:latin typeface="Calibri"/>
                        </a:rPr>
                        <a:t>137.6</a:t>
                      </a:r>
                    </a:p>
                  </a:txBody>
                  <a:tcPr marL="85725" marR="38100" marT="19050" marB="19050" anchor="ctr">
                    <a:solidFill>
                      <a:srgbClr val="F5F8FA"/>
                    </a:solidFill>
                  </a:tcPr>
                </a:tc>
                <a:tc>
                  <a:txBody>
                    <a:bodyPr wrap="none"/>
                    <a:lstStyle/>
                    <a:p>
                      <a:pPr algn="l"/>
                      <a:r>
                        <a:rPr sz="800" b="0">
                          <a:solidFill>
                            <a:srgbClr val="2E2E2E"/>
                          </a:solidFill>
                          <a:latin typeface="Calibri"/>
                        </a:rPr>
                        <a:t>145.3</a:t>
                      </a:r>
                    </a:p>
                  </a:txBody>
                  <a:tcPr marL="85725" marR="38100" marT="19050" marB="19050" anchor="ctr">
                    <a:solidFill>
                      <a:srgbClr val="F5F8FA"/>
                    </a:solidFill>
                  </a:tcPr>
                </a:tc>
                <a:tc>
                  <a:txBody>
                    <a:bodyPr wrap="none"/>
                    <a:lstStyle/>
                    <a:p>
                      <a:pPr algn="l"/>
                      <a:r>
                        <a:rPr sz="800" b="0">
                          <a:solidFill>
                            <a:srgbClr val="2E2E2E"/>
                          </a:solidFill>
                          <a:latin typeface="Calibri"/>
                        </a:rPr>
                        <a:t>154.2</a:t>
                      </a:r>
                    </a:p>
                  </a:txBody>
                  <a:tcPr marL="85725" marR="38100" marT="19050" marB="19050" anchor="ctr">
                    <a:solidFill>
                      <a:srgbClr val="F5F8FA"/>
                    </a:solidFill>
                  </a:tcPr>
                </a:tc>
                <a:tc>
                  <a:txBody>
                    <a:bodyPr wrap="none"/>
                    <a:lstStyle/>
                    <a:p>
                      <a:pPr algn="l"/>
                      <a:r>
                        <a:rPr sz="800" b="0">
                          <a:solidFill>
                            <a:srgbClr val="2E2E2E"/>
                          </a:solidFill>
                          <a:latin typeface="Calibri"/>
                        </a:rPr>
                        <a:t>164.4</a:t>
                      </a:r>
                    </a:p>
                  </a:txBody>
                  <a:tcPr marL="85725" marR="38100" marT="19050" marB="19050" anchor="ctr">
                    <a:solidFill>
                      <a:srgbClr val="F5F8FA"/>
                    </a:solidFill>
                  </a:tcPr>
                </a:tc>
                <a:tc>
                  <a:txBody>
                    <a:bodyPr wrap="none"/>
                    <a:lstStyle/>
                    <a:p>
                      <a:pPr algn="l"/>
                      <a:r>
                        <a:rPr sz="800" b="0">
                          <a:solidFill>
                            <a:srgbClr val="2E2E2E"/>
                          </a:solidFill>
                          <a:latin typeface="Calibri"/>
                        </a:rPr>
                        <a:t>176.0</a:t>
                      </a:r>
                    </a:p>
                  </a:txBody>
                  <a:tcPr marL="85725" marR="38100" marT="19050" marB="19050" anchor="ctr">
                    <a:solidFill>
                      <a:srgbClr val="F5F8FA"/>
                    </a:solidFill>
                  </a:tcPr>
                </a:tc>
                <a:tc>
                  <a:txBody>
                    <a:bodyPr wrap="none"/>
                    <a:lstStyle/>
                    <a:p>
                      <a:pPr algn="l"/>
                      <a:r>
                        <a:rPr sz="800" b="0">
                          <a:solidFill>
                            <a:srgbClr val="2E2E2E"/>
                          </a:solidFill>
                          <a:latin typeface="Calibri"/>
                        </a:rPr>
                        <a:t>188.7</a:t>
                      </a:r>
                    </a:p>
                  </a:txBody>
                  <a:tcPr marL="85725" marR="38100" marT="19050" marB="19050" anchor="ctr">
                    <a:solidFill>
                      <a:srgbClr val="F5F8FA"/>
                    </a:solidFill>
                  </a:tcPr>
                </a:tc>
                <a:tc>
                  <a:txBody>
                    <a:bodyPr wrap="none"/>
                    <a:lstStyle/>
                    <a:p>
                      <a:pPr algn="l"/>
                      <a:r>
                        <a:rPr sz="800" b="0">
                          <a:solidFill>
                            <a:srgbClr val="2E2E2E"/>
                          </a:solidFill>
                          <a:latin typeface="Calibri"/>
                        </a:rPr>
                        <a:t>202.8</a:t>
                      </a:r>
                    </a:p>
                  </a:txBody>
                  <a:tcPr marL="85725" marR="38100" marT="19050" marB="19050" anchor="ctr">
                    <a:solidFill>
                      <a:srgbClr val="F5F8FA"/>
                    </a:solidFill>
                  </a:tcPr>
                </a:tc>
                <a:tc>
                  <a:txBody>
                    <a:bodyPr wrap="none"/>
                    <a:lstStyle/>
                    <a:p>
                      <a:pPr algn="l"/>
                      <a:r>
                        <a:rPr sz="800" b="0">
                          <a:solidFill>
                            <a:srgbClr val="2E2E2E"/>
                          </a:solidFill>
                          <a:latin typeface="Calibri"/>
                        </a:rPr>
                        <a:t>218.2</a:t>
                      </a:r>
                    </a:p>
                  </a:txBody>
                  <a:tcPr marL="85725" marR="38100" marT="19050" marB="19050" anchor="ctr">
                    <a:solidFill>
                      <a:srgbClr val="F5F8FA"/>
                    </a:solidFill>
                  </a:tcPr>
                </a:tc>
                <a:tc>
                  <a:txBody>
                    <a:bodyPr wrap="none"/>
                    <a:lstStyle/>
                    <a:p>
                      <a:pPr algn="l"/>
                      <a:r>
                        <a:rPr sz="800" b="0">
                          <a:solidFill>
                            <a:srgbClr val="2E2E2E"/>
                          </a:solidFill>
                          <a:latin typeface="Calibri"/>
                        </a:rPr>
                        <a:t>235.2</a:t>
                      </a:r>
                    </a:p>
                  </a:txBody>
                  <a:tcPr marL="85725" marR="38100" marT="19050" marB="19050" anchor="ctr">
                    <a:solidFill>
                      <a:srgbClr val="F5F8FA"/>
                    </a:solidFill>
                  </a:tcPr>
                </a:tc>
                <a:tc>
                  <a:txBody>
                    <a:bodyPr wrap="none"/>
                    <a:lstStyle/>
                    <a:p>
                      <a:pPr algn="l"/>
                      <a:r>
                        <a:rPr sz="800" b="0">
                          <a:solidFill>
                            <a:srgbClr val="2E2E2E"/>
                          </a:solidFill>
                          <a:latin typeface="Calibri"/>
                        </a:rPr>
                        <a:t>254.1</a:t>
                      </a:r>
                    </a:p>
                  </a:txBody>
                  <a:tcPr marL="85725" marR="38100" marT="19050" marB="19050" anchor="ctr">
                    <a:solidFill>
                      <a:srgbClr val="F5F8FA"/>
                    </a:solidFill>
                  </a:tcPr>
                </a:tc>
                <a:tc>
                  <a:txBody>
                    <a:bodyPr wrap="none"/>
                    <a:lstStyle/>
                    <a:p>
                      <a:pPr algn="l"/>
                      <a:r>
                        <a:rPr sz="800" b="0">
                          <a:solidFill>
                            <a:srgbClr val="2E2E2E"/>
                          </a:solidFill>
                          <a:latin typeface="Calibri"/>
                        </a:rPr>
                        <a:t>275.1</a:t>
                      </a:r>
                    </a:p>
                  </a:txBody>
                  <a:tcPr marL="85725" marR="38100" marT="19050" marB="19050" anchor="ctr">
                    <a:solidFill>
                      <a:srgbClr val="F5F8FA"/>
                    </a:solidFill>
                  </a:tcPr>
                </a:tc>
                <a:tc>
                  <a:txBody>
                    <a:bodyPr wrap="none"/>
                    <a:lstStyle/>
                    <a:p>
                      <a:pPr algn="l"/>
                      <a:r>
                        <a:rPr sz="800" b="0">
                          <a:solidFill>
                            <a:srgbClr val="2E2E2E"/>
                          </a:solidFill>
                          <a:latin typeface="Calibri"/>
                        </a:rPr>
                        <a:t>298.5</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East Asia</a:t>
                      </a:r>
                    </a:p>
                  </a:txBody>
                  <a:tcPr marL="85725" marR="38100" marT="19050" marB="19050" anchor="ctr">
                    <a:solidFill>
                      <a:srgbClr val="FFFFFF"/>
                    </a:solidFill>
                  </a:tcPr>
                </a:tc>
                <a:tc>
                  <a:txBody>
                    <a:bodyPr wrap="none"/>
                    <a:lstStyle/>
                    <a:p>
                      <a:pPr algn="l"/>
                      <a:r>
                        <a:rPr sz="800" b="0">
                          <a:solidFill>
                            <a:srgbClr val="2E2E2E"/>
                          </a:solidFill>
                          <a:latin typeface="Calibri"/>
                        </a:rPr>
                        <a:t>274.1</a:t>
                      </a:r>
                    </a:p>
                  </a:txBody>
                  <a:tcPr marL="85725" marR="38100" marT="19050" marB="19050" anchor="ctr">
                    <a:solidFill>
                      <a:srgbClr val="FFFFFF"/>
                    </a:solidFill>
                  </a:tcPr>
                </a:tc>
                <a:tc>
                  <a:txBody>
                    <a:bodyPr wrap="none"/>
                    <a:lstStyle/>
                    <a:p>
                      <a:pPr algn="l"/>
                      <a:r>
                        <a:rPr sz="800" b="0">
                          <a:solidFill>
                            <a:srgbClr val="2E2E2E"/>
                          </a:solidFill>
                          <a:latin typeface="Calibri"/>
                        </a:rPr>
                        <a:t>285.9</a:t>
                      </a:r>
                    </a:p>
                  </a:txBody>
                  <a:tcPr marL="85725" marR="38100" marT="19050" marB="19050" anchor="ctr">
                    <a:solidFill>
                      <a:srgbClr val="FFFFFF"/>
                    </a:solidFill>
                  </a:tcPr>
                </a:tc>
                <a:tc>
                  <a:txBody>
                    <a:bodyPr wrap="none"/>
                    <a:lstStyle/>
                    <a:p>
                      <a:pPr algn="l"/>
                      <a:r>
                        <a:rPr sz="800" b="0">
                          <a:solidFill>
                            <a:srgbClr val="2E2E2E"/>
                          </a:solidFill>
                          <a:latin typeface="Calibri"/>
                        </a:rPr>
                        <a:t>299.3</a:t>
                      </a:r>
                    </a:p>
                  </a:txBody>
                  <a:tcPr marL="85725" marR="38100" marT="19050" marB="19050" anchor="ctr">
                    <a:solidFill>
                      <a:srgbClr val="FFFFFF"/>
                    </a:solidFill>
                  </a:tcPr>
                </a:tc>
                <a:tc>
                  <a:txBody>
                    <a:bodyPr wrap="none"/>
                    <a:lstStyle/>
                    <a:p>
                      <a:pPr algn="l"/>
                      <a:r>
                        <a:rPr sz="800" b="0">
                          <a:solidFill>
                            <a:srgbClr val="2E2E2E"/>
                          </a:solidFill>
                          <a:latin typeface="Calibri"/>
                        </a:rPr>
                        <a:t>315.5</a:t>
                      </a:r>
                    </a:p>
                  </a:txBody>
                  <a:tcPr marL="85725" marR="38100" marT="19050" marB="19050" anchor="ctr">
                    <a:solidFill>
                      <a:srgbClr val="FFFFFF"/>
                    </a:solidFill>
                  </a:tcPr>
                </a:tc>
                <a:tc>
                  <a:txBody>
                    <a:bodyPr wrap="none"/>
                    <a:lstStyle/>
                    <a:p>
                      <a:pPr algn="l"/>
                      <a:r>
                        <a:rPr sz="800" b="0">
                          <a:solidFill>
                            <a:srgbClr val="2E2E2E"/>
                          </a:solidFill>
                          <a:latin typeface="Calibri"/>
                        </a:rPr>
                        <a:t>334.6</a:t>
                      </a:r>
                    </a:p>
                  </a:txBody>
                  <a:tcPr marL="85725" marR="38100" marT="19050" marB="19050" anchor="ctr">
                    <a:solidFill>
                      <a:srgbClr val="FFFFFF"/>
                    </a:solidFill>
                  </a:tcPr>
                </a:tc>
                <a:tc>
                  <a:txBody>
                    <a:bodyPr wrap="none"/>
                    <a:lstStyle/>
                    <a:p>
                      <a:pPr algn="l"/>
                      <a:r>
                        <a:rPr sz="800" b="0">
                          <a:solidFill>
                            <a:srgbClr val="2E2E2E"/>
                          </a:solidFill>
                          <a:latin typeface="Calibri"/>
                        </a:rPr>
                        <a:t>357.9</a:t>
                      </a:r>
                    </a:p>
                  </a:txBody>
                  <a:tcPr marL="85725" marR="38100" marT="19050" marB="19050" anchor="ctr">
                    <a:solidFill>
                      <a:srgbClr val="FFFFFF"/>
                    </a:solidFill>
                  </a:tcPr>
                </a:tc>
                <a:tc>
                  <a:txBody>
                    <a:bodyPr wrap="none"/>
                    <a:lstStyle/>
                    <a:p>
                      <a:pPr algn="l"/>
                      <a:r>
                        <a:rPr sz="800" b="0">
                          <a:solidFill>
                            <a:srgbClr val="2E2E2E"/>
                          </a:solidFill>
                          <a:latin typeface="Calibri"/>
                        </a:rPr>
                        <a:t>385.1</a:t>
                      </a:r>
                    </a:p>
                  </a:txBody>
                  <a:tcPr marL="85725" marR="38100" marT="19050" marB="19050" anchor="ctr">
                    <a:solidFill>
                      <a:srgbClr val="FFFFFF"/>
                    </a:solidFill>
                  </a:tcPr>
                </a:tc>
                <a:tc>
                  <a:txBody>
                    <a:bodyPr wrap="none"/>
                    <a:lstStyle/>
                    <a:p>
                      <a:pPr algn="l"/>
                      <a:r>
                        <a:rPr sz="800" b="0">
                          <a:solidFill>
                            <a:srgbClr val="2E2E2E"/>
                          </a:solidFill>
                          <a:latin typeface="Calibri"/>
                        </a:rPr>
                        <a:t>416.2</a:t>
                      </a:r>
                    </a:p>
                  </a:txBody>
                  <a:tcPr marL="85725" marR="38100" marT="19050" marB="19050" anchor="ctr">
                    <a:solidFill>
                      <a:srgbClr val="FFFFFF"/>
                    </a:solidFill>
                  </a:tcPr>
                </a:tc>
                <a:tc>
                  <a:txBody>
                    <a:bodyPr wrap="none"/>
                    <a:lstStyle/>
                    <a:p>
                      <a:pPr algn="l"/>
                      <a:r>
                        <a:rPr sz="800" b="0">
                          <a:solidFill>
                            <a:srgbClr val="2E2E2E"/>
                          </a:solidFill>
                          <a:latin typeface="Calibri"/>
                        </a:rPr>
                        <a:t>450.8</a:t>
                      </a:r>
                    </a:p>
                  </a:txBody>
                  <a:tcPr marL="85725" marR="38100" marT="19050" marB="19050" anchor="ctr">
                    <a:solidFill>
                      <a:srgbClr val="FFFFFF"/>
                    </a:solidFill>
                  </a:tcPr>
                </a:tc>
                <a:tc>
                  <a:txBody>
                    <a:bodyPr wrap="none"/>
                    <a:lstStyle/>
                    <a:p>
                      <a:pPr algn="l"/>
                      <a:r>
                        <a:rPr sz="800" b="0">
                          <a:solidFill>
                            <a:srgbClr val="2E2E2E"/>
                          </a:solidFill>
                          <a:latin typeface="Calibri"/>
                        </a:rPr>
                        <a:t>488.6</a:t>
                      </a:r>
                    </a:p>
                  </a:txBody>
                  <a:tcPr marL="85725" marR="38100" marT="19050" marB="19050" anchor="ctr">
                    <a:solidFill>
                      <a:srgbClr val="FFFFFF"/>
                    </a:solidFill>
                  </a:tcPr>
                </a:tc>
                <a:tc>
                  <a:txBody>
                    <a:bodyPr wrap="none"/>
                    <a:lstStyle/>
                    <a:p>
                      <a:pPr algn="l"/>
                      <a:r>
                        <a:rPr sz="800" b="0">
                          <a:solidFill>
                            <a:srgbClr val="2E2E2E"/>
                          </a:solidFill>
                          <a:latin typeface="Calibri"/>
                        </a:rPr>
                        <a:t>529.1</a:t>
                      </a:r>
                    </a:p>
                  </a:txBody>
                  <a:tcPr marL="85725" marR="38100" marT="19050" marB="19050" anchor="ctr">
                    <a:solidFill>
                      <a:srgbClr val="FFFFFF"/>
                    </a:solidFill>
                  </a:tcPr>
                </a:tc>
                <a:tc>
                  <a:txBody>
                    <a:bodyPr wrap="none"/>
                    <a:lstStyle/>
                    <a:p>
                      <a:pPr algn="l"/>
                      <a:r>
                        <a:rPr sz="800" b="0">
                          <a:solidFill>
                            <a:srgbClr val="2E2E2E"/>
                          </a:solidFill>
                          <a:latin typeface="Calibri"/>
                        </a:rPr>
                        <a:t>573.4</a:t>
                      </a:r>
                    </a:p>
                  </a:txBody>
                  <a:tcPr marL="85725" marR="38100" marT="19050" marB="19050" anchor="ctr">
                    <a:solidFill>
                      <a:srgbClr val="FFFFFF"/>
                    </a:solidFill>
                  </a:tcPr>
                </a:tc>
                <a:tc>
                  <a:txBody>
                    <a:bodyPr wrap="none"/>
                    <a:lstStyle/>
                    <a:p>
                      <a:pPr algn="l"/>
                      <a:r>
                        <a:rPr sz="800" b="0">
                          <a:solidFill>
                            <a:srgbClr val="2E2E2E"/>
                          </a:solidFill>
                          <a:latin typeface="Calibri"/>
                        </a:rPr>
                        <a:t>622.0</a:t>
                      </a:r>
                    </a:p>
                  </a:txBody>
                  <a:tcPr marL="85725" marR="38100" marT="19050" marB="19050" anchor="ctr">
                    <a:solidFill>
                      <a:srgbClr val="FFFFFF"/>
                    </a:solidFill>
                  </a:tcPr>
                </a:tc>
                <a:tc>
                  <a:txBody>
                    <a:bodyPr wrap="none"/>
                    <a:lstStyle/>
                    <a:p>
                      <a:pPr algn="l"/>
                      <a:r>
                        <a:rPr sz="800" b="0">
                          <a:solidFill>
                            <a:srgbClr val="2E2E2E"/>
                          </a:solidFill>
                          <a:latin typeface="Calibri"/>
                        </a:rPr>
                        <a:t>676.3</a:t>
                      </a:r>
                    </a:p>
                  </a:txBody>
                  <a:tcPr marL="85725" marR="38100" marT="19050" marB="19050" anchor="ctr">
                    <a:solidFill>
                      <a:srgbClr val="FFFFFF"/>
                    </a:solidFill>
                  </a:tcPr>
                </a:tc>
                <a:tc>
                  <a:txBody>
                    <a:bodyPr wrap="none"/>
                    <a:lstStyle/>
                    <a:p>
                      <a:pPr algn="l"/>
                      <a:r>
                        <a:rPr sz="800" b="0">
                          <a:solidFill>
                            <a:srgbClr val="2E2E2E"/>
                          </a:solidFill>
                          <a:latin typeface="Calibri"/>
                        </a:rPr>
                        <a:t>737.0</a:t>
                      </a:r>
                    </a:p>
                  </a:txBody>
                  <a:tcPr marL="85725" marR="38100" marT="19050" marB="19050" anchor="ctr">
                    <a:solidFill>
                      <a:srgbClr val="FFFFFF"/>
                    </a:solidFill>
                  </a:tcPr>
                </a:tc>
                <a:tc>
                  <a:txBody>
                    <a:bodyPr wrap="none"/>
                    <a:lstStyle/>
                    <a:p>
                      <a:pPr algn="l"/>
                      <a:r>
                        <a:rPr sz="800" b="0">
                          <a:solidFill>
                            <a:srgbClr val="2E2E2E"/>
                          </a:solidFill>
                          <a:latin typeface="Calibri"/>
                        </a:rPr>
                        <a:t>804.5</a:t>
                      </a:r>
                    </a:p>
                  </a:txBody>
                  <a:tcPr marL="85725" marR="38100" marT="19050" marB="19050" anchor="ctr">
                    <a:solidFill>
                      <a:srgbClr val="FFFFFF"/>
                    </a:solidFill>
                  </a:tcPr>
                </a:tc>
                <a:tc>
                  <a:txBody>
                    <a:bodyPr wrap="none"/>
                    <a:lstStyle/>
                    <a:p>
                      <a:pPr algn="l"/>
                      <a:r>
                        <a:rPr sz="800" b="0">
                          <a:solidFill>
                            <a:srgbClr val="2E2E2E"/>
                          </a:solidFill>
                          <a:latin typeface="Calibri"/>
                        </a:rPr>
                        <a:t>8.4%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800" b="0">
                          <a:solidFill>
                            <a:srgbClr val="2E2E2E"/>
                          </a:solidFill>
                          <a:latin typeface="Calibri"/>
                        </a:rPr>
                        <a:t>130.7</a:t>
                      </a:r>
                    </a:p>
                  </a:txBody>
                  <a:tcPr marL="85725" marR="38100" marT="19050" marB="19050" anchor="ctr">
                    <a:solidFill>
                      <a:srgbClr val="F5F8FA"/>
                    </a:solidFill>
                  </a:tcPr>
                </a:tc>
                <a:tc>
                  <a:txBody>
                    <a:bodyPr wrap="none"/>
                    <a:lstStyle/>
                    <a:p>
                      <a:pPr algn="l"/>
                      <a:r>
                        <a:rPr sz="800" b="0">
                          <a:solidFill>
                            <a:srgbClr val="2E2E2E"/>
                          </a:solidFill>
                          <a:latin typeface="Calibri"/>
                        </a:rPr>
                        <a:t>135.2</a:t>
                      </a:r>
                    </a:p>
                  </a:txBody>
                  <a:tcPr marL="85725" marR="38100" marT="19050" marB="19050" anchor="ctr">
                    <a:solidFill>
                      <a:srgbClr val="F5F8FA"/>
                    </a:solidFill>
                  </a:tcPr>
                </a:tc>
                <a:tc>
                  <a:txBody>
                    <a:bodyPr wrap="none"/>
                    <a:lstStyle/>
                    <a:p>
                      <a:pPr algn="l"/>
                      <a:r>
                        <a:rPr sz="800" b="0">
                          <a:solidFill>
                            <a:srgbClr val="2E2E2E"/>
                          </a:solidFill>
                          <a:latin typeface="Calibri"/>
                        </a:rPr>
                        <a:t>140.3</a:t>
                      </a:r>
                    </a:p>
                  </a:txBody>
                  <a:tcPr marL="85725" marR="38100" marT="19050" marB="19050" anchor="ctr">
                    <a:solidFill>
                      <a:srgbClr val="F5F8FA"/>
                    </a:solidFill>
                  </a:tcPr>
                </a:tc>
                <a:tc>
                  <a:txBody>
                    <a:bodyPr wrap="none"/>
                    <a:lstStyle/>
                    <a:p>
                      <a:pPr algn="l"/>
                      <a:r>
                        <a:rPr sz="800" b="0">
                          <a:solidFill>
                            <a:srgbClr val="2E2E2E"/>
                          </a:solidFill>
                          <a:latin typeface="Calibri"/>
                        </a:rPr>
                        <a:t>146.5</a:t>
                      </a:r>
                    </a:p>
                  </a:txBody>
                  <a:tcPr marL="85725" marR="38100" marT="19050" marB="19050" anchor="ctr">
                    <a:solidFill>
                      <a:srgbClr val="F5F8FA"/>
                    </a:solidFill>
                  </a:tcPr>
                </a:tc>
                <a:tc>
                  <a:txBody>
                    <a:bodyPr wrap="none"/>
                    <a:lstStyle/>
                    <a:p>
                      <a:pPr algn="l"/>
                      <a:r>
                        <a:rPr sz="800" b="0">
                          <a:solidFill>
                            <a:srgbClr val="2E2E2E"/>
                          </a:solidFill>
                          <a:latin typeface="Calibri"/>
                        </a:rPr>
                        <a:t>154.2</a:t>
                      </a:r>
                    </a:p>
                  </a:txBody>
                  <a:tcPr marL="85725" marR="38100" marT="19050" marB="19050" anchor="ctr">
                    <a:solidFill>
                      <a:srgbClr val="F5F8FA"/>
                    </a:solidFill>
                  </a:tcPr>
                </a:tc>
                <a:tc>
                  <a:txBody>
                    <a:bodyPr wrap="none"/>
                    <a:lstStyle/>
                    <a:p>
                      <a:pPr algn="l"/>
                      <a:r>
                        <a:rPr sz="800" b="0">
                          <a:solidFill>
                            <a:srgbClr val="2E2E2E"/>
                          </a:solidFill>
                          <a:latin typeface="Calibri"/>
                        </a:rPr>
                        <a:t>163.5</a:t>
                      </a:r>
                    </a:p>
                  </a:txBody>
                  <a:tcPr marL="85725" marR="38100" marT="19050" marB="19050" anchor="ctr">
                    <a:solidFill>
                      <a:srgbClr val="F5F8FA"/>
                    </a:solidFill>
                  </a:tcPr>
                </a:tc>
                <a:tc>
                  <a:txBody>
                    <a:bodyPr wrap="none"/>
                    <a:lstStyle/>
                    <a:p>
                      <a:pPr algn="l"/>
                      <a:r>
                        <a:rPr sz="800" b="0">
                          <a:solidFill>
                            <a:srgbClr val="2E2E2E"/>
                          </a:solidFill>
                          <a:latin typeface="Calibri"/>
                        </a:rPr>
                        <a:t>174.9</a:t>
                      </a:r>
                    </a:p>
                  </a:txBody>
                  <a:tcPr marL="85725" marR="38100" marT="19050" marB="19050" anchor="ctr">
                    <a:solidFill>
                      <a:srgbClr val="F5F8FA"/>
                    </a:solidFill>
                  </a:tcPr>
                </a:tc>
                <a:tc>
                  <a:txBody>
                    <a:bodyPr wrap="none"/>
                    <a:lstStyle/>
                    <a:p>
                      <a:pPr algn="l"/>
                      <a:r>
                        <a:rPr sz="800" b="0">
                          <a:solidFill>
                            <a:srgbClr val="2E2E2E"/>
                          </a:solidFill>
                          <a:latin typeface="Calibri"/>
                        </a:rPr>
                        <a:t>188.3</a:t>
                      </a:r>
                    </a:p>
                  </a:txBody>
                  <a:tcPr marL="85725" marR="38100" marT="19050" marB="19050" anchor="ctr">
                    <a:solidFill>
                      <a:srgbClr val="F5F8FA"/>
                    </a:solidFill>
                  </a:tcPr>
                </a:tc>
                <a:tc>
                  <a:txBody>
                    <a:bodyPr wrap="none"/>
                    <a:lstStyle/>
                    <a:p>
                      <a:pPr algn="l"/>
                      <a:r>
                        <a:rPr sz="800" b="0">
                          <a:solidFill>
                            <a:srgbClr val="2E2E2E"/>
                          </a:solidFill>
                          <a:latin typeface="Calibri"/>
                        </a:rPr>
                        <a:t>204.0</a:t>
                      </a:r>
                    </a:p>
                  </a:txBody>
                  <a:tcPr marL="85725" marR="38100" marT="19050" marB="19050" anchor="ctr">
                    <a:solidFill>
                      <a:srgbClr val="F5F8FA"/>
                    </a:solidFill>
                  </a:tcPr>
                </a:tc>
                <a:tc>
                  <a:txBody>
                    <a:bodyPr wrap="none"/>
                    <a:lstStyle/>
                    <a:p>
                      <a:pPr algn="l"/>
                      <a:r>
                        <a:rPr sz="800" b="0">
                          <a:solidFill>
                            <a:srgbClr val="2E2E2E"/>
                          </a:solidFill>
                          <a:latin typeface="Calibri"/>
                        </a:rPr>
                        <a:t>221.5</a:t>
                      </a:r>
                    </a:p>
                  </a:txBody>
                  <a:tcPr marL="85725" marR="38100" marT="19050" marB="19050" anchor="ctr">
                    <a:solidFill>
                      <a:srgbClr val="F5F8FA"/>
                    </a:solidFill>
                  </a:tcPr>
                </a:tc>
                <a:tc>
                  <a:txBody>
                    <a:bodyPr wrap="none"/>
                    <a:lstStyle/>
                    <a:p>
                      <a:pPr algn="l"/>
                      <a:r>
                        <a:rPr sz="800" b="0">
                          <a:solidFill>
                            <a:srgbClr val="2E2E2E"/>
                          </a:solidFill>
                          <a:latin typeface="Calibri"/>
                        </a:rPr>
                        <a:t>240.7</a:t>
                      </a:r>
                    </a:p>
                  </a:txBody>
                  <a:tcPr marL="85725" marR="38100" marT="19050" marB="19050" anchor="ctr">
                    <a:solidFill>
                      <a:srgbClr val="F5F8FA"/>
                    </a:solidFill>
                  </a:tcPr>
                </a:tc>
                <a:tc>
                  <a:txBody>
                    <a:bodyPr wrap="none"/>
                    <a:lstStyle/>
                    <a:p>
                      <a:pPr algn="l"/>
                      <a:r>
                        <a:rPr sz="800" b="0">
                          <a:solidFill>
                            <a:srgbClr val="2E2E2E"/>
                          </a:solidFill>
                          <a:latin typeface="Calibri"/>
                        </a:rPr>
                        <a:t>261.6</a:t>
                      </a:r>
                    </a:p>
                  </a:txBody>
                  <a:tcPr marL="85725" marR="38100" marT="19050" marB="19050" anchor="ctr">
                    <a:solidFill>
                      <a:srgbClr val="F5F8FA"/>
                    </a:solidFill>
                  </a:tcPr>
                </a:tc>
                <a:tc>
                  <a:txBody>
                    <a:bodyPr wrap="none"/>
                    <a:lstStyle/>
                    <a:p>
                      <a:pPr algn="l"/>
                      <a:r>
                        <a:rPr sz="800" b="0">
                          <a:solidFill>
                            <a:srgbClr val="2E2E2E"/>
                          </a:solidFill>
                          <a:latin typeface="Calibri"/>
                        </a:rPr>
                        <a:t>284.1</a:t>
                      </a:r>
                    </a:p>
                  </a:txBody>
                  <a:tcPr marL="85725" marR="38100" marT="19050" marB="19050" anchor="ctr">
                    <a:solidFill>
                      <a:srgbClr val="F5F8FA"/>
                    </a:solidFill>
                  </a:tcPr>
                </a:tc>
                <a:tc>
                  <a:txBody>
                    <a:bodyPr wrap="none"/>
                    <a:lstStyle/>
                    <a:p>
                      <a:pPr algn="l"/>
                      <a:r>
                        <a:rPr sz="800" b="0">
                          <a:solidFill>
                            <a:srgbClr val="2E2E2E"/>
                          </a:solidFill>
                          <a:latin typeface="Calibri"/>
                        </a:rPr>
                        <a:t>308.8</a:t>
                      </a:r>
                    </a:p>
                  </a:txBody>
                  <a:tcPr marL="85725" marR="38100" marT="19050" marB="19050" anchor="ctr">
                    <a:solidFill>
                      <a:srgbClr val="F5F8FA"/>
                    </a:solidFill>
                  </a:tcPr>
                </a:tc>
                <a:tc>
                  <a:txBody>
                    <a:bodyPr wrap="none"/>
                    <a:lstStyle/>
                    <a:p>
                      <a:pPr algn="l"/>
                      <a:r>
                        <a:rPr sz="800" b="0">
                          <a:solidFill>
                            <a:srgbClr val="2E2E2E"/>
                          </a:solidFill>
                          <a:latin typeface="Calibri"/>
                        </a:rPr>
                        <a:t>336.2</a:t>
                      </a:r>
                    </a:p>
                  </a:txBody>
                  <a:tcPr marL="85725" marR="38100" marT="19050" marB="19050" anchor="ctr">
                    <a:solidFill>
                      <a:srgbClr val="F5F8FA"/>
                    </a:solidFill>
                  </a:tcPr>
                </a:tc>
                <a:tc>
                  <a:txBody>
                    <a:bodyPr wrap="none"/>
                    <a:lstStyle/>
                    <a:p>
                      <a:pPr algn="l"/>
                      <a:r>
                        <a:rPr sz="800" b="0">
                          <a:solidFill>
                            <a:srgbClr val="2E2E2E"/>
                          </a:solidFill>
                          <a:latin typeface="Calibri"/>
                        </a:rPr>
                        <a:t>366.2</a:t>
                      </a:r>
                    </a:p>
                  </a:txBody>
                  <a:tcPr marL="85725" marR="38100" marT="19050" marB="19050" anchor="ctr">
                    <a:solidFill>
                      <a:srgbClr val="F5F8FA"/>
                    </a:solidFill>
                  </a:tcPr>
                </a:tc>
                <a:tc>
                  <a:txBody>
                    <a:bodyPr wrap="none"/>
                    <a:lstStyle/>
                    <a:p>
                      <a:pPr algn="l"/>
                      <a:r>
                        <a:rPr sz="8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800" b="0">
                          <a:solidFill>
                            <a:srgbClr val="2E2E2E"/>
                          </a:solidFill>
                          <a:latin typeface="Calibri"/>
                        </a:rPr>
                        <a:t>83.7</a:t>
                      </a:r>
                    </a:p>
                  </a:txBody>
                  <a:tcPr marL="85725" marR="38100" marT="19050" marB="19050" anchor="ctr">
                    <a:solidFill>
                      <a:srgbClr val="FFFFFF"/>
                    </a:solidFill>
                  </a:tcPr>
                </a:tc>
                <a:tc>
                  <a:txBody>
                    <a:bodyPr wrap="none"/>
                    <a:lstStyle/>
                    <a:p>
                      <a:pPr algn="l"/>
                      <a:r>
                        <a:rPr sz="800" b="0">
                          <a:solidFill>
                            <a:srgbClr val="2E2E2E"/>
                          </a:solidFill>
                          <a:latin typeface="Calibri"/>
                        </a:rPr>
                        <a:t>85.9</a:t>
                      </a:r>
                    </a:p>
                  </a:txBody>
                  <a:tcPr marL="85725" marR="38100" marT="19050" marB="19050" anchor="ctr">
                    <a:solidFill>
                      <a:srgbClr val="FFFFFF"/>
                    </a:solidFill>
                  </a:tcPr>
                </a:tc>
                <a:tc>
                  <a:txBody>
                    <a:bodyPr wrap="none"/>
                    <a:lstStyle/>
                    <a:p>
                      <a:pPr algn="l"/>
                      <a:r>
                        <a:rPr sz="800" b="0">
                          <a:solidFill>
                            <a:srgbClr val="2E2E2E"/>
                          </a:solidFill>
                          <a:latin typeface="Calibri"/>
                        </a:rPr>
                        <a:t>88.4</a:t>
                      </a:r>
                    </a:p>
                  </a:txBody>
                  <a:tcPr marL="85725" marR="38100" marT="19050" marB="19050" anchor="ctr">
                    <a:solidFill>
                      <a:srgbClr val="FFFFFF"/>
                    </a:solidFill>
                  </a:tcPr>
                </a:tc>
                <a:tc>
                  <a:txBody>
                    <a:bodyPr wrap="none"/>
                    <a:lstStyle/>
                    <a:p>
                      <a:pPr algn="l"/>
                      <a:r>
                        <a:rPr sz="800" b="0">
                          <a:solidFill>
                            <a:srgbClr val="2E2E2E"/>
                          </a:solidFill>
                          <a:latin typeface="Calibri"/>
                        </a:rPr>
                        <a:t>91.6</a:t>
                      </a:r>
                    </a:p>
                  </a:txBody>
                  <a:tcPr marL="85725" marR="38100" marT="19050" marB="19050" anchor="ctr">
                    <a:solidFill>
                      <a:srgbClr val="FFFFFF"/>
                    </a:solidFill>
                  </a:tcPr>
                </a:tc>
                <a:tc>
                  <a:txBody>
                    <a:bodyPr wrap="none"/>
                    <a:lstStyle/>
                    <a:p>
                      <a:pPr algn="l"/>
                      <a:r>
                        <a:rPr sz="800" b="0">
                          <a:solidFill>
                            <a:srgbClr val="2E2E2E"/>
                          </a:solidFill>
                          <a:latin typeface="Calibri"/>
                        </a:rPr>
                        <a:t>95.7</a:t>
                      </a:r>
                    </a:p>
                  </a:txBody>
                  <a:tcPr marL="85725" marR="38100" marT="19050" marB="19050" anchor="ctr">
                    <a:solidFill>
                      <a:srgbClr val="FFFFFF"/>
                    </a:solidFill>
                  </a:tcPr>
                </a:tc>
                <a:tc>
                  <a:txBody>
                    <a:bodyPr wrap="none"/>
                    <a:lstStyle/>
                    <a:p>
                      <a:pPr algn="l"/>
                      <a:r>
                        <a:rPr sz="800" b="0">
                          <a:solidFill>
                            <a:srgbClr val="2E2E2E"/>
                          </a:solidFill>
                          <a:latin typeface="Calibri"/>
                        </a:rPr>
                        <a:t>100.9</a:t>
                      </a:r>
                    </a:p>
                  </a:txBody>
                  <a:tcPr marL="85725" marR="38100" marT="19050" marB="19050" anchor="ctr">
                    <a:solidFill>
                      <a:srgbClr val="FFFFFF"/>
                    </a:solidFill>
                  </a:tcPr>
                </a:tc>
                <a:tc>
                  <a:txBody>
                    <a:bodyPr wrap="none"/>
                    <a:lstStyle/>
                    <a:p>
                      <a:pPr algn="l"/>
                      <a:r>
                        <a:rPr sz="800" b="0">
                          <a:solidFill>
                            <a:srgbClr val="2E2E2E"/>
                          </a:solidFill>
                          <a:latin typeface="Calibri"/>
                        </a:rPr>
                        <a:t>107.2</a:t>
                      </a:r>
                    </a:p>
                  </a:txBody>
                  <a:tcPr marL="85725" marR="38100" marT="19050" marB="19050" anchor="ctr">
                    <a:solidFill>
                      <a:srgbClr val="FFFFFF"/>
                    </a:solidFill>
                  </a:tcPr>
                </a:tc>
                <a:tc>
                  <a:txBody>
                    <a:bodyPr wrap="none"/>
                    <a:lstStyle/>
                    <a:p>
                      <a:pPr algn="l"/>
                      <a:r>
                        <a:rPr sz="800" b="0">
                          <a:solidFill>
                            <a:srgbClr val="2E2E2E"/>
                          </a:solidFill>
                          <a:latin typeface="Calibri"/>
                        </a:rPr>
                        <a:t>114.7</a:t>
                      </a:r>
                    </a:p>
                  </a:txBody>
                  <a:tcPr marL="85725" marR="38100" marT="19050" marB="19050" anchor="ctr">
                    <a:solidFill>
                      <a:srgbClr val="FFFFFF"/>
                    </a:solidFill>
                  </a:tcPr>
                </a:tc>
                <a:tc>
                  <a:txBody>
                    <a:bodyPr wrap="none"/>
                    <a:lstStyle/>
                    <a:p>
                      <a:pPr algn="l"/>
                      <a:r>
                        <a:rPr sz="800" b="0">
                          <a:solidFill>
                            <a:srgbClr val="2E2E2E"/>
                          </a:solidFill>
                          <a:latin typeface="Calibri"/>
                        </a:rPr>
                        <a:t>123.5</a:t>
                      </a:r>
                    </a:p>
                  </a:txBody>
                  <a:tcPr marL="85725" marR="38100" marT="19050" marB="19050" anchor="ctr">
                    <a:solidFill>
                      <a:srgbClr val="FFFFFF"/>
                    </a:solidFill>
                  </a:tcPr>
                </a:tc>
                <a:tc>
                  <a:txBody>
                    <a:bodyPr wrap="none"/>
                    <a:lstStyle/>
                    <a:p>
                      <a:pPr algn="l"/>
                      <a:r>
                        <a:rPr sz="800" b="0">
                          <a:solidFill>
                            <a:srgbClr val="2E2E2E"/>
                          </a:solidFill>
                          <a:latin typeface="Calibri"/>
                        </a:rPr>
                        <a:t>133.3</a:t>
                      </a:r>
                    </a:p>
                  </a:txBody>
                  <a:tcPr marL="85725" marR="38100" marT="19050" marB="19050" anchor="ctr">
                    <a:solidFill>
                      <a:srgbClr val="FFFFFF"/>
                    </a:solidFill>
                  </a:tcPr>
                </a:tc>
                <a:tc>
                  <a:txBody>
                    <a:bodyPr wrap="none"/>
                    <a:lstStyle/>
                    <a:p>
                      <a:pPr algn="l"/>
                      <a:r>
                        <a:rPr sz="800" b="0">
                          <a:solidFill>
                            <a:srgbClr val="2E2E2E"/>
                          </a:solidFill>
                          <a:latin typeface="Calibri"/>
                        </a:rPr>
                        <a:t>143.8</a:t>
                      </a:r>
                    </a:p>
                  </a:txBody>
                  <a:tcPr marL="85725" marR="38100" marT="19050" marB="19050" anchor="ctr">
                    <a:solidFill>
                      <a:srgbClr val="FFFFFF"/>
                    </a:solidFill>
                  </a:tcPr>
                </a:tc>
                <a:tc>
                  <a:txBody>
                    <a:bodyPr wrap="none"/>
                    <a:lstStyle/>
                    <a:p>
                      <a:pPr algn="l"/>
                      <a:r>
                        <a:rPr sz="800" b="0">
                          <a:solidFill>
                            <a:srgbClr val="2E2E2E"/>
                          </a:solidFill>
                          <a:latin typeface="Calibri"/>
                        </a:rPr>
                        <a:t>155.3</a:t>
                      </a:r>
                    </a:p>
                  </a:txBody>
                  <a:tcPr marL="85725" marR="38100" marT="19050" marB="19050" anchor="ctr">
                    <a:solidFill>
                      <a:srgbClr val="FFFFFF"/>
                    </a:solidFill>
                  </a:tcPr>
                </a:tc>
                <a:tc>
                  <a:txBody>
                    <a:bodyPr wrap="none"/>
                    <a:lstStyle/>
                    <a:p>
                      <a:pPr algn="l"/>
                      <a:r>
                        <a:rPr sz="800" b="0">
                          <a:solidFill>
                            <a:srgbClr val="2E2E2E"/>
                          </a:solidFill>
                          <a:latin typeface="Calibri"/>
                        </a:rPr>
                        <a:t>167.7</a:t>
                      </a:r>
                    </a:p>
                  </a:txBody>
                  <a:tcPr marL="85725" marR="38100" marT="19050" marB="19050" anchor="ctr">
                    <a:solidFill>
                      <a:srgbClr val="FFFFFF"/>
                    </a:solidFill>
                  </a:tcPr>
                </a:tc>
                <a:tc>
                  <a:txBody>
                    <a:bodyPr wrap="none"/>
                    <a:lstStyle/>
                    <a:p>
                      <a:pPr algn="l"/>
                      <a:r>
                        <a:rPr sz="800" b="0">
                          <a:solidFill>
                            <a:srgbClr val="2E2E2E"/>
                          </a:solidFill>
                          <a:latin typeface="Calibri"/>
                        </a:rPr>
                        <a:t>181.3</a:t>
                      </a:r>
                    </a:p>
                  </a:txBody>
                  <a:tcPr marL="85725" marR="38100" marT="19050" marB="19050" anchor="ctr">
                    <a:solidFill>
                      <a:srgbClr val="FFFFFF"/>
                    </a:solidFill>
                  </a:tcPr>
                </a:tc>
                <a:tc>
                  <a:txBody>
                    <a:bodyPr wrap="none"/>
                    <a:lstStyle/>
                    <a:p>
                      <a:pPr algn="l"/>
                      <a:r>
                        <a:rPr sz="800" b="0">
                          <a:solidFill>
                            <a:srgbClr val="2E2E2E"/>
                          </a:solidFill>
                          <a:latin typeface="Calibri"/>
                        </a:rPr>
                        <a:t>196.3</a:t>
                      </a:r>
                    </a:p>
                  </a:txBody>
                  <a:tcPr marL="85725" marR="38100" marT="19050" marB="19050" anchor="ctr">
                    <a:solidFill>
                      <a:srgbClr val="FFFFFF"/>
                    </a:solidFill>
                  </a:tcPr>
                </a:tc>
                <a:tc>
                  <a:txBody>
                    <a:bodyPr wrap="none"/>
                    <a:lstStyle/>
                    <a:p>
                      <a:pPr algn="l"/>
                      <a:r>
                        <a:rPr sz="800" b="0">
                          <a:solidFill>
                            <a:srgbClr val="2E2E2E"/>
                          </a:solidFill>
                          <a:latin typeface="Calibri"/>
                        </a:rPr>
                        <a:t>212.6</a:t>
                      </a:r>
                    </a:p>
                  </a:txBody>
                  <a:tcPr marL="85725" marR="38100" marT="19050" marB="19050" anchor="ctr">
                    <a:solidFill>
                      <a:srgbClr val="FFFFFF"/>
                    </a:solidFill>
                  </a:tcPr>
                </a:tc>
                <a:tc>
                  <a:txBody>
                    <a:bodyPr wrap="none"/>
                    <a:lstStyle/>
                    <a:p>
                      <a:pPr algn="l"/>
                      <a:r>
                        <a:rPr sz="8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41624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438650"/>
            <a:ext cx="11906250" cy="2286000"/>
          </a:xfrm>
          <a:prstGeom prst="roundRect">
            <a:avLst>
              <a:gd name="adj" fmla="val 33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524375"/>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Share Read-out, By Region</a:t>
            </a:r>
          </a:p>
        </p:txBody>
      </p:sp>
      <p:sp>
        <p:nvSpPr>
          <p:cNvPr id="18" name="Rectangle 17"/>
          <p:cNvSpPr/>
          <p:nvPr/>
        </p:nvSpPr>
        <p:spPr>
          <a:xfrm>
            <a:off x="276225" y="47625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848225"/>
            <a:ext cx="11639550" cy="18002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is the largest region 32.9% of 2036 value (1,622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grows fastest at 8.4%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'East Asia' (+79 BPS) and away from 'Western Europe' (-91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7 regions.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Trends, By Region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how regional volume and value shares shift over 2021–2036, highlighting who gains ground</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Region (Units)</a:t>
            </a:r>
          </a:p>
        </p:txBody>
      </p:sp>
      <p:graphicFrame>
        <p:nvGraphicFramePr>
          <p:cNvPr id="14" name="Chart 13"/>
          <p:cNvGraphicFramePr>
            <a:graphicFrameLocks noGrp="1"/>
          </p:cNvGraphicFramePr>
          <p:nvPr/>
        </p:nvGraphicFramePr>
        <p:xfrm>
          <a:off x="238125" y="1143000"/>
          <a:ext cx="9829800"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10144125" y="1181100"/>
            <a:ext cx="1809750" cy="2447925"/>
          </a:xfrm>
          <a:prstGeom prst="roundRect">
            <a:avLst>
              <a:gd name="adj" fmla="val 421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20325" y="1238250"/>
            <a:ext cx="1676400" cy="171450"/>
          </a:xfrm>
          <a:prstGeom prst="rect">
            <a:avLst/>
          </a:prstGeom>
          <a:noFill/>
        </p:spPr>
        <p:txBody>
          <a:bodyPr wrap="none">
            <a:spAutoFit/>
          </a:bodyPr>
          <a:lstStyle/>
          <a:p>
            <a:r>
              <a:rPr sz="850" b="1">
                <a:solidFill>
                  <a:srgbClr val="6C7A89"/>
                </a:solidFill>
                <a:latin typeface="Calibri"/>
              </a:rPr>
              <a:t>By segment  ·  2036</a:t>
            </a:r>
          </a:p>
        </p:txBody>
      </p:sp>
      <p:sp>
        <p:nvSpPr>
          <p:cNvPr id="17" name="TextBox 16"/>
          <p:cNvSpPr txBox="1"/>
          <p:nvPr/>
        </p:nvSpPr>
        <p:spPr>
          <a:xfrm>
            <a:off x="10220325" y="1409700"/>
            <a:ext cx="1676400" cy="2162175"/>
          </a:xfrm>
          <a:prstGeom prst="rect">
            <a:avLst/>
          </a:prstGeom>
          <a:noFill/>
        </p:spPr>
        <p:txBody>
          <a:bodyPr wrap="square">
            <a:spAutoFit/>
          </a:bodyPr>
          <a:lstStyle/>
          <a:p>
            <a:pPr>
              <a:spcBef>
                <a:spcPts val="500"/>
              </a:spcBef>
            </a:pPr>
            <a:r>
              <a:rPr sz="900">
                <a:solidFill>
                  <a:srgbClr val="3D85C6"/>
                </a:solidFill>
                <a:latin typeface="Calibri"/>
              </a:rPr>
              <a:t>■  </a:t>
            </a:r>
            <a:r>
              <a:rPr sz="950" b="1">
                <a:solidFill>
                  <a:srgbClr val="3D85C6"/>
                </a:solidFill>
                <a:latin typeface="Calibri"/>
              </a:rPr>
              <a:t>1,796</a:t>
            </a:r>
            <a:r>
              <a:rPr sz="750">
                <a:solidFill>
                  <a:srgbClr val="2E2E2E"/>
                </a:solidFill>
                <a:latin typeface="Calibri"/>
              </a:rPr>
              <a:t>   North America</a:t>
            </a:r>
          </a:p>
          <a:p>
            <a:pPr>
              <a:spcBef>
                <a:spcPts val="500"/>
              </a:spcBef>
            </a:pPr>
            <a:r>
              <a:rPr sz="900">
                <a:solidFill>
                  <a:srgbClr val="9E7E0A"/>
                </a:solidFill>
                <a:latin typeface="Calibri"/>
              </a:rPr>
              <a:t>■  </a:t>
            </a:r>
            <a:r>
              <a:rPr sz="950" b="1">
                <a:solidFill>
                  <a:srgbClr val="9E7E0A"/>
                </a:solidFill>
                <a:latin typeface="Calibri"/>
              </a:rPr>
              <a:t>1,266</a:t>
            </a:r>
            <a:r>
              <a:rPr sz="750">
                <a:solidFill>
                  <a:srgbClr val="2E2E2E"/>
                </a:solidFill>
                <a:latin typeface="Calibri"/>
              </a:rPr>
              <a:t>   Western Europe</a:t>
            </a:r>
          </a:p>
          <a:p>
            <a:pPr>
              <a:spcBef>
                <a:spcPts val="500"/>
              </a:spcBef>
            </a:pPr>
            <a:r>
              <a:rPr sz="900">
                <a:solidFill>
                  <a:srgbClr val="008189"/>
                </a:solidFill>
                <a:latin typeface="Calibri"/>
              </a:rPr>
              <a:t>■  </a:t>
            </a:r>
            <a:r>
              <a:rPr sz="950" b="1">
                <a:solidFill>
                  <a:srgbClr val="008189"/>
                </a:solidFill>
                <a:latin typeface="Calibri"/>
              </a:rPr>
              <a:t>1,002</a:t>
            </a:r>
            <a:r>
              <a:rPr sz="750">
                <a:solidFill>
                  <a:srgbClr val="2E2E2E"/>
                </a:solidFill>
                <a:latin typeface="Calibri"/>
              </a:rPr>
              <a:t>   East Asia</a:t>
            </a:r>
          </a:p>
          <a:p>
            <a:pPr>
              <a:spcBef>
                <a:spcPts val="500"/>
              </a:spcBef>
            </a:pPr>
            <a:r>
              <a:rPr sz="900">
                <a:solidFill>
                  <a:srgbClr val="A35313"/>
                </a:solidFill>
                <a:latin typeface="Calibri"/>
              </a:rPr>
              <a:t>■  </a:t>
            </a:r>
            <a:r>
              <a:rPr sz="950" b="1">
                <a:solidFill>
                  <a:srgbClr val="A35313"/>
                </a:solidFill>
                <a:latin typeface="Calibri"/>
              </a:rPr>
              <a:t>475</a:t>
            </a:r>
            <a:r>
              <a:rPr sz="750">
                <a:solidFill>
                  <a:srgbClr val="2E2E2E"/>
                </a:solidFill>
                <a:latin typeface="Calibri"/>
              </a:rPr>
              <a:t>   South Asia Pacific</a:t>
            </a:r>
          </a:p>
          <a:p>
            <a:pPr>
              <a:spcBef>
                <a:spcPts val="500"/>
              </a:spcBef>
            </a:pPr>
            <a:r>
              <a:rPr sz="900">
                <a:solidFill>
                  <a:srgbClr val="40315E"/>
                </a:solidFill>
                <a:latin typeface="Calibri"/>
              </a:rPr>
              <a:t>■  </a:t>
            </a:r>
            <a:r>
              <a:rPr sz="950" b="1">
                <a:solidFill>
                  <a:srgbClr val="40315E"/>
                </a:solidFill>
                <a:latin typeface="Calibri"/>
              </a:rPr>
              <a:t>427</a:t>
            </a:r>
            <a:r>
              <a:rPr sz="750">
                <a:solidFill>
                  <a:srgbClr val="2E2E2E"/>
                </a:solidFill>
                <a:latin typeface="Calibri"/>
              </a:rPr>
              <a:t>   Latin America</a:t>
            </a:r>
          </a:p>
          <a:p>
            <a:pPr>
              <a:spcBef>
                <a:spcPts val="500"/>
              </a:spcBef>
            </a:pPr>
            <a:r>
              <a:rPr sz="900">
                <a:solidFill>
                  <a:srgbClr val="808080"/>
                </a:solidFill>
                <a:latin typeface="Calibri"/>
              </a:rPr>
              <a:t>■  </a:t>
            </a:r>
            <a:r>
              <a:rPr sz="950" b="1">
                <a:solidFill>
                  <a:srgbClr val="808080"/>
                </a:solidFill>
                <a:latin typeface="Calibri"/>
              </a:rPr>
              <a:t>358</a:t>
            </a:r>
            <a:r>
              <a:rPr sz="750">
                <a:solidFill>
                  <a:srgbClr val="2E2E2E"/>
                </a:solidFill>
                <a:latin typeface="Calibri"/>
              </a:rPr>
              <a:t>   Eastern Europe</a:t>
            </a:r>
          </a:p>
          <a:p>
            <a:pPr>
              <a:spcBef>
                <a:spcPts val="500"/>
              </a:spcBef>
            </a:pPr>
            <a:r>
              <a:rPr sz="900">
                <a:solidFill>
                  <a:srgbClr val="0E72AE"/>
                </a:solidFill>
                <a:latin typeface="Calibri"/>
              </a:rPr>
              <a:t>■  </a:t>
            </a:r>
            <a:r>
              <a:rPr sz="950" b="1">
                <a:solidFill>
                  <a:srgbClr val="0E72AE"/>
                </a:solidFill>
                <a:latin typeface="Calibri"/>
              </a:rPr>
              <a:t>242</a:t>
            </a:r>
            <a:r>
              <a:rPr sz="750">
                <a:solidFill>
                  <a:srgbClr val="2E2E2E"/>
                </a:solidFill>
                <a:latin typeface="Calibri"/>
              </a:rPr>
              <a:t>   Middle East &amp; Africa</a:t>
            </a:r>
          </a:p>
        </p:txBody>
      </p:sp>
      <p:sp>
        <p:nvSpPr>
          <p:cNvPr id="18" name="Rounded Rectangle 17"/>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Region (US$ Mn)</a:t>
            </a:r>
          </a:p>
        </p:txBody>
      </p:sp>
      <p:graphicFrame>
        <p:nvGraphicFramePr>
          <p:cNvPr id="20" name="Chart 19"/>
          <p:cNvGraphicFramePr>
            <a:graphicFrameLocks noGrp="1"/>
          </p:cNvGraphicFramePr>
          <p:nvPr/>
        </p:nvGraphicFramePr>
        <p:xfrm>
          <a:off x="238125" y="4143375"/>
          <a:ext cx="9829800" cy="2524125"/>
        </p:xfrm>
        <a:graphic>
          <a:graphicData uri="http://schemas.openxmlformats.org/drawingml/2006/chart">
            <c:chart xmlns:c="http://schemas.openxmlformats.org/drawingml/2006/chart" r:id="rId4"/>
          </a:graphicData>
        </a:graphic>
      </p:graphicFrame>
      <p:sp>
        <p:nvSpPr>
          <p:cNvPr id="21" name="Rounded Rectangle 20"/>
          <p:cNvSpPr/>
          <p:nvPr/>
        </p:nvSpPr>
        <p:spPr>
          <a:xfrm>
            <a:off x="10144125" y="4181475"/>
            <a:ext cx="1809750" cy="2447925"/>
          </a:xfrm>
          <a:prstGeom prst="roundRect">
            <a:avLst>
              <a:gd name="adj" fmla="val 421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20325" y="4238625"/>
            <a:ext cx="1676400" cy="171450"/>
          </a:xfrm>
          <a:prstGeom prst="rect">
            <a:avLst/>
          </a:prstGeom>
          <a:noFill/>
        </p:spPr>
        <p:txBody>
          <a:bodyPr wrap="none">
            <a:spAutoFit/>
          </a:bodyPr>
          <a:lstStyle/>
          <a:p>
            <a:r>
              <a:rPr sz="850" b="1">
                <a:solidFill>
                  <a:srgbClr val="6C7A89"/>
                </a:solidFill>
                <a:latin typeface="Calibri"/>
              </a:rPr>
              <a:t>By segment  ·  2036</a:t>
            </a:r>
          </a:p>
        </p:txBody>
      </p:sp>
      <p:sp>
        <p:nvSpPr>
          <p:cNvPr id="23" name="TextBox 22"/>
          <p:cNvSpPr txBox="1"/>
          <p:nvPr/>
        </p:nvSpPr>
        <p:spPr>
          <a:xfrm>
            <a:off x="10220325" y="4410075"/>
            <a:ext cx="1676400" cy="2162175"/>
          </a:xfrm>
          <a:prstGeom prst="rect">
            <a:avLst/>
          </a:prstGeom>
          <a:noFill/>
        </p:spPr>
        <p:txBody>
          <a:bodyPr wrap="square">
            <a:spAutoFit/>
          </a:bodyPr>
          <a:lstStyle/>
          <a:p>
            <a:pPr>
              <a:spcBef>
                <a:spcPts val="500"/>
              </a:spcBef>
            </a:pPr>
            <a:r>
              <a:rPr sz="900">
                <a:solidFill>
                  <a:srgbClr val="3D85C6"/>
                </a:solidFill>
                <a:latin typeface="Calibri"/>
              </a:rPr>
              <a:t>■  </a:t>
            </a:r>
            <a:r>
              <a:rPr sz="950" b="1">
                <a:solidFill>
                  <a:srgbClr val="3D85C6"/>
                </a:solidFill>
                <a:latin typeface="Calibri"/>
              </a:rPr>
              <a:t>1,622</a:t>
            </a:r>
            <a:r>
              <a:rPr sz="750">
                <a:solidFill>
                  <a:srgbClr val="2E2E2E"/>
                </a:solidFill>
                <a:latin typeface="Calibri"/>
              </a:rPr>
              <a:t>   North America</a:t>
            </a:r>
          </a:p>
          <a:p>
            <a:pPr>
              <a:spcBef>
                <a:spcPts val="500"/>
              </a:spcBef>
            </a:pPr>
            <a:r>
              <a:rPr sz="900">
                <a:solidFill>
                  <a:srgbClr val="9E7E0A"/>
                </a:solidFill>
                <a:latin typeface="Calibri"/>
              </a:rPr>
              <a:t>■  </a:t>
            </a:r>
            <a:r>
              <a:rPr sz="950" b="1">
                <a:solidFill>
                  <a:srgbClr val="9E7E0A"/>
                </a:solidFill>
                <a:latin typeface="Calibri"/>
              </a:rPr>
              <a:t>1,266</a:t>
            </a:r>
            <a:r>
              <a:rPr sz="750">
                <a:solidFill>
                  <a:srgbClr val="2E2E2E"/>
                </a:solidFill>
                <a:latin typeface="Calibri"/>
              </a:rPr>
              <a:t>   Western Europe</a:t>
            </a:r>
          </a:p>
          <a:p>
            <a:pPr>
              <a:spcBef>
                <a:spcPts val="500"/>
              </a:spcBef>
            </a:pPr>
            <a:r>
              <a:rPr sz="900">
                <a:solidFill>
                  <a:srgbClr val="008189"/>
                </a:solidFill>
                <a:latin typeface="Calibri"/>
              </a:rPr>
              <a:t>■  </a:t>
            </a:r>
            <a:r>
              <a:rPr sz="950" b="1">
                <a:solidFill>
                  <a:srgbClr val="008189"/>
                </a:solidFill>
                <a:latin typeface="Calibri"/>
              </a:rPr>
              <a:t>804</a:t>
            </a:r>
            <a:r>
              <a:rPr sz="750">
                <a:solidFill>
                  <a:srgbClr val="2E2E2E"/>
                </a:solidFill>
                <a:latin typeface="Calibri"/>
              </a:rPr>
              <a:t>   East Asia</a:t>
            </a:r>
          </a:p>
          <a:p>
            <a:pPr>
              <a:spcBef>
                <a:spcPts val="500"/>
              </a:spcBef>
            </a:pPr>
            <a:r>
              <a:rPr sz="900">
                <a:solidFill>
                  <a:srgbClr val="A35313"/>
                </a:solidFill>
                <a:latin typeface="Calibri"/>
              </a:rPr>
              <a:t>■  </a:t>
            </a:r>
            <a:r>
              <a:rPr sz="950" b="1">
                <a:solidFill>
                  <a:srgbClr val="A35313"/>
                </a:solidFill>
                <a:latin typeface="Calibri"/>
              </a:rPr>
              <a:t>366</a:t>
            </a:r>
            <a:r>
              <a:rPr sz="750">
                <a:solidFill>
                  <a:srgbClr val="2E2E2E"/>
                </a:solidFill>
                <a:latin typeface="Calibri"/>
              </a:rPr>
              <a:t>   South Asia Pacific</a:t>
            </a:r>
          </a:p>
          <a:p>
            <a:pPr>
              <a:spcBef>
                <a:spcPts val="500"/>
              </a:spcBef>
            </a:pPr>
            <a:r>
              <a:rPr sz="900">
                <a:solidFill>
                  <a:srgbClr val="40315E"/>
                </a:solidFill>
                <a:latin typeface="Calibri"/>
              </a:rPr>
              <a:t>■  </a:t>
            </a:r>
            <a:r>
              <a:rPr sz="950" b="1">
                <a:solidFill>
                  <a:srgbClr val="40315E"/>
                </a:solidFill>
                <a:latin typeface="Calibri"/>
              </a:rPr>
              <a:t>363</a:t>
            </a:r>
            <a:r>
              <a:rPr sz="750">
                <a:solidFill>
                  <a:srgbClr val="2E2E2E"/>
                </a:solidFill>
                <a:latin typeface="Calibri"/>
              </a:rPr>
              <a:t>   Latin America</a:t>
            </a:r>
          </a:p>
          <a:p>
            <a:pPr>
              <a:spcBef>
                <a:spcPts val="500"/>
              </a:spcBef>
            </a:pPr>
            <a:r>
              <a:rPr sz="900">
                <a:solidFill>
                  <a:srgbClr val="808080"/>
                </a:solidFill>
                <a:latin typeface="Calibri"/>
              </a:rPr>
              <a:t>■  </a:t>
            </a:r>
            <a:r>
              <a:rPr sz="950" b="1">
                <a:solidFill>
                  <a:srgbClr val="808080"/>
                </a:solidFill>
                <a:latin typeface="Calibri"/>
              </a:rPr>
              <a:t>299</a:t>
            </a:r>
            <a:r>
              <a:rPr sz="750">
                <a:solidFill>
                  <a:srgbClr val="2E2E2E"/>
                </a:solidFill>
                <a:latin typeface="Calibri"/>
              </a:rPr>
              <a:t>   Eastern Europe</a:t>
            </a:r>
          </a:p>
          <a:p>
            <a:pPr>
              <a:spcBef>
                <a:spcPts val="500"/>
              </a:spcBef>
            </a:pPr>
            <a:r>
              <a:rPr sz="900">
                <a:solidFill>
                  <a:srgbClr val="0E72AE"/>
                </a:solidFill>
                <a:latin typeface="Calibri"/>
              </a:rPr>
              <a:t>■  </a:t>
            </a:r>
            <a:r>
              <a:rPr sz="950" b="1">
                <a:solidFill>
                  <a:srgbClr val="0E72AE"/>
                </a:solidFill>
                <a:latin typeface="Calibri"/>
              </a:rPr>
              <a:t>213</a:t>
            </a:r>
            <a:r>
              <a:rPr sz="750">
                <a:solidFill>
                  <a:srgbClr val="2E2E2E"/>
                </a:solidFill>
                <a:latin typeface="Calibri"/>
              </a:rPr>
              <a:t>   Middle East &amp; Africa</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Top 10 Countries (2036)</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Country hierarchy of the global market in 2036, highlighting the leading countries within each region by value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market by country  ·  2036 (US$ Mn)  ·  tile size = market value</a:t>
            </a:r>
          </a:p>
        </p:txBody>
      </p:sp>
      <p:sp>
        <p:nvSpPr>
          <p:cNvPr id="14" name="Rectangle 13"/>
          <p:cNvSpPr/>
          <p:nvPr/>
        </p:nvSpPr>
        <p:spPr>
          <a:xfrm>
            <a:off x="238125" y="1143000"/>
            <a:ext cx="4754453" cy="5524500"/>
          </a:xfrm>
          <a:prstGeom prst="rect">
            <a:avLst/>
          </a:prstGeom>
          <a:solidFill>
            <a:srgbClr val="3D85C6"/>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United States</a:t>
            </a:r>
          </a:p>
          <a:p>
            <a:pPr algn="ctr"/>
            <a:r>
              <a:rPr sz="700" b="0">
                <a:solidFill>
                  <a:srgbClr val="FFFFFF"/>
                </a:solidFill>
                <a:latin typeface="Calibri"/>
              </a:rPr>
              <a:t>1,398</a:t>
            </a:r>
          </a:p>
        </p:txBody>
      </p:sp>
      <p:sp>
        <p:nvSpPr>
          <p:cNvPr id="15" name="Rectangle 14"/>
          <p:cNvSpPr/>
          <p:nvPr/>
        </p:nvSpPr>
        <p:spPr>
          <a:xfrm>
            <a:off x="4992578" y="1143000"/>
            <a:ext cx="2796785" cy="3695314"/>
          </a:xfrm>
          <a:prstGeom prst="rect">
            <a:avLst/>
          </a:prstGeom>
          <a:solidFill>
            <a:srgbClr val="9E7E0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China</a:t>
            </a:r>
          </a:p>
          <a:p>
            <a:pPr algn="ctr"/>
            <a:r>
              <a:rPr sz="700" b="0">
                <a:solidFill>
                  <a:srgbClr val="FFFFFF"/>
                </a:solidFill>
                <a:latin typeface="Calibri"/>
              </a:rPr>
              <a:t>550</a:t>
            </a:r>
          </a:p>
        </p:txBody>
      </p:sp>
      <p:sp>
        <p:nvSpPr>
          <p:cNvPr id="16" name="Rectangle 15"/>
          <p:cNvSpPr/>
          <p:nvPr/>
        </p:nvSpPr>
        <p:spPr>
          <a:xfrm>
            <a:off x="4992578" y="4838314"/>
            <a:ext cx="2796785" cy="1829186"/>
          </a:xfrm>
          <a:prstGeom prst="rect">
            <a:avLst/>
          </a:prstGeom>
          <a:solidFill>
            <a:srgbClr val="0081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Germany</a:t>
            </a:r>
          </a:p>
          <a:p>
            <a:pPr algn="ctr"/>
            <a:r>
              <a:rPr sz="700" b="0">
                <a:solidFill>
                  <a:srgbClr val="FFFFFF"/>
                </a:solidFill>
                <a:latin typeface="Calibri"/>
              </a:rPr>
              <a:t>272</a:t>
            </a:r>
          </a:p>
        </p:txBody>
      </p:sp>
      <p:sp>
        <p:nvSpPr>
          <p:cNvPr id="17" name="Rectangle 16"/>
          <p:cNvSpPr/>
          <p:nvPr/>
        </p:nvSpPr>
        <p:spPr>
          <a:xfrm>
            <a:off x="7789363" y="1143000"/>
            <a:ext cx="2108350" cy="1967444"/>
          </a:xfrm>
          <a:prstGeom prst="rect">
            <a:avLst/>
          </a:prstGeom>
          <a:solidFill>
            <a:srgbClr val="40315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United Kingdom</a:t>
            </a:r>
          </a:p>
          <a:p>
            <a:pPr algn="ctr"/>
            <a:r>
              <a:rPr sz="700" b="0">
                <a:solidFill>
                  <a:srgbClr val="FFFFFF"/>
                </a:solidFill>
                <a:latin typeface="Calibri"/>
              </a:rPr>
              <a:t>221</a:t>
            </a:r>
          </a:p>
        </p:txBody>
      </p:sp>
      <p:sp>
        <p:nvSpPr>
          <p:cNvPr id="18" name="Rectangle 17"/>
          <p:cNvSpPr/>
          <p:nvPr/>
        </p:nvSpPr>
        <p:spPr>
          <a:xfrm>
            <a:off x="9897713" y="1143000"/>
            <a:ext cx="2056162" cy="1967444"/>
          </a:xfrm>
          <a:prstGeom prst="rect">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France</a:t>
            </a:r>
          </a:p>
          <a:p>
            <a:pPr algn="ctr"/>
            <a:r>
              <a:rPr sz="700" b="0">
                <a:solidFill>
                  <a:srgbClr val="FFFFFF"/>
                </a:solidFill>
                <a:latin typeface="Calibri"/>
              </a:rPr>
              <a:t>215</a:t>
            </a:r>
          </a:p>
        </p:txBody>
      </p:sp>
      <p:sp>
        <p:nvSpPr>
          <p:cNvPr id="19" name="Rectangle 18"/>
          <p:cNvSpPr/>
          <p:nvPr/>
        </p:nvSpPr>
        <p:spPr>
          <a:xfrm>
            <a:off x="7789363" y="3110444"/>
            <a:ext cx="1880480" cy="1826794"/>
          </a:xfrm>
          <a:prstGeom prst="rect">
            <a:avLst/>
          </a:prstGeom>
          <a:solidFill>
            <a:srgbClr val="80808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India</a:t>
            </a:r>
          </a:p>
          <a:p>
            <a:pPr algn="ctr"/>
            <a:r>
              <a:rPr sz="700" b="0">
                <a:solidFill>
                  <a:srgbClr val="FFFFFF"/>
                </a:solidFill>
                <a:latin typeface="Calibri"/>
              </a:rPr>
              <a:t>183</a:t>
            </a:r>
          </a:p>
        </p:txBody>
      </p:sp>
      <p:sp>
        <p:nvSpPr>
          <p:cNvPr id="20" name="Rectangle 19"/>
          <p:cNvSpPr/>
          <p:nvPr/>
        </p:nvSpPr>
        <p:spPr>
          <a:xfrm>
            <a:off x="7789363" y="4937239"/>
            <a:ext cx="1880480" cy="1730261"/>
          </a:xfrm>
          <a:prstGeom prst="rect">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Brazil</a:t>
            </a:r>
          </a:p>
          <a:p>
            <a:pPr algn="ctr"/>
            <a:r>
              <a:rPr sz="700" b="0">
                <a:solidFill>
                  <a:srgbClr val="FFFFFF"/>
                </a:solidFill>
                <a:latin typeface="Calibri"/>
              </a:rPr>
              <a:t>173</a:t>
            </a:r>
          </a:p>
        </p:txBody>
      </p:sp>
      <p:sp>
        <p:nvSpPr>
          <p:cNvPr id="21" name="Rectangle 20"/>
          <p:cNvSpPr/>
          <p:nvPr/>
        </p:nvSpPr>
        <p:spPr>
          <a:xfrm>
            <a:off x="9669842" y="3110444"/>
            <a:ext cx="2284033" cy="1260763"/>
          </a:xfrm>
          <a:prstGeom prst="rect">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Japan</a:t>
            </a:r>
          </a:p>
          <a:p>
            <a:pPr algn="ctr"/>
            <a:r>
              <a:rPr sz="700" b="0">
                <a:solidFill>
                  <a:srgbClr val="FFFFFF"/>
                </a:solidFill>
                <a:latin typeface="Calibri"/>
              </a:rPr>
              <a:t>153</a:t>
            </a:r>
          </a:p>
        </p:txBody>
      </p:sp>
      <p:sp>
        <p:nvSpPr>
          <p:cNvPr id="22" name="Rectangle 21"/>
          <p:cNvSpPr/>
          <p:nvPr/>
        </p:nvSpPr>
        <p:spPr>
          <a:xfrm>
            <a:off x="9669842" y="4371207"/>
            <a:ext cx="2284033" cy="1168850"/>
          </a:xfrm>
          <a:prstGeom prst="rect">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Rest of LATAM</a:t>
            </a:r>
          </a:p>
          <a:p>
            <a:pPr algn="ctr"/>
            <a:r>
              <a:rPr sz="700" b="0">
                <a:solidFill>
                  <a:srgbClr val="FFFFFF"/>
                </a:solidFill>
                <a:latin typeface="Calibri"/>
              </a:rPr>
              <a:t>142</a:t>
            </a:r>
          </a:p>
        </p:txBody>
      </p:sp>
      <p:sp>
        <p:nvSpPr>
          <p:cNvPr id="23" name="Rectangle 22"/>
          <p:cNvSpPr/>
          <p:nvPr/>
        </p:nvSpPr>
        <p:spPr>
          <a:xfrm>
            <a:off x="9669842" y="5540056"/>
            <a:ext cx="2284033" cy="1127444"/>
          </a:xfrm>
          <a:prstGeom prst="rect">
            <a:avLst/>
          </a:prstGeom>
          <a:solidFill>
            <a:srgbClr val="6C7A8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750" b="1">
                <a:solidFill>
                  <a:srgbClr val="FFFFFF"/>
                </a:solidFill>
                <a:latin typeface="Calibri"/>
              </a:rPr>
              <a:t>Italy</a:t>
            </a:r>
          </a:p>
          <a:p>
            <a:pPr algn="ctr"/>
            <a:r>
              <a:rPr sz="700" b="0">
                <a:solidFill>
                  <a:srgbClr val="FFFFFF"/>
                </a:solidFill>
                <a:latin typeface="Calibri"/>
              </a:rPr>
              <a:t>137</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Product Type</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Product Type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05</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Product Type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4 sub-segments of Product Type,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Product Type segment categorizes the market by product type.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Capillary Blood Collection Contai…</a:t>
            </a:r>
          </a:p>
        </p:txBody>
      </p:sp>
      <p:sp>
        <p:nvSpPr>
          <p:cNvPr id="24" name="Rectangle 23"/>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1,076</a:t>
            </a:r>
          </a:p>
        </p:txBody>
      </p:sp>
      <p:sp>
        <p:nvSpPr>
          <p:cNvPr id="25" name="Rectangle 24"/>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2,116</a:t>
            </a:r>
          </a:p>
        </p:txBody>
      </p:sp>
      <p:sp>
        <p:nvSpPr>
          <p:cNvPr id="26" name="Rectangle 25"/>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7.0%</a:t>
            </a:r>
          </a:p>
        </p:txBody>
      </p:sp>
      <p:sp>
        <p:nvSpPr>
          <p:cNvPr id="27" name="Oval 26"/>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Blood Collection Lancets</a:t>
            </a:r>
          </a:p>
        </p:txBody>
      </p:sp>
      <p:sp>
        <p:nvSpPr>
          <p:cNvPr id="31" name="Rectangle 30"/>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878.3</a:t>
            </a:r>
          </a:p>
        </p:txBody>
      </p:sp>
      <p:sp>
        <p:nvSpPr>
          <p:cNvPr id="32" name="Rectangle 31"/>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1,723</a:t>
            </a:r>
          </a:p>
        </p:txBody>
      </p:sp>
      <p:sp>
        <p:nvSpPr>
          <p:cNvPr id="33" name="Rectangle 32"/>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7.0%</a:t>
            </a:r>
          </a:p>
        </p:txBody>
      </p:sp>
      <p:sp>
        <p:nvSpPr>
          <p:cNvPr id="34" name="Oval 33"/>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Integrated Capillary Blood Collec…</a:t>
            </a:r>
          </a:p>
        </p:txBody>
      </p:sp>
      <p:sp>
        <p:nvSpPr>
          <p:cNvPr id="38" name="Rectangle 37"/>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202.4</a:t>
            </a:r>
          </a:p>
        </p:txBody>
      </p:sp>
      <p:sp>
        <p:nvSpPr>
          <p:cNvPr id="39" name="Rectangle 38"/>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659.1</a:t>
            </a:r>
          </a:p>
        </p:txBody>
      </p:sp>
      <p:sp>
        <p:nvSpPr>
          <p:cNvPr id="40" name="Rectangle 39"/>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12.5%</a:t>
            </a:r>
          </a:p>
        </p:txBody>
      </p:sp>
      <p:sp>
        <p:nvSpPr>
          <p:cNvPr id="41" name="Oval 40"/>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Dried Blood Spot Collection Produ…</a:t>
            </a:r>
          </a:p>
        </p:txBody>
      </p:sp>
      <p:sp>
        <p:nvSpPr>
          <p:cNvPr id="45" name="Rectangle 44"/>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149.5</a:t>
            </a:r>
          </a:p>
        </p:txBody>
      </p:sp>
      <p:sp>
        <p:nvSpPr>
          <p:cNvPr id="46" name="Rectangle 45"/>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434.2</a:t>
            </a:r>
          </a:p>
        </p:txBody>
      </p:sp>
      <p:sp>
        <p:nvSpPr>
          <p:cNvPr id="47" name="Rectangle 46"/>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11.3%</a:t>
            </a:r>
          </a:p>
        </p:txBody>
      </p:sp>
      <p:sp>
        <p:nvSpPr>
          <p:cNvPr id="48" name="Oval 47"/>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1" name="Rectangle 50"/>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'Capillary Blood Collection Containers' holds the largest share in 2026 47%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'Integrated Capillary Blood Collection Devices' is the fastest-growing sub-segment at 12.5%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product type landscape.</a:t>
            </a:r>
          </a:p>
        </p:txBody>
      </p:sp>
      <p:sp>
        <p:nvSpPr>
          <p:cNvPr id="53" name="Rounded Rectangle 52"/>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5" name="Rectangle 54"/>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Capillary Blood Collection Containers: </a:t>
            </a:r>
            <a:r>
              <a:rPr sz="1000" b="0">
                <a:solidFill>
                  <a:srgbClr val="2E2E2E"/>
                </a:solidFill>
                <a:latin typeface="Calibri"/>
              </a:rPr>
              <a:t>47% of 2026 value · 7.0%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Blood Collection Lancets: </a:t>
            </a:r>
            <a:r>
              <a:rPr sz="1000" b="0">
                <a:solidFill>
                  <a:srgbClr val="2E2E2E"/>
                </a:solidFill>
                <a:latin typeface="Calibri"/>
              </a:rPr>
              <a:t>38% of 2026 value · 7.0%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Integrated Capillary Blood Collection Devices: </a:t>
            </a:r>
            <a:r>
              <a:rPr sz="1000" b="0">
                <a:solidFill>
                  <a:srgbClr val="2E2E2E"/>
                </a:solidFill>
                <a:latin typeface="Calibri"/>
              </a:rPr>
              <a:t>9% of 2026 value · 12.5% CAGR grows fastest.</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Dried Blood Spot Collection Products: </a:t>
            </a:r>
            <a:r>
              <a:rPr sz="1000" b="0">
                <a:solidFill>
                  <a:srgbClr val="2E2E2E"/>
                </a:solidFill>
                <a:latin typeface="Calibri"/>
              </a:rPr>
              <a:t>6% of 2026 value · 11.3% CAGR serves a niche.</a:t>
            </a:r>
          </a:p>
        </p:txBody>
      </p:sp>
      <p:sp>
        <p:nvSpPr>
          <p:cNvPr id="57" name="Rounded Rectangle 56"/>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9" name="Rectangle 58"/>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Product Type split shows how demand is distributed across product type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1" name="Rectangle 60"/>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Product Type segment is projected to grow at a CAGR of 7.9%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Product Type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Product Type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Product Type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'Integrated Capillary Blood Collection Devices' gains the most share in the Global market (+458 BPS) while 'Capillary Blood Collection Containers' cedes 374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Product Type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Product Type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(2026–2036)</a:t>
            </a:r>
          </a:p>
        </p:txBody>
      </p:sp>
      <p:graphicFrame>
        <p:nvGraphicFramePr>
          <p:cNvPr id="23" name="Table 22"/>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1,041</a:t>
                      </a:r>
                    </a:p>
                  </a:txBody>
                  <a:tcPr marL="85725" marR="38100" marT="19050" marB="19050" anchor="ctr">
                    <a:solidFill>
                      <a:srgbClr val="FFFFFF"/>
                    </a:solidFill>
                  </a:tcPr>
                </a:tc>
                <a:tc>
                  <a:txBody>
                    <a:bodyPr wrap="none"/>
                    <a:lstStyle/>
                    <a:p>
                      <a:pPr algn="l"/>
                      <a:r>
                        <a:rPr sz="900" b="0">
                          <a:solidFill>
                            <a:srgbClr val="2E2E2E"/>
                          </a:solidFill>
                          <a:latin typeface="Calibri"/>
                        </a:rPr>
                        <a:t>39.6%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844.7</a:t>
                      </a:r>
                    </a:p>
                  </a:txBody>
                  <a:tcPr marL="85725" marR="38100" marT="19050" marB="19050" anchor="ctr">
                    <a:solidFill>
                      <a:srgbClr val="F5F8FA"/>
                    </a:solidFill>
                  </a:tcPr>
                </a:tc>
                <a:tc>
                  <a:txBody>
                    <a:bodyPr wrap="none"/>
                    <a:lstStyle/>
                    <a:p>
                      <a:pPr algn="l"/>
                      <a:r>
                        <a:rPr sz="900" b="0">
                          <a:solidFill>
                            <a:srgbClr val="2E2E2E"/>
                          </a:solidFill>
                          <a:latin typeface="Calibri"/>
                        </a:rPr>
                        <a:t>32.2%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456.7</a:t>
                      </a:r>
                    </a:p>
                  </a:txBody>
                  <a:tcPr marL="85725" marR="38100" marT="19050" marB="19050" anchor="ctr">
                    <a:solidFill>
                      <a:srgbClr val="FFFFFF"/>
                    </a:solidFill>
                  </a:tcPr>
                </a:tc>
                <a:tc>
                  <a:txBody>
                    <a:bodyPr wrap="none"/>
                    <a:lstStyle/>
                    <a:p>
                      <a:pPr algn="l"/>
                      <a:r>
                        <a:rPr sz="900" b="0">
                          <a:solidFill>
                            <a:srgbClr val="2E2E2E"/>
                          </a:solidFill>
                          <a:latin typeface="Calibri"/>
                        </a:rPr>
                        <a:t>17.4%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284.7</a:t>
                      </a:r>
                    </a:p>
                  </a:txBody>
                  <a:tcPr marL="85725" marR="38100" marT="19050" marB="19050" anchor="ctr">
                    <a:solidFill>
                      <a:srgbClr val="F5F8FA"/>
                    </a:solidFill>
                  </a:tcPr>
                </a:tc>
                <a:tc>
                  <a:txBody>
                    <a:bodyPr wrap="none"/>
                    <a:lstStyle/>
                    <a:p>
                      <a:pPr algn="l"/>
                      <a:r>
                        <a:rPr sz="900" b="0">
                          <a:solidFill>
                            <a:srgbClr val="2E2E2E"/>
                          </a:solidFill>
                          <a:latin typeface="Calibri"/>
                        </a:rPr>
                        <a:t>10.8%</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Product Type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Product Type,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Product Type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0">
                          <a:solidFill>
                            <a:srgbClr val="2E2E2E"/>
                          </a:solidFill>
                          <a:latin typeface="Calibri"/>
                        </a:rPr>
                        <a:t>1,003</a:t>
                      </a:r>
                    </a:p>
                  </a:txBody>
                  <a:tcPr marL="85725" marR="38100" marT="19050" marB="19050" anchor="ctr">
                    <a:solidFill>
                      <a:srgbClr val="FFFFFF"/>
                    </a:solidFill>
                  </a:tcPr>
                </a:tc>
                <a:tc>
                  <a:txBody>
                    <a:bodyPr wrap="none"/>
                    <a:lstStyle/>
                    <a:p>
                      <a:pPr algn="l"/>
                      <a:r>
                        <a:rPr sz="800" b="0">
                          <a:solidFill>
                            <a:srgbClr val="2E2E2E"/>
                          </a:solidFill>
                          <a:latin typeface="Calibri"/>
                        </a:rPr>
                        <a:t>1,054</a:t>
                      </a:r>
                    </a:p>
                  </a:txBody>
                  <a:tcPr marL="85725" marR="38100" marT="19050" marB="19050" anchor="ctr">
                    <a:solidFill>
                      <a:srgbClr val="FFFFFF"/>
                    </a:solidFill>
                  </a:tcPr>
                </a:tc>
                <a:tc>
                  <a:txBody>
                    <a:bodyPr wrap="none"/>
                    <a:lstStyle/>
                    <a:p>
                      <a:pPr algn="l"/>
                      <a:r>
                        <a:rPr sz="800" b="0">
                          <a:solidFill>
                            <a:srgbClr val="2E2E2E"/>
                          </a:solidFill>
                          <a:latin typeface="Calibri"/>
                        </a:rPr>
                        <a:t>1,109</a:t>
                      </a:r>
                    </a:p>
                  </a:txBody>
                  <a:tcPr marL="85725" marR="38100" marT="19050" marB="19050" anchor="ctr">
                    <a:solidFill>
                      <a:srgbClr val="FFFFFF"/>
                    </a:solidFill>
                  </a:tcPr>
                </a:tc>
                <a:tc>
                  <a:txBody>
                    <a:bodyPr wrap="none"/>
                    <a:lstStyle/>
                    <a:p>
                      <a:pPr algn="l"/>
                      <a:r>
                        <a:rPr sz="800" b="0">
                          <a:solidFill>
                            <a:srgbClr val="2E2E2E"/>
                          </a:solidFill>
                          <a:latin typeface="Calibri"/>
                        </a:rPr>
                        <a:t>1,169</a:t>
                      </a:r>
                    </a:p>
                  </a:txBody>
                  <a:tcPr marL="85725" marR="38100" marT="19050" marB="19050" anchor="ctr">
                    <a:solidFill>
                      <a:srgbClr val="FFFFFF"/>
                    </a:solidFill>
                  </a:tcPr>
                </a:tc>
                <a:tc>
                  <a:txBody>
                    <a:bodyPr wrap="none"/>
                    <a:lstStyle/>
                    <a:p>
                      <a:pPr algn="l"/>
                      <a:r>
                        <a:rPr sz="800" b="0">
                          <a:solidFill>
                            <a:srgbClr val="2E2E2E"/>
                          </a:solidFill>
                          <a:latin typeface="Calibri"/>
                        </a:rPr>
                        <a:t>1,238</a:t>
                      </a:r>
                    </a:p>
                  </a:txBody>
                  <a:tcPr marL="85725" marR="38100" marT="19050" marB="19050" anchor="ctr">
                    <a:solidFill>
                      <a:srgbClr val="FFFFFF"/>
                    </a:solidFill>
                  </a:tcPr>
                </a:tc>
                <a:tc>
                  <a:txBody>
                    <a:bodyPr wrap="none"/>
                    <a:lstStyle/>
                    <a:p>
                      <a:pPr algn="l"/>
                      <a:r>
                        <a:rPr sz="800" b="0">
                          <a:solidFill>
                            <a:srgbClr val="2E2E2E"/>
                          </a:solidFill>
                          <a:latin typeface="Calibri"/>
                        </a:rPr>
                        <a:t>1,315</a:t>
                      </a:r>
                    </a:p>
                  </a:txBody>
                  <a:tcPr marL="85725" marR="38100" marT="19050" marB="19050" anchor="ctr">
                    <a:solidFill>
                      <a:srgbClr val="FFFFFF"/>
                    </a:solidFill>
                  </a:tcPr>
                </a:tc>
                <a:tc>
                  <a:txBody>
                    <a:bodyPr wrap="none"/>
                    <a:lstStyle/>
                    <a:p>
                      <a:pPr algn="l"/>
                      <a:r>
                        <a:rPr sz="800" b="0">
                          <a:solidFill>
                            <a:srgbClr val="2E2E2E"/>
                          </a:solidFill>
                          <a:latin typeface="Calibri"/>
                        </a:rPr>
                        <a:t>1,401</a:t>
                      </a:r>
                    </a:p>
                  </a:txBody>
                  <a:tcPr marL="85725" marR="38100" marT="19050" marB="19050" anchor="ctr">
                    <a:solidFill>
                      <a:srgbClr val="FFFFFF"/>
                    </a:solidFill>
                  </a:tcPr>
                </a:tc>
                <a:tc>
                  <a:txBody>
                    <a:bodyPr wrap="none"/>
                    <a:lstStyle/>
                    <a:p>
                      <a:pPr algn="l"/>
                      <a:r>
                        <a:rPr sz="800" b="0">
                          <a:solidFill>
                            <a:srgbClr val="2E2E2E"/>
                          </a:solidFill>
                          <a:latin typeface="Calibri"/>
                        </a:rPr>
                        <a:t>1,494</a:t>
                      </a:r>
                    </a:p>
                  </a:txBody>
                  <a:tcPr marL="85725" marR="38100" marT="19050" marB="19050" anchor="ctr">
                    <a:solidFill>
                      <a:srgbClr val="FFFFFF"/>
                    </a:solidFill>
                  </a:tcPr>
                </a:tc>
                <a:tc>
                  <a:txBody>
                    <a:bodyPr wrap="none"/>
                    <a:lstStyle/>
                    <a:p>
                      <a:pPr algn="l"/>
                      <a:r>
                        <a:rPr sz="800" b="0">
                          <a:solidFill>
                            <a:srgbClr val="2E2E2E"/>
                          </a:solidFill>
                          <a:latin typeface="Calibri"/>
                        </a:rPr>
                        <a:t>1,593</a:t>
                      </a:r>
                    </a:p>
                  </a:txBody>
                  <a:tcPr marL="85725" marR="38100" marT="19050" marB="19050" anchor="ctr">
                    <a:solidFill>
                      <a:srgbClr val="FFFFFF"/>
                    </a:solidFill>
                  </a:tcPr>
                </a:tc>
                <a:tc>
                  <a:txBody>
                    <a:bodyPr wrap="none"/>
                    <a:lstStyle/>
                    <a:p>
                      <a:pPr algn="l"/>
                      <a:r>
                        <a:rPr sz="800" b="0">
                          <a:solidFill>
                            <a:srgbClr val="2E2E2E"/>
                          </a:solidFill>
                          <a:latin typeface="Calibri"/>
                        </a:rPr>
                        <a:t>1,696</a:t>
                      </a:r>
                    </a:p>
                  </a:txBody>
                  <a:tcPr marL="85725" marR="38100" marT="19050" marB="19050" anchor="ctr">
                    <a:solidFill>
                      <a:srgbClr val="FFFFFF"/>
                    </a:solidFill>
                  </a:tcPr>
                </a:tc>
                <a:tc>
                  <a:txBody>
                    <a:bodyPr wrap="none"/>
                    <a:lstStyle/>
                    <a:p>
                      <a:pPr algn="l"/>
                      <a:r>
                        <a:rPr sz="800" b="0">
                          <a:solidFill>
                            <a:srgbClr val="2E2E2E"/>
                          </a:solidFill>
                          <a:latin typeface="Calibri"/>
                        </a:rPr>
                        <a:t>1,801</a:t>
                      </a:r>
                    </a:p>
                  </a:txBody>
                  <a:tcPr marL="85725" marR="38100" marT="19050" marB="19050" anchor="ctr">
                    <a:solidFill>
                      <a:srgbClr val="FFFFFF"/>
                    </a:solidFill>
                  </a:tcPr>
                </a:tc>
                <a:tc>
                  <a:txBody>
                    <a:bodyPr wrap="none"/>
                    <a:lstStyle/>
                    <a:p>
                      <a:pPr algn="l"/>
                      <a:r>
                        <a:rPr sz="800" b="0">
                          <a:solidFill>
                            <a:srgbClr val="2E2E2E"/>
                          </a:solidFill>
                          <a:latin typeface="Calibri"/>
                        </a:rPr>
                        <a:t>1,910</a:t>
                      </a:r>
                    </a:p>
                  </a:txBody>
                  <a:tcPr marL="85725" marR="38100" marT="19050" marB="19050" anchor="ctr">
                    <a:solidFill>
                      <a:srgbClr val="FFFFFF"/>
                    </a:solidFill>
                  </a:tcPr>
                </a:tc>
                <a:tc>
                  <a:txBody>
                    <a:bodyPr wrap="none"/>
                    <a:lstStyle/>
                    <a:p>
                      <a:pPr algn="l"/>
                      <a:r>
                        <a:rPr sz="800" b="0">
                          <a:solidFill>
                            <a:srgbClr val="2E2E2E"/>
                          </a:solidFill>
                          <a:latin typeface="Calibri"/>
                        </a:rPr>
                        <a:t>2,022</a:t>
                      </a:r>
                    </a:p>
                  </a:txBody>
                  <a:tcPr marL="85725" marR="38100" marT="19050" marB="19050" anchor="ctr">
                    <a:solidFill>
                      <a:srgbClr val="FFFFFF"/>
                    </a:solidFill>
                  </a:tcPr>
                </a:tc>
                <a:tc>
                  <a:txBody>
                    <a:bodyPr wrap="none"/>
                    <a:lstStyle/>
                    <a:p>
                      <a:pPr algn="l"/>
                      <a:r>
                        <a:rPr sz="800" b="0">
                          <a:solidFill>
                            <a:srgbClr val="2E2E2E"/>
                          </a:solidFill>
                          <a:latin typeface="Calibri"/>
                        </a:rPr>
                        <a:t>2,140</a:t>
                      </a:r>
                    </a:p>
                  </a:txBody>
                  <a:tcPr marL="85725" marR="38100" marT="19050" marB="19050" anchor="ctr">
                    <a:solidFill>
                      <a:srgbClr val="FFFFFF"/>
                    </a:solidFill>
                  </a:tcPr>
                </a:tc>
                <a:tc>
                  <a:txBody>
                    <a:bodyPr wrap="none"/>
                    <a:lstStyle/>
                    <a:p>
                      <a:pPr algn="l"/>
                      <a:r>
                        <a:rPr sz="800" b="0">
                          <a:solidFill>
                            <a:srgbClr val="2E2E2E"/>
                          </a:solidFill>
                          <a:latin typeface="Calibri"/>
                        </a:rPr>
                        <a:t>2,261</a:t>
                      </a:r>
                    </a:p>
                  </a:txBody>
                  <a:tcPr marL="85725" marR="38100" marT="19050" marB="19050" anchor="ctr">
                    <a:solidFill>
                      <a:srgbClr val="FFFFFF"/>
                    </a:solidFill>
                  </a:tcPr>
                </a:tc>
                <a:tc>
                  <a:txBody>
                    <a:bodyPr wrap="none"/>
                    <a:lstStyle/>
                    <a:p>
                      <a:pPr algn="l"/>
                      <a:r>
                        <a:rPr sz="800" b="0">
                          <a:solidFill>
                            <a:srgbClr val="2E2E2E"/>
                          </a:solidFill>
                          <a:latin typeface="Calibri"/>
                        </a:rPr>
                        <a:t>2,388</a:t>
                      </a:r>
                    </a:p>
                  </a:txBody>
                  <a:tcPr marL="85725" marR="38100" marT="19050" marB="19050" anchor="ctr">
                    <a:solidFill>
                      <a:srgbClr val="FFFFFF"/>
                    </a:solidFill>
                  </a:tcPr>
                </a:tc>
                <a:tc>
                  <a:txBody>
                    <a:bodyPr wrap="none"/>
                    <a:lstStyle/>
                    <a:p>
                      <a:pPr algn="l"/>
                      <a:r>
                        <a:rPr sz="800" b="0">
                          <a:solidFill>
                            <a:srgbClr val="2E2E2E"/>
                          </a:solidFill>
                          <a:latin typeface="Calibri"/>
                        </a:rPr>
                        <a:t>6.1%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0">
                          <a:solidFill>
                            <a:srgbClr val="2E2E2E"/>
                          </a:solidFill>
                          <a:latin typeface="Calibri"/>
                        </a:rPr>
                        <a:t>822.4</a:t>
                      </a:r>
                    </a:p>
                  </a:txBody>
                  <a:tcPr marL="85725" marR="38100" marT="19050" marB="19050" anchor="ctr">
                    <a:solidFill>
                      <a:srgbClr val="F5F8FA"/>
                    </a:solidFill>
                  </a:tcPr>
                </a:tc>
                <a:tc>
                  <a:txBody>
                    <a:bodyPr wrap="none"/>
                    <a:lstStyle/>
                    <a:p>
                      <a:pPr algn="l"/>
                      <a:r>
                        <a:rPr sz="800" b="0">
                          <a:solidFill>
                            <a:srgbClr val="2E2E2E"/>
                          </a:solidFill>
                          <a:latin typeface="Calibri"/>
                        </a:rPr>
                        <a:t>863.5</a:t>
                      </a:r>
                    </a:p>
                  </a:txBody>
                  <a:tcPr marL="85725" marR="38100" marT="19050" marB="19050" anchor="ctr">
                    <a:solidFill>
                      <a:srgbClr val="F5F8FA"/>
                    </a:solidFill>
                  </a:tcPr>
                </a:tc>
                <a:tc>
                  <a:txBody>
                    <a:bodyPr wrap="none"/>
                    <a:lstStyle/>
                    <a:p>
                      <a:pPr algn="l"/>
                      <a:r>
                        <a:rPr sz="800" b="0">
                          <a:solidFill>
                            <a:srgbClr val="2E2E2E"/>
                          </a:solidFill>
                          <a:latin typeface="Calibri"/>
                        </a:rPr>
                        <a:t>908.4</a:t>
                      </a:r>
                    </a:p>
                  </a:txBody>
                  <a:tcPr marL="85725" marR="38100" marT="19050" marB="19050" anchor="ctr">
                    <a:solidFill>
                      <a:srgbClr val="F5F8FA"/>
                    </a:solidFill>
                  </a:tcPr>
                </a:tc>
                <a:tc>
                  <a:txBody>
                    <a:bodyPr wrap="none"/>
                    <a:lstStyle/>
                    <a:p>
                      <a:pPr algn="l"/>
                      <a:r>
                        <a:rPr sz="800" b="0">
                          <a:solidFill>
                            <a:srgbClr val="2E2E2E"/>
                          </a:solidFill>
                          <a:latin typeface="Calibri"/>
                        </a:rPr>
                        <a:t>957.9</a:t>
                      </a:r>
                    </a:p>
                  </a:txBody>
                  <a:tcPr marL="85725" marR="38100" marT="19050" marB="19050" anchor="ctr">
                    <a:solidFill>
                      <a:srgbClr val="F5F8FA"/>
                    </a:solidFill>
                  </a:tcPr>
                </a:tc>
                <a:tc>
                  <a:txBody>
                    <a:bodyPr wrap="none"/>
                    <a:lstStyle/>
                    <a:p>
                      <a:pPr algn="l"/>
                      <a:r>
                        <a:rPr sz="800" b="0">
                          <a:solidFill>
                            <a:srgbClr val="2E2E2E"/>
                          </a:solidFill>
                          <a:latin typeface="Calibri"/>
                        </a:rPr>
                        <a:t>1,014</a:t>
                      </a:r>
                    </a:p>
                  </a:txBody>
                  <a:tcPr marL="85725" marR="38100" marT="19050" marB="19050" anchor="ctr">
                    <a:solidFill>
                      <a:srgbClr val="F5F8FA"/>
                    </a:solidFill>
                  </a:tcPr>
                </a:tc>
                <a:tc>
                  <a:txBody>
                    <a:bodyPr wrap="none"/>
                    <a:lstStyle/>
                    <a:p>
                      <a:pPr algn="l"/>
                      <a:r>
                        <a:rPr sz="800" b="0">
                          <a:solidFill>
                            <a:srgbClr val="2E2E2E"/>
                          </a:solidFill>
                          <a:latin typeface="Calibri"/>
                        </a:rPr>
                        <a:t>1,076</a:t>
                      </a:r>
                    </a:p>
                  </a:txBody>
                  <a:tcPr marL="85725" marR="38100" marT="19050" marB="19050" anchor="ctr">
                    <a:solidFill>
                      <a:srgbClr val="F5F8FA"/>
                    </a:solidFill>
                  </a:tcPr>
                </a:tc>
                <a:tc>
                  <a:txBody>
                    <a:bodyPr wrap="none"/>
                    <a:lstStyle/>
                    <a:p>
                      <a:pPr algn="l"/>
                      <a:r>
                        <a:rPr sz="800" b="0">
                          <a:solidFill>
                            <a:srgbClr val="2E2E2E"/>
                          </a:solidFill>
                          <a:latin typeface="Calibri"/>
                        </a:rPr>
                        <a:t>1,146</a:t>
                      </a:r>
                    </a:p>
                  </a:txBody>
                  <a:tcPr marL="85725" marR="38100" marT="19050" marB="19050" anchor="ctr">
                    <a:solidFill>
                      <a:srgbClr val="F5F8FA"/>
                    </a:solidFill>
                  </a:tcPr>
                </a:tc>
                <a:tc>
                  <a:txBody>
                    <a:bodyPr wrap="none"/>
                    <a:lstStyle/>
                    <a:p>
                      <a:pPr algn="l"/>
                      <a:r>
                        <a:rPr sz="800" b="0">
                          <a:solidFill>
                            <a:srgbClr val="2E2E2E"/>
                          </a:solidFill>
                          <a:latin typeface="Calibri"/>
                        </a:rPr>
                        <a:t>1,221</a:t>
                      </a:r>
                    </a:p>
                  </a:txBody>
                  <a:tcPr marL="85725" marR="38100" marT="19050" marB="19050" anchor="ctr">
                    <a:solidFill>
                      <a:srgbClr val="F5F8FA"/>
                    </a:solidFill>
                  </a:tcPr>
                </a:tc>
                <a:tc>
                  <a:txBody>
                    <a:bodyPr wrap="none"/>
                    <a:lstStyle/>
                    <a:p>
                      <a:pPr algn="l"/>
                      <a:r>
                        <a:rPr sz="800" b="0">
                          <a:solidFill>
                            <a:srgbClr val="2E2E2E"/>
                          </a:solidFill>
                          <a:latin typeface="Calibri"/>
                        </a:rPr>
                        <a:t>1,301</a:t>
                      </a:r>
                    </a:p>
                  </a:txBody>
                  <a:tcPr marL="85725" marR="38100" marT="19050" marB="19050" anchor="ctr">
                    <a:solidFill>
                      <a:srgbClr val="F5F8FA"/>
                    </a:solidFill>
                  </a:tcPr>
                </a:tc>
                <a:tc>
                  <a:txBody>
                    <a:bodyPr wrap="none"/>
                    <a:lstStyle/>
                    <a:p>
                      <a:pPr algn="l"/>
                      <a:r>
                        <a:rPr sz="800" b="0">
                          <a:solidFill>
                            <a:srgbClr val="2E2E2E"/>
                          </a:solidFill>
                          <a:latin typeface="Calibri"/>
                        </a:rPr>
                        <a:t>1,383</a:t>
                      </a:r>
                    </a:p>
                  </a:txBody>
                  <a:tcPr marL="85725" marR="38100" marT="19050" marB="19050" anchor="ctr">
                    <a:solidFill>
                      <a:srgbClr val="F5F8FA"/>
                    </a:solidFill>
                  </a:tcPr>
                </a:tc>
                <a:tc>
                  <a:txBody>
                    <a:bodyPr wrap="none"/>
                    <a:lstStyle/>
                    <a:p>
                      <a:pPr algn="l"/>
                      <a:r>
                        <a:rPr sz="800" b="0">
                          <a:solidFill>
                            <a:srgbClr val="2E2E2E"/>
                          </a:solidFill>
                          <a:latin typeface="Calibri"/>
                        </a:rPr>
                        <a:t>1,469</a:t>
                      </a:r>
                    </a:p>
                  </a:txBody>
                  <a:tcPr marL="85725" marR="38100" marT="19050" marB="19050" anchor="ctr">
                    <a:solidFill>
                      <a:srgbClr val="F5F8FA"/>
                    </a:solidFill>
                  </a:tcPr>
                </a:tc>
                <a:tc>
                  <a:txBody>
                    <a:bodyPr wrap="none"/>
                    <a:lstStyle/>
                    <a:p>
                      <a:pPr algn="l"/>
                      <a:r>
                        <a:rPr sz="800" b="0">
                          <a:solidFill>
                            <a:srgbClr val="2E2E2E"/>
                          </a:solidFill>
                          <a:latin typeface="Calibri"/>
                        </a:rPr>
                        <a:t>1,557</a:t>
                      </a:r>
                    </a:p>
                  </a:txBody>
                  <a:tcPr marL="85725" marR="38100" marT="19050" marB="19050" anchor="ctr">
                    <a:solidFill>
                      <a:srgbClr val="F5F8FA"/>
                    </a:solidFill>
                  </a:tcPr>
                </a:tc>
                <a:tc>
                  <a:txBody>
                    <a:bodyPr wrap="none"/>
                    <a:lstStyle/>
                    <a:p>
                      <a:pPr algn="l"/>
                      <a:r>
                        <a:rPr sz="800" b="0">
                          <a:solidFill>
                            <a:srgbClr val="2E2E2E"/>
                          </a:solidFill>
                          <a:latin typeface="Calibri"/>
                        </a:rPr>
                        <a:t>1,647</a:t>
                      </a:r>
                    </a:p>
                  </a:txBody>
                  <a:tcPr marL="85725" marR="38100" marT="19050" marB="19050" anchor="ctr">
                    <a:solidFill>
                      <a:srgbClr val="F5F8FA"/>
                    </a:solidFill>
                  </a:tcPr>
                </a:tc>
                <a:tc>
                  <a:txBody>
                    <a:bodyPr wrap="none"/>
                    <a:lstStyle/>
                    <a:p>
                      <a:pPr algn="l"/>
                      <a:r>
                        <a:rPr sz="800" b="0">
                          <a:solidFill>
                            <a:srgbClr val="2E2E2E"/>
                          </a:solidFill>
                          <a:latin typeface="Calibri"/>
                        </a:rPr>
                        <a:t>1,742</a:t>
                      </a:r>
                    </a:p>
                  </a:txBody>
                  <a:tcPr marL="85725" marR="38100" marT="19050" marB="19050" anchor="ctr">
                    <a:solidFill>
                      <a:srgbClr val="F5F8FA"/>
                    </a:solidFill>
                  </a:tcPr>
                </a:tc>
                <a:tc>
                  <a:txBody>
                    <a:bodyPr wrap="none"/>
                    <a:lstStyle/>
                    <a:p>
                      <a:pPr algn="l"/>
                      <a:r>
                        <a:rPr sz="800" b="0">
                          <a:solidFill>
                            <a:srgbClr val="2E2E2E"/>
                          </a:solidFill>
                          <a:latin typeface="Calibri"/>
                        </a:rPr>
                        <a:t>1,840</a:t>
                      </a:r>
                    </a:p>
                  </a:txBody>
                  <a:tcPr marL="85725" marR="38100" marT="19050" marB="19050" anchor="ctr">
                    <a:solidFill>
                      <a:srgbClr val="F5F8FA"/>
                    </a:solidFill>
                  </a:tcPr>
                </a:tc>
                <a:tc>
                  <a:txBody>
                    <a:bodyPr wrap="none"/>
                    <a:lstStyle/>
                    <a:p>
                      <a:pPr algn="l"/>
                      <a:r>
                        <a:rPr sz="800" b="0">
                          <a:solidFill>
                            <a:srgbClr val="2E2E2E"/>
                          </a:solidFill>
                          <a:latin typeface="Calibri"/>
                        </a:rPr>
                        <a:t>1,943</a:t>
                      </a:r>
                    </a:p>
                  </a:txBody>
                  <a:tcPr marL="85725" marR="38100" marT="19050" marB="19050" anchor="ctr">
                    <a:solidFill>
                      <a:srgbClr val="F5F8FA"/>
                    </a:solidFill>
                  </a:tcPr>
                </a:tc>
                <a:tc>
                  <a:txBody>
                    <a:bodyPr wrap="none"/>
                    <a:lstStyle/>
                    <a:p>
                      <a:pPr algn="l"/>
                      <a:r>
                        <a:rPr sz="800" b="0">
                          <a:solidFill>
                            <a:srgbClr val="2E2E2E"/>
                          </a:solidFill>
                          <a:latin typeface="Calibri"/>
                        </a:rPr>
                        <a:t>6.1%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0">
                          <a:solidFill>
                            <a:srgbClr val="2E2E2E"/>
                          </a:solidFill>
                          <a:latin typeface="Calibri"/>
                        </a:rPr>
                        <a:t>152.5</a:t>
                      </a:r>
                    </a:p>
                  </a:txBody>
                  <a:tcPr marL="85725" marR="38100" marT="19050" marB="19050" anchor="ctr">
                    <a:solidFill>
                      <a:srgbClr val="FFFFFF"/>
                    </a:solidFill>
                  </a:tcPr>
                </a:tc>
                <a:tc>
                  <a:txBody>
                    <a:bodyPr wrap="none"/>
                    <a:lstStyle/>
                    <a:p>
                      <a:pPr algn="l"/>
                      <a:r>
                        <a:rPr sz="800" b="0">
                          <a:solidFill>
                            <a:srgbClr val="2E2E2E"/>
                          </a:solidFill>
                          <a:latin typeface="Calibri"/>
                        </a:rPr>
                        <a:t>166.7</a:t>
                      </a:r>
                    </a:p>
                  </a:txBody>
                  <a:tcPr marL="85725" marR="38100" marT="19050" marB="19050" anchor="ctr">
                    <a:solidFill>
                      <a:srgbClr val="FFFFFF"/>
                    </a:solidFill>
                  </a:tcPr>
                </a:tc>
                <a:tc>
                  <a:txBody>
                    <a:bodyPr wrap="none"/>
                    <a:lstStyle/>
                    <a:p>
                      <a:pPr algn="l"/>
                      <a:r>
                        <a:rPr sz="800" b="0">
                          <a:solidFill>
                            <a:srgbClr val="2E2E2E"/>
                          </a:solidFill>
                          <a:latin typeface="Calibri"/>
                        </a:rPr>
                        <a:t>182.8</a:t>
                      </a:r>
                    </a:p>
                  </a:txBody>
                  <a:tcPr marL="85725" marR="38100" marT="19050" marB="19050" anchor="ctr">
                    <a:solidFill>
                      <a:srgbClr val="FFFFFF"/>
                    </a:solidFill>
                  </a:tcPr>
                </a:tc>
                <a:tc>
                  <a:txBody>
                    <a:bodyPr wrap="none"/>
                    <a:lstStyle/>
                    <a:p>
                      <a:pPr algn="l"/>
                      <a:r>
                        <a:rPr sz="800" b="0">
                          <a:solidFill>
                            <a:srgbClr val="2E2E2E"/>
                          </a:solidFill>
                          <a:latin typeface="Calibri"/>
                        </a:rPr>
                        <a:t>201.3</a:t>
                      </a:r>
                    </a:p>
                  </a:txBody>
                  <a:tcPr marL="85725" marR="38100" marT="19050" marB="19050" anchor="ctr">
                    <a:solidFill>
                      <a:srgbClr val="FFFFFF"/>
                    </a:solidFill>
                  </a:tcPr>
                </a:tc>
                <a:tc>
                  <a:txBody>
                    <a:bodyPr wrap="none"/>
                    <a:lstStyle/>
                    <a:p>
                      <a:pPr algn="l"/>
                      <a:r>
                        <a:rPr sz="800" b="0">
                          <a:solidFill>
                            <a:srgbClr val="2E2E2E"/>
                          </a:solidFill>
                          <a:latin typeface="Calibri"/>
                        </a:rPr>
                        <a:t>222.7</a:t>
                      </a:r>
                    </a:p>
                  </a:txBody>
                  <a:tcPr marL="85725" marR="38100" marT="19050" marB="19050" anchor="ctr">
                    <a:solidFill>
                      <a:srgbClr val="FFFFFF"/>
                    </a:solidFill>
                  </a:tcPr>
                </a:tc>
                <a:tc>
                  <a:txBody>
                    <a:bodyPr wrap="none"/>
                    <a:lstStyle/>
                    <a:p>
                      <a:pPr algn="l"/>
                      <a:r>
                        <a:rPr sz="800" b="0">
                          <a:solidFill>
                            <a:srgbClr val="2E2E2E"/>
                          </a:solidFill>
                          <a:latin typeface="Calibri"/>
                        </a:rPr>
                        <a:t>247.8</a:t>
                      </a:r>
                    </a:p>
                  </a:txBody>
                  <a:tcPr marL="85725" marR="38100" marT="19050" marB="19050" anchor="ctr">
                    <a:solidFill>
                      <a:srgbClr val="FFFFFF"/>
                    </a:solidFill>
                  </a:tcPr>
                </a:tc>
                <a:tc>
                  <a:txBody>
                    <a:bodyPr wrap="none"/>
                    <a:lstStyle/>
                    <a:p>
                      <a:pPr algn="l"/>
                      <a:r>
                        <a:rPr sz="800" b="0">
                          <a:solidFill>
                            <a:srgbClr val="2E2E2E"/>
                          </a:solidFill>
                          <a:latin typeface="Calibri"/>
                        </a:rPr>
                        <a:t>276.7</a:t>
                      </a:r>
                    </a:p>
                  </a:txBody>
                  <a:tcPr marL="85725" marR="38100" marT="19050" marB="19050" anchor="ctr">
                    <a:solidFill>
                      <a:srgbClr val="FFFFFF"/>
                    </a:solidFill>
                  </a:tcPr>
                </a:tc>
                <a:tc>
                  <a:txBody>
                    <a:bodyPr wrap="none"/>
                    <a:lstStyle/>
                    <a:p>
                      <a:pPr algn="l"/>
                      <a:r>
                        <a:rPr sz="800" b="0">
                          <a:solidFill>
                            <a:srgbClr val="2E2E2E"/>
                          </a:solidFill>
                          <a:latin typeface="Calibri"/>
                        </a:rPr>
                        <a:t>309.4</a:t>
                      </a:r>
                    </a:p>
                  </a:txBody>
                  <a:tcPr marL="85725" marR="38100" marT="19050" marB="19050" anchor="ctr">
                    <a:solidFill>
                      <a:srgbClr val="FFFFFF"/>
                    </a:solidFill>
                  </a:tcPr>
                </a:tc>
                <a:tc>
                  <a:txBody>
                    <a:bodyPr wrap="none"/>
                    <a:lstStyle/>
                    <a:p>
                      <a:pPr algn="l"/>
                      <a:r>
                        <a:rPr sz="800" b="0">
                          <a:solidFill>
                            <a:srgbClr val="2E2E2E"/>
                          </a:solidFill>
                          <a:latin typeface="Calibri"/>
                        </a:rPr>
                        <a:t>346.3</a:t>
                      </a:r>
                    </a:p>
                  </a:txBody>
                  <a:tcPr marL="85725" marR="38100" marT="19050" marB="19050" anchor="ctr">
                    <a:solidFill>
                      <a:srgbClr val="FFFFFF"/>
                    </a:solidFill>
                  </a:tcPr>
                </a:tc>
                <a:tc>
                  <a:txBody>
                    <a:bodyPr wrap="none"/>
                    <a:lstStyle/>
                    <a:p>
                      <a:pPr algn="l"/>
                      <a:r>
                        <a:rPr sz="800" b="0">
                          <a:solidFill>
                            <a:srgbClr val="2E2E2E"/>
                          </a:solidFill>
                          <a:latin typeface="Calibri"/>
                        </a:rPr>
                        <a:t>387.2</a:t>
                      </a:r>
                    </a:p>
                  </a:txBody>
                  <a:tcPr marL="85725" marR="38100" marT="19050" marB="19050" anchor="ctr">
                    <a:solidFill>
                      <a:srgbClr val="FFFFFF"/>
                    </a:solidFill>
                  </a:tcPr>
                </a:tc>
                <a:tc>
                  <a:txBody>
                    <a:bodyPr wrap="none"/>
                    <a:lstStyle/>
                    <a:p>
                      <a:pPr algn="l"/>
                      <a:r>
                        <a:rPr sz="800" b="0">
                          <a:solidFill>
                            <a:srgbClr val="2E2E2E"/>
                          </a:solidFill>
                          <a:latin typeface="Calibri"/>
                        </a:rPr>
                        <a:t>432.4</a:t>
                      </a:r>
                    </a:p>
                  </a:txBody>
                  <a:tcPr marL="85725" marR="38100" marT="19050" marB="19050" anchor="ctr">
                    <a:solidFill>
                      <a:srgbClr val="FFFFFF"/>
                    </a:solidFill>
                  </a:tcPr>
                </a:tc>
                <a:tc>
                  <a:txBody>
                    <a:bodyPr wrap="none"/>
                    <a:lstStyle/>
                    <a:p>
                      <a:pPr algn="l"/>
                      <a:r>
                        <a:rPr sz="800" b="0">
                          <a:solidFill>
                            <a:srgbClr val="2E2E2E"/>
                          </a:solidFill>
                          <a:latin typeface="Calibri"/>
                        </a:rPr>
                        <a:t>482.4</a:t>
                      </a:r>
                    </a:p>
                  </a:txBody>
                  <a:tcPr marL="85725" marR="38100" marT="19050" marB="19050" anchor="ctr">
                    <a:solidFill>
                      <a:srgbClr val="FFFFFF"/>
                    </a:solidFill>
                  </a:tcPr>
                </a:tc>
                <a:tc>
                  <a:txBody>
                    <a:bodyPr wrap="none"/>
                    <a:lstStyle/>
                    <a:p>
                      <a:pPr algn="l"/>
                      <a:r>
                        <a:rPr sz="800" b="0">
                          <a:solidFill>
                            <a:srgbClr val="2E2E2E"/>
                          </a:solidFill>
                          <a:latin typeface="Calibri"/>
                        </a:rPr>
                        <a:t>537.6</a:t>
                      </a:r>
                    </a:p>
                  </a:txBody>
                  <a:tcPr marL="85725" marR="38100" marT="19050" marB="19050" anchor="ctr">
                    <a:solidFill>
                      <a:srgbClr val="FFFFFF"/>
                    </a:solidFill>
                  </a:tcPr>
                </a:tc>
                <a:tc>
                  <a:txBody>
                    <a:bodyPr wrap="none"/>
                    <a:lstStyle/>
                    <a:p>
                      <a:pPr algn="l"/>
                      <a:r>
                        <a:rPr sz="800" b="0">
                          <a:solidFill>
                            <a:srgbClr val="2E2E2E"/>
                          </a:solidFill>
                          <a:latin typeface="Calibri"/>
                        </a:rPr>
                        <a:t>599.5</a:t>
                      </a:r>
                    </a:p>
                  </a:txBody>
                  <a:tcPr marL="85725" marR="38100" marT="19050" marB="19050" anchor="ctr">
                    <a:solidFill>
                      <a:srgbClr val="FFFFFF"/>
                    </a:solidFill>
                  </a:tcPr>
                </a:tc>
                <a:tc>
                  <a:txBody>
                    <a:bodyPr wrap="none"/>
                    <a:lstStyle/>
                    <a:p>
                      <a:pPr algn="l"/>
                      <a:r>
                        <a:rPr sz="800" b="0">
                          <a:solidFill>
                            <a:srgbClr val="2E2E2E"/>
                          </a:solidFill>
                          <a:latin typeface="Calibri"/>
                        </a:rPr>
                        <a:t>668.1</a:t>
                      </a:r>
                    </a:p>
                  </a:txBody>
                  <a:tcPr marL="85725" marR="38100" marT="19050" marB="19050" anchor="ctr">
                    <a:solidFill>
                      <a:srgbClr val="FFFFFF"/>
                    </a:solidFill>
                  </a:tcPr>
                </a:tc>
                <a:tc>
                  <a:txBody>
                    <a:bodyPr wrap="none"/>
                    <a:lstStyle/>
                    <a:p>
                      <a:pPr algn="l"/>
                      <a:r>
                        <a:rPr sz="800" b="0">
                          <a:solidFill>
                            <a:srgbClr val="2E2E2E"/>
                          </a:solidFill>
                          <a:latin typeface="Calibri"/>
                        </a:rPr>
                        <a:t>744.8</a:t>
                      </a:r>
                    </a:p>
                  </a:txBody>
                  <a:tcPr marL="85725" marR="38100" marT="19050" marB="19050" anchor="ctr">
                    <a:solidFill>
                      <a:srgbClr val="FFFFFF"/>
                    </a:solidFill>
                  </a:tcPr>
                </a:tc>
                <a:tc>
                  <a:txBody>
                    <a:bodyPr wrap="none"/>
                    <a:lstStyle/>
                    <a:p>
                      <a:pPr algn="l"/>
                      <a:r>
                        <a:rPr sz="800" b="0">
                          <a:solidFill>
                            <a:srgbClr val="2E2E2E"/>
                          </a:solidFill>
                          <a:latin typeface="Calibri"/>
                        </a:rPr>
                        <a:t>11.6%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0">
                          <a:solidFill>
                            <a:srgbClr val="2E2E2E"/>
                          </a:solidFill>
                          <a:latin typeface="Calibri"/>
                        </a:rPr>
                        <a:t>121.7</a:t>
                      </a:r>
                    </a:p>
                  </a:txBody>
                  <a:tcPr marL="85725" marR="38100" marT="19050" marB="19050" anchor="ctr">
                    <a:solidFill>
                      <a:srgbClr val="F5F8FA"/>
                    </a:solidFill>
                  </a:tcPr>
                </a:tc>
                <a:tc>
                  <a:txBody>
                    <a:bodyPr wrap="none"/>
                    <a:lstStyle/>
                    <a:p>
                      <a:pPr algn="l"/>
                      <a:r>
                        <a:rPr sz="800" b="0">
                          <a:solidFill>
                            <a:srgbClr val="2E2E2E"/>
                          </a:solidFill>
                          <a:latin typeface="Calibri"/>
                        </a:rPr>
                        <a:t>130.9</a:t>
                      </a:r>
                    </a:p>
                  </a:txBody>
                  <a:tcPr marL="85725" marR="38100" marT="19050" marB="19050" anchor="ctr">
                    <a:solidFill>
                      <a:srgbClr val="F5F8FA"/>
                    </a:solidFill>
                  </a:tcPr>
                </a:tc>
                <a:tc>
                  <a:txBody>
                    <a:bodyPr wrap="none"/>
                    <a:lstStyle/>
                    <a:p>
                      <a:pPr algn="l"/>
                      <a:r>
                        <a:rPr sz="800" b="0">
                          <a:solidFill>
                            <a:srgbClr val="2E2E2E"/>
                          </a:solidFill>
                          <a:latin typeface="Calibri"/>
                        </a:rPr>
                        <a:t>141.2</a:t>
                      </a:r>
                    </a:p>
                  </a:txBody>
                  <a:tcPr marL="85725" marR="38100" marT="19050" marB="19050" anchor="ctr">
                    <a:solidFill>
                      <a:srgbClr val="F5F8FA"/>
                    </a:solidFill>
                  </a:tcPr>
                </a:tc>
                <a:tc>
                  <a:txBody>
                    <a:bodyPr wrap="none"/>
                    <a:lstStyle/>
                    <a:p>
                      <a:pPr algn="l"/>
                      <a:r>
                        <a:rPr sz="800" b="0">
                          <a:solidFill>
                            <a:srgbClr val="2E2E2E"/>
                          </a:solidFill>
                          <a:latin typeface="Calibri"/>
                        </a:rPr>
                        <a:t>153.0</a:t>
                      </a:r>
                    </a:p>
                  </a:txBody>
                  <a:tcPr marL="85725" marR="38100" marT="19050" marB="19050" anchor="ctr">
                    <a:solidFill>
                      <a:srgbClr val="F5F8FA"/>
                    </a:solidFill>
                  </a:tcPr>
                </a:tc>
                <a:tc>
                  <a:txBody>
                    <a:bodyPr wrap="none"/>
                    <a:lstStyle/>
                    <a:p>
                      <a:pPr algn="l"/>
                      <a:r>
                        <a:rPr sz="800" b="0">
                          <a:solidFill>
                            <a:srgbClr val="2E2E2E"/>
                          </a:solidFill>
                          <a:latin typeface="Calibri"/>
                        </a:rPr>
                        <a:t>166.6</a:t>
                      </a:r>
                    </a:p>
                  </a:txBody>
                  <a:tcPr marL="85725" marR="38100" marT="19050" marB="19050" anchor="ctr">
                    <a:solidFill>
                      <a:srgbClr val="F5F8FA"/>
                    </a:solidFill>
                  </a:tcPr>
                </a:tc>
                <a:tc>
                  <a:txBody>
                    <a:bodyPr wrap="none"/>
                    <a:lstStyle/>
                    <a:p>
                      <a:pPr algn="l"/>
                      <a:r>
                        <a:rPr sz="800" b="0">
                          <a:solidFill>
                            <a:srgbClr val="2E2E2E"/>
                          </a:solidFill>
                          <a:latin typeface="Calibri"/>
                        </a:rPr>
                        <a:t>183.0</a:t>
                      </a:r>
                    </a:p>
                  </a:txBody>
                  <a:tcPr marL="85725" marR="38100" marT="19050" marB="19050" anchor="ctr">
                    <a:solidFill>
                      <a:srgbClr val="F5F8FA"/>
                    </a:solidFill>
                  </a:tcPr>
                </a:tc>
                <a:tc>
                  <a:txBody>
                    <a:bodyPr wrap="none"/>
                    <a:lstStyle/>
                    <a:p>
                      <a:pPr algn="l"/>
                      <a:r>
                        <a:rPr sz="800" b="0">
                          <a:solidFill>
                            <a:srgbClr val="2E2E2E"/>
                          </a:solidFill>
                          <a:latin typeface="Calibri"/>
                        </a:rPr>
                        <a:t>201.7</a:t>
                      </a:r>
                    </a:p>
                  </a:txBody>
                  <a:tcPr marL="85725" marR="38100" marT="19050" marB="19050" anchor="ctr">
                    <a:solidFill>
                      <a:srgbClr val="F5F8FA"/>
                    </a:solidFill>
                  </a:tcPr>
                </a:tc>
                <a:tc>
                  <a:txBody>
                    <a:bodyPr wrap="none"/>
                    <a:lstStyle/>
                    <a:p>
                      <a:pPr algn="l"/>
                      <a:r>
                        <a:rPr sz="800" b="0">
                          <a:solidFill>
                            <a:srgbClr val="2E2E2E"/>
                          </a:solidFill>
                          <a:latin typeface="Calibri"/>
                        </a:rPr>
                        <a:t>222.7</a:t>
                      </a:r>
                    </a:p>
                  </a:txBody>
                  <a:tcPr marL="85725" marR="38100" marT="19050" marB="19050" anchor="ctr">
                    <a:solidFill>
                      <a:srgbClr val="F5F8FA"/>
                    </a:solidFill>
                  </a:tcPr>
                </a:tc>
                <a:tc>
                  <a:txBody>
                    <a:bodyPr wrap="none"/>
                    <a:lstStyle/>
                    <a:p>
                      <a:pPr algn="l"/>
                      <a:r>
                        <a:rPr sz="800" b="0">
                          <a:solidFill>
                            <a:srgbClr val="2E2E2E"/>
                          </a:solidFill>
                          <a:latin typeface="Calibri"/>
                        </a:rPr>
                        <a:t>246.2</a:t>
                      </a:r>
                    </a:p>
                  </a:txBody>
                  <a:tcPr marL="85725" marR="38100" marT="19050" marB="19050" anchor="ctr">
                    <a:solidFill>
                      <a:srgbClr val="F5F8FA"/>
                    </a:solidFill>
                  </a:tcPr>
                </a:tc>
                <a:tc>
                  <a:txBody>
                    <a:bodyPr wrap="none"/>
                    <a:lstStyle/>
                    <a:p>
                      <a:pPr algn="l"/>
                      <a:r>
                        <a:rPr sz="800" b="0">
                          <a:solidFill>
                            <a:srgbClr val="2E2E2E"/>
                          </a:solidFill>
                          <a:latin typeface="Calibri"/>
                        </a:rPr>
                        <a:t>271.9</a:t>
                      </a:r>
                    </a:p>
                  </a:txBody>
                  <a:tcPr marL="85725" marR="38100" marT="19050" marB="19050" anchor="ctr">
                    <a:solidFill>
                      <a:srgbClr val="F5F8FA"/>
                    </a:solidFill>
                  </a:tcPr>
                </a:tc>
                <a:tc>
                  <a:txBody>
                    <a:bodyPr wrap="none"/>
                    <a:lstStyle/>
                    <a:p>
                      <a:pPr algn="l"/>
                      <a:r>
                        <a:rPr sz="800" b="0">
                          <a:solidFill>
                            <a:srgbClr val="2E2E2E"/>
                          </a:solidFill>
                          <a:latin typeface="Calibri"/>
                        </a:rPr>
                        <a:t>300.0</a:t>
                      </a:r>
                    </a:p>
                  </a:txBody>
                  <a:tcPr marL="85725" marR="38100" marT="19050" marB="19050" anchor="ctr">
                    <a:solidFill>
                      <a:srgbClr val="F5F8FA"/>
                    </a:solidFill>
                  </a:tcPr>
                </a:tc>
                <a:tc>
                  <a:txBody>
                    <a:bodyPr wrap="none"/>
                    <a:lstStyle/>
                    <a:p>
                      <a:pPr algn="l"/>
                      <a:r>
                        <a:rPr sz="800" b="0">
                          <a:solidFill>
                            <a:srgbClr val="2E2E2E"/>
                          </a:solidFill>
                          <a:latin typeface="Calibri"/>
                        </a:rPr>
                        <a:t>330.8</a:t>
                      </a:r>
                    </a:p>
                  </a:txBody>
                  <a:tcPr marL="85725" marR="38100" marT="19050" marB="19050" anchor="ctr">
                    <a:solidFill>
                      <a:srgbClr val="F5F8FA"/>
                    </a:solidFill>
                  </a:tcPr>
                </a:tc>
                <a:tc>
                  <a:txBody>
                    <a:bodyPr wrap="none"/>
                    <a:lstStyle/>
                    <a:p>
                      <a:pPr algn="l"/>
                      <a:r>
                        <a:rPr sz="800" b="0">
                          <a:solidFill>
                            <a:srgbClr val="2E2E2E"/>
                          </a:solidFill>
                          <a:latin typeface="Calibri"/>
                        </a:rPr>
                        <a:t>364.5</a:t>
                      </a:r>
                    </a:p>
                  </a:txBody>
                  <a:tcPr marL="85725" marR="38100" marT="19050" marB="19050" anchor="ctr">
                    <a:solidFill>
                      <a:srgbClr val="F5F8FA"/>
                    </a:solidFill>
                  </a:tcPr>
                </a:tc>
                <a:tc>
                  <a:txBody>
                    <a:bodyPr wrap="none"/>
                    <a:lstStyle/>
                    <a:p>
                      <a:pPr algn="l"/>
                      <a:r>
                        <a:rPr sz="800" b="0">
                          <a:solidFill>
                            <a:srgbClr val="2E2E2E"/>
                          </a:solidFill>
                          <a:latin typeface="Calibri"/>
                        </a:rPr>
                        <a:t>402.1</a:t>
                      </a:r>
                    </a:p>
                  </a:txBody>
                  <a:tcPr marL="85725" marR="38100" marT="19050" marB="19050" anchor="ctr">
                    <a:solidFill>
                      <a:srgbClr val="F5F8FA"/>
                    </a:solidFill>
                  </a:tcPr>
                </a:tc>
                <a:tc>
                  <a:txBody>
                    <a:bodyPr wrap="none"/>
                    <a:lstStyle/>
                    <a:p>
                      <a:pPr algn="l"/>
                      <a:r>
                        <a:rPr sz="800" b="0">
                          <a:solidFill>
                            <a:srgbClr val="2E2E2E"/>
                          </a:solidFill>
                          <a:latin typeface="Calibri"/>
                        </a:rPr>
                        <a:t>443.4</a:t>
                      </a:r>
                    </a:p>
                  </a:txBody>
                  <a:tcPr marL="85725" marR="38100" marT="19050" marB="19050" anchor="ctr">
                    <a:solidFill>
                      <a:srgbClr val="F5F8FA"/>
                    </a:solidFill>
                  </a:tcPr>
                </a:tc>
                <a:tc>
                  <a:txBody>
                    <a:bodyPr wrap="none"/>
                    <a:lstStyle/>
                    <a:p>
                      <a:pPr algn="l"/>
                      <a:r>
                        <a:rPr sz="800" b="0">
                          <a:solidFill>
                            <a:srgbClr val="2E2E2E"/>
                          </a:solidFill>
                          <a:latin typeface="Calibri"/>
                        </a:rPr>
                        <a:t>489.4</a:t>
                      </a:r>
                    </a:p>
                  </a:txBody>
                  <a:tcPr marL="85725" marR="38100" marT="19050" marB="19050" anchor="ctr">
                    <a:solidFill>
                      <a:srgbClr val="F5F8FA"/>
                    </a:solidFill>
                  </a:tcPr>
                </a:tc>
                <a:tc>
                  <a:txBody>
                    <a:bodyPr wrap="none"/>
                    <a:lstStyle/>
                    <a:p>
                      <a:pPr algn="l"/>
                      <a:r>
                        <a:rPr sz="800" b="0">
                          <a:solidFill>
                            <a:srgbClr val="2E2E2E"/>
                          </a:solidFill>
                          <a:latin typeface="Calibri"/>
                        </a:rPr>
                        <a:t>10.3%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Product Type</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Containers' is the largest product type at 42.9% of 2036 volume (2,388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'Integrated Capillary Blood Collection Devices' grows fastest 11.6%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'Integrated Capillary Blood Collection Devices' (+460 BPS) and away from 'Capillary Blood Collection Containers' (-369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Product Type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Product Type,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Product Type (US$ Mn)</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0">
                          <a:solidFill>
                            <a:srgbClr val="2E2E2E"/>
                          </a:solidFill>
                          <a:latin typeface="Calibri"/>
                        </a:rPr>
                        <a:t>855.6</a:t>
                      </a:r>
                    </a:p>
                  </a:txBody>
                  <a:tcPr marL="85725" marR="38100" marT="19050" marB="19050" anchor="ctr">
                    <a:solidFill>
                      <a:srgbClr val="FFFFFF"/>
                    </a:solidFill>
                  </a:tcPr>
                </a:tc>
                <a:tc>
                  <a:txBody>
                    <a:bodyPr wrap="none"/>
                    <a:lstStyle/>
                    <a:p>
                      <a:pPr algn="l"/>
                      <a:r>
                        <a:rPr sz="800" b="0">
                          <a:solidFill>
                            <a:srgbClr val="2E2E2E"/>
                          </a:solidFill>
                          <a:latin typeface="Calibri"/>
                        </a:rPr>
                        <a:t>886.8</a:t>
                      </a:r>
                    </a:p>
                  </a:txBody>
                  <a:tcPr marL="85725" marR="38100" marT="19050" marB="19050" anchor="ctr">
                    <a:solidFill>
                      <a:srgbClr val="FFFFFF"/>
                    </a:solidFill>
                  </a:tcPr>
                </a:tc>
                <a:tc>
                  <a:txBody>
                    <a:bodyPr wrap="none"/>
                    <a:lstStyle/>
                    <a:p>
                      <a:pPr algn="l"/>
                      <a:r>
                        <a:rPr sz="800" b="0">
                          <a:solidFill>
                            <a:srgbClr val="2E2E2E"/>
                          </a:solidFill>
                          <a:latin typeface="Calibri"/>
                        </a:rPr>
                        <a:t>922.5</a:t>
                      </a:r>
                    </a:p>
                  </a:txBody>
                  <a:tcPr marL="85725" marR="38100" marT="19050" marB="19050" anchor="ctr">
                    <a:solidFill>
                      <a:srgbClr val="FFFFFF"/>
                    </a:solidFill>
                  </a:tcPr>
                </a:tc>
                <a:tc>
                  <a:txBody>
                    <a:bodyPr wrap="none"/>
                    <a:lstStyle/>
                    <a:p>
                      <a:pPr algn="l"/>
                      <a:r>
                        <a:rPr sz="800" b="0">
                          <a:solidFill>
                            <a:srgbClr val="2E2E2E"/>
                          </a:solidFill>
                          <a:latin typeface="Calibri"/>
                        </a:rPr>
                        <a:t>965.8</a:t>
                      </a:r>
                    </a:p>
                  </a:txBody>
                  <a:tcPr marL="85725" marR="38100" marT="19050" marB="19050" anchor="ctr">
                    <a:solidFill>
                      <a:srgbClr val="FFFFFF"/>
                    </a:solidFill>
                  </a:tcPr>
                </a:tc>
                <a:tc>
                  <a:txBody>
                    <a:bodyPr wrap="none"/>
                    <a:lstStyle/>
                    <a:p>
                      <a:pPr algn="l"/>
                      <a:r>
                        <a:rPr sz="800" b="0">
                          <a:solidFill>
                            <a:srgbClr val="2E2E2E"/>
                          </a:solidFill>
                          <a:latin typeface="Calibri"/>
                        </a:rPr>
                        <a:t>1,016</a:t>
                      </a:r>
                    </a:p>
                  </a:txBody>
                  <a:tcPr marL="85725" marR="38100" marT="19050" marB="19050" anchor="ctr">
                    <a:solidFill>
                      <a:srgbClr val="FFFFFF"/>
                    </a:solidFill>
                  </a:tcPr>
                </a:tc>
                <a:tc>
                  <a:txBody>
                    <a:bodyPr wrap="none"/>
                    <a:lstStyle/>
                    <a:p>
                      <a:pPr algn="l"/>
                      <a:r>
                        <a:rPr sz="800" b="0">
                          <a:solidFill>
                            <a:srgbClr val="2E2E2E"/>
                          </a:solidFill>
                          <a:latin typeface="Calibri"/>
                        </a:rPr>
                        <a:t>1,076</a:t>
                      </a:r>
                    </a:p>
                  </a:txBody>
                  <a:tcPr marL="85725" marR="38100" marT="19050" marB="19050" anchor="ctr">
                    <a:solidFill>
                      <a:srgbClr val="FFFFFF"/>
                    </a:solidFill>
                  </a:tcPr>
                </a:tc>
                <a:tc>
                  <a:txBody>
                    <a:bodyPr wrap="none"/>
                    <a:lstStyle/>
                    <a:p>
                      <a:pPr algn="l"/>
                      <a:r>
                        <a:rPr sz="800" b="0">
                          <a:solidFill>
                            <a:srgbClr val="2E2E2E"/>
                          </a:solidFill>
                          <a:latin typeface="Calibri"/>
                        </a:rPr>
                        <a:t>1,144</a:t>
                      </a:r>
                    </a:p>
                  </a:txBody>
                  <a:tcPr marL="85725" marR="38100" marT="19050" marB="19050" anchor="ctr">
                    <a:solidFill>
                      <a:srgbClr val="FFFFFF"/>
                    </a:solidFill>
                  </a:tcPr>
                </a:tc>
                <a:tc>
                  <a:txBody>
                    <a:bodyPr wrap="none"/>
                    <a:lstStyle/>
                    <a:p>
                      <a:pPr algn="l"/>
                      <a:r>
                        <a:rPr sz="800" b="0">
                          <a:solidFill>
                            <a:srgbClr val="2E2E2E"/>
                          </a:solidFill>
                          <a:latin typeface="Calibri"/>
                        </a:rPr>
                        <a:t>1,220</a:t>
                      </a:r>
                    </a:p>
                  </a:txBody>
                  <a:tcPr marL="85725" marR="38100" marT="19050" marB="19050" anchor="ctr">
                    <a:solidFill>
                      <a:srgbClr val="FFFFFF"/>
                    </a:solidFill>
                  </a:tcPr>
                </a:tc>
                <a:tc>
                  <a:txBody>
                    <a:bodyPr wrap="none"/>
                    <a:lstStyle/>
                    <a:p>
                      <a:pPr algn="l"/>
                      <a:r>
                        <a:rPr sz="800" b="0">
                          <a:solidFill>
                            <a:srgbClr val="2E2E2E"/>
                          </a:solidFill>
                          <a:latin typeface="Calibri"/>
                        </a:rPr>
                        <a:t>1,304</a:t>
                      </a:r>
                    </a:p>
                  </a:txBody>
                  <a:tcPr marL="85725" marR="38100" marT="19050" marB="19050" anchor="ctr">
                    <a:solidFill>
                      <a:srgbClr val="FFFFFF"/>
                    </a:solidFill>
                  </a:tcPr>
                </a:tc>
                <a:tc>
                  <a:txBody>
                    <a:bodyPr wrap="none"/>
                    <a:lstStyle/>
                    <a:p>
                      <a:pPr algn="l"/>
                      <a:r>
                        <a:rPr sz="800" b="0">
                          <a:solidFill>
                            <a:srgbClr val="2E2E2E"/>
                          </a:solidFill>
                          <a:latin typeface="Calibri"/>
                        </a:rPr>
                        <a:t>1,395</a:t>
                      </a:r>
                    </a:p>
                  </a:txBody>
                  <a:tcPr marL="85725" marR="38100" marT="19050" marB="19050" anchor="ctr">
                    <a:solidFill>
                      <a:srgbClr val="FFFFFF"/>
                    </a:solidFill>
                  </a:tcPr>
                </a:tc>
                <a:tc>
                  <a:txBody>
                    <a:bodyPr wrap="none"/>
                    <a:lstStyle/>
                    <a:p>
                      <a:pPr algn="l"/>
                      <a:r>
                        <a:rPr sz="800" b="0">
                          <a:solidFill>
                            <a:srgbClr val="2E2E2E"/>
                          </a:solidFill>
                          <a:latin typeface="Calibri"/>
                        </a:rPr>
                        <a:t>1,492</a:t>
                      </a:r>
                    </a:p>
                  </a:txBody>
                  <a:tcPr marL="85725" marR="38100" marT="19050" marB="19050" anchor="ctr">
                    <a:solidFill>
                      <a:srgbClr val="FFFFFF"/>
                    </a:solidFill>
                  </a:tcPr>
                </a:tc>
                <a:tc>
                  <a:txBody>
                    <a:bodyPr wrap="none"/>
                    <a:lstStyle/>
                    <a:p>
                      <a:pPr algn="l"/>
                      <a:r>
                        <a:rPr sz="800" b="0">
                          <a:solidFill>
                            <a:srgbClr val="2E2E2E"/>
                          </a:solidFill>
                          <a:latin typeface="Calibri"/>
                        </a:rPr>
                        <a:t>1,597</a:t>
                      </a:r>
                    </a:p>
                  </a:txBody>
                  <a:tcPr marL="85725" marR="38100" marT="19050" marB="19050" anchor="ctr">
                    <a:solidFill>
                      <a:srgbClr val="FFFFFF"/>
                    </a:solidFill>
                  </a:tcPr>
                </a:tc>
                <a:tc>
                  <a:txBody>
                    <a:bodyPr wrap="none"/>
                    <a:lstStyle/>
                    <a:p>
                      <a:pPr algn="l"/>
                      <a:r>
                        <a:rPr sz="800" b="0">
                          <a:solidFill>
                            <a:srgbClr val="2E2E2E"/>
                          </a:solidFill>
                          <a:latin typeface="Calibri"/>
                        </a:rPr>
                        <a:t>1,710</a:t>
                      </a:r>
                    </a:p>
                  </a:txBody>
                  <a:tcPr marL="85725" marR="38100" marT="19050" marB="19050" anchor="ctr">
                    <a:solidFill>
                      <a:srgbClr val="FFFFFF"/>
                    </a:solidFill>
                  </a:tcPr>
                </a:tc>
                <a:tc>
                  <a:txBody>
                    <a:bodyPr wrap="none"/>
                    <a:lstStyle/>
                    <a:p>
                      <a:pPr algn="l"/>
                      <a:r>
                        <a:rPr sz="800" b="0">
                          <a:solidFill>
                            <a:srgbClr val="2E2E2E"/>
                          </a:solidFill>
                          <a:latin typeface="Calibri"/>
                        </a:rPr>
                        <a:t>1,834</a:t>
                      </a:r>
                    </a:p>
                  </a:txBody>
                  <a:tcPr marL="85725" marR="38100" marT="19050" marB="19050" anchor="ctr">
                    <a:solidFill>
                      <a:srgbClr val="FFFFFF"/>
                    </a:solidFill>
                  </a:tcPr>
                </a:tc>
                <a:tc>
                  <a:txBody>
                    <a:bodyPr wrap="none"/>
                    <a:lstStyle/>
                    <a:p>
                      <a:pPr algn="l"/>
                      <a:r>
                        <a:rPr sz="800" b="0">
                          <a:solidFill>
                            <a:srgbClr val="2E2E2E"/>
                          </a:solidFill>
                          <a:latin typeface="Calibri"/>
                        </a:rPr>
                        <a:t>1,969</a:t>
                      </a:r>
                    </a:p>
                  </a:txBody>
                  <a:tcPr marL="85725" marR="38100" marT="19050" marB="19050" anchor="ctr">
                    <a:solidFill>
                      <a:srgbClr val="FFFFFF"/>
                    </a:solidFill>
                  </a:tcPr>
                </a:tc>
                <a:tc>
                  <a:txBody>
                    <a:bodyPr wrap="none"/>
                    <a:lstStyle/>
                    <a:p>
                      <a:pPr algn="l"/>
                      <a:r>
                        <a:rPr sz="800" b="0">
                          <a:solidFill>
                            <a:srgbClr val="2E2E2E"/>
                          </a:solidFill>
                          <a:latin typeface="Calibri"/>
                        </a:rPr>
                        <a:t>2,116</a:t>
                      </a:r>
                    </a:p>
                  </a:txBody>
                  <a:tcPr marL="85725" marR="38100" marT="19050" marB="19050" anchor="ctr">
                    <a:solidFill>
                      <a:srgbClr val="FFFFFF"/>
                    </a:solidFill>
                  </a:tcPr>
                </a:tc>
                <a:tc>
                  <a:txBody>
                    <a:bodyPr wrap="none"/>
                    <a:lstStyle/>
                    <a:p>
                      <a:pPr algn="l"/>
                      <a:r>
                        <a:rPr sz="800" b="0">
                          <a:solidFill>
                            <a:srgbClr val="2E2E2E"/>
                          </a:solidFill>
                          <a:latin typeface="Calibri"/>
                        </a:rPr>
                        <a:t>7.0%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0">
                          <a:solidFill>
                            <a:srgbClr val="2E2E2E"/>
                          </a:solidFill>
                          <a:latin typeface="Calibri"/>
                        </a:rPr>
                        <a:t>698.7</a:t>
                      </a:r>
                    </a:p>
                  </a:txBody>
                  <a:tcPr marL="85725" marR="38100" marT="19050" marB="19050" anchor="ctr">
                    <a:solidFill>
                      <a:srgbClr val="F5F8FA"/>
                    </a:solidFill>
                  </a:tcPr>
                </a:tc>
                <a:tc>
                  <a:txBody>
                    <a:bodyPr wrap="none"/>
                    <a:lstStyle/>
                    <a:p>
                      <a:pPr algn="l"/>
                      <a:r>
                        <a:rPr sz="800" b="0">
                          <a:solidFill>
                            <a:srgbClr val="2E2E2E"/>
                          </a:solidFill>
                          <a:latin typeface="Calibri"/>
                        </a:rPr>
                        <a:t>724.0</a:t>
                      </a:r>
                    </a:p>
                  </a:txBody>
                  <a:tcPr marL="85725" marR="38100" marT="19050" marB="19050" anchor="ctr">
                    <a:solidFill>
                      <a:srgbClr val="F5F8FA"/>
                    </a:solidFill>
                  </a:tcPr>
                </a:tc>
                <a:tc>
                  <a:txBody>
                    <a:bodyPr wrap="none"/>
                    <a:lstStyle/>
                    <a:p>
                      <a:pPr algn="l"/>
                      <a:r>
                        <a:rPr sz="800" b="0">
                          <a:solidFill>
                            <a:srgbClr val="2E2E2E"/>
                          </a:solidFill>
                          <a:latin typeface="Calibri"/>
                        </a:rPr>
                        <a:t>753.0</a:t>
                      </a:r>
                    </a:p>
                  </a:txBody>
                  <a:tcPr marL="85725" marR="38100" marT="19050" marB="19050" anchor="ctr">
                    <a:solidFill>
                      <a:srgbClr val="F5F8FA"/>
                    </a:solidFill>
                  </a:tcPr>
                </a:tc>
                <a:tc>
                  <a:txBody>
                    <a:bodyPr wrap="none"/>
                    <a:lstStyle/>
                    <a:p>
                      <a:pPr algn="l"/>
                      <a:r>
                        <a:rPr sz="800" b="0">
                          <a:solidFill>
                            <a:srgbClr val="2E2E2E"/>
                          </a:solidFill>
                          <a:latin typeface="Calibri"/>
                        </a:rPr>
                        <a:t>788.6</a:t>
                      </a:r>
                    </a:p>
                  </a:txBody>
                  <a:tcPr marL="85725" marR="38100" marT="19050" marB="19050" anchor="ctr">
                    <a:solidFill>
                      <a:srgbClr val="F5F8FA"/>
                    </a:solidFill>
                  </a:tcPr>
                </a:tc>
                <a:tc>
                  <a:txBody>
                    <a:bodyPr wrap="none"/>
                    <a:lstStyle/>
                    <a:p>
                      <a:pPr algn="l"/>
                      <a:r>
                        <a:rPr sz="800" b="0">
                          <a:solidFill>
                            <a:srgbClr val="2E2E2E"/>
                          </a:solidFill>
                          <a:latin typeface="Calibri"/>
                        </a:rPr>
                        <a:t>830.0</a:t>
                      </a:r>
                    </a:p>
                  </a:txBody>
                  <a:tcPr marL="85725" marR="38100" marT="19050" marB="19050" anchor="ctr">
                    <a:solidFill>
                      <a:srgbClr val="F5F8FA"/>
                    </a:solidFill>
                  </a:tcPr>
                </a:tc>
                <a:tc>
                  <a:txBody>
                    <a:bodyPr wrap="none"/>
                    <a:lstStyle/>
                    <a:p>
                      <a:pPr algn="l"/>
                      <a:r>
                        <a:rPr sz="800" b="0">
                          <a:solidFill>
                            <a:srgbClr val="2E2E2E"/>
                          </a:solidFill>
                          <a:latin typeface="Calibri"/>
                        </a:rPr>
                        <a:t>878.3</a:t>
                      </a:r>
                    </a:p>
                  </a:txBody>
                  <a:tcPr marL="85725" marR="38100" marT="19050" marB="19050" anchor="ctr">
                    <a:solidFill>
                      <a:srgbClr val="F5F8FA"/>
                    </a:solidFill>
                  </a:tcPr>
                </a:tc>
                <a:tc>
                  <a:txBody>
                    <a:bodyPr wrap="none"/>
                    <a:lstStyle/>
                    <a:p>
                      <a:pPr algn="l"/>
                      <a:r>
                        <a:rPr sz="800" b="0">
                          <a:solidFill>
                            <a:srgbClr val="2E2E2E"/>
                          </a:solidFill>
                          <a:latin typeface="Calibri"/>
                        </a:rPr>
                        <a:t>933.7</a:t>
                      </a:r>
                    </a:p>
                  </a:txBody>
                  <a:tcPr marL="85725" marR="38100" marT="19050" marB="19050" anchor="ctr">
                    <a:solidFill>
                      <a:srgbClr val="F5F8FA"/>
                    </a:solidFill>
                  </a:tcPr>
                </a:tc>
                <a:tc>
                  <a:txBody>
                    <a:bodyPr wrap="none"/>
                    <a:lstStyle/>
                    <a:p>
                      <a:pPr algn="l"/>
                      <a:r>
                        <a:rPr sz="800" b="0">
                          <a:solidFill>
                            <a:srgbClr val="2E2E2E"/>
                          </a:solidFill>
                          <a:latin typeface="Calibri"/>
                        </a:rPr>
                        <a:t>995.6</a:t>
                      </a:r>
                    </a:p>
                  </a:txBody>
                  <a:tcPr marL="85725" marR="38100" marT="19050" marB="19050" anchor="ctr">
                    <a:solidFill>
                      <a:srgbClr val="F5F8FA"/>
                    </a:solidFill>
                  </a:tcPr>
                </a:tc>
                <a:tc>
                  <a:txBody>
                    <a:bodyPr wrap="none"/>
                    <a:lstStyle/>
                    <a:p>
                      <a:pPr algn="l"/>
                      <a:r>
                        <a:rPr sz="800" b="0">
                          <a:solidFill>
                            <a:srgbClr val="2E2E2E"/>
                          </a:solidFill>
                          <a:latin typeface="Calibri"/>
                        </a:rPr>
                        <a:t>1,064</a:t>
                      </a:r>
                    </a:p>
                  </a:txBody>
                  <a:tcPr marL="85725" marR="38100" marT="19050" marB="19050" anchor="ctr">
                    <a:solidFill>
                      <a:srgbClr val="F5F8FA"/>
                    </a:solidFill>
                  </a:tcPr>
                </a:tc>
                <a:tc>
                  <a:txBody>
                    <a:bodyPr wrap="none"/>
                    <a:lstStyle/>
                    <a:p>
                      <a:pPr algn="l"/>
                      <a:r>
                        <a:rPr sz="800" b="0">
                          <a:solidFill>
                            <a:srgbClr val="2E2E2E"/>
                          </a:solidFill>
                          <a:latin typeface="Calibri"/>
                        </a:rPr>
                        <a:t>1,137</a:t>
                      </a:r>
                    </a:p>
                  </a:txBody>
                  <a:tcPr marL="85725" marR="38100" marT="19050" marB="19050" anchor="ctr">
                    <a:solidFill>
                      <a:srgbClr val="F5F8FA"/>
                    </a:solidFill>
                  </a:tcPr>
                </a:tc>
                <a:tc>
                  <a:txBody>
                    <a:bodyPr wrap="none"/>
                    <a:lstStyle/>
                    <a:p>
                      <a:pPr algn="l"/>
                      <a:r>
                        <a:rPr sz="800" b="0">
                          <a:solidFill>
                            <a:srgbClr val="2E2E2E"/>
                          </a:solidFill>
                          <a:latin typeface="Calibri"/>
                        </a:rPr>
                        <a:t>1,216</a:t>
                      </a:r>
                    </a:p>
                  </a:txBody>
                  <a:tcPr marL="85725" marR="38100" marT="19050" marB="19050" anchor="ctr">
                    <a:solidFill>
                      <a:srgbClr val="F5F8FA"/>
                    </a:solidFill>
                  </a:tcPr>
                </a:tc>
                <a:tc>
                  <a:txBody>
                    <a:bodyPr wrap="none"/>
                    <a:lstStyle/>
                    <a:p>
                      <a:pPr algn="l"/>
                      <a:r>
                        <a:rPr sz="800" b="0">
                          <a:solidFill>
                            <a:srgbClr val="2E2E2E"/>
                          </a:solidFill>
                          <a:latin typeface="Calibri"/>
                        </a:rPr>
                        <a:t>1,302</a:t>
                      </a:r>
                    </a:p>
                  </a:txBody>
                  <a:tcPr marL="85725" marR="38100" marT="19050" marB="19050" anchor="ctr">
                    <a:solidFill>
                      <a:srgbClr val="F5F8FA"/>
                    </a:solidFill>
                  </a:tcPr>
                </a:tc>
                <a:tc>
                  <a:txBody>
                    <a:bodyPr wrap="none"/>
                    <a:lstStyle/>
                    <a:p>
                      <a:pPr algn="l"/>
                      <a:r>
                        <a:rPr sz="800" b="0">
                          <a:solidFill>
                            <a:srgbClr val="2E2E2E"/>
                          </a:solidFill>
                          <a:latin typeface="Calibri"/>
                        </a:rPr>
                        <a:t>1,393</a:t>
                      </a:r>
                    </a:p>
                  </a:txBody>
                  <a:tcPr marL="85725" marR="38100" marT="19050" marB="19050" anchor="ctr">
                    <a:solidFill>
                      <a:srgbClr val="F5F8FA"/>
                    </a:solidFill>
                  </a:tcPr>
                </a:tc>
                <a:tc>
                  <a:txBody>
                    <a:bodyPr wrap="none"/>
                    <a:lstStyle/>
                    <a:p>
                      <a:pPr algn="l"/>
                      <a:r>
                        <a:rPr sz="800" b="0">
                          <a:solidFill>
                            <a:srgbClr val="2E2E2E"/>
                          </a:solidFill>
                          <a:latin typeface="Calibri"/>
                        </a:rPr>
                        <a:t>1,494</a:t>
                      </a:r>
                    </a:p>
                  </a:txBody>
                  <a:tcPr marL="85725" marR="38100" marT="19050" marB="19050" anchor="ctr">
                    <a:solidFill>
                      <a:srgbClr val="F5F8FA"/>
                    </a:solidFill>
                  </a:tcPr>
                </a:tc>
                <a:tc>
                  <a:txBody>
                    <a:bodyPr wrap="none"/>
                    <a:lstStyle/>
                    <a:p>
                      <a:pPr algn="l"/>
                      <a:r>
                        <a:rPr sz="800" b="0">
                          <a:solidFill>
                            <a:srgbClr val="2E2E2E"/>
                          </a:solidFill>
                          <a:latin typeface="Calibri"/>
                        </a:rPr>
                        <a:t>1,603</a:t>
                      </a:r>
                    </a:p>
                  </a:txBody>
                  <a:tcPr marL="85725" marR="38100" marT="19050" marB="19050" anchor="ctr">
                    <a:solidFill>
                      <a:srgbClr val="F5F8FA"/>
                    </a:solidFill>
                  </a:tcPr>
                </a:tc>
                <a:tc>
                  <a:txBody>
                    <a:bodyPr wrap="none"/>
                    <a:lstStyle/>
                    <a:p>
                      <a:pPr algn="l"/>
                      <a:r>
                        <a:rPr sz="800" b="0">
                          <a:solidFill>
                            <a:srgbClr val="2E2E2E"/>
                          </a:solidFill>
                          <a:latin typeface="Calibri"/>
                        </a:rPr>
                        <a:t>1,723</a:t>
                      </a:r>
                    </a:p>
                  </a:txBody>
                  <a:tcPr marL="85725" marR="38100" marT="19050" marB="19050" anchor="ctr">
                    <a:solidFill>
                      <a:srgbClr val="F5F8FA"/>
                    </a:solidFill>
                  </a:tcPr>
                </a:tc>
                <a:tc>
                  <a:txBody>
                    <a:bodyPr wrap="none"/>
                    <a:lstStyle/>
                    <a:p>
                      <a:pPr algn="l"/>
                      <a:r>
                        <a:rPr sz="800" b="0">
                          <a:solidFill>
                            <a:srgbClr val="2E2E2E"/>
                          </a:solidFill>
                          <a:latin typeface="Calibri"/>
                        </a:rPr>
                        <a:t>7.0%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0">
                          <a:solidFill>
                            <a:srgbClr val="2E2E2E"/>
                          </a:solidFill>
                          <a:latin typeface="Calibri"/>
                        </a:rPr>
                        <a:t>130.1</a:t>
                      </a:r>
                    </a:p>
                  </a:txBody>
                  <a:tcPr marL="85725" marR="38100" marT="19050" marB="19050" anchor="ctr">
                    <a:solidFill>
                      <a:srgbClr val="FFFFFF"/>
                    </a:solidFill>
                  </a:tcPr>
                </a:tc>
                <a:tc>
                  <a:txBody>
                    <a:bodyPr wrap="none"/>
                    <a:lstStyle/>
                    <a:p>
                      <a:pPr algn="l"/>
                      <a:r>
                        <a:rPr sz="800" b="0">
                          <a:solidFill>
                            <a:srgbClr val="2E2E2E"/>
                          </a:solidFill>
                          <a:latin typeface="Calibri"/>
                        </a:rPr>
                        <a:t>140.3</a:t>
                      </a:r>
                    </a:p>
                  </a:txBody>
                  <a:tcPr marL="85725" marR="38100" marT="19050" marB="19050" anchor="ctr">
                    <a:solidFill>
                      <a:srgbClr val="FFFFFF"/>
                    </a:solidFill>
                  </a:tcPr>
                </a:tc>
                <a:tc>
                  <a:txBody>
                    <a:bodyPr wrap="none"/>
                    <a:lstStyle/>
                    <a:p>
                      <a:pPr algn="l"/>
                      <a:r>
                        <a:rPr sz="800" b="0">
                          <a:solidFill>
                            <a:srgbClr val="2E2E2E"/>
                          </a:solidFill>
                          <a:latin typeface="Calibri"/>
                        </a:rPr>
                        <a:t>152.0</a:t>
                      </a:r>
                    </a:p>
                  </a:txBody>
                  <a:tcPr marL="85725" marR="38100" marT="19050" marB="19050" anchor="ctr">
                    <a:solidFill>
                      <a:srgbClr val="FFFFFF"/>
                    </a:solidFill>
                  </a:tcPr>
                </a:tc>
                <a:tc>
                  <a:txBody>
                    <a:bodyPr wrap="none"/>
                    <a:lstStyle/>
                    <a:p>
                      <a:pPr algn="l"/>
                      <a:r>
                        <a:rPr sz="800" b="0">
                          <a:solidFill>
                            <a:srgbClr val="2E2E2E"/>
                          </a:solidFill>
                          <a:latin typeface="Calibri"/>
                        </a:rPr>
                        <a:t>166.1</a:t>
                      </a:r>
                    </a:p>
                  </a:txBody>
                  <a:tcPr marL="85725" marR="38100" marT="19050" marB="19050" anchor="ctr">
                    <a:solidFill>
                      <a:srgbClr val="FFFFFF"/>
                    </a:solidFill>
                  </a:tcPr>
                </a:tc>
                <a:tc>
                  <a:txBody>
                    <a:bodyPr wrap="none"/>
                    <a:lstStyle/>
                    <a:p>
                      <a:pPr algn="l"/>
                      <a:r>
                        <a:rPr sz="800" b="0">
                          <a:solidFill>
                            <a:srgbClr val="2E2E2E"/>
                          </a:solidFill>
                          <a:latin typeface="Calibri"/>
                        </a:rPr>
                        <a:t>182.6</a:t>
                      </a:r>
                    </a:p>
                  </a:txBody>
                  <a:tcPr marL="85725" marR="38100" marT="19050" marB="19050" anchor="ctr">
                    <a:solidFill>
                      <a:srgbClr val="FFFFFF"/>
                    </a:solidFill>
                  </a:tcPr>
                </a:tc>
                <a:tc>
                  <a:txBody>
                    <a:bodyPr wrap="none"/>
                    <a:lstStyle/>
                    <a:p>
                      <a:pPr algn="l"/>
                      <a:r>
                        <a:rPr sz="800" b="0">
                          <a:solidFill>
                            <a:srgbClr val="2E2E2E"/>
                          </a:solidFill>
                          <a:latin typeface="Calibri"/>
                        </a:rPr>
                        <a:t>202.4</a:t>
                      </a:r>
                    </a:p>
                  </a:txBody>
                  <a:tcPr marL="85725" marR="38100" marT="19050" marB="19050" anchor="ctr">
                    <a:solidFill>
                      <a:srgbClr val="FFFFFF"/>
                    </a:solidFill>
                  </a:tcPr>
                </a:tc>
                <a:tc>
                  <a:txBody>
                    <a:bodyPr wrap="none"/>
                    <a:lstStyle/>
                    <a:p>
                      <a:pPr algn="l"/>
                      <a:r>
                        <a:rPr sz="800" b="0">
                          <a:solidFill>
                            <a:srgbClr val="2E2E2E"/>
                          </a:solidFill>
                          <a:latin typeface="Calibri"/>
                        </a:rPr>
                        <a:t>225.6</a:t>
                      </a:r>
                    </a:p>
                  </a:txBody>
                  <a:tcPr marL="85725" marR="38100" marT="19050" marB="19050" anchor="ctr">
                    <a:solidFill>
                      <a:srgbClr val="FFFFFF"/>
                    </a:solidFill>
                  </a:tcPr>
                </a:tc>
                <a:tc>
                  <a:txBody>
                    <a:bodyPr wrap="none"/>
                    <a:lstStyle/>
                    <a:p>
                      <a:pPr algn="l"/>
                      <a:r>
                        <a:rPr sz="800" b="0">
                          <a:solidFill>
                            <a:srgbClr val="2E2E2E"/>
                          </a:solidFill>
                          <a:latin typeface="Calibri"/>
                        </a:rPr>
                        <a:t>252.4</a:t>
                      </a:r>
                    </a:p>
                  </a:txBody>
                  <a:tcPr marL="85725" marR="38100" marT="19050" marB="19050" anchor="ctr">
                    <a:solidFill>
                      <a:srgbClr val="FFFFFF"/>
                    </a:solidFill>
                  </a:tcPr>
                </a:tc>
                <a:tc>
                  <a:txBody>
                    <a:bodyPr wrap="none"/>
                    <a:lstStyle/>
                    <a:p>
                      <a:pPr algn="l"/>
                      <a:r>
                        <a:rPr sz="800" b="0">
                          <a:solidFill>
                            <a:srgbClr val="2E2E2E"/>
                          </a:solidFill>
                          <a:latin typeface="Calibri"/>
                        </a:rPr>
                        <a:t>283.1</a:t>
                      </a:r>
                    </a:p>
                  </a:txBody>
                  <a:tcPr marL="85725" marR="38100" marT="19050" marB="19050" anchor="ctr">
                    <a:solidFill>
                      <a:srgbClr val="FFFFFF"/>
                    </a:solidFill>
                  </a:tcPr>
                </a:tc>
                <a:tc>
                  <a:txBody>
                    <a:bodyPr wrap="none"/>
                    <a:lstStyle/>
                    <a:p>
                      <a:pPr algn="l"/>
                      <a:r>
                        <a:rPr sz="800" b="0">
                          <a:solidFill>
                            <a:srgbClr val="2E2E2E"/>
                          </a:solidFill>
                          <a:latin typeface="Calibri"/>
                        </a:rPr>
                        <a:t>318.0</a:t>
                      </a:r>
                    </a:p>
                  </a:txBody>
                  <a:tcPr marL="85725" marR="38100" marT="19050" marB="19050" anchor="ctr">
                    <a:solidFill>
                      <a:srgbClr val="FFFFFF"/>
                    </a:solidFill>
                  </a:tcPr>
                </a:tc>
                <a:tc>
                  <a:txBody>
                    <a:bodyPr wrap="none"/>
                    <a:lstStyle/>
                    <a:p>
                      <a:pPr algn="l"/>
                      <a:r>
                        <a:rPr sz="800" b="0">
                          <a:solidFill>
                            <a:srgbClr val="2E2E2E"/>
                          </a:solidFill>
                          <a:latin typeface="Calibri"/>
                        </a:rPr>
                        <a:t>357.5</a:t>
                      </a:r>
                    </a:p>
                  </a:txBody>
                  <a:tcPr marL="85725" marR="38100" marT="19050" marB="19050" anchor="ctr">
                    <a:solidFill>
                      <a:srgbClr val="FFFFFF"/>
                    </a:solidFill>
                  </a:tcPr>
                </a:tc>
                <a:tc>
                  <a:txBody>
                    <a:bodyPr wrap="none"/>
                    <a:lstStyle/>
                    <a:p>
                      <a:pPr algn="l"/>
                      <a:r>
                        <a:rPr sz="800" b="0">
                          <a:solidFill>
                            <a:srgbClr val="2E2E2E"/>
                          </a:solidFill>
                          <a:latin typeface="Calibri"/>
                        </a:rPr>
                        <a:t>402.6</a:t>
                      </a:r>
                    </a:p>
                  </a:txBody>
                  <a:tcPr marL="85725" marR="38100" marT="19050" marB="19050" anchor="ctr">
                    <a:solidFill>
                      <a:srgbClr val="FFFFFF"/>
                    </a:solidFill>
                  </a:tcPr>
                </a:tc>
                <a:tc>
                  <a:txBody>
                    <a:bodyPr wrap="none"/>
                    <a:lstStyle/>
                    <a:p>
                      <a:pPr algn="l"/>
                      <a:r>
                        <a:rPr sz="800" b="0">
                          <a:solidFill>
                            <a:srgbClr val="2E2E2E"/>
                          </a:solidFill>
                          <a:latin typeface="Calibri"/>
                        </a:rPr>
                        <a:t>453.7</a:t>
                      </a:r>
                    </a:p>
                  </a:txBody>
                  <a:tcPr marL="85725" marR="38100" marT="19050" marB="19050" anchor="ctr">
                    <a:solidFill>
                      <a:srgbClr val="FFFFFF"/>
                    </a:solidFill>
                  </a:tcPr>
                </a:tc>
                <a:tc>
                  <a:txBody>
                    <a:bodyPr wrap="none"/>
                    <a:lstStyle/>
                    <a:p>
                      <a:pPr algn="l"/>
                      <a:r>
                        <a:rPr sz="800" b="0">
                          <a:solidFill>
                            <a:srgbClr val="2E2E2E"/>
                          </a:solidFill>
                          <a:latin typeface="Calibri"/>
                        </a:rPr>
                        <a:t>512.8</a:t>
                      </a:r>
                    </a:p>
                  </a:txBody>
                  <a:tcPr marL="85725" marR="38100" marT="19050" marB="19050" anchor="ctr">
                    <a:solidFill>
                      <a:srgbClr val="FFFFFF"/>
                    </a:solidFill>
                  </a:tcPr>
                </a:tc>
                <a:tc>
                  <a:txBody>
                    <a:bodyPr wrap="none"/>
                    <a:lstStyle/>
                    <a:p>
                      <a:pPr algn="l"/>
                      <a:r>
                        <a:rPr sz="800" b="0">
                          <a:solidFill>
                            <a:srgbClr val="2E2E2E"/>
                          </a:solidFill>
                          <a:latin typeface="Calibri"/>
                        </a:rPr>
                        <a:t>580.6</a:t>
                      </a:r>
                    </a:p>
                  </a:txBody>
                  <a:tcPr marL="85725" marR="38100" marT="19050" marB="19050" anchor="ctr">
                    <a:solidFill>
                      <a:srgbClr val="FFFFFF"/>
                    </a:solidFill>
                  </a:tcPr>
                </a:tc>
                <a:tc>
                  <a:txBody>
                    <a:bodyPr wrap="none"/>
                    <a:lstStyle/>
                    <a:p>
                      <a:pPr algn="l"/>
                      <a:r>
                        <a:rPr sz="800" b="0">
                          <a:solidFill>
                            <a:srgbClr val="2E2E2E"/>
                          </a:solidFill>
                          <a:latin typeface="Calibri"/>
                        </a:rPr>
                        <a:t>659.1</a:t>
                      </a:r>
                    </a:p>
                  </a:txBody>
                  <a:tcPr marL="85725" marR="38100" marT="19050" marB="19050" anchor="ctr">
                    <a:solidFill>
                      <a:srgbClr val="FFFFFF"/>
                    </a:solidFill>
                  </a:tcPr>
                </a:tc>
                <a:tc>
                  <a:txBody>
                    <a:bodyPr wrap="none"/>
                    <a:lstStyle/>
                    <a:p>
                      <a:pPr algn="l"/>
                      <a:r>
                        <a:rPr sz="800" b="0">
                          <a:solidFill>
                            <a:srgbClr val="2E2E2E"/>
                          </a:solidFill>
                          <a:latin typeface="Calibri"/>
                        </a:rPr>
                        <a:t>12.5%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0">
                          <a:solidFill>
                            <a:srgbClr val="2E2E2E"/>
                          </a:solidFill>
                          <a:latin typeface="Calibri"/>
                        </a:rPr>
                        <a:t>104.0</a:t>
                      </a:r>
                    </a:p>
                  </a:txBody>
                  <a:tcPr marL="85725" marR="38100" marT="19050" marB="19050" anchor="ctr">
                    <a:solidFill>
                      <a:srgbClr val="F5F8FA"/>
                    </a:solidFill>
                  </a:tcPr>
                </a:tc>
                <a:tc>
                  <a:txBody>
                    <a:bodyPr wrap="none"/>
                    <a:lstStyle/>
                    <a:p>
                      <a:pPr algn="l"/>
                      <a:r>
                        <a:rPr sz="800" b="0">
                          <a:solidFill>
                            <a:srgbClr val="2E2E2E"/>
                          </a:solidFill>
                          <a:latin typeface="Calibri"/>
                        </a:rPr>
                        <a:t>110.3</a:t>
                      </a:r>
                    </a:p>
                  </a:txBody>
                  <a:tcPr marL="85725" marR="38100" marT="19050" marB="19050" anchor="ctr">
                    <a:solidFill>
                      <a:srgbClr val="F5F8FA"/>
                    </a:solidFill>
                  </a:tcPr>
                </a:tc>
                <a:tc>
                  <a:txBody>
                    <a:bodyPr wrap="none"/>
                    <a:lstStyle/>
                    <a:p>
                      <a:pPr algn="l"/>
                      <a:r>
                        <a:rPr sz="800" b="0">
                          <a:solidFill>
                            <a:srgbClr val="2E2E2E"/>
                          </a:solidFill>
                          <a:latin typeface="Calibri"/>
                        </a:rPr>
                        <a:t>117.5</a:t>
                      </a:r>
                    </a:p>
                  </a:txBody>
                  <a:tcPr marL="85725" marR="38100" marT="19050" marB="19050" anchor="ctr">
                    <a:solidFill>
                      <a:srgbClr val="F5F8FA"/>
                    </a:solidFill>
                  </a:tcPr>
                </a:tc>
                <a:tc>
                  <a:txBody>
                    <a:bodyPr wrap="none"/>
                    <a:lstStyle/>
                    <a:p>
                      <a:pPr algn="l"/>
                      <a:r>
                        <a:rPr sz="800" b="0">
                          <a:solidFill>
                            <a:srgbClr val="2E2E2E"/>
                          </a:solidFill>
                          <a:latin typeface="Calibri"/>
                        </a:rPr>
                        <a:t>126.3</a:t>
                      </a:r>
                    </a:p>
                  </a:txBody>
                  <a:tcPr marL="85725" marR="38100" marT="19050" marB="19050" anchor="ctr">
                    <a:solidFill>
                      <a:srgbClr val="F5F8FA"/>
                    </a:solidFill>
                  </a:tcPr>
                </a:tc>
                <a:tc>
                  <a:txBody>
                    <a:bodyPr wrap="none"/>
                    <a:lstStyle/>
                    <a:p>
                      <a:pPr algn="l"/>
                      <a:r>
                        <a:rPr sz="800" b="0">
                          <a:solidFill>
                            <a:srgbClr val="2E2E2E"/>
                          </a:solidFill>
                          <a:latin typeface="Calibri"/>
                        </a:rPr>
                        <a:t>136.7</a:t>
                      </a:r>
                    </a:p>
                  </a:txBody>
                  <a:tcPr marL="85725" marR="38100" marT="19050" marB="19050" anchor="ctr">
                    <a:solidFill>
                      <a:srgbClr val="F5F8FA"/>
                    </a:solidFill>
                  </a:tcPr>
                </a:tc>
                <a:tc>
                  <a:txBody>
                    <a:bodyPr wrap="none"/>
                    <a:lstStyle/>
                    <a:p>
                      <a:pPr algn="l"/>
                      <a:r>
                        <a:rPr sz="800" b="0">
                          <a:solidFill>
                            <a:srgbClr val="2E2E2E"/>
                          </a:solidFill>
                          <a:latin typeface="Calibri"/>
                        </a:rPr>
                        <a:t>149.5</a:t>
                      </a:r>
                    </a:p>
                  </a:txBody>
                  <a:tcPr marL="85725" marR="38100" marT="19050" marB="19050" anchor="ctr">
                    <a:solidFill>
                      <a:srgbClr val="F5F8FA"/>
                    </a:solidFill>
                  </a:tcPr>
                </a:tc>
                <a:tc>
                  <a:txBody>
                    <a:bodyPr wrap="none"/>
                    <a:lstStyle/>
                    <a:p>
                      <a:pPr algn="l"/>
                      <a:r>
                        <a:rPr sz="800" b="0">
                          <a:solidFill>
                            <a:srgbClr val="2E2E2E"/>
                          </a:solidFill>
                          <a:latin typeface="Calibri"/>
                        </a:rPr>
                        <a:t>164.5</a:t>
                      </a:r>
                    </a:p>
                  </a:txBody>
                  <a:tcPr marL="85725" marR="38100" marT="19050" marB="19050" anchor="ctr">
                    <a:solidFill>
                      <a:srgbClr val="F5F8FA"/>
                    </a:solidFill>
                  </a:tcPr>
                </a:tc>
                <a:tc>
                  <a:txBody>
                    <a:bodyPr wrap="none"/>
                    <a:lstStyle/>
                    <a:p>
                      <a:pPr algn="l"/>
                      <a:r>
                        <a:rPr sz="800" b="0">
                          <a:solidFill>
                            <a:srgbClr val="2E2E2E"/>
                          </a:solidFill>
                          <a:latin typeface="Calibri"/>
                        </a:rPr>
                        <a:t>181.7</a:t>
                      </a:r>
                    </a:p>
                  </a:txBody>
                  <a:tcPr marL="85725" marR="38100" marT="19050" marB="19050" anchor="ctr">
                    <a:solidFill>
                      <a:srgbClr val="F5F8FA"/>
                    </a:solidFill>
                  </a:tcPr>
                </a:tc>
                <a:tc>
                  <a:txBody>
                    <a:bodyPr wrap="none"/>
                    <a:lstStyle/>
                    <a:p>
                      <a:pPr algn="l"/>
                      <a:r>
                        <a:rPr sz="800" b="0">
                          <a:solidFill>
                            <a:srgbClr val="2E2E2E"/>
                          </a:solidFill>
                          <a:latin typeface="Calibri"/>
                        </a:rPr>
                        <a:t>201.4</a:t>
                      </a:r>
                    </a:p>
                  </a:txBody>
                  <a:tcPr marL="85725" marR="38100" marT="19050" marB="19050" anchor="ctr">
                    <a:solidFill>
                      <a:srgbClr val="F5F8FA"/>
                    </a:solidFill>
                  </a:tcPr>
                </a:tc>
                <a:tc>
                  <a:txBody>
                    <a:bodyPr wrap="none"/>
                    <a:lstStyle/>
                    <a:p>
                      <a:pPr algn="l"/>
                      <a:r>
                        <a:rPr sz="800" b="0">
                          <a:solidFill>
                            <a:srgbClr val="2E2E2E"/>
                          </a:solidFill>
                          <a:latin typeface="Calibri"/>
                        </a:rPr>
                        <a:t>223.5</a:t>
                      </a:r>
                    </a:p>
                  </a:txBody>
                  <a:tcPr marL="85725" marR="38100" marT="19050" marB="19050" anchor="ctr">
                    <a:solidFill>
                      <a:srgbClr val="F5F8FA"/>
                    </a:solidFill>
                  </a:tcPr>
                </a:tc>
                <a:tc>
                  <a:txBody>
                    <a:bodyPr wrap="none"/>
                    <a:lstStyle/>
                    <a:p>
                      <a:pPr algn="l"/>
                      <a:r>
                        <a:rPr sz="800" b="0">
                          <a:solidFill>
                            <a:srgbClr val="2E2E2E"/>
                          </a:solidFill>
                          <a:latin typeface="Calibri"/>
                        </a:rPr>
                        <a:t>248.4</a:t>
                      </a:r>
                    </a:p>
                  </a:txBody>
                  <a:tcPr marL="85725" marR="38100" marT="19050" marB="19050" anchor="ctr">
                    <a:solidFill>
                      <a:srgbClr val="F5F8FA"/>
                    </a:solidFill>
                  </a:tcPr>
                </a:tc>
                <a:tc>
                  <a:txBody>
                    <a:bodyPr wrap="none"/>
                    <a:lstStyle/>
                    <a:p>
                      <a:pPr algn="l"/>
                      <a:r>
                        <a:rPr sz="800" b="0">
                          <a:solidFill>
                            <a:srgbClr val="2E2E2E"/>
                          </a:solidFill>
                          <a:latin typeface="Calibri"/>
                        </a:rPr>
                        <a:t>276.6</a:t>
                      </a:r>
                    </a:p>
                  </a:txBody>
                  <a:tcPr marL="85725" marR="38100" marT="19050" marB="19050" anchor="ctr">
                    <a:solidFill>
                      <a:srgbClr val="F5F8FA"/>
                    </a:solidFill>
                  </a:tcPr>
                </a:tc>
                <a:tc>
                  <a:txBody>
                    <a:bodyPr wrap="none"/>
                    <a:lstStyle/>
                    <a:p>
                      <a:pPr algn="l"/>
                      <a:r>
                        <a:rPr sz="800" b="0">
                          <a:solidFill>
                            <a:srgbClr val="2E2E2E"/>
                          </a:solidFill>
                          <a:latin typeface="Calibri"/>
                        </a:rPr>
                        <a:t>308.3</a:t>
                      </a:r>
                    </a:p>
                  </a:txBody>
                  <a:tcPr marL="85725" marR="38100" marT="19050" marB="19050" anchor="ctr">
                    <a:solidFill>
                      <a:srgbClr val="F5F8FA"/>
                    </a:solidFill>
                  </a:tcPr>
                </a:tc>
                <a:tc>
                  <a:txBody>
                    <a:bodyPr wrap="none"/>
                    <a:lstStyle/>
                    <a:p>
                      <a:pPr algn="l"/>
                      <a:r>
                        <a:rPr sz="800" b="0">
                          <a:solidFill>
                            <a:srgbClr val="2E2E2E"/>
                          </a:solidFill>
                          <a:latin typeface="Calibri"/>
                        </a:rPr>
                        <a:t>344.8</a:t>
                      </a:r>
                    </a:p>
                  </a:txBody>
                  <a:tcPr marL="85725" marR="38100" marT="19050" marB="19050" anchor="ctr">
                    <a:solidFill>
                      <a:srgbClr val="F5F8FA"/>
                    </a:solidFill>
                  </a:tcPr>
                </a:tc>
                <a:tc>
                  <a:txBody>
                    <a:bodyPr wrap="none"/>
                    <a:lstStyle/>
                    <a:p>
                      <a:pPr algn="l"/>
                      <a:r>
                        <a:rPr sz="800" b="0">
                          <a:solidFill>
                            <a:srgbClr val="2E2E2E"/>
                          </a:solidFill>
                          <a:latin typeface="Calibri"/>
                        </a:rPr>
                        <a:t>386.3</a:t>
                      </a:r>
                    </a:p>
                  </a:txBody>
                  <a:tcPr marL="85725" marR="38100" marT="19050" marB="19050" anchor="ctr">
                    <a:solidFill>
                      <a:srgbClr val="F5F8FA"/>
                    </a:solidFill>
                  </a:tcPr>
                </a:tc>
                <a:tc>
                  <a:txBody>
                    <a:bodyPr wrap="none"/>
                    <a:lstStyle/>
                    <a:p>
                      <a:pPr algn="l"/>
                      <a:r>
                        <a:rPr sz="800" b="0">
                          <a:solidFill>
                            <a:srgbClr val="2E2E2E"/>
                          </a:solidFill>
                          <a:latin typeface="Calibri"/>
                        </a:rPr>
                        <a:t>434.2</a:t>
                      </a:r>
                    </a:p>
                  </a:txBody>
                  <a:tcPr marL="85725" marR="38100" marT="19050" marB="19050" anchor="ctr">
                    <a:solidFill>
                      <a:srgbClr val="F5F8FA"/>
                    </a:solidFill>
                  </a:tcPr>
                </a:tc>
                <a:tc>
                  <a:txBody>
                    <a:bodyPr wrap="none"/>
                    <a:lstStyle/>
                    <a:p>
                      <a:pPr algn="l"/>
                      <a:r>
                        <a:rPr sz="800" b="0">
                          <a:solidFill>
                            <a:srgbClr val="2E2E2E"/>
                          </a:solidFill>
                          <a:latin typeface="Calibri"/>
                        </a:rPr>
                        <a:t>11.3%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Product Type</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Containers' is the largest product type at 42.9% of 2036 value (2,116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'Integrated Capillary Blood Collection Devices' grows fastest 12.5%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'Integrated Capillary Blood Collection Devices' (+458 BPS) and away from 'Capillary Blood Collection Containers' (-374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Product Type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Product Type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Product Type ·  2021 / 2026 / 2036 (US$ Mn)  ·  right axis = BPS share shift</a:t>
            </a:r>
          </a:p>
        </p:txBody>
      </p:sp>
      <p:graphicFrame>
        <p:nvGraphicFramePr>
          <p:cNvPr id="14" name="Chart 13"/>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466850"/>
            <a:ext cx="1586293" cy="179832"/>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-458</a:t>
            </a:r>
          </a:p>
        </p:txBody>
      </p:sp>
      <p:sp>
        <p:nvSpPr>
          <p:cNvPr id="19" name="TextBox 18"/>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+458</a:t>
            </a:r>
          </a:p>
        </p:txBody>
      </p:sp>
      <p:sp>
        <p:nvSpPr>
          <p:cNvPr id="21" name="Oval 20"/>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288875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479396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4996718"/>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+458</a:t>
            </a:r>
          </a:p>
        </p:txBody>
      </p:sp>
      <p:sp>
        <p:nvSpPr>
          <p:cNvPr id="26" name="TextBox 25"/>
          <p:cNvSpPr txBox="1"/>
          <p:nvPr/>
        </p:nvSpPr>
        <p:spPr>
          <a:xfrm>
            <a:off x="6081332" y="2855415"/>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+232</a:t>
            </a:r>
          </a:p>
        </p:txBody>
      </p:sp>
      <p:sp>
        <p:nvSpPr>
          <p:cNvPr id="27" name="TextBox 26"/>
          <p:cNvSpPr txBox="1"/>
          <p:nvPr/>
        </p:nvSpPr>
        <p:spPr>
          <a:xfrm>
            <a:off x="6081332" y="4760623"/>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-316</a:t>
            </a:r>
          </a:p>
        </p:txBody>
      </p:sp>
      <p:sp>
        <p:nvSpPr>
          <p:cNvPr id="28" name="TextBox 27"/>
          <p:cNvSpPr txBox="1"/>
          <p:nvPr/>
        </p:nvSpPr>
        <p:spPr>
          <a:xfrm>
            <a:off x="6081332" y="496338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-374</a:t>
            </a:r>
          </a:p>
        </p:txBody>
      </p:sp>
      <p:sp>
        <p:nvSpPr>
          <p:cNvPr id="29" name="Rounded Rectangle 28"/>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Product Type</a:t>
            </a:r>
          </a:p>
        </p:txBody>
      </p:sp>
      <p:sp>
        <p:nvSpPr>
          <p:cNvPr id="31" name="Rectangle 30"/>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'Integrated Capillary Blood Collection Devices' gains the most share +458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Containers' cedes the most -374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'Integrated Capillary Blood Collection Devices' is the fastest-growing product type at 12.5%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Product Type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Product Type,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5.6%</a:t>
                      </a:r>
                    </a:p>
                  </a:txBody>
                  <a:tcPr marL="85725" marR="38100" marT="19050" marB="19050" anchor="ctr">
                    <a:solidFill>
                      <a:srgbClr val="F5F8FA"/>
                    </a:solidFill>
                  </a:tcPr>
                </a:tc>
                <a:tc>
                  <a:txBody>
                    <a:bodyPr wrap="none"/>
                    <a:lstStyle/>
                    <a:p>
                      <a:pPr algn="l"/>
                      <a:r>
                        <a:rPr sz="800" b="1">
                          <a:solidFill>
                            <a:srgbClr val="A86F00"/>
                          </a:solidFill>
                          <a:latin typeface="Calibri"/>
                        </a:rPr>
                        <a:t>▶ 5.6%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9.7%</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11.5%</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11.5%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Product Type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Capillary Blood Collection Containers</a:t>
            </a:r>
          </a:p>
        </p:txBody>
      </p:sp>
      <p:sp>
        <p:nvSpPr>
          <p:cNvPr id="34" name="Rectangle 33"/>
          <p:cNvSpPr/>
          <p:nvPr/>
        </p:nvSpPr>
        <p:spPr>
          <a:xfrm>
            <a:off x="1857375" y="3867150"/>
            <a:ext cx="643890" cy="700088"/>
          </a:xfrm>
          <a:prstGeom prst="rect">
            <a:avLst/>
          </a:prstGeom>
          <a:solidFill>
            <a:srgbClr val="FE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Blood Collection Lancets</a:t>
            </a:r>
          </a:p>
        </p:txBody>
      </p:sp>
      <p:sp>
        <p:nvSpPr>
          <p:cNvPr id="50" name="Rectangle 49"/>
          <p:cNvSpPr/>
          <p:nvPr/>
        </p:nvSpPr>
        <p:spPr>
          <a:xfrm>
            <a:off x="185737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Integrated Capillary Blood Collection Devices</a:t>
            </a:r>
          </a:p>
        </p:txBody>
      </p:sp>
      <p:sp>
        <p:nvSpPr>
          <p:cNvPr id="66" name="Rectangle 65"/>
          <p:cNvSpPr/>
          <p:nvPr/>
        </p:nvSpPr>
        <p:spPr>
          <a:xfrm>
            <a:off x="1857375" y="5267325"/>
            <a:ext cx="643890" cy="700088"/>
          </a:xfrm>
          <a:prstGeom prst="rect">
            <a:avLst/>
          </a:prstGeom>
          <a:solidFill>
            <a:srgbClr val="61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49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32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0C416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0B345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0B365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0C466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0C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0D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0C4C7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Dried Blood Spot Collection Products</a:t>
            </a:r>
          </a:p>
        </p:txBody>
      </p:sp>
      <p:sp>
        <p:nvSpPr>
          <p:cNvPr id="82" name="Rectangle 81"/>
          <p:cNvSpPr/>
          <p:nvPr/>
        </p:nvSpPr>
        <p:spPr>
          <a:xfrm>
            <a:off x="1857375" y="5967412"/>
            <a:ext cx="643890" cy="700088"/>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3E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2E85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2B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12%</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5%</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Product Type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Product Type,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1">
                          <a:solidFill>
                            <a:srgbClr val="A86F00"/>
                          </a:solidFill>
                          <a:latin typeface="Calibri"/>
                        </a:rPr>
                        <a:t>▶ 3.7%</a:t>
                      </a:r>
                    </a:p>
                  </a:txBody>
                  <a:tcPr marL="85725" marR="38100" marT="19050" marB="19050" anchor="ctr">
                    <a:solidFill>
                      <a:srgbClr val="FFFFFF"/>
                    </a:solidFill>
                  </a:tcPr>
                </a:tc>
                <a:tc>
                  <a:txBody>
                    <a:bodyPr wrap="none"/>
                    <a:lstStyle/>
                    <a:p>
                      <a:pPr algn="l"/>
                      <a:r>
                        <a:rPr sz="800" b="1">
                          <a:solidFill>
                            <a:srgbClr val="A86F00"/>
                          </a:solidFill>
                          <a:latin typeface="Calibri"/>
                        </a:rPr>
                        <a:t>▶ 4.0%</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1">
                          <a:solidFill>
                            <a:srgbClr val="A86F00"/>
                          </a:solidFill>
                          <a:latin typeface="Calibri"/>
                        </a:rPr>
                        <a:t>▶ 3.6%</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4.7%</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9.2%</a:t>
                      </a:r>
                    </a:p>
                  </a:txBody>
                  <a:tcPr marL="85725" marR="38100" marT="19050" marB="19050" anchor="ctr">
                    <a:solidFill>
                      <a:srgbClr val="FFFFFF"/>
                    </a:solidFill>
                  </a:tcPr>
                </a:tc>
                <a:tc>
                  <a:txBody>
                    <a:bodyPr wrap="none"/>
                    <a:lstStyle/>
                    <a:p>
                      <a:pPr algn="l"/>
                      <a:r>
                        <a:rPr sz="800" b="1">
                          <a:solidFill>
                            <a:srgbClr val="2E7D32"/>
                          </a:solidFill>
                          <a:latin typeface="Calibri"/>
                        </a:rPr>
                        <a:t>▲ 10.0%</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12.2%</a:t>
                      </a:r>
                    </a:p>
                  </a:txBody>
                  <a:tcPr marL="85725" marR="38100" marT="19050" marB="19050" anchor="ctr">
                    <a:solidFill>
                      <a:srgbClr val="FFFFFF"/>
                    </a:solidFill>
                  </a:tcPr>
                </a:tc>
                <a:tc>
                  <a:txBody>
                    <a:bodyPr wrap="none"/>
                    <a:lstStyle/>
                    <a:p>
                      <a:pPr algn="l"/>
                      <a:r>
                        <a:rPr sz="800" b="1">
                          <a:solidFill>
                            <a:srgbClr val="2E7D32"/>
                          </a:solidFill>
                          <a:latin typeface="Calibri"/>
                        </a:rPr>
                        <a:t>▲ 12.3%</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12.6%</a:t>
                      </a:r>
                    </a:p>
                  </a:txBody>
                  <a:tcPr marL="85725" marR="38100" marT="19050" marB="19050" anchor="ctr">
                    <a:solidFill>
                      <a:srgbClr val="FFFFFF"/>
                    </a:solidFill>
                  </a:tcPr>
                </a:tc>
                <a:tc>
                  <a:txBody>
                    <a:bodyPr wrap="none"/>
                    <a:lstStyle/>
                    <a:p>
                      <a:pPr algn="l"/>
                      <a:r>
                        <a:rPr sz="800" b="1">
                          <a:solidFill>
                            <a:srgbClr val="2E7D32"/>
                          </a:solidFill>
                          <a:latin typeface="Calibri"/>
                        </a:rPr>
                        <a:t>▲ 12.7%</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13.2%</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1">
                          <a:solidFill>
                            <a:srgbClr val="2E7D32"/>
                          </a:solidFill>
                          <a:latin typeface="Calibri"/>
                        </a:rPr>
                        <a:t>▲ 6.1%</a:t>
                      </a:r>
                    </a:p>
                  </a:txBody>
                  <a:tcPr marL="85725" marR="38100" marT="19050" marB="19050" anchor="ctr">
                    <a:solidFill>
                      <a:srgbClr val="F5F8FA"/>
                    </a:solidFill>
                  </a:tcPr>
                </a:tc>
                <a:tc>
                  <a:txBody>
                    <a:bodyPr wrap="none"/>
                    <a:lstStyle/>
                    <a:p>
                      <a:pPr algn="l"/>
                      <a:r>
                        <a:rPr sz="800" b="1">
                          <a:solidFill>
                            <a:srgbClr val="2E7D32"/>
                          </a:solidFill>
                          <a:latin typeface="Calibri"/>
                        </a:rPr>
                        <a:t>▲ 6.6%</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10.0%</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Product Type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Capillary Blood Collection Containers</a:t>
            </a:r>
          </a:p>
        </p:txBody>
      </p:sp>
      <p:sp>
        <p:nvSpPr>
          <p:cNvPr id="34" name="Rectangle 33"/>
          <p:cNvSpPr/>
          <p:nvPr/>
        </p:nvSpPr>
        <p:spPr>
          <a:xfrm>
            <a:off x="1857375" y="3867150"/>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C3D9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Blood Collection Lancets</a:t>
            </a:r>
          </a:p>
        </p:txBody>
      </p:sp>
      <p:sp>
        <p:nvSpPr>
          <p:cNvPr id="50" name="Rectangle 49"/>
          <p:cNvSpPr/>
          <p:nvPr/>
        </p:nvSpPr>
        <p:spPr>
          <a:xfrm>
            <a:off x="185737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D3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C6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Integrated Capillary Blood Collection Devices</a:t>
            </a:r>
          </a:p>
        </p:txBody>
      </p:sp>
      <p:sp>
        <p:nvSpPr>
          <p:cNvPr id="66" name="Rectangle 65"/>
          <p:cNvSpPr/>
          <p:nvPr/>
        </p:nvSpPr>
        <p:spPr>
          <a:xfrm>
            <a:off x="1857375" y="5267325"/>
            <a:ext cx="643890" cy="700088"/>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58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23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0E689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0D5B8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0D568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0C456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0C3C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Dried Blood Spot Collection Products</a:t>
            </a:r>
          </a:p>
        </p:txBody>
      </p:sp>
      <p:sp>
        <p:nvSpPr>
          <p:cNvPr id="82" name="Rectangle 81"/>
          <p:cNvSpPr/>
          <p:nvPr/>
        </p:nvSpPr>
        <p:spPr>
          <a:xfrm>
            <a:off x="1857375" y="5967412"/>
            <a:ext cx="643890" cy="700088"/>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CE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A0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569C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30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17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0D659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9%</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Application</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Application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06</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Application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8 sub-segments of Application,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Application segment categorizes the market by application.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1150144"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1150144"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Diabetes &amp; Glucose Testing</a:t>
            </a:r>
          </a:p>
        </p:txBody>
      </p:sp>
      <p:sp>
        <p:nvSpPr>
          <p:cNvPr id="24" name="Rectangle 23"/>
          <p:cNvSpPr/>
          <p:nvPr/>
        </p:nvSpPr>
        <p:spPr>
          <a:xfrm>
            <a:off x="1866900"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928.4</a:t>
            </a:r>
          </a:p>
        </p:txBody>
      </p:sp>
      <p:sp>
        <p:nvSpPr>
          <p:cNvPr id="25" name="Rectangle 24"/>
          <p:cNvSpPr/>
          <p:nvPr/>
        </p:nvSpPr>
        <p:spPr>
          <a:xfrm>
            <a:off x="1866900"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1,921</a:t>
            </a:r>
          </a:p>
        </p:txBody>
      </p:sp>
      <p:sp>
        <p:nvSpPr>
          <p:cNvPr id="26" name="Rectangle 25"/>
          <p:cNvSpPr/>
          <p:nvPr/>
        </p:nvSpPr>
        <p:spPr>
          <a:xfrm>
            <a:off x="1866900"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7.5%</a:t>
            </a:r>
          </a:p>
        </p:txBody>
      </p:sp>
      <p:sp>
        <p:nvSpPr>
          <p:cNvPr id="27" name="Oval 26"/>
          <p:cNvSpPr/>
          <p:nvPr/>
        </p:nvSpPr>
        <p:spPr>
          <a:xfrm>
            <a:off x="2280047"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3131344" y="1657350"/>
            <a:ext cx="1150144"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131344" y="1885950"/>
            <a:ext cx="1150144"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69444"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Infectious Disease Testing</a:t>
            </a:r>
          </a:p>
        </p:txBody>
      </p:sp>
      <p:sp>
        <p:nvSpPr>
          <p:cNvPr id="31" name="Rectangle 30"/>
          <p:cNvSpPr/>
          <p:nvPr/>
        </p:nvSpPr>
        <p:spPr>
          <a:xfrm>
            <a:off x="3131344"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346.7</a:t>
            </a:r>
          </a:p>
        </p:txBody>
      </p:sp>
      <p:sp>
        <p:nvSpPr>
          <p:cNvPr id="32" name="Rectangle 31"/>
          <p:cNvSpPr/>
          <p:nvPr/>
        </p:nvSpPr>
        <p:spPr>
          <a:xfrm>
            <a:off x="3131344"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700.7</a:t>
            </a:r>
          </a:p>
        </p:txBody>
      </p:sp>
      <p:sp>
        <p:nvSpPr>
          <p:cNvPr id="33" name="Rectangle 32"/>
          <p:cNvSpPr/>
          <p:nvPr/>
        </p:nvSpPr>
        <p:spPr>
          <a:xfrm>
            <a:off x="3131344"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7.3%</a:t>
            </a:r>
          </a:p>
        </p:txBody>
      </p:sp>
      <p:sp>
        <p:nvSpPr>
          <p:cNvPr id="34" name="Oval 33"/>
          <p:cNvSpPr/>
          <p:nvPr/>
        </p:nvSpPr>
        <p:spPr>
          <a:xfrm>
            <a:off x="3544491"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4395788" y="1657350"/>
            <a:ext cx="1150144"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95788" y="1885950"/>
            <a:ext cx="1150144"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33888"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Newborn Screening</a:t>
            </a:r>
          </a:p>
        </p:txBody>
      </p:sp>
      <p:sp>
        <p:nvSpPr>
          <p:cNvPr id="38" name="Rectangle 37"/>
          <p:cNvSpPr/>
          <p:nvPr/>
        </p:nvSpPr>
        <p:spPr>
          <a:xfrm>
            <a:off x="4395788"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290.7</a:t>
            </a:r>
          </a:p>
        </p:txBody>
      </p:sp>
      <p:sp>
        <p:nvSpPr>
          <p:cNvPr id="39" name="Rectangle 38"/>
          <p:cNvSpPr/>
          <p:nvPr/>
        </p:nvSpPr>
        <p:spPr>
          <a:xfrm>
            <a:off x="4395788"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638.7</a:t>
            </a:r>
          </a:p>
        </p:txBody>
      </p:sp>
      <p:sp>
        <p:nvSpPr>
          <p:cNvPr id="40" name="Rectangle 39"/>
          <p:cNvSpPr/>
          <p:nvPr/>
        </p:nvSpPr>
        <p:spPr>
          <a:xfrm>
            <a:off x="4395788"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8.2%</a:t>
            </a:r>
          </a:p>
        </p:txBody>
      </p:sp>
      <p:sp>
        <p:nvSpPr>
          <p:cNvPr id="41" name="Oval 40"/>
          <p:cNvSpPr/>
          <p:nvPr/>
        </p:nvSpPr>
        <p:spPr>
          <a:xfrm>
            <a:off x="480893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5660231" y="1657350"/>
            <a:ext cx="1150144"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0231" y="1885950"/>
            <a:ext cx="1150144"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98331"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Hematology Testing</a:t>
            </a:r>
          </a:p>
        </p:txBody>
      </p:sp>
      <p:sp>
        <p:nvSpPr>
          <p:cNvPr id="45" name="Rectangle 44"/>
          <p:cNvSpPr/>
          <p:nvPr/>
        </p:nvSpPr>
        <p:spPr>
          <a:xfrm>
            <a:off x="5660231"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286.1</a:t>
            </a:r>
          </a:p>
        </p:txBody>
      </p:sp>
      <p:sp>
        <p:nvSpPr>
          <p:cNvPr id="46" name="Rectangle 45"/>
          <p:cNvSpPr/>
          <p:nvPr/>
        </p:nvSpPr>
        <p:spPr>
          <a:xfrm>
            <a:off x="5660231"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423.2</a:t>
            </a:r>
          </a:p>
        </p:txBody>
      </p:sp>
      <p:sp>
        <p:nvSpPr>
          <p:cNvPr id="47" name="Rectangle 46"/>
          <p:cNvSpPr/>
          <p:nvPr/>
        </p:nvSpPr>
        <p:spPr>
          <a:xfrm>
            <a:off x="5660231"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4.0%</a:t>
            </a:r>
          </a:p>
        </p:txBody>
      </p:sp>
      <p:sp>
        <p:nvSpPr>
          <p:cNvPr id="48" name="Oval 47"/>
          <p:cNvSpPr/>
          <p:nvPr/>
        </p:nvSpPr>
        <p:spPr>
          <a:xfrm>
            <a:off x="6073378"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6924675" y="1657350"/>
            <a:ext cx="1150144" cy="457200"/>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924675" y="1885950"/>
            <a:ext cx="1150144" cy="2286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62775"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Metabolic &amp; Biochemical Testing</a:t>
            </a:r>
          </a:p>
        </p:txBody>
      </p:sp>
      <p:sp>
        <p:nvSpPr>
          <p:cNvPr id="52" name="Rectangle 51"/>
          <p:cNvSpPr/>
          <p:nvPr/>
        </p:nvSpPr>
        <p:spPr>
          <a:xfrm>
            <a:off x="6924675"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189.4</a:t>
            </a:r>
          </a:p>
        </p:txBody>
      </p:sp>
      <p:sp>
        <p:nvSpPr>
          <p:cNvPr id="53" name="Rectangle 52"/>
          <p:cNvSpPr/>
          <p:nvPr/>
        </p:nvSpPr>
        <p:spPr>
          <a:xfrm>
            <a:off x="6924675"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413.8</a:t>
            </a:r>
          </a:p>
        </p:txBody>
      </p:sp>
      <p:sp>
        <p:nvSpPr>
          <p:cNvPr id="54" name="Rectangle 53"/>
          <p:cNvSpPr/>
          <p:nvPr/>
        </p:nvSpPr>
        <p:spPr>
          <a:xfrm>
            <a:off x="6924675"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8.1%</a:t>
            </a:r>
          </a:p>
        </p:txBody>
      </p:sp>
      <p:sp>
        <p:nvSpPr>
          <p:cNvPr id="55" name="Oval 54"/>
          <p:cNvSpPr/>
          <p:nvPr/>
        </p:nvSpPr>
        <p:spPr>
          <a:xfrm>
            <a:off x="7337822" y="1314450"/>
            <a:ext cx="323850" cy="323850"/>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6" name="Rounded Rectangle 55"/>
          <p:cNvSpPr/>
          <p:nvPr/>
        </p:nvSpPr>
        <p:spPr>
          <a:xfrm>
            <a:off x="8189119" y="1657350"/>
            <a:ext cx="1150144" cy="457200"/>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189119" y="1885950"/>
            <a:ext cx="1150144" cy="22860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7219"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Genetic &amp; Molecular Testing</a:t>
            </a:r>
          </a:p>
        </p:txBody>
      </p:sp>
      <p:sp>
        <p:nvSpPr>
          <p:cNvPr id="59" name="Rectangle 58"/>
          <p:cNvSpPr/>
          <p:nvPr/>
        </p:nvSpPr>
        <p:spPr>
          <a:xfrm>
            <a:off x="8189119"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148.8</a:t>
            </a:r>
          </a:p>
        </p:txBody>
      </p:sp>
      <p:sp>
        <p:nvSpPr>
          <p:cNvPr id="60" name="Rectangle 59"/>
          <p:cNvSpPr/>
          <p:nvPr/>
        </p:nvSpPr>
        <p:spPr>
          <a:xfrm>
            <a:off x="8189119"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591.0</a:t>
            </a:r>
          </a:p>
        </p:txBody>
      </p:sp>
      <p:sp>
        <p:nvSpPr>
          <p:cNvPr id="61" name="Rectangle 60"/>
          <p:cNvSpPr/>
          <p:nvPr/>
        </p:nvSpPr>
        <p:spPr>
          <a:xfrm>
            <a:off x="8189119"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14.8%</a:t>
            </a:r>
          </a:p>
        </p:txBody>
      </p:sp>
      <p:sp>
        <p:nvSpPr>
          <p:cNvPr id="62" name="Oval 61"/>
          <p:cNvSpPr/>
          <p:nvPr/>
        </p:nvSpPr>
        <p:spPr>
          <a:xfrm>
            <a:off x="8602266" y="1314450"/>
            <a:ext cx="323850" cy="323850"/>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3" name="Rounded Rectangle 62"/>
          <p:cNvSpPr/>
          <p:nvPr/>
        </p:nvSpPr>
        <p:spPr>
          <a:xfrm>
            <a:off x="9453562" y="1657350"/>
            <a:ext cx="1150144" cy="457200"/>
          </a:xfrm>
          <a:prstGeom prst="roundRect">
            <a:avLst>
              <a:gd name="adj" fmla="val 18000"/>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453562" y="1885950"/>
            <a:ext cx="1150144" cy="228600"/>
          </a:xfrm>
          <a:prstGeom prst="rect">
            <a:avLst/>
          </a:prstGeom>
          <a:solidFill>
            <a:srgbClr val="6C7A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491662"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Therapeutic Drug Monitoring</a:t>
            </a:r>
          </a:p>
        </p:txBody>
      </p:sp>
      <p:sp>
        <p:nvSpPr>
          <p:cNvPr id="66" name="Rectangle 65"/>
          <p:cNvSpPr/>
          <p:nvPr/>
        </p:nvSpPr>
        <p:spPr>
          <a:xfrm>
            <a:off x="9453562"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72.0</a:t>
            </a:r>
          </a:p>
        </p:txBody>
      </p:sp>
      <p:sp>
        <p:nvSpPr>
          <p:cNvPr id="67" name="Rectangle 66"/>
          <p:cNvSpPr/>
          <p:nvPr/>
        </p:nvSpPr>
        <p:spPr>
          <a:xfrm>
            <a:off x="9453562"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171.7</a:t>
            </a:r>
          </a:p>
        </p:txBody>
      </p:sp>
      <p:sp>
        <p:nvSpPr>
          <p:cNvPr id="68" name="Rectangle 67"/>
          <p:cNvSpPr/>
          <p:nvPr/>
        </p:nvSpPr>
        <p:spPr>
          <a:xfrm>
            <a:off x="9453562"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C7A89"/>
                </a:solidFill>
                <a:latin typeface="Calibri"/>
              </a:rPr>
              <a:t>9.1%</a:t>
            </a:r>
          </a:p>
        </p:txBody>
      </p:sp>
      <p:sp>
        <p:nvSpPr>
          <p:cNvPr id="69" name="Oval 68"/>
          <p:cNvSpPr/>
          <p:nvPr/>
        </p:nvSpPr>
        <p:spPr>
          <a:xfrm>
            <a:off x="9866709" y="1314450"/>
            <a:ext cx="323850" cy="323850"/>
          </a:xfrm>
          <a:prstGeom prst="ellipse">
            <a:avLst/>
          </a:prstGeom>
          <a:solidFill>
            <a:srgbClr val="6C7A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7</a:t>
            </a:r>
          </a:p>
        </p:txBody>
      </p:sp>
      <p:sp>
        <p:nvSpPr>
          <p:cNvPr id="70" name="Rounded Rectangle 69"/>
          <p:cNvSpPr/>
          <p:nvPr/>
        </p:nvSpPr>
        <p:spPr>
          <a:xfrm>
            <a:off x="10718006" y="1657350"/>
            <a:ext cx="1150144"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718006" y="1885950"/>
            <a:ext cx="1150144"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756106" y="1657350"/>
            <a:ext cx="1073944" cy="457200"/>
          </a:xfrm>
          <a:prstGeom prst="rect">
            <a:avLst/>
          </a:prstGeom>
          <a:noFill/>
        </p:spPr>
        <p:txBody>
          <a:bodyPr wrap="square" lIns="28575" rIns="28575" tIns="9525" bIns="9525" anchor="ctr">
            <a:spAutoFit/>
          </a:bodyPr>
          <a:lstStyle/>
          <a:p>
            <a:pPr algn="ctr"/>
            <a:r>
              <a:rPr sz="1100" b="1">
                <a:solidFill>
                  <a:srgbClr val="FFFFFF"/>
                </a:solidFill>
                <a:latin typeface="Calibri"/>
              </a:rPr>
              <a:t>Other Diagnostic Applications</a:t>
            </a:r>
          </a:p>
        </p:txBody>
      </p:sp>
      <p:sp>
        <p:nvSpPr>
          <p:cNvPr id="73" name="Rectangle 72"/>
          <p:cNvSpPr/>
          <p:nvPr/>
        </p:nvSpPr>
        <p:spPr>
          <a:xfrm>
            <a:off x="10718006" y="21336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43.6</a:t>
            </a:r>
          </a:p>
        </p:txBody>
      </p:sp>
      <p:sp>
        <p:nvSpPr>
          <p:cNvPr id="74" name="Rectangle 73"/>
          <p:cNvSpPr/>
          <p:nvPr/>
        </p:nvSpPr>
        <p:spPr>
          <a:xfrm>
            <a:off x="10718006" y="2647950"/>
            <a:ext cx="1150144"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72.9</a:t>
            </a:r>
          </a:p>
        </p:txBody>
      </p:sp>
      <p:sp>
        <p:nvSpPr>
          <p:cNvPr id="75" name="Rectangle 74"/>
          <p:cNvSpPr/>
          <p:nvPr/>
        </p:nvSpPr>
        <p:spPr>
          <a:xfrm>
            <a:off x="10718006" y="3162300"/>
            <a:ext cx="1150144"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5.3%</a:t>
            </a:r>
          </a:p>
        </p:txBody>
      </p:sp>
      <p:sp>
        <p:nvSpPr>
          <p:cNvPr id="76" name="Oval 75"/>
          <p:cNvSpPr/>
          <p:nvPr/>
        </p:nvSpPr>
        <p:spPr>
          <a:xfrm>
            <a:off x="11131153"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8</a:t>
            </a:r>
          </a:p>
        </p:txBody>
      </p:sp>
      <p:sp>
        <p:nvSpPr>
          <p:cNvPr id="77" name="Rounded Rectangle 76"/>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79" name="Rectangle 78"/>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'Diabetes &amp; Glucose Testing' holds the largest share in 2026 40%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'Genetic &amp; Molecular Testing' is the fastest-growing sub-segment at 14.8%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8 sub-segments make up the application landscape.</a:t>
            </a:r>
          </a:p>
        </p:txBody>
      </p:sp>
      <p:sp>
        <p:nvSpPr>
          <p:cNvPr id="81" name="Rounded Rectangle 80"/>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83" name="Rectangle 82"/>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810000" y="4210050"/>
            <a:ext cx="4210050" cy="2209800"/>
          </a:xfrm>
          <a:prstGeom prst="rect">
            <a:avLst/>
          </a:prstGeom>
          <a:noFill/>
        </p:spPr>
        <p:txBody>
          <a:bodyPr wrap="square" lIns="28575" rIns="28575" tIns="9525" bIns="9525">
            <a:spAutoFit/>
          </a:bodyPr>
          <a:lstStyle/>
          <a:p>
            <a:pPr algn="l">
              <a:lnSpc>
                <a:spcPct val="105000"/>
              </a:lnSpc>
              <a:spcBef>
                <a:spcPts val="0"/>
              </a:spcBef>
              <a:spcAft>
                <a:spcPts val="300"/>
              </a:spcAft>
            </a:pPr>
            <a:r>
              <a:rPr sz="810" b="0">
                <a:solidFill>
                  <a:srgbClr val="0B2E4A"/>
                </a:solidFill>
                <a:latin typeface="Calibri"/>
              </a:rPr>
              <a:t>●  </a:t>
            </a:r>
            <a:r>
              <a:rPr sz="900" b="1">
                <a:solidFill>
                  <a:srgbClr val="0B2E4A"/>
                </a:solidFill>
                <a:latin typeface="Calibri"/>
              </a:rPr>
              <a:t>Diabetes &amp; Glucose Testing: </a:t>
            </a:r>
            <a:r>
              <a:rPr sz="900" b="0">
                <a:solidFill>
                  <a:srgbClr val="2E2E2E"/>
                </a:solidFill>
                <a:latin typeface="Calibri"/>
              </a:rPr>
              <a:t>40% of 2026 value · 7.5% CAGR leads the segment.</a:t>
            </a:r>
          </a:p>
          <a:p>
            <a:pPr algn="l">
              <a:lnSpc>
                <a:spcPct val="105000"/>
              </a:lnSpc>
              <a:spcBef>
                <a:spcPts val="0"/>
              </a:spcBef>
              <a:spcAft>
                <a:spcPts val="300"/>
              </a:spcAft>
            </a:pPr>
            <a:r>
              <a:rPr sz="810" b="0">
                <a:solidFill>
                  <a:srgbClr val="0E72AE"/>
                </a:solidFill>
                <a:latin typeface="Calibri"/>
              </a:rPr>
              <a:t>●  </a:t>
            </a:r>
            <a:r>
              <a:rPr sz="900" b="1">
                <a:solidFill>
                  <a:srgbClr val="0E72AE"/>
                </a:solidFill>
                <a:latin typeface="Calibri"/>
              </a:rPr>
              <a:t>Infectious Disease Testing: </a:t>
            </a:r>
            <a:r>
              <a:rPr sz="900" b="0">
                <a:solidFill>
                  <a:srgbClr val="2E2E2E"/>
                </a:solidFill>
                <a:latin typeface="Calibri"/>
              </a:rPr>
              <a:t>15% of 2026 value · 7.3% CAGR serves a niche.</a:t>
            </a:r>
          </a:p>
          <a:p>
            <a:pPr algn="l">
              <a:lnSpc>
                <a:spcPct val="105000"/>
              </a:lnSpc>
              <a:spcBef>
                <a:spcPts val="0"/>
              </a:spcBef>
              <a:spcAft>
                <a:spcPts val="300"/>
              </a:spcAft>
            </a:pPr>
            <a:r>
              <a:rPr sz="810" b="0">
                <a:solidFill>
                  <a:srgbClr val="008189"/>
                </a:solidFill>
                <a:latin typeface="Calibri"/>
              </a:rPr>
              <a:t>●  </a:t>
            </a:r>
            <a:r>
              <a:rPr sz="900" b="1">
                <a:solidFill>
                  <a:srgbClr val="008189"/>
                </a:solidFill>
                <a:latin typeface="Calibri"/>
              </a:rPr>
              <a:t>Newborn Screening: </a:t>
            </a:r>
            <a:r>
              <a:rPr sz="900" b="0">
                <a:solidFill>
                  <a:srgbClr val="2E2E2E"/>
                </a:solidFill>
                <a:latin typeface="Calibri"/>
              </a:rPr>
              <a:t>13% of 2026 value · 8.2% CAGR serves a niche.</a:t>
            </a:r>
          </a:p>
          <a:p>
            <a:pPr algn="l">
              <a:lnSpc>
                <a:spcPct val="105000"/>
              </a:lnSpc>
              <a:spcBef>
                <a:spcPts val="0"/>
              </a:spcBef>
              <a:spcAft>
                <a:spcPts val="300"/>
              </a:spcAft>
            </a:pPr>
            <a:r>
              <a:rPr sz="810" b="0">
                <a:solidFill>
                  <a:srgbClr val="6F3CC2"/>
                </a:solidFill>
                <a:latin typeface="Calibri"/>
              </a:rPr>
              <a:t>●  </a:t>
            </a:r>
            <a:r>
              <a:rPr sz="900" b="1">
                <a:solidFill>
                  <a:srgbClr val="6F3CC2"/>
                </a:solidFill>
                <a:latin typeface="Calibri"/>
              </a:rPr>
              <a:t>Hematology Testing: </a:t>
            </a:r>
            <a:r>
              <a:rPr sz="900" b="0">
                <a:solidFill>
                  <a:srgbClr val="2E2E2E"/>
                </a:solidFill>
                <a:latin typeface="Calibri"/>
              </a:rPr>
              <a:t>12% of 2026 value · 4.0% CAGR serves a niche.</a:t>
            </a:r>
          </a:p>
          <a:p>
            <a:pPr algn="l">
              <a:lnSpc>
                <a:spcPct val="105000"/>
              </a:lnSpc>
              <a:spcBef>
                <a:spcPts val="0"/>
              </a:spcBef>
              <a:spcAft>
                <a:spcPts val="300"/>
              </a:spcAft>
            </a:pPr>
            <a:r>
              <a:rPr sz="810" b="0">
                <a:solidFill>
                  <a:srgbClr val="A86F00"/>
                </a:solidFill>
                <a:latin typeface="Calibri"/>
              </a:rPr>
              <a:t>●  </a:t>
            </a:r>
            <a:r>
              <a:rPr sz="900" b="1">
                <a:solidFill>
                  <a:srgbClr val="A86F00"/>
                </a:solidFill>
                <a:latin typeface="Calibri"/>
              </a:rPr>
              <a:t>Metabolic &amp; Biochemical Testing: </a:t>
            </a:r>
            <a:r>
              <a:rPr sz="900" b="0">
                <a:solidFill>
                  <a:srgbClr val="2E2E2E"/>
                </a:solidFill>
                <a:latin typeface="Calibri"/>
              </a:rPr>
              <a:t>8% of 2026 value · 8.1% CAGR serves a niche.</a:t>
            </a:r>
          </a:p>
          <a:p>
            <a:pPr algn="l">
              <a:lnSpc>
                <a:spcPct val="105000"/>
              </a:lnSpc>
              <a:spcBef>
                <a:spcPts val="0"/>
              </a:spcBef>
              <a:spcAft>
                <a:spcPts val="300"/>
              </a:spcAft>
            </a:pPr>
            <a:r>
              <a:rPr sz="810" b="0">
                <a:solidFill>
                  <a:srgbClr val="A35313"/>
                </a:solidFill>
                <a:latin typeface="Calibri"/>
              </a:rPr>
              <a:t>●  </a:t>
            </a:r>
            <a:r>
              <a:rPr sz="900" b="1">
                <a:solidFill>
                  <a:srgbClr val="A35313"/>
                </a:solidFill>
                <a:latin typeface="Calibri"/>
              </a:rPr>
              <a:t>Genetic &amp; Molecular Testing: </a:t>
            </a:r>
            <a:r>
              <a:rPr sz="900" b="0">
                <a:solidFill>
                  <a:srgbClr val="2E2E2E"/>
                </a:solidFill>
                <a:latin typeface="Calibri"/>
              </a:rPr>
              <a:t>6% of 2026 value · 14.8% CAGR grows fastest.</a:t>
            </a:r>
          </a:p>
          <a:p>
            <a:pPr algn="l">
              <a:lnSpc>
                <a:spcPct val="105000"/>
              </a:lnSpc>
              <a:spcBef>
                <a:spcPts val="0"/>
              </a:spcBef>
              <a:spcAft>
                <a:spcPts val="300"/>
              </a:spcAft>
            </a:pPr>
            <a:r>
              <a:rPr sz="810" b="0">
                <a:solidFill>
                  <a:srgbClr val="6C7A89"/>
                </a:solidFill>
                <a:latin typeface="Calibri"/>
              </a:rPr>
              <a:t>●  </a:t>
            </a:r>
            <a:r>
              <a:rPr sz="900" b="1">
                <a:solidFill>
                  <a:srgbClr val="6C7A89"/>
                </a:solidFill>
                <a:latin typeface="Calibri"/>
              </a:rPr>
              <a:t>Therapeutic Drug Monitoring: </a:t>
            </a:r>
            <a:r>
              <a:rPr sz="900" b="0">
                <a:solidFill>
                  <a:srgbClr val="2E2E2E"/>
                </a:solidFill>
                <a:latin typeface="Calibri"/>
              </a:rPr>
              <a:t>3% of 2026 value · 9.1% CAGR serves a niche.</a:t>
            </a:r>
          </a:p>
          <a:p>
            <a:pPr algn="l">
              <a:lnSpc>
                <a:spcPct val="105000"/>
              </a:lnSpc>
              <a:spcBef>
                <a:spcPts val="0"/>
              </a:spcBef>
              <a:spcAft>
                <a:spcPts val="300"/>
              </a:spcAft>
            </a:pPr>
            <a:r>
              <a:rPr sz="810" b="0">
                <a:solidFill>
                  <a:srgbClr val="0B2E4A"/>
                </a:solidFill>
                <a:latin typeface="Calibri"/>
              </a:rPr>
              <a:t>●  </a:t>
            </a:r>
            <a:r>
              <a:rPr sz="900" b="1">
                <a:solidFill>
                  <a:srgbClr val="0B2E4A"/>
                </a:solidFill>
                <a:latin typeface="Calibri"/>
              </a:rPr>
              <a:t>Other Diagnostic Applications: </a:t>
            </a:r>
            <a:r>
              <a:rPr sz="900" b="0">
                <a:solidFill>
                  <a:srgbClr val="2E2E2E"/>
                </a:solidFill>
                <a:latin typeface="Calibri"/>
              </a:rPr>
              <a:t>2% of 2026 value · 5.3% CAGR serves a niche.</a:t>
            </a:r>
          </a:p>
        </p:txBody>
      </p:sp>
      <p:sp>
        <p:nvSpPr>
          <p:cNvPr id="85" name="Rounded Rectangle 84"/>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87" name="Rectangle 86"/>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Application split shows how demand is distributed across application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89" name="Rectangle 88"/>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Application segment is projected to grow at a CAGR of 7.9% from 2026 to 2036.</a:t>
            </a:r>
          </a:p>
        </p:txBody>
      </p:sp>
      <p:sp>
        <p:nvSpPr>
          <p:cNvPr id="91" name="TextBox 90"/>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92" name="Rectangle 9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94" name="Rounded Rectangle 9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5" name="Rounded Rectangle 9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96" name="Rounded Rectangle 9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Application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Application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Application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'Genetic &amp; Molecular Testing' gains the most share in the Global market (+553 BPS) while 'Hematology Testing' cedes 383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Application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Application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42887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771775"/>
          </a:xfrm>
          <a:prstGeom prst="roundRect">
            <a:avLst>
              <a:gd name="adj" fmla="val 274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42887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762375"/>
            <a:ext cx="5876925" cy="2962275"/>
          </a:xfrm>
          <a:prstGeom prst="roundRect">
            <a:avLst>
              <a:gd name="adj" fmla="val 25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8195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048125"/>
          <a:ext cx="5686425" cy="261937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762375"/>
            <a:ext cx="5876925" cy="2962275"/>
          </a:xfrm>
          <a:prstGeom prst="roundRect">
            <a:avLst>
              <a:gd name="adj" fmla="val 25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81952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Application (2026–2036)</a:t>
            </a:r>
          </a:p>
        </p:txBody>
      </p:sp>
      <p:graphicFrame>
        <p:nvGraphicFramePr>
          <p:cNvPr id="23" name="Table 22"/>
          <p:cNvGraphicFramePr>
            <a:graphicFrameLocks noGrp="1"/>
          </p:cNvGraphicFramePr>
          <p:nvPr/>
        </p:nvGraphicFramePr>
        <p:xfrm>
          <a:off x="6267450" y="4048125"/>
          <a:ext cx="5686426" cy="16287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Application</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900" b="0">
                          <a:solidFill>
                            <a:srgbClr val="2E2E2E"/>
                          </a:solidFill>
                          <a:latin typeface="Calibri"/>
                        </a:rPr>
                        <a:t>992.2</a:t>
                      </a:r>
                    </a:p>
                  </a:txBody>
                  <a:tcPr marL="85725" marR="38100" marT="19050" marB="19050" anchor="ctr">
                    <a:solidFill>
                      <a:srgbClr val="FFFFFF"/>
                    </a:solidFill>
                  </a:tcPr>
                </a:tc>
                <a:tc>
                  <a:txBody>
                    <a:bodyPr wrap="none"/>
                    <a:lstStyle/>
                    <a:p>
                      <a:pPr algn="l"/>
                      <a:r>
                        <a:rPr sz="900" b="0">
                          <a:solidFill>
                            <a:srgbClr val="2E2E2E"/>
                          </a:solidFill>
                          <a:latin typeface="Calibri"/>
                        </a:rPr>
                        <a:t>37.8%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900" b="0">
                          <a:solidFill>
                            <a:srgbClr val="2E2E2E"/>
                          </a:solidFill>
                          <a:latin typeface="Calibri"/>
                        </a:rPr>
                        <a:t>348.0</a:t>
                      </a:r>
                    </a:p>
                  </a:txBody>
                  <a:tcPr marL="85725" marR="38100" marT="19050" marB="19050" anchor="ctr">
                    <a:solidFill>
                      <a:srgbClr val="F5F8FA"/>
                    </a:solidFill>
                  </a:tcPr>
                </a:tc>
                <a:tc>
                  <a:txBody>
                    <a:bodyPr wrap="none"/>
                    <a:lstStyle/>
                    <a:p>
                      <a:pPr algn="l"/>
                      <a:r>
                        <a:rPr sz="900" b="0">
                          <a:solidFill>
                            <a:srgbClr val="2E2E2E"/>
                          </a:solidFill>
                          <a:latin typeface="Calibri"/>
                        </a:rPr>
                        <a:t>13.2%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900" b="0">
                          <a:solidFill>
                            <a:srgbClr val="2E2E2E"/>
                          </a:solidFill>
                          <a:latin typeface="Calibri"/>
                        </a:rPr>
                        <a:t>137.1</a:t>
                      </a:r>
                    </a:p>
                  </a:txBody>
                  <a:tcPr marL="85725" marR="38100" marT="19050" marB="19050" anchor="ctr">
                    <a:solidFill>
                      <a:srgbClr val="FFFFFF"/>
                    </a:solidFill>
                  </a:tcPr>
                </a:tc>
                <a:tc>
                  <a:txBody>
                    <a:bodyPr wrap="none"/>
                    <a:lstStyle/>
                    <a:p>
                      <a:pPr algn="l"/>
                      <a:r>
                        <a:rPr sz="900" b="0">
                          <a:solidFill>
                            <a:srgbClr val="2E2E2E"/>
                          </a:solidFill>
                          <a:latin typeface="Calibri"/>
                        </a:rPr>
                        <a:t>5.2%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900" b="0">
                          <a:solidFill>
                            <a:srgbClr val="2E2E2E"/>
                          </a:solidFill>
                          <a:latin typeface="Calibri"/>
                        </a:rPr>
                        <a:t>354.0</a:t>
                      </a:r>
                    </a:p>
                  </a:txBody>
                  <a:tcPr marL="85725" marR="38100" marT="19050" marB="19050" anchor="ctr">
                    <a:solidFill>
                      <a:srgbClr val="F5F8FA"/>
                    </a:solidFill>
                  </a:tcPr>
                </a:tc>
                <a:tc>
                  <a:txBody>
                    <a:bodyPr wrap="none"/>
                    <a:lstStyle/>
                    <a:p>
                      <a:pPr algn="l"/>
                      <a:r>
                        <a:rPr sz="900" b="0">
                          <a:solidFill>
                            <a:srgbClr val="2E2E2E"/>
                          </a:solidFill>
                          <a:latin typeface="Calibri"/>
                        </a:rPr>
                        <a:t>13.5%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900" b="0">
                          <a:solidFill>
                            <a:srgbClr val="2E2E2E"/>
                          </a:solidFill>
                          <a:latin typeface="Calibri"/>
                        </a:rPr>
                        <a:t>442.2</a:t>
                      </a:r>
                    </a:p>
                  </a:txBody>
                  <a:tcPr marL="85725" marR="38100" marT="19050" marB="19050" anchor="ctr">
                    <a:solidFill>
                      <a:srgbClr val="FFFFFF"/>
                    </a:solidFill>
                  </a:tcPr>
                </a:tc>
                <a:tc>
                  <a:txBody>
                    <a:bodyPr wrap="none"/>
                    <a:lstStyle/>
                    <a:p>
                      <a:pPr algn="l"/>
                      <a:r>
                        <a:rPr sz="900" b="0">
                          <a:solidFill>
                            <a:srgbClr val="2E2E2E"/>
                          </a:solidFill>
                          <a:latin typeface="Calibri"/>
                        </a:rPr>
                        <a:t>16.8%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900" b="0">
                          <a:solidFill>
                            <a:srgbClr val="2E2E2E"/>
                          </a:solidFill>
                          <a:latin typeface="Calibri"/>
                        </a:rPr>
                        <a:t>99.7</a:t>
                      </a:r>
                    </a:p>
                  </a:txBody>
                  <a:tcPr marL="85725" marR="38100" marT="19050" marB="19050" anchor="ctr">
                    <a:solidFill>
                      <a:srgbClr val="F5F8FA"/>
                    </a:solidFill>
                  </a:tcPr>
                </a:tc>
                <a:tc>
                  <a:txBody>
                    <a:bodyPr wrap="none"/>
                    <a:lstStyle/>
                    <a:p>
                      <a:pPr algn="l"/>
                      <a:r>
                        <a:rPr sz="900" b="0">
                          <a:solidFill>
                            <a:srgbClr val="2E2E2E"/>
                          </a:solidFill>
                          <a:latin typeface="Calibri"/>
                        </a:rPr>
                        <a:t>3.8%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900" b="0">
                          <a:solidFill>
                            <a:srgbClr val="2E2E2E"/>
                          </a:solidFill>
                          <a:latin typeface="Calibri"/>
                        </a:rPr>
                        <a:t>224.4</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900" b="0">
                          <a:solidFill>
                            <a:srgbClr val="2E2E2E"/>
                          </a:solidFill>
                          <a:latin typeface="Calibri"/>
                        </a:rPr>
                        <a:t>29.3</a:t>
                      </a:r>
                    </a:p>
                  </a:txBody>
                  <a:tcPr marL="85725" marR="38100" marT="19050" marB="19050" anchor="ctr">
                    <a:solidFill>
                      <a:srgbClr val="F5F8FA"/>
                    </a:solidFill>
                  </a:tcPr>
                </a:tc>
                <a:tc>
                  <a:txBody>
                    <a:bodyPr wrap="none"/>
                    <a:lstStyle/>
                    <a:p>
                      <a:pPr algn="l"/>
                      <a:r>
                        <a:rPr sz="900" b="0">
                          <a:solidFill>
                            <a:srgbClr val="2E2E2E"/>
                          </a:solidFill>
                          <a:latin typeface="Calibri"/>
                        </a:rPr>
                        <a:t>1.1%</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Application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Application,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552825"/>
          </a:xfrm>
          <a:prstGeom prst="roundRect">
            <a:avLst>
              <a:gd name="adj" fmla="val 21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Application (Units)</a:t>
            </a:r>
          </a:p>
        </p:txBody>
      </p:sp>
      <p:graphicFrame>
        <p:nvGraphicFramePr>
          <p:cNvPr id="14" name="Table 13"/>
          <p:cNvGraphicFramePr>
            <a:graphicFrameLocks noGrp="1"/>
          </p:cNvGraphicFramePr>
          <p:nvPr/>
        </p:nvGraphicFramePr>
        <p:xfrm>
          <a:off x="238125" y="1143000"/>
          <a:ext cx="11715752" cy="18097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0">
                          <a:solidFill>
                            <a:srgbClr val="2E2E2E"/>
                          </a:solidFill>
                          <a:latin typeface="Calibri"/>
                        </a:rPr>
                        <a:t>837.6</a:t>
                      </a:r>
                    </a:p>
                  </a:txBody>
                  <a:tcPr marL="85725" marR="38100" marT="19050" marB="19050" anchor="ctr">
                    <a:solidFill>
                      <a:srgbClr val="FFFFFF"/>
                    </a:solidFill>
                  </a:tcPr>
                </a:tc>
                <a:tc>
                  <a:txBody>
                    <a:bodyPr wrap="none"/>
                    <a:lstStyle/>
                    <a:p>
                      <a:pPr algn="l"/>
                      <a:r>
                        <a:rPr sz="800" b="0">
                          <a:solidFill>
                            <a:srgbClr val="2E2E2E"/>
                          </a:solidFill>
                          <a:latin typeface="Calibri"/>
                        </a:rPr>
                        <a:t>886.4</a:t>
                      </a:r>
                    </a:p>
                  </a:txBody>
                  <a:tcPr marL="85725" marR="38100" marT="19050" marB="19050" anchor="ctr">
                    <a:solidFill>
                      <a:srgbClr val="FFFFFF"/>
                    </a:solidFill>
                  </a:tcPr>
                </a:tc>
                <a:tc>
                  <a:txBody>
                    <a:bodyPr wrap="none"/>
                    <a:lstStyle/>
                    <a:p>
                      <a:pPr algn="l"/>
                      <a:r>
                        <a:rPr sz="800" b="0">
                          <a:solidFill>
                            <a:srgbClr val="2E2E2E"/>
                          </a:solidFill>
                          <a:latin typeface="Calibri"/>
                        </a:rPr>
                        <a:t>939.6</a:t>
                      </a:r>
                    </a:p>
                  </a:txBody>
                  <a:tcPr marL="85725" marR="38100" marT="19050" marB="19050" anchor="ctr">
                    <a:solidFill>
                      <a:srgbClr val="FFFFFF"/>
                    </a:solidFill>
                  </a:tcPr>
                </a:tc>
                <a:tc>
                  <a:txBody>
                    <a:bodyPr wrap="none"/>
                    <a:lstStyle/>
                    <a:p>
                      <a:pPr algn="l"/>
                      <a:r>
                        <a:rPr sz="800" b="0">
                          <a:solidFill>
                            <a:srgbClr val="2E2E2E"/>
                          </a:solidFill>
                          <a:latin typeface="Calibri"/>
                        </a:rPr>
                        <a:t>998.3</a:t>
                      </a:r>
                    </a:p>
                  </a:txBody>
                  <a:tcPr marL="85725" marR="38100" marT="19050" marB="19050" anchor="ctr">
                    <a:solidFill>
                      <a:srgbClr val="FFFFFF"/>
                    </a:solidFill>
                  </a:tcPr>
                </a:tc>
                <a:tc>
                  <a:txBody>
                    <a:bodyPr wrap="none"/>
                    <a:lstStyle/>
                    <a:p>
                      <a:pPr algn="l"/>
                      <a:r>
                        <a:rPr sz="800" b="0">
                          <a:solidFill>
                            <a:srgbClr val="2E2E2E"/>
                          </a:solidFill>
                          <a:latin typeface="Calibri"/>
                        </a:rPr>
                        <a:t>1,064</a:t>
                      </a:r>
                    </a:p>
                  </a:txBody>
                  <a:tcPr marL="85725" marR="38100" marT="19050" marB="19050" anchor="ctr">
                    <a:solidFill>
                      <a:srgbClr val="FFFFFF"/>
                    </a:solidFill>
                  </a:tcPr>
                </a:tc>
                <a:tc>
                  <a:txBody>
                    <a:bodyPr wrap="none"/>
                    <a:lstStyle/>
                    <a:p>
                      <a:pPr algn="l"/>
                      <a:r>
                        <a:rPr sz="800" b="0">
                          <a:solidFill>
                            <a:srgbClr val="2E2E2E"/>
                          </a:solidFill>
                          <a:latin typeface="Calibri"/>
                        </a:rPr>
                        <a:t>1,137</a:t>
                      </a:r>
                    </a:p>
                  </a:txBody>
                  <a:tcPr marL="85725" marR="38100" marT="19050" marB="19050" anchor="ctr">
                    <a:solidFill>
                      <a:srgbClr val="FFFFFF"/>
                    </a:solidFill>
                  </a:tcPr>
                </a:tc>
                <a:tc>
                  <a:txBody>
                    <a:bodyPr wrap="none"/>
                    <a:lstStyle/>
                    <a:p>
                      <a:pPr algn="l"/>
                      <a:r>
                        <a:rPr sz="800" b="0">
                          <a:solidFill>
                            <a:srgbClr val="2E2E2E"/>
                          </a:solidFill>
                          <a:latin typeface="Calibri"/>
                        </a:rPr>
                        <a:t>1,218</a:t>
                      </a:r>
                    </a:p>
                  </a:txBody>
                  <a:tcPr marL="85725" marR="38100" marT="19050" marB="19050" anchor="ctr">
                    <a:solidFill>
                      <a:srgbClr val="FFFFFF"/>
                    </a:solidFill>
                  </a:tcPr>
                </a:tc>
                <a:tc>
                  <a:txBody>
                    <a:bodyPr wrap="none"/>
                    <a:lstStyle/>
                    <a:p>
                      <a:pPr algn="l"/>
                      <a:r>
                        <a:rPr sz="800" b="0">
                          <a:solidFill>
                            <a:srgbClr val="2E2E2E"/>
                          </a:solidFill>
                          <a:latin typeface="Calibri"/>
                        </a:rPr>
                        <a:t>1,306</a:t>
                      </a:r>
                    </a:p>
                  </a:txBody>
                  <a:tcPr marL="85725" marR="38100" marT="19050" marB="19050" anchor="ctr">
                    <a:solidFill>
                      <a:srgbClr val="FFFFFF"/>
                    </a:solidFill>
                  </a:tcPr>
                </a:tc>
                <a:tc>
                  <a:txBody>
                    <a:bodyPr wrap="none"/>
                    <a:lstStyle/>
                    <a:p>
                      <a:pPr algn="l"/>
                      <a:r>
                        <a:rPr sz="800" b="0">
                          <a:solidFill>
                            <a:srgbClr val="2E2E2E"/>
                          </a:solidFill>
                          <a:latin typeface="Calibri"/>
                        </a:rPr>
                        <a:t>1,400</a:t>
                      </a:r>
                    </a:p>
                  </a:txBody>
                  <a:tcPr marL="85725" marR="38100" marT="19050" marB="19050" anchor="ctr">
                    <a:solidFill>
                      <a:srgbClr val="FFFFFF"/>
                    </a:solidFill>
                  </a:tcPr>
                </a:tc>
                <a:tc>
                  <a:txBody>
                    <a:bodyPr wrap="none"/>
                    <a:lstStyle/>
                    <a:p>
                      <a:pPr algn="l"/>
                      <a:r>
                        <a:rPr sz="800" b="0">
                          <a:solidFill>
                            <a:srgbClr val="2E2E2E"/>
                          </a:solidFill>
                          <a:latin typeface="Calibri"/>
                        </a:rPr>
                        <a:t>1,497</a:t>
                      </a:r>
                    </a:p>
                  </a:txBody>
                  <a:tcPr marL="85725" marR="38100" marT="19050" marB="19050" anchor="ctr">
                    <a:solidFill>
                      <a:srgbClr val="FFFFFF"/>
                    </a:solidFill>
                  </a:tcPr>
                </a:tc>
                <a:tc>
                  <a:txBody>
                    <a:bodyPr wrap="none"/>
                    <a:lstStyle/>
                    <a:p>
                      <a:pPr algn="l"/>
                      <a:r>
                        <a:rPr sz="800" b="0">
                          <a:solidFill>
                            <a:srgbClr val="2E2E2E"/>
                          </a:solidFill>
                          <a:latin typeface="Calibri"/>
                        </a:rPr>
                        <a:t>1,597</a:t>
                      </a:r>
                    </a:p>
                  </a:txBody>
                  <a:tcPr marL="85725" marR="38100" marT="19050" marB="19050" anchor="ctr">
                    <a:solidFill>
                      <a:srgbClr val="FFFFFF"/>
                    </a:solidFill>
                  </a:tcPr>
                </a:tc>
                <a:tc>
                  <a:txBody>
                    <a:bodyPr wrap="none"/>
                    <a:lstStyle/>
                    <a:p>
                      <a:pPr algn="l"/>
                      <a:r>
                        <a:rPr sz="800" b="0">
                          <a:solidFill>
                            <a:srgbClr val="2E2E2E"/>
                          </a:solidFill>
                          <a:latin typeface="Calibri"/>
                        </a:rPr>
                        <a:t>1,701</a:t>
                      </a:r>
                    </a:p>
                  </a:txBody>
                  <a:tcPr marL="85725" marR="38100" marT="19050" marB="19050" anchor="ctr">
                    <a:solidFill>
                      <a:srgbClr val="FFFFFF"/>
                    </a:solidFill>
                  </a:tcPr>
                </a:tc>
                <a:tc>
                  <a:txBody>
                    <a:bodyPr wrap="none"/>
                    <a:lstStyle/>
                    <a:p>
                      <a:pPr algn="l"/>
                      <a:r>
                        <a:rPr sz="800" b="0">
                          <a:solidFill>
                            <a:srgbClr val="2E2E2E"/>
                          </a:solidFill>
                          <a:latin typeface="Calibri"/>
                        </a:rPr>
                        <a:t>1,808</a:t>
                      </a:r>
                    </a:p>
                  </a:txBody>
                  <a:tcPr marL="85725" marR="38100" marT="19050" marB="19050" anchor="ctr">
                    <a:solidFill>
                      <a:srgbClr val="FFFFFF"/>
                    </a:solidFill>
                  </a:tcPr>
                </a:tc>
                <a:tc>
                  <a:txBody>
                    <a:bodyPr wrap="none"/>
                    <a:lstStyle/>
                    <a:p>
                      <a:pPr algn="l"/>
                      <a:r>
                        <a:rPr sz="800" b="0">
                          <a:solidFill>
                            <a:srgbClr val="2E2E2E"/>
                          </a:solidFill>
                          <a:latin typeface="Calibri"/>
                        </a:rPr>
                        <a:t>1,921</a:t>
                      </a:r>
                    </a:p>
                  </a:txBody>
                  <a:tcPr marL="85725" marR="38100" marT="19050" marB="19050" anchor="ctr">
                    <a:solidFill>
                      <a:srgbClr val="FFFFFF"/>
                    </a:solidFill>
                  </a:tcPr>
                </a:tc>
                <a:tc>
                  <a:txBody>
                    <a:bodyPr wrap="none"/>
                    <a:lstStyle/>
                    <a:p>
                      <a:pPr algn="l"/>
                      <a:r>
                        <a:rPr sz="800" b="0">
                          <a:solidFill>
                            <a:srgbClr val="2E2E2E"/>
                          </a:solidFill>
                          <a:latin typeface="Calibri"/>
                        </a:rPr>
                        <a:t>2,037</a:t>
                      </a:r>
                    </a:p>
                  </a:txBody>
                  <a:tcPr marL="85725" marR="38100" marT="19050" marB="19050" anchor="ctr">
                    <a:solidFill>
                      <a:srgbClr val="FFFFFF"/>
                    </a:solidFill>
                  </a:tcPr>
                </a:tc>
                <a:tc>
                  <a:txBody>
                    <a:bodyPr wrap="none"/>
                    <a:lstStyle/>
                    <a:p>
                      <a:pPr algn="l"/>
                      <a:r>
                        <a:rPr sz="800" b="0">
                          <a:solidFill>
                            <a:srgbClr val="2E2E2E"/>
                          </a:solidFill>
                          <a:latin typeface="Calibri"/>
                        </a:rPr>
                        <a:t>2,160</a:t>
                      </a:r>
                    </a:p>
                  </a:txBody>
                  <a:tcPr marL="85725" marR="38100" marT="19050" marB="19050" anchor="ctr">
                    <a:solidFill>
                      <a:srgbClr val="FFFFFF"/>
                    </a:solidFill>
                  </a:tcPr>
                </a:tc>
                <a:tc>
                  <a:txBody>
                    <a:bodyPr wrap="none"/>
                    <a:lstStyle/>
                    <a:p>
                      <a:pPr algn="l"/>
                      <a:r>
                        <a:rPr sz="800" b="0">
                          <a:solidFill>
                            <a:srgbClr val="2E2E2E"/>
                          </a:solidFill>
                          <a:latin typeface="Calibri"/>
                        </a:rPr>
                        <a:t>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0">
                          <a:solidFill>
                            <a:srgbClr val="2E2E2E"/>
                          </a:solidFill>
                          <a:latin typeface="Calibri"/>
                        </a:rPr>
                        <a:t>256.8</a:t>
                      </a:r>
                    </a:p>
                  </a:txBody>
                  <a:tcPr marL="85725" marR="38100" marT="19050" marB="19050" anchor="ctr">
                    <a:solidFill>
                      <a:srgbClr val="F5F8FA"/>
                    </a:solidFill>
                  </a:tcPr>
                </a:tc>
                <a:tc>
                  <a:txBody>
                    <a:bodyPr wrap="none"/>
                    <a:lstStyle/>
                    <a:p>
                      <a:pPr algn="l"/>
                      <a:r>
                        <a:rPr sz="800" b="0">
                          <a:solidFill>
                            <a:srgbClr val="2E2E2E"/>
                          </a:solidFill>
                          <a:latin typeface="Calibri"/>
                        </a:rPr>
                        <a:t>272.9</a:t>
                      </a:r>
                    </a:p>
                  </a:txBody>
                  <a:tcPr marL="85725" marR="38100" marT="19050" marB="19050" anchor="ctr">
                    <a:solidFill>
                      <a:srgbClr val="F5F8FA"/>
                    </a:solidFill>
                  </a:tcPr>
                </a:tc>
                <a:tc>
                  <a:txBody>
                    <a:bodyPr wrap="none"/>
                    <a:lstStyle/>
                    <a:p>
                      <a:pPr algn="l"/>
                      <a:r>
                        <a:rPr sz="800" b="0">
                          <a:solidFill>
                            <a:srgbClr val="2E2E2E"/>
                          </a:solidFill>
                          <a:latin typeface="Calibri"/>
                        </a:rPr>
                        <a:t>290.4</a:t>
                      </a:r>
                    </a:p>
                  </a:txBody>
                  <a:tcPr marL="85725" marR="38100" marT="19050" marB="19050" anchor="ctr">
                    <a:solidFill>
                      <a:srgbClr val="F5F8FA"/>
                    </a:solidFill>
                  </a:tcPr>
                </a:tc>
                <a:tc>
                  <a:txBody>
                    <a:bodyPr wrap="none"/>
                    <a:lstStyle/>
                    <a:p>
                      <a:pPr algn="l"/>
                      <a:r>
                        <a:rPr sz="800" b="0">
                          <a:solidFill>
                            <a:srgbClr val="2E2E2E"/>
                          </a:solidFill>
                          <a:latin typeface="Calibri"/>
                        </a:rPr>
                        <a:t>309.9</a:t>
                      </a:r>
                    </a:p>
                  </a:txBody>
                  <a:tcPr marL="85725" marR="38100" marT="19050" marB="19050" anchor="ctr">
                    <a:solidFill>
                      <a:srgbClr val="F5F8FA"/>
                    </a:solidFill>
                  </a:tcPr>
                </a:tc>
                <a:tc>
                  <a:txBody>
                    <a:bodyPr wrap="none"/>
                    <a:lstStyle/>
                    <a:p>
                      <a:pPr algn="l"/>
                      <a:r>
                        <a:rPr sz="800" b="0">
                          <a:solidFill>
                            <a:srgbClr val="2E2E2E"/>
                          </a:solidFill>
                          <a:latin typeface="Calibri"/>
                        </a:rPr>
                        <a:t>331.8</a:t>
                      </a:r>
                    </a:p>
                  </a:txBody>
                  <a:tcPr marL="85725" marR="38100" marT="19050" marB="19050" anchor="ctr">
                    <a:solidFill>
                      <a:srgbClr val="F5F8FA"/>
                    </a:solidFill>
                  </a:tcPr>
                </a:tc>
                <a:tc>
                  <a:txBody>
                    <a:bodyPr wrap="none"/>
                    <a:lstStyle/>
                    <a:p>
                      <a:pPr algn="l"/>
                      <a:r>
                        <a:rPr sz="800" b="0">
                          <a:solidFill>
                            <a:srgbClr val="2E2E2E"/>
                          </a:solidFill>
                          <a:latin typeface="Calibri"/>
                        </a:rPr>
                        <a:t>356.3</a:t>
                      </a:r>
                    </a:p>
                  </a:txBody>
                  <a:tcPr marL="85725" marR="38100" marT="19050" marB="19050" anchor="ctr">
                    <a:solidFill>
                      <a:srgbClr val="F5F8FA"/>
                    </a:solidFill>
                  </a:tcPr>
                </a:tc>
                <a:tc>
                  <a:txBody>
                    <a:bodyPr wrap="none"/>
                    <a:lstStyle/>
                    <a:p>
                      <a:pPr algn="l"/>
                      <a:r>
                        <a:rPr sz="800" b="0">
                          <a:solidFill>
                            <a:srgbClr val="2E2E2E"/>
                          </a:solidFill>
                          <a:latin typeface="Calibri"/>
                        </a:rPr>
                        <a:t>383.7</a:t>
                      </a:r>
                    </a:p>
                  </a:txBody>
                  <a:tcPr marL="85725" marR="38100" marT="19050" marB="19050" anchor="ctr">
                    <a:solidFill>
                      <a:srgbClr val="F5F8FA"/>
                    </a:solidFill>
                  </a:tcPr>
                </a:tc>
                <a:tc>
                  <a:txBody>
                    <a:bodyPr wrap="none"/>
                    <a:lstStyle/>
                    <a:p>
                      <a:pPr algn="l"/>
                      <a:r>
                        <a:rPr sz="800" b="0">
                          <a:solidFill>
                            <a:srgbClr val="2E2E2E"/>
                          </a:solidFill>
                          <a:latin typeface="Calibri"/>
                        </a:rPr>
                        <a:t>413.7</a:t>
                      </a:r>
                    </a:p>
                  </a:txBody>
                  <a:tcPr marL="85725" marR="38100" marT="19050" marB="19050" anchor="ctr">
                    <a:solidFill>
                      <a:srgbClr val="F5F8FA"/>
                    </a:solidFill>
                  </a:tcPr>
                </a:tc>
                <a:tc>
                  <a:txBody>
                    <a:bodyPr wrap="none"/>
                    <a:lstStyle/>
                    <a:p>
                      <a:pPr algn="l"/>
                      <a:r>
                        <a:rPr sz="800" b="0">
                          <a:solidFill>
                            <a:srgbClr val="2E2E2E"/>
                          </a:solidFill>
                          <a:latin typeface="Calibri"/>
                        </a:rPr>
                        <a:t>446.1</a:t>
                      </a:r>
                    </a:p>
                  </a:txBody>
                  <a:tcPr marL="85725" marR="38100" marT="19050" marB="19050" anchor="ctr">
                    <a:solidFill>
                      <a:srgbClr val="F5F8FA"/>
                    </a:solidFill>
                  </a:tcPr>
                </a:tc>
                <a:tc>
                  <a:txBody>
                    <a:bodyPr wrap="none"/>
                    <a:lstStyle/>
                    <a:p>
                      <a:pPr algn="l"/>
                      <a:r>
                        <a:rPr sz="800" b="0">
                          <a:solidFill>
                            <a:srgbClr val="2E2E2E"/>
                          </a:solidFill>
                          <a:latin typeface="Calibri"/>
                        </a:rPr>
                        <a:t>480.2</a:t>
                      </a:r>
                    </a:p>
                  </a:txBody>
                  <a:tcPr marL="85725" marR="38100" marT="19050" marB="19050" anchor="ctr">
                    <a:solidFill>
                      <a:srgbClr val="F5F8FA"/>
                    </a:solidFill>
                  </a:tcPr>
                </a:tc>
                <a:tc>
                  <a:txBody>
                    <a:bodyPr wrap="none"/>
                    <a:lstStyle/>
                    <a:p>
                      <a:pPr algn="l"/>
                      <a:r>
                        <a:rPr sz="800" b="0">
                          <a:solidFill>
                            <a:srgbClr val="2E2E2E"/>
                          </a:solidFill>
                          <a:latin typeface="Calibri"/>
                        </a:rPr>
                        <a:t>515.9</a:t>
                      </a:r>
                    </a:p>
                  </a:txBody>
                  <a:tcPr marL="85725" marR="38100" marT="19050" marB="19050" anchor="ctr">
                    <a:solidFill>
                      <a:srgbClr val="F5F8FA"/>
                    </a:solidFill>
                  </a:tcPr>
                </a:tc>
                <a:tc>
                  <a:txBody>
                    <a:bodyPr wrap="none"/>
                    <a:lstStyle/>
                    <a:p>
                      <a:pPr algn="l"/>
                      <a:r>
                        <a:rPr sz="800" b="0">
                          <a:solidFill>
                            <a:srgbClr val="2E2E2E"/>
                          </a:solidFill>
                          <a:latin typeface="Calibri"/>
                        </a:rPr>
                        <a:t>553.5</a:t>
                      </a:r>
                    </a:p>
                  </a:txBody>
                  <a:tcPr marL="85725" marR="38100" marT="19050" marB="19050" anchor="ctr">
                    <a:solidFill>
                      <a:srgbClr val="F5F8FA"/>
                    </a:solidFill>
                  </a:tcPr>
                </a:tc>
                <a:tc>
                  <a:txBody>
                    <a:bodyPr wrap="none"/>
                    <a:lstStyle/>
                    <a:p>
                      <a:pPr algn="l"/>
                      <a:r>
                        <a:rPr sz="800" b="0">
                          <a:solidFill>
                            <a:srgbClr val="2E2E2E"/>
                          </a:solidFill>
                          <a:latin typeface="Calibri"/>
                        </a:rPr>
                        <a:t>592.6</a:t>
                      </a:r>
                    </a:p>
                  </a:txBody>
                  <a:tcPr marL="85725" marR="38100" marT="19050" marB="19050" anchor="ctr">
                    <a:solidFill>
                      <a:srgbClr val="F5F8FA"/>
                    </a:solidFill>
                  </a:tcPr>
                </a:tc>
                <a:tc>
                  <a:txBody>
                    <a:bodyPr wrap="none"/>
                    <a:lstStyle/>
                    <a:p>
                      <a:pPr algn="l"/>
                      <a:r>
                        <a:rPr sz="800" b="0">
                          <a:solidFill>
                            <a:srgbClr val="2E2E2E"/>
                          </a:solidFill>
                          <a:latin typeface="Calibri"/>
                        </a:rPr>
                        <a:t>634.6</a:t>
                      </a:r>
                    </a:p>
                  </a:txBody>
                  <a:tcPr marL="85725" marR="38100" marT="19050" marB="19050" anchor="ctr">
                    <a:solidFill>
                      <a:srgbClr val="F5F8FA"/>
                    </a:solidFill>
                  </a:tcPr>
                </a:tc>
                <a:tc>
                  <a:txBody>
                    <a:bodyPr wrap="none"/>
                    <a:lstStyle/>
                    <a:p>
                      <a:pPr algn="l"/>
                      <a:r>
                        <a:rPr sz="800" b="0">
                          <a:solidFill>
                            <a:srgbClr val="2E2E2E"/>
                          </a:solidFill>
                          <a:latin typeface="Calibri"/>
                        </a:rPr>
                        <a:t>678.5</a:t>
                      </a:r>
                    </a:p>
                  </a:txBody>
                  <a:tcPr marL="85725" marR="38100" marT="19050" marB="19050" anchor="ctr">
                    <a:solidFill>
                      <a:srgbClr val="F5F8FA"/>
                    </a:solidFill>
                  </a:tcPr>
                </a:tc>
                <a:tc>
                  <a:txBody>
                    <a:bodyPr wrap="none"/>
                    <a:lstStyle/>
                    <a:p>
                      <a:pPr algn="l"/>
                      <a:r>
                        <a:rPr sz="800" b="0">
                          <a:solidFill>
                            <a:srgbClr val="2E2E2E"/>
                          </a:solidFill>
                          <a:latin typeface="Calibri"/>
                        </a:rPr>
                        <a:t>725.2</a:t>
                      </a:r>
                    </a:p>
                  </a:txBody>
                  <a:tcPr marL="85725" marR="38100" marT="19050" marB="19050" anchor="ctr">
                    <a:solidFill>
                      <a:srgbClr val="F5F8FA"/>
                    </a:solidFill>
                  </a:tcPr>
                </a:tc>
                <a:tc>
                  <a:txBody>
                    <a:bodyPr wrap="none"/>
                    <a:lstStyle/>
                    <a:p>
                      <a:pPr algn="l"/>
                      <a:r>
                        <a:rPr sz="800" b="0">
                          <a:solidFill>
                            <a:srgbClr val="2E2E2E"/>
                          </a:solidFill>
                          <a:latin typeface="Calibri"/>
                        </a:rPr>
                        <a:t>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0">
                          <a:solidFill>
                            <a:srgbClr val="2E2E2E"/>
                          </a:solidFill>
                          <a:latin typeface="Calibri"/>
                        </a:rPr>
                        <a:t>314.2</a:t>
                      </a:r>
                    </a:p>
                  </a:txBody>
                  <a:tcPr marL="85725" marR="38100" marT="19050" marB="19050" anchor="ctr">
                    <a:solidFill>
                      <a:srgbClr val="FFFFFF"/>
                    </a:solidFill>
                  </a:tcPr>
                </a:tc>
                <a:tc>
                  <a:txBody>
                    <a:bodyPr wrap="none"/>
                    <a:lstStyle/>
                    <a:p>
                      <a:pPr algn="l"/>
                      <a:r>
                        <a:rPr sz="800" b="0">
                          <a:solidFill>
                            <a:srgbClr val="2E2E2E"/>
                          </a:solidFill>
                          <a:latin typeface="Calibri"/>
                        </a:rPr>
                        <a:t>319.2</a:t>
                      </a:r>
                    </a:p>
                  </a:txBody>
                  <a:tcPr marL="85725" marR="38100" marT="19050" marB="19050" anchor="ctr">
                    <a:solidFill>
                      <a:srgbClr val="FFFFFF"/>
                    </a:solidFill>
                  </a:tcPr>
                </a:tc>
                <a:tc>
                  <a:txBody>
                    <a:bodyPr wrap="none"/>
                    <a:lstStyle/>
                    <a:p>
                      <a:pPr algn="l"/>
                      <a:r>
                        <a:rPr sz="800" b="0">
                          <a:solidFill>
                            <a:srgbClr val="2E2E2E"/>
                          </a:solidFill>
                          <a:latin typeface="Calibri"/>
                        </a:rPr>
                        <a:t>324.6</a:t>
                      </a:r>
                    </a:p>
                  </a:txBody>
                  <a:tcPr marL="85725" marR="38100" marT="19050" marB="19050" anchor="ctr">
                    <a:solidFill>
                      <a:srgbClr val="FFFFFF"/>
                    </a:solidFill>
                  </a:tcPr>
                </a:tc>
                <a:tc>
                  <a:txBody>
                    <a:bodyPr wrap="none"/>
                    <a:lstStyle/>
                    <a:p>
                      <a:pPr algn="l"/>
                      <a:r>
                        <a:rPr sz="800" b="0">
                          <a:solidFill>
                            <a:srgbClr val="2E2E2E"/>
                          </a:solidFill>
                          <a:latin typeface="Calibri"/>
                        </a:rPr>
                        <a:t>330.6</a:t>
                      </a:r>
                    </a:p>
                  </a:txBody>
                  <a:tcPr marL="85725" marR="38100" marT="19050" marB="19050" anchor="ctr">
                    <a:solidFill>
                      <a:srgbClr val="FFFFFF"/>
                    </a:solidFill>
                  </a:tcPr>
                </a:tc>
                <a:tc>
                  <a:txBody>
                    <a:bodyPr wrap="none"/>
                    <a:lstStyle/>
                    <a:p>
                      <a:pPr algn="l"/>
                      <a:r>
                        <a:rPr sz="800" b="0">
                          <a:solidFill>
                            <a:srgbClr val="2E2E2E"/>
                          </a:solidFill>
                          <a:latin typeface="Calibri"/>
                        </a:rPr>
                        <a:t>337.8</a:t>
                      </a:r>
                    </a:p>
                  </a:txBody>
                  <a:tcPr marL="85725" marR="38100" marT="19050" marB="19050" anchor="ctr">
                    <a:solidFill>
                      <a:srgbClr val="FFFFFF"/>
                    </a:solidFill>
                  </a:tcPr>
                </a:tc>
                <a:tc>
                  <a:txBody>
                    <a:bodyPr wrap="none"/>
                    <a:lstStyle/>
                    <a:p>
                      <a:pPr algn="l"/>
                      <a:r>
                        <a:rPr sz="800" b="0">
                          <a:solidFill>
                            <a:srgbClr val="2E2E2E"/>
                          </a:solidFill>
                          <a:latin typeface="Calibri"/>
                        </a:rPr>
                        <a:t>349.1</a:t>
                      </a:r>
                    </a:p>
                  </a:txBody>
                  <a:tcPr marL="85725" marR="38100" marT="19050" marB="19050" anchor="ctr">
                    <a:solidFill>
                      <a:srgbClr val="FFFFFF"/>
                    </a:solidFill>
                  </a:tcPr>
                </a:tc>
                <a:tc>
                  <a:txBody>
                    <a:bodyPr wrap="none"/>
                    <a:lstStyle/>
                    <a:p>
                      <a:pPr algn="l"/>
                      <a:r>
                        <a:rPr sz="800" b="0">
                          <a:solidFill>
                            <a:srgbClr val="2E2E2E"/>
                          </a:solidFill>
                          <a:latin typeface="Calibri"/>
                        </a:rPr>
                        <a:t>361.6</a:t>
                      </a:r>
                    </a:p>
                  </a:txBody>
                  <a:tcPr marL="85725" marR="38100" marT="19050" marB="19050" anchor="ctr">
                    <a:solidFill>
                      <a:srgbClr val="FFFFFF"/>
                    </a:solidFill>
                  </a:tcPr>
                </a:tc>
                <a:tc>
                  <a:txBody>
                    <a:bodyPr wrap="none"/>
                    <a:lstStyle/>
                    <a:p>
                      <a:pPr algn="l"/>
                      <a:r>
                        <a:rPr sz="800" b="0">
                          <a:solidFill>
                            <a:srgbClr val="2E2E2E"/>
                          </a:solidFill>
                          <a:latin typeface="Calibri"/>
                        </a:rPr>
                        <a:t>374.8</a:t>
                      </a:r>
                    </a:p>
                  </a:txBody>
                  <a:tcPr marL="85725" marR="38100" marT="19050" marB="19050" anchor="ctr">
                    <a:solidFill>
                      <a:srgbClr val="FFFFFF"/>
                    </a:solidFill>
                  </a:tcPr>
                </a:tc>
                <a:tc>
                  <a:txBody>
                    <a:bodyPr wrap="none"/>
                    <a:lstStyle/>
                    <a:p>
                      <a:pPr algn="l"/>
                      <a:r>
                        <a:rPr sz="800" b="0">
                          <a:solidFill>
                            <a:srgbClr val="2E2E2E"/>
                          </a:solidFill>
                          <a:latin typeface="Calibri"/>
                        </a:rPr>
                        <a:t>388.5</a:t>
                      </a:r>
                    </a:p>
                  </a:txBody>
                  <a:tcPr marL="85725" marR="38100" marT="19050" marB="19050" anchor="ctr">
                    <a:solidFill>
                      <a:srgbClr val="FFFFFF"/>
                    </a:solidFill>
                  </a:tcPr>
                </a:tc>
                <a:tc>
                  <a:txBody>
                    <a:bodyPr wrap="none"/>
                    <a:lstStyle/>
                    <a:p>
                      <a:pPr algn="l"/>
                      <a:r>
                        <a:rPr sz="800" b="0">
                          <a:solidFill>
                            <a:srgbClr val="2E2E2E"/>
                          </a:solidFill>
                          <a:latin typeface="Calibri"/>
                        </a:rPr>
                        <a:t>401.8</a:t>
                      </a:r>
                    </a:p>
                  </a:txBody>
                  <a:tcPr marL="85725" marR="38100" marT="19050" marB="19050" anchor="ctr">
                    <a:solidFill>
                      <a:srgbClr val="FFFFFF"/>
                    </a:solidFill>
                  </a:tcPr>
                </a:tc>
                <a:tc>
                  <a:txBody>
                    <a:bodyPr wrap="none"/>
                    <a:lstStyle/>
                    <a:p>
                      <a:pPr algn="l"/>
                      <a:r>
                        <a:rPr sz="800" b="0">
                          <a:solidFill>
                            <a:srgbClr val="2E2E2E"/>
                          </a:solidFill>
                          <a:latin typeface="Calibri"/>
                        </a:rPr>
                        <a:t>414.8</a:t>
                      </a:r>
                    </a:p>
                  </a:txBody>
                  <a:tcPr marL="85725" marR="38100" marT="19050" marB="19050" anchor="ctr">
                    <a:solidFill>
                      <a:srgbClr val="FFFFFF"/>
                    </a:solidFill>
                  </a:tcPr>
                </a:tc>
                <a:tc>
                  <a:txBody>
                    <a:bodyPr wrap="none"/>
                    <a:lstStyle/>
                    <a:p>
                      <a:pPr algn="l"/>
                      <a:r>
                        <a:rPr sz="800" b="0">
                          <a:solidFill>
                            <a:srgbClr val="2E2E2E"/>
                          </a:solidFill>
                          <a:latin typeface="Calibri"/>
                        </a:rPr>
                        <a:t>427.4</a:t>
                      </a:r>
                    </a:p>
                  </a:txBody>
                  <a:tcPr marL="85725" marR="38100" marT="19050" marB="19050" anchor="ctr">
                    <a:solidFill>
                      <a:srgbClr val="FFFFFF"/>
                    </a:solidFill>
                  </a:tcPr>
                </a:tc>
                <a:tc>
                  <a:txBody>
                    <a:bodyPr wrap="none"/>
                    <a:lstStyle/>
                    <a:p>
                      <a:pPr algn="l"/>
                      <a:r>
                        <a:rPr sz="800" b="0">
                          <a:solidFill>
                            <a:srgbClr val="2E2E2E"/>
                          </a:solidFill>
                          <a:latin typeface="Calibri"/>
                        </a:rPr>
                        <a:t>439.4</a:t>
                      </a:r>
                    </a:p>
                  </a:txBody>
                  <a:tcPr marL="85725" marR="38100" marT="19050" marB="19050" anchor="ctr">
                    <a:solidFill>
                      <a:srgbClr val="FFFFFF"/>
                    </a:solidFill>
                  </a:tcPr>
                </a:tc>
                <a:tc>
                  <a:txBody>
                    <a:bodyPr wrap="none"/>
                    <a:lstStyle/>
                    <a:p>
                      <a:pPr algn="l"/>
                      <a:r>
                        <a:rPr sz="800" b="0">
                          <a:solidFill>
                            <a:srgbClr val="2E2E2E"/>
                          </a:solidFill>
                          <a:latin typeface="Calibri"/>
                        </a:rPr>
                        <a:t>451.8</a:t>
                      </a:r>
                    </a:p>
                  </a:txBody>
                  <a:tcPr marL="85725" marR="38100" marT="19050" marB="19050" anchor="ctr">
                    <a:solidFill>
                      <a:srgbClr val="FFFFFF"/>
                    </a:solidFill>
                  </a:tcPr>
                </a:tc>
                <a:tc>
                  <a:txBody>
                    <a:bodyPr wrap="none"/>
                    <a:lstStyle/>
                    <a:p>
                      <a:pPr algn="l"/>
                      <a:r>
                        <a:rPr sz="800" b="0">
                          <a:solidFill>
                            <a:srgbClr val="2E2E2E"/>
                          </a:solidFill>
                          <a:latin typeface="Calibri"/>
                        </a:rPr>
                        <a:t>463.7</a:t>
                      </a:r>
                    </a:p>
                  </a:txBody>
                  <a:tcPr marL="85725" marR="38100" marT="19050" marB="19050" anchor="ctr">
                    <a:solidFill>
                      <a:srgbClr val="FFFFFF"/>
                    </a:solidFill>
                  </a:tcPr>
                </a:tc>
                <a:tc>
                  <a:txBody>
                    <a:bodyPr wrap="none"/>
                    <a:lstStyle/>
                    <a:p>
                      <a:pPr algn="l"/>
                      <a:r>
                        <a:rPr sz="800" b="0">
                          <a:solidFill>
                            <a:srgbClr val="2E2E2E"/>
                          </a:solidFill>
                          <a:latin typeface="Calibri"/>
                        </a:rPr>
                        <a:t>475.8</a:t>
                      </a:r>
                    </a:p>
                  </a:txBody>
                  <a:tcPr marL="85725" marR="38100" marT="19050" marB="19050" anchor="ctr">
                    <a:solidFill>
                      <a:srgbClr val="FFFFFF"/>
                    </a:solidFill>
                  </a:tcPr>
                </a:tc>
                <a:tc>
                  <a:txBody>
                    <a:bodyPr wrap="none"/>
                    <a:lstStyle/>
                    <a:p>
                      <a:pPr algn="l"/>
                      <a:r>
                        <a:rPr sz="800" b="0">
                          <a:solidFill>
                            <a:srgbClr val="2E2E2E"/>
                          </a:solidFill>
                          <a:latin typeface="Calibri"/>
                        </a:rPr>
                        <a:t>3.1%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0">
                          <a:solidFill>
                            <a:srgbClr val="2E2E2E"/>
                          </a:solidFill>
                          <a:latin typeface="Calibri"/>
                        </a:rPr>
                        <a:t>319.5</a:t>
                      </a:r>
                    </a:p>
                  </a:txBody>
                  <a:tcPr marL="85725" marR="38100" marT="19050" marB="19050" anchor="ctr">
                    <a:solidFill>
                      <a:srgbClr val="F5F8FA"/>
                    </a:solidFill>
                  </a:tcPr>
                </a:tc>
                <a:tc>
                  <a:txBody>
                    <a:bodyPr wrap="none"/>
                    <a:lstStyle/>
                    <a:p>
                      <a:pPr algn="l"/>
                      <a:r>
                        <a:rPr sz="800" b="0">
                          <a:solidFill>
                            <a:srgbClr val="2E2E2E"/>
                          </a:solidFill>
                          <a:latin typeface="Calibri"/>
                        </a:rPr>
                        <a:t>336.2</a:t>
                      </a:r>
                    </a:p>
                  </a:txBody>
                  <a:tcPr marL="85725" marR="38100" marT="19050" marB="19050" anchor="ctr">
                    <a:solidFill>
                      <a:srgbClr val="F5F8FA"/>
                    </a:solidFill>
                  </a:tcPr>
                </a:tc>
                <a:tc>
                  <a:txBody>
                    <a:bodyPr wrap="none"/>
                    <a:lstStyle/>
                    <a:p>
                      <a:pPr algn="l"/>
                      <a:r>
                        <a:rPr sz="800" b="0">
                          <a:solidFill>
                            <a:srgbClr val="2E2E2E"/>
                          </a:solidFill>
                          <a:latin typeface="Calibri"/>
                        </a:rPr>
                        <a:t>354.7</a:t>
                      </a:r>
                    </a:p>
                  </a:txBody>
                  <a:tcPr marL="85725" marR="38100" marT="19050" marB="19050" anchor="ctr">
                    <a:solidFill>
                      <a:srgbClr val="F5F8FA"/>
                    </a:solidFill>
                  </a:tcPr>
                </a:tc>
                <a:tc>
                  <a:txBody>
                    <a:bodyPr wrap="none"/>
                    <a:lstStyle/>
                    <a:p>
                      <a:pPr algn="l"/>
                      <a:r>
                        <a:rPr sz="800" b="0">
                          <a:solidFill>
                            <a:srgbClr val="2E2E2E"/>
                          </a:solidFill>
                          <a:latin typeface="Calibri"/>
                        </a:rPr>
                        <a:t>375.3</a:t>
                      </a:r>
                    </a:p>
                  </a:txBody>
                  <a:tcPr marL="85725" marR="38100" marT="19050" marB="19050" anchor="ctr">
                    <a:solidFill>
                      <a:srgbClr val="F5F8FA"/>
                    </a:solidFill>
                  </a:tcPr>
                </a:tc>
                <a:tc>
                  <a:txBody>
                    <a:bodyPr wrap="none"/>
                    <a:lstStyle/>
                    <a:p>
                      <a:pPr algn="l"/>
                      <a:r>
                        <a:rPr sz="800" b="0">
                          <a:solidFill>
                            <a:srgbClr val="2E2E2E"/>
                          </a:solidFill>
                          <a:latin typeface="Calibri"/>
                        </a:rPr>
                        <a:t>398.6</a:t>
                      </a:r>
                    </a:p>
                  </a:txBody>
                  <a:tcPr marL="85725" marR="38100" marT="19050" marB="19050" anchor="ctr">
                    <a:solidFill>
                      <a:srgbClr val="F5F8FA"/>
                    </a:solidFill>
                  </a:tcPr>
                </a:tc>
                <a:tc>
                  <a:txBody>
                    <a:bodyPr wrap="none"/>
                    <a:lstStyle/>
                    <a:p>
                      <a:pPr algn="l"/>
                      <a:r>
                        <a:rPr sz="800" b="0">
                          <a:solidFill>
                            <a:srgbClr val="2E2E2E"/>
                          </a:solidFill>
                          <a:latin typeface="Calibri"/>
                        </a:rPr>
                        <a:t>423.8</a:t>
                      </a:r>
                    </a:p>
                  </a:txBody>
                  <a:tcPr marL="85725" marR="38100" marT="19050" marB="19050" anchor="ctr">
                    <a:solidFill>
                      <a:srgbClr val="F5F8FA"/>
                    </a:solidFill>
                  </a:tcPr>
                </a:tc>
                <a:tc>
                  <a:txBody>
                    <a:bodyPr wrap="none"/>
                    <a:lstStyle/>
                    <a:p>
                      <a:pPr algn="l"/>
                      <a:r>
                        <a:rPr sz="800" b="0">
                          <a:solidFill>
                            <a:srgbClr val="2E2E2E"/>
                          </a:solidFill>
                          <a:latin typeface="Calibri"/>
                        </a:rPr>
                        <a:t>451.8</a:t>
                      </a:r>
                    </a:p>
                  </a:txBody>
                  <a:tcPr marL="85725" marR="38100" marT="19050" marB="19050" anchor="ctr">
                    <a:solidFill>
                      <a:srgbClr val="F5F8FA"/>
                    </a:solidFill>
                  </a:tcPr>
                </a:tc>
                <a:tc>
                  <a:txBody>
                    <a:bodyPr wrap="none"/>
                    <a:lstStyle/>
                    <a:p>
                      <a:pPr algn="l"/>
                      <a:r>
                        <a:rPr sz="800" b="0">
                          <a:solidFill>
                            <a:srgbClr val="2E2E2E"/>
                          </a:solidFill>
                          <a:latin typeface="Calibri"/>
                        </a:rPr>
                        <a:t>482.4</a:t>
                      </a:r>
                    </a:p>
                  </a:txBody>
                  <a:tcPr marL="85725" marR="38100" marT="19050" marB="19050" anchor="ctr">
                    <a:solidFill>
                      <a:srgbClr val="F5F8FA"/>
                    </a:solidFill>
                  </a:tcPr>
                </a:tc>
                <a:tc>
                  <a:txBody>
                    <a:bodyPr wrap="none"/>
                    <a:lstStyle/>
                    <a:p>
                      <a:pPr algn="l"/>
                      <a:r>
                        <a:rPr sz="800" b="0">
                          <a:solidFill>
                            <a:srgbClr val="2E2E2E"/>
                          </a:solidFill>
                          <a:latin typeface="Calibri"/>
                        </a:rPr>
                        <a:t>515.3</a:t>
                      </a:r>
                    </a:p>
                  </a:txBody>
                  <a:tcPr marL="85725" marR="38100" marT="19050" marB="19050" anchor="ctr">
                    <a:solidFill>
                      <a:srgbClr val="F5F8FA"/>
                    </a:solidFill>
                  </a:tcPr>
                </a:tc>
                <a:tc>
                  <a:txBody>
                    <a:bodyPr wrap="none"/>
                    <a:lstStyle/>
                    <a:p>
                      <a:pPr algn="l"/>
                      <a:r>
                        <a:rPr sz="800" b="0">
                          <a:solidFill>
                            <a:srgbClr val="2E2E2E"/>
                          </a:solidFill>
                          <a:latin typeface="Calibri"/>
                        </a:rPr>
                        <a:t>549.7</a:t>
                      </a:r>
                    </a:p>
                  </a:txBody>
                  <a:tcPr marL="85725" marR="38100" marT="19050" marB="19050" anchor="ctr">
                    <a:solidFill>
                      <a:srgbClr val="F5F8FA"/>
                    </a:solidFill>
                  </a:tcPr>
                </a:tc>
                <a:tc>
                  <a:txBody>
                    <a:bodyPr wrap="none"/>
                    <a:lstStyle/>
                    <a:p>
                      <a:pPr algn="l"/>
                      <a:r>
                        <a:rPr sz="800" b="0">
                          <a:solidFill>
                            <a:srgbClr val="2E2E2E"/>
                          </a:solidFill>
                          <a:latin typeface="Calibri"/>
                        </a:rPr>
                        <a:t>585.5</a:t>
                      </a:r>
                    </a:p>
                  </a:txBody>
                  <a:tcPr marL="85725" marR="38100" marT="19050" marB="19050" anchor="ctr">
                    <a:solidFill>
                      <a:srgbClr val="F5F8FA"/>
                    </a:solidFill>
                  </a:tcPr>
                </a:tc>
                <a:tc>
                  <a:txBody>
                    <a:bodyPr wrap="none"/>
                    <a:lstStyle/>
                    <a:p>
                      <a:pPr algn="l"/>
                      <a:r>
                        <a:rPr sz="800" b="0">
                          <a:solidFill>
                            <a:srgbClr val="2E2E2E"/>
                          </a:solidFill>
                          <a:latin typeface="Calibri"/>
                        </a:rPr>
                        <a:t>622.9</a:t>
                      </a:r>
                    </a:p>
                  </a:txBody>
                  <a:tcPr marL="85725" marR="38100" marT="19050" marB="19050" anchor="ctr">
                    <a:solidFill>
                      <a:srgbClr val="F5F8FA"/>
                    </a:solidFill>
                  </a:tcPr>
                </a:tc>
                <a:tc>
                  <a:txBody>
                    <a:bodyPr wrap="none"/>
                    <a:lstStyle/>
                    <a:p>
                      <a:pPr algn="l"/>
                      <a:r>
                        <a:rPr sz="800" b="0">
                          <a:solidFill>
                            <a:srgbClr val="2E2E2E"/>
                          </a:solidFill>
                          <a:latin typeface="Calibri"/>
                        </a:rPr>
                        <a:t>661.6</a:t>
                      </a:r>
                    </a:p>
                  </a:txBody>
                  <a:tcPr marL="85725" marR="38100" marT="19050" marB="19050" anchor="ctr">
                    <a:solidFill>
                      <a:srgbClr val="F5F8FA"/>
                    </a:solidFill>
                  </a:tcPr>
                </a:tc>
                <a:tc>
                  <a:txBody>
                    <a:bodyPr wrap="none"/>
                    <a:lstStyle/>
                    <a:p>
                      <a:pPr algn="l"/>
                      <a:r>
                        <a:rPr sz="800" b="0">
                          <a:solidFill>
                            <a:srgbClr val="2E2E2E"/>
                          </a:solidFill>
                          <a:latin typeface="Calibri"/>
                        </a:rPr>
                        <a:t>703.1</a:t>
                      </a:r>
                    </a:p>
                  </a:txBody>
                  <a:tcPr marL="85725" marR="38100" marT="19050" marB="19050" anchor="ctr">
                    <a:solidFill>
                      <a:srgbClr val="F5F8FA"/>
                    </a:solidFill>
                  </a:tcPr>
                </a:tc>
                <a:tc>
                  <a:txBody>
                    <a:bodyPr wrap="none"/>
                    <a:lstStyle/>
                    <a:p>
                      <a:pPr algn="l"/>
                      <a:r>
                        <a:rPr sz="800" b="0">
                          <a:solidFill>
                            <a:srgbClr val="2E2E2E"/>
                          </a:solidFill>
                          <a:latin typeface="Calibri"/>
                        </a:rPr>
                        <a:t>746.3</a:t>
                      </a:r>
                    </a:p>
                  </a:txBody>
                  <a:tcPr marL="85725" marR="38100" marT="19050" marB="19050" anchor="ctr">
                    <a:solidFill>
                      <a:srgbClr val="F5F8FA"/>
                    </a:solidFill>
                  </a:tcPr>
                </a:tc>
                <a:tc>
                  <a:txBody>
                    <a:bodyPr wrap="none"/>
                    <a:lstStyle/>
                    <a:p>
                      <a:pPr algn="l"/>
                      <a:r>
                        <a:rPr sz="800" b="0">
                          <a:solidFill>
                            <a:srgbClr val="2E2E2E"/>
                          </a:solidFill>
                          <a:latin typeface="Calibri"/>
                        </a:rPr>
                        <a:t>792.2</a:t>
                      </a:r>
                    </a:p>
                  </a:txBody>
                  <a:tcPr marL="85725" marR="38100" marT="19050" marB="19050" anchor="ctr">
                    <a:solidFill>
                      <a:srgbClr val="F5F8FA"/>
                    </a:solidFill>
                  </a:tcPr>
                </a:tc>
                <a:tc>
                  <a:txBody>
                    <a:bodyPr wrap="none"/>
                    <a:lstStyle/>
                    <a:p>
                      <a:pPr algn="l"/>
                      <a:r>
                        <a:rPr sz="800" b="0">
                          <a:solidFill>
                            <a:srgbClr val="2E2E2E"/>
                          </a:solidFill>
                          <a:latin typeface="Calibri"/>
                        </a:rPr>
                        <a:t>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0">
                          <a:solidFill>
                            <a:srgbClr val="2E2E2E"/>
                          </a:solidFill>
                          <a:latin typeface="Calibri"/>
                        </a:rPr>
                        <a:t>98.6</a:t>
                      </a:r>
                    </a:p>
                  </a:txBody>
                  <a:tcPr marL="85725" marR="38100" marT="19050" marB="19050" anchor="ctr">
                    <a:solidFill>
                      <a:srgbClr val="FFFFFF"/>
                    </a:solidFill>
                  </a:tcPr>
                </a:tc>
                <a:tc>
                  <a:txBody>
                    <a:bodyPr wrap="none"/>
                    <a:lstStyle/>
                    <a:p>
                      <a:pPr algn="l"/>
                      <a:r>
                        <a:rPr sz="800" b="0">
                          <a:solidFill>
                            <a:srgbClr val="2E2E2E"/>
                          </a:solidFill>
                          <a:latin typeface="Calibri"/>
                        </a:rPr>
                        <a:t>110.9</a:t>
                      </a:r>
                    </a:p>
                  </a:txBody>
                  <a:tcPr marL="85725" marR="38100" marT="19050" marB="19050" anchor="ctr">
                    <a:solidFill>
                      <a:srgbClr val="FFFFFF"/>
                    </a:solidFill>
                  </a:tcPr>
                </a:tc>
                <a:tc>
                  <a:txBody>
                    <a:bodyPr wrap="none"/>
                    <a:lstStyle/>
                    <a:p>
                      <a:pPr algn="l"/>
                      <a:r>
                        <a:rPr sz="800" b="0">
                          <a:solidFill>
                            <a:srgbClr val="2E2E2E"/>
                          </a:solidFill>
                          <a:latin typeface="Calibri"/>
                        </a:rPr>
                        <a:t>124.9</a:t>
                      </a:r>
                    </a:p>
                  </a:txBody>
                  <a:tcPr marL="85725" marR="38100" marT="19050" marB="19050" anchor="ctr">
                    <a:solidFill>
                      <a:srgbClr val="FFFFFF"/>
                    </a:solidFill>
                  </a:tcPr>
                </a:tc>
                <a:tc>
                  <a:txBody>
                    <a:bodyPr wrap="none"/>
                    <a:lstStyle/>
                    <a:p>
                      <a:pPr algn="l"/>
                      <a:r>
                        <a:rPr sz="800" b="0">
                          <a:solidFill>
                            <a:srgbClr val="2E2E2E"/>
                          </a:solidFill>
                          <a:latin typeface="Calibri"/>
                        </a:rPr>
                        <a:t>141.2</a:t>
                      </a:r>
                    </a:p>
                  </a:txBody>
                  <a:tcPr marL="85725" marR="38100" marT="19050" marB="19050" anchor="ctr">
                    <a:solidFill>
                      <a:srgbClr val="FFFFFF"/>
                    </a:solidFill>
                  </a:tcPr>
                </a:tc>
                <a:tc>
                  <a:txBody>
                    <a:bodyPr wrap="none"/>
                    <a:lstStyle/>
                    <a:p>
                      <a:pPr algn="l"/>
                      <a:r>
                        <a:rPr sz="800" b="0">
                          <a:solidFill>
                            <a:srgbClr val="2E2E2E"/>
                          </a:solidFill>
                          <a:latin typeface="Calibri"/>
                        </a:rPr>
                        <a:t>160.2</a:t>
                      </a:r>
                    </a:p>
                  </a:txBody>
                  <a:tcPr marL="85725" marR="38100" marT="19050" marB="19050" anchor="ctr">
                    <a:solidFill>
                      <a:srgbClr val="FFFFFF"/>
                    </a:solidFill>
                  </a:tcPr>
                </a:tc>
                <a:tc>
                  <a:txBody>
                    <a:bodyPr wrap="none"/>
                    <a:lstStyle/>
                    <a:p>
                      <a:pPr algn="l"/>
                      <a:r>
                        <a:rPr sz="800" b="0">
                          <a:solidFill>
                            <a:srgbClr val="2E2E2E"/>
                          </a:solidFill>
                          <a:latin typeface="Calibri"/>
                        </a:rPr>
                        <a:t>182.4</a:t>
                      </a:r>
                    </a:p>
                  </a:txBody>
                  <a:tcPr marL="85725" marR="38100" marT="19050" marB="19050" anchor="ctr">
                    <a:solidFill>
                      <a:srgbClr val="FFFFFF"/>
                    </a:solidFill>
                  </a:tcPr>
                </a:tc>
                <a:tc>
                  <a:txBody>
                    <a:bodyPr wrap="none"/>
                    <a:lstStyle/>
                    <a:p>
                      <a:pPr algn="l"/>
                      <a:r>
                        <a:rPr sz="800" b="0">
                          <a:solidFill>
                            <a:srgbClr val="2E2E2E"/>
                          </a:solidFill>
                          <a:latin typeface="Calibri"/>
                        </a:rPr>
                        <a:t>208.3</a:t>
                      </a:r>
                    </a:p>
                  </a:txBody>
                  <a:tcPr marL="85725" marR="38100" marT="19050" marB="19050" anchor="ctr">
                    <a:solidFill>
                      <a:srgbClr val="FFFFFF"/>
                    </a:solidFill>
                  </a:tcPr>
                </a:tc>
                <a:tc>
                  <a:txBody>
                    <a:bodyPr wrap="none"/>
                    <a:lstStyle/>
                    <a:p>
                      <a:pPr algn="l"/>
                      <a:r>
                        <a:rPr sz="800" b="0">
                          <a:solidFill>
                            <a:srgbClr val="2E2E2E"/>
                          </a:solidFill>
                          <a:latin typeface="Calibri"/>
                        </a:rPr>
                        <a:t>238.2</a:t>
                      </a:r>
                    </a:p>
                  </a:txBody>
                  <a:tcPr marL="85725" marR="38100" marT="19050" marB="19050" anchor="ctr">
                    <a:solidFill>
                      <a:srgbClr val="FFFFFF"/>
                    </a:solidFill>
                  </a:tcPr>
                </a:tc>
                <a:tc>
                  <a:txBody>
                    <a:bodyPr wrap="none"/>
                    <a:lstStyle/>
                    <a:p>
                      <a:pPr algn="l"/>
                      <a:r>
                        <a:rPr sz="800" b="0">
                          <a:solidFill>
                            <a:srgbClr val="2E2E2E"/>
                          </a:solidFill>
                          <a:latin typeface="Calibri"/>
                        </a:rPr>
                        <a:t>272.4</a:t>
                      </a:r>
                    </a:p>
                  </a:txBody>
                  <a:tcPr marL="85725" marR="38100" marT="19050" marB="19050" anchor="ctr">
                    <a:solidFill>
                      <a:srgbClr val="FFFFFF"/>
                    </a:solidFill>
                  </a:tcPr>
                </a:tc>
                <a:tc>
                  <a:txBody>
                    <a:bodyPr wrap="none"/>
                    <a:lstStyle/>
                    <a:p>
                      <a:pPr algn="l"/>
                      <a:r>
                        <a:rPr sz="800" b="0">
                          <a:solidFill>
                            <a:srgbClr val="2E2E2E"/>
                          </a:solidFill>
                          <a:latin typeface="Calibri"/>
                        </a:rPr>
                        <a:t>310.9</a:t>
                      </a:r>
                    </a:p>
                  </a:txBody>
                  <a:tcPr marL="85725" marR="38100" marT="19050" marB="19050" anchor="ctr">
                    <a:solidFill>
                      <a:srgbClr val="FFFFFF"/>
                    </a:solidFill>
                  </a:tcPr>
                </a:tc>
                <a:tc>
                  <a:txBody>
                    <a:bodyPr wrap="none"/>
                    <a:lstStyle/>
                    <a:p>
                      <a:pPr algn="l"/>
                      <a:r>
                        <a:rPr sz="800" b="0">
                          <a:solidFill>
                            <a:srgbClr val="2E2E2E"/>
                          </a:solidFill>
                          <a:latin typeface="Calibri"/>
                        </a:rPr>
                        <a:t>354.3</a:t>
                      </a:r>
                    </a:p>
                  </a:txBody>
                  <a:tcPr marL="85725" marR="38100" marT="19050" marB="19050" anchor="ctr">
                    <a:solidFill>
                      <a:srgbClr val="FFFFFF"/>
                    </a:solidFill>
                  </a:tcPr>
                </a:tc>
                <a:tc>
                  <a:txBody>
                    <a:bodyPr wrap="none"/>
                    <a:lstStyle/>
                    <a:p>
                      <a:pPr algn="l"/>
                      <a:r>
                        <a:rPr sz="800" b="0">
                          <a:solidFill>
                            <a:srgbClr val="2E2E2E"/>
                          </a:solidFill>
                          <a:latin typeface="Calibri"/>
                        </a:rPr>
                        <a:t>403.1</a:t>
                      </a:r>
                    </a:p>
                  </a:txBody>
                  <a:tcPr marL="85725" marR="38100" marT="19050" marB="19050" anchor="ctr">
                    <a:solidFill>
                      <a:srgbClr val="FFFFFF"/>
                    </a:solidFill>
                  </a:tcPr>
                </a:tc>
                <a:tc>
                  <a:txBody>
                    <a:bodyPr wrap="none"/>
                    <a:lstStyle/>
                    <a:p>
                      <a:pPr algn="l"/>
                      <a:r>
                        <a:rPr sz="800" b="0">
                          <a:solidFill>
                            <a:srgbClr val="2E2E2E"/>
                          </a:solidFill>
                          <a:latin typeface="Calibri"/>
                        </a:rPr>
                        <a:t>457.8</a:t>
                      </a:r>
                    </a:p>
                  </a:txBody>
                  <a:tcPr marL="85725" marR="38100" marT="19050" marB="19050" anchor="ctr">
                    <a:solidFill>
                      <a:srgbClr val="FFFFFF"/>
                    </a:solidFill>
                  </a:tcPr>
                </a:tc>
                <a:tc>
                  <a:txBody>
                    <a:bodyPr wrap="none"/>
                    <a:lstStyle/>
                    <a:p>
                      <a:pPr algn="l"/>
                      <a:r>
                        <a:rPr sz="800" b="0">
                          <a:solidFill>
                            <a:srgbClr val="2E2E2E"/>
                          </a:solidFill>
                          <a:latin typeface="Calibri"/>
                        </a:rPr>
                        <a:t>520.0</a:t>
                      </a:r>
                    </a:p>
                  </a:txBody>
                  <a:tcPr marL="85725" marR="38100" marT="19050" marB="19050" anchor="ctr">
                    <a:solidFill>
                      <a:srgbClr val="FFFFFF"/>
                    </a:solidFill>
                  </a:tcPr>
                </a:tc>
                <a:tc>
                  <a:txBody>
                    <a:bodyPr wrap="none"/>
                    <a:lstStyle/>
                    <a:p>
                      <a:pPr algn="l"/>
                      <a:r>
                        <a:rPr sz="800" b="0">
                          <a:solidFill>
                            <a:srgbClr val="2E2E2E"/>
                          </a:solidFill>
                          <a:latin typeface="Calibri"/>
                        </a:rPr>
                        <a:t>589.8</a:t>
                      </a:r>
                    </a:p>
                  </a:txBody>
                  <a:tcPr marL="85725" marR="38100" marT="19050" marB="19050" anchor="ctr">
                    <a:solidFill>
                      <a:srgbClr val="FFFFFF"/>
                    </a:solidFill>
                  </a:tcPr>
                </a:tc>
                <a:tc>
                  <a:txBody>
                    <a:bodyPr wrap="none"/>
                    <a:lstStyle/>
                    <a:p>
                      <a:pPr algn="l"/>
                      <a:r>
                        <a:rPr sz="800" b="0">
                          <a:solidFill>
                            <a:srgbClr val="2E2E2E"/>
                          </a:solidFill>
                          <a:latin typeface="Calibri"/>
                        </a:rPr>
                        <a:t>669.0</a:t>
                      </a:r>
                    </a:p>
                  </a:txBody>
                  <a:tcPr marL="85725" marR="38100" marT="19050" marB="19050" anchor="ctr">
                    <a:solidFill>
                      <a:srgbClr val="FFFFFF"/>
                    </a:solidFill>
                  </a:tcPr>
                </a:tc>
                <a:tc>
                  <a:txBody>
                    <a:bodyPr wrap="none"/>
                    <a:lstStyle/>
                    <a:p>
                      <a:pPr algn="l"/>
                      <a:r>
                        <a:rPr sz="800" b="0">
                          <a:solidFill>
                            <a:srgbClr val="2E2E2E"/>
                          </a:solidFill>
                          <a:latin typeface="Calibri"/>
                        </a:rPr>
                        <a:t>13.9%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0">
                          <a:solidFill>
                            <a:srgbClr val="2E2E2E"/>
                          </a:solidFill>
                          <a:latin typeface="Calibri"/>
                        </a:rPr>
                        <a:t>60.6</a:t>
                      </a:r>
                    </a:p>
                  </a:txBody>
                  <a:tcPr marL="85725" marR="38100" marT="19050" marB="19050" anchor="ctr">
                    <a:solidFill>
                      <a:srgbClr val="F5F8FA"/>
                    </a:solidFill>
                  </a:tcPr>
                </a:tc>
                <a:tc>
                  <a:txBody>
                    <a:bodyPr wrap="none"/>
                    <a:lstStyle/>
                    <a:p>
                      <a:pPr algn="l"/>
                      <a:r>
                        <a:rPr sz="800" b="0">
                          <a:solidFill>
                            <a:srgbClr val="2E2E2E"/>
                          </a:solidFill>
                          <a:latin typeface="Calibri"/>
                        </a:rPr>
                        <a:t>65.0</a:t>
                      </a:r>
                    </a:p>
                  </a:txBody>
                  <a:tcPr marL="85725" marR="38100" marT="19050" marB="19050" anchor="ctr">
                    <a:solidFill>
                      <a:srgbClr val="F5F8FA"/>
                    </a:solidFill>
                  </a:tcPr>
                </a:tc>
                <a:tc>
                  <a:txBody>
                    <a:bodyPr wrap="none"/>
                    <a:lstStyle/>
                    <a:p>
                      <a:pPr algn="l"/>
                      <a:r>
                        <a:rPr sz="800" b="0">
                          <a:solidFill>
                            <a:srgbClr val="2E2E2E"/>
                          </a:solidFill>
                          <a:latin typeface="Calibri"/>
                        </a:rPr>
                        <a:t>69.8</a:t>
                      </a:r>
                    </a:p>
                  </a:txBody>
                  <a:tcPr marL="85725" marR="38100" marT="19050" marB="19050" anchor="ctr">
                    <a:solidFill>
                      <a:srgbClr val="F5F8FA"/>
                    </a:solidFill>
                  </a:tcPr>
                </a:tc>
                <a:tc>
                  <a:txBody>
                    <a:bodyPr wrap="none"/>
                    <a:lstStyle/>
                    <a:p>
                      <a:pPr algn="l"/>
                      <a:r>
                        <a:rPr sz="800" b="0">
                          <a:solidFill>
                            <a:srgbClr val="2E2E2E"/>
                          </a:solidFill>
                          <a:latin typeface="Calibri"/>
                        </a:rPr>
                        <a:t>75.2</a:t>
                      </a:r>
                    </a:p>
                  </a:txBody>
                  <a:tcPr marL="85725" marR="38100" marT="19050" marB="19050" anchor="ctr">
                    <a:solidFill>
                      <a:srgbClr val="F5F8FA"/>
                    </a:solidFill>
                  </a:tcPr>
                </a:tc>
                <a:tc>
                  <a:txBody>
                    <a:bodyPr wrap="none"/>
                    <a:lstStyle/>
                    <a:p>
                      <a:pPr algn="l"/>
                      <a:r>
                        <a:rPr sz="800" b="0">
                          <a:solidFill>
                            <a:srgbClr val="2E2E2E"/>
                          </a:solidFill>
                          <a:latin typeface="Calibri"/>
                        </a:rPr>
                        <a:t>81.2</a:t>
                      </a:r>
                    </a:p>
                  </a:txBody>
                  <a:tcPr marL="85725" marR="38100" marT="19050" marB="19050" anchor="ctr">
                    <a:solidFill>
                      <a:srgbClr val="F5F8FA"/>
                    </a:solidFill>
                  </a:tcPr>
                </a:tc>
                <a:tc>
                  <a:txBody>
                    <a:bodyPr wrap="none"/>
                    <a:lstStyle/>
                    <a:p>
                      <a:pPr algn="l"/>
                      <a:r>
                        <a:rPr sz="800" b="0">
                          <a:solidFill>
                            <a:srgbClr val="2E2E2E"/>
                          </a:solidFill>
                          <a:latin typeface="Calibri"/>
                        </a:rPr>
                        <a:t>88.0</a:t>
                      </a:r>
                    </a:p>
                  </a:txBody>
                  <a:tcPr marL="85725" marR="38100" marT="19050" marB="19050" anchor="ctr">
                    <a:solidFill>
                      <a:srgbClr val="F5F8FA"/>
                    </a:solidFill>
                  </a:tcPr>
                </a:tc>
                <a:tc>
                  <a:txBody>
                    <a:bodyPr wrap="none"/>
                    <a:lstStyle/>
                    <a:p>
                      <a:pPr algn="l"/>
                      <a:r>
                        <a:rPr sz="800" b="0">
                          <a:solidFill>
                            <a:srgbClr val="2E2E2E"/>
                          </a:solidFill>
                          <a:latin typeface="Calibri"/>
                        </a:rPr>
                        <a:t>95.6</a:t>
                      </a:r>
                    </a:p>
                  </a:txBody>
                  <a:tcPr marL="85725" marR="38100" marT="19050" marB="19050" anchor="ctr">
                    <a:solidFill>
                      <a:srgbClr val="F5F8FA"/>
                    </a:solidFill>
                  </a:tcPr>
                </a:tc>
                <a:tc>
                  <a:txBody>
                    <a:bodyPr wrap="none"/>
                    <a:lstStyle/>
                    <a:p>
                      <a:pPr algn="l"/>
                      <a:r>
                        <a:rPr sz="800" b="0">
                          <a:solidFill>
                            <a:srgbClr val="2E2E2E"/>
                          </a:solidFill>
                          <a:latin typeface="Calibri"/>
                        </a:rPr>
                        <a:t>104.0</a:t>
                      </a:r>
                    </a:p>
                  </a:txBody>
                  <a:tcPr marL="85725" marR="38100" marT="19050" marB="19050" anchor="ctr">
                    <a:solidFill>
                      <a:srgbClr val="F5F8FA"/>
                    </a:solidFill>
                  </a:tcPr>
                </a:tc>
                <a:tc>
                  <a:txBody>
                    <a:bodyPr wrap="none"/>
                    <a:lstStyle/>
                    <a:p>
                      <a:pPr algn="l"/>
                      <a:r>
                        <a:rPr sz="800" b="0">
                          <a:solidFill>
                            <a:srgbClr val="2E2E2E"/>
                          </a:solidFill>
                          <a:latin typeface="Calibri"/>
                        </a:rPr>
                        <a:t>113.1</a:t>
                      </a:r>
                    </a:p>
                  </a:txBody>
                  <a:tcPr marL="85725" marR="38100" marT="19050" marB="19050" anchor="ctr">
                    <a:solidFill>
                      <a:srgbClr val="F5F8FA"/>
                    </a:solidFill>
                  </a:tcPr>
                </a:tc>
                <a:tc>
                  <a:txBody>
                    <a:bodyPr wrap="none"/>
                    <a:lstStyle/>
                    <a:p>
                      <a:pPr algn="l"/>
                      <a:r>
                        <a:rPr sz="800" b="0">
                          <a:solidFill>
                            <a:srgbClr val="2E2E2E"/>
                          </a:solidFill>
                          <a:latin typeface="Calibri"/>
                        </a:rPr>
                        <a:t>122.7</a:t>
                      </a:r>
                    </a:p>
                  </a:txBody>
                  <a:tcPr marL="85725" marR="38100" marT="19050" marB="19050" anchor="ctr">
                    <a:solidFill>
                      <a:srgbClr val="F5F8FA"/>
                    </a:solidFill>
                  </a:tcPr>
                </a:tc>
                <a:tc>
                  <a:txBody>
                    <a:bodyPr wrap="none"/>
                    <a:lstStyle/>
                    <a:p>
                      <a:pPr algn="l"/>
                      <a:r>
                        <a:rPr sz="800" b="0">
                          <a:solidFill>
                            <a:srgbClr val="2E2E2E"/>
                          </a:solidFill>
                          <a:latin typeface="Calibri"/>
                        </a:rPr>
                        <a:t>133.0</a:t>
                      </a:r>
                    </a:p>
                  </a:txBody>
                  <a:tcPr marL="85725" marR="38100" marT="19050" marB="19050" anchor="ctr">
                    <a:solidFill>
                      <a:srgbClr val="F5F8FA"/>
                    </a:solidFill>
                  </a:tcPr>
                </a:tc>
                <a:tc>
                  <a:txBody>
                    <a:bodyPr wrap="none"/>
                    <a:lstStyle/>
                    <a:p>
                      <a:pPr algn="l"/>
                      <a:r>
                        <a:rPr sz="800" b="0">
                          <a:solidFill>
                            <a:srgbClr val="2E2E2E"/>
                          </a:solidFill>
                          <a:latin typeface="Calibri"/>
                        </a:rPr>
                        <a:t>143.8</a:t>
                      </a:r>
                    </a:p>
                  </a:txBody>
                  <a:tcPr marL="85725" marR="38100" marT="19050" marB="19050" anchor="ctr">
                    <a:solidFill>
                      <a:srgbClr val="F5F8FA"/>
                    </a:solidFill>
                  </a:tcPr>
                </a:tc>
                <a:tc>
                  <a:txBody>
                    <a:bodyPr wrap="none"/>
                    <a:lstStyle/>
                    <a:p>
                      <a:pPr algn="l"/>
                      <a:r>
                        <a:rPr sz="800" b="0">
                          <a:solidFill>
                            <a:srgbClr val="2E2E2E"/>
                          </a:solidFill>
                          <a:latin typeface="Calibri"/>
                        </a:rPr>
                        <a:t>155.3</a:t>
                      </a:r>
                    </a:p>
                  </a:txBody>
                  <a:tcPr marL="85725" marR="38100" marT="19050" marB="19050" anchor="ctr">
                    <a:solidFill>
                      <a:srgbClr val="F5F8FA"/>
                    </a:solidFill>
                  </a:tcPr>
                </a:tc>
                <a:tc>
                  <a:txBody>
                    <a:bodyPr wrap="none"/>
                    <a:lstStyle/>
                    <a:p>
                      <a:pPr algn="l"/>
                      <a:r>
                        <a:rPr sz="800" b="0">
                          <a:solidFill>
                            <a:srgbClr val="2E2E2E"/>
                          </a:solidFill>
                          <a:latin typeface="Calibri"/>
                        </a:rPr>
                        <a:t>167.6</a:t>
                      </a:r>
                    </a:p>
                  </a:txBody>
                  <a:tcPr marL="85725" marR="38100" marT="19050" marB="19050" anchor="ctr">
                    <a:solidFill>
                      <a:srgbClr val="F5F8FA"/>
                    </a:solidFill>
                  </a:tcPr>
                </a:tc>
                <a:tc>
                  <a:txBody>
                    <a:bodyPr wrap="none"/>
                    <a:lstStyle/>
                    <a:p>
                      <a:pPr algn="l"/>
                      <a:r>
                        <a:rPr sz="800" b="0">
                          <a:solidFill>
                            <a:srgbClr val="2E2E2E"/>
                          </a:solidFill>
                          <a:latin typeface="Calibri"/>
                        </a:rPr>
                        <a:t>180.7</a:t>
                      </a:r>
                    </a:p>
                  </a:txBody>
                  <a:tcPr marL="85725" marR="38100" marT="19050" marB="19050" anchor="ctr">
                    <a:solidFill>
                      <a:srgbClr val="F5F8FA"/>
                    </a:solidFill>
                  </a:tcPr>
                </a:tc>
                <a:tc>
                  <a:txBody>
                    <a:bodyPr wrap="none"/>
                    <a:lstStyle/>
                    <a:p>
                      <a:pPr algn="l"/>
                      <a:r>
                        <a:rPr sz="800" b="0">
                          <a:solidFill>
                            <a:srgbClr val="2E2E2E"/>
                          </a:solidFill>
                          <a:latin typeface="Calibri"/>
                        </a:rPr>
                        <a:t>194.7</a:t>
                      </a:r>
                    </a:p>
                  </a:txBody>
                  <a:tcPr marL="85725" marR="38100" marT="19050" marB="19050" anchor="ctr">
                    <a:solidFill>
                      <a:srgbClr val="F5F8FA"/>
                    </a:solidFill>
                  </a:tcPr>
                </a:tc>
                <a:tc>
                  <a:txBody>
                    <a:bodyPr wrap="none"/>
                    <a:lstStyle/>
                    <a:p>
                      <a:pPr algn="l"/>
                      <a:r>
                        <a:rPr sz="800" b="0">
                          <a:solidFill>
                            <a:srgbClr val="2E2E2E"/>
                          </a:solidFill>
                          <a:latin typeface="Calibri"/>
                        </a:rPr>
                        <a:t>8.3%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0">
                          <a:solidFill>
                            <a:srgbClr val="2E2E2E"/>
                          </a:solidFill>
                          <a:latin typeface="Calibri"/>
                        </a:rPr>
                        <a:t>167.6</a:t>
                      </a:r>
                    </a:p>
                  </a:txBody>
                  <a:tcPr marL="85725" marR="38100" marT="19050" marB="19050" anchor="ctr">
                    <a:solidFill>
                      <a:srgbClr val="FFFFFF"/>
                    </a:solidFill>
                  </a:tcPr>
                </a:tc>
                <a:tc>
                  <a:txBody>
                    <a:bodyPr wrap="none"/>
                    <a:lstStyle/>
                    <a:p>
                      <a:pPr algn="l"/>
                      <a:r>
                        <a:rPr sz="800" b="0">
                          <a:solidFill>
                            <a:srgbClr val="2E2E2E"/>
                          </a:solidFill>
                          <a:latin typeface="Calibri"/>
                        </a:rPr>
                        <a:t>178.0</a:t>
                      </a:r>
                    </a:p>
                  </a:txBody>
                  <a:tcPr marL="85725" marR="38100" marT="19050" marB="19050" anchor="ctr">
                    <a:solidFill>
                      <a:srgbClr val="FFFFFF"/>
                    </a:solidFill>
                  </a:tcPr>
                </a:tc>
                <a:tc>
                  <a:txBody>
                    <a:bodyPr wrap="none"/>
                    <a:lstStyle/>
                    <a:p>
                      <a:pPr algn="l"/>
                      <a:r>
                        <a:rPr sz="800" b="0">
                          <a:solidFill>
                            <a:srgbClr val="2E2E2E"/>
                          </a:solidFill>
                          <a:latin typeface="Calibri"/>
                        </a:rPr>
                        <a:t>189.3</a:t>
                      </a:r>
                    </a:p>
                  </a:txBody>
                  <a:tcPr marL="85725" marR="38100" marT="19050" marB="19050" anchor="ctr">
                    <a:solidFill>
                      <a:srgbClr val="FFFFFF"/>
                    </a:solidFill>
                  </a:tcPr>
                </a:tc>
                <a:tc>
                  <a:txBody>
                    <a:bodyPr wrap="none"/>
                    <a:lstStyle/>
                    <a:p>
                      <a:pPr algn="l"/>
                      <a:r>
                        <a:rPr sz="800" b="0">
                          <a:solidFill>
                            <a:srgbClr val="2E2E2E"/>
                          </a:solidFill>
                          <a:latin typeface="Calibri"/>
                        </a:rPr>
                        <a:t>201.9</a:t>
                      </a:r>
                    </a:p>
                  </a:txBody>
                  <a:tcPr marL="85725" marR="38100" marT="19050" marB="19050" anchor="ctr">
                    <a:solidFill>
                      <a:srgbClr val="FFFFFF"/>
                    </a:solidFill>
                  </a:tcPr>
                </a:tc>
                <a:tc>
                  <a:txBody>
                    <a:bodyPr wrap="none"/>
                    <a:lstStyle/>
                    <a:p>
                      <a:pPr algn="l"/>
                      <a:r>
                        <a:rPr sz="800" b="0">
                          <a:solidFill>
                            <a:srgbClr val="2E2E2E"/>
                          </a:solidFill>
                          <a:latin typeface="Calibri"/>
                        </a:rPr>
                        <a:t>216.0</a:t>
                      </a:r>
                    </a:p>
                  </a:txBody>
                  <a:tcPr marL="85725" marR="38100" marT="19050" marB="19050" anchor="ctr">
                    <a:solidFill>
                      <a:srgbClr val="FFFFFF"/>
                    </a:solidFill>
                  </a:tcPr>
                </a:tc>
                <a:tc>
                  <a:txBody>
                    <a:bodyPr wrap="none"/>
                    <a:lstStyle/>
                    <a:p>
                      <a:pPr algn="l"/>
                      <a:r>
                        <a:rPr sz="800" b="0">
                          <a:solidFill>
                            <a:srgbClr val="2E2E2E"/>
                          </a:solidFill>
                          <a:latin typeface="Calibri"/>
                        </a:rPr>
                        <a:t>231.9</a:t>
                      </a:r>
                    </a:p>
                  </a:txBody>
                  <a:tcPr marL="85725" marR="38100" marT="19050" marB="19050" anchor="ctr">
                    <a:solidFill>
                      <a:srgbClr val="FFFFFF"/>
                    </a:solidFill>
                  </a:tcPr>
                </a:tc>
                <a:tc>
                  <a:txBody>
                    <a:bodyPr wrap="none"/>
                    <a:lstStyle/>
                    <a:p>
                      <a:pPr algn="l"/>
                      <a:r>
                        <a:rPr sz="800" b="0">
                          <a:solidFill>
                            <a:srgbClr val="2E2E2E"/>
                          </a:solidFill>
                          <a:latin typeface="Calibri"/>
                        </a:rPr>
                        <a:t>249.6</a:t>
                      </a:r>
                    </a:p>
                  </a:txBody>
                  <a:tcPr marL="85725" marR="38100" marT="19050" marB="19050" anchor="ctr">
                    <a:solidFill>
                      <a:srgbClr val="FFFFFF"/>
                    </a:solidFill>
                  </a:tcPr>
                </a:tc>
                <a:tc>
                  <a:txBody>
                    <a:bodyPr wrap="none"/>
                    <a:lstStyle/>
                    <a:p>
                      <a:pPr algn="l"/>
                      <a:r>
                        <a:rPr sz="800" b="0">
                          <a:solidFill>
                            <a:srgbClr val="2E2E2E"/>
                          </a:solidFill>
                          <a:latin typeface="Calibri"/>
                        </a:rPr>
                        <a:t>268.9</a:t>
                      </a:r>
                    </a:p>
                  </a:txBody>
                  <a:tcPr marL="85725" marR="38100" marT="19050" marB="19050" anchor="ctr">
                    <a:solidFill>
                      <a:srgbClr val="FFFFFF"/>
                    </a:solidFill>
                  </a:tcPr>
                </a:tc>
                <a:tc>
                  <a:txBody>
                    <a:bodyPr wrap="none"/>
                    <a:lstStyle/>
                    <a:p>
                      <a:pPr algn="l"/>
                      <a:r>
                        <a:rPr sz="800" b="0">
                          <a:solidFill>
                            <a:srgbClr val="2E2E2E"/>
                          </a:solidFill>
                          <a:latin typeface="Calibri"/>
                        </a:rPr>
                        <a:t>289.7</a:t>
                      </a:r>
                    </a:p>
                  </a:txBody>
                  <a:tcPr marL="85725" marR="38100" marT="19050" marB="19050" anchor="ctr">
                    <a:solidFill>
                      <a:srgbClr val="FFFFFF"/>
                    </a:solidFill>
                  </a:tcPr>
                </a:tc>
                <a:tc>
                  <a:txBody>
                    <a:bodyPr wrap="none"/>
                    <a:lstStyle/>
                    <a:p>
                      <a:pPr algn="l"/>
                      <a:r>
                        <a:rPr sz="800" b="0">
                          <a:solidFill>
                            <a:srgbClr val="2E2E2E"/>
                          </a:solidFill>
                          <a:latin typeface="Calibri"/>
                        </a:rPr>
                        <a:t>311.5</a:t>
                      </a:r>
                    </a:p>
                  </a:txBody>
                  <a:tcPr marL="85725" marR="38100" marT="19050" marB="19050" anchor="ctr">
                    <a:solidFill>
                      <a:srgbClr val="FFFFFF"/>
                    </a:solidFill>
                  </a:tcPr>
                </a:tc>
                <a:tc>
                  <a:txBody>
                    <a:bodyPr wrap="none"/>
                    <a:lstStyle/>
                    <a:p>
                      <a:pPr algn="l"/>
                      <a:r>
                        <a:rPr sz="800" b="0">
                          <a:solidFill>
                            <a:srgbClr val="2E2E2E"/>
                          </a:solidFill>
                          <a:latin typeface="Calibri"/>
                        </a:rPr>
                        <a:t>334.3</a:t>
                      </a:r>
                    </a:p>
                  </a:txBody>
                  <a:tcPr marL="85725" marR="38100" marT="19050" marB="19050" anchor="ctr">
                    <a:solidFill>
                      <a:srgbClr val="FFFFFF"/>
                    </a:solidFill>
                  </a:tcPr>
                </a:tc>
                <a:tc>
                  <a:txBody>
                    <a:bodyPr wrap="none"/>
                    <a:lstStyle/>
                    <a:p>
                      <a:pPr algn="l"/>
                      <a:r>
                        <a:rPr sz="800" b="0">
                          <a:solidFill>
                            <a:srgbClr val="2E2E2E"/>
                          </a:solidFill>
                          <a:latin typeface="Calibri"/>
                        </a:rPr>
                        <a:t>358.2</a:t>
                      </a:r>
                    </a:p>
                  </a:txBody>
                  <a:tcPr marL="85725" marR="38100" marT="19050" marB="19050" anchor="ctr">
                    <a:solidFill>
                      <a:srgbClr val="FFFFFF"/>
                    </a:solidFill>
                  </a:tcPr>
                </a:tc>
                <a:tc>
                  <a:txBody>
                    <a:bodyPr wrap="none"/>
                    <a:lstStyle/>
                    <a:p>
                      <a:pPr algn="l"/>
                      <a:r>
                        <a:rPr sz="800" b="0">
                          <a:solidFill>
                            <a:srgbClr val="2E2E2E"/>
                          </a:solidFill>
                          <a:latin typeface="Calibri"/>
                        </a:rPr>
                        <a:t>383.0</a:t>
                      </a:r>
                    </a:p>
                  </a:txBody>
                  <a:tcPr marL="85725" marR="38100" marT="19050" marB="19050" anchor="ctr">
                    <a:solidFill>
                      <a:srgbClr val="FFFFFF"/>
                    </a:solidFill>
                  </a:tcPr>
                </a:tc>
                <a:tc>
                  <a:txBody>
                    <a:bodyPr wrap="none"/>
                    <a:lstStyle/>
                    <a:p>
                      <a:pPr algn="l"/>
                      <a:r>
                        <a:rPr sz="800" b="0">
                          <a:solidFill>
                            <a:srgbClr val="2E2E2E"/>
                          </a:solidFill>
                          <a:latin typeface="Calibri"/>
                        </a:rPr>
                        <a:t>409.5</a:t>
                      </a:r>
                    </a:p>
                  </a:txBody>
                  <a:tcPr marL="85725" marR="38100" marT="19050" marB="19050" anchor="ctr">
                    <a:solidFill>
                      <a:srgbClr val="FFFFFF"/>
                    </a:solidFill>
                  </a:tcPr>
                </a:tc>
                <a:tc>
                  <a:txBody>
                    <a:bodyPr wrap="none"/>
                    <a:lstStyle/>
                    <a:p>
                      <a:pPr algn="l"/>
                      <a:r>
                        <a:rPr sz="800" b="0">
                          <a:solidFill>
                            <a:srgbClr val="2E2E2E"/>
                          </a:solidFill>
                          <a:latin typeface="Calibri"/>
                        </a:rPr>
                        <a:t>437.1</a:t>
                      </a:r>
                    </a:p>
                  </a:txBody>
                  <a:tcPr marL="85725" marR="38100" marT="19050" marB="19050" anchor="ctr">
                    <a:solidFill>
                      <a:srgbClr val="FFFFFF"/>
                    </a:solidFill>
                  </a:tcPr>
                </a:tc>
                <a:tc>
                  <a:txBody>
                    <a:bodyPr wrap="none"/>
                    <a:lstStyle/>
                    <a:p>
                      <a:pPr algn="l"/>
                      <a:r>
                        <a:rPr sz="800" b="0">
                          <a:solidFill>
                            <a:srgbClr val="2E2E2E"/>
                          </a:solidFill>
                          <a:latin typeface="Calibri"/>
                        </a:rPr>
                        <a:t>466.4</a:t>
                      </a:r>
                    </a:p>
                  </a:txBody>
                  <a:tcPr marL="85725" marR="38100" marT="19050" marB="19050" anchor="ctr">
                    <a:solidFill>
                      <a:srgbClr val="FFFFFF"/>
                    </a:solidFill>
                  </a:tcPr>
                </a:tc>
                <a:tc>
                  <a:txBody>
                    <a:bodyPr wrap="none"/>
                    <a:lstStyle/>
                    <a:p>
                      <a:pPr algn="l"/>
                      <a:r>
                        <a:rPr sz="800" b="0">
                          <a:solidFill>
                            <a:srgbClr val="2E2E2E"/>
                          </a:solidFill>
                          <a:latin typeface="Calibri"/>
                        </a:rPr>
                        <a:t>7.2%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0">
                          <a:solidFill>
                            <a:srgbClr val="2E2E2E"/>
                          </a:solidFill>
                          <a:latin typeface="Calibri"/>
                        </a:rPr>
                        <a:t>45.0</a:t>
                      </a:r>
                    </a:p>
                  </a:txBody>
                  <a:tcPr marL="85725" marR="38100" marT="19050" marB="19050" anchor="ctr">
                    <a:solidFill>
                      <a:srgbClr val="F5F8FA"/>
                    </a:solidFill>
                  </a:tcPr>
                </a:tc>
                <a:tc>
                  <a:txBody>
                    <a:bodyPr wrap="none"/>
                    <a:lstStyle/>
                    <a:p>
                      <a:pPr algn="l"/>
                      <a:r>
                        <a:rPr sz="800" b="0">
                          <a:solidFill>
                            <a:srgbClr val="2E2E2E"/>
                          </a:solidFill>
                          <a:latin typeface="Calibri"/>
                        </a:rPr>
                        <a:t>46.3</a:t>
                      </a:r>
                    </a:p>
                  </a:txBody>
                  <a:tcPr marL="85725" marR="38100" marT="19050" marB="19050" anchor="ctr">
                    <a:solidFill>
                      <a:srgbClr val="F5F8FA"/>
                    </a:solidFill>
                  </a:tcPr>
                </a:tc>
                <a:tc>
                  <a:txBody>
                    <a:bodyPr wrap="none"/>
                    <a:lstStyle/>
                    <a:p>
                      <a:pPr algn="l"/>
                      <a:r>
                        <a:rPr sz="800" b="0">
                          <a:solidFill>
                            <a:srgbClr val="2E2E2E"/>
                          </a:solidFill>
                          <a:latin typeface="Calibri"/>
                        </a:rPr>
                        <a:t>47.7</a:t>
                      </a:r>
                    </a:p>
                  </a:txBody>
                  <a:tcPr marL="85725" marR="38100" marT="19050" marB="19050" anchor="ctr">
                    <a:solidFill>
                      <a:srgbClr val="F5F8FA"/>
                    </a:solidFill>
                  </a:tcPr>
                </a:tc>
                <a:tc>
                  <a:txBody>
                    <a:bodyPr wrap="none"/>
                    <a:lstStyle/>
                    <a:p>
                      <a:pPr algn="l"/>
                      <a:r>
                        <a:rPr sz="800" b="0">
                          <a:solidFill>
                            <a:srgbClr val="2E2E2E"/>
                          </a:solidFill>
                          <a:latin typeface="Calibri"/>
                        </a:rPr>
                        <a:t>49.2</a:t>
                      </a:r>
                    </a:p>
                  </a:txBody>
                  <a:tcPr marL="85725" marR="38100" marT="19050" marB="19050" anchor="ctr">
                    <a:solidFill>
                      <a:srgbClr val="F5F8FA"/>
                    </a:solidFill>
                  </a:tcPr>
                </a:tc>
                <a:tc>
                  <a:txBody>
                    <a:bodyPr wrap="none"/>
                    <a:lstStyle/>
                    <a:p>
                      <a:pPr algn="l"/>
                      <a:r>
                        <a:rPr sz="800" b="0">
                          <a:solidFill>
                            <a:srgbClr val="2E2E2E"/>
                          </a:solidFill>
                          <a:latin typeface="Calibri"/>
                        </a:rPr>
                        <a:t>50.9</a:t>
                      </a:r>
                    </a:p>
                  </a:txBody>
                  <a:tcPr marL="85725" marR="38100" marT="19050" marB="19050" anchor="ctr">
                    <a:solidFill>
                      <a:srgbClr val="F5F8FA"/>
                    </a:solidFill>
                  </a:tcPr>
                </a:tc>
                <a:tc>
                  <a:txBody>
                    <a:bodyPr wrap="none"/>
                    <a:lstStyle/>
                    <a:p>
                      <a:pPr algn="l"/>
                      <a:r>
                        <a:rPr sz="800" b="0">
                          <a:solidFill>
                            <a:srgbClr val="2E2E2E"/>
                          </a:solidFill>
                          <a:latin typeface="Calibri"/>
                        </a:rPr>
                        <a:t>53.3</a:t>
                      </a:r>
                    </a:p>
                  </a:txBody>
                  <a:tcPr marL="85725" marR="38100" marT="19050" marB="19050" anchor="ctr">
                    <a:solidFill>
                      <a:srgbClr val="F5F8FA"/>
                    </a:solidFill>
                  </a:tcPr>
                </a:tc>
                <a:tc>
                  <a:txBody>
                    <a:bodyPr wrap="none"/>
                    <a:lstStyle/>
                    <a:p>
                      <a:pPr algn="l"/>
                      <a:r>
                        <a:rPr sz="800" b="0">
                          <a:solidFill>
                            <a:srgbClr val="2E2E2E"/>
                          </a:solidFill>
                          <a:latin typeface="Calibri"/>
                        </a:rPr>
                        <a:t>55.9</a:t>
                      </a:r>
                    </a:p>
                  </a:txBody>
                  <a:tcPr marL="85725" marR="38100" marT="19050" marB="19050" anchor="ctr">
                    <a:solidFill>
                      <a:srgbClr val="F5F8FA"/>
                    </a:solidFill>
                  </a:tcPr>
                </a:tc>
                <a:tc>
                  <a:txBody>
                    <a:bodyPr wrap="none"/>
                    <a:lstStyle/>
                    <a:p>
                      <a:pPr algn="l"/>
                      <a:r>
                        <a:rPr sz="800" b="0">
                          <a:solidFill>
                            <a:srgbClr val="2E2E2E"/>
                          </a:solidFill>
                          <a:latin typeface="Calibri"/>
                        </a:rPr>
                        <a:t>58.7</a:t>
                      </a:r>
                    </a:p>
                  </a:txBody>
                  <a:tcPr marL="85725" marR="38100" marT="19050" marB="19050" anchor="ctr">
                    <a:solidFill>
                      <a:srgbClr val="F5F8FA"/>
                    </a:solidFill>
                  </a:tcPr>
                </a:tc>
                <a:tc>
                  <a:txBody>
                    <a:bodyPr wrap="none"/>
                    <a:lstStyle/>
                    <a:p>
                      <a:pPr algn="l"/>
                      <a:r>
                        <a:rPr sz="800" b="0">
                          <a:solidFill>
                            <a:srgbClr val="2E2E2E"/>
                          </a:solidFill>
                          <a:latin typeface="Calibri"/>
                        </a:rPr>
                        <a:t>61.6</a:t>
                      </a:r>
                    </a:p>
                  </a:txBody>
                  <a:tcPr marL="85725" marR="38100" marT="19050" marB="19050" anchor="ctr">
                    <a:solidFill>
                      <a:srgbClr val="F5F8FA"/>
                    </a:solidFill>
                  </a:tcPr>
                </a:tc>
                <a:tc>
                  <a:txBody>
                    <a:bodyPr wrap="none"/>
                    <a:lstStyle/>
                    <a:p>
                      <a:pPr algn="l"/>
                      <a:r>
                        <a:rPr sz="800" b="0">
                          <a:solidFill>
                            <a:srgbClr val="2E2E2E"/>
                          </a:solidFill>
                          <a:latin typeface="Calibri"/>
                        </a:rPr>
                        <a:t>64.5</a:t>
                      </a:r>
                    </a:p>
                  </a:txBody>
                  <a:tcPr marL="85725" marR="38100" marT="19050" marB="19050" anchor="ctr">
                    <a:solidFill>
                      <a:srgbClr val="F5F8FA"/>
                    </a:solidFill>
                  </a:tcPr>
                </a:tc>
                <a:tc>
                  <a:txBody>
                    <a:bodyPr wrap="none"/>
                    <a:lstStyle/>
                    <a:p>
                      <a:pPr algn="l"/>
                      <a:r>
                        <a:rPr sz="800" b="0">
                          <a:solidFill>
                            <a:srgbClr val="2E2E2E"/>
                          </a:solidFill>
                          <a:latin typeface="Calibri"/>
                        </a:rPr>
                        <a:t>67.5</a:t>
                      </a:r>
                    </a:p>
                  </a:txBody>
                  <a:tcPr marL="85725" marR="38100" marT="19050" marB="19050" anchor="ctr">
                    <a:solidFill>
                      <a:srgbClr val="F5F8FA"/>
                    </a:solidFill>
                  </a:tcPr>
                </a:tc>
                <a:tc>
                  <a:txBody>
                    <a:bodyPr wrap="none"/>
                    <a:lstStyle/>
                    <a:p>
                      <a:pPr algn="l"/>
                      <a:r>
                        <a:rPr sz="800" b="0">
                          <a:solidFill>
                            <a:srgbClr val="2E2E2E"/>
                          </a:solidFill>
                          <a:latin typeface="Calibri"/>
                        </a:rPr>
                        <a:t>70.5</a:t>
                      </a:r>
                    </a:p>
                  </a:txBody>
                  <a:tcPr marL="85725" marR="38100" marT="19050" marB="19050" anchor="ctr">
                    <a:solidFill>
                      <a:srgbClr val="F5F8FA"/>
                    </a:solidFill>
                  </a:tcPr>
                </a:tc>
                <a:tc>
                  <a:txBody>
                    <a:bodyPr wrap="none"/>
                    <a:lstStyle/>
                    <a:p>
                      <a:pPr algn="l"/>
                      <a:r>
                        <a:rPr sz="800" b="0">
                          <a:solidFill>
                            <a:srgbClr val="2E2E2E"/>
                          </a:solidFill>
                          <a:latin typeface="Calibri"/>
                        </a:rPr>
                        <a:t>73.4</a:t>
                      </a:r>
                    </a:p>
                  </a:txBody>
                  <a:tcPr marL="85725" marR="38100" marT="19050" marB="19050" anchor="ctr">
                    <a:solidFill>
                      <a:srgbClr val="F5F8FA"/>
                    </a:solidFill>
                  </a:tcPr>
                </a:tc>
                <a:tc>
                  <a:txBody>
                    <a:bodyPr wrap="none"/>
                    <a:lstStyle/>
                    <a:p>
                      <a:pPr algn="l"/>
                      <a:r>
                        <a:rPr sz="800" b="0">
                          <a:solidFill>
                            <a:srgbClr val="2E2E2E"/>
                          </a:solidFill>
                          <a:latin typeface="Calibri"/>
                        </a:rPr>
                        <a:t>76.5</a:t>
                      </a:r>
                    </a:p>
                  </a:txBody>
                  <a:tcPr marL="85725" marR="38100" marT="19050" marB="19050" anchor="ctr">
                    <a:solidFill>
                      <a:srgbClr val="F5F8FA"/>
                    </a:solidFill>
                  </a:tcPr>
                </a:tc>
                <a:tc>
                  <a:txBody>
                    <a:bodyPr wrap="none"/>
                    <a:lstStyle/>
                    <a:p>
                      <a:pPr algn="l"/>
                      <a:r>
                        <a:rPr sz="800" b="0">
                          <a:solidFill>
                            <a:srgbClr val="2E2E2E"/>
                          </a:solidFill>
                          <a:latin typeface="Calibri"/>
                        </a:rPr>
                        <a:t>79.6</a:t>
                      </a:r>
                    </a:p>
                  </a:txBody>
                  <a:tcPr marL="85725" marR="38100" marT="19050" marB="19050" anchor="ctr">
                    <a:solidFill>
                      <a:srgbClr val="F5F8FA"/>
                    </a:solidFill>
                  </a:tcPr>
                </a:tc>
                <a:tc>
                  <a:txBody>
                    <a:bodyPr wrap="none"/>
                    <a:lstStyle/>
                    <a:p>
                      <a:pPr algn="l"/>
                      <a:r>
                        <a:rPr sz="800" b="0">
                          <a:solidFill>
                            <a:srgbClr val="2E2E2E"/>
                          </a:solidFill>
                          <a:latin typeface="Calibri"/>
                        </a:rPr>
                        <a:t>82.8</a:t>
                      </a:r>
                    </a:p>
                  </a:txBody>
                  <a:tcPr marL="85725" marR="38100" marT="19050" marB="19050" anchor="ctr">
                    <a:solidFill>
                      <a:srgbClr val="F5F8FA"/>
                    </a:solidFill>
                  </a:tcPr>
                </a:tc>
                <a:tc>
                  <a:txBody>
                    <a:bodyPr wrap="none"/>
                    <a:lstStyle/>
                    <a:p>
                      <a:pPr algn="l"/>
                      <a:r>
                        <a:rPr sz="800" b="0">
                          <a:solidFill>
                            <a:srgbClr val="2E2E2E"/>
                          </a:solidFill>
                          <a:latin typeface="Calibri"/>
                        </a:rPr>
                        <a:t>4.5%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42672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543425"/>
            <a:ext cx="11906250" cy="2181225"/>
          </a:xfrm>
          <a:prstGeom prst="roundRect">
            <a:avLst>
              <a:gd name="adj" fmla="val 34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Application</a:t>
            </a:r>
          </a:p>
        </p:txBody>
      </p:sp>
      <p:sp>
        <p:nvSpPr>
          <p:cNvPr id="18" name="Rectangle 17"/>
          <p:cNvSpPr/>
          <p:nvPr/>
        </p:nvSpPr>
        <p:spPr>
          <a:xfrm>
            <a:off x="276225" y="48672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953000"/>
            <a:ext cx="11639550" cy="16954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'Diabetes &amp; Glucose Testing' is the largest application at 38.8% of 2036 volume (2,160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'Genetic &amp; Molecular Testing' grows fastest 13.9%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'Genetic &amp; Molecular Testing' (+556 BPS) and away from 'Hematology Testing' (-382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8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Application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Application,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552825"/>
          </a:xfrm>
          <a:prstGeom prst="roundRect">
            <a:avLst>
              <a:gd name="adj" fmla="val 214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Application (US$ Mn)</a:t>
            </a:r>
          </a:p>
        </p:txBody>
      </p:sp>
      <p:graphicFrame>
        <p:nvGraphicFramePr>
          <p:cNvPr id="14" name="Table 13"/>
          <p:cNvGraphicFramePr>
            <a:graphicFrameLocks noGrp="1"/>
          </p:cNvGraphicFramePr>
          <p:nvPr/>
        </p:nvGraphicFramePr>
        <p:xfrm>
          <a:off x="238125" y="1143000"/>
          <a:ext cx="11715752" cy="18097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0">
                          <a:solidFill>
                            <a:srgbClr val="2E2E2E"/>
                          </a:solidFill>
                          <a:latin typeface="Calibri"/>
                        </a:rPr>
                        <a:t>711.4</a:t>
                      </a:r>
                    </a:p>
                  </a:txBody>
                  <a:tcPr marL="85725" marR="38100" marT="19050" marB="19050" anchor="ctr">
                    <a:solidFill>
                      <a:srgbClr val="FFFFFF"/>
                    </a:solidFill>
                  </a:tcPr>
                </a:tc>
                <a:tc>
                  <a:txBody>
                    <a:bodyPr wrap="none"/>
                    <a:lstStyle/>
                    <a:p>
                      <a:pPr algn="l"/>
                      <a:r>
                        <a:rPr sz="800" b="0">
                          <a:solidFill>
                            <a:srgbClr val="2E2E2E"/>
                          </a:solidFill>
                          <a:latin typeface="Calibri"/>
                        </a:rPr>
                        <a:t>743.2</a:t>
                      </a:r>
                    </a:p>
                  </a:txBody>
                  <a:tcPr marL="85725" marR="38100" marT="19050" marB="19050" anchor="ctr">
                    <a:solidFill>
                      <a:srgbClr val="FFFFFF"/>
                    </a:solidFill>
                  </a:tcPr>
                </a:tc>
                <a:tc>
                  <a:txBody>
                    <a:bodyPr wrap="none"/>
                    <a:lstStyle/>
                    <a:p>
                      <a:pPr algn="l"/>
                      <a:r>
                        <a:rPr sz="800" b="0">
                          <a:solidFill>
                            <a:srgbClr val="2E2E2E"/>
                          </a:solidFill>
                          <a:latin typeface="Calibri"/>
                        </a:rPr>
                        <a:t>779.2</a:t>
                      </a:r>
                    </a:p>
                  </a:txBody>
                  <a:tcPr marL="85725" marR="38100" marT="19050" marB="19050" anchor="ctr">
                    <a:solidFill>
                      <a:srgbClr val="FFFFFF"/>
                    </a:solidFill>
                  </a:tcPr>
                </a:tc>
                <a:tc>
                  <a:txBody>
                    <a:bodyPr wrap="none"/>
                    <a:lstStyle/>
                    <a:p>
                      <a:pPr algn="l"/>
                      <a:r>
                        <a:rPr sz="800" b="0">
                          <a:solidFill>
                            <a:srgbClr val="2E2E2E"/>
                          </a:solidFill>
                          <a:latin typeface="Calibri"/>
                        </a:rPr>
                        <a:t>822.1</a:t>
                      </a:r>
                    </a:p>
                  </a:txBody>
                  <a:tcPr marL="85725" marR="38100" marT="19050" marB="19050" anchor="ctr">
                    <a:solidFill>
                      <a:srgbClr val="FFFFFF"/>
                    </a:solidFill>
                  </a:tcPr>
                </a:tc>
                <a:tc>
                  <a:txBody>
                    <a:bodyPr wrap="none"/>
                    <a:lstStyle/>
                    <a:p>
                      <a:pPr algn="l"/>
                      <a:r>
                        <a:rPr sz="800" b="0">
                          <a:solidFill>
                            <a:srgbClr val="2E2E2E"/>
                          </a:solidFill>
                          <a:latin typeface="Calibri"/>
                        </a:rPr>
                        <a:t>871.5</a:t>
                      </a:r>
                    </a:p>
                  </a:txBody>
                  <a:tcPr marL="85725" marR="38100" marT="19050" marB="19050" anchor="ctr">
                    <a:solidFill>
                      <a:srgbClr val="FFFFFF"/>
                    </a:solidFill>
                  </a:tcPr>
                </a:tc>
                <a:tc>
                  <a:txBody>
                    <a:bodyPr wrap="none"/>
                    <a:lstStyle/>
                    <a:p>
                      <a:pPr algn="l"/>
                      <a:r>
                        <a:rPr sz="800" b="0">
                          <a:solidFill>
                            <a:srgbClr val="2E2E2E"/>
                          </a:solidFill>
                          <a:latin typeface="Calibri"/>
                        </a:rPr>
                        <a:t>928.4</a:t>
                      </a:r>
                    </a:p>
                  </a:txBody>
                  <a:tcPr marL="85725" marR="38100" marT="19050" marB="19050" anchor="ctr">
                    <a:solidFill>
                      <a:srgbClr val="FFFFFF"/>
                    </a:solidFill>
                  </a:tcPr>
                </a:tc>
                <a:tc>
                  <a:txBody>
                    <a:bodyPr wrap="none"/>
                    <a:lstStyle/>
                    <a:p>
                      <a:pPr algn="l"/>
                      <a:r>
                        <a:rPr sz="800" b="0">
                          <a:solidFill>
                            <a:srgbClr val="2E2E2E"/>
                          </a:solidFill>
                          <a:latin typeface="Calibri"/>
                        </a:rPr>
                        <a:t>993.5</a:t>
                      </a:r>
                    </a:p>
                  </a:txBody>
                  <a:tcPr marL="85725" marR="38100" marT="19050" marB="19050" anchor="ctr">
                    <a:solidFill>
                      <a:srgbClr val="FFFFFF"/>
                    </a:solidFill>
                  </a:tcPr>
                </a:tc>
                <a:tc>
                  <a:txBody>
                    <a:bodyPr wrap="none"/>
                    <a:lstStyle/>
                    <a:p>
                      <a:pPr algn="l"/>
                      <a:r>
                        <a:rPr sz="800" b="0">
                          <a:solidFill>
                            <a:srgbClr val="2E2E2E"/>
                          </a:solidFill>
                          <a:latin typeface="Calibri"/>
                        </a:rPr>
                        <a:t>1,066</a:t>
                      </a:r>
                    </a:p>
                  </a:txBody>
                  <a:tcPr marL="85725" marR="38100" marT="19050" marB="19050" anchor="ctr">
                    <a:solidFill>
                      <a:srgbClr val="FFFFFF"/>
                    </a:solidFill>
                  </a:tcPr>
                </a:tc>
                <a:tc>
                  <a:txBody>
                    <a:bodyPr wrap="none"/>
                    <a:lstStyle/>
                    <a:p>
                      <a:pPr algn="l"/>
                      <a:r>
                        <a:rPr sz="800" b="0">
                          <a:solidFill>
                            <a:srgbClr val="2E2E2E"/>
                          </a:solidFill>
                          <a:latin typeface="Calibri"/>
                        </a:rPr>
                        <a:t>1,146</a:t>
                      </a:r>
                    </a:p>
                  </a:txBody>
                  <a:tcPr marL="85725" marR="38100" marT="19050" marB="19050" anchor="ctr">
                    <a:solidFill>
                      <a:srgbClr val="FFFFFF"/>
                    </a:solidFill>
                  </a:tcPr>
                </a:tc>
                <a:tc>
                  <a:txBody>
                    <a:bodyPr wrap="none"/>
                    <a:lstStyle/>
                    <a:p>
                      <a:pPr algn="l"/>
                      <a:r>
                        <a:rPr sz="800" b="0">
                          <a:solidFill>
                            <a:srgbClr val="2E2E2E"/>
                          </a:solidFill>
                          <a:latin typeface="Calibri"/>
                        </a:rPr>
                        <a:t>1,232</a:t>
                      </a:r>
                    </a:p>
                  </a:txBody>
                  <a:tcPr marL="85725" marR="38100" marT="19050" marB="19050" anchor="ctr">
                    <a:solidFill>
                      <a:srgbClr val="FFFFFF"/>
                    </a:solidFill>
                  </a:tcPr>
                </a:tc>
                <a:tc>
                  <a:txBody>
                    <a:bodyPr wrap="none"/>
                    <a:lstStyle/>
                    <a:p>
                      <a:pPr algn="l"/>
                      <a:r>
                        <a:rPr sz="800" b="0">
                          <a:solidFill>
                            <a:srgbClr val="2E2E2E"/>
                          </a:solidFill>
                          <a:latin typeface="Calibri"/>
                        </a:rPr>
                        <a:t>1,324</a:t>
                      </a:r>
                    </a:p>
                  </a:txBody>
                  <a:tcPr marL="85725" marR="38100" marT="19050" marB="19050" anchor="ctr">
                    <a:solidFill>
                      <a:srgbClr val="FFFFFF"/>
                    </a:solidFill>
                  </a:tcPr>
                </a:tc>
                <a:tc>
                  <a:txBody>
                    <a:bodyPr wrap="none"/>
                    <a:lstStyle/>
                    <a:p>
                      <a:pPr algn="l"/>
                      <a:r>
                        <a:rPr sz="800" b="0">
                          <a:solidFill>
                            <a:srgbClr val="2E2E2E"/>
                          </a:solidFill>
                          <a:latin typeface="Calibri"/>
                        </a:rPr>
                        <a:t>1,424</a:t>
                      </a:r>
                    </a:p>
                  </a:txBody>
                  <a:tcPr marL="85725" marR="38100" marT="19050" marB="19050" anchor="ctr">
                    <a:solidFill>
                      <a:srgbClr val="FFFFFF"/>
                    </a:solidFill>
                  </a:tcPr>
                </a:tc>
                <a:tc>
                  <a:txBody>
                    <a:bodyPr wrap="none"/>
                    <a:lstStyle/>
                    <a:p>
                      <a:pPr algn="l"/>
                      <a:r>
                        <a:rPr sz="800" b="0">
                          <a:solidFill>
                            <a:srgbClr val="2E2E2E"/>
                          </a:solidFill>
                          <a:latin typeface="Calibri"/>
                        </a:rPr>
                        <a:t>1,532</a:t>
                      </a:r>
                    </a:p>
                  </a:txBody>
                  <a:tcPr marL="85725" marR="38100" marT="19050" marB="19050" anchor="ctr">
                    <a:solidFill>
                      <a:srgbClr val="FFFFFF"/>
                    </a:solidFill>
                  </a:tcPr>
                </a:tc>
                <a:tc>
                  <a:txBody>
                    <a:bodyPr wrap="none"/>
                    <a:lstStyle/>
                    <a:p>
                      <a:pPr algn="l"/>
                      <a:r>
                        <a:rPr sz="800" b="0">
                          <a:solidFill>
                            <a:srgbClr val="2E2E2E"/>
                          </a:solidFill>
                          <a:latin typeface="Calibri"/>
                        </a:rPr>
                        <a:t>1,650</a:t>
                      </a:r>
                    </a:p>
                  </a:txBody>
                  <a:tcPr marL="85725" marR="38100" marT="19050" marB="19050" anchor="ctr">
                    <a:solidFill>
                      <a:srgbClr val="FFFFFF"/>
                    </a:solidFill>
                  </a:tcPr>
                </a:tc>
                <a:tc>
                  <a:txBody>
                    <a:bodyPr wrap="none"/>
                    <a:lstStyle/>
                    <a:p>
                      <a:pPr algn="l"/>
                      <a:r>
                        <a:rPr sz="800" b="0">
                          <a:solidFill>
                            <a:srgbClr val="2E2E2E"/>
                          </a:solidFill>
                          <a:latin typeface="Calibri"/>
                        </a:rPr>
                        <a:t>1,779</a:t>
                      </a:r>
                    </a:p>
                  </a:txBody>
                  <a:tcPr marL="85725" marR="38100" marT="19050" marB="19050" anchor="ctr">
                    <a:solidFill>
                      <a:srgbClr val="FFFFFF"/>
                    </a:solidFill>
                  </a:tcPr>
                </a:tc>
                <a:tc>
                  <a:txBody>
                    <a:bodyPr wrap="none"/>
                    <a:lstStyle/>
                    <a:p>
                      <a:pPr algn="l"/>
                      <a:r>
                        <a:rPr sz="800" b="0">
                          <a:solidFill>
                            <a:srgbClr val="2E2E2E"/>
                          </a:solidFill>
                          <a:latin typeface="Calibri"/>
                        </a:rPr>
                        <a:t>1,921</a:t>
                      </a:r>
                    </a:p>
                  </a:txBody>
                  <a:tcPr marL="85725" marR="38100" marT="19050" marB="19050" anchor="ctr">
                    <a:solidFill>
                      <a:srgbClr val="FFFFFF"/>
                    </a:solidFill>
                  </a:tcPr>
                </a:tc>
                <a:tc>
                  <a:txBody>
                    <a:bodyPr wrap="none"/>
                    <a:lstStyle/>
                    <a:p>
                      <a:pPr algn="l"/>
                      <a:r>
                        <a:rPr sz="800" b="0">
                          <a:solidFill>
                            <a:srgbClr val="2E2E2E"/>
                          </a:solidFill>
                          <a:latin typeface="Calibri"/>
                        </a:rPr>
                        <a:t>7.5%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0">
                          <a:solidFill>
                            <a:srgbClr val="2E2E2E"/>
                          </a:solidFill>
                          <a:latin typeface="Calibri"/>
                        </a:rPr>
                        <a:t>218.8</a:t>
                      </a:r>
                    </a:p>
                  </a:txBody>
                  <a:tcPr marL="85725" marR="38100" marT="19050" marB="19050" anchor="ctr">
                    <a:solidFill>
                      <a:srgbClr val="F5F8FA"/>
                    </a:solidFill>
                  </a:tcPr>
                </a:tc>
                <a:tc>
                  <a:txBody>
                    <a:bodyPr wrap="none"/>
                    <a:lstStyle/>
                    <a:p>
                      <a:pPr algn="l"/>
                      <a:r>
                        <a:rPr sz="800" b="0">
                          <a:solidFill>
                            <a:srgbClr val="2E2E2E"/>
                          </a:solidFill>
                          <a:latin typeface="Calibri"/>
                        </a:rPr>
                        <a:t>229.4</a:t>
                      </a:r>
                    </a:p>
                  </a:txBody>
                  <a:tcPr marL="85725" marR="38100" marT="19050" marB="19050" anchor="ctr">
                    <a:solidFill>
                      <a:srgbClr val="F5F8FA"/>
                    </a:solidFill>
                  </a:tcPr>
                </a:tc>
                <a:tc>
                  <a:txBody>
                    <a:bodyPr wrap="none"/>
                    <a:lstStyle/>
                    <a:p>
                      <a:pPr algn="l"/>
                      <a:r>
                        <a:rPr sz="800" b="0">
                          <a:solidFill>
                            <a:srgbClr val="2E2E2E"/>
                          </a:solidFill>
                          <a:latin typeface="Calibri"/>
                        </a:rPr>
                        <a:t>241.3</a:t>
                      </a:r>
                    </a:p>
                  </a:txBody>
                  <a:tcPr marL="85725" marR="38100" marT="19050" marB="19050" anchor="ctr">
                    <a:solidFill>
                      <a:srgbClr val="F5F8FA"/>
                    </a:solidFill>
                  </a:tcPr>
                </a:tc>
                <a:tc>
                  <a:txBody>
                    <a:bodyPr wrap="none"/>
                    <a:lstStyle/>
                    <a:p>
                      <a:pPr algn="l"/>
                      <a:r>
                        <a:rPr sz="800" b="0">
                          <a:solidFill>
                            <a:srgbClr val="2E2E2E"/>
                          </a:solidFill>
                          <a:latin typeface="Calibri"/>
                        </a:rPr>
                        <a:t>255.5</a:t>
                      </a:r>
                    </a:p>
                  </a:txBody>
                  <a:tcPr marL="85725" marR="38100" marT="19050" marB="19050" anchor="ctr">
                    <a:solidFill>
                      <a:srgbClr val="F5F8FA"/>
                    </a:solidFill>
                  </a:tcPr>
                </a:tc>
                <a:tc>
                  <a:txBody>
                    <a:bodyPr wrap="none"/>
                    <a:lstStyle/>
                    <a:p>
                      <a:pPr algn="l"/>
                      <a:r>
                        <a:rPr sz="800" b="0">
                          <a:solidFill>
                            <a:srgbClr val="2E2E2E"/>
                          </a:solidFill>
                          <a:latin typeface="Calibri"/>
                        </a:rPr>
                        <a:t>271.8</a:t>
                      </a:r>
                    </a:p>
                  </a:txBody>
                  <a:tcPr marL="85725" marR="38100" marT="19050" marB="19050" anchor="ctr">
                    <a:solidFill>
                      <a:srgbClr val="F5F8FA"/>
                    </a:solidFill>
                  </a:tcPr>
                </a:tc>
                <a:tc>
                  <a:txBody>
                    <a:bodyPr wrap="none"/>
                    <a:lstStyle/>
                    <a:p>
                      <a:pPr algn="l"/>
                      <a:r>
                        <a:rPr sz="800" b="0">
                          <a:solidFill>
                            <a:srgbClr val="2E2E2E"/>
                          </a:solidFill>
                          <a:latin typeface="Calibri"/>
                        </a:rPr>
                        <a:t>290.7</a:t>
                      </a:r>
                    </a:p>
                  </a:txBody>
                  <a:tcPr marL="85725" marR="38100" marT="19050" marB="19050" anchor="ctr">
                    <a:solidFill>
                      <a:srgbClr val="F5F8FA"/>
                    </a:solidFill>
                  </a:tcPr>
                </a:tc>
                <a:tc>
                  <a:txBody>
                    <a:bodyPr wrap="none"/>
                    <a:lstStyle/>
                    <a:p>
                      <a:pPr algn="l"/>
                      <a:r>
                        <a:rPr sz="800" b="0">
                          <a:solidFill>
                            <a:srgbClr val="2E2E2E"/>
                          </a:solidFill>
                          <a:latin typeface="Calibri"/>
                        </a:rPr>
                        <a:t>312.5</a:t>
                      </a:r>
                    </a:p>
                  </a:txBody>
                  <a:tcPr marL="85725" marR="38100" marT="19050" marB="19050" anchor="ctr">
                    <a:solidFill>
                      <a:srgbClr val="F5F8FA"/>
                    </a:solidFill>
                  </a:tcPr>
                </a:tc>
                <a:tc>
                  <a:txBody>
                    <a:bodyPr wrap="none"/>
                    <a:lstStyle/>
                    <a:p>
                      <a:pPr algn="l"/>
                      <a:r>
                        <a:rPr sz="800" b="0">
                          <a:solidFill>
                            <a:srgbClr val="2E2E2E"/>
                          </a:solidFill>
                          <a:latin typeface="Calibri"/>
                        </a:rPr>
                        <a:t>336.9</a:t>
                      </a:r>
                    </a:p>
                  </a:txBody>
                  <a:tcPr marL="85725" marR="38100" marT="19050" marB="19050" anchor="ctr">
                    <a:solidFill>
                      <a:srgbClr val="F5F8FA"/>
                    </a:solidFill>
                  </a:tcPr>
                </a:tc>
                <a:tc>
                  <a:txBody>
                    <a:bodyPr wrap="none"/>
                    <a:lstStyle/>
                    <a:p>
                      <a:pPr algn="l"/>
                      <a:r>
                        <a:rPr sz="800" b="0">
                          <a:solidFill>
                            <a:srgbClr val="2E2E2E"/>
                          </a:solidFill>
                          <a:latin typeface="Calibri"/>
                        </a:rPr>
                        <a:t>364.0</a:t>
                      </a:r>
                    </a:p>
                  </a:txBody>
                  <a:tcPr marL="85725" marR="38100" marT="19050" marB="19050" anchor="ctr">
                    <a:solidFill>
                      <a:srgbClr val="F5F8FA"/>
                    </a:solidFill>
                  </a:tcPr>
                </a:tc>
                <a:tc>
                  <a:txBody>
                    <a:bodyPr wrap="none"/>
                    <a:lstStyle/>
                    <a:p>
                      <a:pPr algn="l"/>
                      <a:r>
                        <a:rPr sz="800" b="0">
                          <a:solidFill>
                            <a:srgbClr val="2E2E2E"/>
                          </a:solidFill>
                          <a:latin typeface="Calibri"/>
                        </a:rPr>
                        <a:t>393.6</a:t>
                      </a:r>
                    </a:p>
                  </a:txBody>
                  <a:tcPr marL="85725" marR="38100" marT="19050" marB="19050" anchor="ctr">
                    <a:solidFill>
                      <a:srgbClr val="F5F8FA"/>
                    </a:solidFill>
                  </a:tcPr>
                </a:tc>
                <a:tc>
                  <a:txBody>
                    <a:bodyPr wrap="none"/>
                    <a:lstStyle/>
                    <a:p>
                      <a:pPr algn="l"/>
                      <a:r>
                        <a:rPr sz="800" b="0">
                          <a:solidFill>
                            <a:srgbClr val="2E2E2E"/>
                          </a:solidFill>
                          <a:latin typeface="Calibri"/>
                        </a:rPr>
                        <a:t>425.7</a:t>
                      </a:r>
                    </a:p>
                  </a:txBody>
                  <a:tcPr marL="85725" marR="38100" marT="19050" marB="19050" anchor="ctr">
                    <a:solidFill>
                      <a:srgbClr val="F5F8FA"/>
                    </a:solidFill>
                  </a:tcPr>
                </a:tc>
                <a:tc>
                  <a:txBody>
                    <a:bodyPr wrap="none"/>
                    <a:lstStyle/>
                    <a:p>
                      <a:pPr algn="l"/>
                      <a:r>
                        <a:rPr sz="800" b="0">
                          <a:solidFill>
                            <a:srgbClr val="2E2E2E"/>
                          </a:solidFill>
                          <a:latin typeface="Calibri"/>
                        </a:rPr>
                        <a:t>460.7</a:t>
                      </a:r>
                    </a:p>
                  </a:txBody>
                  <a:tcPr marL="85725" marR="38100" marT="19050" marB="19050" anchor="ctr">
                    <a:solidFill>
                      <a:srgbClr val="F5F8FA"/>
                    </a:solidFill>
                  </a:tcPr>
                </a:tc>
                <a:tc>
                  <a:txBody>
                    <a:bodyPr wrap="none"/>
                    <a:lstStyle/>
                    <a:p>
                      <a:pPr algn="l"/>
                      <a:r>
                        <a:rPr sz="800" b="0">
                          <a:solidFill>
                            <a:srgbClr val="2E2E2E"/>
                          </a:solidFill>
                          <a:latin typeface="Calibri"/>
                        </a:rPr>
                        <a:t>498.7</a:t>
                      </a:r>
                    </a:p>
                  </a:txBody>
                  <a:tcPr marL="85725" marR="38100" marT="19050" marB="19050" anchor="ctr">
                    <a:solidFill>
                      <a:srgbClr val="F5F8FA"/>
                    </a:solidFill>
                  </a:tcPr>
                </a:tc>
                <a:tc>
                  <a:txBody>
                    <a:bodyPr wrap="none"/>
                    <a:lstStyle/>
                    <a:p>
                      <a:pPr algn="l"/>
                      <a:r>
                        <a:rPr sz="800" b="0">
                          <a:solidFill>
                            <a:srgbClr val="2E2E2E"/>
                          </a:solidFill>
                          <a:latin typeface="Calibri"/>
                        </a:rPr>
                        <a:t>541.0</a:t>
                      </a:r>
                    </a:p>
                  </a:txBody>
                  <a:tcPr marL="85725" marR="38100" marT="19050" marB="19050" anchor="ctr">
                    <a:solidFill>
                      <a:srgbClr val="F5F8FA"/>
                    </a:solidFill>
                  </a:tcPr>
                </a:tc>
                <a:tc>
                  <a:txBody>
                    <a:bodyPr wrap="none"/>
                    <a:lstStyle/>
                    <a:p>
                      <a:pPr algn="l"/>
                      <a:r>
                        <a:rPr sz="800" b="0">
                          <a:solidFill>
                            <a:srgbClr val="2E2E2E"/>
                          </a:solidFill>
                          <a:latin typeface="Calibri"/>
                        </a:rPr>
                        <a:t>587.3</a:t>
                      </a:r>
                    </a:p>
                  </a:txBody>
                  <a:tcPr marL="85725" marR="38100" marT="19050" marB="19050" anchor="ctr">
                    <a:solidFill>
                      <a:srgbClr val="F5F8FA"/>
                    </a:solidFill>
                  </a:tcPr>
                </a:tc>
                <a:tc>
                  <a:txBody>
                    <a:bodyPr wrap="none"/>
                    <a:lstStyle/>
                    <a:p>
                      <a:pPr algn="l"/>
                      <a:r>
                        <a:rPr sz="800" b="0">
                          <a:solidFill>
                            <a:srgbClr val="2E2E2E"/>
                          </a:solidFill>
                          <a:latin typeface="Calibri"/>
                        </a:rPr>
                        <a:t>638.7</a:t>
                      </a:r>
                    </a:p>
                  </a:txBody>
                  <a:tcPr marL="85725" marR="38100" marT="19050" marB="19050" anchor="ctr">
                    <a:solidFill>
                      <a:srgbClr val="F5F8FA"/>
                    </a:solidFill>
                  </a:tcPr>
                </a:tc>
                <a:tc>
                  <a:txBody>
                    <a:bodyPr wrap="none"/>
                    <a:lstStyle/>
                    <a:p>
                      <a:pPr algn="l"/>
                      <a:r>
                        <a:rPr sz="800" b="0">
                          <a:solidFill>
                            <a:srgbClr val="2E2E2E"/>
                          </a:solidFill>
                          <a:latin typeface="Calibri"/>
                        </a:rPr>
                        <a:t>8.2%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0">
                          <a:solidFill>
                            <a:srgbClr val="2E2E2E"/>
                          </a:solidFill>
                          <a:latin typeface="Calibri"/>
                        </a:rPr>
                        <a:t>268.6</a:t>
                      </a:r>
                    </a:p>
                  </a:txBody>
                  <a:tcPr marL="85725" marR="38100" marT="19050" marB="19050" anchor="ctr">
                    <a:solidFill>
                      <a:srgbClr val="FFFFFF"/>
                    </a:solidFill>
                  </a:tcPr>
                </a:tc>
                <a:tc>
                  <a:txBody>
                    <a:bodyPr wrap="none"/>
                    <a:lstStyle/>
                    <a:p>
                      <a:pPr algn="l"/>
                      <a:r>
                        <a:rPr sz="800" b="0">
                          <a:solidFill>
                            <a:srgbClr val="2E2E2E"/>
                          </a:solidFill>
                          <a:latin typeface="Calibri"/>
                        </a:rPr>
                        <a:t>269.2</a:t>
                      </a:r>
                    </a:p>
                  </a:txBody>
                  <a:tcPr marL="85725" marR="38100" marT="19050" marB="19050" anchor="ctr">
                    <a:solidFill>
                      <a:srgbClr val="FFFFFF"/>
                    </a:solidFill>
                  </a:tcPr>
                </a:tc>
                <a:tc>
                  <a:txBody>
                    <a:bodyPr wrap="none"/>
                    <a:lstStyle/>
                    <a:p>
                      <a:pPr algn="l"/>
                      <a:r>
                        <a:rPr sz="800" b="0">
                          <a:solidFill>
                            <a:srgbClr val="2E2E2E"/>
                          </a:solidFill>
                          <a:latin typeface="Calibri"/>
                        </a:rPr>
                        <a:t>270.6</a:t>
                      </a:r>
                    </a:p>
                  </a:txBody>
                  <a:tcPr marL="85725" marR="38100" marT="19050" marB="19050" anchor="ctr">
                    <a:solidFill>
                      <a:srgbClr val="FFFFFF"/>
                    </a:solidFill>
                  </a:tcPr>
                </a:tc>
                <a:tc>
                  <a:txBody>
                    <a:bodyPr wrap="none"/>
                    <a:lstStyle/>
                    <a:p>
                      <a:pPr algn="l"/>
                      <a:r>
                        <a:rPr sz="800" b="0">
                          <a:solidFill>
                            <a:srgbClr val="2E2E2E"/>
                          </a:solidFill>
                          <a:latin typeface="Calibri"/>
                        </a:rPr>
                        <a:t>273.6</a:t>
                      </a:r>
                    </a:p>
                  </a:txBody>
                  <a:tcPr marL="85725" marR="38100" marT="19050" marB="19050" anchor="ctr">
                    <a:solidFill>
                      <a:srgbClr val="FFFFFF"/>
                    </a:solidFill>
                  </a:tcPr>
                </a:tc>
                <a:tc>
                  <a:txBody>
                    <a:bodyPr wrap="none"/>
                    <a:lstStyle/>
                    <a:p>
                      <a:pPr algn="l"/>
                      <a:r>
                        <a:rPr sz="800" b="0">
                          <a:solidFill>
                            <a:srgbClr val="2E2E2E"/>
                          </a:solidFill>
                          <a:latin typeface="Calibri"/>
                        </a:rPr>
                        <a:t>277.8</a:t>
                      </a:r>
                    </a:p>
                  </a:txBody>
                  <a:tcPr marL="85725" marR="38100" marT="19050" marB="19050" anchor="ctr">
                    <a:solidFill>
                      <a:srgbClr val="FFFFFF"/>
                    </a:solidFill>
                  </a:tcPr>
                </a:tc>
                <a:tc>
                  <a:txBody>
                    <a:bodyPr wrap="none"/>
                    <a:lstStyle/>
                    <a:p>
                      <a:pPr algn="l"/>
                      <a:r>
                        <a:rPr sz="800" b="0">
                          <a:solidFill>
                            <a:srgbClr val="2E2E2E"/>
                          </a:solidFill>
                          <a:latin typeface="Calibri"/>
                        </a:rPr>
                        <a:t>286.1</a:t>
                      </a:r>
                    </a:p>
                  </a:txBody>
                  <a:tcPr marL="85725" marR="38100" marT="19050" marB="19050" anchor="ctr">
                    <a:solidFill>
                      <a:srgbClr val="FFFFFF"/>
                    </a:solidFill>
                  </a:tcPr>
                </a:tc>
                <a:tc>
                  <a:txBody>
                    <a:bodyPr wrap="none"/>
                    <a:lstStyle/>
                    <a:p>
                      <a:pPr algn="l"/>
                      <a:r>
                        <a:rPr sz="800" b="0">
                          <a:solidFill>
                            <a:srgbClr val="2E2E2E"/>
                          </a:solidFill>
                          <a:latin typeface="Calibri"/>
                        </a:rPr>
                        <a:t>295.9</a:t>
                      </a:r>
                    </a:p>
                  </a:txBody>
                  <a:tcPr marL="85725" marR="38100" marT="19050" marB="19050" anchor="ctr">
                    <a:solidFill>
                      <a:srgbClr val="FFFFFF"/>
                    </a:solidFill>
                  </a:tcPr>
                </a:tc>
                <a:tc>
                  <a:txBody>
                    <a:bodyPr wrap="none"/>
                    <a:lstStyle/>
                    <a:p>
                      <a:pPr algn="l"/>
                      <a:r>
                        <a:rPr sz="800" b="0">
                          <a:solidFill>
                            <a:srgbClr val="2E2E2E"/>
                          </a:solidFill>
                          <a:latin typeface="Calibri"/>
                        </a:rPr>
                        <a:t>306.9</a:t>
                      </a:r>
                    </a:p>
                  </a:txBody>
                  <a:tcPr marL="85725" marR="38100" marT="19050" marB="19050" anchor="ctr">
                    <a:solidFill>
                      <a:srgbClr val="FFFFFF"/>
                    </a:solidFill>
                  </a:tcPr>
                </a:tc>
                <a:tc>
                  <a:txBody>
                    <a:bodyPr wrap="none"/>
                    <a:lstStyle/>
                    <a:p>
                      <a:pPr algn="l"/>
                      <a:r>
                        <a:rPr sz="800" b="0">
                          <a:solidFill>
                            <a:srgbClr val="2E2E2E"/>
                          </a:solidFill>
                          <a:latin typeface="Calibri"/>
                        </a:rPr>
                        <a:t>318.8</a:t>
                      </a:r>
                    </a:p>
                  </a:txBody>
                  <a:tcPr marL="85725" marR="38100" marT="19050" marB="19050" anchor="ctr">
                    <a:solidFill>
                      <a:srgbClr val="FFFFFF"/>
                    </a:solidFill>
                  </a:tcPr>
                </a:tc>
                <a:tc>
                  <a:txBody>
                    <a:bodyPr wrap="none"/>
                    <a:lstStyle/>
                    <a:p>
                      <a:pPr algn="l"/>
                      <a:r>
                        <a:rPr sz="800" b="0">
                          <a:solidFill>
                            <a:srgbClr val="2E2E2E"/>
                          </a:solidFill>
                          <a:latin typeface="Calibri"/>
                        </a:rPr>
                        <a:t>331.4</a:t>
                      </a:r>
                    </a:p>
                  </a:txBody>
                  <a:tcPr marL="85725" marR="38100" marT="19050" marB="19050" anchor="ctr">
                    <a:solidFill>
                      <a:srgbClr val="FFFFFF"/>
                    </a:solidFill>
                  </a:tcPr>
                </a:tc>
                <a:tc>
                  <a:txBody>
                    <a:bodyPr wrap="none"/>
                    <a:lstStyle/>
                    <a:p>
                      <a:pPr algn="l"/>
                      <a:r>
                        <a:rPr sz="800" b="0">
                          <a:solidFill>
                            <a:srgbClr val="2E2E2E"/>
                          </a:solidFill>
                          <a:latin typeface="Calibri"/>
                        </a:rPr>
                        <a:t>344.5</a:t>
                      </a:r>
                    </a:p>
                  </a:txBody>
                  <a:tcPr marL="85725" marR="38100" marT="19050" marB="19050" anchor="ctr">
                    <a:solidFill>
                      <a:srgbClr val="FFFFFF"/>
                    </a:solidFill>
                  </a:tcPr>
                </a:tc>
                <a:tc>
                  <a:txBody>
                    <a:bodyPr wrap="none"/>
                    <a:lstStyle/>
                    <a:p>
                      <a:pPr algn="l"/>
                      <a:r>
                        <a:rPr sz="800" b="0">
                          <a:solidFill>
                            <a:srgbClr val="2E2E2E"/>
                          </a:solidFill>
                          <a:latin typeface="Calibri"/>
                        </a:rPr>
                        <a:t>358.4</a:t>
                      </a:r>
                    </a:p>
                  </a:txBody>
                  <a:tcPr marL="85725" marR="38100" marT="19050" marB="19050" anchor="ctr">
                    <a:solidFill>
                      <a:srgbClr val="FFFFFF"/>
                    </a:solidFill>
                  </a:tcPr>
                </a:tc>
                <a:tc>
                  <a:txBody>
                    <a:bodyPr wrap="none"/>
                    <a:lstStyle/>
                    <a:p>
                      <a:pPr algn="l"/>
                      <a:r>
                        <a:rPr sz="800" b="0">
                          <a:solidFill>
                            <a:srgbClr val="2E2E2E"/>
                          </a:solidFill>
                          <a:latin typeface="Calibri"/>
                        </a:rPr>
                        <a:t>372.8</a:t>
                      </a:r>
                    </a:p>
                  </a:txBody>
                  <a:tcPr marL="85725" marR="38100" marT="19050" marB="19050" anchor="ctr">
                    <a:solidFill>
                      <a:srgbClr val="FFFFFF"/>
                    </a:solidFill>
                  </a:tcPr>
                </a:tc>
                <a:tc>
                  <a:txBody>
                    <a:bodyPr wrap="none"/>
                    <a:lstStyle/>
                    <a:p>
                      <a:pPr algn="l"/>
                      <a:r>
                        <a:rPr sz="800" b="0">
                          <a:solidFill>
                            <a:srgbClr val="2E2E2E"/>
                          </a:solidFill>
                          <a:latin typeface="Calibri"/>
                        </a:rPr>
                        <a:t>388.5</a:t>
                      </a:r>
                    </a:p>
                  </a:txBody>
                  <a:tcPr marL="85725" marR="38100" marT="19050" marB="19050" anchor="ctr">
                    <a:solidFill>
                      <a:srgbClr val="FFFFFF"/>
                    </a:solidFill>
                  </a:tcPr>
                </a:tc>
                <a:tc>
                  <a:txBody>
                    <a:bodyPr wrap="none"/>
                    <a:lstStyle/>
                    <a:p>
                      <a:pPr algn="l"/>
                      <a:r>
                        <a:rPr sz="800" b="0">
                          <a:solidFill>
                            <a:srgbClr val="2E2E2E"/>
                          </a:solidFill>
                          <a:latin typeface="Calibri"/>
                        </a:rPr>
                        <a:t>405.1</a:t>
                      </a:r>
                    </a:p>
                  </a:txBody>
                  <a:tcPr marL="85725" marR="38100" marT="19050" marB="19050" anchor="ctr">
                    <a:solidFill>
                      <a:srgbClr val="FFFFFF"/>
                    </a:solidFill>
                  </a:tcPr>
                </a:tc>
                <a:tc>
                  <a:txBody>
                    <a:bodyPr wrap="none"/>
                    <a:lstStyle/>
                    <a:p>
                      <a:pPr algn="l"/>
                      <a:r>
                        <a:rPr sz="800" b="0">
                          <a:solidFill>
                            <a:srgbClr val="2E2E2E"/>
                          </a:solidFill>
                          <a:latin typeface="Calibri"/>
                        </a:rPr>
                        <a:t>423.2</a:t>
                      </a:r>
                    </a:p>
                  </a:txBody>
                  <a:tcPr marL="85725" marR="38100" marT="19050" marB="19050" anchor="ctr">
                    <a:solidFill>
                      <a:srgbClr val="FFFFFF"/>
                    </a:solidFill>
                  </a:tcPr>
                </a:tc>
                <a:tc>
                  <a:txBody>
                    <a:bodyPr wrap="none"/>
                    <a:lstStyle/>
                    <a:p>
                      <a:pPr algn="l"/>
                      <a:r>
                        <a:rPr sz="800" b="0">
                          <a:solidFill>
                            <a:srgbClr val="2E2E2E"/>
                          </a:solidFill>
                          <a:latin typeface="Calibri"/>
                        </a:rPr>
                        <a:t>4.0%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0">
                          <a:solidFill>
                            <a:srgbClr val="2E2E2E"/>
                          </a:solidFill>
                          <a:latin typeface="Calibri"/>
                        </a:rPr>
                        <a:t>272.8</a:t>
                      </a:r>
                    </a:p>
                  </a:txBody>
                  <a:tcPr marL="85725" marR="38100" marT="19050" marB="19050" anchor="ctr">
                    <a:solidFill>
                      <a:srgbClr val="F5F8FA"/>
                    </a:solidFill>
                  </a:tcPr>
                </a:tc>
                <a:tc>
                  <a:txBody>
                    <a:bodyPr wrap="none"/>
                    <a:lstStyle/>
                    <a:p>
                      <a:pPr algn="l"/>
                      <a:r>
                        <a:rPr sz="800" b="0">
                          <a:solidFill>
                            <a:srgbClr val="2E2E2E"/>
                          </a:solidFill>
                          <a:latin typeface="Calibri"/>
                        </a:rPr>
                        <a:t>283.2</a:t>
                      </a:r>
                    </a:p>
                  </a:txBody>
                  <a:tcPr marL="85725" marR="38100" marT="19050" marB="19050" anchor="ctr">
                    <a:solidFill>
                      <a:srgbClr val="F5F8FA"/>
                    </a:solidFill>
                  </a:tcPr>
                </a:tc>
                <a:tc>
                  <a:txBody>
                    <a:bodyPr wrap="none"/>
                    <a:lstStyle/>
                    <a:p>
                      <a:pPr algn="l"/>
                      <a:r>
                        <a:rPr sz="800" b="0">
                          <a:solidFill>
                            <a:srgbClr val="2E2E2E"/>
                          </a:solidFill>
                          <a:latin typeface="Calibri"/>
                        </a:rPr>
                        <a:t>295.3</a:t>
                      </a:r>
                    </a:p>
                  </a:txBody>
                  <a:tcPr marL="85725" marR="38100" marT="19050" marB="19050" anchor="ctr">
                    <a:solidFill>
                      <a:srgbClr val="F5F8FA"/>
                    </a:solidFill>
                  </a:tcPr>
                </a:tc>
                <a:tc>
                  <a:txBody>
                    <a:bodyPr wrap="none"/>
                    <a:lstStyle/>
                    <a:p>
                      <a:pPr algn="l"/>
                      <a:r>
                        <a:rPr sz="800" b="0">
                          <a:solidFill>
                            <a:srgbClr val="2E2E2E"/>
                          </a:solidFill>
                          <a:latin typeface="Calibri"/>
                        </a:rPr>
                        <a:t>310.1</a:t>
                      </a:r>
                    </a:p>
                  </a:txBody>
                  <a:tcPr marL="85725" marR="38100" marT="19050" marB="19050" anchor="ctr">
                    <a:solidFill>
                      <a:srgbClr val="F5F8FA"/>
                    </a:solidFill>
                  </a:tcPr>
                </a:tc>
                <a:tc>
                  <a:txBody>
                    <a:bodyPr wrap="none"/>
                    <a:lstStyle/>
                    <a:p>
                      <a:pPr algn="l"/>
                      <a:r>
                        <a:rPr sz="800" b="0">
                          <a:solidFill>
                            <a:srgbClr val="2E2E2E"/>
                          </a:solidFill>
                          <a:latin typeface="Calibri"/>
                        </a:rPr>
                        <a:t>327.4</a:t>
                      </a:r>
                    </a:p>
                  </a:txBody>
                  <a:tcPr marL="85725" marR="38100" marT="19050" marB="19050" anchor="ctr">
                    <a:solidFill>
                      <a:srgbClr val="F5F8FA"/>
                    </a:solidFill>
                  </a:tcPr>
                </a:tc>
                <a:tc>
                  <a:txBody>
                    <a:bodyPr wrap="none"/>
                    <a:lstStyle/>
                    <a:p>
                      <a:pPr algn="l"/>
                      <a:r>
                        <a:rPr sz="800" b="0">
                          <a:solidFill>
                            <a:srgbClr val="2E2E2E"/>
                          </a:solidFill>
                          <a:latin typeface="Calibri"/>
                        </a:rPr>
                        <a:t>346.7</a:t>
                      </a:r>
                    </a:p>
                  </a:txBody>
                  <a:tcPr marL="85725" marR="38100" marT="19050" marB="19050" anchor="ctr">
                    <a:solidFill>
                      <a:srgbClr val="F5F8FA"/>
                    </a:solidFill>
                  </a:tcPr>
                </a:tc>
                <a:tc>
                  <a:txBody>
                    <a:bodyPr wrap="none"/>
                    <a:lstStyle/>
                    <a:p>
                      <a:pPr algn="l"/>
                      <a:r>
                        <a:rPr sz="800" b="0">
                          <a:solidFill>
                            <a:srgbClr val="2E2E2E"/>
                          </a:solidFill>
                          <a:latin typeface="Calibri"/>
                        </a:rPr>
                        <a:t>368.9</a:t>
                      </a:r>
                    </a:p>
                  </a:txBody>
                  <a:tcPr marL="85725" marR="38100" marT="19050" marB="19050" anchor="ctr">
                    <a:solidFill>
                      <a:srgbClr val="F5F8FA"/>
                    </a:solidFill>
                  </a:tcPr>
                </a:tc>
                <a:tc>
                  <a:txBody>
                    <a:bodyPr wrap="none"/>
                    <a:lstStyle/>
                    <a:p>
                      <a:pPr algn="l"/>
                      <a:r>
                        <a:rPr sz="800" b="0">
                          <a:solidFill>
                            <a:srgbClr val="2E2E2E"/>
                          </a:solidFill>
                          <a:latin typeface="Calibri"/>
                        </a:rPr>
                        <a:t>394.0</a:t>
                      </a:r>
                    </a:p>
                  </a:txBody>
                  <a:tcPr marL="85725" marR="38100" marT="19050" marB="19050" anchor="ctr">
                    <a:solidFill>
                      <a:srgbClr val="F5F8FA"/>
                    </a:solidFill>
                  </a:tcPr>
                </a:tc>
                <a:tc>
                  <a:txBody>
                    <a:bodyPr wrap="none"/>
                    <a:lstStyle/>
                    <a:p>
                      <a:pPr algn="l"/>
                      <a:r>
                        <a:rPr sz="800" b="0">
                          <a:solidFill>
                            <a:srgbClr val="2E2E2E"/>
                          </a:solidFill>
                          <a:latin typeface="Calibri"/>
                        </a:rPr>
                        <a:t>421.8</a:t>
                      </a:r>
                    </a:p>
                  </a:txBody>
                  <a:tcPr marL="85725" marR="38100" marT="19050" marB="19050" anchor="ctr">
                    <a:solidFill>
                      <a:srgbClr val="F5F8FA"/>
                    </a:solidFill>
                  </a:tcPr>
                </a:tc>
                <a:tc>
                  <a:txBody>
                    <a:bodyPr wrap="none"/>
                    <a:lstStyle/>
                    <a:p>
                      <a:pPr algn="l"/>
                      <a:r>
                        <a:rPr sz="800" b="0">
                          <a:solidFill>
                            <a:srgbClr val="2E2E2E"/>
                          </a:solidFill>
                          <a:latin typeface="Calibri"/>
                        </a:rPr>
                        <a:t>452.0</a:t>
                      </a:r>
                    </a:p>
                  </a:txBody>
                  <a:tcPr marL="85725" marR="38100" marT="19050" marB="19050" anchor="ctr">
                    <a:solidFill>
                      <a:srgbClr val="F5F8FA"/>
                    </a:solidFill>
                  </a:tcPr>
                </a:tc>
                <a:tc>
                  <a:txBody>
                    <a:bodyPr wrap="none"/>
                    <a:lstStyle/>
                    <a:p>
                      <a:pPr algn="l"/>
                      <a:r>
                        <a:rPr sz="800" b="0">
                          <a:solidFill>
                            <a:srgbClr val="2E2E2E"/>
                          </a:solidFill>
                          <a:latin typeface="Calibri"/>
                        </a:rPr>
                        <a:t>484.7</a:t>
                      </a:r>
                    </a:p>
                  </a:txBody>
                  <a:tcPr marL="85725" marR="38100" marT="19050" marB="19050" anchor="ctr">
                    <a:solidFill>
                      <a:srgbClr val="F5F8FA"/>
                    </a:solidFill>
                  </a:tcPr>
                </a:tc>
                <a:tc>
                  <a:txBody>
                    <a:bodyPr wrap="none"/>
                    <a:lstStyle/>
                    <a:p>
                      <a:pPr algn="l"/>
                      <a:r>
                        <a:rPr sz="800" b="0">
                          <a:solidFill>
                            <a:srgbClr val="2E2E2E"/>
                          </a:solidFill>
                          <a:latin typeface="Calibri"/>
                        </a:rPr>
                        <a:t>520.4</a:t>
                      </a:r>
                    </a:p>
                  </a:txBody>
                  <a:tcPr marL="85725" marR="38100" marT="19050" marB="19050" anchor="ctr">
                    <a:solidFill>
                      <a:srgbClr val="F5F8FA"/>
                    </a:solidFill>
                  </a:tcPr>
                </a:tc>
                <a:tc>
                  <a:txBody>
                    <a:bodyPr wrap="none"/>
                    <a:lstStyle/>
                    <a:p>
                      <a:pPr algn="l"/>
                      <a:r>
                        <a:rPr sz="800" b="0">
                          <a:solidFill>
                            <a:srgbClr val="2E2E2E"/>
                          </a:solidFill>
                          <a:latin typeface="Calibri"/>
                        </a:rPr>
                        <a:t>558.9</a:t>
                      </a:r>
                    </a:p>
                  </a:txBody>
                  <a:tcPr marL="85725" marR="38100" marT="19050" marB="19050" anchor="ctr">
                    <a:solidFill>
                      <a:srgbClr val="F5F8FA"/>
                    </a:solidFill>
                  </a:tcPr>
                </a:tc>
                <a:tc>
                  <a:txBody>
                    <a:bodyPr wrap="none"/>
                    <a:lstStyle/>
                    <a:p>
                      <a:pPr algn="l"/>
                      <a:r>
                        <a:rPr sz="800" b="0">
                          <a:solidFill>
                            <a:srgbClr val="2E2E2E"/>
                          </a:solidFill>
                          <a:latin typeface="Calibri"/>
                        </a:rPr>
                        <a:t>601.7</a:t>
                      </a:r>
                    </a:p>
                  </a:txBody>
                  <a:tcPr marL="85725" marR="38100" marT="19050" marB="19050" anchor="ctr">
                    <a:solidFill>
                      <a:srgbClr val="F5F8FA"/>
                    </a:solidFill>
                  </a:tcPr>
                </a:tc>
                <a:tc>
                  <a:txBody>
                    <a:bodyPr wrap="none"/>
                    <a:lstStyle/>
                    <a:p>
                      <a:pPr algn="l"/>
                      <a:r>
                        <a:rPr sz="800" b="0">
                          <a:solidFill>
                            <a:srgbClr val="2E2E2E"/>
                          </a:solidFill>
                          <a:latin typeface="Calibri"/>
                        </a:rPr>
                        <a:t>648.6</a:t>
                      </a:r>
                    </a:p>
                  </a:txBody>
                  <a:tcPr marL="85725" marR="38100" marT="19050" marB="19050" anchor="ctr">
                    <a:solidFill>
                      <a:srgbClr val="F5F8FA"/>
                    </a:solidFill>
                  </a:tcPr>
                </a:tc>
                <a:tc>
                  <a:txBody>
                    <a:bodyPr wrap="none"/>
                    <a:lstStyle/>
                    <a:p>
                      <a:pPr algn="l"/>
                      <a:r>
                        <a:rPr sz="800" b="0">
                          <a:solidFill>
                            <a:srgbClr val="2E2E2E"/>
                          </a:solidFill>
                          <a:latin typeface="Calibri"/>
                        </a:rPr>
                        <a:t>700.7</a:t>
                      </a:r>
                    </a:p>
                  </a:txBody>
                  <a:tcPr marL="85725" marR="38100" marT="19050" marB="19050" anchor="ctr">
                    <a:solidFill>
                      <a:srgbClr val="F5F8FA"/>
                    </a:solidFill>
                  </a:tcPr>
                </a:tc>
                <a:tc>
                  <a:txBody>
                    <a:bodyPr wrap="none"/>
                    <a:lstStyle/>
                    <a:p>
                      <a:pPr algn="l"/>
                      <a:r>
                        <a:rPr sz="800" b="0">
                          <a:solidFill>
                            <a:srgbClr val="2E2E2E"/>
                          </a:solidFill>
                          <a:latin typeface="Calibri"/>
                        </a:rPr>
                        <a:t>7.3%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0">
                          <a:solidFill>
                            <a:srgbClr val="2E2E2E"/>
                          </a:solidFill>
                          <a:latin typeface="Calibri"/>
                        </a:rPr>
                        <a:t>83.9</a:t>
                      </a:r>
                    </a:p>
                  </a:txBody>
                  <a:tcPr marL="85725" marR="38100" marT="19050" marB="19050" anchor="ctr">
                    <a:solidFill>
                      <a:srgbClr val="FFFFFF"/>
                    </a:solidFill>
                  </a:tcPr>
                </a:tc>
                <a:tc>
                  <a:txBody>
                    <a:bodyPr wrap="none"/>
                    <a:lstStyle/>
                    <a:p>
                      <a:pPr algn="l"/>
                      <a:r>
                        <a:rPr sz="800" b="0">
                          <a:solidFill>
                            <a:srgbClr val="2E2E2E"/>
                          </a:solidFill>
                          <a:latin typeface="Calibri"/>
                        </a:rPr>
                        <a:t>93.1</a:t>
                      </a:r>
                    </a:p>
                  </a:txBody>
                  <a:tcPr marL="85725" marR="38100" marT="19050" marB="19050" anchor="ctr">
                    <a:solidFill>
                      <a:srgbClr val="FFFFFF"/>
                    </a:solidFill>
                  </a:tcPr>
                </a:tc>
                <a:tc>
                  <a:txBody>
                    <a:bodyPr wrap="none"/>
                    <a:lstStyle/>
                    <a:p>
                      <a:pPr algn="l"/>
                      <a:r>
                        <a:rPr sz="800" b="0">
                          <a:solidFill>
                            <a:srgbClr val="2E2E2E"/>
                          </a:solidFill>
                          <a:latin typeface="Calibri"/>
                        </a:rPr>
                        <a:t>103.7</a:t>
                      </a:r>
                    </a:p>
                  </a:txBody>
                  <a:tcPr marL="85725" marR="38100" marT="19050" marB="19050" anchor="ctr">
                    <a:solidFill>
                      <a:srgbClr val="FFFFFF"/>
                    </a:solidFill>
                  </a:tcPr>
                </a:tc>
                <a:tc>
                  <a:txBody>
                    <a:bodyPr wrap="none"/>
                    <a:lstStyle/>
                    <a:p>
                      <a:pPr algn="l"/>
                      <a:r>
                        <a:rPr sz="800" b="0">
                          <a:solidFill>
                            <a:srgbClr val="2E2E2E"/>
                          </a:solidFill>
                          <a:latin typeface="Calibri"/>
                        </a:rPr>
                        <a:t>116.3</a:t>
                      </a:r>
                    </a:p>
                  </a:txBody>
                  <a:tcPr marL="85725" marR="38100" marT="19050" marB="19050" anchor="ctr">
                    <a:solidFill>
                      <a:srgbClr val="FFFFFF"/>
                    </a:solidFill>
                  </a:tcPr>
                </a:tc>
                <a:tc>
                  <a:txBody>
                    <a:bodyPr wrap="none"/>
                    <a:lstStyle/>
                    <a:p>
                      <a:pPr algn="l"/>
                      <a:r>
                        <a:rPr sz="800" b="0">
                          <a:solidFill>
                            <a:srgbClr val="2E2E2E"/>
                          </a:solidFill>
                          <a:latin typeface="Calibri"/>
                        </a:rPr>
                        <a:t>131.1</a:t>
                      </a:r>
                    </a:p>
                  </a:txBody>
                  <a:tcPr marL="85725" marR="38100" marT="19050" marB="19050" anchor="ctr">
                    <a:solidFill>
                      <a:srgbClr val="FFFFFF"/>
                    </a:solidFill>
                  </a:tcPr>
                </a:tc>
                <a:tc>
                  <a:txBody>
                    <a:bodyPr wrap="none"/>
                    <a:lstStyle/>
                    <a:p>
                      <a:pPr algn="l"/>
                      <a:r>
                        <a:rPr sz="800" b="0">
                          <a:solidFill>
                            <a:srgbClr val="2E2E2E"/>
                          </a:solidFill>
                          <a:latin typeface="Calibri"/>
                        </a:rPr>
                        <a:t>148.8</a:t>
                      </a:r>
                    </a:p>
                  </a:txBody>
                  <a:tcPr marL="85725" marR="38100" marT="19050" marB="19050" anchor="ctr">
                    <a:solidFill>
                      <a:srgbClr val="FFFFFF"/>
                    </a:solidFill>
                  </a:tcPr>
                </a:tc>
                <a:tc>
                  <a:txBody>
                    <a:bodyPr wrap="none"/>
                    <a:lstStyle/>
                    <a:p>
                      <a:pPr algn="l"/>
                      <a:r>
                        <a:rPr sz="800" b="0">
                          <a:solidFill>
                            <a:srgbClr val="2E2E2E"/>
                          </a:solidFill>
                          <a:latin typeface="Calibri"/>
                        </a:rPr>
                        <a:t>169.7</a:t>
                      </a:r>
                    </a:p>
                  </a:txBody>
                  <a:tcPr marL="85725" marR="38100" marT="19050" marB="19050" anchor="ctr">
                    <a:solidFill>
                      <a:srgbClr val="FFFFFF"/>
                    </a:solidFill>
                  </a:tcPr>
                </a:tc>
                <a:tc>
                  <a:txBody>
                    <a:bodyPr wrap="none"/>
                    <a:lstStyle/>
                    <a:p>
                      <a:pPr algn="l"/>
                      <a:r>
                        <a:rPr sz="800" b="0">
                          <a:solidFill>
                            <a:srgbClr val="2E2E2E"/>
                          </a:solidFill>
                          <a:latin typeface="Calibri"/>
                        </a:rPr>
                        <a:t>194.0</a:t>
                      </a:r>
                    </a:p>
                  </a:txBody>
                  <a:tcPr marL="85725" marR="38100" marT="19050" marB="19050" anchor="ctr">
                    <a:solidFill>
                      <a:srgbClr val="FFFFFF"/>
                    </a:solidFill>
                  </a:tcPr>
                </a:tc>
                <a:tc>
                  <a:txBody>
                    <a:bodyPr wrap="none"/>
                    <a:lstStyle/>
                    <a:p>
                      <a:pPr algn="l"/>
                      <a:r>
                        <a:rPr sz="800" b="0">
                          <a:solidFill>
                            <a:srgbClr val="2E2E2E"/>
                          </a:solidFill>
                          <a:latin typeface="Calibri"/>
                        </a:rPr>
                        <a:t>222.4</a:t>
                      </a:r>
                    </a:p>
                  </a:txBody>
                  <a:tcPr marL="85725" marR="38100" marT="19050" marB="19050" anchor="ctr">
                    <a:solidFill>
                      <a:srgbClr val="FFFFFF"/>
                    </a:solidFill>
                  </a:tcPr>
                </a:tc>
                <a:tc>
                  <a:txBody>
                    <a:bodyPr wrap="none"/>
                    <a:lstStyle/>
                    <a:p>
                      <a:pPr algn="l"/>
                      <a:r>
                        <a:rPr sz="800" b="0">
                          <a:solidFill>
                            <a:srgbClr val="2E2E2E"/>
                          </a:solidFill>
                          <a:latin typeface="Calibri"/>
                        </a:rPr>
                        <a:t>255.1</a:t>
                      </a:r>
                    </a:p>
                  </a:txBody>
                  <a:tcPr marL="85725" marR="38100" marT="19050" marB="19050" anchor="ctr">
                    <a:solidFill>
                      <a:srgbClr val="FFFFFF"/>
                    </a:solidFill>
                  </a:tcPr>
                </a:tc>
                <a:tc>
                  <a:txBody>
                    <a:bodyPr wrap="none"/>
                    <a:lstStyle/>
                    <a:p>
                      <a:pPr algn="l"/>
                      <a:r>
                        <a:rPr sz="800" b="0">
                          <a:solidFill>
                            <a:srgbClr val="2E2E2E"/>
                          </a:solidFill>
                          <a:latin typeface="Calibri"/>
                        </a:rPr>
                        <a:t>292.7</a:t>
                      </a:r>
                    </a:p>
                  </a:txBody>
                  <a:tcPr marL="85725" marR="38100" marT="19050" marB="19050" anchor="ctr">
                    <a:solidFill>
                      <a:srgbClr val="FFFFFF"/>
                    </a:solidFill>
                  </a:tcPr>
                </a:tc>
                <a:tc>
                  <a:txBody>
                    <a:bodyPr wrap="none"/>
                    <a:lstStyle/>
                    <a:p>
                      <a:pPr algn="l"/>
                      <a:r>
                        <a:rPr sz="800" b="0">
                          <a:solidFill>
                            <a:srgbClr val="2E2E2E"/>
                          </a:solidFill>
                          <a:latin typeface="Calibri"/>
                        </a:rPr>
                        <a:t>336.1</a:t>
                      </a:r>
                    </a:p>
                  </a:txBody>
                  <a:tcPr marL="85725" marR="38100" marT="19050" marB="19050" anchor="ctr">
                    <a:solidFill>
                      <a:srgbClr val="FFFFFF"/>
                    </a:solidFill>
                  </a:tcPr>
                </a:tc>
                <a:tc>
                  <a:txBody>
                    <a:bodyPr wrap="none"/>
                    <a:lstStyle/>
                    <a:p>
                      <a:pPr algn="l"/>
                      <a:r>
                        <a:rPr sz="800" b="0">
                          <a:solidFill>
                            <a:srgbClr val="2E2E2E"/>
                          </a:solidFill>
                          <a:latin typeface="Calibri"/>
                        </a:rPr>
                        <a:t>386.0</a:t>
                      </a:r>
                    </a:p>
                  </a:txBody>
                  <a:tcPr marL="85725" marR="38100" marT="19050" marB="19050" anchor="ctr">
                    <a:solidFill>
                      <a:srgbClr val="FFFFFF"/>
                    </a:solidFill>
                  </a:tcPr>
                </a:tc>
                <a:tc>
                  <a:txBody>
                    <a:bodyPr wrap="none"/>
                    <a:lstStyle/>
                    <a:p>
                      <a:pPr algn="l"/>
                      <a:r>
                        <a:rPr sz="800" b="0">
                          <a:solidFill>
                            <a:srgbClr val="2E2E2E"/>
                          </a:solidFill>
                          <a:latin typeface="Calibri"/>
                        </a:rPr>
                        <a:t>444.4</a:t>
                      </a:r>
                    </a:p>
                  </a:txBody>
                  <a:tcPr marL="85725" marR="38100" marT="19050" marB="19050" anchor="ctr">
                    <a:solidFill>
                      <a:srgbClr val="FFFFFF"/>
                    </a:solidFill>
                  </a:tcPr>
                </a:tc>
                <a:tc>
                  <a:txBody>
                    <a:bodyPr wrap="none"/>
                    <a:lstStyle/>
                    <a:p>
                      <a:pPr algn="l"/>
                      <a:r>
                        <a:rPr sz="800" b="0">
                          <a:solidFill>
                            <a:srgbClr val="2E2E2E"/>
                          </a:solidFill>
                          <a:latin typeface="Calibri"/>
                        </a:rPr>
                        <a:t>512.0</a:t>
                      </a:r>
                    </a:p>
                  </a:txBody>
                  <a:tcPr marL="85725" marR="38100" marT="19050" marB="19050" anchor="ctr">
                    <a:solidFill>
                      <a:srgbClr val="FFFFFF"/>
                    </a:solidFill>
                  </a:tcPr>
                </a:tc>
                <a:tc>
                  <a:txBody>
                    <a:bodyPr wrap="none"/>
                    <a:lstStyle/>
                    <a:p>
                      <a:pPr algn="l"/>
                      <a:r>
                        <a:rPr sz="800" b="0">
                          <a:solidFill>
                            <a:srgbClr val="2E2E2E"/>
                          </a:solidFill>
                          <a:latin typeface="Calibri"/>
                        </a:rPr>
                        <a:t>591.0</a:t>
                      </a:r>
                    </a:p>
                  </a:txBody>
                  <a:tcPr marL="85725" marR="38100" marT="19050" marB="19050" anchor="ctr">
                    <a:solidFill>
                      <a:srgbClr val="FFFFFF"/>
                    </a:solidFill>
                  </a:tcPr>
                </a:tc>
                <a:tc>
                  <a:txBody>
                    <a:bodyPr wrap="none"/>
                    <a:lstStyle/>
                    <a:p>
                      <a:pPr algn="l"/>
                      <a:r>
                        <a:rPr sz="800" b="0">
                          <a:solidFill>
                            <a:srgbClr val="2E2E2E"/>
                          </a:solidFill>
                          <a:latin typeface="Calibri"/>
                        </a:rPr>
                        <a:t>14.8%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0">
                          <a:solidFill>
                            <a:srgbClr val="2E2E2E"/>
                          </a:solidFill>
                          <a:latin typeface="Calibri"/>
                        </a:rPr>
                        <a:t>51.8</a:t>
                      </a:r>
                    </a:p>
                  </a:txBody>
                  <a:tcPr marL="85725" marR="38100" marT="19050" marB="19050" anchor="ctr">
                    <a:solidFill>
                      <a:srgbClr val="F5F8FA"/>
                    </a:solidFill>
                  </a:tcPr>
                </a:tc>
                <a:tc>
                  <a:txBody>
                    <a:bodyPr wrap="none"/>
                    <a:lstStyle/>
                    <a:p>
                      <a:pPr algn="l"/>
                      <a:r>
                        <a:rPr sz="800" b="0">
                          <a:solidFill>
                            <a:srgbClr val="2E2E2E"/>
                          </a:solidFill>
                          <a:latin typeface="Calibri"/>
                        </a:rPr>
                        <a:t>54.8</a:t>
                      </a:r>
                    </a:p>
                  </a:txBody>
                  <a:tcPr marL="85725" marR="38100" marT="19050" marB="19050" anchor="ctr">
                    <a:solidFill>
                      <a:srgbClr val="F5F8FA"/>
                    </a:solidFill>
                  </a:tcPr>
                </a:tc>
                <a:tc>
                  <a:txBody>
                    <a:bodyPr wrap="none"/>
                    <a:lstStyle/>
                    <a:p>
                      <a:pPr algn="l"/>
                      <a:r>
                        <a:rPr sz="800" b="0">
                          <a:solidFill>
                            <a:srgbClr val="2E2E2E"/>
                          </a:solidFill>
                          <a:latin typeface="Calibri"/>
                        </a:rPr>
                        <a:t>58.2</a:t>
                      </a:r>
                    </a:p>
                  </a:txBody>
                  <a:tcPr marL="85725" marR="38100" marT="19050" marB="19050" anchor="ctr">
                    <a:solidFill>
                      <a:srgbClr val="F5F8FA"/>
                    </a:solidFill>
                  </a:tcPr>
                </a:tc>
                <a:tc>
                  <a:txBody>
                    <a:bodyPr wrap="none"/>
                    <a:lstStyle/>
                    <a:p>
                      <a:pPr algn="l"/>
                      <a:r>
                        <a:rPr sz="800" b="0">
                          <a:solidFill>
                            <a:srgbClr val="2E2E2E"/>
                          </a:solidFill>
                          <a:latin typeface="Calibri"/>
                        </a:rPr>
                        <a:t>62.1</a:t>
                      </a:r>
                    </a:p>
                  </a:txBody>
                  <a:tcPr marL="85725" marR="38100" marT="19050" marB="19050" anchor="ctr">
                    <a:solidFill>
                      <a:srgbClr val="F5F8FA"/>
                    </a:solidFill>
                  </a:tcPr>
                </a:tc>
                <a:tc>
                  <a:txBody>
                    <a:bodyPr wrap="none"/>
                    <a:lstStyle/>
                    <a:p>
                      <a:pPr algn="l"/>
                      <a:r>
                        <a:rPr sz="800" b="0">
                          <a:solidFill>
                            <a:srgbClr val="2E2E2E"/>
                          </a:solidFill>
                          <a:latin typeface="Calibri"/>
                        </a:rPr>
                        <a:t>66.7</a:t>
                      </a:r>
                    </a:p>
                  </a:txBody>
                  <a:tcPr marL="85725" marR="38100" marT="19050" marB="19050" anchor="ctr">
                    <a:solidFill>
                      <a:srgbClr val="F5F8FA"/>
                    </a:solidFill>
                  </a:tcPr>
                </a:tc>
                <a:tc>
                  <a:txBody>
                    <a:bodyPr wrap="none"/>
                    <a:lstStyle/>
                    <a:p>
                      <a:pPr algn="l"/>
                      <a:r>
                        <a:rPr sz="800" b="0">
                          <a:solidFill>
                            <a:srgbClr val="2E2E2E"/>
                          </a:solidFill>
                          <a:latin typeface="Calibri"/>
                        </a:rPr>
                        <a:t>72.0</a:t>
                      </a:r>
                    </a:p>
                  </a:txBody>
                  <a:tcPr marL="85725" marR="38100" marT="19050" marB="19050" anchor="ctr">
                    <a:solidFill>
                      <a:srgbClr val="F5F8FA"/>
                    </a:solidFill>
                  </a:tcPr>
                </a:tc>
                <a:tc>
                  <a:txBody>
                    <a:bodyPr wrap="none"/>
                    <a:lstStyle/>
                    <a:p>
                      <a:pPr algn="l"/>
                      <a:r>
                        <a:rPr sz="800" b="0">
                          <a:solidFill>
                            <a:srgbClr val="2E2E2E"/>
                          </a:solidFill>
                          <a:latin typeface="Calibri"/>
                        </a:rPr>
                        <a:t>78.1</a:t>
                      </a:r>
                    </a:p>
                  </a:txBody>
                  <a:tcPr marL="85725" marR="38100" marT="19050" marB="19050" anchor="ctr">
                    <a:solidFill>
                      <a:srgbClr val="F5F8FA"/>
                    </a:solidFill>
                  </a:tcPr>
                </a:tc>
                <a:tc>
                  <a:txBody>
                    <a:bodyPr wrap="none"/>
                    <a:lstStyle/>
                    <a:p>
                      <a:pPr algn="l"/>
                      <a:r>
                        <a:rPr sz="800" b="0">
                          <a:solidFill>
                            <a:srgbClr val="2E2E2E"/>
                          </a:solidFill>
                          <a:latin typeface="Calibri"/>
                        </a:rPr>
                        <a:t>84.9</a:t>
                      </a:r>
                    </a:p>
                  </a:txBody>
                  <a:tcPr marL="85725" marR="38100" marT="19050" marB="19050" anchor="ctr">
                    <a:solidFill>
                      <a:srgbClr val="F5F8FA"/>
                    </a:solidFill>
                  </a:tcPr>
                </a:tc>
                <a:tc>
                  <a:txBody>
                    <a:bodyPr wrap="none"/>
                    <a:lstStyle/>
                    <a:p>
                      <a:pPr algn="l"/>
                      <a:r>
                        <a:rPr sz="800" b="0">
                          <a:solidFill>
                            <a:srgbClr val="2E2E2E"/>
                          </a:solidFill>
                          <a:latin typeface="Calibri"/>
                        </a:rPr>
                        <a:t>92.5</a:t>
                      </a:r>
                    </a:p>
                  </a:txBody>
                  <a:tcPr marL="85725" marR="38100" marT="19050" marB="19050" anchor="ctr">
                    <a:solidFill>
                      <a:srgbClr val="F5F8FA"/>
                    </a:solidFill>
                  </a:tcPr>
                </a:tc>
                <a:tc>
                  <a:txBody>
                    <a:bodyPr wrap="none"/>
                    <a:lstStyle/>
                    <a:p>
                      <a:pPr algn="l"/>
                      <a:r>
                        <a:rPr sz="800" b="0">
                          <a:solidFill>
                            <a:srgbClr val="2E2E2E"/>
                          </a:solidFill>
                          <a:latin typeface="Calibri"/>
                        </a:rPr>
                        <a:t>100.9</a:t>
                      </a:r>
                    </a:p>
                  </a:txBody>
                  <a:tcPr marL="85725" marR="38100" marT="19050" marB="19050" anchor="ctr">
                    <a:solidFill>
                      <a:srgbClr val="F5F8FA"/>
                    </a:solidFill>
                  </a:tcPr>
                </a:tc>
                <a:tc>
                  <a:txBody>
                    <a:bodyPr wrap="none"/>
                    <a:lstStyle/>
                    <a:p>
                      <a:pPr algn="l"/>
                      <a:r>
                        <a:rPr sz="800" b="0">
                          <a:solidFill>
                            <a:srgbClr val="2E2E2E"/>
                          </a:solidFill>
                          <a:latin typeface="Calibri"/>
                        </a:rPr>
                        <a:t>110.0</a:t>
                      </a:r>
                    </a:p>
                  </a:txBody>
                  <a:tcPr marL="85725" marR="38100" marT="19050" marB="19050" anchor="ctr">
                    <a:solidFill>
                      <a:srgbClr val="F5F8FA"/>
                    </a:solidFill>
                  </a:tcPr>
                </a:tc>
                <a:tc>
                  <a:txBody>
                    <a:bodyPr wrap="none"/>
                    <a:lstStyle/>
                    <a:p>
                      <a:pPr algn="l"/>
                      <a:r>
                        <a:rPr sz="800" b="0">
                          <a:solidFill>
                            <a:srgbClr val="2E2E2E"/>
                          </a:solidFill>
                          <a:latin typeface="Calibri"/>
                        </a:rPr>
                        <a:t>120.0</a:t>
                      </a:r>
                    </a:p>
                  </a:txBody>
                  <a:tcPr marL="85725" marR="38100" marT="19050" marB="19050" anchor="ctr">
                    <a:solidFill>
                      <a:srgbClr val="F5F8FA"/>
                    </a:solidFill>
                  </a:tcPr>
                </a:tc>
                <a:tc>
                  <a:txBody>
                    <a:bodyPr wrap="none"/>
                    <a:lstStyle/>
                    <a:p>
                      <a:pPr algn="l"/>
                      <a:r>
                        <a:rPr sz="800" b="0">
                          <a:solidFill>
                            <a:srgbClr val="2E2E2E"/>
                          </a:solidFill>
                          <a:latin typeface="Calibri"/>
                        </a:rPr>
                        <a:t>130.9</a:t>
                      </a:r>
                    </a:p>
                  </a:txBody>
                  <a:tcPr marL="85725" marR="38100" marT="19050" marB="19050" anchor="ctr">
                    <a:solidFill>
                      <a:srgbClr val="F5F8FA"/>
                    </a:solidFill>
                  </a:tcPr>
                </a:tc>
                <a:tc>
                  <a:txBody>
                    <a:bodyPr wrap="none"/>
                    <a:lstStyle/>
                    <a:p>
                      <a:pPr algn="l"/>
                      <a:r>
                        <a:rPr sz="800" b="0">
                          <a:solidFill>
                            <a:srgbClr val="2E2E2E"/>
                          </a:solidFill>
                          <a:latin typeface="Calibri"/>
                        </a:rPr>
                        <a:t>143.2</a:t>
                      </a:r>
                    </a:p>
                  </a:txBody>
                  <a:tcPr marL="85725" marR="38100" marT="19050" marB="19050" anchor="ctr">
                    <a:solidFill>
                      <a:srgbClr val="F5F8FA"/>
                    </a:solidFill>
                  </a:tcPr>
                </a:tc>
                <a:tc>
                  <a:txBody>
                    <a:bodyPr wrap="none"/>
                    <a:lstStyle/>
                    <a:p>
                      <a:pPr algn="l"/>
                      <a:r>
                        <a:rPr sz="800" b="0">
                          <a:solidFill>
                            <a:srgbClr val="2E2E2E"/>
                          </a:solidFill>
                          <a:latin typeface="Calibri"/>
                        </a:rPr>
                        <a:t>156.7</a:t>
                      </a:r>
                    </a:p>
                  </a:txBody>
                  <a:tcPr marL="85725" marR="38100" marT="19050" marB="19050" anchor="ctr">
                    <a:solidFill>
                      <a:srgbClr val="F5F8FA"/>
                    </a:solidFill>
                  </a:tcPr>
                </a:tc>
                <a:tc>
                  <a:txBody>
                    <a:bodyPr wrap="none"/>
                    <a:lstStyle/>
                    <a:p>
                      <a:pPr algn="l"/>
                      <a:r>
                        <a:rPr sz="800" b="0">
                          <a:solidFill>
                            <a:srgbClr val="2E2E2E"/>
                          </a:solidFill>
                          <a:latin typeface="Calibri"/>
                        </a:rPr>
                        <a:t>171.7</a:t>
                      </a:r>
                    </a:p>
                  </a:txBody>
                  <a:tcPr marL="85725" marR="38100" marT="19050" marB="19050" anchor="ctr">
                    <a:solidFill>
                      <a:srgbClr val="F5F8FA"/>
                    </a:solidFill>
                  </a:tcPr>
                </a:tc>
                <a:tc>
                  <a:txBody>
                    <a:bodyPr wrap="none"/>
                    <a:lstStyle/>
                    <a:p>
                      <a:pPr algn="l"/>
                      <a:r>
                        <a:rPr sz="800" b="0">
                          <a:solidFill>
                            <a:srgbClr val="2E2E2E"/>
                          </a:solidFill>
                          <a:latin typeface="Calibri"/>
                        </a:rPr>
                        <a:t>9.1%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0">
                          <a:solidFill>
                            <a:srgbClr val="2E2E2E"/>
                          </a:solidFill>
                          <a:latin typeface="Calibri"/>
                        </a:rPr>
                        <a:t>142.6</a:t>
                      </a:r>
                    </a:p>
                  </a:txBody>
                  <a:tcPr marL="85725" marR="38100" marT="19050" marB="19050" anchor="ctr">
                    <a:solidFill>
                      <a:srgbClr val="FFFFFF"/>
                    </a:solidFill>
                  </a:tcPr>
                </a:tc>
                <a:tc>
                  <a:txBody>
                    <a:bodyPr wrap="none"/>
                    <a:lstStyle/>
                    <a:p>
                      <a:pPr algn="l"/>
                      <a:r>
                        <a:rPr sz="800" b="0">
                          <a:solidFill>
                            <a:srgbClr val="2E2E2E"/>
                          </a:solidFill>
                          <a:latin typeface="Calibri"/>
                        </a:rPr>
                        <a:t>149.5</a:t>
                      </a:r>
                    </a:p>
                  </a:txBody>
                  <a:tcPr marL="85725" marR="38100" marT="19050" marB="19050" anchor="ctr">
                    <a:solidFill>
                      <a:srgbClr val="FFFFFF"/>
                    </a:solidFill>
                  </a:tcPr>
                </a:tc>
                <a:tc>
                  <a:txBody>
                    <a:bodyPr wrap="none"/>
                    <a:lstStyle/>
                    <a:p>
                      <a:pPr algn="l"/>
                      <a:r>
                        <a:rPr sz="800" b="0">
                          <a:solidFill>
                            <a:srgbClr val="2E2E2E"/>
                          </a:solidFill>
                          <a:latin typeface="Calibri"/>
                        </a:rPr>
                        <a:t>157.2</a:t>
                      </a:r>
                    </a:p>
                  </a:txBody>
                  <a:tcPr marL="85725" marR="38100" marT="19050" marB="19050" anchor="ctr">
                    <a:solidFill>
                      <a:srgbClr val="FFFFFF"/>
                    </a:solidFill>
                  </a:tcPr>
                </a:tc>
                <a:tc>
                  <a:txBody>
                    <a:bodyPr wrap="none"/>
                    <a:lstStyle/>
                    <a:p>
                      <a:pPr algn="l"/>
                      <a:r>
                        <a:rPr sz="800" b="0">
                          <a:solidFill>
                            <a:srgbClr val="2E2E2E"/>
                          </a:solidFill>
                          <a:latin typeface="Calibri"/>
                        </a:rPr>
                        <a:t>166.4</a:t>
                      </a:r>
                    </a:p>
                  </a:txBody>
                  <a:tcPr marL="85725" marR="38100" marT="19050" marB="19050" anchor="ctr">
                    <a:solidFill>
                      <a:srgbClr val="FFFFFF"/>
                    </a:solidFill>
                  </a:tcPr>
                </a:tc>
                <a:tc>
                  <a:txBody>
                    <a:bodyPr wrap="none"/>
                    <a:lstStyle/>
                    <a:p>
                      <a:pPr algn="l"/>
                      <a:r>
                        <a:rPr sz="800" b="0">
                          <a:solidFill>
                            <a:srgbClr val="2E2E2E"/>
                          </a:solidFill>
                          <a:latin typeface="Calibri"/>
                        </a:rPr>
                        <a:t>177.1</a:t>
                      </a:r>
                    </a:p>
                  </a:txBody>
                  <a:tcPr marL="85725" marR="38100" marT="19050" marB="19050" anchor="ctr">
                    <a:solidFill>
                      <a:srgbClr val="FFFFFF"/>
                    </a:solidFill>
                  </a:tcPr>
                </a:tc>
                <a:tc>
                  <a:txBody>
                    <a:bodyPr wrap="none"/>
                    <a:lstStyle/>
                    <a:p>
                      <a:pPr algn="l"/>
                      <a:r>
                        <a:rPr sz="800" b="0">
                          <a:solidFill>
                            <a:srgbClr val="2E2E2E"/>
                          </a:solidFill>
                          <a:latin typeface="Calibri"/>
                        </a:rPr>
                        <a:t>189.4</a:t>
                      </a:r>
                    </a:p>
                  </a:txBody>
                  <a:tcPr marL="85725" marR="38100" marT="19050" marB="19050" anchor="ctr">
                    <a:solidFill>
                      <a:srgbClr val="FFFFFF"/>
                    </a:solidFill>
                  </a:tcPr>
                </a:tc>
                <a:tc>
                  <a:txBody>
                    <a:bodyPr wrap="none"/>
                    <a:lstStyle/>
                    <a:p>
                      <a:pPr algn="l"/>
                      <a:r>
                        <a:rPr sz="800" b="0">
                          <a:solidFill>
                            <a:srgbClr val="2E2E2E"/>
                          </a:solidFill>
                          <a:latin typeface="Calibri"/>
                        </a:rPr>
                        <a:t>203.5</a:t>
                      </a:r>
                    </a:p>
                  </a:txBody>
                  <a:tcPr marL="85725" marR="38100" marT="19050" marB="19050" anchor="ctr">
                    <a:solidFill>
                      <a:srgbClr val="FFFFFF"/>
                    </a:solidFill>
                  </a:tcPr>
                </a:tc>
                <a:tc>
                  <a:txBody>
                    <a:bodyPr wrap="none"/>
                    <a:lstStyle/>
                    <a:p>
                      <a:pPr algn="l"/>
                      <a:r>
                        <a:rPr sz="800" b="0">
                          <a:solidFill>
                            <a:srgbClr val="2E2E2E"/>
                          </a:solidFill>
                          <a:latin typeface="Calibri"/>
                        </a:rPr>
                        <a:t>219.4</a:t>
                      </a:r>
                    </a:p>
                  </a:txBody>
                  <a:tcPr marL="85725" marR="38100" marT="19050" marB="19050" anchor="ctr">
                    <a:solidFill>
                      <a:srgbClr val="FFFFFF"/>
                    </a:solidFill>
                  </a:tcPr>
                </a:tc>
                <a:tc>
                  <a:txBody>
                    <a:bodyPr wrap="none"/>
                    <a:lstStyle/>
                    <a:p>
                      <a:pPr algn="l"/>
                      <a:r>
                        <a:rPr sz="800" b="0">
                          <a:solidFill>
                            <a:srgbClr val="2E2E2E"/>
                          </a:solidFill>
                          <a:latin typeface="Calibri"/>
                        </a:rPr>
                        <a:t>237.0</a:t>
                      </a:r>
                    </a:p>
                  </a:txBody>
                  <a:tcPr marL="85725" marR="38100" marT="19050" marB="19050" anchor="ctr">
                    <a:solidFill>
                      <a:srgbClr val="FFFFFF"/>
                    </a:solidFill>
                  </a:tcPr>
                </a:tc>
                <a:tc>
                  <a:txBody>
                    <a:bodyPr wrap="none"/>
                    <a:lstStyle/>
                    <a:p>
                      <a:pPr algn="l"/>
                      <a:r>
                        <a:rPr sz="800" b="0">
                          <a:solidFill>
                            <a:srgbClr val="2E2E2E"/>
                          </a:solidFill>
                          <a:latin typeface="Calibri"/>
                        </a:rPr>
                        <a:t>256.1</a:t>
                      </a:r>
                    </a:p>
                  </a:txBody>
                  <a:tcPr marL="85725" marR="38100" marT="19050" marB="19050" anchor="ctr">
                    <a:solidFill>
                      <a:srgbClr val="FFFFFF"/>
                    </a:solidFill>
                  </a:tcPr>
                </a:tc>
                <a:tc>
                  <a:txBody>
                    <a:bodyPr wrap="none"/>
                    <a:lstStyle/>
                    <a:p>
                      <a:pPr algn="l"/>
                      <a:r>
                        <a:rPr sz="800" b="0">
                          <a:solidFill>
                            <a:srgbClr val="2E2E2E"/>
                          </a:solidFill>
                          <a:latin typeface="Calibri"/>
                        </a:rPr>
                        <a:t>276.9</a:t>
                      </a:r>
                    </a:p>
                  </a:txBody>
                  <a:tcPr marL="85725" marR="38100" marT="19050" marB="19050" anchor="ctr">
                    <a:solidFill>
                      <a:srgbClr val="FFFFFF"/>
                    </a:solidFill>
                  </a:tcPr>
                </a:tc>
                <a:tc>
                  <a:txBody>
                    <a:bodyPr wrap="none"/>
                    <a:lstStyle/>
                    <a:p>
                      <a:pPr algn="l"/>
                      <a:r>
                        <a:rPr sz="800" b="0">
                          <a:solidFill>
                            <a:srgbClr val="2E2E2E"/>
                          </a:solidFill>
                          <a:latin typeface="Calibri"/>
                        </a:rPr>
                        <a:t>299.5</a:t>
                      </a:r>
                    </a:p>
                  </a:txBody>
                  <a:tcPr marL="85725" marR="38100" marT="19050" marB="19050" anchor="ctr">
                    <a:solidFill>
                      <a:srgbClr val="FFFFFF"/>
                    </a:solidFill>
                  </a:tcPr>
                </a:tc>
                <a:tc>
                  <a:txBody>
                    <a:bodyPr wrap="none"/>
                    <a:lstStyle/>
                    <a:p>
                      <a:pPr algn="l"/>
                      <a:r>
                        <a:rPr sz="800" b="0">
                          <a:solidFill>
                            <a:srgbClr val="2E2E2E"/>
                          </a:solidFill>
                          <a:latin typeface="Calibri"/>
                        </a:rPr>
                        <a:t>324.0</a:t>
                      </a:r>
                    </a:p>
                  </a:txBody>
                  <a:tcPr marL="85725" marR="38100" marT="19050" marB="19050" anchor="ctr">
                    <a:solidFill>
                      <a:srgbClr val="FFFFFF"/>
                    </a:solidFill>
                  </a:tcPr>
                </a:tc>
                <a:tc>
                  <a:txBody>
                    <a:bodyPr wrap="none"/>
                    <a:lstStyle/>
                    <a:p>
                      <a:pPr algn="l"/>
                      <a:r>
                        <a:rPr sz="800" b="0">
                          <a:solidFill>
                            <a:srgbClr val="2E2E2E"/>
                          </a:solidFill>
                          <a:latin typeface="Calibri"/>
                        </a:rPr>
                        <a:t>351.2</a:t>
                      </a:r>
                    </a:p>
                  </a:txBody>
                  <a:tcPr marL="85725" marR="38100" marT="19050" marB="19050" anchor="ctr">
                    <a:solidFill>
                      <a:srgbClr val="FFFFFF"/>
                    </a:solidFill>
                  </a:tcPr>
                </a:tc>
                <a:tc>
                  <a:txBody>
                    <a:bodyPr wrap="none"/>
                    <a:lstStyle/>
                    <a:p>
                      <a:pPr algn="l"/>
                      <a:r>
                        <a:rPr sz="800" b="0">
                          <a:solidFill>
                            <a:srgbClr val="2E2E2E"/>
                          </a:solidFill>
                          <a:latin typeface="Calibri"/>
                        </a:rPr>
                        <a:t>380.9</a:t>
                      </a:r>
                    </a:p>
                  </a:txBody>
                  <a:tcPr marL="85725" marR="38100" marT="19050" marB="19050" anchor="ctr">
                    <a:solidFill>
                      <a:srgbClr val="FFFFFF"/>
                    </a:solidFill>
                  </a:tcPr>
                </a:tc>
                <a:tc>
                  <a:txBody>
                    <a:bodyPr wrap="none"/>
                    <a:lstStyle/>
                    <a:p>
                      <a:pPr algn="l"/>
                      <a:r>
                        <a:rPr sz="800" b="0">
                          <a:solidFill>
                            <a:srgbClr val="2E2E2E"/>
                          </a:solidFill>
                          <a:latin typeface="Calibri"/>
                        </a:rPr>
                        <a:t>413.8</a:t>
                      </a:r>
                    </a:p>
                  </a:txBody>
                  <a:tcPr marL="85725" marR="38100" marT="19050" marB="19050" anchor="ctr">
                    <a:solidFill>
                      <a:srgbClr val="FFFFFF"/>
                    </a:solidFill>
                  </a:tcPr>
                </a:tc>
                <a:tc>
                  <a:txBody>
                    <a:bodyPr wrap="none"/>
                    <a:lstStyle/>
                    <a:p>
                      <a:pPr algn="l"/>
                      <a:r>
                        <a:rPr sz="800" b="0">
                          <a:solidFill>
                            <a:srgbClr val="2E2E2E"/>
                          </a:solidFill>
                          <a:latin typeface="Calibri"/>
                        </a:rPr>
                        <a:t>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0">
                          <a:solidFill>
                            <a:srgbClr val="2E2E2E"/>
                          </a:solidFill>
                          <a:latin typeface="Calibri"/>
                        </a:rPr>
                        <a:t>38.5</a:t>
                      </a:r>
                    </a:p>
                  </a:txBody>
                  <a:tcPr marL="85725" marR="38100" marT="19050" marB="19050" anchor="ctr">
                    <a:solidFill>
                      <a:srgbClr val="F5F8FA"/>
                    </a:solidFill>
                  </a:tcPr>
                </a:tc>
                <a:tc>
                  <a:txBody>
                    <a:bodyPr wrap="none"/>
                    <a:lstStyle/>
                    <a:p>
                      <a:pPr algn="l"/>
                      <a:r>
                        <a:rPr sz="800" b="0">
                          <a:solidFill>
                            <a:srgbClr val="2E2E2E"/>
                          </a:solidFill>
                          <a:latin typeface="Calibri"/>
                        </a:rPr>
                        <a:t>39.1</a:t>
                      </a:r>
                    </a:p>
                  </a:txBody>
                  <a:tcPr marL="85725" marR="38100" marT="19050" marB="19050" anchor="ctr">
                    <a:solidFill>
                      <a:srgbClr val="F5F8FA"/>
                    </a:solidFill>
                  </a:tcPr>
                </a:tc>
                <a:tc>
                  <a:txBody>
                    <a:bodyPr wrap="none"/>
                    <a:lstStyle/>
                    <a:p>
                      <a:pPr algn="l"/>
                      <a:r>
                        <a:rPr sz="800" b="0">
                          <a:solidFill>
                            <a:srgbClr val="2E2E2E"/>
                          </a:solidFill>
                          <a:latin typeface="Calibri"/>
                        </a:rPr>
                        <a:t>39.7</a:t>
                      </a:r>
                    </a:p>
                  </a:txBody>
                  <a:tcPr marL="85725" marR="38100" marT="19050" marB="19050" anchor="ctr">
                    <a:solidFill>
                      <a:srgbClr val="F5F8FA"/>
                    </a:solidFill>
                  </a:tcPr>
                </a:tc>
                <a:tc>
                  <a:txBody>
                    <a:bodyPr wrap="none"/>
                    <a:lstStyle/>
                    <a:p>
                      <a:pPr algn="l"/>
                      <a:r>
                        <a:rPr sz="800" b="0">
                          <a:solidFill>
                            <a:srgbClr val="2E2E2E"/>
                          </a:solidFill>
                          <a:latin typeface="Calibri"/>
                        </a:rPr>
                        <a:t>40.7</a:t>
                      </a:r>
                    </a:p>
                  </a:txBody>
                  <a:tcPr marL="85725" marR="38100" marT="19050" marB="19050" anchor="ctr">
                    <a:solidFill>
                      <a:srgbClr val="F5F8FA"/>
                    </a:solidFill>
                  </a:tcPr>
                </a:tc>
                <a:tc>
                  <a:txBody>
                    <a:bodyPr wrap="none"/>
                    <a:lstStyle/>
                    <a:p>
                      <a:pPr algn="l"/>
                      <a:r>
                        <a:rPr sz="800" b="0">
                          <a:solidFill>
                            <a:srgbClr val="2E2E2E"/>
                          </a:solidFill>
                          <a:latin typeface="Calibri"/>
                        </a:rPr>
                        <a:t>41.8</a:t>
                      </a:r>
                    </a:p>
                  </a:txBody>
                  <a:tcPr marL="85725" marR="38100" marT="19050" marB="19050" anchor="ctr">
                    <a:solidFill>
                      <a:srgbClr val="F5F8FA"/>
                    </a:solidFill>
                  </a:tcPr>
                </a:tc>
                <a:tc>
                  <a:txBody>
                    <a:bodyPr wrap="none"/>
                    <a:lstStyle/>
                    <a:p>
                      <a:pPr algn="l"/>
                      <a:r>
                        <a:rPr sz="800" b="0">
                          <a:solidFill>
                            <a:srgbClr val="2E2E2E"/>
                          </a:solidFill>
                          <a:latin typeface="Calibri"/>
                        </a:rPr>
                        <a:t>43.6</a:t>
                      </a:r>
                    </a:p>
                  </a:txBody>
                  <a:tcPr marL="85725" marR="38100" marT="19050" marB="19050" anchor="ctr">
                    <a:solidFill>
                      <a:srgbClr val="F5F8FA"/>
                    </a:solidFill>
                  </a:tcPr>
                </a:tc>
                <a:tc>
                  <a:txBody>
                    <a:bodyPr wrap="none"/>
                    <a:lstStyle/>
                    <a:p>
                      <a:pPr algn="l"/>
                      <a:r>
                        <a:rPr sz="800" b="0">
                          <a:solidFill>
                            <a:srgbClr val="2E2E2E"/>
                          </a:solidFill>
                          <a:latin typeface="Calibri"/>
                        </a:rPr>
                        <a:t>45.6</a:t>
                      </a:r>
                    </a:p>
                  </a:txBody>
                  <a:tcPr marL="85725" marR="38100" marT="19050" marB="19050" anchor="ctr">
                    <a:solidFill>
                      <a:srgbClr val="F5F8FA"/>
                    </a:solidFill>
                  </a:tcPr>
                </a:tc>
                <a:tc>
                  <a:txBody>
                    <a:bodyPr wrap="none"/>
                    <a:lstStyle/>
                    <a:p>
                      <a:pPr algn="l"/>
                      <a:r>
                        <a:rPr sz="800" b="0">
                          <a:solidFill>
                            <a:srgbClr val="2E2E2E"/>
                          </a:solidFill>
                          <a:latin typeface="Calibri"/>
                        </a:rPr>
                        <a:t>47.9</a:t>
                      </a:r>
                    </a:p>
                  </a:txBody>
                  <a:tcPr marL="85725" marR="38100" marT="19050" marB="19050" anchor="ctr">
                    <a:solidFill>
                      <a:srgbClr val="F5F8FA"/>
                    </a:solidFill>
                  </a:tcPr>
                </a:tc>
                <a:tc>
                  <a:txBody>
                    <a:bodyPr wrap="none"/>
                    <a:lstStyle/>
                    <a:p>
                      <a:pPr algn="l"/>
                      <a:r>
                        <a:rPr sz="800" b="0">
                          <a:solidFill>
                            <a:srgbClr val="2E2E2E"/>
                          </a:solidFill>
                          <a:latin typeface="Calibri"/>
                        </a:rPr>
                        <a:t>50.3</a:t>
                      </a:r>
                    </a:p>
                  </a:txBody>
                  <a:tcPr marL="85725" marR="38100" marT="19050" marB="19050" anchor="ctr">
                    <a:solidFill>
                      <a:srgbClr val="F5F8FA"/>
                    </a:solidFill>
                  </a:tcPr>
                </a:tc>
                <a:tc>
                  <a:txBody>
                    <a:bodyPr wrap="none"/>
                    <a:lstStyle/>
                    <a:p>
                      <a:pPr algn="l"/>
                      <a:r>
                        <a:rPr sz="800" b="0">
                          <a:solidFill>
                            <a:srgbClr val="2E2E2E"/>
                          </a:solidFill>
                          <a:latin typeface="Calibri"/>
                        </a:rPr>
                        <a:t>53.0</a:t>
                      </a:r>
                    </a:p>
                  </a:txBody>
                  <a:tcPr marL="85725" marR="38100" marT="19050" marB="19050" anchor="ctr">
                    <a:solidFill>
                      <a:srgbClr val="F5F8FA"/>
                    </a:solidFill>
                  </a:tcPr>
                </a:tc>
                <a:tc>
                  <a:txBody>
                    <a:bodyPr wrap="none"/>
                    <a:lstStyle/>
                    <a:p>
                      <a:pPr algn="l"/>
                      <a:r>
                        <a:rPr sz="800" b="0">
                          <a:solidFill>
                            <a:srgbClr val="2E2E2E"/>
                          </a:solidFill>
                          <a:latin typeface="Calibri"/>
                        </a:rPr>
                        <a:t>55.7</a:t>
                      </a:r>
                    </a:p>
                  </a:txBody>
                  <a:tcPr marL="85725" marR="38100" marT="19050" marB="19050" anchor="ctr">
                    <a:solidFill>
                      <a:srgbClr val="F5F8FA"/>
                    </a:solidFill>
                  </a:tcPr>
                </a:tc>
                <a:tc>
                  <a:txBody>
                    <a:bodyPr wrap="none"/>
                    <a:lstStyle/>
                    <a:p>
                      <a:pPr algn="l"/>
                      <a:r>
                        <a:rPr sz="800" b="0">
                          <a:solidFill>
                            <a:srgbClr val="2E2E2E"/>
                          </a:solidFill>
                          <a:latin typeface="Calibri"/>
                        </a:rPr>
                        <a:t>58.7</a:t>
                      </a:r>
                    </a:p>
                  </a:txBody>
                  <a:tcPr marL="85725" marR="38100" marT="19050" marB="19050" anchor="ctr">
                    <a:solidFill>
                      <a:srgbClr val="F5F8FA"/>
                    </a:solidFill>
                  </a:tcPr>
                </a:tc>
                <a:tc>
                  <a:txBody>
                    <a:bodyPr wrap="none"/>
                    <a:lstStyle/>
                    <a:p>
                      <a:pPr algn="l"/>
                      <a:r>
                        <a:rPr sz="800" b="0">
                          <a:solidFill>
                            <a:srgbClr val="2E2E2E"/>
                          </a:solidFill>
                          <a:latin typeface="Calibri"/>
                        </a:rPr>
                        <a:t>61.8</a:t>
                      </a:r>
                    </a:p>
                  </a:txBody>
                  <a:tcPr marL="85725" marR="38100" marT="19050" marB="19050" anchor="ctr">
                    <a:solidFill>
                      <a:srgbClr val="F5F8FA"/>
                    </a:solidFill>
                  </a:tcPr>
                </a:tc>
                <a:tc>
                  <a:txBody>
                    <a:bodyPr wrap="none"/>
                    <a:lstStyle/>
                    <a:p>
                      <a:pPr algn="l"/>
                      <a:r>
                        <a:rPr sz="800" b="0">
                          <a:solidFill>
                            <a:srgbClr val="2E2E2E"/>
                          </a:solidFill>
                          <a:latin typeface="Calibri"/>
                        </a:rPr>
                        <a:t>65.2</a:t>
                      </a:r>
                    </a:p>
                  </a:txBody>
                  <a:tcPr marL="85725" marR="38100" marT="19050" marB="19050" anchor="ctr">
                    <a:solidFill>
                      <a:srgbClr val="F5F8FA"/>
                    </a:solidFill>
                  </a:tcPr>
                </a:tc>
                <a:tc>
                  <a:txBody>
                    <a:bodyPr wrap="none"/>
                    <a:lstStyle/>
                    <a:p>
                      <a:pPr algn="l"/>
                      <a:r>
                        <a:rPr sz="800" b="0">
                          <a:solidFill>
                            <a:srgbClr val="2E2E2E"/>
                          </a:solidFill>
                          <a:latin typeface="Calibri"/>
                        </a:rPr>
                        <a:t>68.9</a:t>
                      </a:r>
                    </a:p>
                  </a:txBody>
                  <a:tcPr marL="85725" marR="38100" marT="19050" marB="19050" anchor="ctr">
                    <a:solidFill>
                      <a:srgbClr val="F5F8FA"/>
                    </a:solidFill>
                  </a:tcPr>
                </a:tc>
                <a:tc>
                  <a:txBody>
                    <a:bodyPr wrap="none"/>
                    <a:lstStyle/>
                    <a:p>
                      <a:pPr algn="l"/>
                      <a:r>
                        <a:rPr sz="800" b="0">
                          <a:solidFill>
                            <a:srgbClr val="2E2E2E"/>
                          </a:solidFill>
                          <a:latin typeface="Calibri"/>
                        </a:rPr>
                        <a:t>72.9</a:t>
                      </a:r>
                    </a:p>
                  </a:txBody>
                  <a:tcPr marL="85725" marR="38100" marT="19050" marB="19050" anchor="ctr">
                    <a:solidFill>
                      <a:srgbClr val="F5F8FA"/>
                    </a:solidFill>
                  </a:tcPr>
                </a:tc>
                <a:tc>
                  <a:txBody>
                    <a:bodyPr wrap="none"/>
                    <a:lstStyle/>
                    <a:p>
                      <a:pPr algn="l"/>
                      <a:r>
                        <a:rPr sz="800" b="0">
                          <a:solidFill>
                            <a:srgbClr val="2E2E2E"/>
                          </a:solidFill>
                          <a:latin typeface="Calibri"/>
                        </a:rPr>
                        <a:t>5.3%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42672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543425"/>
            <a:ext cx="11906250" cy="2181225"/>
          </a:xfrm>
          <a:prstGeom prst="roundRect">
            <a:avLst>
              <a:gd name="adj" fmla="val 34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6291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Application</a:t>
            </a:r>
          </a:p>
        </p:txBody>
      </p:sp>
      <p:sp>
        <p:nvSpPr>
          <p:cNvPr id="18" name="Rectangle 17"/>
          <p:cNvSpPr/>
          <p:nvPr/>
        </p:nvSpPr>
        <p:spPr>
          <a:xfrm>
            <a:off x="276225" y="48672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953000"/>
            <a:ext cx="11639550" cy="16954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'Diabetes &amp; Glucose Testing' is the largest application at 38.9% of 2036 value (1,921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'Genetic &amp; Molecular Testing' grows fastest 14.8%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'Genetic &amp; Molecular Testing' (+553 BPS) and away from 'Hematology Testing' (-383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8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Application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Application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Application ·  2021 / 2026 / 2036 (US$ Mn)  ·  right axis = BPS share shift</a:t>
            </a:r>
          </a:p>
        </p:txBody>
      </p:sp>
      <p:graphicFrame>
        <p:nvGraphicFramePr>
          <p:cNvPr id="14" name="Chart 13"/>
          <p:cNvGraphicFramePr>
            <a:graphicFrameLocks noGrp="1"/>
          </p:cNvGraphicFramePr>
          <p:nvPr/>
        </p:nvGraphicFramePr>
        <p:xfrm>
          <a:off x="238125" y="1285875"/>
          <a:ext cx="5624132" cy="538162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295400"/>
            <a:ext cx="1586293" cy="186690"/>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501140"/>
            <a:ext cx="0" cy="402336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512820"/>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4993591"/>
            <a:ext cx="419100" cy="133350"/>
          </a:xfrm>
          <a:prstGeom prst="rect">
            <a:avLst/>
          </a:prstGeom>
          <a:noFill/>
        </p:spPr>
        <p:txBody>
          <a:bodyPr wrap="none" lIns="0" rIns="0" tIns="0" bIns="0" anchor="ctr">
            <a:spAutoFit/>
          </a:bodyPr>
          <a:lstStyle/>
          <a:p>
            <a:pPr algn="l"/>
            <a:r>
              <a:rPr sz="750" b="0">
                <a:solidFill>
                  <a:srgbClr val="6C7A89"/>
                </a:solidFill>
                <a:latin typeface="Calibri"/>
              </a:rPr>
              <a:t>-553</a:t>
            </a:r>
          </a:p>
        </p:txBody>
      </p:sp>
      <p:sp>
        <p:nvSpPr>
          <p:cNvPr id="19" name="TextBox 18"/>
          <p:cNvSpPr txBox="1"/>
          <p:nvPr/>
        </p:nvSpPr>
        <p:spPr>
          <a:xfrm>
            <a:off x="7038975" y="3446145"/>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1898699"/>
            <a:ext cx="419100" cy="133350"/>
          </a:xfrm>
          <a:prstGeom prst="rect">
            <a:avLst/>
          </a:prstGeom>
          <a:noFill/>
        </p:spPr>
        <p:txBody>
          <a:bodyPr wrap="none" lIns="0" rIns="0" tIns="0" bIns="0" anchor="ctr">
            <a:spAutoFit/>
          </a:bodyPr>
          <a:lstStyle/>
          <a:p>
            <a:pPr algn="l"/>
            <a:r>
              <a:rPr sz="750" b="0">
                <a:solidFill>
                  <a:srgbClr val="6C7A89"/>
                </a:solidFill>
                <a:latin typeface="Calibri"/>
              </a:rPr>
              <a:t>+553</a:t>
            </a:r>
          </a:p>
        </p:txBody>
      </p:sp>
      <p:sp>
        <p:nvSpPr>
          <p:cNvPr id="21" name="Oval 20"/>
          <p:cNvSpPr/>
          <p:nvPr/>
        </p:nvSpPr>
        <p:spPr>
          <a:xfrm>
            <a:off x="5971794" y="1922511"/>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369872"/>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3374790"/>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3420798"/>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71794" y="3585615"/>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71794" y="3702126"/>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971794" y="3842152"/>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71794" y="4541797"/>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1332" y="188917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+553</a:t>
            </a:r>
          </a:p>
        </p:txBody>
      </p:sp>
      <p:sp>
        <p:nvSpPr>
          <p:cNvPr id="30" name="TextBox 29"/>
          <p:cNvSpPr txBox="1"/>
          <p:nvPr/>
        </p:nvSpPr>
        <p:spPr>
          <a:xfrm>
            <a:off x="6081332" y="333653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+36</a:t>
            </a:r>
          </a:p>
        </p:txBody>
      </p:sp>
      <p:sp>
        <p:nvSpPr>
          <p:cNvPr id="31" name="TextBox 30"/>
          <p:cNvSpPr txBox="1"/>
          <p:nvPr/>
        </p:nvSpPr>
        <p:spPr>
          <a:xfrm>
            <a:off x="6081332" y="3460359"/>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+34</a:t>
            </a:r>
          </a:p>
        </p:txBody>
      </p:sp>
      <p:sp>
        <p:nvSpPr>
          <p:cNvPr id="32" name="TextBox 31"/>
          <p:cNvSpPr txBox="1"/>
          <p:nvPr/>
        </p:nvSpPr>
        <p:spPr>
          <a:xfrm>
            <a:off x="6081332" y="3584184"/>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+18</a:t>
            </a:r>
          </a:p>
        </p:txBody>
      </p:sp>
      <p:sp>
        <p:nvSpPr>
          <p:cNvPr id="33" name="TextBox 32"/>
          <p:cNvSpPr txBox="1"/>
          <p:nvPr/>
        </p:nvSpPr>
        <p:spPr>
          <a:xfrm>
            <a:off x="6081332" y="370800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-41</a:t>
            </a:r>
          </a:p>
        </p:txBody>
      </p:sp>
      <p:sp>
        <p:nvSpPr>
          <p:cNvPr id="34" name="TextBox 33"/>
          <p:cNvSpPr txBox="1"/>
          <p:nvPr/>
        </p:nvSpPr>
        <p:spPr>
          <a:xfrm>
            <a:off x="6081332" y="3831834"/>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-83</a:t>
            </a:r>
          </a:p>
        </p:txBody>
      </p:sp>
      <p:sp>
        <p:nvSpPr>
          <p:cNvPr id="35" name="TextBox 34"/>
          <p:cNvSpPr txBox="1"/>
          <p:nvPr/>
        </p:nvSpPr>
        <p:spPr>
          <a:xfrm>
            <a:off x="6081332" y="395565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-133</a:t>
            </a:r>
          </a:p>
        </p:txBody>
      </p:sp>
      <p:sp>
        <p:nvSpPr>
          <p:cNvPr id="36" name="TextBox 35"/>
          <p:cNvSpPr txBox="1"/>
          <p:nvPr/>
        </p:nvSpPr>
        <p:spPr>
          <a:xfrm>
            <a:off x="6081332" y="450845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-383</a:t>
            </a:r>
          </a:p>
        </p:txBody>
      </p:sp>
      <p:sp>
        <p:nvSpPr>
          <p:cNvPr id="37" name="Rounded Rectangle 36"/>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Application</a:t>
            </a:r>
          </a:p>
        </p:txBody>
      </p:sp>
      <p:sp>
        <p:nvSpPr>
          <p:cNvPr id="39" name="Rectangle 38"/>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'Genetic &amp; Molecular Testing' gains the most share +553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'Hematology Testing' cedes the most -383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'Genetic &amp; Molecular Testing' is the fastest-growing application at 14.8%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41" name="Rectangle 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3" name="Rounded Rectangle 42">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4" name="Rounded Rectangle 43">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5" name="Rounded Rectangle 44">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Application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Application,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6287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1">
                          <a:solidFill>
                            <a:srgbClr val="2E7D32"/>
                          </a:solidFill>
                          <a:latin typeface="Calibri"/>
                        </a:rPr>
                        <a:t>▲ 5.8%</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6.2%</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1">
                          <a:solidFill>
                            <a:srgbClr val="2E7D32"/>
                          </a:solidFill>
                          <a:latin typeface="Calibri"/>
                        </a:rPr>
                        <a:t>▲ 6.3%</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1">
                          <a:solidFill>
                            <a:srgbClr val="A86F00"/>
                          </a:solidFill>
                          <a:latin typeface="Calibri"/>
                        </a:rPr>
                        <a:t>▶ 1.6%</a:t>
                      </a:r>
                    </a:p>
                  </a:txBody>
                  <a:tcPr marL="85725" marR="38100" marT="19050" marB="19050" anchor="ctr">
                    <a:solidFill>
                      <a:srgbClr val="FFFFFF"/>
                    </a:solidFill>
                  </a:tcPr>
                </a:tc>
                <a:tc>
                  <a:txBody>
                    <a:bodyPr wrap="none"/>
                    <a:lstStyle/>
                    <a:p>
                      <a:pPr algn="l"/>
                      <a:r>
                        <a:rPr sz="800" b="1">
                          <a:solidFill>
                            <a:srgbClr val="A86F00"/>
                          </a:solidFill>
                          <a:latin typeface="Calibri"/>
                        </a:rPr>
                        <a:t>▶ 1.7%</a:t>
                      </a:r>
                    </a:p>
                  </a:txBody>
                  <a:tcPr marL="85725" marR="38100" marT="19050" marB="19050" anchor="ctr">
                    <a:solidFill>
                      <a:srgbClr val="FFFFFF"/>
                    </a:solidFill>
                  </a:tcPr>
                </a:tc>
                <a:tc>
                  <a:txBody>
                    <a:bodyPr wrap="none"/>
                    <a:lstStyle/>
                    <a:p>
                      <a:pPr algn="l"/>
                      <a:r>
                        <a:rPr sz="800" b="1">
                          <a:solidFill>
                            <a:srgbClr val="A86F00"/>
                          </a:solidFill>
                          <a:latin typeface="Calibri"/>
                        </a:rPr>
                        <a:t>▶ 1.9%</a:t>
                      </a:r>
                    </a:p>
                  </a:txBody>
                  <a:tcPr marL="85725" marR="38100" marT="19050" marB="19050" anchor="ctr">
                    <a:solidFill>
                      <a:srgbClr val="FFFFFF"/>
                    </a:solidFill>
                  </a:tcPr>
                </a:tc>
                <a:tc>
                  <a:txBody>
                    <a:bodyPr wrap="none"/>
                    <a:lstStyle/>
                    <a:p>
                      <a:pPr algn="l"/>
                      <a:r>
                        <a:rPr sz="800" b="1">
                          <a:solidFill>
                            <a:srgbClr val="A86F00"/>
                          </a:solidFill>
                          <a:latin typeface="Calibri"/>
                        </a:rPr>
                        <a:t>▶ 2.2%</a:t>
                      </a:r>
                    </a:p>
                  </a:txBody>
                  <a:tcPr marL="85725" marR="38100" marT="19050" marB="19050" anchor="ctr">
                    <a:solidFill>
                      <a:srgbClr val="FFFFFF"/>
                    </a:solidFill>
                  </a:tcPr>
                </a:tc>
                <a:tc>
                  <a:txBody>
                    <a:bodyPr wrap="none"/>
                    <a:lstStyle/>
                    <a:p>
                      <a:pPr algn="l"/>
                      <a:r>
                        <a:rPr sz="800" b="1">
                          <a:solidFill>
                            <a:srgbClr val="A86F00"/>
                          </a:solidFill>
                          <a:latin typeface="Calibri"/>
                        </a:rPr>
                        <a:t>▶ 3.4%</a:t>
                      </a:r>
                    </a:p>
                  </a:txBody>
                  <a:tcPr marL="85725" marR="38100" marT="19050" marB="19050" anchor="ctr">
                    <a:solidFill>
                      <a:srgbClr val="FFFFFF"/>
                    </a:solidFill>
                  </a:tcPr>
                </a:tc>
                <a:tc>
                  <a:txBody>
                    <a:bodyPr wrap="none"/>
                    <a:lstStyle/>
                    <a:p>
                      <a:pPr algn="l"/>
                      <a:r>
                        <a:rPr sz="800" b="1">
                          <a:solidFill>
                            <a:srgbClr val="A86F00"/>
                          </a:solidFill>
                          <a:latin typeface="Calibri"/>
                        </a:rPr>
                        <a:t>▶ 3.6%</a:t>
                      </a:r>
                    </a:p>
                  </a:txBody>
                  <a:tcPr marL="85725" marR="38100" marT="19050" marB="19050" anchor="ctr">
                    <a:solidFill>
                      <a:srgbClr val="FFFFFF"/>
                    </a:solidFill>
                  </a:tcPr>
                </a:tc>
                <a:tc>
                  <a:txBody>
                    <a:bodyPr wrap="none"/>
                    <a:lstStyle/>
                    <a:p>
                      <a:pPr algn="l"/>
                      <a:r>
                        <a:rPr sz="800" b="1">
                          <a:solidFill>
                            <a:srgbClr val="A86F00"/>
                          </a:solidFill>
                          <a:latin typeface="Calibri"/>
                        </a:rPr>
                        <a:t>▶ 3.7%</a:t>
                      </a:r>
                    </a:p>
                  </a:txBody>
                  <a:tcPr marL="85725" marR="38100" marT="19050" marB="19050" anchor="ctr">
                    <a:solidFill>
                      <a:srgbClr val="FFFFFF"/>
                    </a:solidFill>
                  </a:tcPr>
                </a:tc>
                <a:tc>
                  <a:txBody>
                    <a:bodyPr wrap="none"/>
                    <a:lstStyle/>
                    <a:p>
                      <a:pPr algn="l"/>
                      <a:r>
                        <a:rPr sz="800" b="1">
                          <a:solidFill>
                            <a:srgbClr val="A86F00"/>
                          </a:solidFill>
                          <a:latin typeface="Calibri"/>
                        </a:rPr>
                        <a:t>▶ 3.6%</a:t>
                      </a:r>
                    </a:p>
                  </a:txBody>
                  <a:tcPr marL="85725" marR="38100" marT="19050" marB="19050" anchor="ctr">
                    <a:solidFill>
                      <a:srgbClr val="FFFFFF"/>
                    </a:solidFill>
                  </a:tcPr>
                </a:tc>
                <a:tc>
                  <a:txBody>
                    <a:bodyPr wrap="none"/>
                    <a:lstStyle/>
                    <a:p>
                      <a:pPr algn="l"/>
                      <a:r>
                        <a:rPr sz="800" b="1">
                          <a:solidFill>
                            <a:srgbClr val="A86F00"/>
                          </a:solidFill>
                          <a:latin typeface="Calibri"/>
                        </a:rPr>
                        <a:t>▶ 3.4%</a:t>
                      </a:r>
                    </a:p>
                  </a:txBody>
                  <a:tcPr marL="85725" marR="38100" marT="19050" marB="19050" anchor="ctr">
                    <a:solidFill>
                      <a:srgbClr val="FFFFFF"/>
                    </a:solidFill>
                  </a:tcPr>
                </a:tc>
                <a:tc>
                  <a:txBody>
                    <a:bodyPr wrap="none"/>
                    <a:lstStyle/>
                    <a:p>
                      <a:pPr algn="l"/>
                      <a:r>
                        <a:rPr sz="800" b="1">
                          <a:solidFill>
                            <a:srgbClr val="A86F00"/>
                          </a:solidFill>
                          <a:latin typeface="Calibri"/>
                        </a:rPr>
                        <a:t>▶ 3.2%</a:t>
                      </a:r>
                    </a:p>
                  </a:txBody>
                  <a:tcPr marL="85725" marR="38100" marT="19050" marB="19050" anchor="ctr">
                    <a:solidFill>
                      <a:srgbClr val="FFFFFF"/>
                    </a:solidFill>
                  </a:tcPr>
                </a:tc>
                <a:tc>
                  <a:txBody>
                    <a:bodyPr wrap="none"/>
                    <a:lstStyle/>
                    <a:p>
                      <a:pPr algn="l"/>
                      <a:r>
                        <a:rPr sz="800" b="1">
                          <a:solidFill>
                            <a:srgbClr val="A86F00"/>
                          </a:solidFill>
                          <a:latin typeface="Calibri"/>
                        </a:rPr>
                        <a:t>▶ 3.0%</a:t>
                      </a:r>
                    </a:p>
                  </a:txBody>
                  <a:tcPr marL="85725" marR="38100" marT="19050" marB="19050" anchor="ctr">
                    <a:solidFill>
                      <a:srgbClr val="FFFFFF"/>
                    </a:solidFill>
                  </a:tcPr>
                </a:tc>
                <a:tc>
                  <a:txBody>
                    <a:bodyPr wrap="none"/>
                    <a:lstStyle/>
                    <a:p>
                      <a:pPr algn="l"/>
                      <a:r>
                        <a:rPr sz="800" b="1">
                          <a:solidFill>
                            <a:srgbClr val="A86F00"/>
                          </a:solidFill>
                          <a:latin typeface="Calibri"/>
                        </a:rPr>
                        <a:t>▶ 2.8%</a:t>
                      </a:r>
                    </a:p>
                  </a:txBody>
                  <a:tcPr marL="85725" marR="38100" marT="19050" marB="19050" anchor="ctr">
                    <a:solidFill>
                      <a:srgbClr val="FFFFFF"/>
                    </a:solidFill>
                  </a:tcPr>
                </a:tc>
                <a:tc>
                  <a:txBody>
                    <a:bodyPr wrap="none"/>
                    <a:lstStyle/>
                    <a:p>
                      <a:pPr algn="l"/>
                      <a:r>
                        <a:rPr sz="800" b="1">
                          <a:solidFill>
                            <a:srgbClr val="A86F00"/>
                          </a:solidFill>
                          <a:latin typeface="Calibri"/>
                        </a:rPr>
                        <a:t>▶ 2.8%</a:t>
                      </a:r>
                    </a:p>
                  </a:txBody>
                  <a:tcPr marL="85725" marR="38100" marT="19050" marB="19050" anchor="ctr">
                    <a:solidFill>
                      <a:srgbClr val="FFFFFF"/>
                    </a:solidFill>
                  </a:tcPr>
                </a:tc>
                <a:tc>
                  <a:txBody>
                    <a:bodyPr wrap="none"/>
                    <a:lstStyle/>
                    <a:p>
                      <a:pPr algn="l"/>
                      <a:r>
                        <a:rPr sz="800" b="1">
                          <a:solidFill>
                            <a:srgbClr val="A86F00"/>
                          </a:solidFill>
                          <a:latin typeface="Calibri"/>
                        </a:rPr>
                        <a:t>▶ 2.6%</a:t>
                      </a:r>
                    </a:p>
                  </a:txBody>
                  <a:tcPr marL="85725" marR="38100" marT="19050" marB="19050" anchor="ctr">
                    <a:solidFill>
                      <a:srgbClr val="FFFFFF"/>
                    </a:solidFill>
                  </a:tcPr>
                </a:tc>
                <a:tc>
                  <a:txBody>
                    <a:bodyPr wrap="none"/>
                    <a:lstStyle/>
                    <a:p>
                      <a:pPr algn="l"/>
                      <a:r>
                        <a:rPr sz="800" b="1">
                          <a:solidFill>
                            <a:srgbClr val="A86F00"/>
                          </a:solidFill>
                          <a:latin typeface="Calibri"/>
                        </a:rPr>
                        <a:t>▶ 2.6%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1">
                          <a:solidFill>
                            <a:srgbClr val="2E7D32"/>
                          </a:solidFill>
                          <a:latin typeface="Calibri"/>
                        </a:rPr>
                        <a:t>▲ 12.4%</a:t>
                      </a:r>
                    </a:p>
                  </a:txBody>
                  <a:tcPr marL="85725" marR="38100" marT="19050" marB="19050" anchor="ctr">
                    <a:solidFill>
                      <a:srgbClr val="FFFFFF"/>
                    </a:solidFill>
                  </a:tcPr>
                </a:tc>
                <a:tc>
                  <a:txBody>
                    <a:bodyPr wrap="none"/>
                    <a:lstStyle/>
                    <a:p>
                      <a:pPr algn="l"/>
                      <a:r>
                        <a:rPr sz="800" b="1">
                          <a:solidFill>
                            <a:srgbClr val="2E7D32"/>
                          </a:solidFill>
                          <a:latin typeface="Calibri"/>
                        </a:rPr>
                        <a:t>▲ 12.7%</a:t>
                      </a:r>
                    </a:p>
                  </a:txBody>
                  <a:tcPr marL="85725" marR="38100" marT="19050" marB="19050" anchor="ctr">
                    <a:solidFill>
                      <a:srgbClr val="FFFFFF"/>
                    </a:solidFill>
                  </a:tcPr>
                </a:tc>
                <a:tc>
                  <a:txBody>
                    <a:bodyPr wrap="none"/>
                    <a:lstStyle/>
                    <a:p>
                      <a:pPr algn="l"/>
                      <a:r>
                        <a:rPr sz="800" b="1">
                          <a:solidFill>
                            <a:srgbClr val="2E7D32"/>
                          </a:solidFill>
                          <a:latin typeface="Calibri"/>
                        </a:rPr>
                        <a:t>▲ 13.0%</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13.9%</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13.9%</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1">
                          <a:solidFill>
                            <a:srgbClr val="2E7D32"/>
                          </a:solidFill>
                          <a:latin typeface="Calibri"/>
                        </a:rPr>
                        <a:t>▲ 6.2%</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1">
                          <a:solidFill>
                            <a:srgbClr val="A86F00"/>
                          </a:solidFill>
                          <a:latin typeface="Calibri"/>
                        </a:rPr>
                        <a:t>▶ 2.9%</a:t>
                      </a:r>
                    </a:p>
                  </a:txBody>
                  <a:tcPr marL="85725" marR="38100" marT="19050" marB="19050" anchor="ctr">
                    <a:solidFill>
                      <a:srgbClr val="F5F8FA"/>
                    </a:solidFill>
                  </a:tcPr>
                </a:tc>
                <a:tc>
                  <a:txBody>
                    <a:bodyPr wrap="none"/>
                    <a:lstStyle/>
                    <a:p>
                      <a:pPr algn="l"/>
                      <a:r>
                        <a:rPr sz="800" b="1">
                          <a:solidFill>
                            <a:srgbClr val="A86F00"/>
                          </a:solidFill>
                          <a:latin typeface="Calibri"/>
                        </a:rPr>
                        <a:t>▶ 3.0%</a:t>
                      </a:r>
                    </a:p>
                  </a:txBody>
                  <a:tcPr marL="85725" marR="38100" marT="19050" marB="19050" anchor="ctr">
                    <a:solidFill>
                      <a:srgbClr val="F5F8FA"/>
                    </a:solidFill>
                  </a:tcPr>
                </a:tc>
                <a:tc>
                  <a:txBody>
                    <a:bodyPr wrap="none"/>
                    <a:lstStyle/>
                    <a:p>
                      <a:pPr algn="l"/>
                      <a:r>
                        <a:rPr sz="800" b="1">
                          <a:solidFill>
                            <a:srgbClr val="A86F00"/>
                          </a:solidFill>
                          <a:latin typeface="Calibri"/>
                        </a:rPr>
                        <a:t>▶ 3.2%</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Application (%)  ·  light = lower, dark = higher growth</a:t>
            </a:r>
          </a:p>
        </p:txBody>
      </p:sp>
      <p:sp>
        <p:nvSpPr>
          <p:cNvPr id="18" name="TextBox 17"/>
          <p:cNvSpPr txBox="1"/>
          <p:nvPr/>
        </p:nvSpPr>
        <p:spPr>
          <a:xfrm>
            <a:off x="185737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4286250"/>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Diabetes &amp; Glucose Testing</a:t>
            </a:r>
          </a:p>
        </p:txBody>
      </p:sp>
      <p:sp>
        <p:nvSpPr>
          <p:cNvPr id="34" name="Rectangle 33"/>
          <p:cNvSpPr/>
          <p:nvPr/>
        </p:nvSpPr>
        <p:spPr>
          <a:xfrm>
            <a:off x="1857375" y="4286250"/>
            <a:ext cx="643890" cy="297656"/>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4286250"/>
            <a:ext cx="643890" cy="297656"/>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4286250"/>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4286250"/>
            <a:ext cx="643890" cy="297656"/>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4286250"/>
            <a:ext cx="643890" cy="297656"/>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4286250"/>
            <a:ext cx="643890" cy="297656"/>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4286250"/>
            <a:ext cx="643890" cy="297656"/>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4286250"/>
            <a:ext cx="643890" cy="297656"/>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4286250"/>
            <a:ext cx="643890" cy="297656"/>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4286250"/>
            <a:ext cx="643890" cy="297656"/>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4286250"/>
            <a:ext cx="643890" cy="297656"/>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4286250"/>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4286250"/>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4286250"/>
            <a:ext cx="643890" cy="297656"/>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4286250"/>
            <a:ext cx="643890" cy="297656"/>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83906"/>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Newborn Screening</a:t>
            </a:r>
          </a:p>
        </p:txBody>
      </p:sp>
      <p:sp>
        <p:nvSpPr>
          <p:cNvPr id="50" name="Rectangle 49"/>
          <p:cNvSpPr/>
          <p:nvPr/>
        </p:nvSpPr>
        <p:spPr>
          <a:xfrm>
            <a:off x="1857375" y="4583906"/>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83906"/>
            <a:ext cx="643890" cy="297656"/>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83906"/>
            <a:ext cx="643890" cy="297656"/>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83906"/>
            <a:ext cx="643890" cy="297656"/>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83906"/>
            <a:ext cx="643890" cy="297656"/>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83906"/>
            <a:ext cx="643890" cy="297656"/>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83906"/>
            <a:ext cx="643890" cy="297656"/>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83906"/>
            <a:ext cx="643890" cy="297656"/>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83906"/>
            <a:ext cx="643890" cy="297656"/>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83906"/>
            <a:ext cx="643890" cy="297656"/>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83906"/>
            <a:ext cx="643890" cy="297656"/>
          </a:xfrm>
          <a:prstGeom prst="rect">
            <a:avLst/>
          </a:prstGeom>
          <a:solidFill>
            <a:srgbClr val="A5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83906"/>
            <a:ext cx="643890" cy="297656"/>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83906"/>
            <a:ext cx="643890" cy="297656"/>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83906"/>
            <a:ext cx="643890" cy="297656"/>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83906"/>
            <a:ext cx="643890" cy="297656"/>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4881562"/>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Hematology Testing</a:t>
            </a:r>
          </a:p>
        </p:txBody>
      </p:sp>
      <p:sp>
        <p:nvSpPr>
          <p:cNvPr id="66" name="Rectangle 65"/>
          <p:cNvSpPr/>
          <p:nvPr/>
        </p:nvSpPr>
        <p:spPr>
          <a:xfrm>
            <a:off x="1857375" y="4881562"/>
            <a:ext cx="643890" cy="297656"/>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4881562"/>
            <a:ext cx="643890" cy="297656"/>
          </a:xfrm>
          <a:prstGeom prst="rect">
            <a:avLst/>
          </a:prstGeom>
          <a:solidFill>
            <a:srgbClr val="FE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4881562"/>
            <a:ext cx="643890" cy="297656"/>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4881562"/>
            <a:ext cx="643890" cy="297656"/>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4881562"/>
            <a:ext cx="643890" cy="297656"/>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4881562"/>
            <a:ext cx="643890" cy="297656"/>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4881562"/>
            <a:ext cx="643890" cy="297656"/>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4881562"/>
            <a:ext cx="643890" cy="297656"/>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4881562"/>
            <a:ext cx="643890" cy="297656"/>
          </a:xfrm>
          <a:prstGeom prst="rect">
            <a:avLst/>
          </a:prstGeom>
          <a:solidFill>
            <a:srgbClr val="E9F5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4881562"/>
            <a:ext cx="643890" cy="297656"/>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4881562"/>
            <a:ext cx="643890" cy="297656"/>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4881562"/>
            <a:ext cx="643890" cy="297656"/>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4881562"/>
            <a:ext cx="643890" cy="297656"/>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4881562"/>
            <a:ext cx="643890" cy="297656"/>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4881562"/>
            <a:ext cx="643890" cy="297656"/>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179219"/>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Infectious Disease Testing</a:t>
            </a:r>
          </a:p>
        </p:txBody>
      </p:sp>
      <p:sp>
        <p:nvSpPr>
          <p:cNvPr id="82" name="Rectangle 81"/>
          <p:cNvSpPr/>
          <p:nvPr/>
        </p:nvSpPr>
        <p:spPr>
          <a:xfrm>
            <a:off x="1857375" y="5179219"/>
            <a:ext cx="643890" cy="297656"/>
          </a:xfrm>
          <a:prstGeom prst="rect">
            <a:avLst/>
          </a:prstGeom>
          <a:solidFill>
            <a:srgbClr val="D1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179219"/>
            <a:ext cx="643890" cy="297656"/>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179219"/>
            <a:ext cx="643890" cy="297656"/>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179219"/>
            <a:ext cx="643890" cy="297656"/>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179219"/>
            <a:ext cx="643890" cy="297656"/>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179219"/>
            <a:ext cx="643890" cy="297656"/>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179219"/>
            <a:ext cx="643890" cy="297656"/>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179219"/>
            <a:ext cx="643890" cy="297656"/>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179219"/>
            <a:ext cx="643890" cy="297656"/>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179219"/>
            <a:ext cx="643890" cy="297656"/>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179219"/>
            <a:ext cx="643890" cy="297656"/>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179219"/>
            <a:ext cx="643890" cy="297656"/>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179219"/>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179219"/>
            <a:ext cx="643890" cy="297656"/>
          </a:xfrm>
          <a:prstGeom prst="rect">
            <a:avLst/>
          </a:prstGeom>
          <a:solidFill>
            <a:srgbClr val="C0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179219"/>
            <a:ext cx="643890" cy="297656"/>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8125" y="5476875"/>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Genetic &amp; Molecular Testing</a:t>
            </a:r>
          </a:p>
        </p:txBody>
      </p:sp>
      <p:sp>
        <p:nvSpPr>
          <p:cNvPr id="98" name="Rectangle 97"/>
          <p:cNvSpPr/>
          <p:nvPr/>
        </p:nvSpPr>
        <p:spPr>
          <a:xfrm>
            <a:off x="1857375" y="5476875"/>
            <a:ext cx="643890" cy="297656"/>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501265" y="5476875"/>
            <a:ext cx="643890" cy="297656"/>
          </a:xfrm>
          <a:prstGeom prst="rect">
            <a:avLst/>
          </a:prstGeom>
          <a:solidFill>
            <a:srgbClr val="0E6DA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145155" y="5476875"/>
            <a:ext cx="643890" cy="297656"/>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789045" y="5476875"/>
            <a:ext cx="643890" cy="297656"/>
          </a:xfrm>
          <a:prstGeom prst="rect">
            <a:avLst/>
          </a:prstGeom>
          <a:solidFill>
            <a:srgbClr val="0C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432935" y="5476875"/>
            <a:ext cx="643890" cy="297656"/>
          </a:xfrm>
          <a:prstGeom prst="rect">
            <a:avLst/>
          </a:prstGeom>
          <a:solidFill>
            <a:srgbClr val="0C3F6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076825" y="5476875"/>
            <a:ext cx="643890" cy="297656"/>
          </a:xfrm>
          <a:prstGeom prst="rect">
            <a:avLst/>
          </a:prstGeom>
          <a:solidFill>
            <a:srgbClr val="0B335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720715" y="5476875"/>
            <a:ext cx="643890" cy="297656"/>
          </a:xfrm>
          <a:prstGeom prst="rect">
            <a:avLst/>
          </a:prstGeom>
          <a:solidFill>
            <a:srgbClr val="0B2E4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364605" y="5476875"/>
            <a:ext cx="643890" cy="297656"/>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08495" y="5476875"/>
            <a:ext cx="643890" cy="297656"/>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652385" y="5476875"/>
            <a:ext cx="643890" cy="297656"/>
          </a:xfrm>
          <a:prstGeom prst="rect">
            <a:avLst/>
          </a:prstGeom>
          <a:solidFill>
            <a:srgbClr val="0C3D6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296275" y="5476875"/>
            <a:ext cx="643890" cy="297656"/>
          </a:xfrm>
          <a:prstGeom prst="rect">
            <a:avLst/>
          </a:prstGeom>
          <a:solidFill>
            <a:srgbClr val="0C446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940165" y="5476875"/>
            <a:ext cx="643890" cy="297656"/>
          </a:xfrm>
          <a:prstGeom prst="rect">
            <a:avLst/>
          </a:prstGeom>
          <a:solidFill>
            <a:srgbClr val="0C4B7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84055" y="5476875"/>
            <a:ext cx="643890" cy="297656"/>
          </a:xfrm>
          <a:prstGeom prst="rect">
            <a:avLst/>
          </a:prstGeom>
          <a:solidFill>
            <a:srgbClr val="0C4A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227945" y="5476875"/>
            <a:ext cx="643890" cy="297656"/>
          </a:xfrm>
          <a:prstGeom prst="rect">
            <a:avLst/>
          </a:prstGeom>
          <a:solidFill>
            <a:srgbClr val="0D517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871835" y="5476875"/>
            <a:ext cx="643890" cy="297656"/>
          </a:xfrm>
          <a:prstGeom prst="rect">
            <a:avLst/>
          </a:prstGeom>
          <a:solidFill>
            <a:srgbClr val="0D517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38125" y="5774531"/>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Therapeutic Drug Monitoring</a:t>
            </a:r>
          </a:p>
        </p:txBody>
      </p:sp>
      <p:sp>
        <p:nvSpPr>
          <p:cNvPr id="114" name="Rectangle 113"/>
          <p:cNvSpPr/>
          <p:nvPr/>
        </p:nvSpPr>
        <p:spPr>
          <a:xfrm>
            <a:off x="1857375" y="5774531"/>
            <a:ext cx="643890" cy="297656"/>
          </a:xfrm>
          <a:prstGeom prst="rect">
            <a:avLst/>
          </a:prstGeom>
          <a:solidFill>
            <a:srgbClr val="A5C8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501265" y="5774531"/>
            <a:ext cx="643890" cy="297656"/>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145155" y="5774531"/>
            <a:ext cx="643890" cy="297656"/>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789045" y="5774531"/>
            <a:ext cx="643890" cy="297656"/>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432935" y="5774531"/>
            <a:ext cx="643890" cy="297656"/>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076825" y="5774531"/>
            <a:ext cx="643890" cy="297656"/>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720715" y="5774531"/>
            <a:ext cx="643890" cy="297656"/>
          </a:xfrm>
          <a:prstGeom prst="rect">
            <a:avLst/>
          </a:prstGeom>
          <a:solidFill>
            <a:srgbClr val="7C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364605" y="5774531"/>
            <a:ext cx="643890" cy="297656"/>
          </a:xfrm>
          <a:prstGeom prst="rect">
            <a:avLst/>
          </a:prstGeom>
          <a:solidFill>
            <a:srgbClr val="7C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008495" y="5774531"/>
            <a:ext cx="643890" cy="297656"/>
          </a:xfrm>
          <a:prstGeom prst="rect">
            <a:avLst/>
          </a:prstGeom>
          <a:solidFill>
            <a:srgbClr val="83B4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652385" y="5774531"/>
            <a:ext cx="643890" cy="297656"/>
          </a:xfrm>
          <a:prstGeom prst="rect">
            <a:avLst/>
          </a:prstGeom>
          <a:solidFill>
            <a:srgbClr val="8AB8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296275" y="5774531"/>
            <a:ext cx="643890" cy="297656"/>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8940165" y="5774531"/>
            <a:ext cx="643890" cy="297656"/>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584055" y="5774531"/>
            <a:ext cx="643890" cy="297656"/>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227945" y="5774531"/>
            <a:ext cx="643890" cy="297656"/>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871835" y="5774531"/>
            <a:ext cx="643890" cy="297656"/>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38125" y="6072188"/>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Metabolic &amp; Biochemical Testing</a:t>
            </a:r>
          </a:p>
        </p:txBody>
      </p:sp>
      <p:sp>
        <p:nvSpPr>
          <p:cNvPr id="130" name="Rectangle 129"/>
          <p:cNvSpPr/>
          <p:nvPr/>
        </p:nvSpPr>
        <p:spPr>
          <a:xfrm>
            <a:off x="1857375" y="6072188"/>
            <a:ext cx="643890" cy="297656"/>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501265" y="6072188"/>
            <a:ext cx="643890" cy="297656"/>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3145155" y="6072188"/>
            <a:ext cx="643890" cy="297656"/>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789045" y="6072188"/>
            <a:ext cx="643890" cy="297656"/>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4432935" y="6072188"/>
            <a:ext cx="643890" cy="297656"/>
          </a:xfrm>
          <a:prstGeom prst="rect">
            <a:avLst/>
          </a:prstGeom>
          <a:solidFill>
            <a:srgbClr val="A3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76825" y="6072188"/>
            <a:ext cx="643890" cy="297656"/>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720715" y="6072188"/>
            <a:ext cx="643890" cy="297656"/>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64605" y="6072188"/>
            <a:ext cx="643890" cy="297656"/>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008495" y="6072188"/>
            <a:ext cx="643890" cy="297656"/>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652385" y="6072188"/>
            <a:ext cx="643890" cy="297656"/>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8296275" y="6072188"/>
            <a:ext cx="643890" cy="297656"/>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940165" y="6072188"/>
            <a:ext cx="643890" cy="297656"/>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584055" y="6072188"/>
            <a:ext cx="643890" cy="297656"/>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227945" y="6072188"/>
            <a:ext cx="643890" cy="297656"/>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0871835" y="6072188"/>
            <a:ext cx="643890" cy="297656"/>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38125" y="6369844"/>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Other Diagnostic Applications</a:t>
            </a:r>
          </a:p>
        </p:txBody>
      </p:sp>
      <p:sp>
        <p:nvSpPr>
          <p:cNvPr id="146" name="Rectangle 145"/>
          <p:cNvSpPr/>
          <p:nvPr/>
        </p:nvSpPr>
        <p:spPr>
          <a:xfrm>
            <a:off x="1857375" y="6369844"/>
            <a:ext cx="643890" cy="297656"/>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2501265" y="6369844"/>
            <a:ext cx="643890" cy="297656"/>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3145155" y="6369844"/>
            <a:ext cx="643890" cy="297656"/>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3789045" y="6369844"/>
            <a:ext cx="643890" cy="297656"/>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4432935" y="6369844"/>
            <a:ext cx="643890" cy="297656"/>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076825" y="6369844"/>
            <a:ext cx="643890" cy="297656"/>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720715" y="6369844"/>
            <a:ext cx="643890" cy="297656"/>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6364605" y="6369844"/>
            <a:ext cx="643890" cy="297656"/>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7008495" y="6369844"/>
            <a:ext cx="643890" cy="297656"/>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7652385" y="6369844"/>
            <a:ext cx="643890" cy="297656"/>
          </a:xfrm>
          <a:prstGeom prst="rect">
            <a:avLst/>
          </a:prstGeom>
          <a:solidFill>
            <a:srgbClr val="D9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296275" y="6369844"/>
            <a:ext cx="643890" cy="297656"/>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40165" y="6369844"/>
            <a:ext cx="643890" cy="297656"/>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584055" y="6369844"/>
            <a:ext cx="643890" cy="297656"/>
          </a:xfrm>
          <a:prstGeom prst="rect">
            <a:avLst/>
          </a:prstGeom>
          <a:solidFill>
            <a:srgbClr val="DE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227945" y="6369844"/>
            <a:ext cx="643890" cy="297656"/>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871835" y="6369844"/>
            <a:ext cx="643890" cy="297656"/>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1572875" y="4324350"/>
            <a:ext cx="104775" cy="6524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572875" y="4381976"/>
            <a:ext cx="104775" cy="6524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1572875" y="4439602"/>
            <a:ext cx="104775" cy="6524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1572875" y="4497229"/>
            <a:ext cx="104775" cy="6524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1572875" y="4554855"/>
            <a:ext cx="104775" cy="6524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1572875" y="4612481"/>
            <a:ext cx="104775" cy="6524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1572875" y="4670108"/>
            <a:ext cx="104775" cy="6524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1572875" y="4727734"/>
            <a:ext cx="104775" cy="6524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1572875" y="4785360"/>
            <a:ext cx="104775" cy="6524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1572875" y="4842986"/>
            <a:ext cx="104775" cy="6524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1572875" y="4900612"/>
            <a:ext cx="104775" cy="6524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1572875" y="4958239"/>
            <a:ext cx="104775" cy="6524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1572875" y="5015865"/>
            <a:ext cx="104775" cy="6524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1572875" y="5073491"/>
            <a:ext cx="104775" cy="6524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1572875" y="5131118"/>
            <a:ext cx="104775" cy="6524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11572875" y="5188744"/>
            <a:ext cx="104775" cy="6524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1572875" y="5246370"/>
            <a:ext cx="104775" cy="6524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1572875" y="5303996"/>
            <a:ext cx="104775" cy="6524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1572875" y="5361622"/>
            <a:ext cx="104775" cy="6524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1572875" y="5419249"/>
            <a:ext cx="104775" cy="6524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1572875" y="5476875"/>
            <a:ext cx="104775" cy="6524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1572875" y="5534501"/>
            <a:ext cx="104775" cy="6524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11572875" y="5592128"/>
            <a:ext cx="104775" cy="6524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1572875" y="5649754"/>
            <a:ext cx="104775" cy="6524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1572875" y="5707380"/>
            <a:ext cx="104775" cy="6524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1572875" y="5765006"/>
            <a:ext cx="104775" cy="6524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1572875" y="5822632"/>
            <a:ext cx="104775" cy="6524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1572875" y="5880259"/>
            <a:ext cx="104775" cy="6524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1572875" y="5937885"/>
            <a:ext cx="104775" cy="6524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1572875" y="5995511"/>
            <a:ext cx="104775" cy="6524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1572875" y="6053138"/>
            <a:ext cx="104775" cy="6524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1572875" y="6110764"/>
            <a:ext cx="104775" cy="6524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1572875" y="6168390"/>
            <a:ext cx="104775" cy="6524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11572875" y="6226016"/>
            <a:ext cx="104775" cy="6524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11572875" y="6283642"/>
            <a:ext cx="104775" cy="6524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1572875" y="6341269"/>
            <a:ext cx="104775" cy="6524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1572875" y="6398895"/>
            <a:ext cx="104775" cy="6524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1572875" y="6456521"/>
            <a:ext cx="104775" cy="6524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11572875" y="6514148"/>
            <a:ext cx="104775" cy="6524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11572875" y="6571774"/>
            <a:ext cx="104775" cy="6524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1572875" y="4324350"/>
            <a:ext cx="104775" cy="23050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687175" y="4257675"/>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203" name="TextBox 202"/>
          <p:cNvSpPr txBox="1"/>
          <p:nvPr/>
        </p:nvSpPr>
        <p:spPr>
          <a:xfrm>
            <a:off x="11687175" y="541020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204" name="TextBox 203"/>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205" name="Rectangle 20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7" name="Rounded Rectangle 20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8" name="Rounded Rectangle 20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9" name="Rounded Rectangle 20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Application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Application,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6287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1">
                          <a:solidFill>
                            <a:srgbClr val="2E7D32"/>
                          </a:solidFill>
                          <a:latin typeface="Calibri"/>
                        </a:rPr>
                        <a:t>▲ 4.5%</a:t>
                      </a:r>
                    </a:p>
                  </a:txBody>
                  <a:tcPr marL="85725" marR="38100" marT="19050" marB="19050" anchor="ctr">
                    <a:solidFill>
                      <a:srgbClr val="FFFFFF"/>
                    </a:solidFill>
                  </a:tcPr>
                </a:tc>
                <a:tc>
                  <a:txBody>
                    <a:bodyPr wrap="none"/>
                    <a:lstStyle/>
                    <a:p>
                      <a:pPr algn="l"/>
                      <a:r>
                        <a:rPr sz="800" b="1">
                          <a:solidFill>
                            <a:srgbClr val="2E7D32"/>
                          </a:solidFill>
                          <a:latin typeface="Calibri"/>
                        </a:rPr>
                        <a:t>▲ 4.8%</a:t>
                      </a:r>
                    </a:p>
                  </a:txBody>
                  <a:tcPr marL="85725" marR="38100" marT="19050" marB="19050" anchor="ctr">
                    <a:solidFill>
                      <a:srgbClr val="FFFFFF"/>
                    </a:solidFill>
                  </a:tcPr>
                </a:tc>
                <a:tc>
                  <a:txBody>
                    <a:bodyPr wrap="none"/>
                    <a:lstStyle/>
                    <a:p>
                      <a:pPr algn="l"/>
                      <a:r>
                        <a:rPr sz="800" b="1">
                          <a:solidFill>
                            <a:srgbClr val="2E7D32"/>
                          </a:solidFill>
                          <a:latin typeface="Calibri"/>
                        </a:rPr>
                        <a:t>▲ 5.5%</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1">
                          <a:solidFill>
                            <a:srgbClr val="2E7D32"/>
                          </a:solidFill>
                          <a:latin typeface="Calibri"/>
                        </a:rPr>
                        <a:t>▲ 4.8%</a:t>
                      </a:r>
                    </a:p>
                  </a:txBody>
                  <a:tcPr marL="85725" marR="38100" marT="19050" marB="19050" anchor="ctr">
                    <a:solidFill>
                      <a:srgbClr val="F5F8FA"/>
                    </a:solidFill>
                  </a:tcPr>
                </a:tc>
                <a:tc>
                  <a:txBody>
                    <a:bodyPr wrap="none"/>
                    <a:lstStyle/>
                    <a:p>
                      <a:pPr algn="l"/>
                      <a:r>
                        <a:rPr sz="800" b="1">
                          <a:solidFill>
                            <a:srgbClr val="2E7D32"/>
                          </a:solidFill>
                          <a:latin typeface="Calibri"/>
                        </a:rPr>
                        <a:t>▲ 5.2%</a:t>
                      </a:r>
                    </a:p>
                  </a:txBody>
                  <a:tcPr marL="85725" marR="38100" marT="19050" marB="19050" anchor="ctr">
                    <a:solidFill>
                      <a:srgbClr val="F5F8FA"/>
                    </a:solidFill>
                  </a:tcPr>
                </a:tc>
                <a:tc>
                  <a:txBody>
                    <a:bodyPr wrap="none"/>
                    <a:lstStyle/>
                    <a:p>
                      <a:pPr algn="l"/>
                      <a:r>
                        <a:rPr sz="800" b="1">
                          <a:solidFill>
                            <a:srgbClr val="2E7D32"/>
                          </a:solidFill>
                          <a:latin typeface="Calibri"/>
                        </a:rPr>
                        <a:t>▲ 5.9%</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1">
                          <a:solidFill>
                            <a:srgbClr val="A86F00"/>
                          </a:solidFill>
                          <a:latin typeface="Calibri"/>
                        </a:rPr>
                        <a:t>▶ 0.2%</a:t>
                      </a:r>
                    </a:p>
                  </a:txBody>
                  <a:tcPr marL="85725" marR="38100" marT="19050" marB="19050" anchor="ctr">
                    <a:solidFill>
                      <a:srgbClr val="FFFFFF"/>
                    </a:solidFill>
                  </a:tcPr>
                </a:tc>
                <a:tc>
                  <a:txBody>
                    <a:bodyPr wrap="none"/>
                    <a:lstStyle/>
                    <a:p>
                      <a:pPr algn="l"/>
                      <a:r>
                        <a:rPr sz="800" b="1">
                          <a:solidFill>
                            <a:srgbClr val="A86F00"/>
                          </a:solidFill>
                          <a:latin typeface="Calibri"/>
                        </a:rPr>
                        <a:t>▶ 0.5%</a:t>
                      </a:r>
                    </a:p>
                  </a:txBody>
                  <a:tcPr marL="85725" marR="38100" marT="19050" marB="19050" anchor="ctr">
                    <a:solidFill>
                      <a:srgbClr val="FFFFFF"/>
                    </a:solidFill>
                  </a:tcPr>
                </a:tc>
                <a:tc>
                  <a:txBody>
                    <a:bodyPr wrap="none"/>
                    <a:lstStyle/>
                    <a:p>
                      <a:pPr algn="l"/>
                      <a:r>
                        <a:rPr sz="800" b="1">
                          <a:solidFill>
                            <a:srgbClr val="A86F00"/>
                          </a:solidFill>
                          <a:latin typeface="Calibri"/>
                        </a:rPr>
                        <a:t>▶ 1.1%</a:t>
                      </a:r>
                    </a:p>
                  </a:txBody>
                  <a:tcPr marL="85725" marR="38100" marT="19050" marB="19050" anchor="ctr">
                    <a:solidFill>
                      <a:srgbClr val="FFFFFF"/>
                    </a:solidFill>
                  </a:tcPr>
                </a:tc>
                <a:tc>
                  <a:txBody>
                    <a:bodyPr wrap="none"/>
                    <a:lstStyle/>
                    <a:p>
                      <a:pPr algn="l"/>
                      <a:r>
                        <a:rPr sz="800" b="1">
                          <a:solidFill>
                            <a:srgbClr val="A86F00"/>
                          </a:solidFill>
                          <a:latin typeface="Calibri"/>
                        </a:rPr>
                        <a:t>▶ 1.6%</a:t>
                      </a:r>
                    </a:p>
                  </a:txBody>
                  <a:tcPr marL="85725" marR="38100" marT="19050" marB="19050" anchor="ctr">
                    <a:solidFill>
                      <a:srgbClr val="FFFFFF"/>
                    </a:solidFill>
                  </a:tcPr>
                </a:tc>
                <a:tc>
                  <a:txBody>
                    <a:bodyPr wrap="none"/>
                    <a:lstStyle/>
                    <a:p>
                      <a:pPr algn="l"/>
                      <a:r>
                        <a:rPr sz="800" b="1">
                          <a:solidFill>
                            <a:srgbClr val="A86F00"/>
                          </a:solidFill>
                          <a:latin typeface="Calibri"/>
                        </a:rPr>
                        <a:t>▶ 3.0%</a:t>
                      </a:r>
                    </a:p>
                  </a:txBody>
                  <a:tcPr marL="85725" marR="38100" marT="19050" marB="19050" anchor="ctr">
                    <a:solidFill>
                      <a:srgbClr val="FFFFFF"/>
                    </a:solidFill>
                  </a:tcPr>
                </a:tc>
                <a:tc>
                  <a:txBody>
                    <a:bodyPr wrap="none"/>
                    <a:lstStyle/>
                    <a:p>
                      <a:pPr algn="l"/>
                      <a:r>
                        <a:rPr sz="800" b="1">
                          <a:solidFill>
                            <a:srgbClr val="A86F00"/>
                          </a:solidFill>
                          <a:latin typeface="Calibri"/>
                        </a:rPr>
                        <a:t>▶ 3.4%</a:t>
                      </a:r>
                    </a:p>
                  </a:txBody>
                  <a:tcPr marL="85725" marR="38100" marT="19050" marB="19050" anchor="ctr">
                    <a:solidFill>
                      <a:srgbClr val="FFFFFF"/>
                    </a:solidFill>
                  </a:tcPr>
                </a:tc>
                <a:tc>
                  <a:txBody>
                    <a:bodyPr wrap="none"/>
                    <a:lstStyle/>
                    <a:p>
                      <a:pPr algn="l"/>
                      <a:r>
                        <a:rPr sz="800" b="1">
                          <a:solidFill>
                            <a:srgbClr val="A86F00"/>
                          </a:solidFill>
                          <a:latin typeface="Calibri"/>
                        </a:rPr>
                        <a:t>▶ 3.7%</a:t>
                      </a:r>
                    </a:p>
                  </a:txBody>
                  <a:tcPr marL="85725" marR="38100" marT="19050" marB="19050" anchor="ctr">
                    <a:solidFill>
                      <a:srgbClr val="FFFFFF"/>
                    </a:solidFill>
                  </a:tcPr>
                </a:tc>
                <a:tc>
                  <a:txBody>
                    <a:bodyPr wrap="none"/>
                    <a:lstStyle/>
                    <a:p>
                      <a:pPr algn="l"/>
                      <a:r>
                        <a:rPr sz="800" b="1">
                          <a:solidFill>
                            <a:srgbClr val="A86F00"/>
                          </a:solidFill>
                          <a:latin typeface="Calibri"/>
                        </a:rPr>
                        <a:t>▶ 3.9%</a:t>
                      </a:r>
                    </a:p>
                  </a:txBody>
                  <a:tcPr marL="85725" marR="38100" marT="19050" marB="19050" anchor="ctr">
                    <a:solidFill>
                      <a:srgbClr val="FFFFFF"/>
                    </a:solidFill>
                  </a:tcPr>
                </a:tc>
                <a:tc>
                  <a:txBody>
                    <a:bodyPr wrap="none"/>
                    <a:lstStyle/>
                    <a:p>
                      <a:pPr algn="l"/>
                      <a:r>
                        <a:rPr sz="800" b="1">
                          <a:solidFill>
                            <a:srgbClr val="A86F00"/>
                          </a:solidFill>
                          <a:latin typeface="Calibri"/>
                        </a:rPr>
                        <a:t>▶ 3.9%</a:t>
                      </a:r>
                    </a:p>
                  </a:txBody>
                  <a:tcPr marL="85725" marR="38100" marT="19050" marB="19050" anchor="ctr">
                    <a:solidFill>
                      <a:srgbClr val="FFFFFF"/>
                    </a:solidFill>
                  </a:tcPr>
                </a:tc>
                <a:tc>
                  <a:txBody>
                    <a:bodyPr wrap="none"/>
                    <a:lstStyle/>
                    <a:p>
                      <a:pPr algn="l"/>
                      <a:r>
                        <a:rPr sz="800" b="1">
                          <a:solidFill>
                            <a:srgbClr val="A86F00"/>
                          </a:solidFill>
                          <a:latin typeface="Calibri"/>
                        </a:rPr>
                        <a:t>▶ 4.0%</a:t>
                      </a:r>
                    </a:p>
                  </a:txBody>
                  <a:tcPr marL="85725" marR="38100" marT="19050" marB="19050" anchor="ctr">
                    <a:solidFill>
                      <a:srgbClr val="FFFFFF"/>
                    </a:solidFill>
                  </a:tcPr>
                </a:tc>
                <a:tc>
                  <a:txBody>
                    <a:bodyPr wrap="none"/>
                    <a:lstStyle/>
                    <a:p>
                      <a:pPr algn="l"/>
                      <a:r>
                        <a:rPr sz="800" b="1">
                          <a:solidFill>
                            <a:srgbClr val="A86F00"/>
                          </a:solidFill>
                          <a:latin typeface="Calibri"/>
                        </a:rPr>
                        <a:t>▶ 4.0%</a:t>
                      </a:r>
                    </a:p>
                  </a:txBody>
                  <a:tcPr marL="85725" marR="38100" marT="19050" marB="19050" anchor="ctr">
                    <a:solidFill>
                      <a:srgbClr val="FFFFFF"/>
                    </a:solidFill>
                  </a:tcPr>
                </a:tc>
                <a:tc>
                  <a:txBody>
                    <a:bodyPr wrap="none"/>
                    <a:lstStyle/>
                    <a:p>
                      <a:pPr algn="l"/>
                      <a:r>
                        <a:rPr sz="800" b="1">
                          <a:solidFill>
                            <a:srgbClr val="A86F00"/>
                          </a:solidFill>
                          <a:latin typeface="Calibri"/>
                        </a:rPr>
                        <a:t>▶ 4.0%</a:t>
                      </a:r>
                    </a:p>
                  </a:txBody>
                  <a:tcPr marL="85725" marR="38100" marT="19050" marB="19050" anchor="ctr">
                    <a:solidFill>
                      <a:srgbClr val="FFFFFF"/>
                    </a:solidFill>
                  </a:tcPr>
                </a:tc>
                <a:tc>
                  <a:txBody>
                    <a:bodyPr wrap="none"/>
                    <a:lstStyle/>
                    <a:p>
                      <a:pPr algn="l"/>
                      <a:r>
                        <a:rPr sz="800" b="1">
                          <a:solidFill>
                            <a:srgbClr val="A86F00"/>
                          </a:solidFill>
                          <a:latin typeface="Calibri"/>
                        </a:rPr>
                        <a:t>▶ 4.2%</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1">
                          <a:solidFill>
                            <a:srgbClr val="A86F00"/>
                          </a:solidFill>
                          <a:latin typeface="Calibri"/>
                        </a:rPr>
                        <a:t>▶ 3.8%</a:t>
                      </a:r>
                    </a:p>
                  </a:txBody>
                  <a:tcPr marL="85725" marR="38100" marT="19050" marB="19050" anchor="ctr">
                    <a:solidFill>
                      <a:srgbClr val="F5F8FA"/>
                    </a:solidFill>
                  </a:tcPr>
                </a:tc>
                <a:tc>
                  <a:txBody>
                    <a:bodyPr wrap="none"/>
                    <a:lstStyle/>
                    <a:p>
                      <a:pPr algn="l"/>
                      <a:r>
                        <a:rPr sz="800" b="1">
                          <a:solidFill>
                            <a:srgbClr val="A86F00"/>
                          </a:solidFill>
                          <a:latin typeface="Calibri"/>
                        </a:rPr>
                        <a:t>▶ 4.3%</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5.6%</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1">
                          <a:solidFill>
                            <a:srgbClr val="2E7D32"/>
                          </a:solidFill>
                          <a:latin typeface="Calibri"/>
                        </a:rPr>
                        <a:t>▲ 10.9%</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12.2%</a:t>
                      </a:r>
                    </a:p>
                  </a:txBody>
                  <a:tcPr marL="85725" marR="38100" marT="19050" marB="19050" anchor="ctr">
                    <a:solidFill>
                      <a:srgbClr val="FFFFFF"/>
                    </a:solidFill>
                  </a:tcPr>
                </a:tc>
                <a:tc>
                  <a:txBody>
                    <a:bodyPr wrap="none"/>
                    <a:lstStyle/>
                    <a:p>
                      <a:pPr algn="l"/>
                      <a:r>
                        <a:rPr sz="800" b="1">
                          <a:solidFill>
                            <a:srgbClr val="2E7D32"/>
                          </a:solidFill>
                          <a:latin typeface="Calibri"/>
                        </a:rPr>
                        <a:t>▲ 12.8%</a:t>
                      </a:r>
                    </a:p>
                  </a:txBody>
                  <a:tcPr marL="85725" marR="38100" marT="19050" marB="19050" anchor="ctr">
                    <a:solidFill>
                      <a:srgbClr val="FFFFFF"/>
                    </a:solidFill>
                  </a:tcPr>
                </a:tc>
                <a:tc>
                  <a:txBody>
                    <a:bodyPr wrap="none"/>
                    <a:lstStyle/>
                    <a:p>
                      <a:pPr algn="l"/>
                      <a:r>
                        <a:rPr sz="800" b="1">
                          <a:solidFill>
                            <a:srgbClr val="2E7D32"/>
                          </a:solidFill>
                          <a:latin typeface="Calibri"/>
                        </a:rPr>
                        <a:t>▲ 13.5%</a:t>
                      </a:r>
                    </a:p>
                  </a:txBody>
                  <a:tcPr marL="85725" marR="38100" marT="19050" marB="19050" anchor="ctr">
                    <a:solidFill>
                      <a:srgbClr val="FFFFFF"/>
                    </a:solidFill>
                  </a:tcPr>
                </a:tc>
                <a:tc>
                  <a:txBody>
                    <a:bodyPr wrap="none"/>
                    <a:lstStyle/>
                    <a:p>
                      <a:pPr algn="l"/>
                      <a:r>
                        <a:rPr sz="800" b="1">
                          <a:solidFill>
                            <a:srgbClr val="2E7D32"/>
                          </a:solidFill>
                          <a:latin typeface="Calibri"/>
                        </a:rPr>
                        <a:t>▲ 14.0%</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14.6%</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14.8%</a:t>
                      </a:r>
                    </a:p>
                  </a:txBody>
                  <a:tcPr marL="85725" marR="38100" marT="19050" marB="19050" anchor="ctr">
                    <a:solidFill>
                      <a:srgbClr val="FFFFFF"/>
                    </a:solidFill>
                  </a:tcPr>
                </a:tc>
                <a:tc>
                  <a:txBody>
                    <a:bodyPr wrap="none"/>
                    <a:lstStyle/>
                    <a:p>
                      <a:pPr algn="l"/>
                      <a:r>
                        <a:rPr sz="800" b="1">
                          <a:solidFill>
                            <a:srgbClr val="2E7D32"/>
                          </a:solidFill>
                          <a:latin typeface="Calibri"/>
                        </a:rPr>
                        <a:t>▲ 14.9%</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15.4%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1">
                          <a:solidFill>
                            <a:srgbClr val="2E7D32"/>
                          </a:solidFill>
                          <a:latin typeface="Calibri"/>
                        </a:rPr>
                        <a:t>▲ 5.8%</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1">
                          <a:solidFill>
                            <a:srgbClr val="2E7D32"/>
                          </a:solidFill>
                          <a:latin typeface="Calibri"/>
                        </a:rPr>
                        <a:t>▲ 4.8%</a:t>
                      </a:r>
                    </a:p>
                  </a:txBody>
                  <a:tcPr marL="85725" marR="38100" marT="19050" marB="19050" anchor="ctr">
                    <a:solidFill>
                      <a:srgbClr val="FFFFFF"/>
                    </a:solidFill>
                  </a:tcPr>
                </a:tc>
                <a:tc>
                  <a:txBody>
                    <a:bodyPr wrap="none"/>
                    <a:lstStyle/>
                    <a:p>
                      <a:pPr algn="l"/>
                      <a:r>
                        <a:rPr sz="800" b="1">
                          <a:solidFill>
                            <a:srgbClr val="2E7D32"/>
                          </a:solidFill>
                          <a:latin typeface="Calibri"/>
                        </a:rPr>
                        <a:t>▲ 5.2%</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c>
                  <a:txBody>
                    <a:bodyPr wrap="none"/>
                    <a:lstStyle/>
                    <a:p>
                      <a:pPr algn="l"/>
                      <a:r>
                        <a:rPr sz="800" b="1">
                          <a:solidFill>
                            <a:srgbClr val="2E7D32"/>
                          </a:solidFill>
                          <a:latin typeface="Calibri"/>
                        </a:rPr>
                        <a:t>▲ 6.4%</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1">
                          <a:solidFill>
                            <a:srgbClr val="A86F00"/>
                          </a:solidFill>
                          <a:latin typeface="Calibri"/>
                        </a:rPr>
                        <a:t>▶ 1.4%</a:t>
                      </a:r>
                    </a:p>
                  </a:txBody>
                  <a:tcPr marL="85725" marR="38100" marT="19050" marB="19050" anchor="ctr">
                    <a:solidFill>
                      <a:srgbClr val="F5F8FA"/>
                    </a:solidFill>
                  </a:tcPr>
                </a:tc>
                <a:tc>
                  <a:txBody>
                    <a:bodyPr wrap="none"/>
                    <a:lstStyle/>
                    <a:p>
                      <a:pPr algn="l"/>
                      <a:r>
                        <a:rPr sz="800" b="1">
                          <a:solidFill>
                            <a:srgbClr val="A86F00"/>
                          </a:solidFill>
                          <a:latin typeface="Calibri"/>
                        </a:rPr>
                        <a:t>▶ 1.8%</a:t>
                      </a:r>
                    </a:p>
                  </a:txBody>
                  <a:tcPr marL="85725" marR="38100" marT="19050" marB="19050" anchor="ctr">
                    <a:solidFill>
                      <a:srgbClr val="F5F8FA"/>
                    </a:solidFill>
                  </a:tcPr>
                </a:tc>
                <a:tc>
                  <a:txBody>
                    <a:bodyPr wrap="none"/>
                    <a:lstStyle/>
                    <a:p>
                      <a:pPr algn="l"/>
                      <a:r>
                        <a:rPr sz="800" b="1">
                          <a:solidFill>
                            <a:srgbClr val="A86F00"/>
                          </a:solidFill>
                          <a:latin typeface="Calibri"/>
                        </a:rPr>
                        <a:t>▶ 2.4%</a:t>
                      </a:r>
                    </a:p>
                  </a:txBody>
                  <a:tcPr marL="85725" marR="38100" marT="19050" marB="19050" anchor="ctr">
                    <a:solidFill>
                      <a:srgbClr val="F5F8FA"/>
                    </a:solidFill>
                  </a:tcPr>
                </a:tc>
                <a:tc>
                  <a:txBody>
                    <a:bodyPr wrap="none"/>
                    <a:lstStyle/>
                    <a:p>
                      <a:pPr algn="l"/>
                      <a:r>
                        <a:rPr sz="800" b="1">
                          <a:solidFill>
                            <a:srgbClr val="A86F00"/>
                          </a:solidFill>
                          <a:latin typeface="Calibri"/>
                        </a:rPr>
                        <a:t>▶ 2.8%</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5.6%</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Application (%)  ·  light = lower, dark = higher growth</a:t>
            </a:r>
          </a:p>
        </p:txBody>
      </p:sp>
      <p:sp>
        <p:nvSpPr>
          <p:cNvPr id="18" name="TextBox 17"/>
          <p:cNvSpPr txBox="1"/>
          <p:nvPr/>
        </p:nvSpPr>
        <p:spPr>
          <a:xfrm>
            <a:off x="185737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41433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4286250"/>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Diabetes &amp; Glucose Testing</a:t>
            </a:r>
          </a:p>
        </p:txBody>
      </p:sp>
      <p:sp>
        <p:nvSpPr>
          <p:cNvPr id="34" name="Rectangle 33"/>
          <p:cNvSpPr/>
          <p:nvPr/>
        </p:nvSpPr>
        <p:spPr>
          <a:xfrm>
            <a:off x="1857375" y="4286250"/>
            <a:ext cx="643890" cy="297656"/>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4286250"/>
            <a:ext cx="643890" cy="297656"/>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4286250"/>
            <a:ext cx="643890" cy="297656"/>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4286250"/>
            <a:ext cx="643890" cy="297656"/>
          </a:xfrm>
          <a:prstGeom prst="rect">
            <a:avLst/>
          </a:prstGeom>
          <a:solidFill>
            <a:srgbClr val="B9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4286250"/>
            <a:ext cx="643890" cy="297656"/>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4286250"/>
            <a:ext cx="643890" cy="297656"/>
          </a:xfrm>
          <a:prstGeom prst="rect">
            <a:avLst/>
          </a:prstGeom>
          <a:solidFill>
            <a:srgbClr val="A5C8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4286250"/>
            <a:ext cx="643890" cy="297656"/>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4286250"/>
            <a:ext cx="643890" cy="297656"/>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4286250"/>
            <a:ext cx="643890" cy="297656"/>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4286250"/>
            <a:ext cx="643890" cy="297656"/>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4286250"/>
            <a:ext cx="643890" cy="297656"/>
          </a:xfrm>
          <a:prstGeom prst="rect">
            <a:avLst/>
          </a:prstGeom>
          <a:solidFill>
            <a:srgbClr val="9AC1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4286250"/>
            <a:ext cx="643890" cy="297656"/>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4286250"/>
            <a:ext cx="643890" cy="297656"/>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4286250"/>
            <a:ext cx="643890" cy="297656"/>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4286250"/>
            <a:ext cx="643890" cy="297656"/>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83906"/>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Newborn Screening</a:t>
            </a:r>
          </a:p>
        </p:txBody>
      </p:sp>
      <p:sp>
        <p:nvSpPr>
          <p:cNvPr id="50" name="Rectangle 49"/>
          <p:cNvSpPr/>
          <p:nvPr/>
        </p:nvSpPr>
        <p:spPr>
          <a:xfrm>
            <a:off x="1857375" y="4583906"/>
            <a:ext cx="643890" cy="297656"/>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83906"/>
            <a:ext cx="643890" cy="297656"/>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83906"/>
            <a:ext cx="643890" cy="297656"/>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83906"/>
            <a:ext cx="643890" cy="297656"/>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83906"/>
            <a:ext cx="643890" cy="297656"/>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83906"/>
            <a:ext cx="643890" cy="297656"/>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83906"/>
            <a:ext cx="643890" cy="297656"/>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83906"/>
            <a:ext cx="643890" cy="297656"/>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83906"/>
            <a:ext cx="643890" cy="297656"/>
          </a:xfrm>
          <a:prstGeom prst="rect">
            <a:avLst/>
          </a:prstGeom>
          <a:solidFill>
            <a:srgbClr val="8F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83906"/>
            <a:ext cx="643890" cy="297656"/>
          </a:xfrm>
          <a:prstGeom prst="rect">
            <a:avLst/>
          </a:prstGeom>
          <a:solidFill>
            <a:srgbClr val="8E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83906"/>
            <a:ext cx="643890" cy="297656"/>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83906"/>
            <a:ext cx="643890" cy="297656"/>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83906"/>
            <a:ext cx="643890" cy="297656"/>
          </a:xfrm>
          <a:prstGeom prst="rect">
            <a:avLst/>
          </a:prstGeom>
          <a:solidFill>
            <a:srgbClr val="85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83906"/>
            <a:ext cx="643890" cy="297656"/>
          </a:xfrm>
          <a:prstGeom prst="rect">
            <a:avLst/>
          </a:prstGeom>
          <a:solidFill>
            <a:srgbClr val="82B4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83906"/>
            <a:ext cx="643890" cy="297656"/>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4881562"/>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Hematology Testing</a:t>
            </a:r>
          </a:p>
        </p:txBody>
      </p:sp>
      <p:sp>
        <p:nvSpPr>
          <p:cNvPr id="66" name="Rectangle 65"/>
          <p:cNvSpPr/>
          <p:nvPr/>
        </p:nvSpPr>
        <p:spPr>
          <a:xfrm>
            <a:off x="1857375" y="4881562"/>
            <a:ext cx="643890" cy="297656"/>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4881562"/>
            <a:ext cx="643890" cy="297656"/>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4881562"/>
            <a:ext cx="643890" cy="297656"/>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4881562"/>
            <a:ext cx="643890" cy="297656"/>
          </a:xfrm>
          <a:prstGeom prst="rect">
            <a:avLst/>
          </a:prstGeom>
          <a:solidFill>
            <a:srgbClr val="F2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4881562"/>
            <a:ext cx="643890" cy="297656"/>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4881562"/>
            <a:ext cx="643890" cy="297656"/>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4881562"/>
            <a:ext cx="643890" cy="297656"/>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4881562"/>
            <a:ext cx="643890" cy="297656"/>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4881562"/>
            <a:ext cx="643890" cy="297656"/>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4881562"/>
            <a:ext cx="643890" cy="297656"/>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4881562"/>
            <a:ext cx="643890" cy="297656"/>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4881562"/>
            <a:ext cx="643890" cy="297656"/>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4881562"/>
            <a:ext cx="643890" cy="297656"/>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4881562"/>
            <a:ext cx="643890" cy="297656"/>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4881562"/>
            <a:ext cx="643890" cy="297656"/>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179219"/>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Infectious Disease Testing</a:t>
            </a:r>
          </a:p>
        </p:txBody>
      </p:sp>
      <p:sp>
        <p:nvSpPr>
          <p:cNvPr id="82" name="Rectangle 81"/>
          <p:cNvSpPr/>
          <p:nvPr/>
        </p:nvSpPr>
        <p:spPr>
          <a:xfrm>
            <a:off x="1857375" y="5179219"/>
            <a:ext cx="643890" cy="297656"/>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179219"/>
            <a:ext cx="643890" cy="297656"/>
          </a:xfrm>
          <a:prstGeom prst="rect">
            <a:avLst/>
          </a:prstGeom>
          <a:solidFill>
            <a:srgbClr val="D4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179219"/>
            <a:ext cx="643890" cy="297656"/>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179219"/>
            <a:ext cx="643890" cy="297656"/>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179219"/>
            <a:ext cx="643890" cy="297656"/>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179219"/>
            <a:ext cx="643890" cy="297656"/>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179219"/>
            <a:ext cx="643890" cy="297656"/>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179219"/>
            <a:ext cx="643890" cy="297656"/>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179219"/>
            <a:ext cx="643890" cy="297656"/>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179219"/>
            <a:ext cx="643890" cy="297656"/>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179219"/>
            <a:ext cx="643890" cy="297656"/>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179219"/>
            <a:ext cx="643890" cy="297656"/>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179219"/>
            <a:ext cx="643890" cy="297656"/>
          </a:xfrm>
          <a:prstGeom prst="rect">
            <a:avLst/>
          </a:prstGeom>
          <a:solidFill>
            <a:srgbClr val="98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179219"/>
            <a:ext cx="643890" cy="297656"/>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179219"/>
            <a:ext cx="643890" cy="297656"/>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8125" y="5476875"/>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Genetic &amp; Molecular Testing</a:t>
            </a:r>
          </a:p>
        </p:txBody>
      </p:sp>
      <p:sp>
        <p:nvSpPr>
          <p:cNvPr id="98" name="Rectangle 97"/>
          <p:cNvSpPr/>
          <p:nvPr/>
        </p:nvSpPr>
        <p:spPr>
          <a:xfrm>
            <a:off x="1857375" y="5476875"/>
            <a:ext cx="643890" cy="297656"/>
          </a:xfrm>
          <a:prstGeom prst="rect">
            <a:avLst/>
          </a:prstGeom>
          <a:solidFill>
            <a:srgbClr val="3D8E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501265" y="5476875"/>
            <a:ext cx="643890" cy="297656"/>
          </a:xfrm>
          <a:prstGeom prst="rect">
            <a:avLst/>
          </a:prstGeom>
          <a:solidFill>
            <a:srgbClr val="3489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145155" y="5476875"/>
            <a:ext cx="643890" cy="297656"/>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789045" y="5476875"/>
            <a:ext cx="643890" cy="297656"/>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432935" y="5476875"/>
            <a:ext cx="643890" cy="297656"/>
          </a:xfrm>
          <a:prstGeom prst="rect">
            <a:avLst/>
          </a:prstGeom>
          <a:solidFill>
            <a:srgbClr val="0E6DA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076825" y="5476875"/>
            <a:ext cx="643890" cy="297656"/>
          </a:xfrm>
          <a:prstGeom prst="rect">
            <a:avLst/>
          </a:prstGeom>
          <a:solidFill>
            <a:srgbClr val="0D5B8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720715" y="5476875"/>
            <a:ext cx="643890" cy="297656"/>
          </a:xfrm>
          <a:prstGeom prst="rect">
            <a:avLst/>
          </a:prstGeom>
          <a:solidFill>
            <a:srgbClr val="0C507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364605" y="5476875"/>
            <a:ext cx="643890" cy="297656"/>
          </a:xfrm>
          <a:prstGeom prst="rect">
            <a:avLst/>
          </a:prstGeom>
          <a:solidFill>
            <a:srgbClr val="0C487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08495" y="5476875"/>
            <a:ext cx="643890" cy="297656"/>
          </a:xfrm>
          <a:prstGeom prst="rect">
            <a:avLst/>
          </a:prstGeom>
          <a:solidFill>
            <a:srgbClr val="0C466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652385" y="5476875"/>
            <a:ext cx="643890" cy="297656"/>
          </a:xfrm>
          <a:prstGeom prst="rect">
            <a:avLst/>
          </a:prstGeom>
          <a:solidFill>
            <a:srgbClr val="0C44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296275" y="5476875"/>
            <a:ext cx="643890" cy="297656"/>
          </a:xfrm>
          <a:prstGeom prst="rect">
            <a:avLst/>
          </a:prstGeom>
          <a:solidFill>
            <a:srgbClr val="0C416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940165" y="5476875"/>
            <a:ext cx="643890" cy="297656"/>
          </a:xfrm>
          <a:prstGeom prst="rect">
            <a:avLst/>
          </a:prstGeom>
          <a:solidFill>
            <a:srgbClr val="0C41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84055" y="5476875"/>
            <a:ext cx="643890" cy="297656"/>
          </a:xfrm>
          <a:prstGeom prst="rect">
            <a:avLst/>
          </a:prstGeom>
          <a:solidFill>
            <a:srgbClr val="0B385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227945" y="5476875"/>
            <a:ext cx="643890" cy="297656"/>
          </a:xfrm>
          <a:prstGeom prst="rect">
            <a:avLst/>
          </a:prstGeom>
          <a:solidFill>
            <a:srgbClr val="0B355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871835" y="5476875"/>
            <a:ext cx="643890" cy="297656"/>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38125" y="5774531"/>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Therapeutic Drug Monitoring</a:t>
            </a:r>
          </a:p>
        </p:txBody>
      </p:sp>
      <p:sp>
        <p:nvSpPr>
          <p:cNvPr id="114" name="Rectangle 113"/>
          <p:cNvSpPr/>
          <p:nvPr/>
        </p:nvSpPr>
        <p:spPr>
          <a:xfrm>
            <a:off x="1857375" y="5774531"/>
            <a:ext cx="643890" cy="297656"/>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501265" y="5774531"/>
            <a:ext cx="643890" cy="297656"/>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145155" y="5774531"/>
            <a:ext cx="643890" cy="297656"/>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789045" y="5774531"/>
            <a:ext cx="643890" cy="297656"/>
          </a:xfrm>
          <a:prstGeom prst="rect">
            <a:avLst/>
          </a:prstGeom>
          <a:solidFill>
            <a:srgbClr val="9E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432935" y="5774531"/>
            <a:ext cx="643890" cy="297656"/>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076825" y="5774531"/>
            <a:ext cx="643890" cy="297656"/>
          </a:xfrm>
          <a:prstGeom prst="rect">
            <a:avLst/>
          </a:prstGeom>
          <a:solidFill>
            <a:srgbClr val="86B6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720715" y="5774531"/>
            <a:ext cx="643890" cy="297656"/>
          </a:xfrm>
          <a:prstGeom prst="rect">
            <a:avLst/>
          </a:prstGeom>
          <a:solidFill>
            <a:srgbClr val="7DB1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364605" y="5774531"/>
            <a:ext cx="643890" cy="297656"/>
          </a:xfrm>
          <a:prstGeom prst="rect">
            <a:avLst/>
          </a:prstGeom>
          <a:solidFill>
            <a:srgbClr val="77AE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008495" y="5774531"/>
            <a:ext cx="643890" cy="297656"/>
          </a:xfrm>
          <a:prstGeom prst="rect">
            <a:avLst/>
          </a:prstGeom>
          <a:solidFill>
            <a:srgbClr val="75AD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652385" y="5774531"/>
            <a:ext cx="643890" cy="297656"/>
          </a:xfrm>
          <a:prstGeom prst="rect">
            <a:avLst/>
          </a:prstGeom>
          <a:solidFill>
            <a:srgbClr val="74ACD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296275" y="5774531"/>
            <a:ext cx="643890" cy="297656"/>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8940165" y="5774531"/>
            <a:ext cx="643890" cy="297656"/>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584055" y="5774531"/>
            <a:ext cx="643890" cy="297656"/>
          </a:xfrm>
          <a:prstGeom prst="rect">
            <a:avLst/>
          </a:prstGeom>
          <a:solidFill>
            <a:srgbClr val="6BA8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227945" y="5774531"/>
            <a:ext cx="643890" cy="297656"/>
          </a:xfrm>
          <a:prstGeom prst="rect">
            <a:avLst/>
          </a:prstGeom>
          <a:solidFill>
            <a:srgbClr val="69A6D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871835" y="5774531"/>
            <a:ext cx="643890" cy="297656"/>
          </a:xfrm>
          <a:prstGeom prst="rect">
            <a:avLst/>
          </a:prstGeom>
          <a:solidFill>
            <a:srgbClr val="64A3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38125" y="6072188"/>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Metabolic &amp; Biochemical Testing</a:t>
            </a:r>
          </a:p>
        </p:txBody>
      </p:sp>
      <p:sp>
        <p:nvSpPr>
          <p:cNvPr id="130" name="Rectangle 129"/>
          <p:cNvSpPr/>
          <p:nvPr/>
        </p:nvSpPr>
        <p:spPr>
          <a:xfrm>
            <a:off x="1857375" y="6072188"/>
            <a:ext cx="643890" cy="297656"/>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2501265" y="6072188"/>
            <a:ext cx="643890" cy="297656"/>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3145155" y="6072188"/>
            <a:ext cx="643890" cy="297656"/>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789045" y="6072188"/>
            <a:ext cx="643890" cy="297656"/>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4432935" y="6072188"/>
            <a:ext cx="643890" cy="297656"/>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076825" y="6072188"/>
            <a:ext cx="643890" cy="297656"/>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720715" y="6072188"/>
            <a:ext cx="643890" cy="297656"/>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64605" y="6072188"/>
            <a:ext cx="643890" cy="297656"/>
          </a:xfrm>
          <a:prstGeom prst="rect">
            <a:avLst/>
          </a:prstGeom>
          <a:solidFill>
            <a:srgbClr val="91BC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7008495" y="6072188"/>
            <a:ext cx="643890" cy="297656"/>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652385" y="6072188"/>
            <a:ext cx="643890" cy="297656"/>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8296275" y="6072188"/>
            <a:ext cx="643890" cy="297656"/>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940165" y="6072188"/>
            <a:ext cx="643890" cy="297656"/>
          </a:xfrm>
          <a:prstGeom prst="rect">
            <a:avLst/>
          </a:prstGeom>
          <a:solidFill>
            <a:srgbClr val="8EBA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584055" y="6072188"/>
            <a:ext cx="643890" cy="297656"/>
          </a:xfrm>
          <a:prstGeom prst="rect">
            <a:avLst/>
          </a:prstGeom>
          <a:solidFill>
            <a:srgbClr val="87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227945" y="6072188"/>
            <a:ext cx="643890" cy="297656"/>
          </a:xfrm>
          <a:prstGeom prst="rect">
            <a:avLst/>
          </a:prstGeom>
          <a:solidFill>
            <a:srgbClr val="85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0871835" y="6072188"/>
            <a:ext cx="643890" cy="297656"/>
          </a:xfrm>
          <a:prstGeom prst="rect">
            <a:avLst/>
          </a:prstGeom>
          <a:solidFill>
            <a:srgbClr val="80B3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38125" y="6369844"/>
            <a:ext cx="1590675" cy="297656"/>
          </a:xfrm>
          <a:prstGeom prst="rect">
            <a:avLst/>
          </a:prstGeom>
          <a:noFill/>
        </p:spPr>
        <p:txBody>
          <a:bodyPr wrap="square" lIns="28575" rIns="28575" tIns="9525" bIns="9525" anchor="ctr">
            <a:spAutoFit/>
          </a:bodyPr>
          <a:lstStyle/>
          <a:p>
            <a:pPr algn="l"/>
            <a:r>
              <a:rPr sz="750" b="0">
                <a:solidFill>
                  <a:srgbClr val="2E2E2E"/>
                </a:solidFill>
                <a:latin typeface="Calibri"/>
              </a:rPr>
              <a:t>Other Diagnostic Applications</a:t>
            </a:r>
          </a:p>
        </p:txBody>
      </p:sp>
      <p:sp>
        <p:nvSpPr>
          <p:cNvPr id="146" name="Rectangle 145"/>
          <p:cNvSpPr/>
          <p:nvPr/>
        </p:nvSpPr>
        <p:spPr>
          <a:xfrm>
            <a:off x="1857375" y="6369844"/>
            <a:ext cx="643890" cy="297656"/>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2501265" y="6369844"/>
            <a:ext cx="643890" cy="297656"/>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3145155" y="6369844"/>
            <a:ext cx="643890" cy="297656"/>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3789045" y="6369844"/>
            <a:ext cx="643890" cy="297656"/>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4432935" y="6369844"/>
            <a:ext cx="643890" cy="297656"/>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5076825" y="6369844"/>
            <a:ext cx="643890" cy="297656"/>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720715" y="6369844"/>
            <a:ext cx="643890" cy="297656"/>
          </a:xfrm>
          <a:prstGeom prst="rect">
            <a:avLst/>
          </a:prstGeom>
          <a:solidFill>
            <a:srgbClr val="CC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6364605" y="6369844"/>
            <a:ext cx="643890" cy="297656"/>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7008495" y="6369844"/>
            <a:ext cx="643890" cy="297656"/>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7652385" y="6369844"/>
            <a:ext cx="643890" cy="297656"/>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296275" y="6369844"/>
            <a:ext cx="643890" cy="297656"/>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40165" y="6369844"/>
            <a:ext cx="643890" cy="297656"/>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584055" y="6369844"/>
            <a:ext cx="643890" cy="297656"/>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227945" y="6369844"/>
            <a:ext cx="643890" cy="297656"/>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871835" y="6369844"/>
            <a:ext cx="643890" cy="297656"/>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1572875" y="4324350"/>
            <a:ext cx="104775" cy="65246"/>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572875" y="4381976"/>
            <a:ext cx="104775" cy="65246"/>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1572875" y="4439602"/>
            <a:ext cx="104775" cy="65246"/>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1572875" y="4497229"/>
            <a:ext cx="104775" cy="65246"/>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1572875" y="4554855"/>
            <a:ext cx="104775" cy="65246"/>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1572875" y="4612481"/>
            <a:ext cx="104775" cy="65246"/>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1572875" y="4670108"/>
            <a:ext cx="104775" cy="65246"/>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1572875" y="4727734"/>
            <a:ext cx="104775" cy="65246"/>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1572875" y="4785360"/>
            <a:ext cx="104775" cy="65246"/>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1572875" y="4842986"/>
            <a:ext cx="104775" cy="65246"/>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1572875" y="4900612"/>
            <a:ext cx="104775" cy="65246"/>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1572875" y="4958239"/>
            <a:ext cx="104775" cy="65246"/>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1572875" y="5015865"/>
            <a:ext cx="104775" cy="65246"/>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1572875" y="5073491"/>
            <a:ext cx="104775" cy="65246"/>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1572875" y="5131118"/>
            <a:ext cx="104775" cy="65246"/>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11572875" y="5188744"/>
            <a:ext cx="104775" cy="65246"/>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11572875" y="5246370"/>
            <a:ext cx="104775" cy="65246"/>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1572875" y="5303996"/>
            <a:ext cx="104775" cy="65246"/>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1572875" y="5361622"/>
            <a:ext cx="104775" cy="65246"/>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1572875" y="5419249"/>
            <a:ext cx="104775" cy="65246"/>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1572875" y="5476875"/>
            <a:ext cx="104775" cy="65246"/>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1572875" y="5534501"/>
            <a:ext cx="104775" cy="65246"/>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11572875" y="5592128"/>
            <a:ext cx="104775" cy="65246"/>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1572875" y="5649754"/>
            <a:ext cx="104775" cy="65246"/>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1572875" y="5707380"/>
            <a:ext cx="104775" cy="65246"/>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1572875" y="5765006"/>
            <a:ext cx="104775" cy="65246"/>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1572875" y="5822632"/>
            <a:ext cx="104775" cy="65246"/>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1572875" y="5880259"/>
            <a:ext cx="104775" cy="65246"/>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1572875" y="5937885"/>
            <a:ext cx="104775" cy="65246"/>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1572875" y="5995511"/>
            <a:ext cx="104775" cy="65246"/>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11572875" y="6053138"/>
            <a:ext cx="104775" cy="65246"/>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11572875" y="6110764"/>
            <a:ext cx="104775" cy="65246"/>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1572875" y="6168390"/>
            <a:ext cx="104775" cy="65246"/>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11572875" y="6226016"/>
            <a:ext cx="104775" cy="65246"/>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11572875" y="6283642"/>
            <a:ext cx="104775" cy="65246"/>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1572875" y="6341269"/>
            <a:ext cx="104775" cy="65246"/>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1572875" y="6398895"/>
            <a:ext cx="104775" cy="65246"/>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1572875" y="6456521"/>
            <a:ext cx="104775" cy="65246"/>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11572875" y="6514148"/>
            <a:ext cx="104775" cy="65246"/>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11572875" y="6571774"/>
            <a:ext cx="104775" cy="65246"/>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1572875" y="4324350"/>
            <a:ext cx="104775" cy="23050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1687175" y="4257675"/>
            <a:ext cx="276225" cy="133350"/>
          </a:xfrm>
          <a:prstGeom prst="rect">
            <a:avLst/>
          </a:prstGeom>
          <a:noFill/>
        </p:spPr>
        <p:txBody>
          <a:bodyPr wrap="none" lIns="0" rIns="0" tIns="0" bIns="0" anchor="ctr">
            <a:spAutoFit/>
          </a:bodyPr>
          <a:lstStyle/>
          <a:p>
            <a:pPr algn="l"/>
            <a:r>
              <a:rPr sz="700" b="0">
                <a:solidFill>
                  <a:srgbClr val="6C7A89"/>
                </a:solidFill>
                <a:latin typeface="Calibri"/>
              </a:rPr>
              <a:t>15%</a:t>
            </a:r>
          </a:p>
        </p:txBody>
      </p:sp>
      <p:sp>
        <p:nvSpPr>
          <p:cNvPr id="203" name="TextBox 202"/>
          <p:cNvSpPr txBox="1"/>
          <p:nvPr/>
        </p:nvSpPr>
        <p:spPr>
          <a:xfrm>
            <a:off x="11687175" y="541020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204" name="TextBox 203"/>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0%</a:t>
            </a:r>
          </a:p>
        </p:txBody>
      </p:sp>
      <p:sp>
        <p:nvSpPr>
          <p:cNvPr id="205" name="Rectangle 20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07" name="Rounded Rectangle 20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8" name="Rounded Rectangle 20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9" name="Rounded Rectangle 20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End User</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End User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07</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End User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6 sub-segments of End User,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End User segment categorizes the market by end user.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1571625"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1571625"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Hospitals &amp; Clinics</a:t>
            </a:r>
          </a:p>
        </p:txBody>
      </p:sp>
      <p:sp>
        <p:nvSpPr>
          <p:cNvPr id="24" name="Rectangle 23"/>
          <p:cNvSpPr/>
          <p:nvPr/>
        </p:nvSpPr>
        <p:spPr>
          <a:xfrm>
            <a:off x="1866900"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895.7</a:t>
            </a:r>
          </a:p>
        </p:txBody>
      </p:sp>
      <p:sp>
        <p:nvSpPr>
          <p:cNvPr id="25" name="Rectangle 24"/>
          <p:cNvSpPr/>
          <p:nvPr/>
        </p:nvSpPr>
        <p:spPr>
          <a:xfrm>
            <a:off x="1866900"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1,741</a:t>
            </a:r>
          </a:p>
        </p:txBody>
      </p:sp>
      <p:sp>
        <p:nvSpPr>
          <p:cNvPr id="26" name="Rectangle 25"/>
          <p:cNvSpPr/>
          <p:nvPr/>
        </p:nvSpPr>
        <p:spPr>
          <a:xfrm>
            <a:off x="1866900"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6.9%</a:t>
            </a:r>
          </a:p>
        </p:txBody>
      </p:sp>
      <p:sp>
        <p:nvSpPr>
          <p:cNvPr id="27" name="Oval 26"/>
          <p:cNvSpPr/>
          <p:nvPr/>
        </p:nvSpPr>
        <p:spPr>
          <a:xfrm>
            <a:off x="2490788"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3552825" y="1657350"/>
            <a:ext cx="1571625"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52825" y="1885950"/>
            <a:ext cx="1571625"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90925"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Diagnostic Laboratories</a:t>
            </a:r>
          </a:p>
        </p:txBody>
      </p:sp>
      <p:sp>
        <p:nvSpPr>
          <p:cNvPr id="31" name="Rectangle 30"/>
          <p:cNvSpPr/>
          <p:nvPr/>
        </p:nvSpPr>
        <p:spPr>
          <a:xfrm>
            <a:off x="3552825"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499.9</a:t>
            </a:r>
          </a:p>
        </p:txBody>
      </p:sp>
      <p:sp>
        <p:nvSpPr>
          <p:cNvPr id="32" name="Rectangle 31"/>
          <p:cNvSpPr/>
          <p:nvPr/>
        </p:nvSpPr>
        <p:spPr>
          <a:xfrm>
            <a:off x="3552825"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1,009</a:t>
            </a:r>
          </a:p>
        </p:txBody>
      </p:sp>
      <p:sp>
        <p:nvSpPr>
          <p:cNvPr id="33" name="Rectangle 32"/>
          <p:cNvSpPr/>
          <p:nvPr/>
        </p:nvSpPr>
        <p:spPr>
          <a:xfrm>
            <a:off x="3552825"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7.3%</a:t>
            </a:r>
          </a:p>
        </p:txBody>
      </p:sp>
      <p:sp>
        <p:nvSpPr>
          <p:cNvPr id="34" name="Oval 33"/>
          <p:cNvSpPr/>
          <p:nvPr/>
        </p:nvSpPr>
        <p:spPr>
          <a:xfrm>
            <a:off x="4176712"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5238750" y="1657350"/>
            <a:ext cx="1571625"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238750" y="1885950"/>
            <a:ext cx="1571625"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76850"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Home &amp; Self-Testing</a:t>
            </a:r>
          </a:p>
        </p:txBody>
      </p:sp>
      <p:sp>
        <p:nvSpPr>
          <p:cNvPr id="38" name="Rectangle 37"/>
          <p:cNvSpPr/>
          <p:nvPr/>
        </p:nvSpPr>
        <p:spPr>
          <a:xfrm>
            <a:off x="5238750"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373.1</a:t>
            </a:r>
          </a:p>
        </p:txBody>
      </p:sp>
      <p:sp>
        <p:nvSpPr>
          <p:cNvPr id="39" name="Rectangle 38"/>
          <p:cNvSpPr/>
          <p:nvPr/>
        </p:nvSpPr>
        <p:spPr>
          <a:xfrm>
            <a:off x="5238750"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1,059</a:t>
            </a:r>
          </a:p>
        </p:txBody>
      </p:sp>
      <p:sp>
        <p:nvSpPr>
          <p:cNvPr id="40" name="Rectangle 39"/>
          <p:cNvSpPr/>
          <p:nvPr/>
        </p:nvSpPr>
        <p:spPr>
          <a:xfrm>
            <a:off x="5238750"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11.0%</a:t>
            </a:r>
          </a:p>
        </p:txBody>
      </p:sp>
      <p:sp>
        <p:nvSpPr>
          <p:cNvPr id="41" name="Oval 40"/>
          <p:cNvSpPr/>
          <p:nvPr/>
        </p:nvSpPr>
        <p:spPr>
          <a:xfrm>
            <a:off x="5862638"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6924675" y="1657350"/>
            <a:ext cx="1571625"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924675" y="1885950"/>
            <a:ext cx="1571625"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62775"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Physician Offices &amp; Outpatient Ce…</a:t>
            </a:r>
          </a:p>
        </p:txBody>
      </p:sp>
      <p:sp>
        <p:nvSpPr>
          <p:cNvPr id="45" name="Rectangle 44"/>
          <p:cNvSpPr/>
          <p:nvPr/>
        </p:nvSpPr>
        <p:spPr>
          <a:xfrm>
            <a:off x="6924675"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329.7</a:t>
            </a:r>
          </a:p>
        </p:txBody>
      </p:sp>
      <p:sp>
        <p:nvSpPr>
          <p:cNvPr id="46" name="Rectangle 45"/>
          <p:cNvSpPr/>
          <p:nvPr/>
        </p:nvSpPr>
        <p:spPr>
          <a:xfrm>
            <a:off x="6924675"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658.1</a:t>
            </a:r>
          </a:p>
        </p:txBody>
      </p:sp>
      <p:sp>
        <p:nvSpPr>
          <p:cNvPr id="47" name="Rectangle 46"/>
          <p:cNvSpPr/>
          <p:nvPr/>
        </p:nvSpPr>
        <p:spPr>
          <a:xfrm>
            <a:off x="6924675"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7.2%</a:t>
            </a:r>
          </a:p>
        </p:txBody>
      </p:sp>
      <p:sp>
        <p:nvSpPr>
          <p:cNvPr id="48" name="Oval 47"/>
          <p:cNvSpPr/>
          <p:nvPr/>
        </p:nvSpPr>
        <p:spPr>
          <a:xfrm>
            <a:off x="7548562"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8610600" y="1657350"/>
            <a:ext cx="1571625" cy="457200"/>
          </a:xfrm>
          <a:prstGeom prst="roundRect">
            <a:avLst>
              <a:gd name="adj" fmla="val 18000"/>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10600" y="1885950"/>
            <a:ext cx="1571625" cy="2286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648700"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Public Health &amp; Screening Programs</a:t>
            </a:r>
          </a:p>
        </p:txBody>
      </p:sp>
      <p:sp>
        <p:nvSpPr>
          <p:cNvPr id="52" name="Rectangle 51"/>
          <p:cNvSpPr/>
          <p:nvPr/>
        </p:nvSpPr>
        <p:spPr>
          <a:xfrm>
            <a:off x="8610600"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133.5</a:t>
            </a:r>
          </a:p>
        </p:txBody>
      </p:sp>
      <p:sp>
        <p:nvSpPr>
          <p:cNvPr id="53" name="Rectangle 52"/>
          <p:cNvSpPr/>
          <p:nvPr/>
        </p:nvSpPr>
        <p:spPr>
          <a:xfrm>
            <a:off x="8610600"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270.9</a:t>
            </a:r>
          </a:p>
        </p:txBody>
      </p:sp>
      <p:sp>
        <p:nvSpPr>
          <p:cNvPr id="54" name="Rectangle 53"/>
          <p:cNvSpPr/>
          <p:nvPr/>
        </p:nvSpPr>
        <p:spPr>
          <a:xfrm>
            <a:off x="8610600"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86F00"/>
                </a:solidFill>
                <a:latin typeface="Calibri"/>
              </a:rPr>
              <a:t>7.3%</a:t>
            </a:r>
          </a:p>
        </p:txBody>
      </p:sp>
      <p:sp>
        <p:nvSpPr>
          <p:cNvPr id="55" name="Oval 54"/>
          <p:cNvSpPr/>
          <p:nvPr/>
        </p:nvSpPr>
        <p:spPr>
          <a:xfrm>
            <a:off x="9234488" y="1314450"/>
            <a:ext cx="323850" cy="323850"/>
          </a:xfrm>
          <a:prstGeom prst="ellipse">
            <a:avLst/>
          </a:prstGeom>
          <a:solidFill>
            <a:srgbClr val="A86F00"/>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5</a:t>
            </a:r>
          </a:p>
        </p:txBody>
      </p:sp>
      <p:sp>
        <p:nvSpPr>
          <p:cNvPr id="56" name="Rounded Rectangle 55"/>
          <p:cNvSpPr/>
          <p:nvPr/>
        </p:nvSpPr>
        <p:spPr>
          <a:xfrm>
            <a:off x="10296525" y="1657350"/>
            <a:ext cx="1571625" cy="457200"/>
          </a:xfrm>
          <a:prstGeom prst="roundRect">
            <a:avLst>
              <a:gd name="adj" fmla="val 18000"/>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96525" y="1885950"/>
            <a:ext cx="1571625" cy="22860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334625" y="1657350"/>
            <a:ext cx="1495425" cy="457200"/>
          </a:xfrm>
          <a:prstGeom prst="rect">
            <a:avLst/>
          </a:prstGeom>
          <a:noFill/>
        </p:spPr>
        <p:txBody>
          <a:bodyPr wrap="square" lIns="28575" rIns="28575" tIns="9525" bIns="9525" anchor="ctr">
            <a:spAutoFit/>
          </a:bodyPr>
          <a:lstStyle/>
          <a:p>
            <a:pPr algn="ctr"/>
            <a:r>
              <a:rPr sz="1100" b="1">
                <a:solidFill>
                  <a:srgbClr val="FFFFFF"/>
                </a:solidFill>
                <a:latin typeface="Calibri"/>
              </a:rPr>
              <a:t>Research &amp; Academic Institutions</a:t>
            </a:r>
          </a:p>
        </p:txBody>
      </p:sp>
      <p:sp>
        <p:nvSpPr>
          <p:cNvPr id="59" name="Rectangle 58"/>
          <p:cNvSpPr/>
          <p:nvPr/>
        </p:nvSpPr>
        <p:spPr>
          <a:xfrm>
            <a:off x="10296525" y="21336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73.8</a:t>
            </a:r>
          </a:p>
        </p:txBody>
      </p:sp>
      <p:sp>
        <p:nvSpPr>
          <p:cNvPr id="60" name="Rectangle 59"/>
          <p:cNvSpPr/>
          <p:nvPr/>
        </p:nvSpPr>
        <p:spPr>
          <a:xfrm>
            <a:off x="10296525" y="2647950"/>
            <a:ext cx="1571625"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195.9</a:t>
            </a:r>
          </a:p>
        </p:txBody>
      </p:sp>
      <p:sp>
        <p:nvSpPr>
          <p:cNvPr id="61" name="Rectangle 60"/>
          <p:cNvSpPr/>
          <p:nvPr/>
        </p:nvSpPr>
        <p:spPr>
          <a:xfrm>
            <a:off x="10296525" y="3162300"/>
            <a:ext cx="1571625"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A35313"/>
                </a:solidFill>
                <a:latin typeface="Calibri"/>
              </a:rPr>
              <a:t>10.3%</a:t>
            </a:r>
          </a:p>
        </p:txBody>
      </p:sp>
      <p:sp>
        <p:nvSpPr>
          <p:cNvPr id="62" name="Oval 61"/>
          <p:cNvSpPr/>
          <p:nvPr/>
        </p:nvSpPr>
        <p:spPr>
          <a:xfrm>
            <a:off x="10920412" y="1314450"/>
            <a:ext cx="323850" cy="323850"/>
          </a:xfrm>
          <a:prstGeom prst="ellipse">
            <a:avLst/>
          </a:prstGeom>
          <a:solidFill>
            <a:srgbClr val="A35313"/>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6</a:t>
            </a:r>
          </a:p>
        </p:txBody>
      </p:sp>
      <p:sp>
        <p:nvSpPr>
          <p:cNvPr id="63" name="Rounded Rectangle 62"/>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65" name="Rectangle 64"/>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'Hospitals &amp; Clinics' holds the largest share in 2026 39%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'Home &amp; Self-Testing' is the fastest-growing sub-segment at 11.0%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6 sub-segments make up the end user landscape.</a:t>
            </a:r>
          </a:p>
        </p:txBody>
      </p:sp>
      <p:sp>
        <p:nvSpPr>
          <p:cNvPr id="67" name="Rounded Rectangle 66"/>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69" name="Rectangle 68"/>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810000" y="4210050"/>
            <a:ext cx="4210050" cy="2209800"/>
          </a:xfrm>
          <a:prstGeom prst="rect">
            <a:avLst/>
          </a:prstGeom>
          <a:noFill/>
        </p:spPr>
        <p:txBody>
          <a:bodyPr wrap="square" lIns="28575" rIns="28575" tIns="9525" bIns="9525">
            <a:spAutoFit/>
          </a:bodyPr>
          <a:lstStyle/>
          <a:p>
            <a:pPr algn="l">
              <a:lnSpc>
                <a:spcPct val="105000"/>
              </a:lnSpc>
              <a:spcBef>
                <a:spcPts val="0"/>
              </a:spcBef>
              <a:spcAft>
                <a:spcPts val="300"/>
              </a:spcAft>
            </a:pPr>
            <a:r>
              <a:rPr sz="854" b="0">
                <a:solidFill>
                  <a:srgbClr val="0B2E4A"/>
                </a:solidFill>
                <a:latin typeface="Calibri"/>
              </a:rPr>
              <a:t>●  </a:t>
            </a:r>
            <a:r>
              <a:rPr sz="950" b="1">
                <a:solidFill>
                  <a:srgbClr val="0B2E4A"/>
                </a:solidFill>
                <a:latin typeface="Calibri"/>
              </a:rPr>
              <a:t>Hospitals &amp; Clinics: </a:t>
            </a:r>
            <a:r>
              <a:rPr sz="950" b="0">
                <a:solidFill>
                  <a:srgbClr val="2E2E2E"/>
                </a:solidFill>
                <a:latin typeface="Calibri"/>
              </a:rPr>
              <a:t>39% of 2026 value · 6.9% CAGR leads the segment.</a:t>
            </a:r>
          </a:p>
          <a:p>
            <a:pPr algn="l">
              <a:lnSpc>
                <a:spcPct val="105000"/>
              </a:lnSpc>
              <a:spcBef>
                <a:spcPts val="0"/>
              </a:spcBef>
              <a:spcAft>
                <a:spcPts val="300"/>
              </a:spcAft>
            </a:pPr>
            <a:r>
              <a:rPr sz="854" b="0">
                <a:solidFill>
                  <a:srgbClr val="0E72AE"/>
                </a:solidFill>
                <a:latin typeface="Calibri"/>
              </a:rPr>
              <a:t>●  </a:t>
            </a:r>
            <a:r>
              <a:rPr sz="950" b="1">
                <a:solidFill>
                  <a:srgbClr val="0E72AE"/>
                </a:solidFill>
                <a:latin typeface="Calibri"/>
              </a:rPr>
              <a:t>Diagnostic Laboratories: </a:t>
            </a:r>
            <a:r>
              <a:rPr sz="950" b="0">
                <a:solidFill>
                  <a:srgbClr val="2E2E2E"/>
                </a:solidFill>
                <a:latin typeface="Calibri"/>
              </a:rPr>
              <a:t>22% of 2026 value · 7.3% CAGR serves a niche.</a:t>
            </a:r>
          </a:p>
          <a:p>
            <a:pPr algn="l">
              <a:lnSpc>
                <a:spcPct val="105000"/>
              </a:lnSpc>
              <a:spcBef>
                <a:spcPts val="0"/>
              </a:spcBef>
              <a:spcAft>
                <a:spcPts val="300"/>
              </a:spcAft>
            </a:pPr>
            <a:r>
              <a:rPr sz="854" b="0">
                <a:solidFill>
                  <a:srgbClr val="008189"/>
                </a:solidFill>
                <a:latin typeface="Calibri"/>
              </a:rPr>
              <a:t>●  </a:t>
            </a:r>
            <a:r>
              <a:rPr sz="950" b="1">
                <a:solidFill>
                  <a:srgbClr val="008189"/>
                </a:solidFill>
                <a:latin typeface="Calibri"/>
              </a:rPr>
              <a:t>Home &amp; Self-Testing: </a:t>
            </a:r>
            <a:r>
              <a:rPr sz="950" b="0">
                <a:solidFill>
                  <a:srgbClr val="2E2E2E"/>
                </a:solidFill>
                <a:latin typeface="Calibri"/>
              </a:rPr>
              <a:t>16% of 2026 value · 11.0% CAGR grows fastest.</a:t>
            </a:r>
          </a:p>
          <a:p>
            <a:pPr algn="l">
              <a:lnSpc>
                <a:spcPct val="105000"/>
              </a:lnSpc>
              <a:spcBef>
                <a:spcPts val="0"/>
              </a:spcBef>
              <a:spcAft>
                <a:spcPts val="300"/>
              </a:spcAft>
            </a:pPr>
            <a:r>
              <a:rPr sz="854" b="0">
                <a:solidFill>
                  <a:srgbClr val="6F3CC2"/>
                </a:solidFill>
                <a:latin typeface="Calibri"/>
              </a:rPr>
              <a:t>●  </a:t>
            </a:r>
            <a:r>
              <a:rPr sz="950" b="1">
                <a:solidFill>
                  <a:srgbClr val="6F3CC2"/>
                </a:solidFill>
                <a:latin typeface="Calibri"/>
              </a:rPr>
              <a:t>Physician Offices &amp; Outpatient Centers: </a:t>
            </a:r>
            <a:r>
              <a:rPr sz="950" b="0">
                <a:solidFill>
                  <a:srgbClr val="2E2E2E"/>
                </a:solidFill>
                <a:latin typeface="Calibri"/>
              </a:rPr>
              <a:t>14% of 2026 value · 7.2% CAGR serves a niche.</a:t>
            </a:r>
          </a:p>
          <a:p>
            <a:pPr algn="l">
              <a:lnSpc>
                <a:spcPct val="105000"/>
              </a:lnSpc>
              <a:spcBef>
                <a:spcPts val="0"/>
              </a:spcBef>
              <a:spcAft>
                <a:spcPts val="300"/>
              </a:spcAft>
            </a:pPr>
            <a:r>
              <a:rPr sz="854" b="0">
                <a:solidFill>
                  <a:srgbClr val="A86F00"/>
                </a:solidFill>
                <a:latin typeface="Calibri"/>
              </a:rPr>
              <a:t>●  </a:t>
            </a:r>
            <a:r>
              <a:rPr sz="950" b="1">
                <a:solidFill>
                  <a:srgbClr val="A86F00"/>
                </a:solidFill>
                <a:latin typeface="Calibri"/>
              </a:rPr>
              <a:t>Public Health &amp; Screening Programs: </a:t>
            </a:r>
            <a:r>
              <a:rPr sz="950" b="0">
                <a:solidFill>
                  <a:srgbClr val="2E2E2E"/>
                </a:solidFill>
                <a:latin typeface="Calibri"/>
              </a:rPr>
              <a:t>6% of 2026 value · 7.3% CAGR serves a niche.</a:t>
            </a:r>
          </a:p>
          <a:p>
            <a:pPr algn="l">
              <a:lnSpc>
                <a:spcPct val="105000"/>
              </a:lnSpc>
              <a:spcBef>
                <a:spcPts val="0"/>
              </a:spcBef>
              <a:spcAft>
                <a:spcPts val="300"/>
              </a:spcAft>
            </a:pPr>
            <a:r>
              <a:rPr sz="854" b="0">
                <a:solidFill>
                  <a:srgbClr val="A35313"/>
                </a:solidFill>
                <a:latin typeface="Calibri"/>
              </a:rPr>
              <a:t>●  </a:t>
            </a:r>
            <a:r>
              <a:rPr sz="950" b="1">
                <a:solidFill>
                  <a:srgbClr val="A35313"/>
                </a:solidFill>
                <a:latin typeface="Calibri"/>
              </a:rPr>
              <a:t>Research &amp; Academic Institutions: </a:t>
            </a:r>
            <a:r>
              <a:rPr sz="950" b="0">
                <a:solidFill>
                  <a:srgbClr val="2E2E2E"/>
                </a:solidFill>
                <a:latin typeface="Calibri"/>
              </a:rPr>
              <a:t>3% of 2026 value · 10.3% CAGR serves a niche.</a:t>
            </a:r>
          </a:p>
        </p:txBody>
      </p:sp>
      <p:sp>
        <p:nvSpPr>
          <p:cNvPr id="71" name="Rounded Rectangle 70"/>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73" name="Rectangle 72"/>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End User split shows how demand is distributed across end user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75" name="Rectangle 74"/>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End User segment is projected to grow at a CAGR of 7.9% from 2026 to 2036.</a:t>
            </a:r>
          </a:p>
        </p:txBody>
      </p:sp>
      <p:sp>
        <p:nvSpPr>
          <p:cNvPr id="77" name="TextBox 76"/>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78" name="Rectangle 7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80" name="Rounded Rectangle 7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1" name="Rounded Rectangle 8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2" name="Rounded Rectangle 8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End User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End User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User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End User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'Home &amp; Self-Testing' gains the most share in the Global market (+528 BPS) while 'Hospitals &amp; Clinics' cedes 356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End User</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End User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 User (2026–2036)</a:t>
            </a:r>
          </a:p>
        </p:txBody>
      </p:sp>
      <p:graphicFrame>
        <p:nvGraphicFramePr>
          <p:cNvPr id="23" name="Table 22"/>
          <p:cNvGraphicFramePr>
            <a:graphicFrameLocks noGrp="1"/>
          </p:cNvGraphicFramePr>
          <p:nvPr/>
        </p:nvGraphicFramePr>
        <p:xfrm>
          <a:off x="6267450" y="4143375"/>
          <a:ext cx="5686426" cy="126682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End User</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900" b="0">
                          <a:solidFill>
                            <a:srgbClr val="2E2E2E"/>
                          </a:solidFill>
                          <a:latin typeface="Calibri"/>
                        </a:rPr>
                        <a:t>844.9</a:t>
                      </a:r>
                    </a:p>
                  </a:txBody>
                  <a:tcPr marL="85725" marR="38100" marT="19050" marB="19050" anchor="ctr">
                    <a:solidFill>
                      <a:srgbClr val="FFFFFF"/>
                    </a:solidFill>
                  </a:tcPr>
                </a:tc>
                <a:tc>
                  <a:txBody>
                    <a:bodyPr wrap="none"/>
                    <a:lstStyle/>
                    <a:p>
                      <a:pPr algn="l"/>
                      <a:r>
                        <a:rPr sz="900" b="0">
                          <a:solidFill>
                            <a:srgbClr val="2E2E2E"/>
                          </a:solidFill>
                          <a:latin typeface="Calibri"/>
                        </a:rPr>
                        <a:t>32.2%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900" b="0">
                          <a:solidFill>
                            <a:srgbClr val="2E2E2E"/>
                          </a:solidFill>
                          <a:latin typeface="Calibri"/>
                        </a:rPr>
                        <a:t>508.7</a:t>
                      </a:r>
                    </a:p>
                  </a:txBody>
                  <a:tcPr marL="85725" marR="38100" marT="19050" marB="19050" anchor="ctr">
                    <a:solidFill>
                      <a:srgbClr val="F5F8FA"/>
                    </a:solidFill>
                  </a:tcPr>
                </a:tc>
                <a:tc>
                  <a:txBody>
                    <a:bodyPr wrap="none"/>
                    <a:lstStyle/>
                    <a:p>
                      <a:pPr algn="l"/>
                      <a:r>
                        <a:rPr sz="900" b="0">
                          <a:solidFill>
                            <a:srgbClr val="2E2E2E"/>
                          </a:solidFill>
                          <a:latin typeface="Calibri"/>
                        </a:rPr>
                        <a:t>19.4%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900" b="0">
                          <a:solidFill>
                            <a:srgbClr val="2E2E2E"/>
                          </a:solidFill>
                          <a:latin typeface="Calibri"/>
                        </a:rPr>
                        <a:t>328.4</a:t>
                      </a:r>
                    </a:p>
                  </a:txBody>
                  <a:tcPr marL="85725" marR="38100" marT="19050" marB="19050" anchor="ctr">
                    <a:solidFill>
                      <a:srgbClr val="FFFFFF"/>
                    </a:solidFill>
                  </a:tcPr>
                </a:tc>
                <a:tc>
                  <a:txBody>
                    <a:bodyPr wrap="none"/>
                    <a:lstStyle/>
                    <a:p>
                      <a:pPr algn="l"/>
                      <a:r>
                        <a:rPr sz="900" b="0">
                          <a:solidFill>
                            <a:srgbClr val="2E2E2E"/>
                          </a:solidFill>
                          <a:latin typeface="Calibri"/>
                        </a:rPr>
                        <a:t>12.5%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900" b="0">
                          <a:solidFill>
                            <a:srgbClr val="2E2E2E"/>
                          </a:solidFill>
                          <a:latin typeface="Calibri"/>
                        </a:rPr>
                        <a:t>685.4</a:t>
                      </a:r>
                    </a:p>
                  </a:txBody>
                  <a:tcPr marL="85725" marR="38100" marT="19050" marB="19050" anchor="ctr">
                    <a:solidFill>
                      <a:srgbClr val="F5F8FA"/>
                    </a:solidFill>
                  </a:tcPr>
                </a:tc>
                <a:tc>
                  <a:txBody>
                    <a:bodyPr wrap="none"/>
                    <a:lstStyle/>
                    <a:p>
                      <a:pPr algn="l"/>
                      <a:r>
                        <a:rPr sz="900" b="0">
                          <a:solidFill>
                            <a:srgbClr val="2E2E2E"/>
                          </a:solidFill>
                          <a:latin typeface="Calibri"/>
                        </a:rPr>
                        <a:t>26.1%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900" b="0">
                          <a:solidFill>
                            <a:srgbClr val="2E2E2E"/>
                          </a:solidFill>
                          <a:latin typeface="Calibri"/>
                        </a:rPr>
                        <a:t>122.1</a:t>
                      </a:r>
                    </a:p>
                  </a:txBody>
                  <a:tcPr marL="85725" marR="38100" marT="19050" marB="19050" anchor="ctr">
                    <a:solidFill>
                      <a:srgbClr val="FFFFFF"/>
                    </a:solidFill>
                  </a:tcPr>
                </a:tc>
                <a:tc>
                  <a:txBody>
                    <a:bodyPr wrap="none"/>
                    <a:lstStyle/>
                    <a:p>
                      <a:pPr algn="l"/>
                      <a:r>
                        <a:rPr sz="900" b="0">
                          <a:solidFill>
                            <a:srgbClr val="2E2E2E"/>
                          </a:solidFill>
                          <a:latin typeface="Calibri"/>
                        </a:rPr>
                        <a:t>4.6%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900" b="0">
                          <a:solidFill>
                            <a:srgbClr val="2E2E2E"/>
                          </a:solidFill>
                          <a:latin typeface="Calibri"/>
                        </a:rPr>
                        <a:t>137.4</a:t>
                      </a:r>
                    </a:p>
                  </a:txBody>
                  <a:tcPr marL="85725" marR="38100" marT="19050" marB="19050" anchor="ctr">
                    <a:solidFill>
                      <a:srgbClr val="F5F8FA"/>
                    </a:solidFill>
                  </a:tcPr>
                </a:tc>
                <a:tc>
                  <a:txBody>
                    <a:bodyPr wrap="none"/>
                    <a:lstStyle/>
                    <a:p>
                      <a:pPr algn="l"/>
                      <a:r>
                        <a:rPr sz="900" b="0">
                          <a:solidFill>
                            <a:srgbClr val="2E2E2E"/>
                          </a:solidFill>
                          <a:latin typeface="Calibri"/>
                        </a:rPr>
                        <a:t>5.2%</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End User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End User,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343275"/>
          </a:xfrm>
          <a:prstGeom prst="roundRect">
            <a:avLst>
              <a:gd name="adj" fmla="val 227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End User (Units)</a:t>
            </a:r>
          </a:p>
        </p:txBody>
      </p:sp>
      <p:graphicFrame>
        <p:nvGraphicFramePr>
          <p:cNvPr id="14" name="Table 13"/>
          <p:cNvGraphicFramePr>
            <a:graphicFrameLocks noGrp="1"/>
          </p:cNvGraphicFramePr>
          <p:nvPr/>
        </p:nvGraphicFramePr>
        <p:xfrm>
          <a:off x="238125" y="1143000"/>
          <a:ext cx="11715752" cy="14478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0">
                          <a:solidFill>
                            <a:srgbClr val="2E2E2E"/>
                          </a:solidFill>
                          <a:latin typeface="Calibri"/>
                        </a:rPr>
                        <a:t>845.4</a:t>
                      </a:r>
                    </a:p>
                  </a:txBody>
                  <a:tcPr marL="85725" marR="38100" marT="19050" marB="19050" anchor="ctr">
                    <a:solidFill>
                      <a:srgbClr val="FFFFFF"/>
                    </a:solidFill>
                  </a:tcPr>
                </a:tc>
                <a:tc>
                  <a:txBody>
                    <a:bodyPr wrap="none"/>
                    <a:lstStyle/>
                    <a:p>
                      <a:pPr algn="l"/>
                      <a:r>
                        <a:rPr sz="800" b="0">
                          <a:solidFill>
                            <a:srgbClr val="2E2E2E"/>
                          </a:solidFill>
                          <a:latin typeface="Calibri"/>
                        </a:rPr>
                        <a:t>885.8</a:t>
                      </a:r>
                    </a:p>
                  </a:txBody>
                  <a:tcPr marL="85725" marR="38100" marT="19050" marB="19050" anchor="ctr">
                    <a:solidFill>
                      <a:srgbClr val="FFFFFF"/>
                    </a:solidFill>
                  </a:tcPr>
                </a:tc>
                <a:tc>
                  <a:txBody>
                    <a:bodyPr wrap="none"/>
                    <a:lstStyle/>
                    <a:p>
                      <a:pPr algn="l"/>
                      <a:r>
                        <a:rPr sz="800" b="0">
                          <a:solidFill>
                            <a:srgbClr val="2E2E2E"/>
                          </a:solidFill>
                          <a:latin typeface="Calibri"/>
                        </a:rPr>
                        <a:t>929.8</a:t>
                      </a:r>
                    </a:p>
                  </a:txBody>
                  <a:tcPr marL="85725" marR="38100" marT="19050" marB="19050" anchor="ctr">
                    <a:solidFill>
                      <a:srgbClr val="FFFFFF"/>
                    </a:solidFill>
                  </a:tcPr>
                </a:tc>
                <a:tc>
                  <a:txBody>
                    <a:bodyPr wrap="none"/>
                    <a:lstStyle/>
                    <a:p>
                      <a:pPr algn="l"/>
                      <a:r>
                        <a:rPr sz="800" b="0">
                          <a:solidFill>
                            <a:srgbClr val="2E2E2E"/>
                          </a:solidFill>
                          <a:latin typeface="Calibri"/>
                        </a:rPr>
                        <a:t>978.6</a:t>
                      </a:r>
                    </a:p>
                  </a:txBody>
                  <a:tcPr marL="85725" marR="38100" marT="19050" marB="19050" anchor="ctr">
                    <a:solidFill>
                      <a:srgbClr val="FFFFFF"/>
                    </a:solidFill>
                  </a:tcPr>
                </a:tc>
                <a:tc>
                  <a:txBody>
                    <a:bodyPr wrap="none"/>
                    <a:lstStyle/>
                    <a:p>
                      <a:pPr algn="l"/>
                      <a:r>
                        <a:rPr sz="800" b="0">
                          <a:solidFill>
                            <a:srgbClr val="2E2E2E"/>
                          </a:solidFill>
                          <a:latin typeface="Calibri"/>
                        </a:rPr>
                        <a:t>1,033</a:t>
                      </a:r>
                    </a:p>
                  </a:txBody>
                  <a:tcPr marL="85725" marR="38100" marT="19050" marB="19050" anchor="ctr">
                    <a:solidFill>
                      <a:srgbClr val="FFFFFF"/>
                    </a:solidFill>
                  </a:tcPr>
                </a:tc>
                <a:tc>
                  <a:txBody>
                    <a:bodyPr wrap="none"/>
                    <a:lstStyle/>
                    <a:p>
                      <a:pPr algn="l"/>
                      <a:r>
                        <a:rPr sz="800" b="0">
                          <a:solidFill>
                            <a:srgbClr val="2E2E2E"/>
                          </a:solidFill>
                          <a:latin typeface="Calibri"/>
                        </a:rPr>
                        <a:t>1,096</a:t>
                      </a:r>
                    </a:p>
                  </a:txBody>
                  <a:tcPr marL="85725" marR="38100" marT="19050" marB="19050" anchor="ctr">
                    <a:solidFill>
                      <a:srgbClr val="FFFFFF"/>
                    </a:solidFill>
                  </a:tcPr>
                </a:tc>
                <a:tc>
                  <a:txBody>
                    <a:bodyPr wrap="none"/>
                    <a:lstStyle/>
                    <a:p>
                      <a:pPr algn="l"/>
                      <a:r>
                        <a:rPr sz="800" b="0">
                          <a:solidFill>
                            <a:srgbClr val="2E2E2E"/>
                          </a:solidFill>
                          <a:latin typeface="Calibri"/>
                        </a:rPr>
                        <a:t>1,165</a:t>
                      </a:r>
                    </a:p>
                  </a:txBody>
                  <a:tcPr marL="85725" marR="38100" marT="19050" marB="19050" anchor="ctr">
                    <a:solidFill>
                      <a:srgbClr val="FFFFFF"/>
                    </a:solidFill>
                  </a:tcPr>
                </a:tc>
                <a:tc>
                  <a:txBody>
                    <a:bodyPr wrap="none"/>
                    <a:lstStyle/>
                    <a:p>
                      <a:pPr algn="l"/>
                      <a:r>
                        <a:rPr sz="800" b="0">
                          <a:solidFill>
                            <a:srgbClr val="2E2E2E"/>
                          </a:solidFill>
                          <a:latin typeface="Calibri"/>
                        </a:rPr>
                        <a:t>1,240</a:t>
                      </a:r>
                    </a:p>
                  </a:txBody>
                  <a:tcPr marL="85725" marR="38100" marT="19050" marB="19050" anchor="ctr">
                    <a:solidFill>
                      <a:srgbClr val="FFFFFF"/>
                    </a:solidFill>
                  </a:tcPr>
                </a:tc>
                <a:tc>
                  <a:txBody>
                    <a:bodyPr wrap="none"/>
                    <a:lstStyle/>
                    <a:p>
                      <a:pPr algn="l"/>
                      <a:r>
                        <a:rPr sz="800" b="0">
                          <a:solidFill>
                            <a:srgbClr val="2E2E2E"/>
                          </a:solidFill>
                          <a:latin typeface="Calibri"/>
                        </a:rPr>
                        <a:t>1,320</a:t>
                      </a:r>
                    </a:p>
                  </a:txBody>
                  <a:tcPr marL="85725" marR="38100" marT="19050" marB="19050" anchor="ctr">
                    <a:solidFill>
                      <a:srgbClr val="FFFFFF"/>
                    </a:solidFill>
                  </a:tcPr>
                </a:tc>
                <a:tc>
                  <a:txBody>
                    <a:bodyPr wrap="none"/>
                    <a:lstStyle/>
                    <a:p>
                      <a:pPr algn="l"/>
                      <a:r>
                        <a:rPr sz="800" b="0">
                          <a:solidFill>
                            <a:srgbClr val="2E2E2E"/>
                          </a:solidFill>
                          <a:latin typeface="Calibri"/>
                        </a:rPr>
                        <a:t>1,402</a:t>
                      </a:r>
                    </a:p>
                  </a:txBody>
                  <a:tcPr marL="85725" marR="38100" marT="19050" marB="19050" anchor="ctr">
                    <a:solidFill>
                      <a:srgbClr val="FFFFFF"/>
                    </a:solidFill>
                  </a:tcPr>
                </a:tc>
                <a:tc>
                  <a:txBody>
                    <a:bodyPr wrap="none"/>
                    <a:lstStyle/>
                    <a:p>
                      <a:pPr algn="l"/>
                      <a:r>
                        <a:rPr sz="800" b="0">
                          <a:solidFill>
                            <a:srgbClr val="2E2E2E"/>
                          </a:solidFill>
                          <a:latin typeface="Calibri"/>
                        </a:rPr>
                        <a:t>1,487</a:t>
                      </a:r>
                    </a:p>
                  </a:txBody>
                  <a:tcPr marL="85725" marR="38100" marT="19050" marB="19050" anchor="ctr">
                    <a:solidFill>
                      <a:srgbClr val="FFFFFF"/>
                    </a:solidFill>
                  </a:tcPr>
                </a:tc>
                <a:tc>
                  <a:txBody>
                    <a:bodyPr wrap="none"/>
                    <a:lstStyle/>
                    <a:p>
                      <a:pPr algn="l"/>
                      <a:r>
                        <a:rPr sz="800" b="0">
                          <a:solidFill>
                            <a:srgbClr val="2E2E2E"/>
                          </a:solidFill>
                          <a:latin typeface="Calibri"/>
                        </a:rPr>
                        <a:t>1,575</a:t>
                      </a:r>
                    </a:p>
                  </a:txBody>
                  <a:tcPr marL="85725" marR="38100" marT="19050" marB="19050" anchor="ctr">
                    <a:solidFill>
                      <a:srgbClr val="FFFFFF"/>
                    </a:solidFill>
                  </a:tcPr>
                </a:tc>
                <a:tc>
                  <a:txBody>
                    <a:bodyPr wrap="none"/>
                    <a:lstStyle/>
                    <a:p>
                      <a:pPr algn="l"/>
                      <a:r>
                        <a:rPr sz="800" b="0">
                          <a:solidFill>
                            <a:srgbClr val="2E2E2E"/>
                          </a:solidFill>
                          <a:latin typeface="Calibri"/>
                        </a:rPr>
                        <a:t>1,665</a:t>
                      </a:r>
                    </a:p>
                  </a:txBody>
                  <a:tcPr marL="85725" marR="38100" marT="19050" marB="19050" anchor="ctr">
                    <a:solidFill>
                      <a:srgbClr val="FFFFFF"/>
                    </a:solidFill>
                  </a:tcPr>
                </a:tc>
                <a:tc>
                  <a:txBody>
                    <a:bodyPr wrap="none"/>
                    <a:lstStyle/>
                    <a:p>
                      <a:pPr algn="l"/>
                      <a:r>
                        <a:rPr sz="800" b="0">
                          <a:solidFill>
                            <a:srgbClr val="2E2E2E"/>
                          </a:solidFill>
                          <a:latin typeface="Calibri"/>
                        </a:rPr>
                        <a:t>1,760</a:t>
                      </a:r>
                    </a:p>
                  </a:txBody>
                  <a:tcPr marL="85725" marR="38100" marT="19050" marB="19050" anchor="ctr">
                    <a:solidFill>
                      <a:srgbClr val="FFFFFF"/>
                    </a:solidFill>
                  </a:tcPr>
                </a:tc>
                <a:tc>
                  <a:txBody>
                    <a:bodyPr wrap="none"/>
                    <a:lstStyle/>
                    <a:p>
                      <a:pPr algn="l"/>
                      <a:r>
                        <a:rPr sz="800" b="0">
                          <a:solidFill>
                            <a:srgbClr val="2E2E2E"/>
                          </a:solidFill>
                          <a:latin typeface="Calibri"/>
                        </a:rPr>
                        <a:t>1,857</a:t>
                      </a:r>
                    </a:p>
                  </a:txBody>
                  <a:tcPr marL="85725" marR="38100" marT="19050" marB="19050" anchor="ctr">
                    <a:solidFill>
                      <a:srgbClr val="FFFFFF"/>
                    </a:solidFill>
                  </a:tcPr>
                </a:tc>
                <a:tc>
                  <a:txBody>
                    <a:bodyPr wrap="none"/>
                    <a:lstStyle/>
                    <a:p>
                      <a:pPr algn="l"/>
                      <a:r>
                        <a:rPr sz="800" b="0">
                          <a:solidFill>
                            <a:srgbClr val="2E2E2E"/>
                          </a:solidFill>
                          <a:latin typeface="Calibri"/>
                        </a:rPr>
                        <a:t>1,960</a:t>
                      </a:r>
                    </a:p>
                  </a:txBody>
                  <a:tcPr marL="85725" marR="38100" marT="19050" marB="19050" anchor="ctr">
                    <a:solidFill>
                      <a:srgbClr val="FFFFFF"/>
                    </a:solidFill>
                  </a:tcPr>
                </a:tc>
                <a:tc>
                  <a:txBody>
                    <a:bodyPr wrap="none"/>
                    <a:lstStyle/>
                    <a:p>
                      <a:pPr algn="l"/>
                      <a:r>
                        <a:rPr sz="800" b="0">
                          <a:solidFill>
                            <a:srgbClr val="2E2E2E"/>
                          </a:solidFill>
                          <a:latin typeface="Calibri"/>
                        </a:rPr>
                        <a:t>6.0%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0">
                          <a:solidFill>
                            <a:srgbClr val="2E2E2E"/>
                          </a:solidFill>
                          <a:latin typeface="Calibri"/>
                        </a:rPr>
                        <a:t>461.7</a:t>
                      </a:r>
                    </a:p>
                  </a:txBody>
                  <a:tcPr marL="85725" marR="38100" marT="19050" marB="19050" anchor="ctr">
                    <a:solidFill>
                      <a:srgbClr val="F5F8FA"/>
                    </a:solidFill>
                  </a:tcPr>
                </a:tc>
                <a:tc>
                  <a:txBody>
                    <a:bodyPr wrap="none"/>
                    <a:lstStyle/>
                    <a:p>
                      <a:pPr algn="l"/>
                      <a:r>
                        <a:rPr sz="800" b="0">
                          <a:solidFill>
                            <a:srgbClr val="2E2E2E"/>
                          </a:solidFill>
                          <a:latin typeface="Calibri"/>
                        </a:rPr>
                        <a:t>486.1</a:t>
                      </a:r>
                    </a:p>
                  </a:txBody>
                  <a:tcPr marL="85725" marR="38100" marT="19050" marB="19050" anchor="ctr">
                    <a:solidFill>
                      <a:srgbClr val="F5F8FA"/>
                    </a:solidFill>
                  </a:tcPr>
                </a:tc>
                <a:tc>
                  <a:txBody>
                    <a:bodyPr wrap="none"/>
                    <a:lstStyle/>
                    <a:p>
                      <a:pPr algn="l"/>
                      <a:r>
                        <a:rPr sz="800" b="0">
                          <a:solidFill>
                            <a:srgbClr val="2E2E2E"/>
                          </a:solidFill>
                          <a:latin typeface="Calibri"/>
                        </a:rPr>
                        <a:t>512.7</a:t>
                      </a:r>
                    </a:p>
                  </a:txBody>
                  <a:tcPr marL="85725" marR="38100" marT="19050" marB="19050" anchor="ctr">
                    <a:solidFill>
                      <a:srgbClr val="F5F8FA"/>
                    </a:solidFill>
                  </a:tcPr>
                </a:tc>
                <a:tc>
                  <a:txBody>
                    <a:bodyPr wrap="none"/>
                    <a:lstStyle/>
                    <a:p>
                      <a:pPr algn="l"/>
                      <a:r>
                        <a:rPr sz="800" b="0">
                          <a:solidFill>
                            <a:srgbClr val="2E2E2E"/>
                          </a:solidFill>
                          <a:latin typeface="Calibri"/>
                        </a:rPr>
                        <a:t>542.0</a:t>
                      </a:r>
                    </a:p>
                  </a:txBody>
                  <a:tcPr marL="85725" marR="38100" marT="19050" marB="19050" anchor="ctr">
                    <a:solidFill>
                      <a:srgbClr val="F5F8FA"/>
                    </a:solidFill>
                  </a:tcPr>
                </a:tc>
                <a:tc>
                  <a:txBody>
                    <a:bodyPr wrap="none"/>
                    <a:lstStyle/>
                    <a:p>
                      <a:pPr algn="l"/>
                      <a:r>
                        <a:rPr sz="800" b="0">
                          <a:solidFill>
                            <a:srgbClr val="2E2E2E"/>
                          </a:solidFill>
                          <a:latin typeface="Calibri"/>
                        </a:rPr>
                        <a:t>575.0</a:t>
                      </a:r>
                    </a:p>
                  </a:txBody>
                  <a:tcPr marL="85725" marR="38100" marT="19050" marB="19050" anchor="ctr">
                    <a:solidFill>
                      <a:srgbClr val="F5F8FA"/>
                    </a:solidFill>
                  </a:tcPr>
                </a:tc>
                <a:tc>
                  <a:txBody>
                    <a:bodyPr wrap="none"/>
                    <a:lstStyle/>
                    <a:p>
                      <a:pPr algn="l"/>
                      <a:r>
                        <a:rPr sz="800" b="0">
                          <a:solidFill>
                            <a:srgbClr val="2E2E2E"/>
                          </a:solidFill>
                          <a:latin typeface="Calibri"/>
                        </a:rPr>
                        <a:t>612.5</a:t>
                      </a:r>
                    </a:p>
                  </a:txBody>
                  <a:tcPr marL="85725" marR="38100" marT="19050" marB="19050" anchor="ctr">
                    <a:solidFill>
                      <a:srgbClr val="F5F8FA"/>
                    </a:solidFill>
                  </a:tcPr>
                </a:tc>
                <a:tc>
                  <a:txBody>
                    <a:bodyPr wrap="none"/>
                    <a:lstStyle/>
                    <a:p>
                      <a:pPr algn="l"/>
                      <a:r>
                        <a:rPr sz="800" b="0">
                          <a:solidFill>
                            <a:srgbClr val="2E2E2E"/>
                          </a:solidFill>
                          <a:latin typeface="Calibri"/>
                        </a:rPr>
                        <a:t>654.0</a:t>
                      </a:r>
                    </a:p>
                  </a:txBody>
                  <a:tcPr marL="85725" marR="38100" marT="19050" marB="19050" anchor="ctr">
                    <a:solidFill>
                      <a:srgbClr val="F5F8FA"/>
                    </a:solidFill>
                  </a:tcPr>
                </a:tc>
                <a:tc>
                  <a:txBody>
                    <a:bodyPr wrap="none"/>
                    <a:lstStyle/>
                    <a:p>
                      <a:pPr algn="l"/>
                      <a:r>
                        <a:rPr sz="800" b="0">
                          <a:solidFill>
                            <a:srgbClr val="2E2E2E"/>
                          </a:solidFill>
                          <a:latin typeface="Calibri"/>
                        </a:rPr>
                        <a:t>699.0</a:t>
                      </a:r>
                    </a:p>
                  </a:txBody>
                  <a:tcPr marL="85725" marR="38100" marT="19050" marB="19050" anchor="ctr">
                    <a:solidFill>
                      <a:srgbClr val="F5F8FA"/>
                    </a:solidFill>
                  </a:tcPr>
                </a:tc>
                <a:tc>
                  <a:txBody>
                    <a:bodyPr wrap="none"/>
                    <a:lstStyle/>
                    <a:p>
                      <a:pPr algn="l"/>
                      <a:r>
                        <a:rPr sz="800" b="0">
                          <a:solidFill>
                            <a:srgbClr val="2E2E2E"/>
                          </a:solidFill>
                          <a:latin typeface="Calibri"/>
                        </a:rPr>
                        <a:t>747.1</a:t>
                      </a:r>
                    </a:p>
                  </a:txBody>
                  <a:tcPr marL="85725" marR="38100" marT="19050" marB="19050" anchor="ctr">
                    <a:solidFill>
                      <a:srgbClr val="F5F8FA"/>
                    </a:solidFill>
                  </a:tcPr>
                </a:tc>
                <a:tc>
                  <a:txBody>
                    <a:bodyPr wrap="none"/>
                    <a:lstStyle/>
                    <a:p>
                      <a:pPr algn="l"/>
                      <a:r>
                        <a:rPr sz="800" b="0">
                          <a:solidFill>
                            <a:srgbClr val="2E2E2E"/>
                          </a:solidFill>
                          <a:latin typeface="Calibri"/>
                        </a:rPr>
                        <a:t>797.1</a:t>
                      </a:r>
                    </a:p>
                  </a:txBody>
                  <a:tcPr marL="85725" marR="38100" marT="19050" marB="19050" anchor="ctr">
                    <a:solidFill>
                      <a:srgbClr val="F5F8FA"/>
                    </a:solidFill>
                  </a:tcPr>
                </a:tc>
                <a:tc>
                  <a:txBody>
                    <a:bodyPr wrap="none"/>
                    <a:lstStyle/>
                    <a:p>
                      <a:pPr algn="l"/>
                      <a:r>
                        <a:rPr sz="800" b="0">
                          <a:solidFill>
                            <a:srgbClr val="2E2E2E"/>
                          </a:solidFill>
                          <a:latin typeface="Calibri"/>
                        </a:rPr>
                        <a:t>848.7</a:t>
                      </a:r>
                    </a:p>
                  </a:txBody>
                  <a:tcPr marL="85725" marR="38100" marT="19050" marB="19050" anchor="ctr">
                    <a:solidFill>
                      <a:srgbClr val="F5F8FA"/>
                    </a:solidFill>
                  </a:tcPr>
                </a:tc>
                <a:tc>
                  <a:txBody>
                    <a:bodyPr wrap="none"/>
                    <a:lstStyle/>
                    <a:p>
                      <a:pPr algn="l"/>
                      <a:r>
                        <a:rPr sz="800" b="0">
                          <a:solidFill>
                            <a:srgbClr val="2E2E2E"/>
                          </a:solidFill>
                          <a:latin typeface="Calibri"/>
                        </a:rPr>
                        <a:t>902.1</a:t>
                      </a:r>
                    </a:p>
                  </a:txBody>
                  <a:tcPr marL="85725" marR="38100" marT="19050" marB="19050" anchor="ctr">
                    <a:solidFill>
                      <a:srgbClr val="F5F8FA"/>
                    </a:solidFill>
                  </a:tcPr>
                </a:tc>
                <a:tc>
                  <a:txBody>
                    <a:bodyPr wrap="none"/>
                    <a:lstStyle/>
                    <a:p>
                      <a:pPr algn="l"/>
                      <a:r>
                        <a:rPr sz="800" b="0">
                          <a:solidFill>
                            <a:srgbClr val="2E2E2E"/>
                          </a:solidFill>
                          <a:latin typeface="Calibri"/>
                        </a:rPr>
                        <a:t>956.9</a:t>
                      </a:r>
                    </a:p>
                  </a:txBody>
                  <a:tcPr marL="85725" marR="38100" marT="19050" marB="19050" anchor="ctr">
                    <a:solidFill>
                      <a:srgbClr val="F5F8FA"/>
                    </a:solidFill>
                  </a:tcPr>
                </a:tc>
                <a:tc>
                  <a:txBody>
                    <a:bodyPr wrap="none"/>
                    <a:lstStyle/>
                    <a:p>
                      <a:pPr algn="l"/>
                      <a:r>
                        <a:rPr sz="800" b="0">
                          <a:solidFill>
                            <a:srgbClr val="2E2E2E"/>
                          </a:solidFill>
                          <a:latin typeface="Calibri"/>
                        </a:rPr>
                        <a:t>1,015</a:t>
                      </a:r>
                    </a:p>
                  </a:txBody>
                  <a:tcPr marL="85725" marR="38100" marT="19050" marB="19050" anchor="ctr">
                    <a:solidFill>
                      <a:srgbClr val="F5F8FA"/>
                    </a:solidFill>
                  </a:tcPr>
                </a:tc>
                <a:tc>
                  <a:txBody>
                    <a:bodyPr wrap="none"/>
                    <a:lstStyle/>
                    <a:p>
                      <a:pPr algn="l"/>
                      <a:r>
                        <a:rPr sz="800" b="0">
                          <a:solidFill>
                            <a:srgbClr val="2E2E2E"/>
                          </a:solidFill>
                          <a:latin typeface="Calibri"/>
                        </a:rPr>
                        <a:t>1,075</a:t>
                      </a:r>
                    </a:p>
                  </a:txBody>
                  <a:tcPr marL="85725" marR="38100" marT="19050" marB="19050" anchor="ctr">
                    <a:solidFill>
                      <a:srgbClr val="F5F8FA"/>
                    </a:solidFill>
                  </a:tcPr>
                </a:tc>
                <a:tc>
                  <a:txBody>
                    <a:bodyPr wrap="none"/>
                    <a:lstStyle/>
                    <a:p>
                      <a:pPr algn="l"/>
                      <a:r>
                        <a:rPr sz="800" b="0">
                          <a:solidFill>
                            <a:srgbClr val="2E2E2E"/>
                          </a:solidFill>
                          <a:latin typeface="Calibri"/>
                        </a:rPr>
                        <a:t>1,138</a:t>
                      </a:r>
                    </a:p>
                  </a:txBody>
                  <a:tcPr marL="85725" marR="38100" marT="19050" marB="19050" anchor="ctr">
                    <a:solidFill>
                      <a:srgbClr val="F5F8FA"/>
                    </a:solidFill>
                  </a:tcPr>
                </a:tc>
                <a:tc>
                  <a:txBody>
                    <a:bodyPr wrap="none"/>
                    <a:lstStyle/>
                    <a:p>
                      <a:pPr algn="l"/>
                      <a:r>
                        <a:rPr sz="8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0">
                          <a:solidFill>
                            <a:srgbClr val="2E2E2E"/>
                          </a:solidFill>
                          <a:latin typeface="Calibri"/>
                        </a:rPr>
                        <a:t>305.3</a:t>
                      </a:r>
                    </a:p>
                  </a:txBody>
                  <a:tcPr marL="85725" marR="38100" marT="19050" marB="19050" anchor="ctr">
                    <a:solidFill>
                      <a:srgbClr val="FFFFFF"/>
                    </a:solidFill>
                  </a:tcPr>
                </a:tc>
                <a:tc>
                  <a:txBody>
                    <a:bodyPr wrap="none"/>
                    <a:lstStyle/>
                    <a:p>
                      <a:pPr algn="l"/>
                      <a:r>
                        <a:rPr sz="800" b="0">
                          <a:solidFill>
                            <a:srgbClr val="2E2E2E"/>
                          </a:solidFill>
                          <a:latin typeface="Calibri"/>
                        </a:rPr>
                        <a:t>321.2</a:t>
                      </a:r>
                    </a:p>
                  </a:txBody>
                  <a:tcPr marL="85725" marR="38100" marT="19050" marB="19050" anchor="ctr">
                    <a:solidFill>
                      <a:srgbClr val="FFFFFF"/>
                    </a:solidFill>
                  </a:tcPr>
                </a:tc>
                <a:tc>
                  <a:txBody>
                    <a:bodyPr wrap="none"/>
                    <a:lstStyle/>
                    <a:p>
                      <a:pPr algn="l"/>
                      <a:r>
                        <a:rPr sz="800" b="0">
                          <a:solidFill>
                            <a:srgbClr val="2E2E2E"/>
                          </a:solidFill>
                          <a:latin typeface="Calibri"/>
                        </a:rPr>
                        <a:t>338.6</a:t>
                      </a:r>
                    </a:p>
                  </a:txBody>
                  <a:tcPr marL="85725" marR="38100" marT="19050" marB="19050" anchor="ctr">
                    <a:solidFill>
                      <a:srgbClr val="FFFFFF"/>
                    </a:solidFill>
                  </a:tcPr>
                </a:tc>
                <a:tc>
                  <a:txBody>
                    <a:bodyPr wrap="none"/>
                    <a:lstStyle/>
                    <a:p>
                      <a:pPr algn="l"/>
                      <a:r>
                        <a:rPr sz="800" b="0">
                          <a:solidFill>
                            <a:srgbClr val="2E2E2E"/>
                          </a:solidFill>
                          <a:latin typeface="Calibri"/>
                        </a:rPr>
                        <a:t>357.7</a:t>
                      </a:r>
                    </a:p>
                  </a:txBody>
                  <a:tcPr marL="85725" marR="38100" marT="19050" marB="19050" anchor="ctr">
                    <a:solidFill>
                      <a:srgbClr val="FFFFFF"/>
                    </a:solidFill>
                  </a:tcPr>
                </a:tc>
                <a:tc>
                  <a:txBody>
                    <a:bodyPr wrap="none"/>
                    <a:lstStyle/>
                    <a:p>
                      <a:pPr algn="l"/>
                      <a:r>
                        <a:rPr sz="800" b="0">
                          <a:solidFill>
                            <a:srgbClr val="2E2E2E"/>
                          </a:solidFill>
                          <a:latin typeface="Calibri"/>
                        </a:rPr>
                        <a:t>379.1</a:t>
                      </a:r>
                    </a:p>
                  </a:txBody>
                  <a:tcPr marL="85725" marR="38100" marT="19050" marB="19050" anchor="ctr">
                    <a:solidFill>
                      <a:srgbClr val="FFFFFF"/>
                    </a:solidFill>
                  </a:tcPr>
                </a:tc>
                <a:tc>
                  <a:txBody>
                    <a:bodyPr wrap="none"/>
                    <a:lstStyle/>
                    <a:p>
                      <a:pPr algn="l"/>
                      <a:r>
                        <a:rPr sz="800" b="0">
                          <a:solidFill>
                            <a:srgbClr val="2E2E2E"/>
                          </a:solidFill>
                          <a:latin typeface="Calibri"/>
                        </a:rPr>
                        <a:t>403.5</a:t>
                      </a:r>
                    </a:p>
                  </a:txBody>
                  <a:tcPr marL="85725" marR="38100" marT="19050" marB="19050" anchor="ctr">
                    <a:solidFill>
                      <a:srgbClr val="FFFFFF"/>
                    </a:solidFill>
                  </a:tcPr>
                </a:tc>
                <a:tc>
                  <a:txBody>
                    <a:bodyPr wrap="none"/>
                    <a:lstStyle/>
                    <a:p>
                      <a:pPr algn="l"/>
                      <a:r>
                        <a:rPr sz="800" b="0">
                          <a:solidFill>
                            <a:srgbClr val="2E2E2E"/>
                          </a:solidFill>
                          <a:latin typeface="Calibri"/>
                        </a:rPr>
                        <a:t>430.4</a:t>
                      </a:r>
                    </a:p>
                  </a:txBody>
                  <a:tcPr marL="85725" marR="38100" marT="19050" marB="19050" anchor="ctr">
                    <a:solidFill>
                      <a:srgbClr val="FFFFFF"/>
                    </a:solidFill>
                  </a:tcPr>
                </a:tc>
                <a:tc>
                  <a:txBody>
                    <a:bodyPr wrap="none"/>
                    <a:lstStyle/>
                    <a:p>
                      <a:pPr algn="l"/>
                      <a:r>
                        <a:rPr sz="800" b="0">
                          <a:solidFill>
                            <a:srgbClr val="2E2E2E"/>
                          </a:solidFill>
                          <a:latin typeface="Calibri"/>
                        </a:rPr>
                        <a:t>459.6</a:t>
                      </a:r>
                    </a:p>
                  </a:txBody>
                  <a:tcPr marL="85725" marR="38100" marT="19050" marB="19050" anchor="ctr">
                    <a:solidFill>
                      <a:srgbClr val="FFFFFF"/>
                    </a:solidFill>
                  </a:tcPr>
                </a:tc>
                <a:tc>
                  <a:txBody>
                    <a:bodyPr wrap="none"/>
                    <a:lstStyle/>
                    <a:p>
                      <a:pPr algn="l"/>
                      <a:r>
                        <a:rPr sz="800" b="0">
                          <a:solidFill>
                            <a:srgbClr val="2E2E2E"/>
                          </a:solidFill>
                          <a:latin typeface="Calibri"/>
                        </a:rPr>
                        <a:t>490.6</a:t>
                      </a:r>
                    </a:p>
                  </a:txBody>
                  <a:tcPr marL="85725" marR="38100" marT="19050" marB="19050" anchor="ctr">
                    <a:solidFill>
                      <a:srgbClr val="FFFFFF"/>
                    </a:solidFill>
                  </a:tcPr>
                </a:tc>
                <a:tc>
                  <a:txBody>
                    <a:bodyPr wrap="none"/>
                    <a:lstStyle/>
                    <a:p>
                      <a:pPr algn="l"/>
                      <a:r>
                        <a:rPr sz="800" b="0">
                          <a:solidFill>
                            <a:srgbClr val="2E2E2E"/>
                          </a:solidFill>
                          <a:latin typeface="Calibri"/>
                        </a:rPr>
                        <a:t>522.8</a:t>
                      </a:r>
                    </a:p>
                  </a:txBody>
                  <a:tcPr marL="85725" marR="38100" marT="19050" marB="19050" anchor="ctr">
                    <a:solidFill>
                      <a:srgbClr val="FFFFFF"/>
                    </a:solidFill>
                  </a:tcPr>
                </a:tc>
                <a:tc>
                  <a:txBody>
                    <a:bodyPr wrap="none"/>
                    <a:lstStyle/>
                    <a:p>
                      <a:pPr algn="l"/>
                      <a:r>
                        <a:rPr sz="800" b="0">
                          <a:solidFill>
                            <a:srgbClr val="2E2E2E"/>
                          </a:solidFill>
                          <a:latin typeface="Calibri"/>
                        </a:rPr>
                        <a:t>556.0</a:t>
                      </a:r>
                    </a:p>
                  </a:txBody>
                  <a:tcPr marL="85725" marR="38100" marT="19050" marB="19050" anchor="ctr">
                    <a:solidFill>
                      <a:srgbClr val="FFFFFF"/>
                    </a:solidFill>
                  </a:tcPr>
                </a:tc>
                <a:tc>
                  <a:txBody>
                    <a:bodyPr wrap="none"/>
                    <a:lstStyle/>
                    <a:p>
                      <a:pPr algn="l"/>
                      <a:r>
                        <a:rPr sz="800" b="0">
                          <a:solidFill>
                            <a:srgbClr val="2E2E2E"/>
                          </a:solidFill>
                          <a:latin typeface="Calibri"/>
                        </a:rPr>
                        <a:t>590.3</a:t>
                      </a:r>
                    </a:p>
                  </a:txBody>
                  <a:tcPr marL="85725" marR="38100" marT="19050" marB="19050" anchor="ctr">
                    <a:solidFill>
                      <a:srgbClr val="FFFFFF"/>
                    </a:solidFill>
                  </a:tcPr>
                </a:tc>
                <a:tc>
                  <a:txBody>
                    <a:bodyPr wrap="none"/>
                    <a:lstStyle/>
                    <a:p>
                      <a:pPr algn="l"/>
                      <a:r>
                        <a:rPr sz="800" b="0">
                          <a:solidFill>
                            <a:srgbClr val="2E2E2E"/>
                          </a:solidFill>
                          <a:latin typeface="Calibri"/>
                        </a:rPr>
                        <a:t>625.5</a:t>
                      </a:r>
                    </a:p>
                  </a:txBody>
                  <a:tcPr marL="85725" marR="38100" marT="19050" marB="19050" anchor="ctr">
                    <a:solidFill>
                      <a:srgbClr val="FFFFFF"/>
                    </a:solidFill>
                  </a:tcPr>
                </a:tc>
                <a:tc>
                  <a:txBody>
                    <a:bodyPr wrap="none"/>
                    <a:lstStyle/>
                    <a:p>
                      <a:pPr algn="l"/>
                      <a:r>
                        <a:rPr sz="800" b="0">
                          <a:solidFill>
                            <a:srgbClr val="2E2E2E"/>
                          </a:solidFill>
                          <a:latin typeface="Calibri"/>
                        </a:rPr>
                        <a:t>662.7</a:t>
                      </a:r>
                    </a:p>
                  </a:txBody>
                  <a:tcPr marL="85725" marR="38100" marT="19050" marB="19050" anchor="ctr">
                    <a:solidFill>
                      <a:srgbClr val="FFFFFF"/>
                    </a:solidFill>
                  </a:tcPr>
                </a:tc>
                <a:tc>
                  <a:txBody>
                    <a:bodyPr wrap="none"/>
                    <a:lstStyle/>
                    <a:p>
                      <a:pPr algn="l"/>
                      <a:r>
                        <a:rPr sz="800" b="0">
                          <a:solidFill>
                            <a:srgbClr val="2E2E2E"/>
                          </a:solidFill>
                          <a:latin typeface="Calibri"/>
                        </a:rPr>
                        <a:t>700.9</a:t>
                      </a:r>
                    </a:p>
                  </a:txBody>
                  <a:tcPr marL="85725" marR="38100" marT="19050" marB="19050" anchor="ctr">
                    <a:solidFill>
                      <a:srgbClr val="FFFFFF"/>
                    </a:solidFill>
                  </a:tcPr>
                </a:tc>
                <a:tc>
                  <a:txBody>
                    <a:bodyPr wrap="none"/>
                    <a:lstStyle/>
                    <a:p>
                      <a:pPr algn="l"/>
                      <a:r>
                        <a:rPr sz="800" b="0">
                          <a:solidFill>
                            <a:srgbClr val="2E2E2E"/>
                          </a:solidFill>
                          <a:latin typeface="Calibri"/>
                        </a:rPr>
                        <a:t>741.1</a:t>
                      </a:r>
                    </a:p>
                  </a:txBody>
                  <a:tcPr marL="85725" marR="38100" marT="19050" marB="19050" anchor="ctr">
                    <a:solidFill>
                      <a:srgbClr val="FFFFFF"/>
                    </a:solidFill>
                  </a:tcPr>
                </a:tc>
                <a:tc>
                  <a:txBody>
                    <a:bodyPr wrap="none"/>
                    <a:lstStyle/>
                    <a:p>
                      <a:pPr algn="l"/>
                      <a:r>
                        <a:rPr sz="800" b="0">
                          <a:solidFill>
                            <a:srgbClr val="2E2E2E"/>
                          </a:solidFill>
                          <a:latin typeface="Calibri"/>
                        </a:rPr>
                        <a:t>6.3%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0">
                          <a:solidFill>
                            <a:srgbClr val="2E2E2E"/>
                          </a:solidFill>
                          <a:latin typeface="Calibri"/>
                        </a:rPr>
                        <a:t>309.0</a:t>
                      </a:r>
                    </a:p>
                  </a:txBody>
                  <a:tcPr marL="85725" marR="38100" marT="19050" marB="19050" anchor="ctr">
                    <a:solidFill>
                      <a:srgbClr val="F5F8FA"/>
                    </a:solidFill>
                  </a:tcPr>
                </a:tc>
                <a:tc>
                  <a:txBody>
                    <a:bodyPr wrap="none"/>
                    <a:lstStyle/>
                    <a:p>
                      <a:pPr algn="l"/>
                      <a:r>
                        <a:rPr sz="800" b="0">
                          <a:solidFill>
                            <a:srgbClr val="2E2E2E"/>
                          </a:solidFill>
                          <a:latin typeface="Calibri"/>
                        </a:rPr>
                        <a:t>331.1</a:t>
                      </a:r>
                    </a:p>
                  </a:txBody>
                  <a:tcPr marL="85725" marR="38100" marT="19050" marB="19050" anchor="ctr">
                    <a:solidFill>
                      <a:srgbClr val="F5F8FA"/>
                    </a:solidFill>
                  </a:tcPr>
                </a:tc>
                <a:tc>
                  <a:txBody>
                    <a:bodyPr wrap="none"/>
                    <a:lstStyle/>
                    <a:p>
                      <a:pPr algn="l"/>
                      <a:r>
                        <a:rPr sz="800" b="0">
                          <a:solidFill>
                            <a:srgbClr val="2E2E2E"/>
                          </a:solidFill>
                          <a:latin typeface="Calibri"/>
                        </a:rPr>
                        <a:t>355.9</a:t>
                      </a:r>
                    </a:p>
                  </a:txBody>
                  <a:tcPr marL="85725" marR="38100" marT="19050" marB="19050" anchor="ctr">
                    <a:solidFill>
                      <a:srgbClr val="F5F8FA"/>
                    </a:solidFill>
                  </a:tcPr>
                </a:tc>
                <a:tc>
                  <a:txBody>
                    <a:bodyPr wrap="none"/>
                    <a:lstStyle/>
                    <a:p>
                      <a:pPr algn="l"/>
                      <a:r>
                        <a:rPr sz="800" b="0">
                          <a:solidFill>
                            <a:srgbClr val="2E2E2E"/>
                          </a:solidFill>
                          <a:latin typeface="Calibri"/>
                        </a:rPr>
                        <a:t>384.3</a:t>
                      </a:r>
                    </a:p>
                  </a:txBody>
                  <a:tcPr marL="85725" marR="38100" marT="19050" marB="19050" anchor="ctr">
                    <a:solidFill>
                      <a:srgbClr val="F5F8FA"/>
                    </a:solidFill>
                  </a:tcPr>
                </a:tc>
                <a:tc>
                  <a:txBody>
                    <a:bodyPr wrap="none"/>
                    <a:lstStyle/>
                    <a:p>
                      <a:pPr algn="l"/>
                      <a:r>
                        <a:rPr sz="800" b="0">
                          <a:solidFill>
                            <a:srgbClr val="2E2E2E"/>
                          </a:solidFill>
                          <a:latin typeface="Calibri"/>
                        </a:rPr>
                        <a:t>417.1</a:t>
                      </a:r>
                    </a:p>
                  </a:txBody>
                  <a:tcPr marL="85725" marR="38100" marT="19050" marB="19050" anchor="ctr">
                    <a:solidFill>
                      <a:srgbClr val="F5F8FA"/>
                    </a:solidFill>
                  </a:tcPr>
                </a:tc>
                <a:tc>
                  <a:txBody>
                    <a:bodyPr wrap="none"/>
                    <a:lstStyle/>
                    <a:p>
                      <a:pPr algn="l"/>
                      <a:r>
                        <a:rPr sz="800" b="0">
                          <a:solidFill>
                            <a:srgbClr val="2E2E2E"/>
                          </a:solidFill>
                          <a:latin typeface="Calibri"/>
                        </a:rPr>
                        <a:t>456.6</a:t>
                      </a:r>
                    </a:p>
                  </a:txBody>
                  <a:tcPr marL="85725" marR="38100" marT="19050" marB="19050" anchor="ctr">
                    <a:solidFill>
                      <a:srgbClr val="F5F8FA"/>
                    </a:solidFill>
                  </a:tcPr>
                </a:tc>
                <a:tc>
                  <a:txBody>
                    <a:bodyPr wrap="none"/>
                    <a:lstStyle/>
                    <a:p>
                      <a:pPr algn="l"/>
                      <a:r>
                        <a:rPr sz="800" b="0">
                          <a:solidFill>
                            <a:srgbClr val="2E2E2E"/>
                          </a:solidFill>
                          <a:latin typeface="Calibri"/>
                        </a:rPr>
                        <a:t>501.7</a:t>
                      </a:r>
                    </a:p>
                  </a:txBody>
                  <a:tcPr marL="85725" marR="38100" marT="19050" marB="19050" anchor="ctr">
                    <a:solidFill>
                      <a:srgbClr val="F5F8FA"/>
                    </a:solidFill>
                  </a:tcPr>
                </a:tc>
                <a:tc>
                  <a:txBody>
                    <a:bodyPr wrap="none"/>
                    <a:lstStyle/>
                    <a:p>
                      <a:pPr algn="l"/>
                      <a:r>
                        <a:rPr sz="800" b="0">
                          <a:solidFill>
                            <a:srgbClr val="2E2E2E"/>
                          </a:solidFill>
                          <a:latin typeface="Calibri"/>
                        </a:rPr>
                        <a:t>552.5</a:t>
                      </a:r>
                    </a:p>
                  </a:txBody>
                  <a:tcPr marL="85725" marR="38100" marT="19050" marB="19050" anchor="ctr">
                    <a:solidFill>
                      <a:srgbClr val="F5F8FA"/>
                    </a:solidFill>
                  </a:tcPr>
                </a:tc>
                <a:tc>
                  <a:txBody>
                    <a:bodyPr wrap="none"/>
                    <a:lstStyle/>
                    <a:p>
                      <a:pPr algn="l"/>
                      <a:r>
                        <a:rPr sz="800" b="0">
                          <a:solidFill>
                            <a:srgbClr val="2E2E2E"/>
                          </a:solidFill>
                          <a:latin typeface="Calibri"/>
                        </a:rPr>
                        <a:t>609.3</a:t>
                      </a:r>
                    </a:p>
                  </a:txBody>
                  <a:tcPr marL="85725" marR="38100" marT="19050" marB="19050" anchor="ctr">
                    <a:solidFill>
                      <a:srgbClr val="F5F8FA"/>
                    </a:solidFill>
                  </a:tcPr>
                </a:tc>
                <a:tc>
                  <a:txBody>
                    <a:bodyPr wrap="none"/>
                    <a:lstStyle/>
                    <a:p>
                      <a:pPr algn="l"/>
                      <a:r>
                        <a:rPr sz="800" b="0">
                          <a:solidFill>
                            <a:srgbClr val="2E2E2E"/>
                          </a:solidFill>
                          <a:latin typeface="Calibri"/>
                        </a:rPr>
                        <a:t>671.6</a:t>
                      </a:r>
                    </a:p>
                  </a:txBody>
                  <a:tcPr marL="85725" marR="38100" marT="19050" marB="19050" anchor="ctr">
                    <a:solidFill>
                      <a:srgbClr val="F5F8FA"/>
                    </a:solidFill>
                  </a:tcPr>
                </a:tc>
                <a:tc>
                  <a:txBody>
                    <a:bodyPr wrap="none"/>
                    <a:lstStyle/>
                    <a:p>
                      <a:pPr algn="l"/>
                      <a:r>
                        <a:rPr sz="800" b="0">
                          <a:solidFill>
                            <a:srgbClr val="2E2E2E"/>
                          </a:solidFill>
                          <a:latin typeface="Calibri"/>
                        </a:rPr>
                        <a:t>739.8</a:t>
                      </a:r>
                    </a:p>
                  </a:txBody>
                  <a:tcPr marL="85725" marR="38100" marT="19050" marB="19050" anchor="ctr">
                    <a:solidFill>
                      <a:srgbClr val="F5F8FA"/>
                    </a:solidFill>
                  </a:tcPr>
                </a:tc>
                <a:tc>
                  <a:txBody>
                    <a:bodyPr wrap="none"/>
                    <a:lstStyle/>
                    <a:p>
                      <a:pPr algn="l"/>
                      <a:r>
                        <a:rPr sz="800" b="0">
                          <a:solidFill>
                            <a:srgbClr val="2E2E2E"/>
                          </a:solidFill>
                          <a:latin typeface="Calibri"/>
                        </a:rPr>
                        <a:t>814.7</a:t>
                      </a:r>
                    </a:p>
                  </a:txBody>
                  <a:tcPr marL="85725" marR="38100" marT="19050" marB="19050" anchor="ctr">
                    <a:solidFill>
                      <a:srgbClr val="F5F8FA"/>
                    </a:solidFill>
                  </a:tcPr>
                </a:tc>
                <a:tc>
                  <a:txBody>
                    <a:bodyPr wrap="none"/>
                    <a:lstStyle/>
                    <a:p>
                      <a:pPr algn="l"/>
                      <a:r>
                        <a:rPr sz="800" b="0">
                          <a:solidFill>
                            <a:srgbClr val="2E2E2E"/>
                          </a:solidFill>
                          <a:latin typeface="Calibri"/>
                        </a:rPr>
                        <a:t>896.6</a:t>
                      </a:r>
                    </a:p>
                  </a:txBody>
                  <a:tcPr marL="85725" marR="38100" marT="19050" marB="19050" anchor="ctr">
                    <a:solidFill>
                      <a:srgbClr val="F5F8FA"/>
                    </a:solidFill>
                  </a:tcPr>
                </a:tc>
                <a:tc>
                  <a:txBody>
                    <a:bodyPr wrap="none"/>
                    <a:lstStyle/>
                    <a:p>
                      <a:pPr algn="l"/>
                      <a:r>
                        <a:rPr sz="800" b="0">
                          <a:solidFill>
                            <a:srgbClr val="2E2E2E"/>
                          </a:solidFill>
                          <a:latin typeface="Calibri"/>
                        </a:rPr>
                        <a:t>988.2</a:t>
                      </a:r>
                    </a:p>
                  </a:txBody>
                  <a:tcPr marL="85725" marR="38100" marT="19050" marB="19050" anchor="ctr">
                    <a:solidFill>
                      <a:srgbClr val="F5F8FA"/>
                    </a:solidFill>
                  </a:tcPr>
                </a:tc>
                <a:tc>
                  <a:txBody>
                    <a:bodyPr wrap="none"/>
                    <a:lstStyle/>
                    <a:p>
                      <a:pPr algn="l"/>
                      <a:r>
                        <a:rPr sz="800" b="0">
                          <a:solidFill>
                            <a:srgbClr val="2E2E2E"/>
                          </a:solidFill>
                          <a:latin typeface="Calibri"/>
                        </a:rPr>
                        <a:t>1,089</a:t>
                      </a:r>
                    </a:p>
                  </a:txBody>
                  <a:tcPr marL="85725" marR="38100" marT="19050" marB="19050" anchor="ctr">
                    <a:solidFill>
                      <a:srgbClr val="F5F8FA"/>
                    </a:solidFill>
                  </a:tcPr>
                </a:tc>
                <a:tc>
                  <a:txBody>
                    <a:bodyPr wrap="none"/>
                    <a:lstStyle/>
                    <a:p>
                      <a:pPr algn="l"/>
                      <a:r>
                        <a:rPr sz="800" b="0">
                          <a:solidFill>
                            <a:srgbClr val="2E2E2E"/>
                          </a:solidFill>
                          <a:latin typeface="Calibri"/>
                        </a:rPr>
                        <a:t>1,201</a:t>
                      </a:r>
                    </a:p>
                  </a:txBody>
                  <a:tcPr marL="85725" marR="38100" marT="19050" marB="19050" anchor="ctr">
                    <a:solidFill>
                      <a:srgbClr val="F5F8FA"/>
                    </a:solidFill>
                  </a:tcPr>
                </a:tc>
                <a:tc>
                  <a:txBody>
                    <a:bodyPr wrap="none"/>
                    <a:lstStyle/>
                    <a:p>
                      <a:pPr algn="l"/>
                      <a:r>
                        <a:rPr sz="800" b="0">
                          <a:solidFill>
                            <a:srgbClr val="2E2E2E"/>
                          </a:solidFill>
                          <a:latin typeface="Calibri"/>
                        </a:rPr>
                        <a:t>10.2%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0">
                          <a:solidFill>
                            <a:srgbClr val="2E2E2E"/>
                          </a:solidFill>
                          <a:latin typeface="Calibri"/>
                        </a:rPr>
                        <a:t>55.7</a:t>
                      </a:r>
                    </a:p>
                  </a:txBody>
                  <a:tcPr marL="85725" marR="38100" marT="19050" marB="19050" anchor="ctr">
                    <a:solidFill>
                      <a:srgbClr val="FFFFFF"/>
                    </a:solidFill>
                  </a:tcPr>
                </a:tc>
                <a:tc>
                  <a:txBody>
                    <a:bodyPr wrap="none"/>
                    <a:lstStyle/>
                    <a:p>
                      <a:pPr algn="l"/>
                      <a:r>
                        <a:rPr sz="800" b="0">
                          <a:solidFill>
                            <a:srgbClr val="2E2E2E"/>
                          </a:solidFill>
                          <a:latin typeface="Calibri"/>
                        </a:rPr>
                        <a:t>61.3</a:t>
                      </a:r>
                    </a:p>
                  </a:txBody>
                  <a:tcPr marL="85725" marR="38100" marT="19050" marB="19050" anchor="ctr">
                    <a:solidFill>
                      <a:srgbClr val="FFFFFF"/>
                    </a:solidFill>
                  </a:tcPr>
                </a:tc>
                <a:tc>
                  <a:txBody>
                    <a:bodyPr wrap="none"/>
                    <a:lstStyle/>
                    <a:p>
                      <a:pPr algn="l"/>
                      <a:r>
                        <a:rPr sz="800" b="0">
                          <a:solidFill>
                            <a:srgbClr val="2E2E2E"/>
                          </a:solidFill>
                          <a:latin typeface="Calibri"/>
                        </a:rPr>
                        <a:t>67.6</a:t>
                      </a:r>
                    </a:p>
                  </a:txBody>
                  <a:tcPr marL="85725" marR="38100" marT="19050" marB="19050" anchor="ctr">
                    <a:solidFill>
                      <a:srgbClr val="FFFFFF"/>
                    </a:solidFill>
                  </a:tcPr>
                </a:tc>
                <a:tc>
                  <a:txBody>
                    <a:bodyPr wrap="none"/>
                    <a:lstStyle/>
                    <a:p>
                      <a:pPr algn="l"/>
                      <a:r>
                        <a:rPr sz="800" b="0">
                          <a:solidFill>
                            <a:srgbClr val="2E2E2E"/>
                          </a:solidFill>
                          <a:latin typeface="Calibri"/>
                        </a:rPr>
                        <a:t>74.7</a:t>
                      </a:r>
                    </a:p>
                  </a:txBody>
                  <a:tcPr marL="85725" marR="38100" marT="19050" marB="19050" anchor="ctr">
                    <a:solidFill>
                      <a:srgbClr val="FFFFFF"/>
                    </a:solidFill>
                  </a:tcPr>
                </a:tc>
                <a:tc>
                  <a:txBody>
                    <a:bodyPr wrap="none"/>
                    <a:lstStyle/>
                    <a:p>
                      <a:pPr algn="l"/>
                      <a:r>
                        <a:rPr sz="800" b="0">
                          <a:solidFill>
                            <a:srgbClr val="2E2E2E"/>
                          </a:solidFill>
                          <a:latin typeface="Calibri"/>
                        </a:rPr>
                        <a:t>82.7</a:t>
                      </a:r>
                    </a:p>
                  </a:txBody>
                  <a:tcPr marL="85725" marR="38100" marT="19050" marB="19050" anchor="ctr">
                    <a:solidFill>
                      <a:srgbClr val="FFFFFF"/>
                    </a:solidFill>
                  </a:tcPr>
                </a:tc>
                <a:tc>
                  <a:txBody>
                    <a:bodyPr wrap="none"/>
                    <a:lstStyle/>
                    <a:p>
                      <a:pPr algn="l"/>
                      <a:r>
                        <a:rPr sz="800" b="0">
                          <a:solidFill>
                            <a:srgbClr val="2E2E2E"/>
                          </a:solidFill>
                          <a:latin typeface="Calibri"/>
                        </a:rPr>
                        <a:t>90.6</a:t>
                      </a:r>
                    </a:p>
                  </a:txBody>
                  <a:tcPr marL="85725" marR="38100" marT="19050" marB="19050" anchor="ctr">
                    <a:solidFill>
                      <a:srgbClr val="FFFFFF"/>
                    </a:solidFill>
                  </a:tcPr>
                </a:tc>
                <a:tc>
                  <a:txBody>
                    <a:bodyPr wrap="none"/>
                    <a:lstStyle/>
                    <a:p>
                      <a:pPr algn="l"/>
                      <a:r>
                        <a:rPr sz="800" b="0">
                          <a:solidFill>
                            <a:srgbClr val="2E2E2E"/>
                          </a:solidFill>
                          <a:latin typeface="Calibri"/>
                        </a:rPr>
                        <a:t>99.5</a:t>
                      </a:r>
                    </a:p>
                  </a:txBody>
                  <a:tcPr marL="85725" marR="38100" marT="19050" marB="19050" anchor="ctr">
                    <a:solidFill>
                      <a:srgbClr val="FFFFFF"/>
                    </a:solidFill>
                  </a:tcPr>
                </a:tc>
                <a:tc>
                  <a:txBody>
                    <a:bodyPr wrap="none"/>
                    <a:lstStyle/>
                    <a:p>
                      <a:pPr algn="l"/>
                      <a:r>
                        <a:rPr sz="800" b="0">
                          <a:solidFill>
                            <a:srgbClr val="2E2E2E"/>
                          </a:solidFill>
                          <a:latin typeface="Calibri"/>
                        </a:rPr>
                        <a:t>109.4</a:t>
                      </a:r>
                    </a:p>
                  </a:txBody>
                  <a:tcPr marL="85725" marR="38100" marT="19050" marB="19050" anchor="ctr">
                    <a:solidFill>
                      <a:srgbClr val="FFFFFF"/>
                    </a:solidFill>
                  </a:tcPr>
                </a:tc>
                <a:tc>
                  <a:txBody>
                    <a:bodyPr wrap="none"/>
                    <a:lstStyle/>
                    <a:p>
                      <a:pPr algn="l"/>
                      <a:r>
                        <a:rPr sz="800" b="0">
                          <a:solidFill>
                            <a:srgbClr val="2E2E2E"/>
                          </a:solidFill>
                          <a:latin typeface="Calibri"/>
                        </a:rPr>
                        <a:t>120.2</a:t>
                      </a:r>
                    </a:p>
                  </a:txBody>
                  <a:tcPr marL="85725" marR="38100" marT="19050" marB="19050" anchor="ctr">
                    <a:solidFill>
                      <a:srgbClr val="FFFFFF"/>
                    </a:solidFill>
                  </a:tcPr>
                </a:tc>
                <a:tc>
                  <a:txBody>
                    <a:bodyPr wrap="none"/>
                    <a:lstStyle/>
                    <a:p>
                      <a:pPr algn="l"/>
                      <a:r>
                        <a:rPr sz="800" b="0">
                          <a:solidFill>
                            <a:srgbClr val="2E2E2E"/>
                          </a:solidFill>
                          <a:latin typeface="Calibri"/>
                        </a:rPr>
                        <a:t>131.9</a:t>
                      </a:r>
                    </a:p>
                  </a:txBody>
                  <a:tcPr marL="85725" marR="38100" marT="19050" marB="19050" anchor="ctr">
                    <a:solidFill>
                      <a:srgbClr val="FFFFFF"/>
                    </a:solidFill>
                  </a:tcPr>
                </a:tc>
                <a:tc>
                  <a:txBody>
                    <a:bodyPr wrap="none"/>
                    <a:lstStyle/>
                    <a:p>
                      <a:pPr algn="l"/>
                      <a:r>
                        <a:rPr sz="800" b="0">
                          <a:solidFill>
                            <a:srgbClr val="2E2E2E"/>
                          </a:solidFill>
                          <a:latin typeface="Calibri"/>
                        </a:rPr>
                        <a:t>144.5</a:t>
                      </a:r>
                    </a:p>
                  </a:txBody>
                  <a:tcPr marL="85725" marR="38100" marT="19050" marB="19050" anchor="ctr">
                    <a:solidFill>
                      <a:srgbClr val="FFFFFF"/>
                    </a:solidFill>
                  </a:tcPr>
                </a:tc>
                <a:tc>
                  <a:txBody>
                    <a:bodyPr wrap="none"/>
                    <a:lstStyle/>
                    <a:p>
                      <a:pPr algn="l"/>
                      <a:r>
                        <a:rPr sz="800" b="0">
                          <a:solidFill>
                            <a:srgbClr val="2E2E2E"/>
                          </a:solidFill>
                          <a:latin typeface="Calibri"/>
                        </a:rPr>
                        <a:t>158.0</a:t>
                      </a:r>
                    </a:p>
                  </a:txBody>
                  <a:tcPr marL="85725" marR="38100" marT="19050" marB="19050" anchor="ctr">
                    <a:solidFill>
                      <a:srgbClr val="FFFFFF"/>
                    </a:solidFill>
                  </a:tcPr>
                </a:tc>
                <a:tc>
                  <a:txBody>
                    <a:bodyPr wrap="none"/>
                    <a:lstStyle/>
                    <a:p>
                      <a:pPr algn="l"/>
                      <a:r>
                        <a:rPr sz="800" b="0">
                          <a:solidFill>
                            <a:srgbClr val="2E2E2E"/>
                          </a:solidFill>
                          <a:latin typeface="Calibri"/>
                        </a:rPr>
                        <a:t>172.4</a:t>
                      </a:r>
                    </a:p>
                  </a:txBody>
                  <a:tcPr marL="85725" marR="38100" marT="19050" marB="19050" anchor="ctr">
                    <a:solidFill>
                      <a:srgbClr val="FFFFFF"/>
                    </a:solidFill>
                  </a:tcPr>
                </a:tc>
                <a:tc>
                  <a:txBody>
                    <a:bodyPr wrap="none"/>
                    <a:lstStyle/>
                    <a:p>
                      <a:pPr algn="l"/>
                      <a:r>
                        <a:rPr sz="800" b="0">
                          <a:solidFill>
                            <a:srgbClr val="2E2E2E"/>
                          </a:solidFill>
                          <a:latin typeface="Calibri"/>
                        </a:rPr>
                        <a:t>188.1</a:t>
                      </a:r>
                    </a:p>
                  </a:txBody>
                  <a:tcPr marL="85725" marR="38100" marT="19050" marB="19050" anchor="ctr">
                    <a:solidFill>
                      <a:srgbClr val="FFFFFF"/>
                    </a:solidFill>
                  </a:tcPr>
                </a:tc>
                <a:tc>
                  <a:txBody>
                    <a:bodyPr wrap="none"/>
                    <a:lstStyle/>
                    <a:p>
                      <a:pPr algn="l"/>
                      <a:r>
                        <a:rPr sz="800" b="0">
                          <a:solidFill>
                            <a:srgbClr val="2E2E2E"/>
                          </a:solidFill>
                          <a:latin typeface="Calibri"/>
                        </a:rPr>
                        <a:t>204.9</a:t>
                      </a:r>
                    </a:p>
                  </a:txBody>
                  <a:tcPr marL="85725" marR="38100" marT="19050" marB="19050" anchor="ctr">
                    <a:solidFill>
                      <a:srgbClr val="FFFFFF"/>
                    </a:solidFill>
                  </a:tcPr>
                </a:tc>
                <a:tc>
                  <a:txBody>
                    <a:bodyPr wrap="none"/>
                    <a:lstStyle/>
                    <a:p>
                      <a:pPr algn="l"/>
                      <a:r>
                        <a:rPr sz="800" b="0">
                          <a:solidFill>
                            <a:srgbClr val="2E2E2E"/>
                          </a:solidFill>
                          <a:latin typeface="Calibri"/>
                        </a:rPr>
                        <a:t>223.1</a:t>
                      </a:r>
                    </a:p>
                  </a:txBody>
                  <a:tcPr marL="85725" marR="38100" marT="19050" marB="19050" anchor="ctr">
                    <a:solidFill>
                      <a:srgbClr val="FFFFFF"/>
                    </a:solidFill>
                  </a:tcPr>
                </a:tc>
                <a:tc>
                  <a:txBody>
                    <a:bodyPr wrap="none"/>
                    <a:lstStyle/>
                    <a:p>
                      <a:pPr algn="l"/>
                      <a:r>
                        <a:rPr sz="800" b="0">
                          <a:solidFill>
                            <a:srgbClr val="2E2E2E"/>
                          </a:solidFill>
                          <a:latin typeface="Calibri"/>
                        </a:rPr>
                        <a:t>9.4%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0">
                          <a:solidFill>
                            <a:srgbClr val="2E2E2E"/>
                          </a:solidFill>
                          <a:latin typeface="Calibri"/>
                        </a:rPr>
                        <a:t>122.7</a:t>
                      </a:r>
                    </a:p>
                  </a:txBody>
                  <a:tcPr marL="85725" marR="38100" marT="19050" marB="19050" anchor="ctr">
                    <a:solidFill>
                      <a:srgbClr val="F5F8FA"/>
                    </a:solidFill>
                  </a:tcPr>
                </a:tc>
                <a:tc>
                  <a:txBody>
                    <a:bodyPr wrap="none"/>
                    <a:lstStyle/>
                    <a:p>
                      <a:pPr algn="l"/>
                      <a:r>
                        <a:rPr sz="800" b="0">
                          <a:solidFill>
                            <a:srgbClr val="2E2E2E"/>
                          </a:solidFill>
                          <a:latin typeface="Calibri"/>
                        </a:rPr>
                        <a:t>129.3</a:t>
                      </a:r>
                    </a:p>
                  </a:txBody>
                  <a:tcPr marL="85725" marR="38100" marT="19050" marB="19050" anchor="ctr">
                    <a:solidFill>
                      <a:srgbClr val="F5F8FA"/>
                    </a:solidFill>
                  </a:tcPr>
                </a:tc>
                <a:tc>
                  <a:txBody>
                    <a:bodyPr wrap="none"/>
                    <a:lstStyle/>
                    <a:p>
                      <a:pPr algn="l"/>
                      <a:r>
                        <a:rPr sz="800" b="0">
                          <a:solidFill>
                            <a:srgbClr val="2E2E2E"/>
                          </a:solidFill>
                          <a:latin typeface="Calibri"/>
                        </a:rPr>
                        <a:t>136.4</a:t>
                      </a:r>
                    </a:p>
                  </a:txBody>
                  <a:tcPr marL="85725" marR="38100" marT="19050" marB="19050" anchor="ctr">
                    <a:solidFill>
                      <a:srgbClr val="F5F8FA"/>
                    </a:solidFill>
                  </a:tcPr>
                </a:tc>
                <a:tc>
                  <a:txBody>
                    <a:bodyPr wrap="none"/>
                    <a:lstStyle/>
                    <a:p>
                      <a:pPr algn="l"/>
                      <a:r>
                        <a:rPr sz="800" b="0">
                          <a:solidFill>
                            <a:srgbClr val="2E2E2E"/>
                          </a:solidFill>
                          <a:latin typeface="Calibri"/>
                        </a:rPr>
                        <a:t>144.3</a:t>
                      </a:r>
                    </a:p>
                  </a:txBody>
                  <a:tcPr marL="85725" marR="38100" marT="19050" marB="19050" anchor="ctr">
                    <a:solidFill>
                      <a:srgbClr val="F5F8FA"/>
                    </a:solidFill>
                  </a:tcPr>
                </a:tc>
                <a:tc>
                  <a:txBody>
                    <a:bodyPr wrap="none"/>
                    <a:lstStyle/>
                    <a:p>
                      <a:pPr algn="l"/>
                      <a:r>
                        <a:rPr sz="800" b="0">
                          <a:solidFill>
                            <a:srgbClr val="2E2E2E"/>
                          </a:solidFill>
                          <a:latin typeface="Calibri"/>
                        </a:rPr>
                        <a:t>153.1</a:t>
                      </a:r>
                    </a:p>
                  </a:txBody>
                  <a:tcPr marL="85725" marR="38100" marT="19050" marB="19050" anchor="ctr">
                    <a:solidFill>
                      <a:srgbClr val="F5F8FA"/>
                    </a:solidFill>
                  </a:tcPr>
                </a:tc>
                <a:tc>
                  <a:txBody>
                    <a:bodyPr wrap="none"/>
                    <a:lstStyle/>
                    <a:p>
                      <a:pPr algn="l"/>
                      <a:r>
                        <a:rPr sz="800" b="0">
                          <a:solidFill>
                            <a:srgbClr val="2E2E2E"/>
                          </a:solidFill>
                          <a:latin typeface="Calibri"/>
                        </a:rPr>
                        <a:t>163.1</a:t>
                      </a:r>
                    </a:p>
                  </a:txBody>
                  <a:tcPr marL="85725" marR="38100" marT="19050" marB="19050" anchor="ctr">
                    <a:solidFill>
                      <a:srgbClr val="F5F8FA"/>
                    </a:solidFill>
                  </a:tcPr>
                </a:tc>
                <a:tc>
                  <a:txBody>
                    <a:bodyPr wrap="none"/>
                    <a:lstStyle/>
                    <a:p>
                      <a:pPr algn="l"/>
                      <a:r>
                        <a:rPr sz="800" b="0">
                          <a:solidFill>
                            <a:srgbClr val="2E2E2E"/>
                          </a:solidFill>
                          <a:latin typeface="Calibri"/>
                        </a:rPr>
                        <a:t>174.2</a:t>
                      </a:r>
                    </a:p>
                  </a:txBody>
                  <a:tcPr marL="85725" marR="38100" marT="19050" marB="19050" anchor="ctr">
                    <a:solidFill>
                      <a:srgbClr val="F5F8FA"/>
                    </a:solidFill>
                  </a:tcPr>
                </a:tc>
                <a:tc>
                  <a:txBody>
                    <a:bodyPr wrap="none"/>
                    <a:lstStyle/>
                    <a:p>
                      <a:pPr algn="l"/>
                      <a:r>
                        <a:rPr sz="800" b="0">
                          <a:solidFill>
                            <a:srgbClr val="2E2E2E"/>
                          </a:solidFill>
                          <a:latin typeface="Calibri"/>
                        </a:rPr>
                        <a:t>186.2</a:t>
                      </a:r>
                    </a:p>
                  </a:txBody>
                  <a:tcPr marL="85725" marR="38100" marT="19050" marB="19050" anchor="ctr">
                    <a:solidFill>
                      <a:srgbClr val="F5F8FA"/>
                    </a:solidFill>
                  </a:tcPr>
                </a:tc>
                <a:tc>
                  <a:txBody>
                    <a:bodyPr wrap="none"/>
                    <a:lstStyle/>
                    <a:p>
                      <a:pPr algn="l"/>
                      <a:r>
                        <a:rPr sz="800" b="0">
                          <a:solidFill>
                            <a:srgbClr val="2E2E2E"/>
                          </a:solidFill>
                          <a:latin typeface="Calibri"/>
                        </a:rPr>
                        <a:t>198.9</a:t>
                      </a:r>
                    </a:p>
                  </a:txBody>
                  <a:tcPr marL="85725" marR="38100" marT="19050" marB="19050" anchor="ctr">
                    <a:solidFill>
                      <a:srgbClr val="F5F8FA"/>
                    </a:solidFill>
                  </a:tcPr>
                </a:tc>
                <a:tc>
                  <a:txBody>
                    <a:bodyPr wrap="none"/>
                    <a:lstStyle/>
                    <a:p>
                      <a:pPr algn="l"/>
                      <a:r>
                        <a:rPr sz="800" b="0">
                          <a:solidFill>
                            <a:srgbClr val="2E2E2E"/>
                          </a:solidFill>
                          <a:latin typeface="Calibri"/>
                        </a:rPr>
                        <a:t>212.2</a:t>
                      </a:r>
                    </a:p>
                  </a:txBody>
                  <a:tcPr marL="85725" marR="38100" marT="19050" marB="19050" anchor="ctr">
                    <a:solidFill>
                      <a:srgbClr val="F5F8FA"/>
                    </a:solidFill>
                  </a:tcPr>
                </a:tc>
                <a:tc>
                  <a:txBody>
                    <a:bodyPr wrap="none"/>
                    <a:lstStyle/>
                    <a:p>
                      <a:pPr algn="l"/>
                      <a:r>
                        <a:rPr sz="800" b="0">
                          <a:solidFill>
                            <a:srgbClr val="2E2E2E"/>
                          </a:solidFill>
                          <a:latin typeface="Calibri"/>
                        </a:rPr>
                        <a:t>226.0</a:t>
                      </a:r>
                    </a:p>
                  </a:txBody>
                  <a:tcPr marL="85725" marR="38100" marT="19050" marB="19050" anchor="ctr">
                    <a:solidFill>
                      <a:srgbClr val="F5F8FA"/>
                    </a:solidFill>
                  </a:tcPr>
                </a:tc>
                <a:tc>
                  <a:txBody>
                    <a:bodyPr wrap="none"/>
                    <a:lstStyle/>
                    <a:p>
                      <a:pPr algn="l"/>
                      <a:r>
                        <a:rPr sz="800" b="0">
                          <a:solidFill>
                            <a:srgbClr val="2E2E2E"/>
                          </a:solidFill>
                          <a:latin typeface="Calibri"/>
                        </a:rPr>
                        <a:t>240.2</a:t>
                      </a:r>
                    </a:p>
                  </a:txBody>
                  <a:tcPr marL="85725" marR="38100" marT="19050" marB="19050" anchor="ctr">
                    <a:solidFill>
                      <a:srgbClr val="F5F8FA"/>
                    </a:solidFill>
                  </a:tcPr>
                </a:tc>
                <a:tc>
                  <a:txBody>
                    <a:bodyPr wrap="none"/>
                    <a:lstStyle/>
                    <a:p>
                      <a:pPr algn="l"/>
                      <a:r>
                        <a:rPr sz="800" b="0">
                          <a:solidFill>
                            <a:srgbClr val="2E2E2E"/>
                          </a:solidFill>
                          <a:latin typeface="Calibri"/>
                        </a:rPr>
                        <a:t>254.9</a:t>
                      </a:r>
                    </a:p>
                  </a:txBody>
                  <a:tcPr marL="85725" marR="38100" marT="19050" marB="19050" anchor="ctr">
                    <a:solidFill>
                      <a:srgbClr val="F5F8FA"/>
                    </a:solidFill>
                  </a:tcPr>
                </a:tc>
                <a:tc>
                  <a:txBody>
                    <a:bodyPr wrap="none"/>
                    <a:lstStyle/>
                    <a:p>
                      <a:pPr algn="l"/>
                      <a:r>
                        <a:rPr sz="800" b="0">
                          <a:solidFill>
                            <a:srgbClr val="2E2E2E"/>
                          </a:solidFill>
                          <a:latin typeface="Calibri"/>
                        </a:rPr>
                        <a:t>270.4</a:t>
                      </a:r>
                    </a:p>
                  </a:txBody>
                  <a:tcPr marL="85725" marR="38100" marT="19050" marB="19050" anchor="ctr">
                    <a:solidFill>
                      <a:srgbClr val="F5F8FA"/>
                    </a:solidFill>
                  </a:tcPr>
                </a:tc>
                <a:tc>
                  <a:txBody>
                    <a:bodyPr wrap="none"/>
                    <a:lstStyle/>
                    <a:p>
                      <a:pPr algn="l"/>
                      <a:r>
                        <a:rPr sz="800" b="0">
                          <a:solidFill>
                            <a:srgbClr val="2E2E2E"/>
                          </a:solidFill>
                          <a:latin typeface="Calibri"/>
                        </a:rPr>
                        <a:t>286.4</a:t>
                      </a:r>
                    </a:p>
                  </a:txBody>
                  <a:tcPr marL="85725" marR="38100" marT="19050" marB="19050" anchor="ctr">
                    <a:solidFill>
                      <a:srgbClr val="F5F8FA"/>
                    </a:solidFill>
                  </a:tcPr>
                </a:tc>
                <a:tc>
                  <a:txBody>
                    <a:bodyPr wrap="none"/>
                    <a:lstStyle/>
                    <a:p>
                      <a:pPr algn="l"/>
                      <a:r>
                        <a:rPr sz="800" b="0">
                          <a:solidFill>
                            <a:srgbClr val="2E2E2E"/>
                          </a:solidFill>
                          <a:latin typeface="Calibri"/>
                        </a:rPr>
                        <a:t>303.2</a:t>
                      </a:r>
                    </a:p>
                  </a:txBody>
                  <a:tcPr marL="85725" marR="38100" marT="19050" marB="19050" anchor="ctr">
                    <a:solidFill>
                      <a:srgbClr val="F5F8FA"/>
                    </a:solidFill>
                  </a:tcPr>
                </a:tc>
                <a:tc>
                  <a:txBody>
                    <a:bodyPr wrap="none"/>
                    <a:lstStyle/>
                    <a:p>
                      <a:pPr algn="l"/>
                      <a:r>
                        <a:rPr sz="8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40576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333875"/>
            <a:ext cx="11906250" cy="2390775"/>
          </a:xfrm>
          <a:prstGeom prst="roundRect">
            <a:avLst>
              <a:gd name="adj" fmla="val 31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End User</a:t>
            </a:r>
          </a:p>
        </p:txBody>
      </p:sp>
      <p:sp>
        <p:nvSpPr>
          <p:cNvPr id="18" name="Rectangle 17"/>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43450"/>
            <a:ext cx="11639550" cy="19050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&amp; Clinics' is the largest end user at 35.2% of 2036 volume (1,960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'Home &amp; Self-Testing' grows fastest 10.2%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'Home &amp; Self-Testing' (+540 BPS) and away from 'Hospitals &amp; Clinics' (-362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6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End User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End User,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343275"/>
          </a:xfrm>
          <a:prstGeom prst="roundRect">
            <a:avLst>
              <a:gd name="adj" fmla="val 227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End User (US$ Mn)</a:t>
            </a:r>
          </a:p>
        </p:txBody>
      </p:sp>
      <p:graphicFrame>
        <p:nvGraphicFramePr>
          <p:cNvPr id="14" name="Table 13"/>
          <p:cNvGraphicFramePr>
            <a:graphicFrameLocks noGrp="1"/>
          </p:cNvGraphicFramePr>
          <p:nvPr/>
        </p:nvGraphicFramePr>
        <p:xfrm>
          <a:off x="238125" y="1143000"/>
          <a:ext cx="11715752" cy="14478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0">
                          <a:solidFill>
                            <a:srgbClr val="2E2E2E"/>
                          </a:solidFill>
                          <a:latin typeface="Calibri"/>
                        </a:rPr>
                        <a:t>719.6</a:t>
                      </a:r>
                    </a:p>
                  </a:txBody>
                  <a:tcPr marL="85725" marR="38100" marT="19050" marB="19050" anchor="ctr">
                    <a:solidFill>
                      <a:srgbClr val="FFFFFF"/>
                    </a:solidFill>
                  </a:tcPr>
                </a:tc>
                <a:tc>
                  <a:txBody>
                    <a:bodyPr wrap="none"/>
                    <a:lstStyle/>
                    <a:p>
                      <a:pPr algn="l"/>
                      <a:r>
                        <a:rPr sz="800" b="0">
                          <a:solidFill>
                            <a:srgbClr val="2E2E2E"/>
                          </a:solidFill>
                          <a:latin typeface="Calibri"/>
                        </a:rPr>
                        <a:t>744.1</a:t>
                      </a:r>
                    </a:p>
                  </a:txBody>
                  <a:tcPr marL="85725" marR="38100" marT="19050" marB="19050" anchor="ctr">
                    <a:solidFill>
                      <a:srgbClr val="FFFFFF"/>
                    </a:solidFill>
                  </a:tcPr>
                </a:tc>
                <a:tc>
                  <a:txBody>
                    <a:bodyPr wrap="none"/>
                    <a:lstStyle/>
                    <a:p>
                      <a:pPr algn="l"/>
                      <a:r>
                        <a:rPr sz="800" b="0">
                          <a:solidFill>
                            <a:srgbClr val="2E2E2E"/>
                          </a:solidFill>
                          <a:latin typeface="Calibri"/>
                        </a:rPr>
                        <a:t>772.4</a:t>
                      </a:r>
                    </a:p>
                  </a:txBody>
                  <a:tcPr marL="85725" marR="38100" marT="19050" marB="19050" anchor="ctr">
                    <a:solidFill>
                      <a:srgbClr val="FFFFFF"/>
                    </a:solidFill>
                  </a:tcPr>
                </a:tc>
                <a:tc>
                  <a:txBody>
                    <a:bodyPr wrap="none"/>
                    <a:lstStyle/>
                    <a:p>
                      <a:pPr algn="l"/>
                      <a:r>
                        <a:rPr sz="800" b="0">
                          <a:solidFill>
                            <a:srgbClr val="2E2E2E"/>
                          </a:solidFill>
                          <a:latin typeface="Calibri"/>
                        </a:rPr>
                        <a:t>807.1</a:t>
                      </a:r>
                    </a:p>
                  </a:txBody>
                  <a:tcPr marL="85725" marR="38100" marT="19050" marB="19050" anchor="ctr">
                    <a:solidFill>
                      <a:srgbClr val="FFFFFF"/>
                    </a:solidFill>
                  </a:tcPr>
                </a:tc>
                <a:tc>
                  <a:txBody>
                    <a:bodyPr wrap="none"/>
                    <a:lstStyle/>
                    <a:p>
                      <a:pPr algn="l"/>
                      <a:r>
                        <a:rPr sz="800" b="0">
                          <a:solidFill>
                            <a:srgbClr val="2E2E2E"/>
                          </a:solidFill>
                          <a:latin typeface="Calibri"/>
                        </a:rPr>
                        <a:t>847.6</a:t>
                      </a:r>
                    </a:p>
                  </a:txBody>
                  <a:tcPr marL="85725" marR="38100" marT="19050" marB="19050" anchor="ctr">
                    <a:solidFill>
                      <a:srgbClr val="FFFFFF"/>
                    </a:solidFill>
                  </a:tcPr>
                </a:tc>
                <a:tc>
                  <a:txBody>
                    <a:bodyPr wrap="none"/>
                    <a:lstStyle/>
                    <a:p>
                      <a:pPr algn="l"/>
                      <a:r>
                        <a:rPr sz="800" b="0">
                          <a:solidFill>
                            <a:srgbClr val="2E2E2E"/>
                          </a:solidFill>
                          <a:latin typeface="Calibri"/>
                        </a:rPr>
                        <a:t>895.7</a:t>
                      </a:r>
                    </a:p>
                  </a:txBody>
                  <a:tcPr marL="85725" marR="38100" marT="19050" marB="19050" anchor="ctr">
                    <a:solidFill>
                      <a:srgbClr val="FFFFFF"/>
                    </a:solidFill>
                  </a:tcPr>
                </a:tc>
                <a:tc>
                  <a:txBody>
                    <a:bodyPr wrap="none"/>
                    <a:lstStyle/>
                    <a:p>
                      <a:pPr algn="l"/>
                      <a:r>
                        <a:rPr sz="800" b="0">
                          <a:solidFill>
                            <a:srgbClr val="2E2E2E"/>
                          </a:solidFill>
                          <a:latin typeface="Calibri"/>
                        </a:rPr>
                        <a:t>951.0</a:t>
                      </a:r>
                    </a:p>
                  </a:txBody>
                  <a:tcPr marL="85725" marR="38100" marT="19050" marB="19050" anchor="ctr">
                    <a:solidFill>
                      <a:srgbClr val="FFFFFF"/>
                    </a:solidFill>
                  </a:tcPr>
                </a:tc>
                <a:tc>
                  <a:txBody>
                    <a:bodyPr wrap="none"/>
                    <a:lstStyle/>
                    <a:p>
                      <a:pPr algn="l"/>
                      <a:r>
                        <a:rPr sz="800" b="0">
                          <a:solidFill>
                            <a:srgbClr val="2E2E2E"/>
                          </a:solidFill>
                          <a:latin typeface="Calibri"/>
                        </a:rPr>
                        <a:t>1,013</a:t>
                      </a:r>
                    </a:p>
                  </a:txBody>
                  <a:tcPr marL="85725" marR="38100" marT="19050" marB="19050" anchor="ctr">
                    <a:solidFill>
                      <a:srgbClr val="FFFFFF"/>
                    </a:solidFill>
                  </a:tcPr>
                </a:tc>
                <a:tc>
                  <a:txBody>
                    <a:bodyPr wrap="none"/>
                    <a:lstStyle/>
                    <a:p>
                      <a:pPr algn="l"/>
                      <a:r>
                        <a:rPr sz="800" b="0">
                          <a:solidFill>
                            <a:srgbClr val="2E2E2E"/>
                          </a:solidFill>
                          <a:latin typeface="Calibri"/>
                        </a:rPr>
                        <a:t>1,081</a:t>
                      </a:r>
                    </a:p>
                  </a:txBody>
                  <a:tcPr marL="85725" marR="38100" marT="19050" marB="19050" anchor="ctr">
                    <a:solidFill>
                      <a:srgbClr val="FFFFFF"/>
                    </a:solidFill>
                  </a:tcPr>
                </a:tc>
                <a:tc>
                  <a:txBody>
                    <a:bodyPr wrap="none"/>
                    <a:lstStyle/>
                    <a:p>
                      <a:pPr algn="l"/>
                      <a:r>
                        <a:rPr sz="800" b="0">
                          <a:solidFill>
                            <a:srgbClr val="2E2E2E"/>
                          </a:solidFill>
                          <a:latin typeface="Calibri"/>
                        </a:rPr>
                        <a:t>1,154</a:t>
                      </a:r>
                    </a:p>
                  </a:txBody>
                  <a:tcPr marL="85725" marR="38100" marT="19050" marB="19050" anchor="ctr">
                    <a:solidFill>
                      <a:srgbClr val="FFFFFF"/>
                    </a:solidFill>
                  </a:tcPr>
                </a:tc>
                <a:tc>
                  <a:txBody>
                    <a:bodyPr wrap="none"/>
                    <a:lstStyle/>
                    <a:p>
                      <a:pPr algn="l"/>
                      <a:r>
                        <a:rPr sz="800" b="0">
                          <a:solidFill>
                            <a:srgbClr val="2E2E2E"/>
                          </a:solidFill>
                          <a:latin typeface="Calibri"/>
                        </a:rPr>
                        <a:t>1,233</a:t>
                      </a:r>
                    </a:p>
                  </a:txBody>
                  <a:tcPr marL="85725" marR="38100" marT="19050" marB="19050" anchor="ctr">
                    <a:solidFill>
                      <a:srgbClr val="FFFFFF"/>
                    </a:solidFill>
                  </a:tcPr>
                </a:tc>
                <a:tc>
                  <a:txBody>
                    <a:bodyPr wrap="none"/>
                    <a:lstStyle/>
                    <a:p>
                      <a:pPr algn="l"/>
                      <a:r>
                        <a:rPr sz="800" b="0">
                          <a:solidFill>
                            <a:srgbClr val="2E2E2E"/>
                          </a:solidFill>
                          <a:latin typeface="Calibri"/>
                        </a:rPr>
                        <a:t>1,319</a:t>
                      </a:r>
                    </a:p>
                  </a:txBody>
                  <a:tcPr marL="85725" marR="38100" marT="19050" marB="19050" anchor="ctr">
                    <a:solidFill>
                      <a:srgbClr val="FFFFFF"/>
                    </a:solidFill>
                  </a:tcPr>
                </a:tc>
                <a:tc>
                  <a:txBody>
                    <a:bodyPr wrap="none"/>
                    <a:lstStyle/>
                    <a:p>
                      <a:pPr algn="l"/>
                      <a:r>
                        <a:rPr sz="800" b="0">
                          <a:solidFill>
                            <a:srgbClr val="2E2E2E"/>
                          </a:solidFill>
                          <a:latin typeface="Calibri"/>
                        </a:rPr>
                        <a:t>1,410</a:t>
                      </a:r>
                    </a:p>
                  </a:txBody>
                  <a:tcPr marL="85725" marR="38100" marT="19050" marB="19050" anchor="ctr">
                    <a:solidFill>
                      <a:srgbClr val="FFFFFF"/>
                    </a:solidFill>
                  </a:tcPr>
                </a:tc>
                <a:tc>
                  <a:txBody>
                    <a:bodyPr wrap="none"/>
                    <a:lstStyle/>
                    <a:p>
                      <a:pPr algn="l"/>
                      <a:r>
                        <a:rPr sz="800" b="0">
                          <a:solidFill>
                            <a:srgbClr val="2E2E2E"/>
                          </a:solidFill>
                          <a:latin typeface="Calibri"/>
                        </a:rPr>
                        <a:t>1,511</a:t>
                      </a:r>
                    </a:p>
                  </a:txBody>
                  <a:tcPr marL="85725" marR="38100" marT="19050" marB="19050" anchor="ctr">
                    <a:solidFill>
                      <a:srgbClr val="FFFFFF"/>
                    </a:solidFill>
                  </a:tcPr>
                </a:tc>
                <a:tc>
                  <a:txBody>
                    <a:bodyPr wrap="none"/>
                    <a:lstStyle/>
                    <a:p>
                      <a:pPr algn="l"/>
                      <a:r>
                        <a:rPr sz="800" b="0">
                          <a:solidFill>
                            <a:srgbClr val="2E2E2E"/>
                          </a:solidFill>
                          <a:latin typeface="Calibri"/>
                        </a:rPr>
                        <a:t>1,620</a:t>
                      </a:r>
                    </a:p>
                  </a:txBody>
                  <a:tcPr marL="85725" marR="38100" marT="19050" marB="19050" anchor="ctr">
                    <a:solidFill>
                      <a:srgbClr val="FFFFFF"/>
                    </a:solidFill>
                  </a:tcPr>
                </a:tc>
                <a:tc>
                  <a:txBody>
                    <a:bodyPr wrap="none"/>
                    <a:lstStyle/>
                    <a:p>
                      <a:pPr algn="l"/>
                      <a:r>
                        <a:rPr sz="800" b="0">
                          <a:solidFill>
                            <a:srgbClr val="2E2E2E"/>
                          </a:solidFill>
                          <a:latin typeface="Calibri"/>
                        </a:rPr>
                        <a:t>1,741</a:t>
                      </a:r>
                    </a:p>
                  </a:txBody>
                  <a:tcPr marL="85725" marR="38100" marT="19050" marB="19050" anchor="ctr">
                    <a:solidFill>
                      <a:srgbClr val="FFFFFF"/>
                    </a:solidFill>
                  </a:tcPr>
                </a:tc>
                <a:tc>
                  <a:txBody>
                    <a:bodyPr wrap="none"/>
                    <a:lstStyle/>
                    <a:p>
                      <a:pPr algn="l"/>
                      <a:r>
                        <a:rPr sz="800" b="0">
                          <a:solidFill>
                            <a:srgbClr val="2E2E2E"/>
                          </a:solidFill>
                          <a:latin typeface="Calibri"/>
                        </a:rPr>
                        <a:t>6.9%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0">
                          <a:solidFill>
                            <a:srgbClr val="2E2E2E"/>
                          </a:solidFill>
                          <a:latin typeface="Calibri"/>
                        </a:rPr>
                        <a:t>392.7</a:t>
                      </a:r>
                    </a:p>
                  </a:txBody>
                  <a:tcPr marL="85725" marR="38100" marT="19050" marB="19050" anchor="ctr">
                    <a:solidFill>
                      <a:srgbClr val="F5F8FA"/>
                    </a:solidFill>
                  </a:tcPr>
                </a:tc>
                <a:tc>
                  <a:txBody>
                    <a:bodyPr wrap="none"/>
                    <a:lstStyle/>
                    <a:p>
                      <a:pPr algn="l"/>
                      <a:r>
                        <a:rPr sz="800" b="0">
                          <a:solidFill>
                            <a:srgbClr val="2E2E2E"/>
                          </a:solidFill>
                          <a:latin typeface="Calibri"/>
                        </a:rPr>
                        <a:t>408.0</a:t>
                      </a:r>
                    </a:p>
                  </a:txBody>
                  <a:tcPr marL="85725" marR="38100" marT="19050" marB="19050" anchor="ctr">
                    <a:solidFill>
                      <a:srgbClr val="F5F8FA"/>
                    </a:solidFill>
                  </a:tcPr>
                </a:tc>
                <a:tc>
                  <a:txBody>
                    <a:bodyPr wrap="none"/>
                    <a:lstStyle/>
                    <a:p>
                      <a:pPr algn="l"/>
                      <a:r>
                        <a:rPr sz="800" b="0">
                          <a:solidFill>
                            <a:srgbClr val="2E2E2E"/>
                          </a:solidFill>
                          <a:latin typeface="Calibri"/>
                        </a:rPr>
                        <a:t>425.4</a:t>
                      </a:r>
                    </a:p>
                  </a:txBody>
                  <a:tcPr marL="85725" marR="38100" marT="19050" marB="19050" anchor="ctr">
                    <a:solidFill>
                      <a:srgbClr val="F5F8FA"/>
                    </a:solidFill>
                  </a:tcPr>
                </a:tc>
                <a:tc>
                  <a:txBody>
                    <a:bodyPr wrap="none"/>
                    <a:lstStyle/>
                    <a:p>
                      <a:pPr algn="l"/>
                      <a:r>
                        <a:rPr sz="800" b="0">
                          <a:solidFill>
                            <a:srgbClr val="2E2E2E"/>
                          </a:solidFill>
                          <a:latin typeface="Calibri"/>
                        </a:rPr>
                        <a:t>446.5</a:t>
                      </a:r>
                    </a:p>
                  </a:txBody>
                  <a:tcPr marL="85725" marR="38100" marT="19050" marB="19050" anchor="ctr">
                    <a:solidFill>
                      <a:srgbClr val="F5F8FA"/>
                    </a:solidFill>
                  </a:tcPr>
                </a:tc>
                <a:tc>
                  <a:txBody>
                    <a:bodyPr wrap="none"/>
                    <a:lstStyle/>
                    <a:p>
                      <a:pPr algn="l"/>
                      <a:r>
                        <a:rPr sz="800" b="0">
                          <a:solidFill>
                            <a:srgbClr val="2E2E2E"/>
                          </a:solidFill>
                          <a:latin typeface="Calibri"/>
                        </a:rPr>
                        <a:t>471.0</a:t>
                      </a:r>
                    </a:p>
                  </a:txBody>
                  <a:tcPr marL="85725" marR="38100" marT="19050" marB="19050" anchor="ctr">
                    <a:solidFill>
                      <a:srgbClr val="F5F8FA"/>
                    </a:solidFill>
                  </a:tcPr>
                </a:tc>
                <a:tc>
                  <a:txBody>
                    <a:bodyPr wrap="none"/>
                    <a:lstStyle/>
                    <a:p>
                      <a:pPr algn="l"/>
                      <a:r>
                        <a:rPr sz="800" b="0">
                          <a:solidFill>
                            <a:srgbClr val="2E2E2E"/>
                          </a:solidFill>
                          <a:latin typeface="Calibri"/>
                        </a:rPr>
                        <a:t>499.9</a:t>
                      </a:r>
                    </a:p>
                  </a:txBody>
                  <a:tcPr marL="85725" marR="38100" marT="19050" marB="19050" anchor="ctr">
                    <a:solidFill>
                      <a:srgbClr val="F5F8FA"/>
                    </a:solidFill>
                  </a:tcPr>
                </a:tc>
                <a:tc>
                  <a:txBody>
                    <a:bodyPr wrap="none"/>
                    <a:lstStyle/>
                    <a:p>
                      <a:pPr algn="l"/>
                      <a:r>
                        <a:rPr sz="800" b="0">
                          <a:solidFill>
                            <a:srgbClr val="2E2E2E"/>
                          </a:solidFill>
                          <a:latin typeface="Calibri"/>
                        </a:rPr>
                        <a:t>533.0</a:t>
                      </a:r>
                    </a:p>
                  </a:txBody>
                  <a:tcPr marL="85725" marR="38100" marT="19050" marB="19050" anchor="ctr">
                    <a:solidFill>
                      <a:srgbClr val="F5F8FA"/>
                    </a:solidFill>
                  </a:tcPr>
                </a:tc>
                <a:tc>
                  <a:txBody>
                    <a:bodyPr wrap="none"/>
                    <a:lstStyle/>
                    <a:p>
                      <a:pPr algn="l"/>
                      <a:r>
                        <a:rPr sz="800" b="0">
                          <a:solidFill>
                            <a:srgbClr val="2E2E2E"/>
                          </a:solidFill>
                          <a:latin typeface="Calibri"/>
                        </a:rPr>
                        <a:t>570.0</a:t>
                      </a:r>
                    </a:p>
                  </a:txBody>
                  <a:tcPr marL="85725" marR="38100" marT="19050" marB="19050" anchor="ctr">
                    <a:solidFill>
                      <a:srgbClr val="F5F8FA"/>
                    </a:solidFill>
                  </a:tcPr>
                </a:tc>
                <a:tc>
                  <a:txBody>
                    <a:bodyPr wrap="none"/>
                    <a:lstStyle/>
                    <a:p>
                      <a:pPr algn="l"/>
                      <a:r>
                        <a:rPr sz="800" b="0">
                          <a:solidFill>
                            <a:srgbClr val="2E2E2E"/>
                          </a:solidFill>
                          <a:latin typeface="Calibri"/>
                        </a:rPr>
                        <a:t>610.8</a:t>
                      </a:r>
                    </a:p>
                  </a:txBody>
                  <a:tcPr marL="85725" marR="38100" marT="19050" marB="19050" anchor="ctr">
                    <a:solidFill>
                      <a:srgbClr val="F5F8FA"/>
                    </a:solidFill>
                  </a:tcPr>
                </a:tc>
                <a:tc>
                  <a:txBody>
                    <a:bodyPr wrap="none"/>
                    <a:lstStyle/>
                    <a:p>
                      <a:pPr algn="l"/>
                      <a:r>
                        <a:rPr sz="800" b="0">
                          <a:solidFill>
                            <a:srgbClr val="2E2E2E"/>
                          </a:solidFill>
                          <a:latin typeface="Calibri"/>
                        </a:rPr>
                        <a:t>654.9</a:t>
                      </a:r>
                    </a:p>
                  </a:txBody>
                  <a:tcPr marL="85725" marR="38100" marT="19050" marB="19050" anchor="ctr">
                    <a:solidFill>
                      <a:srgbClr val="F5F8FA"/>
                    </a:solidFill>
                  </a:tcPr>
                </a:tc>
                <a:tc>
                  <a:txBody>
                    <a:bodyPr wrap="none"/>
                    <a:lstStyle/>
                    <a:p>
                      <a:pPr algn="l"/>
                      <a:r>
                        <a:rPr sz="800" b="0">
                          <a:solidFill>
                            <a:srgbClr val="2E2E2E"/>
                          </a:solidFill>
                          <a:latin typeface="Calibri"/>
                        </a:rPr>
                        <a:t>702.4</a:t>
                      </a:r>
                    </a:p>
                  </a:txBody>
                  <a:tcPr marL="85725" marR="38100" marT="19050" marB="19050" anchor="ctr">
                    <a:solidFill>
                      <a:srgbClr val="F5F8FA"/>
                    </a:solidFill>
                  </a:tcPr>
                </a:tc>
                <a:tc>
                  <a:txBody>
                    <a:bodyPr wrap="none"/>
                    <a:lstStyle/>
                    <a:p>
                      <a:pPr algn="l"/>
                      <a:r>
                        <a:rPr sz="800" b="0">
                          <a:solidFill>
                            <a:srgbClr val="2E2E2E"/>
                          </a:solidFill>
                          <a:latin typeface="Calibri"/>
                        </a:rPr>
                        <a:t>753.8</a:t>
                      </a:r>
                    </a:p>
                  </a:txBody>
                  <a:tcPr marL="85725" marR="38100" marT="19050" marB="19050" anchor="ctr">
                    <a:solidFill>
                      <a:srgbClr val="F5F8FA"/>
                    </a:solidFill>
                  </a:tcPr>
                </a:tc>
                <a:tc>
                  <a:txBody>
                    <a:bodyPr wrap="none"/>
                    <a:lstStyle/>
                    <a:p>
                      <a:pPr algn="l"/>
                      <a:r>
                        <a:rPr sz="800" b="0">
                          <a:solidFill>
                            <a:srgbClr val="2E2E2E"/>
                          </a:solidFill>
                          <a:latin typeface="Calibri"/>
                        </a:rPr>
                        <a:t>808.8</a:t>
                      </a:r>
                    </a:p>
                  </a:txBody>
                  <a:tcPr marL="85725" marR="38100" marT="19050" marB="19050" anchor="ctr">
                    <a:solidFill>
                      <a:srgbClr val="F5F8FA"/>
                    </a:solidFill>
                  </a:tcPr>
                </a:tc>
                <a:tc>
                  <a:txBody>
                    <a:bodyPr wrap="none"/>
                    <a:lstStyle/>
                    <a:p>
                      <a:pPr algn="l"/>
                      <a:r>
                        <a:rPr sz="800" b="0">
                          <a:solidFill>
                            <a:srgbClr val="2E2E2E"/>
                          </a:solidFill>
                          <a:latin typeface="Calibri"/>
                        </a:rPr>
                        <a:t>869.7</a:t>
                      </a:r>
                    </a:p>
                  </a:txBody>
                  <a:tcPr marL="85725" marR="38100" marT="19050" marB="19050" anchor="ctr">
                    <a:solidFill>
                      <a:srgbClr val="F5F8FA"/>
                    </a:solidFill>
                  </a:tcPr>
                </a:tc>
                <a:tc>
                  <a:txBody>
                    <a:bodyPr wrap="none"/>
                    <a:lstStyle/>
                    <a:p>
                      <a:pPr algn="l"/>
                      <a:r>
                        <a:rPr sz="800" b="0">
                          <a:solidFill>
                            <a:srgbClr val="2E2E2E"/>
                          </a:solidFill>
                          <a:latin typeface="Calibri"/>
                        </a:rPr>
                        <a:t>935.8</a:t>
                      </a:r>
                    </a:p>
                  </a:txBody>
                  <a:tcPr marL="85725" marR="38100" marT="19050" marB="19050" anchor="ctr">
                    <a:solidFill>
                      <a:srgbClr val="F5F8FA"/>
                    </a:solidFill>
                  </a:tcPr>
                </a:tc>
                <a:tc>
                  <a:txBody>
                    <a:bodyPr wrap="none"/>
                    <a:lstStyle/>
                    <a:p>
                      <a:pPr algn="l"/>
                      <a:r>
                        <a:rPr sz="800" b="0">
                          <a:solidFill>
                            <a:srgbClr val="2E2E2E"/>
                          </a:solidFill>
                          <a:latin typeface="Calibri"/>
                        </a:rPr>
                        <a:t>1,009</a:t>
                      </a:r>
                    </a:p>
                  </a:txBody>
                  <a:tcPr marL="85725" marR="38100" marT="19050" marB="19050" anchor="ctr">
                    <a:solidFill>
                      <a:srgbClr val="F5F8FA"/>
                    </a:solidFill>
                  </a:tcPr>
                </a:tc>
                <a:tc>
                  <a:txBody>
                    <a:bodyPr wrap="none"/>
                    <a:lstStyle/>
                    <a:p>
                      <a:pPr algn="l"/>
                      <a:r>
                        <a:rPr sz="800" b="0">
                          <a:solidFill>
                            <a:srgbClr val="2E2E2E"/>
                          </a:solidFill>
                          <a:latin typeface="Calibri"/>
                        </a:rPr>
                        <a:t>7.3%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0">
                          <a:solidFill>
                            <a:srgbClr val="2E2E2E"/>
                          </a:solidFill>
                          <a:latin typeface="Calibri"/>
                        </a:rPr>
                        <a:t>259.8</a:t>
                      </a:r>
                    </a:p>
                  </a:txBody>
                  <a:tcPr marL="85725" marR="38100" marT="19050" marB="19050" anchor="ctr">
                    <a:solidFill>
                      <a:srgbClr val="FFFFFF"/>
                    </a:solidFill>
                  </a:tcPr>
                </a:tc>
                <a:tc>
                  <a:txBody>
                    <a:bodyPr wrap="none"/>
                    <a:lstStyle/>
                    <a:p>
                      <a:pPr algn="l"/>
                      <a:r>
                        <a:rPr sz="800" b="0">
                          <a:solidFill>
                            <a:srgbClr val="2E2E2E"/>
                          </a:solidFill>
                          <a:latin typeface="Calibri"/>
                        </a:rPr>
                        <a:t>269.9</a:t>
                      </a:r>
                    </a:p>
                  </a:txBody>
                  <a:tcPr marL="85725" marR="38100" marT="19050" marB="19050" anchor="ctr">
                    <a:solidFill>
                      <a:srgbClr val="FFFFFF"/>
                    </a:solidFill>
                  </a:tcPr>
                </a:tc>
                <a:tc>
                  <a:txBody>
                    <a:bodyPr wrap="none"/>
                    <a:lstStyle/>
                    <a:p>
                      <a:pPr algn="l"/>
                      <a:r>
                        <a:rPr sz="800" b="0">
                          <a:solidFill>
                            <a:srgbClr val="2E2E2E"/>
                          </a:solidFill>
                          <a:latin typeface="Calibri"/>
                        </a:rPr>
                        <a:t>281.2</a:t>
                      </a:r>
                    </a:p>
                  </a:txBody>
                  <a:tcPr marL="85725" marR="38100" marT="19050" marB="19050" anchor="ctr">
                    <a:solidFill>
                      <a:srgbClr val="FFFFFF"/>
                    </a:solidFill>
                  </a:tcPr>
                </a:tc>
                <a:tc>
                  <a:txBody>
                    <a:bodyPr wrap="none"/>
                    <a:lstStyle/>
                    <a:p>
                      <a:pPr algn="l"/>
                      <a:r>
                        <a:rPr sz="800" b="0">
                          <a:solidFill>
                            <a:srgbClr val="2E2E2E"/>
                          </a:solidFill>
                          <a:latin typeface="Calibri"/>
                        </a:rPr>
                        <a:t>295.0</a:t>
                      </a:r>
                    </a:p>
                  </a:txBody>
                  <a:tcPr marL="85725" marR="38100" marT="19050" marB="19050" anchor="ctr">
                    <a:solidFill>
                      <a:srgbClr val="FFFFFF"/>
                    </a:solidFill>
                  </a:tcPr>
                </a:tc>
                <a:tc>
                  <a:txBody>
                    <a:bodyPr wrap="none"/>
                    <a:lstStyle/>
                    <a:p>
                      <a:pPr algn="l"/>
                      <a:r>
                        <a:rPr sz="800" b="0">
                          <a:solidFill>
                            <a:srgbClr val="2E2E2E"/>
                          </a:solidFill>
                          <a:latin typeface="Calibri"/>
                        </a:rPr>
                        <a:t>310.9</a:t>
                      </a:r>
                    </a:p>
                  </a:txBody>
                  <a:tcPr marL="85725" marR="38100" marT="19050" marB="19050" anchor="ctr">
                    <a:solidFill>
                      <a:srgbClr val="FFFFFF"/>
                    </a:solidFill>
                  </a:tcPr>
                </a:tc>
                <a:tc>
                  <a:txBody>
                    <a:bodyPr wrap="none"/>
                    <a:lstStyle/>
                    <a:p>
                      <a:pPr algn="l"/>
                      <a:r>
                        <a:rPr sz="800" b="0">
                          <a:solidFill>
                            <a:srgbClr val="2E2E2E"/>
                          </a:solidFill>
                          <a:latin typeface="Calibri"/>
                        </a:rPr>
                        <a:t>329.7</a:t>
                      </a:r>
                    </a:p>
                  </a:txBody>
                  <a:tcPr marL="85725" marR="38100" marT="19050" marB="19050" anchor="ctr">
                    <a:solidFill>
                      <a:srgbClr val="FFFFFF"/>
                    </a:solidFill>
                  </a:tcPr>
                </a:tc>
                <a:tc>
                  <a:txBody>
                    <a:bodyPr wrap="none"/>
                    <a:lstStyle/>
                    <a:p>
                      <a:pPr algn="l"/>
                      <a:r>
                        <a:rPr sz="800" b="0">
                          <a:solidFill>
                            <a:srgbClr val="2E2E2E"/>
                          </a:solidFill>
                          <a:latin typeface="Calibri"/>
                        </a:rPr>
                        <a:t>351.2</a:t>
                      </a:r>
                    </a:p>
                  </a:txBody>
                  <a:tcPr marL="85725" marR="38100" marT="19050" marB="19050" anchor="ctr">
                    <a:solidFill>
                      <a:srgbClr val="FFFFFF"/>
                    </a:solidFill>
                  </a:tcPr>
                </a:tc>
                <a:tc>
                  <a:txBody>
                    <a:bodyPr wrap="none"/>
                    <a:lstStyle/>
                    <a:p>
                      <a:pPr algn="l"/>
                      <a:r>
                        <a:rPr sz="800" b="0">
                          <a:solidFill>
                            <a:srgbClr val="2E2E2E"/>
                          </a:solidFill>
                          <a:latin typeface="Calibri"/>
                        </a:rPr>
                        <a:t>375.3</a:t>
                      </a:r>
                    </a:p>
                  </a:txBody>
                  <a:tcPr marL="85725" marR="38100" marT="19050" marB="19050" anchor="ctr">
                    <a:solidFill>
                      <a:srgbClr val="FFFFFF"/>
                    </a:solidFill>
                  </a:tcPr>
                </a:tc>
                <a:tc>
                  <a:txBody>
                    <a:bodyPr wrap="none"/>
                    <a:lstStyle/>
                    <a:p>
                      <a:pPr algn="l"/>
                      <a:r>
                        <a:rPr sz="800" b="0">
                          <a:solidFill>
                            <a:srgbClr val="2E2E2E"/>
                          </a:solidFill>
                          <a:latin typeface="Calibri"/>
                        </a:rPr>
                        <a:t>401.7</a:t>
                      </a:r>
                    </a:p>
                  </a:txBody>
                  <a:tcPr marL="85725" marR="38100" marT="19050" marB="19050" anchor="ctr">
                    <a:solidFill>
                      <a:srgbClr val="FFFFFF"/>
                    </a:solidFill>
                  </a:tcPr>
                </a:tc>
                <a:tc>
                  <a:txBody>
                    <a:bodyPr wrap="none"/>
                    <a:lstStyle/>
                    <a:p>
                      <a:pPr algn="l"/>
                      <a:r>
                        <a:rPr sz="800" b="0">
                          <a:solidFill>
                            <a:srgbClr val="2E2E2E"/>
                          </a:solidFill>
                          <a:latin typeface="Calibri"/>
                        </a:rPr>
                        <a:t>430.3</a:t>
                      </a:r>
                    </a:p>
                  </a:txBody>
                  <a:tcPr marL="85725" marR="38100" marT="19050" marB="19050" anchor="ctr">
                    <a:solidFill>
                      <a:srgbClr val="FFFFFF"/>
                    </a:solidFill>
                  </a:tcPr>
                </a:tc>
                <a:tc>
                  <a:txBody>
                    <a:bodyPr wrap="none"/>
                    <a:lstStyle/>
                    <a:p>
                      <a:pPr algn="l"/>
                      <a:r>
                        <a:rPr sz="800" b="0">
                          <a:solidFill>
                            <a:srgbClr val="2E2E2E"/>
                          </a:solidFill>
                          <a:latin typeface="Calibri"/>
                        </a:rPr>
                        <a:t>460.9</a:t>
                      </a:r>
                    </a:p>
                  </a:txBody>
                  <a:tcPr marL="85725" marR="38100" marT="19050" marB="19050" anchor="ctr">
                    <a:solidFill>
                      <a:srgbClr val="FFFFFF"/>
                    </a:solidFill>
                  </a:tcPr>
                </a:tc>
                <a:tc>
                  <a:txBody>
                    <a:bodyPr wrap="none"/>
                    <a:lstStyle/>
                    <a:p>
                      <a:pPr algn="l"/>
                      <a:r>
                        <a:rPr sz="800" b="0">
                          <a:solidFill>
                            <a:srgbClr val="2E2E2E"/>
                          </a:solidFill>
                          <a:latin typeface="Calibri"/>
                        </a:rPr>
                        <a:t>494.1</a:t>
                      </a:r>
                    </a:p>
                  </a:txBody>
                  <a:tcPr marL="85725" marR="38100" marT="19050" marB="19050" anchor="ctr">
                    <a:solidFill>
                      <a:srgbClr val="FFFFFF"/>
                    </a:solidFill>
                  </a:tcPr>
                </a:tc>
                <a:tc>
                  <a:txBody>
                    <a:bodyPr wrap="none"/>
                    <a:lstStyle/>
                    <a:p>
                      <a:pPr algn="l"/>
                      <a:r>
                        <a:rPr sz="800" b="0">
                          <a:solidFill>
                            <a:srgbClr val="2E2E2E"/>
                          </a:solidFill>
                          <a:latin typeface="Calibri"/>
                        </a:rPr>
                        <a:t>529.6</a:t>
                      </a:r>
                    </a:p>
                  </a:txBody>
                  <a:tcPr marL="85725" marR="38100" marT="19050" marB="19050" anchor="ctr">
                    <a:solidFill>
                      <a:srgbClr val="FFFFFF"/>
                    </a:solidFill>
                  </a:tcPr>
                </a:tc>
                <a:tc>
                  <a:txBody>
                    <a:bodyPr wrap="none"/>
                    <a:lstStyle/>
                    <a:p>
                      <a:pPr algn="l"/>
                      <a:r>
                        <a:rPr sz="800" b="0">
                          <a:solidFill>
                            <a:srgbClr val="2E2E2E"/>
                          </a:solidFill>
                          <a:latin typeface="Calibri"/>
                        </a:rPr>
                        <a:t>568.8</a:t>
                      </a:r>
                    </a:p>
                  </a:txBody>
                  <a:tcPr marL="85725" marR="38100" marT="19050" marB="19050" anchor="ctr">
                    <a:solidFill>
                      <a:srgbClr val="FFFFFF"/>
                    </a:solidFill>
                  </a:tcPr>
                </a:tc>
                <a:tc>
                  <a:txBody>
                    <a:bodyPr wrap="none"/>
                    <a:lstStyle/>
                    <a:p>
                      <a:pPr algn="l"/>
                      <a:r>
                        <a:rPr sz="800" b="0">
                          <a:solidFill>
                            <a:srgbClr val="2E2E2E"/>
                          </a:solidFill>
                          <a:latin typeface="Calibri"/>
                        </a:rPr>
                        <a:t>611.3</a:t>
                      </a:r>
                    </a:p>
                  </a:txBody>
                  <a:tcPr marL="85725" marR="38100" marT="19050" marB="19050" anchor="ctr">
                    <a:solidFill>
                      <a:srgbClr val="FFFFFF"/>
                    </a:solidFill>
                  </a:tcPr>
                </a:tc>
                <a:tc>
                  <a:txBody>
                    <a:bodyPr wrap="none"/>
                    <a:lstStyle/>
                    <a:p>
                      <a:pPr algn="l"/>
                      <a:r>
                        <a:rPr sz="800" b="0">
                          <a:solidFill>
                            <a:srgbClr val="2E2E2E"/>
                          </a:solidFill>
                          <a:latin typeface="Calibri"/>
                        </a:rPr>
                        <a:t>658.1</a:t>
                      </a:r>
                    </a:p>
                  </a:txBody>
                  <a:tcPr marL="85725" marR="38100" marT="19050" marB="19050" anchor="ctr">
                    <a:solidFill>
                      <a:srgbClr val="FFFFFF"/>
                    </a:solidFill>
                  </a:tcPr>
                </a:tc>
                <a:tc>
                  <a:txBody>
                    <a:bodyPr wrap="none"/>
                    <a:lstStyle/>
                    <a:p>
                      <a:pPr algn="l"/>
                      <a:r>
                        <a:rPr sz="800" b="0">
                          <a:solidFill>
                            <a:srgbClr val="2E2E2E"/>
                          </a:solidFill>
                          <a:latin typeface="Calibri"/>
                        </a:rPr>
                        <a:t>7.2%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0">
                          <a:solidFill>
                            <a:srgbClr val="2E2E2E"/>
                          </a:solidFill>
                          <a:latin typeface="Calibri"/>
                        </a:rPr>
                        <a:t>264.3</a:t>
                      </a:r>
                    </a:p>
                  </a:txBody>
                  <a:tcPr marL="85725" marR="38100" marT="19050" marB="19050" anchor="ctr">
                    <a:solidFill>
                      <a:srgbClr val="F5F8FA"/>
                    </a:solidFill>
                  </a:tcPr>
                </a:tc>
                <a:tc>
                  <a:txBody>
                    <a:bodyPr wrap="none"/>
                    <a:lstStyle/>
                    <a:p>
                      <a:pPr algn="l"/>
                      <a:r>
                        <a:rPr sz="800" b="0">
                          <a:solidFill>
                            <a:srgbClr val="2E2E2E"/>
                          </a:solidFill>
                          <a:latin typeface="Calibri"/>
                        </a:rPr>
                        <a:t>279.2</a:t>
                      </a:r>
                    </a:p>
                  </a:txBody>
                  <a:tcPr marL="85725" marR="38100" marT="19050" marB="19050" anchor="ctr">
                    <a:solidFill>
                      <a:srgbClr val="F5F8FA"/>
                    </a:solidFill>
                  </a:tcPr>
                </a:tc>
                <a:tc>
                  <a:txBody>
                    <a:bodyPr wrap="none"/>
                    <a:lstStyle/>
                    <a:p>
                      <a:pPr algn="l"/>
                      <a:r>
                        <a:rPr sz="800" b="0">
                          <a:solidFill>
                            <a:srgbClr val="2E2E2E"/>
                          </a:solidFill>
                          <a:latin typeface="Calibri"/>
                        </a:rPr>
                        <a:t>296.5</a:t>
                      </a:r>
                    </a:p>
                  </a:txBody>
                  <a:tcPr marL="85725" marR="38100" marT="19050" marB="19050" anchor="ctr">
                    <a:solidFill>
                      <a:srgbClr val="F5F8FA"/>
                    </a:solidFill>
                  </a:tcPr>
                </a:tc>
                <a:tc>
                  <a:txBody>
                    <a:bodyPr wrap="none"/>
                    <a:lstStyle/>
                    <a:p>
                      <a:pPr algn="l"/>
                      <a:r>
                        <a:rPr sz="800" b="0">
                          <a:solidFill>
                            <a:srgbClr val="2E2E2E"/>
                          </a:solidFill>
                          <a:latin typeface="Calibri"/>
                        </a:rPr>
                        <a:t>317.5</a:t>
                      </a:r>
                    </a:p>
                  </a:txBody>
                  <a:tcPr marL="85725" marR="38100" marT="19050" marB="19050" anchor="ctr">
                    <a:solidFill>
                      <a:srgbClr val="F5F8FA"/>
                    </a:solidFill>
                  </a:tcPr>
                </a:tc>
                <a:tc>
                  <a:txBody>
                    <a:bodyPr wrap="none"/>
                    <a:lstStyle/>
                    <a:p>
                      <a:pPr algn="l"/>
                      <a:r>
                        <a:rPr sz="800" b="0">
                          <a:solidFill>
                            <a:srgbClr val="2E2E2E"/>
                          </a:solidFill>
                          <a:latin typeface="Calibri"/>
                        </a:rPr>
                        <a:t>342.3</a:t>
                      </a:r>
                    </a:p>
                  </a:txBody>
                  <a:tcPr marL="85725" marR="38100" marT="19050" marB="19050" anchor="ctr">
                    <a:solidFill>
                      <a:srgbClr val="F5F8FA"/>
                    </a:solidFill>
                  </a:tcPr>
                </a:tc>
                <a:tc>
                  <a:txBody>
                    <a:bodyPr wrap="none"/>
                    <a:lstStyle/>
                    <a:p>
                      <a:pPr algn="l"/>
                      <a:r>
                        <a:rPr sz="800" b="0">
                          <a:solidFill>
                            <a:srgbClr val="2E2E2E"/>
                          </a:solidFill>
                          <a:latin typeface="Calibri"/>
                        </a:rPr>
                        <a:t>373.1</a:t>
                      </a:r>
                    </a:p>
                  </a:txBody>
                  <a:tcPr marL="85725" marR="38100" marT="19050" marB="19050" anchor="ctr">
                    <a:solidFill>
                      <a:srgbClr val="F5F8FA"/>
                    </a:solidFill>
                  </a:tcPr>
                </a:tc>
                <a:tc>
                  <a:txBody>
                    <a:bodyPr wrap="none"/>
                    <a:lstStyle/>
                    <a:p>
                      <a:pPr algn="l"/>
                      <a:r>
                        <a:rPr sz="800" b="0">
                          <a:solidFill>
                            <a:srgbClr val="2E2E2E"/>
                          </a:solidFill>
                          <a:latin typeface="Calibri"/>
                        </a:rPr>
                        <a:t>409.1</a:t>
                      </a:r>
                    </a:p>
                  </a:txBody>
                  <a:tcPr marL="85725" marR="38100" marT="19050" marB="19050" anchor="ctr">
                    <a:solidFill>
                      <a:srgbClr val="F5F8FA"/>
                    </a:solidFill>
                  </a:tcPr>
                </a:tc>
                <a:tc>
                  <a:txBody>
                    <a:bodyPr wrap="none"/>
                    <a:lstStyle/>
                    <a:p>
                      <a:pPr algn="l"/>
                      <a:r>
                        <a:rPr sz="800" b="0">
                          <a:solidFill>
                            <a:srgbClr val="2E2E2E"/>
                          </a:solidFill>
                          <a:latin typeface="Calibri"/>
                        </a:rPr>
                        <a:t>450.4</a:t>
                      </a:r>
                    </a:p>
                  </a:txBody>
                  <a:tcPr marL="85725" marR="38100" marT="19050" marB="19050" anchor="ctr">
                    <a:solidFill>
                      <a:srgbClr val="F5F8FA"/>
                    </a:solidFill>
                  </a:tcPr>
                </a:tc>
                <a:tc>
                  <a:txBody>
                    <a:bodyPr wrap="none"/>
                    <a:lstStyle/>
                    <a:p>
                      <a:pPr algn="l"/>
                      <a:r>
                        <a:rPr sz="800" b="0">
                          <a:solidFill>
                            <a:srgbClr val="2E2E2E"/>
                          </a:solidFill>
                          <a:latin typeface="Calibri"/>
                        </a:rPr>
                        <a:t>497.6</a:t>
                      </a:r>
                    </a:p>
                  </a:txBody>
                  <a:tcPr marL="85725" marR="38100" marT="19050" marB="19050" anchor="ctr">
                    <a:solidFill>
                      <a:srgbClr val="F5F8FA"/>
                    </a:solidFill>
                  </a:tcPr>
                </a:tc>
                <a:tc>
                  <a:txBody>
                    <a:bodyPr wrap="none"/>
                    <a:lstStyle/>
                    <a:p>
                      <a:pPr algn="l"/>
                      <a:r>
                        <a:rPr sz="800" b="0">
                          <a:solidFill>
                            <a:srgbClr val="2E2E2E"/>
                          </a:solidFill>
                          <a:latin typeface="Calibri"/>
                        </a:rPr>
                        <a:t>550.8</a:t>
                      </a:r>
                    </a:p>
                  </a:txBody>
                  <a:tcPr marL="85725" marR="38100" marT="19050" marB="19050" anchor="ctr">
                    <a:solidFill>
                      <a:srgbClr val="F5F8FA"/>
                    </a:solidFill>
                  </a:tcPr>
                </a:tc>
                <a:tc>
                  <a:txBody>
                    <a:bodyPr wrap="none"/>
                    <a:lstStyle/>
                    <a:p>
                      <a:pPr algn="l"/>
                      <a:r>
                        <a:rPr sz="800" b="0">
                          <a:solidFill>
                            <a:srgbClr val="2E2E2E"/>
                          </a:solidFill>
                          <a:latin typeface="Calibri"/>
                        </a:rPr>
                        <a:t>610.7</a:t>
                      </a:r>
                    </a:p>
                  </a:txBody>
                  <a:tcPr marL="85725" marR="38100" marT="19050" marB="19050" anchor="ctr">
                    <a:solidFill>
                      <a:srgbClr val="F5F8FA"/>
                    </a:solidFill>
                  </a:tcPr>
                </a:tc>
                <a:tc>
                  <a:txBody>
                    <a:bodyPr wrap="none"/>
                    <a:lstStyle/>
                    <a:p>
                      <a:pPr algn="l"/>
                      <a:r>
                        <a:rPr sz="800" b="0">
                          <a:solidFill>
                            <a:srgbClr val="2E2E2E"/>
                          </a:solidFill>
                          <a:latin typeface="Calibri"/>
                        </a:rPr>
                        <a:t>678.5</a:t>
                      </a:r>
                    </a:p>
                  </a:txBody>
                  <a:tcPr marL="85725" marR="38100" marT="19050" marB="19050" anchor="ctr">
                    <a:solidFill>
                      <a:srgbClr val="F5F8FA"/>
                    </a:solidFill>
                  </a:tcPr>
                </a:tc>
                <a:tc>
                  <a:txBody>
                    <a:bodyPr wrap="none"/>
                    <a:lstStyle/>
                    <a:p>
                      <a:pPr algn="l"/>
                      <a:r>
                        <a:rPr sz="800" b="0">
                          <a:solidFill>
                            <a:srgbClr val="2E2E2E"/>
                          </a:solidFill>
                          <a:latin typeface="Calibri"/>
                        </a:rPr>
                        <a:t>755.0</a:t>
                      </a:r>
                    </a:p>
                  </a:txBody>
                  <a:tcPr marL="85725" marR="38100" marT="19050" marB="19050" anchor="ctr">
                    <a:solidFill>
                      <a:srgbClr val="F5F8FA"/>
                    </a:solidFill>
                  </a:tcPr>
                </a:tc>
                <a:tc>
                  <a:txBody>
                    <a:bodyPr wrap="none"/>
                    <a:lstStyle/>
                    <a:p>
                      <a:pPr algn="l"/>
                      <a:r>
                        <a:rPr sz="800" b="0">
                          <a:solidFill>
                            <a:srgbClr val="2E2E2E"/>
                          </a:solidFill>
                          <a:latin typeface="Calibri"/>
                        </a:rPr>
                        <a:t>842.9</a:t>
                      </a:r>
                    </a:p>
                  </a:txBody>
                  <a:tcPr marL="85725" marR="38100" marT="19050" marB="19050" anchor="ctr">
                    <a:solidFill>
                      <a:srgbClr val="F5F8FA"/>
                    </a:solidFill>
                  </a:tcPr>
                </a:tc>
                <a:tc>
                  <a:txBody>
                    <a:bodyPr wrap="none"/>
                    <a:lstStyle/>
                    <a:p>
                      <a:pPr algn="l"/>
                      <a:r>
                        <a:rPr sz="800" b="0">
                          <a:solidFill>
                            <a:srgbClr val="2E2E2E"/>
                          </a:solidFill>
                          <a:latin typeface="Calibri"/>
                        </a:rPr>
                        <a:t>943.2</a:t>
                      </a:r>
                    </a:p>
                  </a:txBody>
                  <a:tcPr marL="85725" marR="38100" marT="19050" marB="19050" anchor="ctr">
                    <a:solidFill>
                      <a:srgbClr val="F5F8FA"/>
                    </a:solidFill>
                  </a:tcPr>
                </a:tc>
                <a:tc>
                  <a:txBody>
                    <a:bodyPr wrap="none"/>
                    <a:lstStyle/>
                    <a:p>
                      <a:pPr algn="l"/>
                      <a:r>
                        <a:rPr sz="800" b="0">
                          <a:solidFill>
                            <a:srgbClr val="2E2E2E"/>
                          </a:solidFill>
                          <a:latin typeface="Calibri"/>
                        </a:rPr>
                        <a:t>1,059</a:t>
                      </a:r>
                    </a:p>
                  </a:txBody>
                  <a:tcPr marL="85725" marR="38100" marT="19050" marB="19050" anchor="ctr">
                    <a:solidFill>
                      <a:srgbClr val="F5F8FA"/>
                    </a:solidFill>
                  </a:tcPr>
                </a:tc>
                <a:tc>
                  <a:txBody>
                    <a:bodyPr wrap="none"/>
                    <a:lstStyle/>
                    <a:p>
                      <a:pPr algn="l"/>
                      <a:r>
                        <a:rPr sz="800" b="0">
                          <a:solidFill>
                            <a:srgbClr val="2E2E2E"/>
                          </a:solidFill>
                          <a:latin typeface="Calibri"/>
                        </a:rPr>
                        <a:t>11.0%</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0">
                          <a:solidFill>
                            <a:srgbClr val="2E2E2E"/>
                          </a:solidFill>
                          <a:latin typeface="Calibri"/>
                        </a:rPr>
                        <a:t>47.4</a:t>
                      </a:r>
                    </a:p>
                  </a:txBody>
                  <a:tcPr marL="85725" marR="38100" marT="19050" marB="19050" anchor="ctr">
                    <a:solidFill>
                      <a:srgbClr val="FFFFFF"/>
                    </a:solidFill>
                  </a:tcPr>
                </a:tc>
                <a:tc>
                  <a:txBody>
                    <a:bodyPr wrap="none"/>
                    <a:lstStyle/>
                    <a:p>
                      <a:pPr algn="l"/>
                      <a:r>
                        <a:rPr sz="800" b="0">
                          <a:solidFill>
                            <a:srgbClr val="2E2E2E"/>
                          </a:solidFill>
                          <a:latin typeface="Calibri"/>
                        </a:rPr>
                        <a:t>51.5</a:t>
                      </a:r>
                    </a:p>
                  </a:txBody>
                  <a:tcPr marL="85725" marR="38100" marT="19050" marB="19050" anchor="ctr">
                    <a:solidFill>
                      <a:srgbClr val="FFFFFF"/>
                    </a:solidFill>
                  </a:tcPr>
                </a:tc>
                <a:tc>
                  <a:txBody>
                    <a:bodyPr wrap="none"/>
                    <a:lstStyle/>
                    <a:p>
                      <a:pPr algn="l"/>
                      <a:r>
                        <a:rPr sz="800" b="0">
                          <a:solidFill>
                            <a:srgbClr val="2E2E2E"/>
                          </a:solidFill>
                          <a:latin typeface="Calibri"/>
                        </a:rPr>
                        <a:t>56.1</a:t>
                      </a:r>
                    </a:p>
                  </a:txBody>
                  <a:tcPr marL="85725" marR="38100" marT="19050" marB="19050" anchor="ctr">
                    <a:solidFill>
                      <a:srgbClr val="FFFFFF"/>
                    </a:solidFill>
                  </a:tcPr>
                </a:tc>
                <a:tc>
                  <a:txBody>
                    <a:bodyPr wrap="none"/>
                    <a:lstStyle/>
                    <a:p>
                      <a:pPr algn="l"/>
                      <a:r>
                        <a:rPr sz="800" b="0">
                          <a:solidFill>
                            <a:srgbClr val="2E2E2E"/>
                          </a:solidFill>
                          <a:latin typeface="Calibri"/>
                        </a:rPr>
                        <a:t>61.5</a:t>
                      </a:r>
                    </a:p>
                  </a:txBody>
                  <a:tcPr marL="85725" marR="38100" marT="19050" marB="19050" anchor="ctr">
                    <a:solidFill>
                      <a:srgbClr val="FFFFFF"/>
                    </a:solidFill>
                  </a:tcPr>
                </a:tc>
                <a:tc>
                  <a:txBody>
                    <a:bodyPr wrap="none"/>
                    <a:lstStyle/>
                    <a:p>
                      <a:pPr algn="l"/>
                      <a:r>
                        <a:rPr sz="800" b="0">
                          <a:solidFill>
                            <a:srgbClr val="2E2E2E"/>
                          </a:solidFill>
                          <a:latin typeface="Calibri"/>
                        </a:rPr>
                        <a:t>67.7</a:t>
                      </a:r>
                    </a:p>
                  </a:txBody>
                  <a:tcPr marL="85725" marR="38100" marT="19050" marB="19050" anchor="ctr">
                    <a:solidFill>
                      <a:srgbClr val="FFFFFF"/>
                    </a:solidFill>
                  </a:tcPr>
                </a:tc>
                <a:tc>
                  <a:txBody>
                    <a:bodyPr wrap="none"/>
                    <a:lstStyle/>
                    <a:p>
                      <a:pPr algn="l"/>
                      <a:r>
                        <a:rPr sz="800" b="0">
                          <a:solidFill>
                            <a:srgbClr val="2E2E2E"/>
                          </a:solidFill>
                          <a:latin typeface="Calibri"/>
                        </a:rPr>
                        <a:t>73.8</a:t>
                      </a:r>
                    </a:p>
                  </a:txBody>
                  <a:tcPr marL="85725" marR="38100" marT="19050" marB="19050" anchor="ctr">
                    <a:solidFill>
                      <a:srgbClr val="FFFFFF"/>
                    </a:solidFill>
                  </a:tcPr>
                </a:tc>
                <a:tc>
                  <a:txBody>
                    <a:bodyPr wrap="none"/>
                    <a:lstStyle/>
                    <a:p>
                      <a:pPr algn="l"/>
                      <a:r>
                        <a:rPr sz="800" b="0">
                          <a:solidFill>
                            <a:srgbClr val="2E2E2E"/>
                          </a:solidFill>
                          <a:latin typeface="Calibri"/>
                        </a:rPr>
                        <a:t>80.9</a:t>
                      </a:r>
                    </a:p>
                  </a:txBody>
                  <a:tcPr marL="85725" marR="38100" marT="19050" marB="19050" anchor="ctr">
                    <a:solidFill>
                      <a:srgbClr val="FFFFFF"/>
                    </a:solidFill>
                  </a:tcPr>
                </a:tc>
                <a:tc>
                  <a:txBody>
                    <a:bodyPr wrap="none"/>
                    <a:lstStyle/>
                    <a:p>
                      <a:pPr algn="l"/>
                      <a:r>
                        <a:rPr sz="800" b="0">
                          <a:solidFill>
                            <a:srgbClr val="2E2E2E"/>
                          </a:solidFill>
                          <a:latin typeface="Calibri"/>
                        </a:rPr>
                        <a:t>88.9</a:t>
                      </a:r>
                    </a:p>
                  </a:txBody>
                  <a:tcPr marL="85725" marR="38100" marT="19050" marB="19050" anchor="ctr">
                    <a:solidFill>
                      <a:srgbClr val="FFFFFF"/>
                    </a:solidFill>
                  </a:tcPr>
                </a:tc>
                <a:tc>
                  <a:txBody>
                    <a:bodyPr wrap="none"/>
                    <a:lstStyle/>
                    <a:p>
                      <a:pPr algn="l"/>
                      <a:r>
                        <a:rPr sz="800" b="0">
                          <a:solidFill>
                            <a:srgbClr val="2E2E2E"/>
                          </a:solidFill>
                          <a:latin typeface="Calibri"/>
                        </a:rPr>
                        <a:t>97.9</a:t>
                      </a:r>
                    </a:p>
                  </a:txBody>
                  <a:tcPr marL="85725" marR="38100" marT="19050" marB="19050" anchor="ctr">
                    <a:solidFill>
                      <a:srgbClr val="FFFFFF"/>
                    </a:solidFill>
                  </a:tcPr>
                </a:tc>
                <a:tc>
                  <a:txBody>
                    <a:bodyPr wrap="none"/>
                    <a:lstStyle/>
                    <a:p>
                      <a:pPr algn="l"/>
                      <a:r>
                        <a:rPr sz="800" b="0">
                          <a:solidFill>
                            <a:srgbClr val="2E2E2E"/>
                          </a:solidFill>
                          <a:latin typeface="Calibri"/>
                        </a:rPr>
                        <a:t>107.9</a:t>
                      </a:r>
                    </a:p>
                  </a:txBody>
                  <a:tcPr marL="85725" marR="38100" marT="19050" marB="19050" anchor="ctr">
                    <a:solidFill>
                      <a:srgbClr val="FFFFFF"/>
                    </a:solidFill>
                  </a:tcPr>
                </a:tc>
                <a:tc>
                  <a:txBody>
                    <a:bodyPr wrap="none"/>
                    <a:lstStyle/>
                    <a:p>
                      <a:pPr algn="l"/>
                      <a:r>
                        <a:rPr sz="800" b="0">
                          <a:solidFill>
                            <a:srgbClr val="2E2E2E"/>
                          </a:solidFill>
                          <a:latin typeface="Calibri"/>
                        </a:rPr>
                        <a:t>119.0</a:t>
                      </a:r>
                    </a:p>
                  </a:txBody>
                  <a:tcPr marL="85725" marR="38100" marT="19050" marB="19050" anchor="ctr">
                    <a:solidFill>
                      <a:srgbClr val="FFFFFF"/>
                    </a:solidFill>
                  </a:tcPr>
                </a:tc>
                <a:tc>
                  <a:txBody>
                    <a:bodyPr wrap="none"/>
                    <a:lstStyle/>
                    <a:p>
                      <a:pPr algn="l"/>
                      <a:r>
                        <a:rPr sz="800" b="0">
                          <a:solidFill>
                            <a:srgbClr val="2E2E2E"/>
                          </a:solidFill>
                          <a:latin typeface="Calibri"/>
                        </a:rPr>
                        <a:t>131.2</a:t>
                      </a:r>
                    </a:p>
                  </a:txBody>
                  <a:tcPr marL="85725" marR="38100" marT="19050" marB="19050" anchor="ctr">
                    <a:solidFill>
                      <a:srgbClr val="FFFFFF"/>
                    </a:solidFill>
                  </a:tcPr>
                </a:tc>
                <a:tc>
                  <a:txBody>
                    <a:bodyPr wrap="none"/>
                    <a:lstStyle/>
                    <a:p>
                      <a:pPr algn="l"/>
                      <a:r>
                        <a:rPr sz="800" b="0">
                          <a:solidFill>
                            <a:srgbClr val="2E2E2E"/>
                          </a:solidFill>
                          <a:latin typeface="Calibri"/>
                        </a:rPr>
                        <a:t>144.7</a:t>
                      </a:r>
                    </a:p>
                  </a:txBody>
                  <a:tcPr marL="85725" marR="38100" marT="19050" marB="19050" anchor="ctr">
                    <a:solidFill>
                      <a:srgbClr val="FFFFFF"/>
                    </a:solidFill>
                  </a:tcPr>
                </a:tc>
                <a:tc>
                  <a:txBody>
                    <a:bodyPr wrap="none"/>
                    <a:lstStyle/>
                    <a:p>
                      <a:pPr algn="l"/>
                      <a:r>
                        <a:rPr sz="800" b="0">
                          <a:solidFill>
                            <a:srgbClr val="2E2E2E"/>
                          </a:solidFill>
                          <a:latin typeface="Calibri"/>
                        </a:rPr>
                        <a:t>160.0</a:t>
                      </a:r>
                    </a:p>
                  </a:txBody>
                  <a:tcPr marL="85725" marR="38100" marT="19050" marB="19050" anchor="ctr">
                    <a:solidFill>
                      <a:srgbClr val="FFFFFF"/>
                    </a:solidFill>
                  </a:tcPr>
                </a:tc>
                <a:tc>
                  <a:txBody>
                    <a:bodyPr wrap="none"/>
                    <a:lstStyle/>
                    <a:p>
                      <a:pPr algn="l"/>
                      <a:r>
                        <a:rPr sz="800" b="0">
                          <a:solidFill>
                            <a:srgbClr val="2E2E2E"/>
                          </a:solidFill>
                          <a:latin typeface="Calibri"/>
                        </a:rPr>
                        <a:t>176.9</a:t>
                      </a:r>
                    </a:p>
                  </a:txBody>
                  <a:tcPr marL="85725" marR="38100" marT="19050" marB="19050" anchor="ctr">
                    <a:solidFill>
                      <a:srgbClr val="FFFFFF"/>
                    </a:solidFill>
                  </a:tcPr>
                </a:tc>
                <a:tc>
                  <a:txBody>
                    <a:bodyPr wrap="none"/>
                    <a:lstStyle/>
                    <a:p>
                      <a:pPr algn="l"/>
                      <a:r>
                        <a:rPr sz="800" b="0">
                          <a:solidFill>
                            <a:srgbClr val="2E2E2E"/>
                          </a:solidFill>
                          <a:latin typeface="Calibri"/>
                        </a:rPr>
                        <a:t>195.9</a:t>
                      </a:r>
                    </a:p>
                  </a:txBody>
                  <a:tcPr marL="85725" marR="38100" marT="19050" marB="19050" anchor="ctr">
                    <a:solidFill>
                      <a:srgbClr val="FFFFFF"/>
                    </a:solidFill>
                  </a:tcPr>
                </a:tc>
                <a:tc>
                  <a:txBody>
                    <a:bodyPr wrap="none"/>
                    <a:lstStyle/>
                    <a:p>
                      <a:pPr algn="l"/>
                      <a:r>
                        <a:rPr sz="800" b="0">
                          <a:solidFill>
                            <a:srgbClr val="2E2E2E"/>
                          </a:solidFill>
                          <a:latin typeface="Calibri"/>
                        </a:rPr>
                        <a:t>10.3%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0">
                          <a:solidFill>
                            <a:srgbClr val="2E2E2E"/>
                          </a:solidFill>
                          <a:latin typeface="Calibri"/>
                        </a:rPr>
                        <a:t>104.5</a:t>
                      </a:r>
                    </a:p>
                  </a:txBody>
                  <a:tcPr marL="85725" marR="38100" marT="19050" marB="19050" anchor="ctr">
                    <a:solidFill>
                      <a:srgbClr val="F5F8FA"/>
                    </a:solidFill>
                  </a:tcPr>
                </a:tc>
                <a:tc>
                  <a:txBody>
                    <a:bodyPr wrap="none"/>
                    <a:lstStyle/>
                    <a:p>
                      <a:pPr algn="l"/>
                      <a:r>
                        <a:rPr sz="800" b="0">
                          <a:solidFill>
                            <a:srgbClr val="2E2E2E"/>
                          </a:solidFill>
                          <a:latin typeface="Calibri"/>
                        </a:rPr>
                        <a:t>108.7</a:t>
                      </a:r>
                    </a:p>
                  </a:txBody>
                  <a:tcPr marL="85725" marR="38100" marT="19050" marB="19050" anchor="ctr">
                    <a:solidFill>
                      <a:srgbClr val="F5F8FA"/>
                    </a:solidFill>
                  </a:tcPr>
                </a:tc>
                <a:tc>
                  <a:txBody>
                    <a:bodyPr wrap="none"/>
                    <a:lstStyle/>
                    <a:p>
                      <a:pPr algn="l"/>
                      <a:r>
                        <a:rPr sz="800" b="0">
                          <a:solidFill>
                            <a:srgbClr val="2E2E2E"/>
                          </a:solidFill>
                          <a:latin typeface="Calibri"/>
                        </a:rPr>
                        <a:t>113.4</a:t>
                      </a:r>
                    </a:p>
                  </a:txBody>
                  <a:tcPr marL="85725" marR="38100" marT="19050" marB="19050" anchor="ctr">
                    <a:solidFill>
                      <a:srgbClr val="F5F8FA"/>
                    </a:solidFill>
                  </a:tcPr>
                </a:tc>
                <a:tc>
                  <a:txBody>
                    <a:bodyPr wrap="none"/>
                    <a:lstStyle/>
                    <a:p>
                      <a:pPr algn="l"/>
                      <a:r>
                        <a:rPr sz="800" b="0">
                          <a:solidFill>
                            <a:srgbClr val="2E2E2E"/>
                          </a:solidFill>
                          <a:latin typeface="Calibri"/>
                        </a:rPr>
                        <a:t>119.1</a:t>
                      </a:r>
                    </a:p>
                  </a:txBody>
                  <a:tcPr marL="85725" marR="38100" marT="19050" marB="19050" anchor="ctr">
                    <a:solidFill>
                      <a:srgbClr val="F5F8FA"/>
                    </a:solidFill>
                  </a:tcPr>
                </a:tc>
                <a:tc>
                  <a:txBody>
                    <a:bodyPr wrap="none"/>
                    <a:lstStyle/>
                    <a:p>
                      <a:pPr algn="l"/>
                      <a:r>
                        <a:rPr sz="800" b="0">
                          <a:solidFill>
                            <a:srgbClr val="2E2E2E"/>
                          </a:solidFill>
                          <a:latin typeface="Calibri"/>
                        </a:rPr>
                        <a:t>125.8</a:t>
                      </a:r>
                    </a:p>
                  </a:txBody>
                  <a:tcPr marL="85725" marR="38100" marT="19050" marB="19050" anchor="ctr">
                    <a:solidFill>
                      <a:srgbClr val="F5F8FA"/>
                    </a:solidFill>
                  </a:tcPr>
                </a:tc>
                <a:tc>
                  <a:txBody>
                    <a:bodyPr wrap="none"/>
                    <a:lstStyle/>
                    <a:p>
                      <a:pPr algn="l"/>
                      <a:r>
                        <a:rPr sz="800" b="0">
                          <a:solidFill>
                            <a:srgbClr val="2E2E2E"/>
                          </a:solidFill>
                          <a:latin typeface="Calibri"/>
                        </a:rPr>
                        <a:t>133.5</a:t>
                      </a:r>
                    </a:p>
                  </a:txBody>
                  <a:tcPr marL="85725" marR="38100" marT="19050" marB="19050" anchor="ctr">
                    <a:solidFill>
                      <a:srgbClr val="F5F8FA"/>
                    </a:solidFill>
                  </a:tcPr>
                </a:tc>
                <a:tc>
                  <a:txBody>
                    <a:bodyPr wrap="none"/>
                    <a:lstStyle/>
                    <a:p>
                      <a:pPr algn="l"/>
                      <a:r>
                        <a:rPr sz="800" b="0">
                          <a:solidFill>
                            <a:srgbClr val="2E2E2E"/>
                          </a:solidFill>
                          <a:latin typeface="Calibri"/>
                        </a:rPr>
                        <a:t>142.5</a:t>
                      </a:r>
                    </a:p>
                  </a:txBody>
                  <a:tcPr marL="85725" marR="38100" marT="19050" marB="19050" anchor="ctr">
                    <a:solidFill>
                      <a:srgbClr val="F5F8FA"/>
                    </a:solidFill>
                  </a:tcPr>
                </a:tc>
                <a:tc>
                  <a:txBody>
                    <a:bodyPr wrap="none"/>
                    <a:lstStyle/>
                    <a:p>
                      <a:pPr algn="l"/>
                      <a:r>
                        <a:rPr sz="800" b="0">
                          <a:solidFill>
                            <a:srgbClr val="2E2E2E"/>
                          </a:solidFill>
                          <a:latin typeface="Calibri"/>
                        </a:rPr>
                        <a:t>152.4</a:t>
                      </a:r>
                    </a:p>
                  </a:txBody>
                  <a:tcPr marL="85725" marR="38100" marT="19050" marB="19050" anchor="ctr">
                    <a:solidFill>
                      <a:srgbClr val="F5F8FA"/>
                    </a:solidFill>
                  </a:tcPr>
                </a:tc>
                <a:tc>
                  <a:txBody>
                    <a:bodyPr wrap="none"/>
                    <a:lstStyle/>
                    <a:p>
                      <a:pPr algn="l"/>
                      <a:r>
                        <a:rPr sz="800" b="0">
                          <a:solidFill>
                            <a:srgbClr val="2E2E2E"/>
                          </a:solidFill>
                          <a:latin typeface="Calibri"/>
                        </a:rPr>
                        <a:t>163.4</a:t>
                      </a:r>
                    </a:p>
                  </a:txBody>
                  <a:tcPr marL="85725" marR="38100" marT="19050" marB="19050" anchor="ctr">
                    <a:solidFill>
                      <a:srgbClr val="F5F8FA"/>
                    </a:solidFill>
                  </a:tcPr>
                </a:tc>
                <a:tc>
                  <a:txBody>
                    <a:bodyPr wrap="none"/>
                    <a:lstStyle/>
                    <a:p>
                      <a:pPr algn="l"/>
                      <a:r>
                        <a:rPr sz="800" b="0">
                          <a:solidFill>
                            <a:srgbClr val="2E2E2E"/>
                          </a:solidFill>
                          <a:latin typeface="Calibri"/>
                        </a:rPr>
                        <a:t>175.3</a:t>
                      </a:r>
                    </a:p>
                  </a:txBody>
                  <a:tcPr marL="85725" marR="38100" marT="19050" marB="19050" anchor="ctr">
                    <a:solidFill>
                      <a:srgbClr val="F5F8FA"/>
                    </a:solidFill>
                  </a:tcPr>
                </a:tc>
                <a:tc>
                  <a:txBody>
                    <a:bodyPr wrap="none"/>
                    <a:lstStyle/>
                    <a:p>
                      <a:pPr algn="l"/>
                      <a:r>
                        <a:rPr sz="800" b="0">
                          <a:solidFill>
                            <a:srgbClr val="2E2E2E"/>
                          </a:solidFill>
                          <a:latin typeface="Calibri"/>
                        </a:rPr>
                        <a:t>188.1</a:t>
                      </a:r>
                    </a:p>
                  </a:txBody>
                  <a:tcPr marL="85725" marR="38100" marT="19050" marB="19050" anchor="ctr">
                    <a:solidFill>
                      <a:srgbClr val="F5F8FA"/>
                    </a:solidFill>
                  </a:tcPr>
                </a:tc>
                <a:tc>
                  <a:txBody>
                    <a:bodyPr wrap="none"/>
                    <a:lstStyle/>
                    <a:p>
                      <a:pPr algn="l"/>
                      <a:r>
                        <a:rPr sz="800" b="0">
                          <a:solidFill>
                            <a:srgbClr val="2E2E2E"/>
                          </a:solidFill>
                          <a:latin typeface="Calibri"/>
                        </a:rPr>
                        <a:t>202.0</a:t>
                      </a:r>
                    </a:p>
                  </a:txBody>
                  <a:tcPr marL="85725" marR="38100" marT="19050" marB="19050" anchor="ctr">
                    <a:solidFill>
                      <a:srgbClr val="F5F8FA"/>
                    </a:solidFill>
                  </a:tcPr>
                </a:tc>
                <a:tc>
                  <a:txBody>
                    <a:bodyPr wrap="none"/>
                    <a:lstStyle/>
                    <a:p>
                      <a:pPr algn="l"/>
                      <a:r>
                        <a:rPr sz="800" b="0">
                          <a:solidFill>
                            <a:srgbClr val="2E2E2E"/>
                          </a:solidFill>
                          <a:latin typeface="Calibri"/>
                        </a:rPr>
                        <a:t>216.8</a:t>
                      </a:r>
                    </a:p>
                  </a:txBody>
                  <a:tcPr marL="85725" marR="38100" marT="19050" marB="19050" anchor="ctr">
                    <a:solidFill>
                      <a:srgbClr val="F5F8FA"/>
                    </a:solidFill>
                  </a:tcPr>
                </a:tc>
                <a:tc>
                  <a:txBody>
                    <a:bodyPr wrap="none"/>
                    <a:lstStyle/>
                    <a:p>
                      <a:pPr algn="l"/>
                      <a:r>
                        <a:rPr sz="800" b="0">
                          <a:solidFill>
                            <a:srgbClr val="2E2E2E"/>
                          </a:solidFill>
                          <a:latin typeface="Calibri"/>
                        </a:rPr>
                        <a:t>233.3</a:t>
                      </a:r>
                    </a:p>
                  </a:txBody>
                  <a:tcPr marL="85725" marR="38100" marT="19050" marB="19050" anchor="ctr">
                    <a:solidFill>
                      <a:srgbClr val="F5F8FA"/>
                    </a:solidFill>
                  </a:tcPr>
                </a:tc>
                <a:tc>
                  <a:txBody>
                    <a:bodyPr wrap="none"/>
                    <a:lstStyle/>
                    <a:p>
                      <a:pPr algn="l"/>
                      <a:r>
                        <a:rPr sz="800" b="0">
                          <a:solidFill>
                            <a:srgbClr val="2E2E2E"/>
                          </a:solidFill>
                          <a:latin typeface="Calibri"/>
                        </a:rPr>
                        <a:t>251.2</a:t>
                      </a:r>
                    </a:p>
                  </a:txBody>
                  <a:tcPr marL="85725" marR="38100" marT="19050" marB="19050" anchor="ctr">
                    <a:solidFill>
                      <a:srgbClr val="F5F8FA"/>
                    </a:solidFill>
                  </a:tcPr>
                </a:tc>
                <a:tc>
                  <a:txBody>
                    <a:bodyPr wrap="none"/>
                    <a:lstStyle/>
                    <a:p>
                      <a:pPr algn="l"/>
                      <a:r>
                        <a:rPr sz="800" b="0">
                          <a:solidFill>
                            <a:srgbClr val="2E2E2E"/>
                          </a:solidFill>
                          <a:latin typeface="Calibri"/>
                        </a:rPr>
                        <a:t>270.9</a:t>
                      </a:r>
                    </a:p>
                  </a:txBody>
                  <a:tcPr marL="85725" marR="38100" marT="19050" marB="19050" anchor="ctr">
                    <a:solidFill>
                      <a:srgbClr val="F5F8FA"/>
                    </a:solidFill>
                  </a:tcPr>
                </a:tc>
                <a:tc>
                  <a:txBody>
                    <a:bodyPr wrap="none"/>
                    <a:lstStyle/>
                    <a:p>
                      <a:pPr algn="l"/>
                      <a:r>
                        <a:rPr sz="800" b="0">
                          <a:solidFill>
                            <a:srgbClr val="2E2E2E"/>
                          </a:solidFill>
                          <a:latin typeface="Calibri"/>
                        </a:rPr>
                        <a:t>7.3%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40576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333875"/>
            <a:ext cx="11906250" cy="2390775"/>
          </a:xfrm>
          <a:prstGeom prst="roundRect">
            <a:avLst>
              <a:gd name="adj" fmla="val 318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41960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End User</a:t>
            </a:r>
          </a:p>
        </p:txBody>
      </p:sp>
      <p:sp>
        <p:nvSpPr>
          <p:cNvPr id="18" name="Rectangle 17"/>
          <p:cNvSpPr/>
          <p:nvPr/>
        </p:nvSpPr>
        <p:spPr>
          <a:xfrm>
            <a:off x="276225" y="465772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743450"/>
            <a:ext cx="11639550" cy="19050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&amp; Clinics' is the largest end user at 35.3% of 2036 value (1,741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'Home &amp; Self-Testing' grows fastest 11.0%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'Home &amp; Self-Testing' (+528 BPS) and away from 'Hospitals &amp; Clinics' (-356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6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End User</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End User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End User ·  2021 / 2026 / 2036 (US$ Mn)  ·  right axis = BPS share shift</a:t>
            </a:r>
          </a:p>
        </p:txBody>
      </p:sp>
      <p:graphicFrame>
        <p:nvGraphicFramePr>
          <p:cNvPr id="14" name="Chart 13"/>
          <p:cNvGraphicFramePr>
            <a:graphicFrameLocks noGrp="1"/>
          </p:cNvGraphicFramePr>
          <p:nvPr/>
        </p:nvGraphicFramePr>
        <p:xfrm>
          <a:off x="238125" y="1285875"/>
          <a:ext cx="5624132" cy="538162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295400"/>
            <a:ext cx="1586293" cy="186690"/>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501140"/>
            <a:ext cx="0" cy="430911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655695"/>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5246370"/>
            <a:ext cx="419100" cy="133350"/>
          </a:xfrm>
          <a:prstGeom prst="rect">
            <a:avLst/>
          </a:prstGeom>
          <a:noFill/>
        </p:spPr>
        <p:txBody>
          <a:bodyPr wrap="none" lIns="0" rIns="0" tIns="0" bIns="0" anchor="ctr">
            <a:spAutoFit/>
          </a:bodyPr>
          <a:lstStyle/>
          <a:p>
            <a:pPr algn="l"/>
            <a:r>
              <a:rPr sz="750" b="0">
                <a:solidFill>
                  <a:srgbClr val="6C7A89"/>
                </a:solidFill>
                <a:latin typeface="Calibri"/>
              </a:rPr>
              <a:t>-528</a:t>
            </a:r>
          </a:p>
        </p:txBody>
      </p:sp>
      <p:sp>
        <p:nvSpPr>
          <p:cNvPr id="19" name="TextBox 18"/>
          <p:cNvSpPr txBox="1"/>
          <p:nvPr/>
        </p:nvSpPr>
        <p:spPr>
          <a:xfrm>
            <a:off x="7038975" y="3589020"/>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1931670"/>
            <a:ext cx="419100" cy="133350"/>
          </a:xfrm>
          <a:prstGeom prst="rect">
            <a:avLst/>
          </a:prstGeom>
          <a:noFill/>
        </p:spPr>
        <p:txBody>
          <a:bodyPr wrap="none" lIns="0" rIns="0" tIns="0" bIns="0" anchor="ctr">
            <a:spAutoFit/>
          </a:bodyPr>
          <a:lstStyle/>
          <a:p>
            <a:pPr algn="l"/>
            <a:r>
              <a:rPr sz="750" b="0">
                <a:solidFill>
                  <a:srgbClr val="6C7A89"/>
                </a:solidFill>
                <a:latin typeface="Calibri"/>
              </a:rPr>
              <a:t>+528</a:t>
            </a:r>
          </a:p>
        </p:txBody>
      </p:sp>
      <p:sp>
        <p:nvSpPr>
          <p:cNvPr id="21" name="Oval 20"/>
          <p:cNvSpPr/>
          <p:nvPr/>
        </p:nvSpPr>
        <p:spPr>
          <a:xfrm>
            <a:off x="5971794" y="1955482"/>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370864"/>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3706897"/>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3913171"/>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971794" y="399988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971794" y="4730698"/>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81332" y="1922145"/>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+528</a:t>
            </a:r>
          </a:p>
        </p:txBody>
      </p:sp>
      <p:sp>
        <p:nvSpPr>
          <p:cNvPr id="28" name="TextBox 27"/>
          <p:cNvSpPr txBox="1"/>
          <p:nvPr/>
        </p:nvSpPr>
        <p:spPr>
          <a:xfrm>
            <a:off x="6081332" y="3337527"/>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+77</a:t>
            </a:r>
          </a:p>
        </p:txBody>
      </p:sp>
      <p:sp>
        <p:nvSpPr>
          <p:cNvPr id="29" name="TextBox 28"/>
          <p:cNvSpPr txBox="1"/>
          <p:nvPr/>
        </p:nvSpPr>
        <p:spPr>
          <a:xfrm>
            <a:off x="6081332" y="367355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-30</a:t>
            </a:r>
          </a:p>
        </p:txBody>
      </p:sp>
      <p:sp>
        <p:nvSpPr>
          <p:cNvPr id="30" name="TextBox 29"/>
          <p:cNvSpPr txBox="1"/>
          <p:nvPr/>
        </p:nvSpPr>
        <p:spPr>
          <a:xfrm>
            <a:off x="6081332" y="3879834"/>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-96</a:t>
            </a:r>
          </a:p>
        </p:txBody>
      </p:sp>
      <p:sp>
        <p:nvSpPr>
          <p:cNvPr id="31" name="TextBox 30"/>
          <p:cNvSpPr txBox="1"/>
          <p:nvPr/>
        </p:nvSpPr>
        <p:spPr>
          <a:xfrm>
            <a:off x="6081332" y="4003659"/>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-123</a:t>
            </a:r>
          </a:p>
        </p:txBody>
      </p:sp>
      <p:sp>
        <p:nvSpPr>
          <p:cNvPr id="32" name="TextBox 31"/>
          <p:cNvSpPr txBox="1"/>
          <p:nvPr/>
        </p:nvSpPr>
        <p:spPr>
          <a:xfrm>
            <a:off x="6081332" y="469736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-356</a:t>
            </a:r>
          </a:p>
        </p:txBody>
      </p:sp>
      <p:sp>
        <p:nvSpPr>
          <p:cNvPr id="33" name="Rounded Rectangle 32"/>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End User</a:t>
            </a:r>
          </a:p>
        </p:txBody>
      </p:sp>
      <p:sp>
        <p:nvSpPr>
          <p:cNvPr id="35" name="Rectangle 34"/>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'Home &amp; Self-Testing' gains the most share +528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'Hospitals &amp; Clinics' cedes the most -356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'Home &amp; Self-Testing' is the fastest-growing end user at 11.0%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7" name="Rectangle 3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9" name="Rounded Rectangle 38">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0" name="Rounded Rectangle 39">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41" name="Rounded Rectangle 40">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End User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End User,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657475"/>
          </a:xfrm>
          <a:prstGeom prst="roundRect">
            <a:avLst>
              <a:gd name="adj" fmla="val 286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End User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2668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1">
                          <a:solidFill>
                            <a:srgbClr val="A86F00"/>
                          </a:solidFill>
                          <a:latin typeface="Calibri"/>
                        </a:rPr>
                        <a:t>▶ 4.8%</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9.8%</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9.7%</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r>
            </a:tbl>
          </a:graphicData>
        </a:graphic>
      </p:graphicFrame>
      <p:sp>
        <p:nvSpPr>
          <p:cNvPr id="15" name="TextBox 14"/>
          <p:cNvSpPr txBox="1"/>
          <p:nvPr/>
        </p:nvSpPr>
        <p:spPr>
          <a:xfrm>
            <a:off x="219075" y="33718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648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705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End User (%)  ·  light = lower, dark = higher growth</a:t>
            </a:r>
          </a:p>
        </p:txBody>
      </p:sp>
      <p:sp>
        <p:nvSpPr>
          <p:cNvPr id="18" name="TextBox 17"/>
          <p:cNvSpPr txBox="1"/>
          <p:nvPr/>
        </p:nvSpPr>
        <p:spPr>
          <a:xfrm>
            <a:off x="185737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40767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Hospitals &amp; Clinics</a:t>
            </a:r>
          </a:p>
        </p:txBody>
      </p:sp>
      <p:sp>
        <p:nvSpPr>
          <p:cNvPr id="34" name="Rectangle 33"/>
          <p:cNvSpPr/>
          <p:nvPr/>
        </p:nvSpPr>
        <p:spPr>
          <a:xfrm>
            <a:off x="1857375" y="4076700"/>
            <a:ext cx="643890" cy="43180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4076700"/>
            <a:ext cx="643890" cy="431800"/>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4076700"/>
            <a:ext cx="643890" cy="431800"/>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4076700"/>
            <a:ext cx="643890" cy="431800"/>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4076700"/>
            <a:ext cx="643890" cy="431800"/>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4076700"/>
            <a:ext cx="643890" cy="431800"/>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4076700"/>
            <a:ext cx="643890" cy="431800"/>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4076700"/>
            <a:ext cx="643890" cy="431800"/>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4076700"/>
            <a:ext cx="643890" cy="431800"/>
          </a:xfrm>
          <a:prstGeom prst="rect">
            <a:avLst/>
          </a:prstGeom>
          <a:solidFill>
            <a:srgbClr val="D8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4076700"/>
            <a:ext cx="643890" cy="431800"/>
          </a:xfrm>
          <a:prstGeom prst="rect">
            <a:avLst/>
          </a:prstGeom>
          <a:solidFill>
            <a:srgbClr val="DE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4076700"/>
            <a:ext cx="643890" cy="431800"/>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4076700"/>
            <a:ext cx="643890" cy="431800"/>
          </a:xfrm>
          <a:prstGeom prst="rect">
            <a:avLst/>
          </a:prstGeom>
          <a:solidFill>
            <a:srgbClr val="E8F5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4076700"/>
            <a:ext cx="643890" cy="431800"/>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4076700"/>
            <a:ext cx="643890" cy="431800"/>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4076700"/>
            <a:ext cx="643890" cy="431800"/>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085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Diagnostic Laboratories</a:t>
            </a:r>
          </a:p>
        </p:txBody>
      </p:sp>
      <p:sp>
        <p:nvSpPr>
          <p:cNvPr id="50" name="Rectangle 49"/>
          <p:cNvSpPr/>
          <p:nvPr/>
        </p:nvSpPr>
        <p:spPr>
          <a:xfrm>
            <a:off x="1857375" y="4508500"/>
            <a:ext cx="643890" cy="431800"/>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08500"/>
            <a:ext cx="643890" cy="431800"/>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08500"/>
            <a:ext cx="643890" cy="431800"/>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08500"/>
            <a:ext cx="643890" cy="431800"/>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08500"/>
            <a:ext cx="643890" cy="431800"/>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08500"/>
            <a:ext cx="643890" cy="431800"/>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08500"/>
            <a:ext cx="643890" cy="431800"/>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08500"/>
            <a:ext cx="643890" cy="431800"/>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085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08500"/>
            <a:ext cx="643890" cy="431800"/>
          </a:xfrm>
          <a:prstGeom prst="rect">
            <a:avLst/>
          </a:prstGeom>
          <a:solidFill>
            <a:srgbClr val="D2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08500"/>
            <a:ext cx="643890" cy="431800"/>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08500"/>
            <a:ext cx="643890" cy="431800"/>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08500"/>
            <a:ext cx="643890" cy="431800"/>
          </a:xfrm>
          <a:prstGeom prst="rect">
            <a:avLst/>
          </a:prstGeom>
          <a:solidFill>
            <a:srgbClr val="DDEC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08500"/>
            <a:ext cx="643890" cy="431800"/>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08500"/>
            <a:ext cx="643890" cy="431800"/>
          </a:xfrm>
          <a:prstGeom prst="rect">
            <a:avLst/>
          </a:prstGeom>
          <a:solidFill>
            <a:srgbClr val="E3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49403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Physician Offices &amp; Outpatient Centers</a:t>
            </a:r>
          </a:p>
        </p:txBody>
      </p:sp>
      <p:sp>
        <p:nvSpPr>
          <p:cNvPr id="66" name="Rectangle 65"/>
          <p:cNvSpPr/>
          <p:nvPr/>
        </p:nvSpPr>
        <p:spPr>
          <a:xfrm>
            <a:off x="1857375" y="4940300"/>
            <a:ext cx="643890" cy="431800"/>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4940300"/>
            <a:ext cx="643890" cy="431800"/>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4940300"/>
            <a:ext cx="643890" cy="431800"/>
          </a:xfrm>
          <a:prstGeom prst="rect">
            <a:avLst/>
          </a:prstGeom>
          <a:solidFill>
            <a:srgbClr val="E9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4940300"/>
            <a:ext cx="643890" cy="431800"/>
          </a:xfrm>
          <a:prstGeom prst="rect">
            <a:avLst/>
          </a:prstGeom>
          <a:solidFill>
            <a:srgbClr val="DF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4940300"/>
            <a:ext cx="643890" cy="431800"/>
          </a:xfrm>
          <a:prstGeom prst="rect">
            <a:avLst/>
          </a:prstGeom>
          <a:solidFill>
            <a:srgbClr val="D3E4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49403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4940300"/>
            <a:ext cx="643890" cy="431800"/>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4940300"/>
            <a:ext cx="643890" cy="431800"/>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4940300"/>
            <a:ext cx="643890" cy="431800"/>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4940300"/>
            <a:ext cx="643890" cy="431800"/>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4940300"/>
            <a:ext cx="643890" cy="431800"/>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4940300"/>
            <a:ext cx="643890" cy="431800"/>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4940300"/>
            <a:ext cx="643890" cy="431800"/>
          </a:xfrm>
          <a:prstGeom prst="rect">
            <a:avLst/>
          </a:prstGeom>
          <a:solidFill>
            <a:srgbClr val="E1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4940300"/>
            <a:ext cx="643890" cy="431800"/>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4940300"/>
            <a:ext cx="643890" cy="431800"/>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3721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Home &amp; Self-Testing</a:t>
            </a:r>
          </a:p>
        </p:txBody>
      </p:sp>
      <p:sp>
        <p:nvSpPr>
          <p:cNvPr id="82" name="Rectangle 81"/>
          <p:cNvSpPr/>
          <p:nvPr/>
        </p:nvSpPr>
        <p:spPr>
          <a:xfrm>
            <a:off x="1857375" y="5372100"/>
            <a:ext cx="643890" cy="431800"/>
          </a:xfrm>
          <a:prstGeom prst="rect">
            <a:avLst/>
          </a:prstGeom>
          <a:solidFill>
            <a:srgbClr val="B5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372100"/>
            <a:ext cx="643890" cy="431800"/>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372100"/>
            <a:ext cx="643890" cy="431800"/>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372100"/>
            <a:ext cx="643890" cy="431800"/>
          </a:xfrm>
          <a:prstGeom prst="rect">
            <a:avLst/>
          </a:prstGeom>
          <a:solidFill>
            <a:srgbClr val="61A2C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372100"/>
            <a:ext cx="643890" cy="431800"/>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372100"/>
            <a:ext cx="643890" cy="431800"/>
          </a:xfrm>
          <a:prstGeom prst="rect">
            <a:avLst/>
          </a:prstGeom>
          <a:solidFill>
            <a:srgbClr val="12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372100"/>
            <a:ext cx="643890" cy="431800"/>
          </a:xfrm>
          <a:prstGeom prst="rect">
            <a:avLst/>
          </a:prstGeom>
          <a:solidFill>
            <a:srgbClr val="0D659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372100"/>
            <a:ext cx="643890" cy="431800"/>
          </a:xfrm>
          <a:prstGeom prst="rect">
            <a:avLst/>
          </a:prstGeom>
          <a:solidFill>
            <a:srgbClr val="0D5A8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372100"/>
            <a:ext cx="643890" cy="431800"/>
          </a:xfrm>
          <a:prstGeom prst="rect">
            <a:avLst/>
          </a:prstGeom>
          <a:solidFill>
            <a:srgbClr val="0D5D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372100"/>
            <a:ext cx="643890" cy="431800"/>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372100"/>
            <a:ext cx="643890" cy="431800"/>
          </a:xfrm>
          <a:prstGeom prst="rect">
            <a:avLst/>
          </a:prstGeom>
          <a:solidFill>
            <a:srgbClr val="0D669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372100"/>
            <a:ext cx="643890" cy="431800"/>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372100"/>
            <a:ext cx="643890" cy="431800"/>
          </a:xfrm>
          <a:prstGeom prst="rect">
            <a:avLst/>
          </a:prstGeom>
          <a:solidFill>
            <a:srgbClr val="0D5F9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372100"/>
            <a:ext cx="643890" cy="431800"/>
          </a:xfrm>
          <a:prstGeom prst="rect">
            <a:avLst/>
          </a:prstGeom>
          <a:solidFill>
            <a:srgbClr val="0D619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372100"/>
            <a:ext cx="643890" cy="431800"/>
          </a:xfrm>
          <a:prstGeom prst="rect">
            <a:avLst/>
          </a:prstGeom>
          <a:solidFill>
            <a:srgbClr val="0D588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8125" y="58039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Research &amp; Academic Institutions</a:t>
            </a:r>
          </a:p>
        </p:txBody>
      </p:sp>
      <p:sp>
        <p:nvSpPr>
          <p:cNvPr id="98" name="Rectangle 97"/>
          <p:cNvSpPr/>
          <p:nvPr/>
        </p:nvSpPr>
        <p:spPr>
          <a:xfrm>
            <a:off x="1857375" y="5803900"/>
            <a:ext cx="643890" cy="431800"/>
          </a:xfrm>
          <a:prstGeom prst="rect">
            <a:avLst/>
          </a:prstGeom>
          <a:solidFill>
            <a:srgbClr val="0E6BA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501265" y="5803900"/>
            <a:ext cx="643890" cy="431800"/>
          </a:xfrm>
          <a:prstGeom prst="rect">
            <a:avLst/>
          </a:prstGeom>
          <a:solidFill>
            <a:srgbClr val="0D5E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145155" y="5803900"/>
            <a:ext cx="643890" cy="431800"/>
          </a:xfrm>
          <a:prstGeom prst="rect">
            <a:avLst/>
          </a:prstGeom>
          <a:solidFill>
            <a:srgbClr val="0C4A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789045" y="5803900"/>
            <a:ext cx="643890" cy="43180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432935" y="5803900"/>
            <a:ext cx="643890" cy="431800"/>
          </a:xfrm>
          <a:prstGeom prst="rect">
            <a:avLst/>
          </a:prstGeom>
          <a:solidFill>
            <a:srgbClr val="2580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076825" y="5803900"/>
            <a:ext cx="643890" cy="431800"/>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720715" y="5803900"/>
            <a:ext cx="643890" cy="431800"/>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364605" y="5803900"/>
            <a:ext cx="643890" cy="431800"/>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08495" y="5803900"/>
            <a:ext cx="643890" cy="431800"/>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652385" y="5803900"/>
            <a:ext cx="643890" cy="431800"/>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296275" y="5803900"/>
            <a:ext cx="643890" cy="431800"/>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940165" y="5803900"/>
            <a:ext cx="643890" cy="431800"/>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84055" y="5803900"/>
            <a:ext cx="643890" cy="431800"/>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227945" y="5803900"/>
            <a:ext cx="643890" cy="431800"/>
          </a:xfrm>
          <a:prstGeom prst="rect">
            <a:avLst/>
          </a:prstGeom>
          <a:solidFill>
            <a:srgbClr val="4492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871835" y="5803900"/>
            <a:ext cx="643890" cy="431800"/>
          </a:xfrm>
          <a:prstGeom prst="rect">
            <a:avLst/>
          </a:prstGeom>
          <a:solidFill>
            <a:srgbClr val="48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38125" y="62357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Public Health &amp; Screening Programs</a:t>
            </a:r>
          </a:p>
        </p:txBody>
      </p:sp>
      <p:sp>
        <p:nvSpPr>
          <p:cNvPr id="114" name="Rectangle 113"/>
          <p:cNvSpPr/>
          <p:nvPr/>
        </p:nvSpPr>
        <p:spPr>
          <a:xfrm>
            <a:off x="1857375" y="6235700"/>
            <a:ext cx="643890" cy="431800"/>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501265" y="6235700"/>
            <a:ext cx="643890" cy="431800"/>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145155" y="6235700"/>
            <a:ext cx="643890" cy="431800"/>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789045" y="6235700"/>
            <a:ext cx="643890" cy="431800"/>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432935" y="6235700"/>
            <a:ext cx="643890" cy="431800"/>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076825" y="6235700"/>
            <a:ext cx="643890" cy="431800"/>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720715" y="6235700"/>
            <a:ext cx="643890" cy="431800"/>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364605" y="6235700"/>
            <a:ext cx="643890" cy="431800"/>
          </a:xfrm>
          <a:prstGeom prst="rect">
            <a:avLst/>
          </a:prstGeom>
          <a:solidFill>
            <a:srgbClr val="C3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008495" y="62357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652385" y="6235700"/>
            <a:ext cx="643890" cy="431800"/>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296275" y="6235700"/>
            <a:ext cx="643890" cy="431800"/>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8940165" y="6235700"/>
            <a:ext cx="643890" cy="431800"/>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584055" y="6235700"/>
            <a:ext cx="643890" cy="431800"/>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227945" y="6235700"/>
            <a:ext cx="643890" cy="431800"/>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871835" y="6235700"/>
            <a:ext cx="643890" cy="431800"/>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4114800"/>
            <a:ext cx="104775" cy="7048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4177665"/>
            <a:ext cx="104775" cy="70485"/>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4240530"/>
            <a:ext cx="104775" cy="70485"/>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4303395"/>
            <a:ext cx="104775" cy="70485"/>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4366260"/>
            <a:ext cx="104775" cy="70485"/>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4429125"/>
            <a:ext cx="104775" cy="70485"/>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4491990"/>
            <a:ext cx="104775" cy="70485"/>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4554855"/>
            <a:ext cx="104775" cy="70485"/>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4617720"/>
            <a:ext cx="104775" cy="70485"/>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1572875" y="4680585"/>
            <a:ext cx="104775" cy="70485"/>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1572875" y="4743450"/>
            <a:ext cx="104775" cy="70485"/>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1572875" y="4806315"/>
            <a:ext cx="104775" cy="70485"/>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1572875" y="4869180"/>
            <a:ext cx="104775" cy="70485"/>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1572875" y="4932045"/>
            <a:ext cx="104775" cy="70485"/>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1572875" y="4994910"/>
            <a:ext cx="104775" cy="70485"/>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1572875" y="5057775"/>
            <a:ext cx="104775" cy="70485"/>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1572875" y="5120640"/>
            <a:ext cx="104775" cy="70485"/>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1572875" y="5183505"/>
            <a:ext cx="104775" cy="70485"/>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1572875" y="5246370"/>
            <a:ext cx="104775" cy="70485"/>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1572875" y="5309235"/>
            <a:ext cx="104775" cy="70485"/>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1572875" y="5372100"/>
            <a:ext cx="104775" cy="70485"/>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1572875" y="5434965"/>
            <a:ext cx="104775" cy="70485"/>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1572875" y="5497830"/>
            <a:ext cx="104775" cy="70485"/>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1572875" y="5560695"/>
            <a:ext cx="104775" cy="70485"/>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572875" y="5623560"/>
            <a:ext cx="104775" cy="70485"/>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1572875" y="5686425"/>
            <a:ext cx="104775" cy="70485"/>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1572875" y="5749290"/>
            <a:ext cx="104775" cy="70485"/>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1572875" y="5812155"/>
            <a:ext cx="104775" cy="70485"/>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1572875" y="5875020"/>
            <a:ext cx="104775" cy="70485"/>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1572875" y="5937885"/>
            <a:ext cx="104775" cy="70485"/>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1572875" y="6000750"/>
            <a:ext cx="104775" cy="70485"/>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1572875" y="6063615"/>
            <a:ext cx="104775" cy="70485"/>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1572875" y="6126480"/>
            <a:ext cx="104775" cy="70485"/>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572875" y="6189345"/>
            <a:ext cx="104775" cy="70485"/>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1572875" y="6252210"/>
            <a:ext cx="104775" cy="70485"/>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1572875" y="6315075"/>
            <a:ext cx="104775" cy="70485"/>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1572875" y="6377940"/>
            <a:ext cx="104775" cy="70485"/>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1572875" y="6440805"/>
            <a:ext cx="104775" cy="70485"/>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1572875" y="6503670"/>
            <a:ext cx="104775" cy="70485"/>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1572875" y="6566535"/>
            <a:ext cx="104775" cy="70485"/>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1572875" y="4114800"/>
            <a:ext cx="104775" cy="25146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687175" y="4048125"/>
            <a:ext cx="276225" cy="133350"/>
          </a:xfrm>
          <a:prstGeom prst="rect">
            <a:avLst/>
          </a:prstGeom>
          <a:noFill/>
        </p:spPr>
        <p:txBody>
          <a:bodyPr wrap="none" lIns="0" rIns="0" tIns="0" bIns="0" anchor="ctr">
            <a:spAutoFit/>
          </a:bodyPr>
          <a:lstStyle/>
          <a:p>
            <a:pPr algn="l"/>
            <a:r>
              <a:rPr sz="700" b="0">
                <a:solidFill>
                  <a:srgbClr val="6C7A89"/>
                </a:solidFill>
                <a:latin typeface="Calibri"/>
              </a:rPr>
              <a:t>11%</a:t>
            </a:r>
          </a:p>
        </p:txBody>
      </p:sp>
      <p:sp>
        <p:nvSpPr>
          <p:cNvPr id="171" name="TextBox 170"/>
          <p:cNvSpPr txBox="1"/>
          <p:nvPr/>
        </p:nvSpPr>
        <p:spPr>
          <a:xfrm>
            <a:off x="11687175" y="5305425"/>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72" name="TextBox 171"/>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5%</a:t>
            </a:r>
          </a:p>
        </p:txBody>
      </p:sp>
      <p:sp>
        <p:nvSpPr>
          <p:cNvPr id="173" name="Rectangle 17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5" name="Rounded Rectangle 17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6" name="Rounded Rectangle 17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7" name="Rounded Rectangle 17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End User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End User,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657475"/>
          </a:xfrm>
          <a:prstGeom prst="roundRect">
            <a:avLst>
              <a:gd name="adj" fmla="val 286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End User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2668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1">
                          <a:solidFill>
                            <a:srgbClr val="A86F00"/>
                          </a:solidFill>
                          <a:latin typeface="Calibri"/>
                        </a:rPr>
                        <a:t>▶ 3.4%</a:t>
                      </a:r>
                    </a:p>
                  </a:txBody>
                  <a:tcPr marL="85725" marR="38100" marT="19050" marB="19050" anchor="ctr">
                    <a:solidFill>
                      <a:srgbClr val="FFFFFF"/>
                    </a:solidFill>
                  </a:tcPr>
                </a:tc>
                <a:tc>
                  <a:txBody>
                    <a:bodyPr wrap="none"/>
                    <a:lstStyle/>
                    <a:p>
                      <a:pPr algn="l"/>
                      <a:r>
                        <a:rPr sz="800" b="1">
                          <a:solidFill>
                            <a:srgbClr val="A86F00"/>
                          </a:solidFill>
                          <a:latin typeface="Calibri"/>
                        </a:rPr>
                        <a:t>▶ 3.8%</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1">
                          <a:solidFill>
                            <a:srgbClr val="A86F00"/>
                          </a:solidFill>
                          <a:latin typeface="Calibri"/>
                        </a:rPr>
                        <a:t>▶ 3.9%</a:t>
                      </a:r>
                    </a:p>
                  </a:txBody>
                  <a:tcPr marL="85725" marR="38100" marT="19050" marB="19050" anchor="ctr">
                    <a:solidFill>
                      <a:srgbClr val="F5F8FA"/>
                    </a:solidFill>
                  </a:tcPr>
                </a:tc>
                <a:tc>
                  <a:txBody>
                    <a:bodyPr wrap="none"/>
                    <a:lstStyle/>
                    <a:p>
                      <a:pPr algn="l"/>
                      <a:r>
                        <a:rPr sz="800" b="1">
                          <a:solidFill>
                            <a:srgbClr val="A86F00"/>
                          </a:solidFill>
                          <a:latin typeface="Calibri"/>
                        </a:rPr>
                        <a:t>▶ 4.3%</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1">
                          <a:solidFill>
                            <a:srgbClr val="A86F00"/>
                          </a:solidFill>
                          <a:latin typeface="Calibri"/>
                        </a:rPr>
                        <a:t>▶ 3.9%</a:t>
                      </a:r>
                    </a:p>
                  </a:txBody>
                  <a:tcPr marL="85725" marR="38100" marT="19050" marB="19050" anchor="ctr">
                    <a:solidFill>
                      <a:srgbClr val="FFFFFF"/>
                    </a:solidFill>
                  </a:tcPr>
                </a:tc>
                <a:tc>
                  <a:txBody>
                    <a:bodyPr wrap="none"/>
                    <a:lstStyle/>
                    <a:p>
                      <a:pPr algn="l"/>
                      <a:r>
                        <a:rPr sz="800" b="1">
                          <a:solidFill>
                            <a:srgbClr val="A86F00"/>
                          </a:solidFill>
                          <a:latin typeface="Calibri"/>
                        </a:rPr>
                        <a:t>▶ 4.2%</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1">
                          <a:solidFill>
                            <a:srgbClr val="2E7D32"/>
                          </a:solidFill>
                          <a:latin typeface="Calibri"/>
                        </a:rPr>
                        <a:t>▲ 5.6%</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1">
                          <a:solidFill>
                            <a:srgbClr val="2E7D32"/>
                          </a:solidFill>
                          <a:latin typeface="Calibri"/>
                        </a:rPr>
                        <a:t>▲ 8.6%</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9.6%</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c>
                  <a:txBody>
                    <a:bodyPr wrap="none"/>
                    <a:lstStyle/>
                    <a:p>
                      <a:pPr algn="l"/>
                      <a:r>
                        <a:rPr sz="800" b="1">
                          <a:solidFill>
                            <a:srgbClr val="2E7D32"/>
                          </a:solidFill>
                          <a:latin typeface="Calibri"/>
                        </a:rPr>
                        <a:t>▲ 9.6%</a:t>
                      </a:r>
                    </a:p>
                  </a:txBody>
                  <a:tcPr marL="85725" marR="38100" marT="19050" marB="19050" anchor="ctr">
                    <a:solidFill>
                      <a:srgbClr val="FFFFFF"/>
                    </a:solidFill>
                  </a:tcPr>
                </a:tc>
                <a:tc>
                  <a:txBody>
                    <a:bodyPr wrap="none"/>
                    <a:lstStyle/>
                    <a:p>
                      <a:pPr algn="l"/>
                      <a:r>
                        <a:rPr sz="800" b="1">
                          <a:solidFill>
                            <a:srgbClr val="2E7D32"/>
                          </a:solidFill>
                          <a:latin typeface="Calibri"/>
                        </a:rPr>
                        <a:t>▲ 9.9%</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10.3%</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10.6%</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1">
                          <a:solidFill>
                            <a:srgbClr val="A86F00"/>
                          </a:solidFill>
                          <a:latin typeface="Calibri"/>
                        </a:rPr>
                        <a:t>▶ 4.0%</a:t>
                      </a:r>
                    </a:p>
                  </a:txBody>
                  <a:tcPr marL="85725" marR="38100" marT="19050" marB="19050" anchor="ctr">
                    <a:solidFill>
                      <a:srgbClr val="F5F8FA"/>
                    </a:solidFill>
                  </a:tcPr>
                </a:tc>
                <a:tc>
                  <a:txBody>
                    <a:bodyPr wrap="none"/>
                    <a:lstStyle/>
                    <a:p>
                      <a:pPr algn="l"/>
                      <a:r>
                        <a:rPr sz="800" b="1">
                          <a:solidFill>
                            <a:srgbClr val="A86F00"/>
                          </a:solidFill>
                          <a:latin typeface="Calibri"/>
                        </a:rPr>
                        <a:t>▶ 4.4%</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r>
            </a:tbl>
          </a:graphicData>
        </a:graphic>
      </p:graphicFrame>
      <p:sp>
        <p:nvSpPr>
          <p:cNvPr id="15" name="TextBox 14"/>
          <p:cNvSpPr txBox="1"/>
          <p:nvPr/>
        </p:nvSpPr>
        <p:spPr>
          <a:xfrm>
            <a:off x="219075" y="337185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648075"/>
            <a:ext cx="11906250" cy="3076575"/>
          </a:xfrm>
          <a:prstGeom prst="roundRect">
            <a:avLst>
              <a:gd name="adj" fmla="val 247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70522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End User (%)  ·  light = lower, dark = higher growth</a:t>
            </a:r>
          </a:p>
        </p:txBody>
      </p:sp>
      <p:sp>
        <p:nvSpPr>
          <p:cNvPr id="18" name="TextBox 17"/>
          <p:cNvSpPr txBox="1"/>
          <p:nvPr/>
        </p:nvSpPr>
        <p:spPr>
          <a:xfrm>
            <a:off x="185737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93382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40767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Hospitals &amp; Clinics</a:t>
            </a:r>
          </a:p>
        </p:txBody>
      </p:sp>
      <p:sp>
        <p:nvSpPr>
          <p:cNvPr id="34" name="Rectangle 33"/>
          <p:cNvSpPr/>
          <p:nvPr/>
        </p:nvSpPr>
        <p:spPr>
          <a:xfrm>
            <a:off x="1857375" y="4076700"/>
            <a:ext cx="643890" cy="431800"/>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4076700"/>
            <a:ext cx="643890" cy="431800"/>
          </a:xfrm>
          <a:prstGeom prst="rect">
            <a:avLst/>
          </a:prstGeom>
          <a:solidFill>
            <a:srgbClr val="F9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4076700"/>
            <a:ext cx="643890" cy="431800"/>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4076700"/>
            <a:ext cx="643890" cy="431800"/>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4076700"/>
            <a:ext cx="643890" cy="431800"/>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40767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4076700"/>
            <a:ext cx="643890" cy="431800"/>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4076700"/>
            <a:ext cx="643890" cy="431800"/>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4076700"/>
            <a:ext cx="643890" cy="431800"/>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4076700"/>
            <a:ext cx="643890" cy="431800"/>
          </a:xfrm>
          <a:prstGeom prst="rect">
            <a:avLst/>
          </a:prstGeom>
          <a:solidFill>
            <a:srgbClr val="B7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4076700"/>
            <a:ext cx="643890" cy="431800"/>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4076700"/>
            <a:ext cx="643890" cy="431800"/>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4076700"/>
            <a:ext cx="643890" cy="431800"/>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4076700"/>
            <a:ext cx="643890" cy="431800"/>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4076700"/>
            <a:ext cx="643890" cy="431800"/>
          </a:xfrm>
          <a:prstGeom prst="rect">
            <a:avLst/>
          </a:prstGeom>
          <a:solidFill>
            <a:srgbClr val="A2C6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085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Diagnostic Laboratories</a:t>
            </a:r>
          </a:p>
        </p:txBody>
      </p:sp>
      <p:sp>
        <p:nvSpPr>
          <p:cNvPr id="50" name="Rectangle 49"/>
          <p:cNvSpPr/>
          <p:nvPr/>
        </p:nvSpPr>
        <p:spPr>
          <a:xfrm>
            <a:off x="1857375" y="4508500"/>
            <a:ext cx="643890" cy="431800"/>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08500"/>
            <a:ext cx="643890" cy="431800"/>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08500"/>
            <a:ext cx="643890" cy="431800"/>
          </a:xfrm>
          <a:prstGeom prst="rect">
            <a:avLst/>
          </a:prstGeom>
          <a:solidFill>
            <a:srgbClr val="E4F1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08500"/>
            <a:ext cx="643890" cy="431800"/>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08500"/>
            <a:ext cx="643890" cy="431800"/>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08500"/>
            <a:ext cx="643890" cy="431800"/>
          </a:xfrm>
          <a:prstGeom prst="rect">
            <a:avLst/>
          </a:prstGeom>
          <a:solidFill>
            <a:srgbClr val="BED5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08500"/>
            <a:ext cx="643890" cy="431800"/>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08500"/>
            <a:ext cx="643890" cy="431800"/>
          </a:xfrm>
          <a:prstGeom prst="rect">
            <a:avLst/>
          </a:prstGeom>
          <a:solidFill>
            <a:srgbClr val="ACCB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08500"/>
            <a:ext cx="643890" cy="431800"/>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08500"/>
            <a:ext cx="643890" cy="431800"/>
          </a:xfrm>
          <a:prstGeom prst="rect">
            <a:avLst/>
          </a:prstGeom>
          <a:solidFill>
            <a:srgbClr val="A9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08500"/>
            <a:ext cx="643890" cy="431800"/>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08500"/>
            <a:ext cx="643890" cy="431800"/>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08500"/>
            <a:ext cx="643890" cy="431800"/>
          </a:xfrm>
          <a:prstGeom prst="rect">
            <a:avLst/>
          </a:prstGeom>
          <a:solidFill>
            <a:srgbClr val="9FC4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08500"/>
            <a:ext cx="643890" cy="431800"/>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08500"/>
            <a:ext cx="643890" cy="431800"/>
          </a:xfrm>
          <a:prstGeom prst="rect">
            <a:avLst/>
          </a:prstGeom>
          <a:solidFill>
            <a:srgbClr val="96BF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49403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Physician Offices &amp; Outpatient Centers</a:t>
            </a:r>
          </a:p>
        </p:txBody>
      </p:sp>
      <p:sp>
        <p:nvSpPr>
          <p:cNvPr id="66" name="Rectangle 65"/>
          <p:cNvSpPr/>
          <p:nvPr/>
        </p:nvSpPr>
        <p:spPr>
          <a:xfrm>
            <a:off x="1857375" y="4940300"/>
            <a:ext cx="643890" cy="431800"/>
          </a:xfrm>
          <a:prstGeom prst="rect">
            <a:avLst/>
          </a:prstGeom>
          <a:solidFill>
            <a:srgbClr val="F8FC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4940300"/>
            <a:ext cx="643890" cy="431800"/>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4940300"/>
            <a:ext cx="643890" cy="431800"/>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4940300"/>
            <a:ext cx="643890" cy="431800"/>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4940300"/>
            <a:ext cx="643890" cy="431800"/>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4940300"/>
            <a:ext cx="643890" cy="431800"/>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4940300"/>
            <a:ext cx="643890" cy="431800"/>
          </a:xfrm>
          <a:prstGeom prst="rect">
            <a:avLst/>
          </a:prstGeom>
          <a:solidFill>
            <a:srgbClr val="B6D1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4940300"/>
            <a:ext cx="643890" cy="431800"/>
          </a:xfrm>
          <a:prstGeom prst="rect">
            <a:avLst/>
          </a:prstGeom>
          <a:solidFill>
            <a:srgbClr val="B0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4940300"/>
            <a:ext cx="643890" cy="431800"/>
          </a:xfrm>
          <a:prstGeom prst="rect">
            <a:avLst/>
          </a:prstGeom>
          <a:solidFill>
            <a:srgbClr val="AE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4940300"/>
            <a:ext cx="643890" cy="431800"/>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4940300"/>
            <a:ext cx="643890" cy="431800"/>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4940300"/>
            <a:ext cx="643890" cy="431800"/>
          </a:xfrm>
          <a:prstGeom prst="rect">
            <a:avLst/>
          </a:prstGeom>
          <a:solidFill>
            <a:srgbClr val="AB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4940300"/>
            <a:ext cx="643890" cy="431800"/>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4940300"/>
            <a:ext cx="643890" cy="431800"/>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4940300"/>
            <a:ext cx="643890" cy="431800"/>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3721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Home &amp; Self-Testing</a:t>
            </a:r>
          </a:p>
        </p:txBody>
      </p:sp>
      <p:sp>
        <p:nvSpPr>
          <p:cNvPr id="82" name="Rectangle 81"/>
          <p:cNvSpPr/>
          <p:nvPr/>
        </p:nvSpPr>
        <p:spPr>
          <a:xfrm>
            <a:off x="1857375" y="5372100"/>
            <a:ext cx="643890" cy="431800"/>
          </a:xfrm>
          <a:prstGeom prst="rect">
            <a:avLst/>
          </a:prstGeom>
          <a:solidFill>
            <a:srgbClr val="D7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3721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372100"/>
            <a:ext cx="643890" cy="431800"/>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372100"/>
            <a:ext cx="643890" cy="431800"/>
          </a:xfrm>
          <a:prstGeom prst="rect">
            <a:avLst/>
          </a:prstGeom>
          <a:solidFill>
            <a:srgbClr val="95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372100"/>
            <a:ext cx="643890" cy="431800"/>
          </a:xfrm>
          <a:prstGeom prst="rect">
            <a:avLst/>
          </a:prstGeom>
          <a:solidFill>
            <a:srgbClr val="5C9FC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372100"/>
            <a:ext cx="643890" cy="431800"/>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372100"/>
            <a:ext cx="643890" cy="431800"/>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372100"/>
            <a:ext cx="643890" cy="431800"/>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372100"/>
            <a:ext cx="643890" cy="431800"/>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372100"/>
            <a:ext cx="643890" cy="431800"/>
          </a:xfrm>
          <a:prstGeom prst="rect">
            <a:avLst/>
          </a:prstGeom>
          <a:solidFill>
            <a:srgbClr val="1274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372100"/>
            <a:ext cx="643890" cy="431800"/>
          </a:xfrm>
          <a:prstGeom prst="rect">
            <a:avLst/>
          </a:prstGeom>
          <a:solidFill>
            <a:srgbClr val="0E6CA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372100"/>
            <a:ext cx="643890" cy="431800"/>
          </a:xfrm>
          <a:prstGeom prst="rect">
            <a:avLst/>
          </a:prstGeom>
          <a:solidFill>
            <a:srgbClr val="0D639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372100"/>
            <a:ext cx="643890" cy="431800"/>
          </a:xfrm>
          <a:prstGeom prst="rect">
            <a:avLst/>
          </a:prstGeom>
          <a:solidFill>
            <a:srgbClr val="0C4E7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372100"/>
            <a:ext cx="643890" cy="431800"/>
          </a:xfrm>
          <a:prstGeom prst="rect">
            <a:avLst/>
          </a:prstGeom>
          <a:solidFill>
            <a:srgbClr val="0C41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372100"/>
            <a:ext cx="643890" cy="431800"/>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38125" y="58039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Research &amp; Academic Institutions</a:t>
            </a:r>
          </a:p>
        </p:txBody>
      </p:sp>
      <p:sp>
        <p:nvSpPr>
          <p:cNvPr id="98" name="Rectangle 97"/>
          <p:cNvSpPr/>
          <p:nvPr/>
        </p:nvSpPr>
        <p:spPr>
          <a:xfrm>
            <a:off x="1857375" y="5803900"/>
            <a:ext cx="643890" cy="431800"/>
          </a:xfrm>
          <a:prstGeom prst="rect">
            <a:avLst/>
          </a:prstGeom>
          <a:solidFill>
            <a:srgbClr val="73AC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2501265" y="5803900"/>
            <a:ext cx="643890" cy="431800"/>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3145155" y="5803900"/>
            <a:ext cx="643890" cy="431800"/>
          </a:xfrm>
          <a:prstGeom prst="rect">
            <a:avLst/>
          </a:prstGeom>
          <a:solidFill>
            <a:srgbClr val="3D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3789045" y="5803900"/>
            <a:ext cx="643890" cy="431800"/>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432935" y="5803900"/>
            <a:ext cx="643890" cy="431800"/>
          </a:xfrm>
          <a:prstGeom prst="rect">
            <a:avLst/>
          </a:prstGeom>
          <a:solidFill>
            <a:srgbClr val="599E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5076825" y="5803900"/>
            <a:ext cx="643890" cy="431800"/>
          </a:xfrm>
          <a:prstGeom prst="rect">
            <a:avLst/>
          </a:prstGeom>
          <a:solidFill>
            <a:srgbClr val="3F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5720715" y="5803900"/>
            <a:ext cx="643890" cy="431800"/>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364605" y="5803900"/>
            <a:ext cx="643890" cy="431800"/>
          </a:xfrm>
          <a:prstGeom prst="rect">
            <a:avLst/>
          </a:prstGeom>
          <a:solidFill>
            <a:srgbClr val="2B84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7008495" y="5803900"/>
            <a:ext cx="643890" cy="431800"/>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652385" y="5803900"/>
            <a:ext cx="643890" cy="431800"/>
          </a:xfrm>
          <a:prstGeom prst="rect">
            <a:avLst/>
          </a:prstGeom>
          <a:solidFill>
            <a:srgbClr val="28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296275" y="5803900"/>
            <a:ext cx="643890" cy="431800"/>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940165" y="5803900"/>
            <a:ext cx="643890" cy="431800"/>
          </a:xfrm>
          <a:prstGeom prst="rect">
            <a:avLst/>
          </a:prstGeom>
          <a:solidFill>
            <a:srgbClr val="26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84055" y="5803900"/>
            <a:ext cx="643890" cy="431800"/>
          </a:xfrm>
          <a:prstGeom prst="rect">
            <a:avLst/>
          </a:prstGeom>
          <a:solidFill>
            <a:srgbClr val="1E7C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227945" y="5803900"/>
            <a:ext cx="643890" cy="431800"/>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871835" y="5803900"/>
            <a:ext cx="643890" cy="431800"/>
          </a:xfrm>
          <a:prstGeom prst="rect">
            <a:avLst/>
          </a:prstGeom>
          <a:solidFill>
            <a:srgbClr val="1677B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38125" y="6235700"/>
            <a:ext cx="1590675" cy="431800"/>
          </a:xfrm>
          <a:prstGeom prst="rect">
            <a:avLst/>
          </a:prstGeom>
          <a:noFill/>
        </p:spPr>
        <p:txBody>
          <a:bodyPr wrap="square" lIns="28575" rIns="28575" tIns="9525" bIns="9525" anchor="ctr">
            <a:spAutoFit/>
          </a:bodyPr>
          <a:lstStyle/>
          <a:p>
            <a:pPr algn="l"/>
            <a:r>
              <a:rPr sz="750" b="0">
                <a:solidFill>
                  <a:srgbClr val="2E2E2E"/>
                </a:solidFill>
                <a:latin typeface="Calibri"/>
              </a:rPr>
              <a:t>Public Health &amp; Screening Programs</a:t>
            </a:r>
          </a:p>
        </p:txBody>
      </p:sp>
      <p:sp>
        <p:nvSpPr>
          <p:cNvPr id="114" name="Rectangle 113"/>
          <p:cNvSpPr/>
          <p:nvPr/>
        </p:nvSpPr>
        <p:spPr>
          <a:xfrm>
            <a:off x="1857375" y="6235700"/>
            <a:ext cx="643890" cy="431800"/>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501265" y="6235700"/>
            <a:ext cx="643890" cy="431800"/>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145155" y="6235700"/>
            <a:ext cx="643890" cy="431800"/>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3789045" y="6235700"/>
            <a:ext cx="643890" cy="431800"/>
          </a:xfrm>
          <a:prstGeom prst="rect">
            <a:avLst/>
          </a:prstGeom>
          <a:solidFill>
            <a:srgbClr val="D8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4432935" y="6235700"/>
            <a:ext cx="643890" cy="431800"/>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076825" y="6235700"/>
            <a:ext cx="643890" cy="431800"/>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720715" y="6235700"/>
            <a:ext cx="643890" cy="431800"/>
          </a:xfrm>
          <a:prstGeom prst="rect">
            <a:avLst/>
          </a:prstGeom>
          <a:solidFill>
            <a:srgbClr val="B1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6364605" y="6235700"/>
            <a:ext cx="643890" cy="431800"/>
          </a:xfrm>
          <a:prstGeom prst="rect">
            <a:avLst/>
          </a:prstGeom>
          <a:solidFill>
            <a:srgbClr val="AACA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008495" y="6235700"/>
            <a:ext cx="643890" cy="431800"/>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7652385" y="6235700"/>
            <a:ext cx="643890" cy="431800"/>
          </a:xfrm>
          <a:prstGeom prst="rect">
            <a:avLst/>
          </a:prstGeom>
          <a:solidFill>
            <a:srgbClr val="A7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8296275" y="6235700"/>
            <a:ext cx="643890" cy="431800"/>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8940165" y="6235700"/>
            <a:ext cx="643890" cy="431800"/>
          </a:xfrm>
          <a:prstGeom prst="rect">
            <a:avLst/>
          </a:prstGeom>
          <a:solidFill>
            <a:srgbClr val="A4C7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9584055" y="6235700"/>
            <a:ext cx="643890" cy="431800"/>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227945" y="6235700"/>
            <a:ext cx="643890" cy="431800"/>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871835" y="6235700"/>
            <a:ext cx="643890" cy="431800"/>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4114800"/>
            <a:ext cx="104775" cy="7048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4177665"/>
            <a:ext cx="104775" cy="70485"/>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4240530"/>
            <a:ext cx="104775" cy="70485"/>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4303395"/>
            <a:ext cx="104775" cy="70485"/>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4366260"/>
            <a:ext cx="104775" cy="70485"/>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4429125"/>
            <a:ext cx="104775" cy="70485"/>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4491990"/>
            <a:ext cx="104775" cy="70485"/>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4554855"/>
            <a:ext cx="104775" cy="70485"/>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4617720"/>
            <a:ext cx="104775" cy="70485"/>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1572875" y="4680585"/>
            <a:ext cx="104775" cy="70485"/>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1572875" y="4743450"/>
            <a:ext cx="104775" cy="70485"/>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1572875" y="4806315"/>
            <a:ext cx="104775" cy="70485"/>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1572875" y="4869180"/>
            <a:ext cx="104775" cy="70485"/>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1572875" y="4932045"/>
            <a:ext cx="104775" cy="70485"/>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1572875" y="4994910"/>
            <a:ext cx="104775" cy="70485"/>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1572875" y="5057775"/>
            <a:ext cx="104775" cy="70485"/>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1572875" y="5120640"/>
            <a:ext cx="104775" cy="70485"/>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1572875" y="5183505"/>
            <a:ext cx="104775" cy="70485"/>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1572875" y="5246370"/>
            <a:ext cx="104775" cy="70485"/>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1572875" y="5309235"/>
            <a:ext cx="104775" cy="70485"/>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1572875" y="5372100"/>
            <a:ext cx="104775" cy="70485"/>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1572875" y="5434965"/>
            <a:ext cx="104775" cy="70485"/>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1572875" y="5497830"/>
            <a:ext cx="104775" cy="70485"/>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1572875" y="5560695"/>
            <a:ext cx="104775" cy="70485"/>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11572875" y="5623560"/>
            <a:ext cx="104775" cy="70485"/>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1572875" y="5686425"/>
            <a:ext cx="104775" cy="70485"/>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11572875" y="5749290"/>
            <a:ext cx="104775" cy="70485"/>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1572875" y="5812155"/>
            <a:ext cx="104775" cy="70485"/>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1572875" y="5875020"/>
            <a:ext cx="104775" cy="70485"/>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1572875" y="5937885"/>
            <a:ext cx="104775" cy="70485"/>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1572875" y="6000750"/>
            <a:ext cx="104775" cy="70485"/>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1572875" y="6063615"/>
            <a:ext cx="104775" cy="70485"/>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1572875" y="6126480"/>
            <a:ext cx="104775" cy="70485"/>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1572875" y="6189345"/>
            <a:ext cx="104775" cy="70485"/>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1572875" y="6252210"/>
            <a:ext cx="104775" cy="70485"/>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1572875" y="6315075"/>
            <a:ext cx="104775" cy="70485"/>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1572875" y="6377940"/>
            <a:ext cx="104775" cy="70485"/>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1572875" y="6440805"/>
            <a:ext cx="104775" cy="70485"/>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1572875" y="6503670"/>
            <a:ext cx="104775" cy="70485"/>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1572875" y="6566535"/>
            <a:ext cx="104775" cy="70485"/>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1572875" y="4114800"/>
            <a:ext cx="104775" cy="251460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11687175" y="4048125"/>
            <a:ext cx="276225" cy="133350"/>
          </a:xfrm>
          <a:prstGeom prst="rect">
            <a:avLst/>
          </a:prstGeom>
          <a:noFill/>
        </p:spPr>
        <p:txBody>
          <a:bodyPr wrap="none" lIns="0" rIns="0" tIns="0" bIns="0" anchor="ctr">
            <a:spAutoFit/>
          </a:bodyPr>
          <a:lstStyle/>
          <a:p>
            <a:pPr algn="l"/>
            <a:r>
              <a:rPr sz="700" b="0">
                <a:solidFill>
                  <a:srgbClr val="6C7A89"/>
                </a:solidFill>
                <a:latin typeface="Calibri"/>
              </a:rPr>
              <a:t>12%</a:t>
            </a:r>
          </a:p>
        </p:txBody>
      </p:sp>
      <p:sp>
        <p:nvSpPr>
          <p:cNvPr id="171" name="TextBox 170"/>
          <p:cNvSpPr txBox="1"/>
          <p:nvPr/>
        </p:nvSpPr>
        <p:spPr>
          <a:xfrm>
            <a:off x="11687175" y="5305425"/>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72" name="TextBox 171"/>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173" name="Rectangle 17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5" name="Rounded Rectangle 17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6" name="Rounded Rectangle 17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7" name="Rounded Rectangle 17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Specimen Collected</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Specimen Collected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08</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Specimen Collected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4 sub-segments of Specimen Collected,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Specimen Collected segment categorizes the market by specimen collected.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Whole Blood</a:t>
            </a:r>
          </a:p>
        </p:txBody>
      </p:sp>
      <p:sp>
        <p:nvSpPr>
          <p:cNvPr id="24" name="Rectangle 23"/>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1,240</a:t>
            </a:r>
          </a:p>
        </p:txBody>
      </p:sp>
      <p:sp>
        <p:nvSpPr>
          <p:cNvPr id="25" name="Rectangle 24"/>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2,471</a:t>
            </a:r>
          </a:p>
        </p:txBody>
      </p:sp>
      <p:sp>
        <p:nvSpPr>
          <p:cNvPr id="26" name="Rectangle 25"/>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7.1%</a:t>
            </a:r>
          </a:p>
        </p:txBody>
      </p:sp>
      <p:sp>
        <p:nvSpPr>
          <p:cNvPr id="27" name="Oval 26"/>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Plasma</a:t>
            </a:r>
          </a:p>
        </p:txBody>
      </p:sp>
      <p:sp>
        <p:nvSpPr>
          <p:cNvPr id="31" name="Rectangle 30"/>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448.1</a:t>
            </a:r>
          </a:p>
        </p:txBody>
      </p:sp>
      <p:sp>
        <p:nvSpPr>
          <p:cNvPr id="32" name="Rectangle 31"/>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1,008</a:t>
            </a:r>
          </a:p>
        </p:txBody>
      </p:sp>
      <p:sp>
        <p:nvSpPr>
          <p:cNvPr id="33" name="Rectangle 32"/>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8.4%</a:t>
            </a:r>
          </a:p>
        </p:txBody>
      </p:sp>
      <p:sp>
        <p:nvSpPr>
          <p:cNvPr id="34" name="Oval 33"/>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Serum</a:t>
            </a:r>
          </a:p>
        </p:txBody>
      </p:sp>
      <p:sp>
        <p:nvSpPr>
          <p:cNvPr id="38" name="Rectangle 37"/>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425.2</a:t>
            </a:r>
          </a:p>
        </p:txBody>
      </p:sp>
      <p:sp>
        <p:nvSpPr>
          <p:cNvPr id="39" name="Rectangle 38"/>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788.0</a:t>
            </a:r>
          </a:p>
        </p:txBody>
      </p:sp>
      <p:sp>
        <p:nvSpPr>
          <p:cNvPr id="40" name="Rectangle 39"/>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6.4%</a:t>
            </a:r>
          </a:p>
        </p:txBody>
      </p:sp>
      <p:sp>
        <p:nvSpPr>
          <p:cNvPr id="41" name="Oval 40"/>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Dried Blood Spot</a:t>
            </a:r>
          </a:p>
        </p:txBody>
      </p:sp>
      <p:sp>
        <p:nvSpPr>
          <p:cNvPr id="45" name="Rectangle 44"/>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191.9</a:t>
            </a:r>
          </a:p>
        </p:txBody>
      </p:sp>
      <p:sp>
        <p:nvSpPr>
          <p:cNvPr id="46" name="Rectangle 45"/>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665.1</a:t>
            </a:r>
          </a:p>
        </p:txBody>
      </p:sp>
      <p:sp>
        <p:nvSpPr>
          <p:cNvPr id="47" name="Rectangle 46"/>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13.2%</a:t>
            </a:r>
          </a:p>
        </p:txBody>
      </p:sp>
      <p:sp>
        <p:nvSpPr>
          <p:cNvPr id="48" name="Oval 47"/>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1" name="Rectangle 50"/>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'Whole Blood' holds the largest share in 2026 54%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'Dried Blood Spot' is the fastest-growing sub-segment at 13.2%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specimen collected landscape.</a:t>
            </a:r>
          </a:p>
        </p:txBody>
      </p:sp>
      <p:sp>
        <p:nvSpPr>
          <p:cNvPr id="53" name="Rounded Rectangle 52"/>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5" name="Rectangle 54"/>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Whole Blood: </a:t>
            </a:r>
            <a:r>
              <a:rPr sz="1000" b="0">
                <a:solidFill>
                  <a:srgbClr val="2E2E2E"/>
                </a:solidFill>
                <a:latin typeface="Calibri"/>
              </a:rPr>
              <a:t>54% of 2026 value · 7.1%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Plasma: </a:t>
            </a:r>
            <a:r>
              <a:rPr sz="1000" b="0">
                <a:solidFill>
                  <a:srgbClr val="2E2E2E"/>
                </a:solidFill>
                <a:latin typeface="Calibri"/>
              </a:rPr>
              <a:t>19% of 2026 value · 8.4%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Serum: </a:t>
            </a:r>
            <a:r>
              <a:rPr sz="1000" b="0">
                <a:solidFill>
                  <a:srgbClr val="2E2E2E"/>
                </a:solidFill>
                <a:latin typeface="Calibri"/>
              </a:rPr>
              <a:t>18% of 2026 value · 6.4% CAGR serves a niche.</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Dried Blood Spot: </a:t>
            </a:r>
            <a:r>
              <a:rPr sz="1000" b="0">
                <a:solidFill>
                  <a:srgbClr val="2E2E2E"/>
                </a:solidFill>
                <a:latin typeface="Calibri"/>
              </a:rPr>
              <a:t>8% of 2026 value · 13.2% CAGR grows fastest.</a:t>
            </a:r>
          </a:p>
        </p:txBody>
      </p:sp>
      <p:sp>
        <p:nvSpPr>
          <p:cNvPr id="57" name="Rounded Rectangle 56"/>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9" name="Rectangle 58"/>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Specimen Collected split shows how demand is distributed across specimen collected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1" name="Rectangle 60"/>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Specimen Collected segment is projected to grow at a CAGR of 7.9%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Specimen Collected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Specimen Collected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Specimen Collected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Specimen Collected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'Dried Blood Spot' gains the most share in the Global market (+516 BPS) while 'Whole Blood' cedes 370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Specimen Collected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Specimen Collected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Specimen Collected (2026–2036)</a:t>
            </a:r>
          </a:p>
        </p:txBody>
      </p:sp>
      <p:graphicFrame>
        <p:nvGraphicFramePr>
          <p:cNvPr id="23" name="Table 22"/>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Whole Blood</a:t>
                      </a:r>
                    </a:p>
                  </a:txBody>
                  <a:tcPr marL="85725" marR="38100" marT="19050" marB="19050" anchor="ctr">
                    <a:solidFill>
                      <a:srgbClr val="FFFFFF"/>
                    </a:solidFill>
                  </a:tcPr>
                </a:tc>
                <a:tc>
                  <a:txBody>
                    <a:bodyPr wrap="none"/>
                    <a:lstStyle/>
                    <a:p>
                      <a:pPr algn="l"/>
                      <a:r>
                        <a:rPr sz="900" b="0">
                          <a:solidFill>
                            <a:srgbClr val="2E2E2E"/>
                          </a:solidFill>
                          <a:latin typeface="Calibri"/>
                        </a:rPr>
                        <a:t>1,231</a:t>
                      </a:r>
                    </a:p>
                  </a:txBody>
                  <a:tcPr marL="85725" marR="38100" marT="19050" marB="19050" anchor="ctr">
                    <a:solidFill>
                      <a:srgbClr val="FFFFFF"/>
                    </a:solidFill>
                  </a:tcPr>
                </a:tc>
                <a:tc>
                  <a:txBody>
                    <a:bodyPr wrap="none"/>
                    <a:lstStyle/>
                    <a:p>
                      <a:pPr algn="l"/>
                      <a:r>
                        <a:rPr sz="900" b="0">
                          <a:solidFill>
                            <a:srgbClr val="2E2E2E"/>
                          </a:solidFill>
                          <a:latin typeface="Calibri"/>
                        </a:rPr>
                        <a:t>46.9%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Plasma</a:t>
                      </a:r>
                    </a:p>
                  </a:txBody>
                  <a:tcPr marL="85725" marR="38100" marT="19050" marB="19050" anchor="ctr">
                    <a:solidFill>
                      <a:srgbClr val="F5F8FA"/>
                    </a:solidFill>
                  </a:tcPr>
                </a:tc>
                <a:tc>
                  <a:txBody>
                    <a:bodyPr wrap="none"/>
                    <a:lstStyle/>
                    <a:p>
                      <a:pPr algn="l"/>
                      <a:r>
                        <a:rPr sz="900" b="0">
                          <a:solidFill>
                            <a:srgbClr val="2E2E2E"/>
                          </a:solidFill>
                          <a:latin typeface="Calibri"/>
                        </a:rPr>
                        <a:t>560.1</a:t>
                      </a:r>
                    </a:p>
                  </a:txBody>
                  <a:tcPr marL="85725" marR="38100" marT="19050" marB="19050" anchor="ctr">
                    <a:solidFill>
                      <a:srgbClr val="F5F8FA"/>
                    </a:solidFill>
                  </a:tcPr>
                </a:tc>
                <a:tc>
                  <a:txBody>
                    <a:bodyPr wrap="none"/>
                    <a:lstStyle/>
                    <a:p>
                      <a:pPr algn="l"/>
                      <a:r>
                        <a:rPr sz="900" b="0">
                          <a:solidFill>
                            <a:srgbClr val="2E2E2E"/>
                          </a:solidFill>
                          <a:latin typeface="Calibri"/>
                        </a:rPr>
                        <a:t>21.3%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Serum</a:t>
                      </a:r>
                    </a:p>
                  </a:txBody>
                  <a:tcPr marL="85725" marR="38100" marT="19050" marB="19050" anchor="ctr">
                    <a:solidFill>
                      <a:srgbClr val="FFFFFF"/>
                    </a:solidFill>
                  </a:tcPr>
                </a:tc>
                <a:tc>
                  <a:txBody>
                    <a:bodyPr wrap="none"/>
                    <a:lstStyle/>
                    <a:p>
                      <a:pPr algn="l"/>
                      <a:r>
                        <a:rPr sz="900" b="0">
                          <a:solidFill>
                            <a:srgbClr val="2E2E2E"/>
                          </a:solidFill>
                          <a:latin typeface="Calibri"/>
                        </a:rPr>
                        <a:t>362.8</a:t>
                      </a:r>
                    </a:p>
                  </a:txBody>
                  <a:tcPr marL="85725" marR="38100" marT="19050" marB="19050" anchor="ctr">
                    <a:solidFill>
                      <a:srgbClr val="FFFFFF"/>
                    </a:solidFill>
                  </a:tcPr>
                </a:tc>
                <a:tc>
                  <a:txBody>
                    <a:bodyPr wrap="none"/>
                    <a:lstStyle/>
                    <a:p>
                      <a:pPr algn="l"/>
                      <a:r>
                        <a:rPr sz="900" b="0">
                          <a:solidFill>
                            <a:srgbClr val="2E2E2E"/>
                          </a:solidFill>
                          <a:latin typeface="Calibri"/>
                        </a:rPr>
                        <a:t>13.8%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900" b="0">
                          <a:solidFill>
                            <a:srgbClr val="2E2E2E"/>
                          </a:solidFill>
                          <a:latin typeface="Calibri"/>
                        </a:rPr>
                        <a:t>473.1</a:t>
                      </a:r>
                    </a:p>
                  </a:txBody>
                  <a:tcPr marL="85725" marR="38100" marT="19050" marB="19050" anchor="ctr">
                    <a:solidFill>
                      <a:srgbClr val="F5F8FA"/>
                    </a:solidFill>
                  </a:tcPr>
                </a:tc>
                <a:tc>
                  <a:txBody>
                    <a:bodyPr wrap="none"/>
                    <a:lstStyle/>
                    <a:p>
                      <a:pPr algn="l"/>
                      <a:r>
                        <a:rPr sz="900" b="0">
                          <a:solidFill>
                            <a:srgbClr val="2E2E2E"/>
                          </a:solidFill>
                          <a:latin typeface="Calibri"/>
                        </a:rPr>
                        <a:t>18.0%</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Specimen Collected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Specimen Collected,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Specimen Collected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0">
                          <a:solidFill>
                            <a:srgbClr val="2E2E2E"/>
                          </a:solidFill>
                          <a:latin typeface="Calibri"/>
                        </a:rPr>
                        <a:t>1,166</a:t>
                      </a:r>
                    </a:p>
                  </a:txBody>
                  <a:tcPr marL="85725" marR="38100" marT="19050" marB="19050" anchor="ctr">
                    <a:solidFill>
                      <a:srgbClr val="FFFFFF"/>
                    </a:solidFill>
                  </a:tcPr>
                </a:tc>
                <a:tc>
                  <a:txBody>
                    <a:bodyPr wrap="none"/>
                    <a:lstStyle/>
                    <a:p>
                      <a:pPr algn="l"/>
                      <a:r>
                        <a:rPr sz="800" b="0">
                          <a:solidFill>
                            <a:srgbClr val="2E2E2E"/>
                          </a:solidFill>
                          <a:latin typeface="Calibri"/>
                        </a:rPr>
                        <a:t>1,222</a:t>
                      </a:r>
                    </a:p>
                  </a:txBody>
                  <a:tcPr marL="85725" marR="38100" marT="19050" marB="19050" anchor="ctr">
                    <a:solidFill>
                      <a:srgbClr val="FFFFFF"/>
                    </a:solidFill>
                  </a:tcPr>
                </a:tc>
                <a:tc>
                  <a:txBody>
                    <a:bodyPr wrap="none"/>
                    <a:lstStyle/>
                    <a:p>
                      <a:pPr algn="l"/>
                      <a:r>
                        <a:rPr sz="800" b="0">
                          <a:solidFill>
                            <a:srgbClr val="2E2E2E"/>
                          </a:solidFill>
                          <a:latin typeface="Calibri"/>
                        </a:rPr>
                        <a:t>1,284</a:t>
                      </a:r>
                    </a:p>
                  </a:txBody>
                  <a:tcPr marL="85725" marR="38100" marT="19050" marB="19050" anchor="ctr">
                    <a:solidFill>
                      <a:srgbClr val="FFFFFF"/>
                    </a:solidFill>
                  </a:tcPr>
                </a:tc>
                <a:tc>
                  <a:txBody>
                    <a:bodyPr wrap="none"/>
                    <a:lstStyle/>
                    <a:p>
                      <a:pPr algn="l"/>
                      <a:r>
                        <a:rPr sz="800" b="0">
                          <a:solidFill>
                            <a:srgbClr val="2E2E2E"/>
                          </a:solidFill>
                          <a:latin typeface="Calibri"/>
                        </a:rPr>
                        <a:t>1,352</a:t>
                      </a:r>
                    </a:p>
                  </a:txBody>
                  <a:tcPr marL="85725" marR="38100" marT="19050" marB="19050" anchor="ctr">
                    <a:solidFill>
                      <a:srgbClr val="FFFFFF"/>
                    </a:solidFill>
                  </a:tcPr>
                </a:tc>
                <a:tc>
                  <a:txBody>
                    <a:bodyPr wrap="none"/>
                    <a:lstStyle/>
                    <a:p>
                      <a:pPr algn="l"/>
                      <a:r>
                        <a:rPr sz="800" b="0">
                          <a:solidFill>
                            <a:srgbClr val="2E2E2E"/>
                          </a:solidFill>
                          <a:latin typeface="Calibri"/>
                        </a:rPr>
                        <a:t>1,428</a:t>
                      </a:r>
                    </a:p>
                  </a:txBody>
                  <a:tcPr marL="85725" marR="38100" marT="19050" marB="19050" anchor="ctr">
                    <a:solidFill>
                      <a:srgbClr val="FFFFFF"/>
                    </a:solidFill>
                  </a:tcPr>
                </a:tc>
                <a:tc>
                  <a:txBody>
                    <a:bodyPr wrap="none"/>
                    <a:lstStyle/>
                    <a:p>
                      <a:pPr algn="l"/>
                      <a:r>
                        <a:rPr sz="800" b="0">
                          <a:solidFill>
                            <a:srgbClr val="2E2E2E"/>
                          </a:solidFill>
                          <a:latin typeface="Calibri"/>
                        </a:rPr>
                        <a:t>1,518</a:t>
                      </a:r>
                    </a:p>
                  </a:txBody>
                  <a:tcPr marL="85725" marR="38100" marT="19050" marB="19050" anchor="ctr">
                    <a:solidFill>
                      <a:srgbClr val="FFFFFF"/>
                    </a:solidFill>
                  </a:tcPr>
                </a:tc>
                <a:tc>
                  <a:txBody>
                    <a:bodyPr wrap="none"/>
                    <a:lstStyle/>
                    <a:p>
                      <a:pPr algn="l"/>
                      <a:r>
                        <a:rPr sz="800" b="0">
                          <a:solidFill>
                            <a:srgbClr val="2E2E2E"/>
                          </a:solidFill>
                          <a:latin typeface="Calibri"/>
                        </a:rPr>
                        <a:t>1,617</a:t>
                      </a:r>
                    </a:p>
                  </a:txBody>
                  <a:tcPr marL="85725" marR="38100" marT="19050" marB="19050" anchor="ctr">
                    <a:solidFill>
                      <a:srgbClr val="FFFFFF"/>
                    </a:solidFill>
                  </a:tcPr>
                </a:tc>
                <a:tc>
                  <a:txBody>
                    <a:bodyPr wrap="none"/>
                    <a:lstStyle/>
                    <a:p>
                      <a:pPr algn="l"/>
                      <a:r>
                        <a:rPr sz="800" b="0">
                          <a:solidFill>
                            <a:srgbClr val="2E2E2E"/>
                          </a:solidFill>
                          <a:latin typeface="Calibri"/>
                        </a:rPr>
                        <a:t>1,725</a:t>
                      </a:r>
                    </a:p>
                  </a:txBody>
                  <a:tcPr marL="85725" marR="38100" marT="19050" marB="19050" anchor="ctr">
                    <a:solidFill>
                      <a:srgbClr val="FFFFFF"/>
                    </a:solidFill>
                  </a:tcPr>
                </a:tc>
                <a:tc>
                  <a:txBody>
                    <a:bodyPr wrap="none"/>
                    <a:lstStyle/>
                    <a:p>
                      <a:pPr algn="l"/>
                      <a:r>
                        <a:rPr sz="800" b="0">
                          <a:solidFill>
                            <a:srgbClr val="2E2E2E"/>
                          </a:solidFill>
                          <a:latin typeface="Calibri"/>
                        </a:rPr>
                        <a:t>1,840</a:t>
                      </a:r>
                    </a:p>
                  </a:txBody>
                  <a:tcPr marL="85725" marR="38100" marT="19050" marB="19050" anchor="ctr">
                    <a:solidFill>
                      <a:srgbClr val="FFFFFF"/>
                    </a:solidFill>
                  </a:tcPr>
                </a:tc>
                <a:tc>
                  <a:txBody>
                    <a:bodyPr wrap="none"/>
                    <a:lstStyle/>
                    <a:p>
                      <a:pPr algn="l"/>
                      <a:r>
                        <a:rPr sz="800" b="0">
                          <a:solidFill>
                            <a:srgbClr val="2E2E2E"/>
                          </a:solidFill>
                          <a:latin typeface="Calibri"/>
                        </a:rPr>
                        <a:t>1,960</a:t>
                      </a:r>
                    </a:p>
                  </a:txBody>
                  <a:tcPr marL="85725" marR="38100" marT="19050" marB="19050" anchor="ctr">
                    <a:solidFill>
                      <a:srgbClr val="FFFFFF"/>
                    </a:solidFill>
                  </a:tcPr>
                </a:tc>
                <a:tc>
                  <a:txBody>
                    <a:bodyPr wrap="none"/>
                    <a:lstStyle/>
                    <a:p>
                      <a:pPr algn="l"/>
                      <a:r>
                        <a:rPr sz="800" b="0">
                          <a:solidFill>
                            <a:srgbClr val="2E2E2E"/>
                          </a:solidFill>
                          <a:latin typeface="Calibri"/>
                        </a:rPr>
                        <a:t>2,084</a:t>
                      </a:r>
                    </a:p>
                  </a:txBody>
                  <a:tcPr marL="85725" marR="38100" marT="19050" marB="19050" anchor="ctr">
                    <a:solidFill>
                      <a:srgbClr val="FFFFFF"/>
                    </a:solidFill>
                  </a:tcPr>
                </a:tc>
                <a:tc>
                  <a:txBody>
                    <a:bodyPr wrap="none"/>
                    <a:lstStyle/>
                    <a:p>
                      <a:pPr algn="l"/>
                      <a:r>
                        <a:rPr sz="800" b="0">
                          <a:solidFill>
                            <a:srgbClr val="2E2E2E"/>
                          </a:solidFill>
                          <a:latin typeface="Calibri"/>
                        </a:rPr>
                        <a:t>2,212</a:t>
                      </a:r>
                    </a:p>
                  </a:txBody>
                  <a:tcPr marL="85725" marR="38100" marT="19050" marB="19050" anchor="ctr">
                    <a:solidFill>
                      <a:srgbClr val="FFFFFF"/>
                    </a:solidFill>
                  </a:tcPr>
                </a:tc>
                <a:tc>
                  <a:txBody>
                    <a:bodyPr wrap="none"/>
                    <a:lstStyle/>
                    <a:p>
                      <a:pPr algn="l"/>
                      <a:r>
                        <a:rPr sz="800" b="0">
                          <a:solidFill>
                            <a:srgbClr val="2E2E2E"/>
                          </a:solidFill>
                          <a:latin typeface="Calibri"/>
                        </a:rPr>
                        <a:t>2,344</a:t>
                      </a:r>
                    </a:p>
                  </a:txBody>
                  <a:tcPr marL="85725" marR="38100" marT="19050" marB="19050" anchor="ctr">
                    <a:solidFill>
                      <a:srgbClr val="FFFFFF"/>
                    </a:solidFill>
                  </a:tcPr>
                </a:tc>
                <a:tc>
                  <a:txBody>
                    <a:bodyPr wrap="none"/>
                    <a:lstStyle/>
                    <a:p>
                      <a:pPr algn="l"/>
                      <a:r>
                        <a:rPr sz="800" b="0">
                          <a:solidFill>
                            <a:srgbClr val="2E2E2E"/>
                          </a:solidFill>
                          <a:latin typeface="Calibri"/>
                        </a:rPr>
                        <a:t>2,484</a:t>
                      </a:r>
                    </a:p>
                  </a:txBody>
                  <a:tcPr marL="85725" marR="38100" marT="19050" marB="19050" anchor="ctr">
                    <a:solidFill>
                      <a:srgbClr val="FFFFFF"/>
                    </a:solidFill>
                  </a:tcPr>
                </a:tc>
                <a:tc>
                  <a:txBody>
                    <a:bodyPr wrap="none"/>
                    <a:lstStyle/>
                    <a:p>
                      <a:pPr algn="l"/>
                      <a:r>
                        <a:rPr sz="800" b="0">
                          <a:solidFill>
                            <a:srgbClr val="2E2E2E"/>
                          </a:solidFill>
                          <a:latin typeface="Calibri"/>
                        </a:rPr>
                        <a:t>2,629</a:t>
                      </a:r>
                    </a:p>
                  </a:txBody>
                  <a:tcPr marL="85725" marR="38100" marT="19050" marB="19050" anchor="ctr">
                    <a:solidFill>
                      <a:srgbClr val="FFFFFF"/>
                    </a:solidFill>
                  </a:tcPr>
                </a:tc>
                <a:tc>
                  <a:txBody>
                    <a:bodyPr wrap="none"/>
                    <a:lstStyle/>
                    <a:p>
                      <a:pPr algn="l"/>
                      <a:r>
                        <a:rPr sz="800" b="0">
                          <a:solidFill>
                            <a:srgbClr val="2E2E2E"/>
                          </a:solidFill>
                          <a:latin typeface="Calibri"/>
                        </a:rPr>
                        <a:t>2,782</a:t>
                      </a:r>
                    </a:p>
                  </a:txBody>
                  <a:tcPr marL="85725" marR="38100" marT="19050" marB="19050" anchor="ctr">
                    <a:solidFill>
                      <a:srgbClr val="FFFFFF"/>
                    </a:solidFill>
                  </a:tcPr>
                </a:tc>
                <a:tc>
                  <a:txBody>
                    <a:bodyPr wrap="none"/>
                    <a:lstStyle/>
                    <a:p>
                      <a:pPr algn="l"/>
                      <a:r>
                        <a:rPr sz="800" b="0">
                          <a:solidFill>
                            <a:srgbClr val="2E2E2E"/>
                          </a:solidFill>
                          <a:latin typeface="Calibri"/>
                        </a:rPr>
                        <a:t>6.2%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0">
                          <a:solidFill>
                            <a:srgbClr val="2E2E2E"/>
                          </a:solidFill>
                          <a:latin typeface="Calibri"/>
                        </a:rPr>
                        <a:t>398.1</a:t>
                      </a:r>
                    </a:p>
                  </a:txBody>
                  <a:tcPr marL="85725" marR="38100" marT="19050" marB="19050" anchor="ctr">
                    <a:solidFill>
                      <a:srgbClr val="F5F8FA"/>
                    </a:solidFill>
                  </a:tcPr>
                </a:tc>
                <a:tc>
                  <a:txBody>
                    <a:bodyPr wrap="none"/>
                    <a:lstStyle/>
                    <a:p>
                      <a:pPr algn="l"/>
                      <a:r>
                        <a:rPr sz="800" b="0">
                          <a:solidFill>
                            <a:srgbClr val="2E2E2E"/>
                          </a:solidFill>
                          <a:latin typeface="Calibri"/>
                        </a:rPr>
                        <a:t>422.0</a:t>
                      </a:r>
                    </a:p>
                  </a:txBody>
                  <a:tcPr marL="85725" marR="38100" marT="19050" marB="19050" anchor="ctr">
                    <a:solidFill>
                      <a:srgbClr val="F5F8FA"/>
                    </a:solidFill>
                  </a:tcPr>
                </a:tc>
                <a:tc>
                  <a:txBody>
                    <a:bodyPr wrap="none"/>
                    <a:lstStyle/>
                    <a:p>
                      <a:pPr algn="l"/>
                      <a:r>
                        <a:rPr sz="800" b="0">
                          <a:solidFill>
                            <a:srgbClr val="2E2E2E"/>
                          </a:solidFill>
                          <a:latin typeface="Calibri"/>
                        </a:rPr>
                        <a:t>448.2</a:t>
                      </a:r>
                    </a:p>
                  </a:txBody>
                  <a:tcPr marL="85725" marR="38100" marT="19050" marB="19050" anchor="ctr">
                    <a:solidFill>
                      <a:srgbClr val="F5F8FA"/>
                    </a:solidFill>
                  </a:tcPr>
                </a:tc>
                <a:tc>
                  <a:txBody>
                    <a:bodyPr wrap="none"/>
                    <a:lstStyle/>
                    <a:p>
                      <a:pPr algn="l"/>
                      <a:r>
                        <a:rPr sz="800" b="0">
                          <a:solidFill>
                            <a:srgbClr val="2E2E2E"/>
                          </a:solidFill>
                          <a:latin typeface="Calibri"/>
                        </a:rPr>
                        <a:t>477.2</a:t>
                      </a:r>
                    </a:p>
                  </a:txBody>
                  <a:tcPr marL="85725" marR="38100" marT="19050" marB="19050" anchor="ctr">
                    <a:solidFill>
                      <a:srgbClr val="F5F8FA"/>
                    </a:solidFill>
                  </a:tcPr>
                </a:tc>
                <a:tc>
                  <a:txBody>
                    <a:bodyPr wrap="none"/>
                    <a:lstStyle/>
                    <a:p>
                      <a:pPr algn="l"/>
                      <a:r>
                        <a:rPr sz="800" b="0">
                          <a:solidFill>
                            <a:srgbClr val="2E2E2E"/>
                          </a:solidFill>
                          <a:latin typeface="Calibri"/>
                        </a:rPr>
                        <a:t>509.9</a:t>
                      </a:r>
                    </a:p>
                  </a:txBody>
                  <a:tcPr marL="85725" marR="38100" marT="19050" marB="19050" anchor="ctr">
                    <a:solidFill>
                      <a:srgbClr val="F5F8FA"/>
                    </a:solidFill>
                  </a:tcPr>
                </a:tc>
                <a:tc>
                  <a:txBody>
                    <a:bodyPr wrap="none"/>
                    <a:lstStyle/>
                    <a:p>
                      <a:pPr algn="l"/>
                      <a:r>
                        <a:rPr sz="800" b="0">
                          <a:solidFill>
                            <a:srgbClr val="2E2E2E"/>
                          </a:solidFill>
                          <a:latin typeface="Calibri"/>
                        </a:rPr>
                        <a:t>548.4</a:t>
                      </a:r>
                    </a:p>
                  </a:txBody>
                  <a:tcPr marL="85725" marR="38100" marT="19050" marB="19050" anchor="ctr">
                    <a:solidFill>
                      <a:srgbClr val="F5F8FA"/>
                    </a:solidFill>
                  </a:tcPr>
                </a:tc>
                <a:tc>
                  <a:txBody>
                    <a:bodyPr wrap="none"/>
                    <a:lstStyle/>
                    <a:p>
                      <a:pPr algn="l"/>
                      <a:r>
                        <a:rPr sz="800" b="0">
                          <a:solidFill>
                            <a:srgbClr val="2E2E2E"/>
                          </a:solidFill>
                          <a:latin typeface="Calibri"/>
                        </a:rPr>
                        <a:t>591.4</a:t>
                      </a:r>
                    </a:p>
                  </a:txBody>
                  <a:tcPr marL="85725" marR="38100" marT="19050" marB="19050" anchor="ctr">
                    <a:solidFill>
                      <a:srgbClr val="F5F8FA"/>
                    </a:solidFill>
                  </a:tcPr>
                </a:tc>
                <a:tc>
                  <a:txBody>
                    <a:bodyPr wrap="none"/>
                    <a:lstStyle/>
                    <a:p>
                      <a:pPr algn="l"/>
                      <a:r>
                        <a:rPr sz="800" b="0">
                          <a:solidFill>
                            <a:srgbClr val="2E2E2E"/>
                          </a:solidFill>
                          <a:latin typeface="Calibri"/>
                        </a:rPr>
                        <a:t>638.5</a:t>
                      </a:r>
                    </a:p>
                  </a:txBody>
                  <a:tcPr marL="85725" marR="38100" marT="19050" marB="19050" anchor="ctr">
                    <a:solidFill>
                      <a:srgbClr val="F5F8FA"/>
                    </a:solidFill>
                  </a:tcPr>
                </a:tc>
                <a:tc>
                  <a:txBody>
                    <a:bodyPr wrap="none"/>
                    <a:lstStyle/>
                    <a:p>
                      <a:pPr algn="l"/>
                      <a:r>
                        <a:rPr sz="800" b="0">
                          <a:solidFill>
                            <a:srgbClr val="2E2E2E"/>
                          </a:solidFill>
                          <a:latin typeface="Calibri"/>
                        </a:rPr>
                        <a:t>689.5</a:t>
                      </a:r>
                    </a:p>
                  </a:txBody>
                  <a:tcPr marL="85725" marR="38100" marT="19050" marB="19050" anchor="ctr">
                    <a:solidFill>
                      <a:srgbClr val="F5F8FA"/>
                    </a:solidFill>
                  </a:tcPr>
                </a:tc>
                <a:tc>
                  <a:txBody>
                    <a:bodyPr wrap="none"/>
                    <a:lstStyle/>
                    <a:p>
                      <a:pPr algn="l"/>
                      <a:r>
                        <a:rPr sz="800" b="0">
                          <a:solidFill>
                            <a:srgbClr val="2E2E2E"/>
                          </a:solidFill>
                          <a:latin typeface="Calibri"/>
                        </a:rPr>
                        <a:t>743.5</a:t>
                      </a:r>
                    </a:p>
                  </a:txBody>
                  <a:tcPr marL="85725" marR="38100" marT="19050" marB="19050" anchor="ctr">
                    <a:solidFill>
                      <a:srgbClr val="F5F8FA"/>
                    </a:solidFill>
                  </a:tcPr>
                </a:tc>
                <a:tc>
                  <a:txBody>
                    <a:bodyPr wrap="none"/>
                    <a:lstStyle/>
                    <a:p>
                      <a:pPr algn="l"/>
                      <a:r>
                        <a:rPr sz="800" b="0">
                          <a:solidFill>
                            <a:srgbClr val="2E2E2E"/>
                          </a:solidFill>
                          <a:latin typeface="Calibri"/>
                        </a:rPr>
                        <a:t>800.3</a:t>
                      </a:r>
                    </a:p>
                  </a:txBody>
                  <a:tcPr marL="85725" marR="38100" marT="19050" marB="19050" anchor="ctr">
                    <a:solidFill>
                      <a:srgbClr val="F5F8FA"/>
                    </a:solidFill>
                  </a:tcPr>
                </a:tc>
                <a:tc>
                  <a:txBody>
                    <a:bodyPr wrap="none"/>
                    <a:lstStyle/>
                    <a:p>
                      <a:pPr algn="l"/>
                      <a:r>
                        <a:rPr sz="800" b="0">
                          <a:solidFill>
                            <a:srgbClr val="2E2E2E"/>
                          </a:solidFill>
                          <a:latin typeface="Calibri"/>
                        </a:rPr>
                        <a:t>860.2</a:t>
                      </a:r>
                    </a:p>
                  </a:txBody>
                  <a:tcPr marL="85725" marR="38100" marT="19050" marB="19050" anchor="ctr">
                    <a:solidFill>
                      <a:srgbClr val="F5F8FA"/>
                    </a:solidFill>
                  </a:tcPr>
                </a:tc>
                <a:tc>
                  <a:txBody>
                    <a:bodyPr wrap="none"/>
                    <a:lstStyle/>
                    <a:p>
                      <a:pPr algn="l"/>
                      <a:r>
                        <a:rPr sz="800" b="0">
                          <a:solidFill>
                            <a:srgbClr val="2E2E2E"/>
                          </a:solidFill>
                          <a:latin typeface="Calibri"/>
                        </a:rPr>
                        <a:t>923.1</a:t>
                      </a:r>
                    </a:p>
                  </a:txBody>
                  <a:tcPr marL="85725" marR="38100" marT="19050" marB="19050" anchor="ctr">
                    <a:solidFill>
                      <a:srgbClr val="F5F8FA"/>
                    </a:solidFill>
                  </a:tcPr>
                </a:tc>
                <a:tc>
                  <a:txBody>
                    <a:bodyPr wrap="none"/>
                    <a:lstStyle/>
                    <a:p>
                      <a:pPr algn="l"/>
                      <a:r>
                        <a:rPr sz="800" b="0">
                          <a:solidFill>
                            <a:srgbClr val="2E2E2E"/>
                          </a:solidFill>
                          <a:latin typeface="Calibri"/>
                        </a:rPr>
                        <a:t>990.9</a:t>
                      </a:r>
                    </a:p>
                  </a:txBody>
                  <a:tcPr marL="85725" marR="38100" marT="19050" marB="19050" anchor="ctr">
                    <a:solidFill>
                      <a:srgbClr val="F5F8FA"/>
                    </a:solidFill>
                  </a:tcPr>
                </a:tc>
                <a:tc>
                  <a:txBody>
                    <a:bodyPr wrap="none"/>
                    <a:lstStyle/>
                    <a:p>
                      <a:pPr algn="l"/>
                      <a:r>
                        <a:rPr sz="800" b="0">
                          <a:solidFill>
                            <a:srgbClr val="2E2E2E"/>
                          </a:solidFill>
                          <a:latin typeface="Calibri"/>
                        </a:rPr>
                        <a:t>1,062</a:t>
                      </a:r>
                    </a:p>
                  </a:txBody>
                  <a:tcPr marL="85725" marR="38100" marT="19050" marB="19050" anchor="ctr">
                    <a:solidFill>
                      <a:srgbClr val="F5F8FA"/>
                    </a:solidFill>
                  </a:tcPr>
                </a:tc>
                <a:tc>
                  <a:txBody>
                    <a:bodyPr wrap="none"/>
                    <a:lstStyle/>
                    <a:p>
                      <a:pPr algn="l"/>
                      <a:r>
                        <a:rPr sz="800" b="0">
                          <a:solidFill>
                            <a:srgbClr val="2E2E2E"/>
                          </a:solidFill>
                          <a:latin typeface="Calibri"/>
                        </a:rPr>
                        <a:t>1,139</a:t>
                      </a:r>
                    </a:p>
                  </a:txBody>
                  <a:tcPr marL="85725" marR="38100" marT="19050" marB="19050" anchor="ctr">
                    <a:solidFill>
                      <a:srgbClr val="F5F8FA"/>
                    </a:solidFill>
                  </a:tcPr>
                </a:tc>
                <a:tc>
                  <a:txBody>
                    <a:bodyPr wrap="none"/>
                    <a:lstStyle/>
                    <a:p>
                      <a:pPr algn="l"/>
                      <a:r>
                        <a:rPr sz="800" b="0">
                          <a:solidFill>
                            <a:srgbClr val="2E2E2E"/>
                          </a:solidFill>
                          <a:latin typeface="Calibri"/>
                        </a:rPr>
                        <a:t>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0">
                          <a:solidFill>
                            <a:srgbClr val="2E2E2E"/>
                          </a:solidFill>
                          <a:latin typeface="Calibri"/>
                        </a:rPr>
                        <a:t>414.1</a:t>
                      </a:r>
                    </a:p>
                  </a:txBody>
                  <a:tcPr marL="85725" marR="38100" marT="19050" marB="19050" anchor="ctr">
                    <a:solidFill>
                      <a:srgbClr val="FFFFFF"/>
                    </a:solidFill>
                  </a:tcPr>
                </a:tc>
                <a:tc>
                  <a:txBody>
                    <a:bodyPr wrap="none"/>
                    <a:lstStyle/>
                    <a:p>
                      <a:pPr algn="l"/>
                      <a:r>
                        <a:rPr sz="800" b="0">
                          <a:solidFill>
                            <a:srgbClr val="2E2E2E"/>
                          </a:solidFill>
                          <a:latin typeface="Calibri"/>
                        </a:rPr>
                        <a:t>431.4</a:t>
                      </a:r>
                    </a:p>
                  </a:txBody>
                  <a:tcPr marL="85725" marR="38100" marT="19050" marB="19050" anchor="ctr">
                    <a:solidFill>
                      <a:srgbClr val="FFFFFF"/>
                    </a:solidFill>
                  </a:tcPr>
                </a:tc>
                <a:tc>
                  <a:txBody>
                    <a:bodyPr wrap="none"/>
                    <a:lstStyle/>
                    <a:p>
                      <a:pPr algn="l"/>
                      <a:r>
                        <a:rPr sz="800" b="0">
                          <a:solidFill>
                            <a:srgbClr val="2E2E2E"/>
                          </a:solidFill>
                          <a:latin typeface="Calibri"/>
                        </a:rPr>
                        <a:t>450.1</a:t>
                      </a:r>
                    </a:p>
                  </a:txBody>
                  <a:tcPr marL="85725" marR="38100" marT="19050" marB="19050" anchor="ctr">
                    <a:solidFill>
                      <a:srgbClr val="FFFFFF"/>
                    </a:solidFill>
                  </a:tcPr>
                </a:tc>
                <a:tc>
                  <a:txBody>
                    <a:bodyPr wrap="none"/>
                    <a:lstStyle/>
                    <a:p>
                      <a:pPr algn="l"/>
                      <a:r>
                        <a:rPr sz="800" b="0">
                          <a:solidFill>
                            <a:srgbClr val="2E2E2E"/>
                          </a:solidFill>
                          <a:latin typeface="Calibri"/>
                        </a:rPr>
                        <a:t>470.6</a:t>
                      </a:r>
                    </a:p>
                  </a:txBody>
                  <a:tcPr marL="85725" marR="38100" marT="19050" marB="19050" anchor="ctr">
                    <a:solidFill>
                      <a:srgbClr val="FFFFFF"/>
                    </a:solidFill>
                  </a:tcPr>
                </a:tc>
                <a:tc>
                  <a:txBody>
                    <a:bodyPr wrap="none"/>
                    <a:lstStyle/>
                    <a:p>
                      <a:pPr algn="l"/>
                      <a:r>
                        <a:rPr sz="800" b="0">
                          <a:solidFill>
                            <a:srgbClr val="2E2E2E"/>
                          </a:solidFill>
                          <a:latin typeface="Calibri"/>
                        </a:rPr>
                        <a:t>493.7</a:t>
                      </a:r>
                    </a:p>
                  </a:txBody>
                  <a:tcPr marL="85725" marR="38100" marT="19050" marB="19050" anchor="ctr">
                    <a:solidFill>
                      <a:srgbClr val="FFFFFF"/>
                    </a:solidFill>
                  </a:tcPr>
                </a:tc>
                <a:tc>
                  <a:txBody>
                    <a:bodyPr wrap="none"/>
                    <a:lstStyle/>
                    <a:p>
                      <a:pPr algn="l"/>
                      <a:r>
                        <a:rPr sz="800" b="0">
                          <a:solidFill>
                            <a:srgbClr val="2E2E2E"/>
                          </a:solidFill>
                          <a:latin typeface="Calibri"/>
                        </a:rPr>
                        <a:t>521.1</a:t>
                      </a:r>
                    </a:p>
                  </a:txBody>
                  <a:tcPr marL="85725" marR="38100" marT="19050" marB="19050" anchor="ctr">
                    <a:solidFill>
                      <a:srgbClr val="FFFFFF"/>
                    </a:solidFill>
                  </a:tcPr>
                </a:tc>
                <a:tc>
                  <a:txBody>
                    <a:bodyPr wrap="none"/>
                    <a:lstStyle/>
                    <a:p>
                      <a:pPr algn="l"/>
                      <a:r>
                        <a:rPr sz="800" b="0">
                          <a:solidFill>
                            <a:srgbClr val="2E2E2E"/>
                          </a:solidFill>
                          <a:latin typeface="Calibri"/>
                        </a:rPr>
                        <a:t>551.4</a:t>
                      </a:r>
                    </a:p>
                  </a:txBody>
                  <a:tcPr marL="85725" marR="38100" marT="19050" marB="19050" anchor="ctr">
                    <a:solidFill>
                      <a:srgbClr val="FFFFFF"/>
                    </a:solidFill>
                  </a:tcPr>
                </a:tc>
                <a:tc>
                  <a:txBody>
                    <a:bodyPr wrap="none"/>
                    <a:lstStyle/>
                    <a:p>
                      <a:pPr algn="l"/>
                      <a:r>
                        <a:rPr sz="800" b="0">
                          <a:solidFill>
                            <a:srgbClr val="2E2E2E"/>
                          </a:solidFill>
                          <a:latin typeface="Calibri"/>
                        </a:rPr>
                        <a:t>584.2</a:t>
                      </a:r>
                    </a:p>
                  </a:txBody>
                  <a:tcPr marL="85725" marR="38100" marT="19050" marB="19050" anchor="ctr">
                    <a:solidFill>
                      <a:srgbClr val="FFFFFF"/>
                    </a:solidFill>
                  </a:tcPr>
                </a:tc>
                <a:tc>
                  <a:txBody>
                    <a:bodyPr wrap="none"/>
                    <a:lstStyle/>
                    <a:p>
                      <a:pPr algn="l"/>
                      <a:r>
                        <a:rPr sz="800" b="0">
                          <a:solidFill>
                            <a:srgbClr val="2E2E2E"/>
                          </a:solidFill>
                          <a:latin typeface="Calibri"/>
                        </a:rPr>
                        <a:t>619.1</a:t>
                      </a:r>
                    </a:p>
                  </a:txBody>
                  <a:tcPr marL="85725" marR="38100" marT="19050" marB="19050" anchor="ctr">
                    <a:solidFill>
                      <a:srgbClr val="FFFFFF"/>
                    </a:solidFill>
                  </a:tcPr>
                </a:tc>
                <a:tc>
                  <a:txBody>
                    <a:bodyPr wrap="none"/>
                    <a:lstStyle/>
                    <a:p>
                      <a:pPr algn="l"/>
                      <a:r>
                        <a:rPr sz="800" b="0">
                          <a:solidFill>
                            <a:srgbClr val="2E2E2E"/>
                          </a:solidFill>
                          <a:latin typeface="Calibri"/>
                        </a:rPr>
                        <a:t>655.0</a:t>
                      </a:r>
                    </a:p>
                  </a:txBody>
                  <a:tcPr marL="85725" marR="38100" marT="19050" marB="19050" anchor="ctr">
                    <a:solidFill>
                      <a:srgbClr val="FFFFFF"/>
                    </a:solidFill>
                  </a:tcPr>
                </a:tc>
                <a:tc>
                  <a:txBody>
                    <a:bodyPr wrap="none"/>
                    <a:lstStyle/>
                    <a:p>
                      <a:pPr algn="l"/>
                      <a:r>
                        <a:rPr sz="800" b="0">
                          <a:solidFill>
                            <a:srgbClr val="2E2E2E"/>
                          </a:solidFill>
                          <a:latin typeface="Calibri"/>
                        </a:rPr>
                        <a:t>691.7</a:t>
                      </a:r>
                    </a:p>
                  </a:txBody>
                  <a:tcPr marL="85725" marR="38100" marT="19050" marB="19050" anchor="ctr">
                    <a:solidFill>
                      <a:srgbClr val="FFFFFF"/>
                    </a:solidFill>
                  </a:tcPr>
                </a:tc>
                <a:tc>
                  <a:txBody>
                    <a:bodyPr wrap="none"/>
                    <a:lstStyle/>
                    <a:p>
                      <a:pPr algn="l"/>
                      <a:r>
                        <a:rPr sz="800" b="0">
                          <a:solidFill>
                            <a:srgbClr val="2E2E2E"/>
                          </a:solidFill>
                          <a:latin typeface="Calibri"/>
                        </a:rPr>
                        <a:t>729.5</a:t>
                      </a:r>
                    </a:p>
                  </a:txBody>
                  <a:tcPr marL="85725" marR="38100" marT="19050" marB="19050" anchor="ctr">
                    <a:solidFill>
                      <a:srgbClr val="FFFFFF"/>
                    </a:solidFill>
                  </a:tcPr>
                </a:tc>
                <a:tc>
                  <a:txBody>
                    <a:bodyPr wrap="none"/>
                    <a:lstStyle/>
                    <a:p>
                      <a:pPr algn="l"/>
                      <a:r>
                        <a:rPr sz="800" b="0">
                          <a:solidFill>
                            <a:srgbClr val="2E2E2E"/>
                          </a:solidFill>
                          <a:latin typeface="Calibri"/>
                        </a:rPr>
                        <a:t>768.1</a:t>
                      </a:r>
                    </a:p>
                  </a:txBody>
                  <a:tcPr marL="85725" marR="38100" marT="19050" marB="19050" anchor="ctr">
                    <a:solidFill>
                      <a:srgbClr val="FFFFFF"/>
                    </a:solidFill>
                  </a:tcPr>
                </a:tc>
                <a:tc>
                  <a:txBody>
                    <a:bodyPr wrap="none"/>
                    <a:lstStyle/>
                    <a:p>
                      <a:pPr algn="l"/>
                      <a:r>
                        <a:rPr sz="800" b="0">
                          <a:solidFill>
                            <a:srgbClr val="2E2E2E"/>
                          </a:solidFill>
                          <a:latin typeface="Calibri"/>
                        </a:rPr>
                        <a:t>809.0</a:t>
                      </a:r>
                    </a:p>
                  </a:txBody>
                  <a:tcPr marL="85725" marR="38100" marT="19050" marB="19050" anchor="ctr">
                    <a:solidFill>
                      <a:srgbClr val="FFFFFF"/>
                    </a:solidFill>
                  </a:tcPr>
                </a:tc>
                <a:tc>
                  <a:txBody>
                    <a:bodyPr wrap="none"/>
                    <a:lstStyle/>
                    <a:p>
                      <a:pPr algn="l"/>
                      <a:r>
                        <a:rPr sz="800" b="0">
                          <a:solidFill>
                            <a:srgbClr val="2E2E2E"/>
                          </a:solidFill>
                          <a:latin typeface="Calibri"/>
                        </a:rPr>
                        <a:t>850.9</a:t>
                      </a:r>
                    </a:p>
                  </a:txBody>
                  <a:tcPr marL="85725" marR="38100" marT="19050" marB="19050" anchor="ctr">
                    <a:solidFill>
                      <a:srgbClr val="FFFFFF"/>
                    </a:solidFill>
                  </a:tcPr>
                </a:tc>
                <a:tc>
                  <a:txBody>
                    <a:bodyPr wrap="none"/>
                    <a:lstStyle/>
                    <a:p>
                      <a:pPr algn="l"/>
                      <a:r>
                        <a:rPr sz="800" b="0">
                          <a:solidFill>
                            <a:srgbClr val="2E2E2E"/>
                          </a:solidFill>
                          <a:latin typeface="Calibri"/>
                        </a:rPr>
                        <a:t>895.1</a:t>
                      </a:r>
                    </a:p>
                  </a:txBody>
                  <a:tcPr marL="85725" marR="38100" marT="19050" marB="19050" anchor="ctr">
                    <a:solidFill>
                      <a:srgbClr val="FFFFFF"/>
                    </a:solidFill>
                  </a:tcPr>
                </a:tc>
                <a:tc>
                  <a:txBody>
                    <a:bodyPr wrap="none"/>
                    <a:lstStyle/>
                    <a:p>
                      <a:pPr algn="l"/>
                      <a:r>
                        <a:rPr sz="800" b="0">
                          <a:solidFill>
                            <a:srgbClr val="2E2E2E"/>
                          </a:solidFill>
                          <a:latin typeface="Calibri"/>
                        </a:rPr>
                        <a:t>5.6%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0">
                          <a:solidFill>
                            <a:srgbClr val="2E2E2E"/>
                          </a:solidFill>
                          <a:latin typeface="Calibri"/>
                        </a:rPr>
                        <a:t>121.7</a:t>
                      </a:r>
                    </a:p>
                  </a:txBody>
                  <a:tcPr marL="85725" marR="38100" marT="19050" marB="19050" anchor="ctr">
                    <a:solidFill>
                      <a:srgbClr val="F5F8FA"/>
                    </a:solidFill>
                  </a:tcPr>
                </a:tc>
                <a:tc>
                  <a:txBody>
                    <a:bodyPr wrap="none"/>
                    <a:lstStyle/>
                    <a:p>
                      <a:pPr algn="l"/>
                      <a:r>
                        <a:rPr sz="800" b="0">
                          <a:solidFill>
                            <a:srgbClr val="2E2E2E"/>
                          </a:solidFill>
                          <a:latin typeface="Calibri"/>
                        </a:rPr>
                        <a:t>138.9</a:t>
                      </a:r>
                    </a:p>
                  </a:txBody>
                  <a:tcPr marL="85725" marR="38100" marT="19050" marB="19050" anchor="ctr">
                    <a:solidFill>
                      <a:srgbClr val="F5F8FA"/>
                    </a:solidFill>
                  </a:tcPr>
                </a:tc>
                <a:tc>
                  <a:txBody>
                    <a:bodyPr wrap="none"/>
                    <a:lstStyle/>
                    <a:p>
                      <a:pPr algn="l"/>
                      <a:r>
                        <a:rPr sz="800" b="0">
                          <a:solidFill>
                            <a:srgbClr val="2E2E2E"/>
                          </a:solidFill>
                          <a:latin typeface="Calibri"/>
                        </a:rPr>
                        <a:t>158.8</a:t>
                      </a:r>
                    </a:p>
                  </a:txBody>
                  <a:tcPr marL="85725" marR="38100" marT="19050" marB="19050" anchor="ctr">
                    <a:solidFill>
                      <a:srgbClr val="F5F8FA"/>
                    </a:solidFill>
                  </a:tcPr>
                </a:tc>
                <a:tc>
                  <a:txBody>
                    <a:bodyPr wrap="none"/>
                    <a:lstStyle/>
                    <a:p>
                      <a:pPr algn="l"/>
                      <a:r>
                        <a:rPr sz="800" b="0">
                          <a:solidFill>
                            <a:srgbClr val="2E2E2E"/>
                          </a:solidFill>
                          <a:latin typeface="Calibri"/>
                        </a:rPr>
                        <a:t>181.9</a:t>
                      </a:r>
                    </a:p>
                  </a:txBody>
                  <a:tcPr marL="85725" marR="38100" marT="19050" marB="19050" anchor="ctr">
                    <a:solidFill>
                      <a:srgbClr val="F5F8FA"/>
                    </a:solidFill>
                  </a:tcPr>
                </a:tc>
                <a:tc>
                  <a:txBody>
                    <a:bodyPr wrap="none"/>
                    <a:lstStyle/>
                    <a:p>
                      <a:pPr algn="l"/>
                      <a:r>
                        <a:rPr sz="800" b="0">
                          <a:solidFill>
                            <a:srgbClr val="2E2E2E"/>
                          </a:solidFill>
                          <a:latin typeface="Calibri"/>
                        </a:rPr>
                        <a:t>208.9</a:t>
                      </a:r>
                    </a:p>
                  </a:txBody>
                  <a:tcPr marL="85725" marR="38100" marT="19050" marB="19050" anchor="ctr">
                    <a:solidFill>
                      <a:srgbClr val="F5F8FA"/>
                    </a:solidFill>
                  </a:tcPr>
                </a:tc>
                <a:tc>
                  <a:txBody>
                    <a:bodyPr wrap="none"/>
                    <a:lstStyle/>
                    <a:p>
                      <a:pPr algn="l"/>
                      <a:r>
                        <a:rPr sz="800" b="0">
                          <a:solidFill>
                            <a:srgbClr val="2E2E2E"/>
                          </a:solidFill>
                          <a:latin typeface="Calibri"/>
                        </a:rPr>
                        <a:t>235.1</a:t>
                      </a:r>
                    </a:p>
                  </a:txBody>
                  <a:tcPr marL="85725" marR="38100" marT="19050" marB="19050" anchor="ctr">
                    <a:solidFill>
                      <a:srgbClr val="F5F8FA"/>
                    </a:solidFill>
                  </a:tcPr>
                </a:tc>
                <a:tc>
                  <a:txBody>
                    <a:bodyPr wrap="none"/>
                    <a:lstStyle/>
                    <a:p>
                      <a:pPr algn="l"/>
                      <a:r>
                        <a:rPr sz="800" b="0">
                          <a:solidFill>
                            <a:srgbClr val="2E2E2E"/>
                          </a:solidFill>
                          <a:latin typeface="Calibri"/>
                        </a:rPr>
                        <a:t>265.0</a:t>
                      </a:r>
                    </a:p>
                  </a:txBody>
                  <a:tcPr marL="85725" marR="38100" marT="19050" marB="19050" anchor="ctr">
                    <a:solidFill>
                      <a:srgbClr val="F5F8FA"/>
                    </a:solidFill>
                  </a:tcPr>
                </a:tc>
                <a:tc>
                  <a:txBody>
                    <a:bodyPr wrap="none"/>
                    <a:lstStyle/>
                    <a:p>
                      <a:pPr algn="l"/>
                      <a:r>
                        <a:rPr sz="800" b="0">
                          <a:solidFill>
                            <a:srgbClr val="2E2E2E"/>
                          </a:solidFill>
                          <a:latin typeface="Calibri"/>
                        </a:rPr>
                        <a:t>299.0</a:t>
                      </a:r>
                    </a:p>
                  </a:txBody>
                  <a:tcPr marL="85725" marR="38100" marT="19050" marB="19050" anchor="ctr">
                    <a:solidFill>
                      <a:srgbClr val="F5F8FA"/>
                    </a:solidFill>
                  </a:tcPr>
                </a:tc>
                <a:tc>
                  <a:txBody>
                    <a:bodyPr wrap="none"/>
                    <a:lstStyle/>
                    <a:p>
                      <a:pPr algn="l"/>
                      <a:r>
                        <a:rPr sz="800" b="0">
                          <a:solidFill>
                            <a:srgbClr val="2E2E2E"/>
                          </a:solidFill>
                          <a:latin typeface="Calibri"/>
                        </a:rPr>
                        <a:t>337.3</a:t>
                      </a:r>
                    </a:p>
                  </a:txBody>
                  <a:tcPr marL="85725" marR="38100" marT="19050" marB="19050" anchor="ctr">
                    <a:solidFill>
                      <a:srgbClr val="F5F8FA"/>
                    </a:solidFill>
                  </a:tcPr>
                </a:tc>
                <a:tc>
                  <a:txBody>
                    <a:bodyPr wrap="none"/>
                    <a:lstStyle/>
                    <a:p>
                      <a:pPr algn="l"/>
                      <a:r>
                        <a:rPr sz="800" b="0">
                          <a:solidFill>
                            <a:srgbClr val="2E2E2E"/>
                          </a:solidFill>
                          <a:latin typeface="Calibri"/>
                        </a:rPr>
                        <a:t>379.9</a:t>
                      </a:r>
                    </a:p>
                  </a:txBody>
                  <a:tcPr marL="85725" marR="38100" marT="19050" marB="19050" anchor="ctr">
                    <a:solidFill>
                      <a:srgbClr val="F5F8FA"/>
                    </a:solidFill>
                  </a:tcPr>
                </a:tc>
                <a:tc>
                  <a:txBody>
                    <a:bodyPr wrap="none"/>
                    <a:lstStyle/>
                    <a:p>
                      <a:pPr algn="l"/>
                      <a:r>
                        <a:rPr sz="800" b="0">
                          <a:solidFill>
                            <a:srgbClr val="2E2E2E"/>
                          </a:solidFill>
                          <a:latin typeface="Calibri"/>
                        </a:rPr>
                        <a:t>426.9</a:t>
                      </a:r>
                    </a:p>
                  </a:txBody>
                  <a:tcPr marL="85725" marR="38100" marT="19050" marB="19050" anchor="ctr">
                    <a:solidFill>
                      <a:srgbClr val="F5F8FA"/>
                    </a:solidFill>
                  </a:tcPr>
                </a:tc>
                <a:tc>
                  <a:txBody>
                    <a:bodyPr wrap="none"/>
                    <a:lstStyle/>
                    <a:p>
                      <a:pPr algn="l"/>
                      <a:r>
                        <a:rPr sz="800" b="0">
                          <a:solidFill>
                            <a:srgbClr val="2E2E2E"/>
                          </a:solidFill>
                          <a:latin typeface="Calibri"/>
                        </a:rPr>
                        <a:t>478.9</a:t>
                      </a:r>
                    </a:p>
                  </a:txBody>
                  <a:tcPr marL="85725" marR="38100" marT="19050" marB="19050" anchor="ctr">
                    <a:solidFill>
                      <a:srgbClr val="F5F8FA"/>
                    </a:solidFill>
                  </a:tcPr>
                </a:tc>
                <a:tc>
                  <a:txBody>
                    <a:bodyPr wrap="none"/>
                    <a:lstStyle/>
                    <a:p>
                      <a:pPr algn="l"/>
                      <a:r>
                        <a:rPr sz="800" b="0">
                          <a:solidFill>
                            <a:srgbClr val="2E2E2E"/>
                          </a:solidFill>
                          <a:latin typeface="Calibri"/>
                        </a:rPr>
                        <a:t>536.1</a:t>
                      </a:r>
                    </a:p>
                  </a:txBody>
                  <a:tcPr marL="85725" marR="38100" marT="19050" marB="19050" anchor="ctr">
                    <a:solidFill>
                      <a:srgbClr val="F5F8FA"/>
                    </a:solidFill>
                  </a:tcPr>
                </a:tc>
                <a:tc>
                  <a:txBody>
                    <a:bodyPr wrap="none"/>
                    <a:lstStyle/>
                    <a:p>
                      <a:pPr algn="l"/>
                      <a:r>
                        <a:rPr sz="800" b="0">
                          <a:solidFill>
                            <a:srgbClr val="2E2E2E"/>
                          </a:solidFill>
                          <a:latin typeface="Calibri"/>
                        </a:rPr>
                        <a:t>600.2</a:t>
                      </a:r>
                    </a:p>
                  </a:txBody>
                  <a:tcPr marL="85725" marR="38100" marT="19050" marB="19050" anchor="ctr">
                    <a:solidFill>
                      <a:srgbClr val="F5F8FA"/>
                    </a:solidFill>
                  </a:tcPr>
                </a:tc>
                <a:tc>
                  <a:txBody>
                    <a:bodyPr wrap="none"/>
                    <a:lstStyle/>
                    <a:p>
                      <a:pPr algn="l"/>
                      <a:r>
                        <a:rPr sz="800" b="0">
                          <a:solidFill>
                            <a:srgbClr val="2E2E2E"/>
                          </a:solidFill>
                          <a:latin typeface="Calibri"/>
                        </a:rPr>
                        <a:t>670.8</a:t>
                      </a:r>
                    </a:p>
                  </a:txBody>
                  <a:tcPr marL="85725" marR="38100" marT="19050" marB="19050" anchor="ctr">
                    <a:solidFill>
                      <a:srgbClr val="F5F8FA"/>
                    </a:solidFill>
                  </a:tcPr>
                </a:tc>
                <a:tc>
                  <a:txBody>
                    <a:bodyPr wrap="none"/>
                    <a:lstStyle/>
                    <a:p>
                      <a:pPr algn="l"/>
                      <a:r>
                        <a:rPr sz="800" b="0">
                          <a:solidFill>
                            <a:srgbClr val="2E2E2E"/>
                          </a:solidFill>
                          <a:latin typeface="Calibri"/>
                        </a:rPr>
                        <a:t>749.5</a:t>
                      </a:r>
                    </a:p>
                  </a:txBody>
                  <a:tcPr marL="85725" marR="38100" marT="19050" marB="19050" anchor="ctr">
                    <a:solidFill>
                      <a:srgbClr val="F5F8FA"/>
                    </a:solidFill>
                  </a:tcPr>
                </a:tc>
                <a:tc>
                  <a:txBody>
                    <a:bodyPr wrap="none"/>
                    <a:lstStyle/>
                    <a:p>
                      <a:pPr algn="l"/>
                      <a:r>
                        <a:rPr sz="800" b="0">
                          <a:solidFill>
                            <a:srgbClr val="2E2E2E"/>
                          </a:solidFill>
                          <a:latin typeface="Calibri"/>
                        </a:rPr>
                        <a:t>12.3%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Specimen Collected</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'Whole Blood' is the largest specimen collected at 50.0% of 2036 volume (2,782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'Dried Blood Spot' grows fastest 12.3%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'Dried Blood Spot' (+514 BPS) and away from 'Whole Blood' (-378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Specimen Collected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Specimen Collected,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Specimen Collected (US$ Mn)</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0">
                          <a:solidFill>
                            <a:srgbClr val="2E2E2E"/>
                          </a:solidFill>
                          <a:latin typeface="Calibri"/>
                        </a:rPr>
                        <a:t>992.5</a:t>
                      </a:r>
                    </a:p>
                  </a:txBody>
                  <a:tcPr marL="85725" marR="38100" marT="19050" marB="19050" anchor="ctr">
                    <a:solidFill>
                      <a:srgbClr val="FFFFFF"/>
                    </a:solidFill>
                  </a:tcPr>
                </a:tc>
                <a:tc>
                  <a:txBody>
                    <a:bodyPr wrap="none"/>
                    <a:lstStyle/>
                    <a:p>
                      <a:pPr algn="l"/>
                      <a:r>
                        <a:rPr sz="800" b="0">
                          <a:solidFill>
                            <a:srgbClr val="2E2E2E"/>
                          </a:solidFill>
                          <a:latin typeface="Calibri"/>
                        </a:rPr>
                        <a:t>1,027</a:t>
                      </a:r>
                    </a:p>
                  </a:txBody>
                  <a:tcPr marL="85725" marR="38100" marT="19050" marB="19050" anchor="ctr">
                    <a:solidFill>
                      <a:srgbClr val="FFFFFF"/>
                    </a:solidFill>
                  </a:tcPr>
                </a:tc>
                <a:tc>
                  <a:txBody>
                    <a:bodyPr wrap="none"/>
                    <a:lstStyle/>
                    <a:p>
                      <a:pPr algn="l"/>
                      <a:r>
                        <a:rPr sz="800" b="0">
                          <a:solidFill>
                            <a:srgbClr val="2E2E2E"/>
                          </a:solidFill>
                          <a:latin typeface="Calibri"/>
                        </a:rPr>
                        <a:t>1,067</a:t>
                      </a:r>
                    </a:p>
                  </a:txBody>
                  <a:tcPr marL="85725" marR="38100" marT="19050" marB="19050" anchor="ctr">
                    <a:solidFill>
                      <a:srgbClr val="FFFFFF"/>
                    </a:solidFill>
                  </a:tcPr>
                </a:tc>
                <a:tc>
                  <a:txBody>
                    <a:bodyPr wrap="none"/>
                    <a:lstStyle/>
                    <a:p>
                      <a:pPr algn="l"/>
                      <a:r>
                        <a:rPr sz="800" b="0">
                          <a:solidFill>
                            <a:srgbClr val="2E2E2E"/>
                          </a:solidFill>
                          <a:latin typeface="Calibri"/>
                        </a:rPr>
                        <a:t>1,115</a:t>
                      </a:r>
                    </a:p>
                  </a:txBody>
                  <a:tcPr marL="85725" marR="38100" marT="19050" marB="19050" anchor="ctr">
                    <a:solidFill>
                      <a:srgbClr val="FFFFFF"/>
                    </a:solidFill>
                  </a:tcPr>
                </a:tc>
                <a:tc>
                  <a:txBody>
                    <a:bodyPr wrap="none"/>
                    <a:lstStyle/>
                    <a:p>
                      <a:pPr algn="l"/>
                      <a:r>
                        <a:rPr sz="800" b="0">
                          <a:solidFill>
                            <a:srgbClr val="2E2E2E"/>
                          </a:solidFill>
                          <a:latin typeface="Calibri"/>
                        </a:rPr>
                        <a:t>1,171</a:t>
                      </a:r>
                    </a:p>
                  </a:txBody>
                  <a:tcPr marL="85725" marR="38100" marT="19050" marB="19050" anchor="ctr">
                    <a:solidFill>
                      <a:srgbClr val="FFFFFF"/>
                    </a:solidFill>
                  </a:tcPr>
                </a:tc>
                <a:tc>
                  <a:txBody>
                    <a:bodyPr wrap="none"/>
                    <a:lstStyle/>
                    <a:p>
                      <a:pPr algn="l"/>
                      <a:r>
                        <a:rPr sz="800" b="0">
                          <a:solidFill>
                            <a:srgbClr val="2E2E2E"/>
                          </a:solidFill>
                          <a:latin typeface="Calibri"/>
                        </a:rPr>
                        <a:t>1,240</a:t>
                      </a:r>
                    </a:p>
                  </a:txBody>
                  <a:tcPr marL="85725" marR="38100" marT="19050" marB="19050" anchor="ctr">
                    <a:solidFill>
                      <a:srgbClr val="FFFFFF"/>
                    </a:solidFill>
                  </a:tcPr>
                </a:tc>
                <a:tc>
                  <a:txBody>
                    <a:bodyPr wrap="none"/>
                    <a:lstStyle/>
                    <a:p>
                      <a:pPr algn="l"/>
                      <a:r>
                        <a:rPr sz="800" b="0">
                          <a:solidFill>
                            <a:srgbClr val="2E2E2E"/>
                          </a:solidFill>
                          <a:latin typeface="Calibri"/>
                        </a:rPr>
                        <a:t>1,320</a:t>
                      </a:r>
                    </a:p>
                  </a:txBody>
                  <a:tcPr marL="85725" marR="38100" marT="19050" marB="19050" anchor="ctr">
                    <a:solidFill>
                      <a:srgbClr val="FFFFFF"/>
                    </a:solidFill>
                  </a:tcPr>
                </a:tc>
                <a:tc>
                  <a:txBody>
                    <a:bodyPr wrap="none"/>
                    <a:lstStyle/>
                    <a:p>
                      <a:pPr algn="l"/>
                      <a:r>
                        <a:rPr sz="800" b="0">
                          <a:solidFill>
                            <a:srgbClr val="2E2E2E"/>
                          </a:solidFill>
                          <a:latin typeface="Calibri"/>
                        </a:rPr>
                        <a:t>1,409</a:t>
                      </a:r>
                    </a:p>
                  </a:txBody>
                  <a:tcPr marL="85725" marR="38100" marT="19050" marB="19050" anchor="ctr">
                    <a:solidFill>
                      <a:srgbClr val="FFFFFF"/>
                    </a:solidFill>
                  </a:tcPr>
                </a:tc>
                <a:tc>
                  <a:txBody>
                    <a:bodyPr wrap="none"/>
                    <a:lstStyle/>
                    <a:p>
                      <a:pPr algn="l"/>
                      <a:r>
                        <a:rPr sz="800" b="0">
                          <a:solidFill>
                            <a:srgbClr val="2E2E2E"/>
                          </a:solidFill>
                          <a:latin typeface="Calibri"/>
                        </a:rPr>
                        <a:t>1,507</a:t>
                      </a:r>
                    </a:p>
                  </a:txBody>
                  <a:tcPr marL="85725" marR="38100" marT="19050" marB="19050" anchor="ctr">
                    <a:solidFill>
                      <a:srgbClr val="FFFFFF"/>
                    </a:solidFill>
                  </a:tcPr>
                </a:tc>
                <a:tc>
                  <a:txBody>
                    <a:bodyPr wrap="none"/>
                    <a:lstStyle/>
                    <a:p>
                      <a:pPr algn="l"/>
                      <a:r>
                        <a:rPr sz="800" b="0">
                          <a:solidFill>
                            <a:srgbClr val="2E2E2E"/>
                          </a:solidFill>
                          <a:latin typeface="Calibri"/>
                        </a:rPr>
                        <a:t>1,613</a:t>
                      </a:r>
                    </a:p>
                  </a:txBody>
                  <a:tcPr marL="85725" marR="38100" marT="19050" marB="19050" anchor="ctr">
                    <a:solidFill>
                      <a:srgbClr val="FFFFFF"/>
                    </a:solidFill>
                  </a:tcPr>
                </a:tc>
                <a:tc>
                  <a:txBody>
                    <a:bodyPr wrap="none"/>
                    <a:lstStyle/>
                    <a:p>
                      <a:pPr algn="l"/>
                      <a:r>
                        <a:rPr sz="800" b="0">
                          <a:solidFill>
                            <a:srgbClr val="2E2E2E"/>
                          </a:solidFill>
                          <a:latin typeface="Calibri"/>
                        </a:rPr>
                        <a:t>1,728</a:t>
                      </a:r>
                    </a:p>
                  </a:txBody>
                  <a:tcPr marL="85725" marR="38100" marT="19050" marB="19050" anchor="ctr">
                    <a:solidFill>
                      <a:srgbClr val="FFFFFF"/>
                    </a:solidFill>
                  </a:tcPr>
                </a:tc>
                <a:tc>
                  <a:txBody>
                    <a:bodyPr wrap="none"/>
                    <a:lstStyle/>
                    <a:p>
                      <a:pPr algn="l"/>
                      <a:r>
                        <a:rPr sz="800" b="0">
                          <a:solidFill>
                            <a:srgbClr val="2E2E2E"/>
                          </a:solidFill>
                          <a:latin typeface="Calibri"/>
                        </a:rPr>
                        <a:t>1,852</a:t>
                      </a:r>
                    </a:p>
                  </a:txBody>
                  <a:tcPr marL="85725" marR="38100" marT="19050" marB="19050" anchor="ctr">
                    <a:solidFill>
                      <a:srgbClr val="FFFFFF"/>
                    </a:solidFill>
                  </a:tcPr>
                </a:tc>
                <a:tc>
                  <a:txBody>
                    <a:bodyPr wrap="none"/>
                    <a:lstStyle/>
                    <a:p>
                      <a:pPr algn="l"/>
                      <a:r>
                        <a:rPr sz="800" b="0">
                          <a:solidFill>
                            <a:srgbClr val="2E2E2E"/>
                          </a:solidFill>
                          <a:latin typeface="Calibri"/>
                        </a:rPr>
                        <a:t>1,985</a:t>
                      </a:r>
                    </a:p>
                  </a:txBody>
                  <a:tcPr marL="85725" marR="38100" marT="19050" marB="19050" anchor="ctr">
                    <a:solidFill>
                      <a:srgbClr val="FFFFFF"/>
                    </a:solidFill>
                  </a:tcPr>
                </a:tc>
                <a:tc>
                  <a:txBody>
                    <a:bodyPr wrap="none"/>
                    <a:lstStyle/>
                    <a:p>
                      <a:pPr algn="l"/>
                      <a:r>
                        <a:rPr sz="800" b="0">
                          <a:solidFill>
                            <a:srgbClr val="2E2E2E"/>
                          </a:solidFill>
                          <a:latin typeface="Calibri"/>
                        </a:rPr>
                        <a:t>2,133</a:t>
                      </a:r>
                    </a:p>
                  </a:txBody>
                  <a:tcPr marL="85725" marR="38100" marT="19050" marB="19050" anchor="ctr">
                    <a:solidFill>
                      <a:srgbClr val="FFFFFF"/>
                    </a:solidFill>
                  </a:tcPr>
                </a:tc>
                <a:tc>
                  <a:txBody>
                    <a:bodyPr wrap="none"/>
                    <a:lstStyle/>
                    <a:p>
                      <a:pPr algn="l"/>
                      <a:r>
                        <a:rPr sz="800" b="0">
                          <a:solidFill>
                            <a:srgbClr val="2E2E2E"/>
                          </a:solidFill>
                          <a:latin typeface="Calibri"/>
                        </a:rPr>
                        <a:t>2,293</a:t>
                      </a:r>
                    </a:p>
                  </a:txBody>
                  <a:tcPr marL="85725" marR="38100" marT="19050" marB="19050" anchor="ctr">
                    <a:solidFill>
                      <a:srgbClr val="FFFFFF"/>
                    </a:solidFill>
                  </a:tcPr>
                </a:tc>
                <a:tc>
                  <a:txBody>
                    <a:bodyPr wrap="none"/>
                    <a:lstStyle/>
                    <a:p>
                      <a:pPr algn="l"/>
                      <a:r>
                        <a:rPr sz="800" b="0">
                          <a:solidFill>
                            <a:srgbClr val="2E2E2E"/>
                          </a:solidFill>
                          <a:latin typeface="Calibri"/>
                        </a:rPr>
                        <a:t>2,471</a:t>
                      </a:r>
                    </a:p>
                  </a:txBody>
                  <a:tcPr marL="85725" marR="38100" marT="19050" marB="19050" anchor="ctr">
                    <a:solidFill>
                      <a:srgbClr val="FFFFFF"/>
                    </a:solidFill>
                  </a:tcPr>
                </a:tc>
                <a:tc>
                  <a:txBody>
                    <a:bodyPr wrap="none"/>
                    <a:lstStyle/>
                    <a:p>
                      <a:pPr algn="l"/>
                      <a:r>
                        <a:rPr sz="800" b="0">
                          <a:solidFill>
                            <a:srgbClr val="2E2E2E"/>
                          </a:solidFill>
                          <a:latin typeface="Calibri"/>
                        </a:rPr>
                        <a:t>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0">
                          <a:solidFill>
                            <a:srgbClr val="2E2E2E"/>
                          </a:solidFill>
                          <a:latin typeface="Calibri"/>
                        </a:rPr>
                        <a:t>339.3</a:t>
                      </a:r>
                    </a:p>
                  </a:txBody>
                  <a:tcPr marL="85725" marR="38100" marT="19050" marB="19050" anchor="ctr">
                    <a:solidFill>
                      <a:srgbClr val="F5F8FA"/>
                    </a:solidFill>
                  </a:tcPr>
                </a:tc>
                <a:tc>
                  <a:txBody>
                    <a:bodyPr wrap="none"/>
                    <a:lstStyle/>
                    <a:p>
                      <a:pPr algn="l"/>
                      <a:r>
                        <a:rPr sz="800" b="0">
                          <a:solidFill>
                            <a:srgbClr val="2E2E2E"/>
                          </a:solidFill>
                          <a:latin typeface="Calibri"/>
                        </a:rPr>
                        <a:t>354.9</a:t>
                      </a:r>
                    </a:p>
                  </a:txBody>
                  <a:tcPr marL="85725" marR="38100" marT="19050" marB="19050" anchor="ctr">
                    <a:solidFill>
                      <a:srgbClr val="F5F8FA"/>
                    </a:solidFill>
                  </a:tcPr>
                </a:tc>
                <a:tc>
                  <a:txBody>
                    <a:bodyPr wrap="none"/>
                    <a:lstStyle/>
                    <a:p>
                      <a:pPr algn="l"/>
                      <a:r>
                        <a:rPr sz="800" b="0">
                          <a:solidFill>
                            <a:srgbClr val="2E2E2E"/>
                          </a:solidFill>
                          <a:latin typeface="Calibri"/>
                        </a:rPr>
                        <a:t>372.6</a:t>
                      </a:r>
                    </a:p>
                  </a:txBody>
                  <a:tcPr marL="85725" marR="38100" marT="19050" marB="19050" anchor="ctr">
                    <a:solidFill>
                      <a:srgbClr val="F5F8FA"/>
                    </a:solidFill>
                  </a:tcPr>
                </a:tc>
                <a:tc>
                  <a:txBody>
                    <a:bodyPr wrap="none"/>
                    <a:lstStyle/>
                    <a:p>
                      <a:pPr algn="l"/>
                      <a:r>
                        <a:rPr sz="800" b="0">
                          <a:solidFill>
                            <a:srgbClr val="2E2E2E"/>
                          </a:solidFill>
                          <a:latin typeface="Calibri"/>
                        </a:rPr>
                        <a:t>393.7</a:t>
                      </a:r>
                    </a:p>
                  </a:txBody>
                  <a:tcPr marL="85725" marR="38100" marT="19050" marB="19050" anchor="ctr">
                    <a:solidFill>
                      <a:srgbClr val="F5F8FA"/>
                    </a:solidFill>
                  </a:tcPr>
                </a:tc>
                <a:tc>
                  <a:txBody>
                    <a:bodyPr wrap="none"/>
                    <a:lstStyle/>
                    <a:p>
                      <a:pPr algn="l"/>
                      <a:r>
                        <a:rPr sz="800" b="0">
                          <a:solidFill>
                            <a:srgbClr val="2E2E2E"/>
                          </a:solidFill>
                          <a:latin typeface="Calibri"/>
                        </a:rPr>
                        <a:t>418.2</a:t>
                      </a:r>
                    </a:p>
                  </a:txBody>
                  <a:tcPr marL="85725" marR="38100" marT="19050" marB="19050" anchor="ctr">
                    <a:solidFill>
                      <a:srgbClr val="F5F8FA"/>
                    </a:solidFill>
                  </a:tcPr>
                </a:tc>
                <a:tc>
                  <a:txBody>
                    <a:bodyPr wrap="none"/>
                    <a:lstStyle/>
                    <a:p>
                      <a:pPr algn="l"/>
                      <a:r>
                        <a:rPr sz="800" b="0">
                          <a:solidFill>
                            <a:srgbClr val="2E2E2E"/>
                          </a:solidFill>
                          <a:latin typeface="Calibri"/>
                        </a:rPr>
                        <a:t>448.1</a:t>
                      </a:r>
                    </a:p>
                  </a:txBody>
                  <a:tcPr marL="85725" marR="38100" marT="19050" marB="19050" anchor="ctr">
                    <a:solidFill>
                      <a:srgbClr val="F5F8FA"/>
                    </a:solidFill>
                  </a:tcPr>
                </a:tc>
                <a:tc>
                  <a:txBody>
                    <a:bodyPr wrap="none"/>
                    <a:lstStyle/>
                    <a:p>
                      <a:pPr algn="l"/>
                      <a:r>
                        <a:rPr sz="800" b="0">
                          <a:solidFill>
                            <a:srgbClr val="2E2E2E"/>
                          </a:solidFill>
                          <a:latin typeface="Calibri"/>
                        </a:rPr>
                        <a:t>482.4</a:t>
                      </a:r>
                    </a:p>
                  </a:txBody>
                  <a:tcPr marL="85725" marR="38100" marT="19050" marB="19050" anchor="ctr">
                    <a:solidFill>
                      <a:srgbClr val="F5F8FA"/>
                    </a:solidFill>
                  </a:tcPr>
                </a:tc>
                <a:tc>
                  <a:txBody>
                    <a:bodyPr wrap="none"/>
                    <a:lstStyle/>
                    <a:p>
                      <a:pPr algn="l"/>
                      <a:r>
                        <a:rPr sz="800" b="0">
                          <a:solidFill>
                            <a:srgbClr val="2E2E2E"/>
                          </a:solidFill>
                          <a:latin typeface="Calibri"/>
                        </a:rPr>
                        <a:t>521.1</a:t>
                      </a:r>
                    </a:p>
                  </a:txBody>
                  <a:tcPr marL="85725" marR="38100" marT="19050" marB="19050" anchor="ctr">
                    <a:solidFill>
                      <a:srgbClr val="F5F8FA"/>
                    </a:solidFill>
                  </a:tcPr>
                </a:tc>
                <a:tc>
                  <a:txBody>
                    <a:bodyPr wrap="none"/>
                    <a:lstStyle/>
                    <a:p>
                      <a:pPr algn="l"/>
                      <a:r>
                        <a:rPr sz="800" b="0">
                          <a:solidFill>
                            <a:srgbClr val="2E2E2E"/>
                          </a:solidFill>
                          <a:latin typeface="Calibri"/>
                        </a:rPr>
                        <a:t>564.0</a:t>
                      </a:r>
                    </a:p>
                  </a:txBody>
                  <a:tcPr marL="85725" marR="38100" marT="19050" marB="19050" anchor="ctr">
                    <a:solidFill>
                      <a:srgbClr val="F5F8FA"/>
                    </a:solidFill>
                  </a:tcPr>
                </a:tc>
                <a:tc>
                  <a:txBody>
                    <a:bodyPr wrap="none"/>
                    <a:lstStyle/>
                    <a:p>
                      <a:pPr algn="l"/>
                      <a:r>
                        <a:rPr sz="800" b="0">
                          <a:solidFill>
                            <a:srgbClr val="2E2E2E"/>
                          </a:solidFill>
                          <a:latin typeface="Calibri"/>
                        </a:rPr>
                        <a:t>611.1</a:t>
                      </a:r>
                    </a:p>
                  </a:txBody>
                  <a:tcPr marL="85725" marR="38100" marT="19050" marB="19050" anchor="ctr">
                    <a:solidFill>
                      <a:srgbClr val="F5F8FA"/>
                    </a:solidFill>
                  </a:tcPr>
                </a:tc>
                <a:tc>
                  <a:txBody>
                    <a:bodyPr wrap="none"/>
                    <a:lstStyle/>
                    <a:p>
                      <a:pPr algn="l"/>
                      <a:r>
                        <a:rPr sz="800" b="0">
                          <a:solidFill>
                            <a:srgbClr val="2E2E2E"/>
                          </a:solidFill>
                          <a:latin typeface="Calibri"/>
                        </a:rPr>
                        <a:t>662.4</a:t>
                      </a:r>
                    </a:p>
                  </a:txBody>
                  <a:tcPr marL="85725" marR="38100" marT="19050" marB="19050" anchor="ctr">
                    <a:solidFill>
                      <a:srgbClr val="F5F8FA"/>
                    </a:solidFill>
                  </a:tcPr>
                </a:tc>
                <a:tc>
                  <a:txBody>
                    <a:bodyPr wrap="none"/>
                    <a:lstStyle/>
                    <a:p>
                      <a:pPr algn="l"/>
                      <a:r>
                        <a:rPr sz="800" b="0">
                          <a:solidFill>
                            <a:srgbClr val="2E2E2E"/>
                          </a:solidFill>
                          <a:latin typeface="Calibri"/>
                        </a:rPr>
                        <a:t>718.7</a:t>
                      </a:r>
                    </a:p>
                  </a:txBody>
                  <a:tcPr marL="85725" marR="38100" marT="19050" marB="19050" anchor="ctr">
                    <a:solidFill>
                      <a:srgbClr val="F5F8FA"/>
                    </a:solidFill>
                  </a:tcPr>
                </a:tc>
                <a:tc>
                  <a:txBody>
                    <a:bodyPr wrap="none"/>
                    <a:lstStyle/>
                    <a:p>
                      <a:pPr algn="l"/>
                      <a:r>
                        <a:rPr sz="800" b="0">
                          <a:solidFill>
                            <a:srgbClr val="2E2E2E"/>
                          </a:solidFill>
                          <a:latin typeface="Calibri"/>
                        </a:rPr>
                        <a:t>779.9</a:t>
                      </a:r>
                    </a:p>
                  </a:txBody>
                  <a:tcPr marL="85725" marR="38100" marT="19050" marB="19050" anchor="ctr">
                    <a:solidFill>
                      <a:srgbClr val="F5F8FA"/>
                    </a:solidFill>
                  </a:tcPr>
                </a:tc>
                <a:tc>
                  <a:txBody>
                    <a:bodyPr wrap="none"/>
                    <a:lstStyle/>
                    <a:p>
                      <a:pPr algn="l"/>
                      <a:r>
                        <a:rPr sz="800" b="0">
                          <a:solidFill>
                            <a:srgbClr val="2E2E2E"/>
                          </a:solidFill>
                          <a:latin typeface="Calibri"/>
                        </a:rPr>
                        <a:t>848.5</a:t>
                      </a:r>
                    </a:p>
                  </a:txBody>
                  <a:tcPr marL="85725" marR="38100" marT="19050" marB="19050" anchor="ctr">
                    <a:solidFill>
                      <a:srgbClr val="F5F8FA"/>
                    </a:solidFill>
                  </a:tcPr>
                </a:tc>
                <a:tc>
                  <a:txBody>
                    <a:bodyPr wrap="none"/>
                    <a:lstStyle/>
                    <a:p>
                      <a:pPr algn="l"/>
                      <a:r>
                        <a:rPr sz="800" b="0">
                          <a:solidFill>
                            <a:srgbClr val="2E2E2E"/>
                          </a:solidFill>
                          <a:latin typeface="Calibri"/>
                        </a:rPr>
                        <a:t>924.0</a:t>
                      </a:r>
                    </a:p>
                  </a:txBody>
                  <a:tcPr marL="85725" marR="38100" marT="19050" marB="19050" anchor="ctr">
                    <a:solidFill>
                      <a:srgbClr val="F5F8FA"/>
                    </a:solidFill>
                  </a:tcPr>
                </a:tc>
                <a:tc>
                  <a:txBody>
                    <a:bodyPr wrap="none"/>
                    <a:lstStyle/>
                    <a:p>
                      <a:pPr algn="l"/>
                      <a:r>
                        <a:rPr sz="800" b="0">
                          <a:solidFill>
                            <a:srgbClr val="2E2E2E"/>
                          </a:solidFill>
                          <a:latin typeface="Calibri"/>
                        </a:rPr>
                        <a:t>1,008</a:t>
                      </a:r>
                    </a:p>
                  </a:txBody>
                  <a:tcPr marL="85725" marR="38100" marT="19050" marB="19050" anchor="ctr">
                    <a:solidFill>
                      <a:srgbClr val="F5F8FA"/>
                    </a:solidFill>
                  </a:tcPr>
                </a:tc>
                <a:tc>
                  <a:txBody>
                    <a:bodyPr wrap="none"/>
                    <a:lstStyle/>
                    <a:p>
                      <a:pPr algn="l"/>
                      <a:r>
                        <a:rPr sz="8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0">
                          <a:solidFill>
                            <a:srgbClr val="2E2E2E"/>
                          </a:solidFill>
                          <a:latin typeface="Calibri"/>
                        </a:rPr>
                        <a:t>353.0</a:t>
                      </a:r>
                    </a:p>
                  </a:txBody>
                  <a:tcPr marL="85725" marR="38100" marT="19050" marB="19050" anchor="ctr">
                    <a:solidFill>
                      <a:srgbClr val="FFFFFF"/>
                    </a:solidFill>
                  </a:tcPr>
                </a:tc>
                <a:tc>
                  <a:txBody>
                    <a:bodyPr wrap="none"/>
                    <a:lstStyle/>
                    <a:p>
                      <a:pPr algn="l"/>
                      <a:r>
                        <a:rPr sz="800" b="0">
                          <a:solidFill>
                            <a:srgbClr val="2E2E2E"/>
                          </a:solidFill>
                          <a:latin typeface="Calibri"/>
                        </a:rPr>
                        <a:t>362.8</a:t>
                      </a:r>
                    </a:p>
                  </a:txBody>
                  <a:tcPr marL="85725" marR="38100" marT="19050" marB="19050" anchor="ctr">
                    <a:solidFill>
                      <a:srgbClr val="FFFFFF"/>
                    </a:solidFill>
                  </a:tcPr>
                </a:tc>
                <a:tc>
                  <a:txBody>
                    <a:bodyPr wrap="none"/>
                    <a:lstStyle/>
                    <a:p>
                      <a:pPr algn="l"/>
                      <a:r>
                        <a:rPr sz="800" b="0">
                          <a:solidFill>
                            <a:srgbClr val="2E2E2E"/>
                          </a:solidFill>
                          <a:latin typeface="Calibri"/>
                        </a:rPr>
                        <a:t>374.0</a:t>
                      </a:r>
                    </a:p>
                  </a:txBody>
                  <a:tcPr marL="85725" marR="38100" marT="19050" marB="19050" anchor="ctr">
                    <a:solidFill>
                      <a:srgbClr val="FFFFFF"/>
                    </a:solidFill>
                  </a:tcPr>
                </a:tc>
                <a:tc>
                  <a:txBody>
                    <a:bodyPr wrap="none"/>
                    <a:lstStyle/>
                    <a:p>
                      <a:pPr algn="l"/>
                      <a:r>
                        <a:rPr sz="800" b="0">
                          <a:solidFill>
                            <a:srgbClr val="2E2E2E"/>
                          </a:solidFill>
                          <a:latin typeface="Calibri"/>
                        </a:rPr>
                        <a:t>388.1</a:t>
                      </a:r>
                    </a:p>
                  </a:txBody>
                  <a:tcPr marL="85725" marR="38100" marT="19050" marB="19050" anchor="ctr">
                    <a:solidFill>
                      <a:srgbClr val="FFFFFF"/>
                    </a:solidFill>
                  </a:tcPr>
                </a:tc>
                <a:tc>
                  <a:txBody>
                    <a:bodyPr wrap="none"/>
                    <a:lstStyle/>
                    <a:p>
                      <a:pPr algn="l"/>
                      <a:r>
                        <a:rPr sz="800" b="0">
                          <a:solidFill>
                            <a:srgbClr val="2E2E2E"/>
                          </a:solidFill>
                          <a:latin typeface="Calibri"/>
                        </a:rPr>
                        <a:t>404.6</a:t>
                      </a:r>
                    </a:p>
                  </a:txBody>
                  <a:tcPr marL="85725" marR="38100" marT="19050" marB="19050" anchor="ctr">
                    <a:solidFill>
                      <a:srgbClr val="FFFFFF"/>
                    </a:solidFill>
                  </a:tcPr>
                </a:tc>
                <a:tc>
                  <a:txBody>
                    <a:bodyPr wrap="none"/>
                    <a:lstStyle/>
                    <a:p>
                      <a:pPr algn="l"/>
                      <a:r>
                        <a:rPr sz="800" b="0">
                          <a:solidFill>
                            <a:srgbClr val="2E2E2E"/>
                          </a:solidFill>
                          <a:latin typeface="Calibri"/>
                        </a:rPr>
                        <a:t>425.2</a:t>
                      </a:r>
                    </a:p>
                  </a:txBody>
                  <a:tcPr marL="85725" marR="38100" marT="19050" marB="19050" anchor="ctr">
                    <a:solidFill>
                      <a:srgbClr val="FFFFFF"/>
                    </a:solidFill>
                  </a:tcPr>
                </a:tc>
                <a:tc>
                  <a:txBody>
                    <a:bodyPr wrap="none"/>
                    <a:lstStyle/>
                    <a:p>
                      <a:pPr algn="l"/>
                      <a:r>
                        <a:rPr sz="800" b="0">
                          <a:solidFill>
                            <a:srgbClr val="2E2E2E"/>
                          </a:solidFill>
                          <a:latin typeface="Calibri"/>
                        </a:rPr>
                        <a:t>449.1</a:t>
                      </a:r>
                    </a:p>
                  </a:txBody>
                  <a:tcPr marL="85725" marR="38100" marT="19050" marB="19050" anchor="ctr">
                    <a:solidFill>
                      <a:srgbClr val="FFFFFF"/>
                    </a:solidFill>
                  </a:tcPr>
                </a:tc>
                <a:tc>
                  <a:txBody>
                    <a:bodyPr wrap="none"/>
                    <a:lstStyle/>
                    <a:p>
                      <a:pPr algn="l"/>
                      <a:r>
                        <a:rPr sz="800" b="0">
                          <a:solidFill>
                            <a:srgbClr val="2E2E2E"/>
                          </a:solidFill>
                          <a:latin typeface="Calibri"/>
                        </a:rPr>
                        <a:t>475.8</a:t>
                      </a:r>
                    </a:p>
                  </a:txBody>
                  <a:tcPr marL="85725" marR="38100" marT="19050" marB="19050" anchor="ctr">
                    <a:solidFill>
                      <a:srgbClr val="FFFFFF"/>
                    </a:solidFill>
                  </a:tcPr>
                </a:tc>
                <a:tc>
                  <a:txBody>
                    <a:bodyPr wrap="none"/>
                    <a:lstStyle/>
                    <a:p>
                      <a:pPr algn="l"/>
                      <a:r>
                        <a:rPr sz="800" b="0">
                          <a:solidFill>
                            <a:srgbClr val="2E2E2E"/>
                          </a:solidFill>
                          <a:latin typeface="Calibri"/>
                        </a:rPr>
                        <a:t>505.2</a:t>
                      </a:r>
                    </a:p>
                  </a:txBody>
                  <a:tcPr marL="85725" marR="38100" marT="19050" marB="19050" anchor="ctr">
                    <a:solidFill>
                      <a:srgbClr val="FFFFFF"/>
                    </a:solidFill>
                  </a:tcPr>
                </a:tc>
                <a:tc>
                  <a:txBody>
                    <a:bodyPr wrap="none"/>
                    <a:lstStyle/>
                    <a:p>
                      <a:pPr algn="l"/>
                      <a:r>
                        <a:rPr sz="800" b="0">
                          <a:solidFill>
                            <a:srgbClr val="2E2E2E"/>
                          </a:solidFill>
                          <a:latin typeface="Calibri"/>
                        </a:rPr>
                        <a:t>536.8</a:t>
                      </a:r>
                    </a:p>
                  </a:txBody>
                  <a:tcPr marL="85725" marR="38100" marT="19050" marB="19050" anchor="ctr">
                    <a:solidFill>
                      <a:srgbClr val="FFFFFF"/>
                    </a:solidFill>
                  </a:tcPr>
                </a:tc>
                <a:tc>
                  <a:txBody>
                    <a:bodyPr wrap="none"/>
                    <a:lstStyle/>
                    <a:p>
                      <a:pPr algn="l"/>
                      <a:r>
                        <a:rPr sz="800" b="0">
                          <a:solidFill>
                            <a:srgbClr val="2E2E2E"/>
                          </a:solidFill>
                          <a:latin typeface="Calibri"/>
                        </a:rPr>
                        <a:t>570.6</a:t>
                      </a:r>
                    </a:p>
                  </a:txBody>
                  <a:tcPr marL="85725" marR="38100" marT="19050" marB="19050" anchor="ctr">
                    <a:solidFill>
                      <a:srgbClr val="FFFFFF"/>
                    </a:solidFill>
                  </a:tcPr>
                </a:tc>
                <a:tc>
                  <a:txBody>
                    <a:bodyPr wrap="none"/>
                    <a:lstStyle/>
                    <a:p>
                      <a:pPr algn="l"/>
                      <a:r>
                        <a:rPr sz="800" b="0">
                          <a:solidFill>
                            <a:srgbClr val="2E2E2E"/>
                          </a:solidFill>
                          <a:latin typeface="Calibri"/>
                        </a:rPr>
                        <a:t>607.2</a:t>
                      </a:r>
                    </a:p>
                  </a:txBody>
                  <a:tcPr marL="85725" marR="38100" marT="19050" marB="19050" anchor="ctr">
                    <a:solidFill>
                      <a:srgbClr val="FFFFFF"/>
                    </a:solidFill>
                  </a:tcPr>
                </a:tc>
                <a:tc>
                  <a:txBody>
                    <a:bodyPr wrap="none"/>
                    <a:lstStyle/>
                    <a:p>
                      <a:pPr algn="l"/>
                      <a:r>
                        <a:rPr sz="800" b="0">
                          <a:solidFill>
                            <a:srgbClr val="2E2E2E"/>
                          </a:solidFill>
                          <a:latin typeface="Calibri"/>
                        </a:rPr>
                        <a:t>646.3</a:t>
                      </a:r>
                    </a:p>
                  </a:txBody>
                  <a:tcPr marL="85725" marR="38100" marT="19050" marB="19050" anchor="ctr">
                    <a:solidFill>
                      <a:srgbClr val="FFFFFF"/>
                    </a:solidFill>
                  </a:tcPr>
                </a:tc>
                <a:tc>
                  <a:txBody>
                    <a:bodyPr wrap="none"/>
                    <a:lstStyle/>
                    <a:p>
                      <a:pPr algn="l"/>
                      <a:r>
                        <a:rPr sz="800" b="0">
                          <a:solidFill>
                            <a:srgbClr val="2E2E2E"/>
                          </a:solidFill>
                          <a:latin typeface="Calibri"/>
                        </a:rPr>
                        <a:t>689.5</a:t>
                      </a:r>
                    </a:p>
                  </a:txBody>
                  <a:tcPr marL="85725" marR="38100" marT="19050" marB="19050" anchor="ctr">
                    <a:solidFill>
                      <a:srgbClr val="FFFFFF"/>
                    </a:solidFill>
                  </a:tcPr>
                </a:tc>
                <a:tc>
                  <a:txBody>
                    <a:bodyPr wrap="none"/>
                    <a:lstStyle/>
                    <a:p>
                      <a:pPr algn="l"/>
                      <a:r>
                        <a:rPr sz="800" b="0">
                          <a:solidFill>
                            <a:srgbClr val="2E2E2E"/>
                          </a:solidFill>
                          <a:latin typeface="Calibri"/>
                        </a:rPr>
                        <a:t>736.4</a:t>
                      </a:r>
                    </a:p>
                  </a:txBody>
                  <a:tcPr marL="85725" marR="38100" marT="19050" marB="19050" anchor="ctr">
                    <a:solidFill>
                      <a:srgbClr val="FFFFFF"/>
                    </a:solidFill>
                  </a:tcPr>
                </a:tc>
                <a:tc>
                  <a:txBody>
                    <a:bodyPr wrap="none"/>
                    <a:lstStyle/>
                    <a:p>
                      <a:pPr algn="l"/>
                      <a:r>
                        <a:rPr sz="800" b="0">
                          <a:solidFill>
                            <a:srgbClr val="2E2E2E"/>
                          </a:solidFill>
                          <a:latin typeface="Calibri"/>
                        </a:rPr>
                        <a:t>788.0</a:t>
                      </a:r>
                    </a:p>
                  </a:txBody>
                  <a:tcPr marL="85725" marR="38100" marT="19050" marB="19050" anchor="ctr">
                    <a:solidFill>
                      <a:srgbClr val="FFFFFF"/>
                    </a:solidFill>
                  </a:tcPr>
                </a:tc>
                <a:tc>
                  <a:txBody>
                    <a:bodyPr wrap="none"/>
                    <a:lstStyle/>
                    <a:p>
                      <a:pPr algn="l"/>
                      <a:r>
                        <a:rPr sz="800" b="0">
                          <a:solidFill>
                            <a:srgbClr val="2E2E2E"/>
                          </a:solidFill>
                          <a:latin typeface="Calibri"/>
                        </a:rPr>
                        <a:t>6.4%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0">
                          <a:solidFill>
                            <a:srgbClr val="2E2E2E"/>
                          </a:solidFill>
                          <a:latin typeface="Calibri"/>
                        </a:rPr>
                        <a:t>103.5</a:t>
                      </a:r>
                    </a:p>
                  </a:txBody>
                  <a:tcPr marL="85725" marR="38100" marT="19050" marB="19050" anchor="ctr">
                    <a:solidFill>
                      <a:srgbClr val="F5F8FA"/>
                    </a:solidFill>
                  </a:tcPr>
                </a:tc>
                <a:tc>
                  <a:txBody>
                    <a:bodyPr wrap="none"/>
                    <a:lstStyle/>
                    <a:p>
                      <a:pPr algn="l"/>
                      <a:r>
                        <a:rPr sz="800" b="0">
                          <a:solidFill>
                            <a:srgbClr val="2E2E2E"/>
                          </a:solidFill>
                          <a:latin typeface="Calibri"/>
                        </a:rPr>
                        <a:t>116.6</a:t>
                      </a:r>
                    </a:p>
                  </a:txBody>
                  <a:tcPr marL="85725" marR="38100" marT="19050" marB="19050" anchor="ctr">
                    <a:solidFill>
                      <a:srgbClr val="F5F8FA"/>
                    </a:solidFill>
                  </a:tcPr>
                </a:tc>
                <a:tc>
                  <a:txBody>
                    <a:bodyPr wrap="none"/>
                    <a:lstStyle/>
                    <a:p>
                      <a:pPr algn="l"/>
                      <a:r>
                        <a:rPr sz="800" b="0">
                          <a:solidFill>
                            <a:srgbClr val="2E2E2E"/>
                          </a:solidFill>
                          <a:latin typeface="Calibri"/>
                        </a:rPr>
                        <a:t>131.8</a:t>
                      </a:r>
                    </a:p>
                  </a:txBody>
                  <a:tcPr marL="85725" marR="38100" marT="19050" marB="19050" anchor="ctr">
                    <a:solidFill>
                      <a:srgbClr val="F5F8FA"/>
                    </a:solidFill>
                  </a:tcPr>
                </a:tc>
                <a:tc>
                  <a:txBody>
                    <a:bodyPr wrap="none"/>
                    <a:lstStyle/>
                    <a:p>
                      <a:pPr algn="l"/>
                      <a:r>
                        <a:rPr sz="800" b="0">
                          <a:solidFill>
                            <a:srgbClr val="2E2E2E"/>
                          </a:solidFill>
                          <a:latin typeface="Calibri"/>
                        </a:rPr>
                        <a:t>149.9</a:t>
                      </a:r>
                    </a:p>
                  </a:txBody>
                  <a:tcPr marL="85725" marR="38100" marT="19050" marB="19050" anchor="ctr">
                    <a:solidFill>
                      <a:srgbClr val="F5F8FA"/>
                    </a:solidFill>
                  </a:tcPr>
                </a:tc>
                <a:tc>
                  <a:txBody>
                    <a:bodyPr wrap="none"/>
                    <a:lstStyle/>
                    <a:p>
                      <a:pPr algn="l"/>
                      <a:r>
                        <a:rPr sz="800" b="0">
                          <a:solidFill>
                            <a:srgbClr val="2E2E2E"/>
                          </a:solidFill>
                          <a:latin typeface="Calibri"/>
                        </a:rPr>
                        <a:t>171.2</a:t>
                      </a:r>
                    </a:p>
                  </a:txBody>
                  <a:tcPr marL="85725" marR="38100" marT="19050" marB="19050" anchor="ctr">
                    <a:solidFill>
                      <a:srgbClr val="F5F8FA"/>
                    </a:solidFill>
                  </a:tcPr>
                </a:tc>
                <a:tc>
                  <a:txBody>
                    <a:bodyPr wrap="none"/>
                    <a:lstStyle/>
                    <a:p>
                      <a:pPr algn="l"/>
                      <a:r>
                        <a:rPr sz="800" b="0">
                          <a:solidFill>
                            <a:srgbClr val="2E2E2E"/>
                          </a:solidFill>
                          <a:latin typeface="Calibri"/>
                        </a:rPr>
                        <a:t>191.9</a:t>
                      </a:r>
                    </a:p>
                  </a:txBody>
                  <a:tcPr marL="85725" marR="38100" marT="19050" marB="19050" anchor="ctr">
                    <a:solidFill>
                      <a:srgbClr val="F5F8FA"/>
                    </a:solidFill>
                  </a:tcPr>
                </a:tc>
                <a:tc>
                  <a:txBody>
                    <a:bodyPr wrap="none"/>
                    <a:lstStyle/>
                    <a:p>
                      <a:pPr algn="l"/>
                      <a:r>
                        <a:rPr sz="800" b="0">
                          <a:solidFill>
                            <a:srgbClr val="2E2E2E"/>
                          </a:solidFill>
                          <a:latin typeface="Calibri"/>
                        </a:rPr>
                        <a:t>216.1</a:t>
                      </a:r>
                    </a:p>
                  </a:txBody>
                  <a:tcPr marL="85725" marR="38100" marT="19050" marB="19050" anchor="ctr">
                    <a:solidFill>
                      <a:srgbClr val="F5F8FA"/>
                    </a:solidFill>
                  </a:tcPr>
                </a:tc>
                <a:tc>
                  <a:txBody>
                    <a:bodyPr wrap="none"/>
                    <a:lstStyle/>
                    <a:p>
                      <a:pPr algn="l"/>
                      <a:r>
                        <a:rPr sz="800" b="0">
                          <a:solidFill>
                            <a:srgbClr val="2E2E2E"/>
                          </a:solidFill>
                          <a:latin typeface="Calibri"/>
                        </a:rPr>
                        <a:t>244.0</a:t>
                      </a:r>
                    </a:p>
                  </a:txBody>
                  <a:tcPr marL="85725" marR="38100" marT="19050" marB="19050" anchor="ctr">
                    <a:solidFill>
                      <a:srgbClr val="F5F8FA"/>
                    </a:solidFill>
                  </a:tcPr>
                </a:tc>
                <a:tc>
                  <a:txBody>
                    <a:bodyPr wrap="none"/>
                    <a:lstStyle/>
                    <a:p>
                      <a:pPr algn="l"/>
                      <a:r>
                        <a:rPr sz="800" b="0">
                          <a:solidFill>
                            <a:srgbClr val="2E2E2E"/>
                          </a:solidFill>
                          <a:latin typeface="Calibri"/>
                        </a:rPr>
                        <a:t>276.0</a:t>
                      </a:r>
                    </a:p>
                  </a:txBody>
                  <a:tcPr marL="85725" marR="38100" marT="19050" marB="19050" anchor="ctr">
                    <a:solidFill>
                      <a:srgbClr val="F5F8FA"/>
                    </a:solidFill>
                  </a:tcPr>
                </a:tc>
                <a:tc>
                  <a:txBody>
                    <a:bodyPr wrap="none"/>
                    <a:lstStyle/>
                    <a:p>
                      <a:pPr algn="l"/>
                      <a:r>
                        <a:rPr sz="800" b="0">
                          <a:solidFill>
                            <a:srgbClr val="2E2E2E"/>
                          </a:solidFill>
                          <a:latin typeface="Calibri"/>
                        </a:rPr>
                        <a:t>312.3</a:t>
                      </a:r>
                    </a:p>
                  </a:txBody>
                  <a:tcPr marL="85725" marR="38100" marT="19050" marB="19050" anchor="ctr">
                    <a:solidFill>
                      <a:srgbClr val="F5F8FA"/>
                    </a:solidFill>
                  </a:tcPr>
                </a:tc>
                <a:tc>
                  <a:txBody>
                    <a:bodyPr wrap="none"/>
                    <a:lstStyle/>
                    <a:p>
                      <a:pPr algn="l"/>
                      <a:r>
                        <a:rPr sz="800" b="0">
                          <a:solidFill>
                            <a:srgbClr val="2E2E2E"/>
                          </a:solidFill>
                          <a:latin typeface="Calibri"/>
                        </a:rPr>
                        <a:t>353.6</a:t>
                      </a:r>
                    </a:p>
                  </a:txBody>
                  <a:tcPr marL="85725" marR="38100" marT="19050" marB="19050" anchor="ctr">
                    <a:solidFill>
                      <a:srgbClr val="F5F8FA"/>
                    </a:solidFill>
                  </a:tcPr>
                </a:tc>
                <a:tc>
                  <a:txBody>
                    <a:bodyPr wrap="none"/>
                    <a:lstStyle/>
                    <a:p>
                      <a:pPr algn="l"/>
                      <a:r>
                        <a:rPr sz="800" b="0">
                          <a:solidFill>
                            <a:srgbClr val="2E2E2E"/>
                          </a:solidFill>
                          <a:latin typeface="Calibri"/>
                        </a:rPr>
                        <a:t>400.5</a:t>
                      </a:r>
                    </a:p>
                  </a:txBody>
                  <a:tcPr marL="85725" marR="38100" marT="19050" marB="19050" anchor="ctr">
                    <a:solidFill>
                      <a:srgbClr val="F5F8FA"/>
                    </a:solidFill>
                  </a:tcPr>
                </a:tc>
                <a:tc>
                  <a:txBody>
                    <a:bodyPr wrap="none"/>
                    <a:lstStyle/>
                    <a:p>
                      <a:pPr algn="l"/>
                      <a:r>
                        <a:rPr sz="800" b="0">
                          <a:solidFill>
                            <a:srgbClr val="2E2E2E"/>
                          </a:solidFill>
                          <a:latin typeface="Calibri"/>
                        </a:rPr>
                        <a:t>453.6</a:t>
                      </a:r>
                    </a:p>
                  </a:txBody>
                  <a:tcPr marL="85725" marR="38100" marT="19050" marB="19050" anchor="ctr">
                    <a:solidFill>
                      <a:srgbClr val="F5F8FA"/>
                    </a:solidFill>
                  </a:tcPr>
                </a:tc>
                <a:tc>
                  <a:txBody>
                    <a:bodyPr wrap="none"/>
                    <a:lstStyle/>
                    <a:p>
                      <a:pPr algn="l"/>
                      <a:r>
                        <a:rPr sz="800" b="0">
                          <a:solidFill>
                            <a:srgbClr val="2E2E2E"/>
                          </a:solidFill>
                          <a:latin typeface="Calibri"/>
                        </a:rPr>
                        <a:t>514.8</a:t>
                      </a:r>
                    </a:p>
                  </a:txBody>
                  <a:tcPr marL="85725" marR="38100" marT="19050" marB="19050" anchor="ctr">
                    <a:solidFill>
                      <a:srgbClr val="F5F8FA"/>
                    </a:solidFill>
                  </a:tcPr>
                </a:tc>
                <a:tc>
                  <a:txBody>
                    <a:bodyPr wrap="none"/>
                    <a:lstStyle/>
                    <a:p>
                      <a:pPr algn="l"/>
                      <a:r>
                        <a:rPr sz="800" b="0">
                          <a:solidFill>
                            <a:srgbClr val="2E2E2E"/>
                          </a:solidFill>
                          <a:latin typeface="Calibri"/>
                        </a:rPr>
                        <a:t>584.6</a:t>
                      </a:r>
                    </a:p>
                  </a:txBody>
                  <a:tcPr marL="85725" marR="38100" marT="19050" marB="19050" anchor="ctr">
                    <a:solidFill>
                      <a:srgbClr val="F5F8FA"/>
                    </a:solidFill>
                  </a:tcPr>
                </a:tc>
                <a:tc>
                  <a:txBody>
                    <a:bodyPr wrap="none"/>
                    <a:lstStyle/>
                    <a:p>
                      <a:pPr algn="l"/>
                      <a:r>
                        <a:rPr sz="800" b="0">
                          <a:solidFill>
                            <a:srgbClr val="2E2E2E"/>
                          </a:solidFill>
                          <a:latin typeface="Calibri"/>
                        </a:rPr>
                        <a:t>665.1</a:t>
                      </a:r>
                    </a:p>
                  </a:txBody>
                  <a:tcPr marL="85725" marR="38100" marT="19050" marB="19050" anchor="ctr">
                    <a:solidFill>
                      <a:srgbClr val="F5F8FA"/>
                    </a:solidFill>
                  </a:tcPr>
                </a:tc>
                <a:tc>
                  <a:txBody>
                    <a:bodyPr wrap="none"/>
                    <a:lstStyle/>
                    <a:p>
                      <a:pPr algn="l"/>
                      <a:r>
                        <a:rPr sz="800" b="0">
                          <a:solidFill>
                            <a:srgbClr val="2E2E2E"/>
                          </a:solidFill>
                          <a:latin typeface="Calibri"/>
                        </a:rPr>
                        <a:t>13.2%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Specimen Collected</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'Whole Blood' is the largest specimen collected at 50.1% of 2036 value (2,471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'Dried Blood Spot' grows fastest 13.2%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'Dried Blood Spot' (+516 BPS) and away from 'Whole Blood' (-370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Specimen Collected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Specimen Collected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Specimen Collected ·  2021 / 2026 / 2036 (US$ Mn)  ·  right axis = BPS share shift</a:t>
            </a:r>
          </a:p>
        </p:txBody>
      </p:sp>
      <p:graphicFrame>
        <p:nvGraphicFramePr>
          <p:cNvPr id="14" name="Chart 13"/>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466850"/>
            <a:ext cx="1586293" cy="179832"/>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-516</a:t>
            </a:r>
          </a:p>
        </p:txBody>
      </p:sp>
      <p:sp>
        <p:nvSpPr>
          <p:cNvPr id="19" name="TextBox 18"/>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+516</a:t>
            </a:r>
          </a:p>
        </p:txBody>
      </p:sp>
      <p:sp>
        <p:nvSpPr>
          <p:cNvPr id="21" name="Oval 20"/>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384330"/>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4457143"/>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4837957"/>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+516</a:t>
            </a:r>
          </a:p>
        </p:txBody>
      </p:sp>
      <p:sp>
        <p:nvSpPr>
          <p:cNvPr id="26" name="TextBox 25"/>
          <p:cNvSpPr txBox="1"/>
          <p:nvPr/>
        </p:nvSpPr>
        <p:spPr>
          <a:xfrm>
            <a:off x="6081332" y="3350993"/>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+101</a:t>
            </a:r>
          </a:p>
        </p:txBody>
      </p:sp>
      <p:sp>
        <p:nvSpPr>
          <p:cNvPr id="27" name="TextBox 26"/>
          <p:cNvSpPr txBox="1"/>
          <p:nvPr/>
        </p:nvSpPr>
        <p:spPr>
          <a:xfrm>
            <a:off x="6081332" y="442380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-247</a:t>
            </a:r>
          </a:p>
        </p:txBody>
      </p:sp>
      <p:sp>
        <p:nvSpPr>
          <p:cNvPr id="28" name="TextBox 27"/>
          <p:cNvSpPr txBox="1"/>
          <p:nvPr/>
        </p:nvSpPr>
        <p:spPr>
          <a:xfrm>
            <a:off x="6081332" y="4804620"/>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-370</a:t>
            </a:r>
          </a:p>
        </p:txBody>
      </p:sp>
      <p:sp>
        <p:nvSpPr>
          <p:cNvPr id="29" name="Rounded Rectangle 28"/>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Specimen Collected</a:t>
            </a:r>
          </a:p>
        </p:txBody>
      </p:sp>
      <p:sp>
        <p:nvSpPr>
          <p:cNvPr id="31" name="Rectangle 30"/>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'Dried Blood Spot' gains the most share +516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'Whole Blood' cedes the most -370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'Dried Blood Spot' is the fastest-growing specimen collected at 13.2%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Specimen Collected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Specimen Collected,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Specimen Collected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1">
                          <a:solidFill>
                            <a:srgbClr val="A86F00"/>
                          </a:solidFill>
                          <a:latin typeface="Calibri"/>
                        </a:rPr>
                        <a:t>▶ 4.8%</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1">
                          <a:solidFill>
                            <a:srgbClr val="2E7D32"/>
                          </a:solidFill>
                          <a:latin typeface="Calibri"/>
                        </a:rPr>
                        <a:t>▲ 6.0%</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6.5%</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1">
                          <a:solidFill>
                            <a:srgbClr val="A86F00"/>
                          </a:solidFill>
                          <a:latin typeface="Calibri"/>
                        </a:rPr>
                        <a:t>▶ 4.2%</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c>
                  <a:txBody>
                    <a:bodyPr wrap="none"/>
                    <a:lstStyle/>
                    <a:p>
                      <a:pPr algn="l"/>
                      <a:r>
                        <a:rPr sz="800" b="1">
                          <a:solidFill>
                            <a:srgbClr val="A86F00"/>
                          </a:solidFill>
                          <a:latin typeface="Calibri"/>
                        </a:rPr>
                        <a:t>▶ 4.6%</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1">
                          <a:solidFill>
                            <a:srgbClr val="2E7D32"/>
                          </a:solidFill>
                          <a:latin typeface="Calibri"/>
                        </a:rPr>
                        <a:t>▲ 14.2%</a:t>
                      </a:r>
                    </a:p>
                  </a:txBody>
                  <a:tcPr marL="85725" marR="38100" marT="19050" marB="19050" anchor="ctr">
                    <a:solidFill>
                      <a:srgbClr val="F5F8FA"/>
                    </a:solidFill>
                  </a:tcPr>
                </a:tc>
                <a:tc>
                  <a:txBody>
                    <a:bodyPr wrap="none"/>
                    <a:lstStyle/>
                    <a:p>
                      <a:pPr algn="l"/>
                      <a:r>
                        <a:rPr sz="800" b="1">
                          <a:solidFill>
                            <a:srgbClr val="2E7D32"/>
                          </a:solidFill>
                          <a:latin typeface="Calibri"/>
                        </a:rPr>
                        <a:t>▲ 14.3%</a:t>
                      </a:r>
                    </a:p>
                  </a:txBody>
                  <a:tcPr marL="85725" marR="38100" marT="19050" marB="19050" anchor="ctr">
                    <a:solidFill>
                      <a:srgbClr val="F5F8FA"/>
                    </a:solidFill>
                  </a:tcPr>
                </a:tc>
                <a:tc>
                  <a:txBody>
                    <a:bodyPr wrap="none"/>
                    <a:lstStyle/>
                    <a:p>
                      <a:pPr algn="l"/>
                      <a:r>
                        <a:rPr sz="800" b="1">
                          <a:solidFill>
                            <a:srgbClr val="2E7D32"/>
                          </a:solidFill>
                          <a:latin typeface="Calibri"/>
                        </a:rPr>
                        <a:t>▲ 14.5%</a:t>
                      </a:r>
                    </a:p>
                  </a:txBody>
                  <a:tcPr marL="85725" marR="38100" marT="19050" marB="19050" anchor="ctr">
                    <a:solidFill>
                      <a:srgbClr val="F5F8FA"/>
                    </a:solidFill>
                  </a:tcPr>
                </a:tc>
                <a:tc>
                  <a:txBody>
                    <a:bodyPr wrap="none"/>
                    <a:lstStyle/>
                    <a:p>
                      <a:pPr algn="l"/>
                      <a:r>
                        <a:rPr sz="800" b="1">
                          <a:solidFill>
                            <a:srgbClr val="2E7D32"/>
                          </a:solidFill>
                          <a:latin typeface="Calibri"/>
                        </a:rPr>
                        <a:t>▲ 14.9%</a:t>
                      </a:r>
                    </a:p>
                  </a:txBody>
                  <a:tcPr marL="85725" marR="38100" marT="19050" marB="19050" anchor="ctr">
                    <a:solidFill>
                      <a:srgbClr val="F5F8FA"/>
                    </a:solidFill>
                  </a:tcPr>
                </a:tc>
                <a:tc>
                  <a:txBody>
                    <a:bodyPr wrap="none"/>
                    <a:lstStyle/>
                    <a:p>
                      <a:pPr algn="l"/>
                      <a:r>
                        <a:rPr sz="800" b="1">
                          <a:solidFill>
                            <a:srgbClr val="2E7D32"/>
                          </a:solidFill>
                          <a:latin typeface="Calibri"/>
                        </a:rPr>
                        <a:t>▲ 12.5%</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Specimen Collected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Whole Blood</a:t>
            </a:r>
          </a:p>
        </p:txBody>
      </p:sp>
      <p:sp>
        <p:nvSpPr>
          <p:cNvPr id="34" name="Rectangle 33"/>
          <p:cNvSpPr/>
          <p:nvPr/>
        </p:nvSpPr>
        <p:spPr>
          <a:xfrm>
            <a:off x="1857375" y="3867150"/>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3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DC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DD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E2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Plasma</a:t>
            </a:r>
          </a:p>
        </p:txBody>
      </p:sp>
      <p:sp>
        <p:nvSpPr>
          <p:cNvPr id="50" name="Rectangle 49"/>
          <p:cNvSpPr/>
          <p:nvPr/>
        </p:nvSpPr>
        <p:spPr>
          <a:xfrm>
            <a:off x="1857375" y="4567238"/>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DDEB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CCDE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D0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D1E2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Serum</a:t>
            </a:r>
          </a:p>
        </p:txBody>
      </p:sp>
      <p:sp>
        <p:nvSpPr>
          <p:cNvPr id="66" name="Rectangle 65"/>
          <p:cNvSpPr/>
          <p:nvPr/>
        </p:nvSpPr>
        <p:spPr>
          <a:xfrm>
            <a:off x="1857375" y="5267325"/>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FDFE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F9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E6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E5F2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EDF7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EF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Dried Blood Spot</a:t>
            </a:r>
          </a:p>
        </p:txBody>
      </p:sp>
      <p:sp>
        <p:nvSpPr>
          <p:cNvPr id="82" name="Rectangle 81"/>
          <p:cNvSpPr/>
          <p:nvPr/>
        </p:nvSpPr>
        <p:spPr>
          <a:xfrm>
            <a:off x="1857375" y="5967412"/>
            <a:ext cx="643890" cy="700088"/>
          </a:xfrm>
          <a:prstGeom prst="rect">
            <a:avLst/>
          </a:prstGeom>
          <a:solidFill>
            <a:srgbClr val="0C4D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0C466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0C3C5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26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29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2F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35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35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3B8D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15%</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Specimen Collected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Specimen Collected,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Specimen Collected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1">
                          <a:solidFill>
                            <a:srgbClr val="A86F00"/>
                          </a:solidFill>
                          <a:latin typeface="Calibri"/>
                        </a:rPr>
                        <a:t>▶ 3.5%</a:t>
                      </a:r>
                    </a:p>
                  </a:txBody>
                  <a:tcPr marL="85725" marR="38100" marT="19050" marB="19050" anchor="ctr">
                    <a:solidFill>
                      <a:srgbClr val="FFFFFF"/>
                    </a:solidFill>
                  </a:tcPr>
                </a:tc>
                <a:tc>
                  <a:txBody>
                    <a:bodyPr wrap="none"/>
                    <a:lstStyle/>
                    <a:p>
                      <a:pPr algn="l"/>
                      <a:r>
                        <a:rPr sz="800" b="1">
                          <a:solidFill>
                            <a:srgbClr val="A86F00"/>
                          </a:solidFill>
                          <a:latin typeface="Calibri"/>
                        </a:rPr>
                        <a:t>▶ 3.9%</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1">
                          <a:solidFill>
                            <a:srgbClr val="2E7D32"/>
                          </a:solidFill>
                          <a:latin typeface="Calibri"/>
                        </a:rPr>
                        <a:t>▲ 4.6%</a:t>
                      </a:r>
                    </a:p>
                  </a:txBody>
                  <a:tcPr marL="85725" marR="38100" marT="19050" marB="19050" anchor="ctr">
                    <a:solidFill>
                      <a:srgbClr val="F5F8FA"/>
                    </a:solidFill>
                  </a:tcPr>
                </a:tc>
                <a:tc>
                  <a:txBody>
                    <a:bodyPr wrap="none"/>
                    <a:lstStyle/>
                    <a:p>
                      <a:pPr algn="l"/>
                      <a:r>
                        <a:rPr sz="800" b="1">
                          <a:solidFill>
                            <a:srgbClr val="2E7D32"/>
                          </a:solidFill>
                          <a:latin typeface="Calibri"/>
                        </a:rPr>
                        <a:t>▲ 5.0%</a:t>
                      </a:r>
                    </a:p>
                  </a:txBody>
                  <a:tcPr marL="85725" marR="38100" marT="19050" marB="19050" anchor="ctr">
                    <a:solidFill>
                      <a:srgbClr val="F5F8FA"/>
                    </a:solidFill>
                  </a:tcPr>
                </a:tc>
                <a:tc>
                  <a:txBody>
                    <a:bodyPr wrap="none"/>
                    <a:lstStyle/>
                    <a:p>
                      <a:pPr algn="l"/>
                      <a:r>
                        <a:rPr sz="800" b="1">
                          <a:solidFill>
                            <a:srgbClr val="2E7D32"/>
                          </a:solidFill>
                          <a:latin typeface="Calibri"/>
                        </a:rPr>
                        <a:t>▲ 5.7%</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1">
                          <a:solidFill>
                            <a:srgbClr val="A86F00"/>
                          </a:solidFill>
                          <a:latin typeface="Calibri"/>
                        </a:rPr>
                        <a:t>▶ 2.8%</a:t>
                      </a:r>
                    </a:p>
                  </a:txBody>
                  <a:tcPr marL="85725" marR="38100" marT="19050" marB="19050" anchor="ctr">
                    <a:solidFill>
                      <a:srgbClr val="FFFFFF"/>
                    </a:solidFill>
                  </a:tcPr>
                </a:tc>
                <a:tc>
                  <a:txBody>
                    <a:bodyPr wrap="none"/>
                    <a:lstStyle/>
                    <a:p>
                      <a:pPr algn="l"/>
                      <a:r>
                        <a:rPr sz="800" b="1">
                          <a:solidFill>
                            <a:srgbClr val="A86F00"/>
                          </a:solidFill>
                          <a:latin typeface="Calibri"/>
                        </a:rPr>
                        <a:t>▶ 3.1%</a:t>
                      </a:r>
                    </a:p>
                  </a:txBody>
                  <a:tcPr marL="85725" marR="38100" marT="19050" marB="19050" anchor="ctr">
                    <a:solidFill>
                      <a:srgbClr val="FFFFFF"/>
                    </a:solidFill>
                  </a:tcPr>
                </a:tc>
                <a:tc>
                  <a:txBody>
                    <a:bodyPr wrap="none"/>
                    <a:lstStyle/>
                    <a:p>
                      <a:pPr algn="l"/>
                      <a:r>
                        <a:rPr sz="800" b="1">
                          <a:solidFill>
                            <a:srgbClr val="A86F00"/>
                          </a:solidFill>
                          <a:latin typeface="Calibri"/>
                        </a:rPr>
                        <a:t>▶ 3.8%</a:t>
                      </a:r>
                    </a:p>
                  </a:txBody>
                  <a:tcPr marL="85725" marR="38100" marT="19050" marB="19050" anchor="ctr">
                    <a:solidFill>
                      <a:srgbClr val="FFFFFF"/>
                    </a:solidFill>
                  </a:tcPr>
                </a:tc>
                <a:tc>
                  <a:txBody>
                    <a:bodyPr wrap="none"/>
                    <a:lstStyle/>
                    <a:p>
                      <a:pPr algn="l"/>
                      <a:r>
                        <a:rPr sz="800" b="1">
                          <a:solidFill>
                            <a:srgbClr val="A86F00"/>
                          </a:solidFill>
                          <a:latin typeface="Calibri"/>
                        </a:rPr>
                        <a:t>▶ 4.2%</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c>
                  <a:txBody>
                    <a:bodyPr wrap="none"/>
                    <a:lstStyle/>
                    <a:p>
                      <a:pPr algn="l"/>
                      <a:r>
                        <a:rPr sz="800" b="1">
                          <a:solidFill>
                            <a:srgbClr val="2E7D32"/>
                          </a:solidFill>
                          <a:latin typeface="Calibri"/>
                        </a:rPr>
                        <a:t>▲ 13.7%</a:t>
                      </a:r>
                    </a:p>
                  </a:txBody>
                  <a:tcPr marL="85725" marR="38100" marT="19050" marB="19050" anchor="ctr">
                    <a:solidFill>
                      <a:srgbClr val="F5F8FA"/>
                    </a:solidFill>
                  </a:tcPr>
                </a:tc>
                <a:tc>
                  <a:txBody>
                    <a:bodyPr wrap="none"/>
                    <a:lstStyle/>
                    <a:p>
                      <a:pPr algn="l"/>
                      <a:r>
                        <a:rPr sz="800" b="1">
                          <a:solidFill>
                            <a:srgbClr val="2E7D32"/>
                          </a:solidFill>
                          <a:latin typeface="Calibri"/>
                        </a:rPr>
                        <a:t>▲ 14.2%</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13.1%</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13.6%</a:t>
                      </a:r>
                    </a:p>
                  </a:txBody>
                  <a:tcPr marL="85725" marR="38100" marT="19050" marB="19050" anchor="ctr">
                    <a:solidFill>
                      <a:srgbClr val="F5F8FA"/>
                    </a:solidFill>
                  </a:tcPr>
                </a:tc>
                <a:tc>
                  <a:txBody>
                    <a:bodyPr wrap="none"/>
                    <a:lstStyle/>
                    <a:p>
                      <a:pPr algn="l"/>
                      <a:r>
                        <a:rPr sz="800" b="1">
                          <a:solidFill>
                            <a:srgbClr val="2E7D32"/>
                          </a:solidFill>
                          <a:latin typeface="Calibri"/>
                        </a:rPr>
                        <a:t>▲ 13.8%</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Specimen Collected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Whole Blood</a:t>
            </a:r>
          </a:p>
        </p:txBody>
      </p:sp>
      <p:sp>
        <p:nvSpPr>
          <p:cNvPr id="34" name="Rectangle 33"/>
          <p:cNvSpPr/>
          <p:nvPr/>
        </p:nvSpPr>
        <p:spPr>
          <a:xfrm>
            <a:off x="1857375" y="3867150"/>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0EE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D3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BD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B7D2E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AE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A8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Plasma</a:t>
            </a:r>
          </a:p>
        </p:txBody>
      </p:sp>
      <p:sp>
        <p:nvSpPr>
          <p:cNvPr id="50" name="Rectangle 49"/>
          <p:cNvSpPr/>
          <p:nvPr/>
        </p:nvSpPr>
        <p:spPr>
          <a:xfrm>
            <a:off x="1857375" y="4567238"/>
            <a:ext cx="643890" cy="70008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AACBE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9B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97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8C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88B7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Serum</a:t>
            </a:r>
          </a:p>
        </p:txBody>
      </p:sp>
      <p:sp>
        <p:nvSpPr>
          <p:cNvPr id="66" name="Rectangle 65"/>
          <p:cNvSpPr/>
          <p:nvPr/>
        </p:nvSpPr>
        <p:spPr>
          <a:xfrm>
            <a:off x="1857375" y="5267325"/>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ECF7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D7E7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D2E3F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CDDE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C4D9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Dried Blood Spot</a:t>
            </a:r>
          </a:p>
        </p:txBody>
      </p:sp>
      <p:sp>
        <p:nvSpPr>
          <p:cNvPr id="82" name="Rectangle 81"/>
          <p:cNvSpPr/>
          <p:nvPr/>
        </p:nvSpPr>
        <p:spPr>
          <a:xfrm>
            <a:off x="1857375" y="5967412"/>
            <a:ext cx="643890" cy="700088"/>
          </a:xfrm>
          <a:prstGeom prst="rect">
            <a:avLst/>
          </a:prstGeom>
          <a:solidFill>
            <a:srgbClr val="0E6EA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0D609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0C436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1B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0E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0D659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0D5C8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0D5A8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0D598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0D568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0D568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0C4C7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0C416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14%</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Patient Group</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Patient Group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09</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Patient Group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4 sub-segments of Patient Group,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Patient Group segment categorizes the market by patient group.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Adults</a:t>
            </a:r>
          </a:p>
        </p:txBody>
      </p:sp>
      <p:sp>
        <p:nvSpPr>
          <p:cNvPr id="24" name="Rectangle 23"/>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1,272</a:t>
            </a:r>
          </a:p>
        </p:txBody>
      </p:sp>
      <p:sp>
        <p:nvSpPr>
          <p:cNvPr id="25" name="Rectangle 24"/>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2,587</a:t>
            </a:r>
          </a:p>
        </p:txBody>
      </p:sp>
      <p:sp>
        <p:nvSpPr>
          <p:cNvPr id="26" name="Rectangle 25"/>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7.4%</a:t>
            </a:r>
          </a:p>
        </p:txBody>
      </p:sp>
      <p:sp>
        <p:nvSpPr>
          <p:cNvPr id="27" name="Oval 26"/>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Geriatric Patients</a:t>
            </a:r>
          </a:p>
        </p:txBody>
      </p:sp>
      <p:sp>
        <p:nvSpPr>
          <p:cNvPr id="31" name="Rectangle 30"/>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578.5</a:t>
            </a:r>
          </a:p>
        </p:txBody>
      </p:sp>
      <p:sp>
        <p:nvSpPr>
          <p:cNvPr id="32" name="Rectangle 31"/>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1,323</a:t>
            </a:r>
          </a:p>
        </p:txBody>
      </p:sp>
      <p:sp>
        <p:nvSpPr>
          <p:cNvPr id="33" name="Rectangle 32"/>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8.6%</a:t>
            </a:r>
          </a:p>
        </p:txBody>
      </p:sp>
      <p:sp>
        <p:nvSpPr>
          <p:cNvPr id="34" name="Oval 33"/>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Pediatric Patients</a:t>
            </a:r>
          </a:p>
        </p:txBody>
      </p:sp>
      <p:sp>
        <p:nvSpPr>
          <p:cNvPr id="38" name="Rectangle 37"/>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277.5</a:t>
            </a:r>
          </a:p>
        </p:txBody>
      </p:sp>
      <p:sp>
        <p:nvSpPr>
          <p:cNvPr id="39" name="Rectangle 38"/>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629.0</a:t>
            </a:r>
          </a:p>
        </p:txBody>
      </p:sp>
      <p:sp>
        <p:nvSpPr>
          <p:cNvPr id="40" name="Rectangle 39"/>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8.5%</a:t>
            </a:r>
          </a:p>
        </p:txBody>
      </p:sp>
      <p:sp>
        <p:nvSpPr>
          <p:cNvPr id="41" name="Oval 40"/>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Neonates</a:t>
            </a:r>
          </a:p>
        </p:txBody>
      </p:sp>
      <p:sp>
        <p:nvSpPr>
          <p:cNvPr id="45" name="Rectangle 44"/>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178.1</a:t>
            </a:r>
          </a:p>
        </p:txBody>
      </p:sp>
      <p:sp>
        <p:nvSpPr>
          <p:cNvPr id="46" name="Rectangle 45"/>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393.3</a:t>
            </a:r>
          </a:p>
        </p:txBody>
      </p:sp>
      <p:sp>
        <p:nvSpPr>
          <p:cNvPr id="47" name="Rectangle 46"/>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8.2%</a:t>
            </a:r>
          </a:p>
        </p:txBody>
      </p:sp>
      <p:sp>
        <p:nvSpPr>
          <p:cNvPr id="48" name="Oval 47"/>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1" name="Rectangle 50"/>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'Adults' holds the largest share in 2026 55%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'Geriatric Patients' is the fastest-growing sub-segment at 8.6%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patient group landscape.</a:t>
            </a:r>
          </a:p>
        </p:txBody>
      </p:sp>
      <p:sp>
        <p:nvSpPr>
          <p:cNvPr id="53" name="Rounded Rectangle 52"/>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5" name="Rectangle 54"/>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Adults: </a:t>
            </a:r>
            <a:r>
              <a:rPr sz="1000" b="0">
                <a:solidFill>
                  <a:srgbClr val="2E2E2E"/>
                </a:solidFill>
                <a:latin typeface="Calibri"/>
              </a:rPr>
              <a:t>55% of 2026 value · 7.4%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Geriatric Patients: </a:t>
            </a:r>
            <a:r>
              <a:rPr sz="1000" b="0">
                <a:solidFill>
                  <a:srgbClr val="2E2E2E"/>
                </a:solidFill>
                <a:latin typeface="Calibri"/>
              </a:rPr>
              <a:t>25% of 2026 value · 8.6% CAGR grows fastest.</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Pediatric Patients: </a:t>
            </a:r>
            <a:r>
              <a:rPr sz="1000" b="0">
                <a:solidFill>
                  <a:srgbClr val="2E2E2E"/>
                </a:solidFill>
                <a:latin typeface="Calibri"/>
              </a:rPr>
              <a:t>12% of 2026 value · 8.5% CAGR serves a niche.</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Neonates: </a:t>
            </a:r>
            <a:r>
              <a:rPr sz="1000" b="0">
                <a:solidFill>
                  <a:srgbClr val="2E2E2E"/>
                </a:solidFill>
                <a:latin typeface="Calibri"/>
              </a:rPr>
              <a:t>8% of 2026 value · 8.2% CAGR serves a niche.</a:t>
            </a:r>
          </a:p>
        </p:txBody>
      </p:sp>
      <p:sp>
        <p:nvSpPr>
          <p:cNvPr id="57" name="Rounded Rectangle 56"/>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9" name="Rectangle 58"/>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Patient Group split shows how demand is distributed across patient group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1" name="Rectangle 60"/>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Patient Group segment is projected to grow at a CAGR of 7.9%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Patient Group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Patient Group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Patient Group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Patient Group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'Geriatric Patients' gains the most share in the Global market (+174 BPS) while 'Adults' cedes 270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Patient Group</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Patient Group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Patient Group (2026–2036)</a:t>
            </a:r>
          </a:p>
        </p:txBody>
      </p:sp>
      <p:graphicFrame>
        <p:nvGraphicFramePr>
          <p:cNvPr id="23" name="Table 22"/>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Patient Group</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Neonates</a:t>
                      </a:r>
                    </a:p>
                  </a:txBody>
                  <a:tcPr marL="85725" marR="38100" marT="19050" marB="19050" anchor="ctr">
                    <a:solidFill>
                      <a:srgbClr val="FFFFFF"/>
                    </a:solidFill>
                  </a:tcPr>
                </a:tc>
                <a:tc>
                  <a:txBody>
                    <a:bodyPr wrap="none"/>
                    <a:lstStyle/>
                    <a:p>
                      <a:pPr algn="l"/>
                      <a:r>
                        <a:rPr sz="900" b="0">
                          <a:solidFill>
                            <a:srgbClr val="2E2E2E"/>
                          </a:solidFill>
                          <a:latin typeface="Calibri"/>
                        </a:rPr>
                        <a:t>215.3</a:t>
                      </a:r>
                    </a:p>
                  </a:txBody>
                  <a:tcPr marL="85725" marR="38100" marT="19050" marB="19050" anchor="ctr">
                    <a:solidFill>
                      <a:srgbClr val="FFFFFF"/>
                    </a:solidFill>
                  </a:tcPr>
                </a:tc>
                <a:tc>
                  <a:txBody>
                    <a:bodyPr wrap="none"/>
                    <a:lstStyle/>
                    <a:p>
                      <a:pPr algn="l"/>
                      <a:r>
                        <a:rPr sz="900" b="0">
                          <a:solidFill>
                            <a:srgbClr val="2E2E2E"/>
                          </a:solidFill>
                          <a:latin typeface="Calibri"/>
                        </a:rPr>
                        <a:t>8.2%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351.5</a:t>
                      </a:r>
                    </a:p>
                  </a:txBody>
                  <a:tcPr marL="85725" marR="38100" marT="19050" marB="19050" anchor="ctr">
                    <a:solidFill>
                      <a:srgbClr val="F5F8FA"/>
                    </a:solidFill>
                  </a:tcPr>
                </a:tc>
                <a:tc>
                  <a:txBody>
                    <a:bodyPr wrap="none"/>
                    <a:lstStyle/>
                    <a:p>
                      <a:pPr algn="l"/>
                      <a:r>
                        <a:rPr sz="900" b="0">
                          <a:solidFill>
                            <a:srgbClr val="2E2E2E"/>
                          </a:solidFill>
                          <a:latin typeface="Calibri"/>
                        </a:rPr>
                        <a:t>13.4%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Adults</a:t>
                      </a:r>
                    </a:p>
                  </a:txBody>
                  <a:tcPr marL="85725" marR="38100" marT="19050" marB="19050" anchor="ctr">
                    <a:solidFill>
                      <a:srgbClr val="FFFFFF"/>
                    </a:solidFill>
                  </a:tcPr>
                </a:tc>
                <a:tc>
                  <a:txBody>
                    <a:bodyPr wrap="none"/>
                    <a:lstStyle/>
                    <a:p>
                      <a:pPr algn="l"/>
                      <a:r>
                        <a:rPr sz="900" b="0">
                          <a:solidFill>
                            <a:srgbClr val="2E2E2E"/>
                          </a:solidFill>
                          <a:latin typeface="Calibri"/>
                        </a:rPr>
                        <a:t>1,315</a:t>
                      </a:r>
                    </a:p>
                  </a:txBody>
                  <a:tcPr marL="85725" marR="38100" marT="19050" marB="19050" anchor="ctr">
                    <a:solidFill>
                      <a:srgbClr val="FFFFFF"/>
                    </a:solidFill>
                  </a:tcPr>
                </a:tc>
                <a:tc>
                  <a:txBody>
                    <a:bodyPr wrap="none"/>
                    <a:lstStyle/>
                    <a:p>
                      <a:pPr algn="l"/>
                      <a:r>
                        <a:rPr sz="900" b="0">
                          <a:solidFill>
                            <a:srgbClr val="2E2E2E"/>
                          </a:solidFill>
                          <a:latin typeface="Calibri"/>
                        </a:rPr>
                        <a:t>50.1%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744.7</a:t>
                      </a:r>
                    </a:p>
                  </a:txBody>
                  <a:tcPr marL="85725" marR="38100" marT="19050" marB="19050" anchor="ctr">
                    <a:solidFill>
                      <a:srgbClr val="F5F8FA"/>
                    </a:solidFill>
                  </a:tcPr>
                </a:tc>
                <a:tc>
                  <a:txBody>
                    <a:bodyPr wrap="none"/>
                    <a:lstStyle/>
                    <a:p>
                      <a:pPr algn="l"/>
                      <a:r>
                        <a:rPr sz="900" b="0">
                          <a:solidFill>
                            <a:srgbClr val="2E2E2E"/>
                          </a:solidFill>
                          <a:latin typeface="Calibri"/>
                        </a:rPr>
                        <a:t>28.3%</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Patient Group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Patient Group,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Patient Group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0">
                          <a:solidFill>
                            <a:srgbClr val="2E2E2E"/>
                          </a:solidFill>
                          <a:latin typeface="Calibri"/>
                        </a:rPr>
                        <a:t>160.9</a:t>
                      </a:r>
                    </a:p>
                  </a:txBody>
                  <a:tcPr marL="85725" marR="38100" marT="19050" marB="19050" anchor="ctr">
                    <a:solidFill>
                      <a:srgbClr val="FFFFFF"/>
                    </a:solidFill>
                  </a:tcPr>
                </a:tc>
                <a:tc>
                  <a:txBody>
                    <a:bodyPr wrap="none"/>
                    <a:lstStyle/>
                    <a:p>
                      <a:pPr algn="l"/>
                      <a:r>
                        <a:rPr sz="800" b="0">
                          <a:solidFill>
                            <a:srgbClr val="2E2E2E"/>
                          </a:solidFill>
                          <a:latin typeface="Calibri"/>
                        </a:rPr>
                        <a:t>170.0</a:t>
                      </a:r>
                    </a:p>
                  </a:txBody>
                  <a:tcPr marL="85725" marR="38100" marT="19050" marB="19050" anchor="ctr">
                    <a:solidFill>
                      <a:srgbClr val="FFFFFF"/>
                    </a:solidFill>
                  </a:tcPr>
                </a:tc>
                <a:tc>
                  <a:txBody>
                    <a:bodyPr wrap="none"/>
                    <a:lstStyle/>
                    <a:p>
                      <a:pPr algn="l"/>
                      <a:r>
                        <a:rPr sz="800" b="0">
                          <a:solidFill>
                            <a:srgbClr val="2E2E2E"/>
                          </a:solidFill>
                          <a:latin typeface="Calibri"/>
                        </a:rPr>
                        <a:t>180.0</a:t>
                      </a:r>
                    </a:p>
                  </a:txBody>
                  <a:tcPr marL="85725" marR="38100" marT="19050" marB="19050" anchor="ctr">
                    <a:solidFill>
                      <a:srgbClr val="FFFFFF"/>
                    </a:solidFill>
                  </a:tcPr>
                </a:tc>
                <a:tc>
                  <a:txBody>
                    <a:bodyPr wrap="none"/>
                    <a:lstStyle/>
                    <a:p>
                      <a:pPr algn="l"/>
                      <a:r>
                        <a:rPr sz="800" b="0">
                          <a:solidFill>
                            <a:srgbClr val="2E2E2E"/>
                          </a:solidFill>
                          <a:latin typeface="Calibri"/>
                        </a:rPr>
                        <a:t>191.1</a:t>
                      </a:r>
                    </a:p>
                  </a:txBody>
                  <a:tcPr marL="85725" marR="38100" marT="19050" marB="19050" anchor="ctr">
                    <a:solidFill>
                      <a:srgbClr val="FFFFFF"/>
                    </a:solidFill>
                  </a:tcPr>
                </a:tc>
                <a:tc>
                  <a:txBody>
                    <a:bodyPr wrap="none"/>
                    <a:lstStyle/>
                    <a:p>
                      <a:pPr algn="l"/>
                      <a:r>
                        <a:rPr sz="800" b="0">
                          <a:solidFill>
                            <a:srgbClr val="2E2E2E"/>
                          </a:solidFill>
                          <a:latin typeface="Calibri"/>
                        </a:rPr>
                        <a:t>203.8</a:t>
                      </a:r>
                    </a:p>
                  </a:txBody>
                  <a:tcPr marL="85725" marR="38100" marT="19050" marB="19050" anchor="ctr">
                    <a:solidFill>
                      <a:srgbClr val="FFFFFF"/>
                    </a:solidFill>
                  </a:tcPr>
                </a:tc>
                <a:tc>
                  <a:txBody>
                    <a:bodyPr wrap="none"/>
                    <a:lstStyle/>
                    <a:p>
                      <a:pPr algn="l"/>
                      <a:r>
                        <a:rPr sz="800" b="0">
                          <a:solidFill>
                            <a:srgbClr val="2E2E2E"/>
                          </a:solidFill>
                          <a:latin typeface="Calibri"/>
                        </a:rPr>
                        <a:t>218.3</a:t>
                      </a:r>
                    </a:p>
                  </a:txBody>
                  <a:tcPr marL="85725" marR="38100" marT="19050" marB="19050" anchor="ctr">
                    <a:solidFill>
                      <a:srgbClr val="FFFFFF"/>
                    </a:solidFill>
                  </a:tcPr>
                </a:tc>
                <a:tc>
                  <a:txBody>
                    <a:bodyPr wrap="none"/>
                    <a:lstStyle/>
                    <a:p>
                      <a:pPr algn="l"/>
                      <a:r>
                        <a:rPr sz="800" b="0">
                          <a:solidFill>
                            <a:srgbClr val="2E2E2E"/>
                          </a:solidFill>
                          <a:latin typeface="Calibri"/>
                        </a:rPr>
                        <a:t>234.5</a:t>
                      </a:r>
                    </a:p>
                  </a:txBody>
                  <a:tcPr marL="85725" marR="38100" marT="19050" marB="19050" anchor="ctr">
                    <a:solidFill>
                      <a:srgbClr val="FFFFFF"/>
                    </a:solidFill>
                  </a:tcPr>
                </a:tc>
                <a:tc>
                  <a:txBody>
                    <a:bodyPr wrap="none"/>
                    <a:lstStyle/>
                    <a:p>
                      <a:pPr algn="l"/>
                      <a:r>
                        <a:rPr sz="800" b="0">
                          <a:solidFill>
                            <a:srgbClr val="2E2E2E"/>
                          </a:solidFill>
                          <a:latin typeface="Calibri"/>
                        </a:rPr>
                        <a:t>252.3</a:t>
                      </a:r>
                    </a:p>
                  </a:txBody>
                  <a:tcPr marL="85725" marR="38100" marT="19050" marB="19050" anchor="ctr">
                    <a:solidFill>
                      <a:srgbClr val="FFFFFF"/>
                    </a:solidFill>
                  </a:tcPr>
                </a:tc>
                <a:tc>
                  <a:txBody>
                    <a:bodyPr wrap="none"/>
                    <a:lstStyle/>
                    <a:p>
                      <a:pPr algn="l"/>
                      <a:r>
                        <a:rPr sz="800" b="0">
                          <a:solidFill>
                            <a:srgbClr val="2E2E2E"/>
                          </a:solidFill>
                          <a:latin typeface="Calibri"/>
                        </a:rPr>
                        <a:t>271.6</a:t>
                      </a:r>
                    </a:p>
                  </a:txBody>
                  <a:tcPr marL="85725" marR="38100" marT="19050" marB="19050" anchor="ctr">
                    <a:solidFill>
                      <a:srgbClr val="FFFFFF"/>
                    </a:solidFill>
                  </a:tcPr>
                </a:tc>
                <a:tc>
                  <a:txBody>
                    <a:bodyPr wrap="none"/>
                    <a:lstStyle/>
                    <a:p>
                      <a:pPr algn="l"/>
                      <a:r>
                        <a:rPr sz="800" b="0">
                          <a:solidFill>
                            <a:srgbClr val="2E2E2E"/>
                          </a:solidFill>
                          <a:latin typeface="Calibri"/>
                        </a:rPr>
                        <a:t>292.0</a:t>
                      </a:r>
                    </a:p>
                  </a:txBody>
                  <a:tcPr marL="85725" marR="38100" marT="19050" marB="19050" anchor="ctr">
                    <a:solidFill>
                      <a:srgbClr val="FFFFFF"/>
                    </a:solidFill>
                  </a:tcPr>
                </a:tc>
                <a:tc>
                  <a:txBody>
                    <a:bodyPr wrap="none"/>
                    <a:lstStyle/>
                    <a:p>
                      <a:pPr algn="l"/>
                      <a:r>
                        <a:rPr sz="800" b="0">
                          <a:solidFill>
                            <a:srgbClr val="2E2E2E"/>
                          </a:solidFill>
                          <a:latin typeface="Calibri"/>
                        </a:rPr>
                        <a:t>313.6</a:t>
                      </a:r>
                    </a:p>
                  </a:txBody>
                  <a:tcPr marL="85725" marR="38100" marT="19050" marB="19050" anchor="ctr">
                    <a:solidFill>
                      <a:srgbClr val="FFFFFF"/>
                    </a:solidFill>
                  </a:tcPr>
                </a:tc>
                <a:tc>
                  <a:txBody>
                    <a:bodyPr wrap="none"/>
                    <a:lstStyle/>
                    <a:p>
                      <a:pPr algn="l"/>
                      <a:r>
                        <a:rPr sz="800" b="0">
                          <a:solidFill>
                            <a:srgbClr val="2E2E2E"/>
                          </a:solidFill>
                          <a:latin typeface="Calibri"/>
                        </a:rPr>
                        <a:t>336.3</a:t>
                      </a:r>
                    </a:p>
                  </a:txBody>
                  <a:tcPr marL="85725" marR="38100" marT="19050" marB="19050" anchor="ctr">
                    <a:solidFill>
                      <a:srgbClr val="FFFFFF"/>
                    </a:solidFill>
                  </a:tcPr>
                </a:tc>
                <a:tc>
                  <a:txBody>
                    <a:bodyPr wrap="none"/>
                    <a:lstStyle/>
                    <a:p>
                      <a:pPr algn="l"/>
                      <a:r>
                        <a:rPr sz="800" b="0">
                          <a:solidFill>
                            <a:srgbClr val="2E2E2E"/>
                          </a:solidFill>
                          <a:latin typeface="Calibri"/>
                        </a:rPr>
                        <a:t>360.3</a:t>
                      </a:r>
                    </a:p>
                  </a:txBody>
                  <a:tcPr marL="85725" marR="38100" marT="19050" marB="19050" anchor="ctr">
                    <a:solidFill>
                      <a:srgbClr val="FFFFFF"/>
                    </a:solidFill>
                  </a:tcPr>
                </a:tc>
                <a:tc>
                  <a:txBody>
                    <a:bodyPr wrap="none"/>
                    <a:lstStyle/>
                    <a:p>
                      <a:pPr algn="l"/>
                      <a:r>
                        <a:rPr sz="800" b="0">
                          <a:solidFill>
                            <a:srgbClr val="2E2E2E"/>
                          </a:solidFill>
                          <a:latin typeface="Calibri"/>
                        </a:rPr>
                        <a:t>386.2</a:t>
                      </a:r>
                    </a:p>
                  </a:txBody>
                  <a:tcPr marL="85725" marR="38100" marT="19050" marB="19050" anchor="ctr">
                    <a:solidFill>
                      <a:srgbClr val="FFFFFF"/>
                    </a:solidFill>
                  </a:tcPr>
                </a:tc>
                <a:tc>
                  <a:txBody>
                    <a:bodyPr wrap="none"/>
                    <a:lstStyle/>
                    <a:p>
                      <a:pPr algn="l"/>
                      <a:r>
                        <a:rPr sz="800" b="0">
                          <a:solidFill>
                            <a:srgbClr val="2E2E2E"/>
                          </a:solidFill>
                          <a:latin typeface="Calibri"/>
                        </a:rPr>
                        <a:t>413.5</a:t>
                      </a:r>
                    </a:p>
                  </a:txBody>
                  <a:tcPr marL="85725" marR="38100" marT="19050" marB="19050" anchor="ctr">
                    <a:solidFill>
                      <a:srgbClr val="FFFFFF"/>
                    </a:solidFill>
                  </a:tcPr>
                </a:tc>
                <a:tc>
                  <a:txBody>
                    <a:bodyPr wrap="none"/>
                    <a:lstStyle/>
                    <a:p>
                      <a:pPr algn="l"/>
                      <a:r>
                        <a:rPr sz="800" b="0">
                          <a:solidFill>
                            <a:srgbClr val="2E2E2E"/>
                          </a:solidFill>
                          <a:latin typeface="Calibri"/>
                        </a:rPr>
                        <a:t>443.0</a:t>
                      </a:r>
                    </a:p>
                  </a:txBody>
                  <a:tcPr marL="85725" marR="38100" marT="19050" marB="19050" anchor="ctr">
                    <a:solidFill>
                      <a:srgbClr val="FFFFFF"/>
                    </a:solidFill>
                  </a:tcPr>
                </a:tc>
                <a:tc>
                  <a:txBody>
                    <a:bodyPr wrap="none"/>
                    <a:lstStyle/>
                    <a:p>
                      <a:pPr algn="l"/>
                      <a:r>
                        <a:rPr sz="800" b="0">
                          <a:solidFill>
                            <a:srgbClr val="2E2E2E"/>
                          </a:solidFill>
                          <a:latin typeface="Calibri"/>
                        </a:rPr>
                        <a:t>7.3%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246.7</a:t>
                      </a:r>
                    </a:p>
                  </a:txBody>
                  <a:tcPr marL="85725" marR="38100" marT="19050" marB="19050" anchor="ctr">
                    <a:solidFill>
                      <a:srgbClr val="F5F8FA"/>
                    </a:solidFill>
                  </a:tcPr>
                </a:tc>
                <a:tc>
                  <a:txBody>
                    <a:bodyPr wrap="none"/>
                    <a:lstStyle/>
                    <a:p>
                      <a:pPr algn="l"/>
                      <a:r>
                        <a:rPr sz="800" b="0">
                          <a:solidFill>
                            <a:srgbClr val="2E2E2E"/>
                          </a:solidFill>
                          <a:latin typeface="Calibri"/>
                        </a:rPr>
                        <a:t>261.4</a:t>
                      </a:r>
                    </a:p>
                  </a:txBody>
                  <a:tcPr marL="85725" marR="38100" marT="19050" marB="19050" anchor="ctr">
                    <a:solidFill>
                      <a:srgbClr val="F5F8FA"/>
                    </a:solidFill>
                  </a:tcPr>
                </a:tc>
                <a:tc>
                  <a:txBody>
                    <a:bodyPr wrap="none"/>
                    <a:lstStyle/>
                    <a:p>
                      <a:pPr algn="l"/>
                      <a:r>
                        <a:rPr sz="800" b="0">
                          <a:solidFill>
                            <a:srgbClr val="2E2E2E"/>
                          </a:solidFill>
                          <a:latin typeface="Calibri"/>
                        </a:rPr>
                        <a:t>277.8</a:t>
                      </a:r>
                    </a:p>
                  </a:txBody>
                  <a:tcPr marL="85725" marR="38100" marT="19050" marB="19050" anchor="ctr">
                    <a:solidFill>
                      <a:srgbClr val="F5F8FA"/>
                    </a:solidFill>
                  </a:tcPr>
                </a:tc>
                <a:tc>
                  <a:txBody>
                    <a:bodyPr wrap="none"/>
                    <a:lstStyle/>
                    <a:p>
                      <a:pPr algn="l"/>
                      <a:r>
                        <a:rPr sz="800" b="0">
                          <a:solidFill>
                            <a:srgbClr val="2E2E2E"/>
                          </a:solidFill>
                          <a:latin typeface="Calibri"/>
                        </a:rPr>
                        <a:t>295.9</a:t>
                      </a:r>
                    </a:p>
                  </a:txBody>
                  <a:tcPr marL="85725" marR="38100" marT="19050" marB="19050" anchor="ctr">
                    <a:solidFill>
                      <a:srgbClr val="F5F8FA"/>
                    </a:solidFill>
                  </a:tcPr>
                </a:tc>
                <a:tc>
                  <a:txBody>
                    <a:bodyPr wrap="none"/>
                    <a:lstStyle/>
                    <a:p>
                      <a:pPr algn="l"/>
                      <a:r>
                        <a:rPr sz="800" b="0">
                          <a:solidFill>
                            <a:srgbClr val="2E2E2E"/>
                          </a:solidFill>
                          <a:latin typeface="Calibri"/>
                        </a:rPr>
                        <a:t>316.5</a:t>
                      </a:r>
                    </a:p>
                  </a:txBody>
                  <a:tcPr marL="85725" marR="38100" marT="19050" marB="19050" anchor="ctr">
                    <a:solidFill>
                      <a:srgbClr val="F5F8FA"/>
                    </a:solidFill>
                  </a:tcPr>
                </a:tc>
                <a:tc>
                  <a:txBody>
                    <a:bodyPr wrap="none"/>
                    <a:lstStyle/>
                    <a:p>
                      <a:pPr algn="l"/>
                      <a:r>
                        <a:rPr sz="800" b="0">
                          <a:solidFill>
                            <a:srgbClr val="2E2E2E"/>
                          </a:solidFill>
                          <a:latin typeface="Calibri"/>
                        </a:rPr>
                        <a:t>340.1</a:t>
                      </a:r>
                    </a:p>
                  </a:txBody>
                  <a:tcPr marL="85725" marR="38100" marT="19050" marB="19050" anchor="ctr">
                    <a:solidFill>
                      <a:srgbClr val="F5F8FA"/>
                    </a:solidFill>
                  </a:tcPr>
                </a:tc>
                <a:tc>
                  <a:txBody>
                    <a:bodyPr wrap="none"/>
                    <a:lstStyle/>
                    <a:p>
                      <a:pPr algn="l"/>
                      <a:r>
                        <a:rPr sz="800" b="0">
                          <a:solidFill>
                            <a:srgbClr val="2E2E2E"/>
                          </a:solidFill>
                          <a:latin typeface="Calibri"/>
                        </a:rPr>
                        <a:t>366.5</a:t>
                      </a:r>
                    </a:p>
                  </a:txBody>
                  <a:tcPr marL="85725" marR="38100" marT="19050" marB="19050" anchor="ctr">
                    <a:solidFill>
                      <a:srgbClr val="F5F8FA"/>
                    </a:solidFill>
                  </a:tcPr>
                </a:tc>
                <a:tc>
                  <a:txBody>
                    <a:bodyPr wrap="none"/>
                    <a:lstStyle/>
                    <a:p>
                      <a:pPr algn="l"/>
                      <a:r>
                        <a:rPr sz="800" b="0">
                          <a:solidFill>
                            <a:srgbClr val="2E2E2E"/>
                          </a:solidFill>
                          <a:latin typeface="Calibri"/>
                        </a:rPr>
                        <a:t>395.5</a:t>
                      </a:r>
                    </a:p>
                  </a:txBody>
                  <a:tcPr marL="85725" marR="38100" marT="19050" marB="19050" anchor="ctr">
                    <a:solidFill>
                      <a:srgbClr val="F5F8FA"/>
                    </a:solidFill>
                  </a:tcPr>
                </a:tc>
                <a:tc>
                  <a:txBody>
                    <a:bodyPr wrap="none"/>
                    <a:lstStyle/>
                    <a:p>
                      <a:pPr algn="l"/>
                      <a:r>
                        <a:rPr sz="800" b="0">
                          <a:solidFill>
                            <a:srgbClr val="2E2E2E"/>
                          </a:solidFill>
                          <a:latin typeface="Calibri"/>
                        </a:rPr>
                        <a:t>427.1</a:t>
                      </a:r>
                    </a:p>
                  </a:txBody>
                  <a:tcPr marL="85725" marR="38100" marT="19050" marB="19050" anchor="ctr">
                    <a:solidFill>
                      <a:srgbClr val="F5F8FA"/>
                    </a:solidFill>
                  </a:tcPr>
                </a:tc>
                <a:tc>
                  <a:txBody>
                    <a:bodyPr wrap="none"/>
                    <a:lstStyle/>
                    <a:p>
                      <a:pPr algn="l"/>
                      <a:r>
                        <a:rPr sz="800" b="0">
                          <a:solidFill>
                            <a:srgbClr val="2E2E2E"/>
                          </a:solidFill>
                          <a:latin typeface="Calibri"/>
                        </a:rPr>
                        <a:t>460.5</a:t>
                      </a:r>
                    </a:p>
                  </a:txBody>
                  <a:tcPr marL="85725" marR="38100" marT="19050" marB="19050" anchor="ctr">
                    <a:solidFill>
                      <a:srgbClr val="F5F8FA"/>
                    </a:solidFill>
                  </a:tcPr>
                </a:tc>
                <a:tc>
                  <a:txBody>
                    <a:bodyPr wrap="none"/>
                    <a:lstStyle/>
                    <a:p>
                      <a:pPr algn="l"/>
                      <a:r>
                        <a:rPr sz="800" b="0">
                          <a:solidFill>
                            <a:srgbClr val="2E2E2E"/>
                          </a:solidFill>
                          <a:latin typeface="Calibri"/>
                        </a:rPr>
                        <a:t>495.9</a:t>
                      </a:r>
                    </a:p>
                  </a:txBody>
                  <a:tcPr marL="85725" marR="38100" marT="19050" marB="19050" anchor="ctr">
                    <a:solidFill>
                      <a:srgbClr val="F5F8FA"/>
                    </a:solidFill>
                  </a:tcPr>
                </a:tc>
                <a:tc>
                  <a:txBody>
                    <a:bodyPr wrap="none"/>
                    <a:lstStyle/>
                    <a:p>
                      <a:pPr algn="l"/>
                      <a:r>
                        <a:rPr sz="800" b="0">
                          <a:solidFill>
                            <a:srgbClr val="2E2E2E"/>
                          </a:solidFill>
                          <a:latin typeface="Calibri"/>
                        </a:rPr>
                        <a:t>533.3</a:t>
                      </a:r>
                    </a:p>
                  </a:txBody>
                  <a:tcPr marL="85725" marR="38100" marT="19050" marB="19050" anchor="ctr">
                    <a:solidFill>
                      <a:srgbClr val="F5F8FA"/>
                    </a:solidFill>
                  </a:tcPr>
                </a:tc>
                <a:tc>
                  <a:txBody>
                    <a:bodyPr wrap="none"/>
                    <a:lstStyle/>
                    <a:p>
                      <a:pPr algn="l"/>
                      <a:r>
                        <a:rPr sz="800" b="0">
                          <a:solidFill>
                            <a:srgbClr val="2E2E2E"/>
                          </a:solidFill>
                          <a:latin typeface="Calibri"/>
                        </a:rPr>
                        <a:t>572.8</a:t>
                      </a:r>
                    </a:p>
                  </a:txBody>
                  <a:tcPr marL="85725" marR="38100" marT="19050" marB="19050" anchor="ctr">
                    <a:solidFill>
                      <a:srgbClr val="F5F8FA"/>
                    </a:solidFill>
                  </a:tcPr>
                </a:tc>
                <a:tc>
                  <a:txBody>
                    <a:bodyPr wrap="none"/>
                    <a:lstStyle/>
                    <a:p>
                      <a:pPr algn="l"/>
                      <a:r>
                        <a:rPr sz="800" b="0">
                          <a:solidFill>
                            <a:srgbClr val="2E2E2E"/>
                          </a:solidFill>
                          <a:latin typeface="Calibri"/>
                        </a:rPr>
                        <a:t>615.5</a:t>
                      </a:r>
                    </a:p>
                  </a:txBody>
                  <a:tcPr marL="85725" marR="38100" marT="19050" marB="19050" anchor="ctr">
                    <a:solidFill>
                      <a:srgbClr val="F5F8FA"/>
                    </a:solidFill>
                  </a:tcPr>
                </a:tc>
                <a:tc>
                  <a:txBody>
                    <a:bodyPr wrap="none"/>
                    <a:lstStyle/>
                    <a:p>
                      <a:pPr algn="l"/>
                      <a:r>
                        <a:rPr sz="800" b="0">
                          <a:solidFill>
                            <a:srgbClr val="2E2E2E"/>
                          </a:solidFill>
                          <a:latin typeface="Calibri"/>
                        </a:rPr>
                        <a:t>660.7</a:t>
                      </a:r>
                    </a:p>
                  </a:txBody>
                  <a:tcPr marL="85725" marR="38100" marT="19050" marB="19050" anchor="ctr">
                    <a:solidFill>
                      <a:srgbClr val="F5F8FA"/>
                    </a:solidFill>
                  </a:tcPr>
                </a:tc>
                <a:tc>
                  <a:txBody>
                    <a:bodyPr wrap="none"/>
                    <a:lstStyle/>
                    <a:p>
                      <a:pPr algn="l"/>
                      <a:r>
                        <a:rPr sz="800" b="0">
                          <a:solidFill>
                            <a:srgbClr val="2E2E2E"/>
                          </a:solidFill>
                          <a:latin typeface="Calibri"/>
                        </a:rPr>
                        <a:t>709.5</a:t>
                      </a:r>
                    </a:p>
                  </a:txBody>
                  <a:tcPr marL="85725" marR="38100" marT="19050" marB="19050" anchor="ctr">
                    <a:solidFill>
                      <a:srgbClr val="F5F8FA"/>
                    </a:solidFill>
                  </a:tcPr>
                </a:tc>
                <a:tc>
                  <a:txBody>
                    <a:bodyPr wrap="none"/>
                    <a:lstStyle/>
                    <a:p>
                      <a:pPr algn="l"/>
                      <a:r>
                        <a:rPr sz="800" b="0">
                          <a:solidFill>
                            <a:srgbClr val="2E2E2E"/>
                          </a:solidFill>
                          <a:latin typeface="Calibri"/>
                        </a:rPr>
                        <a:t>7.6%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0">
                          <a:solidFill>
                            <a:srgbClr val="2E2E2E"/>
                          </a:solidFill>
                          <a:latin typeface="Calibri"/>
                        </a:rPr>
                        <a:t>1,180</a:t>
                      </a:r>
                    </a:p>
                  </a:txBody>
                  <a:tcPr marL="85725" marR="38100" marT="19050" marB="19050" anchor="ctr">
                    <a:solidFill>
                      <a:srgbClr val="FFFFFF"/>
                    </a:solidFill>
                  </a:tcPr>
                </a:tc>
                <a:tc>
                  <a:txBody>
                    <a:bodyPr wrap="none"/>
                    <a:lstStyle/>
                    <a:p>
                      <a:pPr algn="l"/>
                      <a:r>
                        <a:rPr sz="800" b="0">
                          <a:solidFill>
                            <a:srgbClr val="2E2E2E"/>
                          </a:solidFill>
                          <a:latin typeface="Calibri"/>
                        </a:rPr>
                        <a:t>1,240</a:t>
                      </a:r>
                    </a:p>
                  </a:txBody>
                  <a:tcPr marL="85725" marR="38100" marT="19050" marB="19050" anchor="ctr">
                    <a:solidFill>
                      <a:srgbClr val="FFFFFF"/>
                    </a:solidFill>
                  </a:tcPr>
                </a:tc>
                <a:tc>
                  <a:txBody>
                    <a:bodyPr wrap="none"/>
                    <a:lstStyle/>
                    <a:p>
                      <a:pPr algn="l"/>
                      <a:r>
                        <a:rPr sz="800" b="0">
                          <a:solidFill>
                            <a:srgbClr val="2E2E2E"/>
                          </a:solidFill>
                          <a:latin typeface="Calibri"/>
                        </a:rPr>
                        <a:t>1,306</a:t>
                      </a:r>
                    </a:p>
                  </a:txBody>
                  <a:tcPr marL="85725" marR="38100" marT="19050" marB="19050" anchor="ctr">
                    <a:solidFill>
                      <a:srgbClr val="FFFFFF"/>
                    </a:solidFill>
                  </a:tcPr>
                </a:tc>
                <a:tc>
                  <a:txBody>
                    <a:bodyPr wrap="none"/>
                    <a:lstStyle/>
                    <a:p>
                      <a:pPr algn="l"/>
                      <a:r>
                        <a:rPr sz="800" b="0">
                          <a:solidFill>
                            <a:srgbClr val="2E2E2E"/>
                          </a:solidFill>
                          <a:latin typeface="Calibri"/>
                        </a:rPr>
                        <a:t>1,379</a:t>
                      </a:r>
                    </a:p>
                  </a:txBody>
                  <a:tcPr marL="85725" marR="38100" marT="19050" marB="19050" anchor="ctr">
                    <a:solidFill>
                      <a:srgbClr val="FFFFFF"/>
                    </a:solidFill>
                  </a:tcPr>
                </a:tc>
                <a:tc>
                  <a:txBody>
                    <a:bodyPr wrap="none"/>
                    <a:lstStyle/>
                    <a:p>
                      <a:pPr algn="l"/>
                      <a:r>
                        <a:rPr sz="800" b="0">
                          <a:solidFill>
                            <a:srgbClr val="2E2E2E"/>
                          </a:solidFill>
                          <a:latin typeface="Calibri"/>
                        </a:rPr>
                        <a:t>1,461</a:t>
                      </a:r>
                    </a:p>
                  </a:txBody>
                  <a:tcPr marL="85725" marR="38100" marT="19050" marB="19050" anchor="ctr">
                    <a:solidFill>
                      <a:srgbClr val="FFFFFF"/>
                    </a:solidFill>
                  </a:tcPr>
                </a:tc>
                <a:tc>
                  <a:txBody>
                    <a:bodyPr wrap="none"/>
                    <a:lstStyle/>
                    <a:p>
                      <a:pPr algn="l"/>
                      <a:r>
                        <a:rPr sz="800" b="0">
                          <a:solidFill>
                            <a:srgbClr val="2E2E2E"/>
                          </a:solidFill>
                          <a:latin typeface="Calibri"/>
                        </a:rPr>
                        <a:t>1,555</a:t>
                      </a:r>
                    </a:p>
                  </a:txBody>
                  <a:tcPr marL="85725" marR="38100" marT="19050" marB="19050" anchor="ctr">
                    <a:solidFill>
                      <a:srgbClr val="FFFFFF"/>
                    </a:solidFill>
                  </a:tcPr>
                </a:tc>
                <a:tc>
                  <a:txBody>
                    <a:bodyPr wrap="none"/>
                    <a:lstStyle/>
                    <a:p>
                      <a:pPr algn="l"/>
                      <a:r>
                        <a:rPr sz="800" b="0">
                          <a:solidFill>
                            <a:srgbClr val="2E2E2E"/>
                          </a:solidFill>
                          <a:latin typeface="Calibri"/>
                        </a:rPr>
                        <a:t>1,660</a:t>
                      </a:r>
                    </a:p>
                  </a:txBody>
                  <a:tcPr marL="85725" marR="38100" marT="19050" marB="19050" anchor="ctr">
                    <a:solidFill>
                      <a:srgbClr val="FFFFFF"/>
                    </a:solidFill>
                  </a:tcPr>
                </a:tc>
                <a:tc>
                  <a:txBody>
                    <a:bodyPr wrap="none"/>
                    <a:lstStyle/>
                    <a:p>
                      <a:pPr algn="l"/>
                      <a:r>
                        <a:rPr sz="800" b="0">
                          <a:solidFill>
                            <a:srgbClr val="2E2E2E"/>
                          </a:solidFill>
                          <a:latin typeface="Calibri"/>
                        </a:rPr>
                        <a:t>1,773</a:t>
                      </a:r>
                    </a:p>
                  </a:txBody>
                  <a:tcPr marL="85725" marR="38100" marT="19050" marB="19050" anchor="ctr">
                    <a:solidFill>
                      <a:srgbClr val="FFFFFF"/>
                    </a:solidFill>
                  </a:tcPr>
                </a:tc>
                <a:tc>
                  <a:txBody>
                    <a:bodyPr wrap="none"/>
                    <a:lstStyle/>
                    <a:p>
                      <a:pPr algn="l"/>
                      <a:r>
                        <a:rPr sz="800" b="0">
                          <a:solidFill>
                            <a:srgbClr val="2E2E2E"/>
                          </a:solidFill>
                          <a:latin typeface="Calibri"/>
                        </a:rPr>
                        <a:t>1,895</a:t>
                      </a:r>
                    </a:p>
                  </a:txBody>
                  <a:tcPr marL="85725" marR="38100" marT="19050" marB="19050" anchor="ctr">
                    <a:solidFill>
                      <a:srgbClr val="FFFFFF"/>
                    </a:solidFill>
                  </a:tcPr>
                </a:tc>
                <a:tc>
                  <a:txBody>
                    <a:bodyPr wrap="none"/>
                    <a:lstStyle/>
                    <a:p>
                      <a:pPr algn="l"/>
                      <a:r>
                        <a:rPr sz="800" b="0">
                          <a:solidFill>
                            <a:srgbClr val="2E2E2E"/>
                          </a:solidFill>
                          <a:latin typeface="Calibri"/>
                        </a:rPr>
                        <a:t>2,022</a:t>
                      </a:r>
                    </a:p>
                  </a:txBody>
                  <a:tcPr marL="85725" marR="38100" marT="19050" marB="19050" anchor="ctr">
                    <a:solidFill>
                      <a:srgbClr val="FFFFFF"/>
                    </a:solidFill>
                  </a:tcPr>
                </a:tc>
                <a:tc>
                  <a:txBody>
                    <a:bodyPr wrap="none"/>
                    <a:lstStyle/>
                    <a:p>
                      <a:pPr algn="l"/>
                      <a:r>
                        <a:rPr sz="800" b="0">
                          <a:solidFill>
                            <a:srgbClr val="2E2E2E"/>
                          </a:solidFill>
                          <a:latin typeface="Calibri"/>
                        </a:rPr>
                        <a:t>2,154</a:t>
                      </a:r>
                    </a:p>
                  </a:txBody>
                  <a:tcPr marL="85725" marR="38100" marT="19050" marB="19050" anchor="ctr">
                    <a:solidFill>
                      <a:srgbClr val="FFFFFF"/>
                    </a:solidFill>
                  </a:tcPr>
                </a:tc>
                <a:tc>
                  <a:txBody>
                    <a:bodyPr wrap="none"/>
                    <a:lstStyle/>
                    <a:p>
                      <a:pPr algn="l"/>
                      <a:r>
                        <a:rPr sz="800" b="0">
                          <a:solidFill>
                            <a:srgbClr val="2E2E2E"/>
                          </a:solidFill>
                          <a:latin typeface="Calibri"/>
                        </a:rPr>
                        <a:t>2,292</a:t>
                      </a:r>
                    </a:p>
                  </a:txBody>
                  <a:tcPr marL="85725" marR="38100" marT="19050" marB="19050" anchor="ctr">
                    <a:solidFill>
                      <a:srgbClr val="FFFFFF"/>
                    </a:solidFill>
                  </a:tcPr>
                </a:tc>
                <a:tc>
                  <a:txBody>
                    <a:bodyPr wrap="none"/>
                    <a:lstStyle/>
                    <a:p>
                      <a:pPr algn="l"/>
                      <a:r>
                        <a:rPr sz="800" b="0">
                          <a:solidFill>
                            <a:srgbClr val="2E2E2E"/>
                          </a:solidFill>
                          <a:latin typeface="Calibri"/>
                        </a:rPr>
                        <a:t>2,435</a:t>
                      </a:r>
                    </a:p>
                  </a:txBody>
                  <a:tcPr marL="85725" marR="38100" marT="19050" marB="19050" anchor="ctr">
                    <a:solidFill>
                      <a:srgbClr val="FFFFFF"/>
                    </a:solidFill>
                  </a:tcPr>
                </a:tc>
                <a:tc>
                  <a:txBody>
                    <a:bodyPr wrap="none"/>
                    <a:lstStyle/>
                    <a:p>
                      <a:pPr algn="l"/>
                      <a:r>
                        <a:rPr sz="800" b="0">
                          <a:solidFill>
                            <a:srgbClr val="2E2E2E"/>
                          </a:solidFill>
                          <a:latin typeface="Calibri"/>
                        </a:rPr>
                        <a:t>2,588</a:t>
                      </a:r>
                    </a:p>
                  </a:txBody>
                  <a:tcPr marL="85725" marR="38100" marT="19050" marB="19050" anchor="ctr">
                    <a:solidFill>
                      <a:srgbClr val="FFFFFF"/>
                    </a:solidFill>
                  </a:tcPr>
                </a:tc>
                <a:tc>
                  <a:txBody>
                    <a:bodyPr wrap="none"/>
                    <a:lstStyle/>
                    <a:p>
                      <a:pPr algn="l"/>
                      <a:r>
                        <a:rPr sz="800" b="0">
                          <a:solidFill>
                            <a:srgbClr val="2E2E2E"/>
                          </a:solidFill>
                          <a:latin typeface="Calibri"/>
                        </a:rPr>
                        <a:t>2,747</a:t>
                      </a:r>
                    </a:p>
                  </a:txBody>
                  <a:tcPr marL="85725" marR="38100" marT="19050" marB="19050" anchor="ctr">
                    <a:solidFill>
                      <a:srgbClr val="FFFFFF"/>
                    </a:solidFill>
                  </a:tcPr>
                </a:tc>
                <a:tc>
                  <a:txBody>
                    <a:bodyPr wrap="none"/>
                    <a:lstStyle/>
                    <a:p>
                      <a:pPr algn="l"/>
                      <a:r>
                        <a:rPr sz="800" b="0">
                          <a:solidFill>
                            <a:srgbClr val="2E2E2E"/>
                          </a:solidFill>
                          <a:latin typeface="Calibri"/>
                        </a:rPr>
                        <a:t>2,917</a:t>
                      </a:r>
                    </a:p>
                  </a:txBody>
                  <a:tcPr marL="85725" marR="38100" marT="19050" marB="19050" anchor="ctr">
                    <a:solidFill>
                      <a:srgbClr val="FFFFFF"/>
                    </a:solidFill>
                  </a:tcPr>
                </a:tc>
                <a:tc>
                  <a:txBody>
                    <a:bodyPr wrap="none"/>
                    <a:lstStyle/>
                    <a:p>
                      <a:pPr algn="l"/>
                      <a:r>
                        <a:rPr sz="800" b="0">
                          <a:solidFill>
                            <a:srgbClr val="2E2E2E"/>
                          </a:solidFill>
                          <a:latin typeface="Calibri"/>
                        </a:rPr>
                        <a:t>6.5%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511.9</a:t>
                      </a:r>
                    </a:p>
                  </a:txBody>
                  <a:tcPr marL="85725" marR="38100" marT="19050" marB="19050" anchor="ctr">
                    <a:solidFill>
                      <a:srgbClr val="F5F8FA"/>
                    </a:solidFill>
                  </a:tcPr>
                </a:tc>
                <a:tc>
                  <a:txBody>
                    <a:bodyPr wrap="none"/>
                    <a:lstStyle/>
                    <a:p>
                      <a:pPr algn="l"/>
                      <a:r>
                        <a:rPr sz="800" b="0">
                          <a:solidFill>
                            <a:srgbClr val="2E2E2E"/>
                          </a:solidFill>
                          <a:latin typeface="Calibri"/>
                        </a:rPr>
                        <a:t>542.9</a:t>
                      </a:r>
                    </a:p>
                  </a:txBody>
                  <a:tcPr marL="85725" marR="38100" marT="19050" marB="19050" anchor="ctr">
                    <a:solidFill>
                      <a:srgbClr val="F5F8FA"/>
                    </a:solidFill>
                  </a:tcPr>
                </a:tc>
                <a:tc>
                  <a:txBody>
                    <a:bodyPr wrap="none"/>
                    <a:lstStyle/>
                    <a:p>
                      <a:pPr algn="l"/>
                      <a:r>
                        <a:rPr sz="800" b="0">
                          <a:solidFill>
                            <a:srgbClr val="2E2E2E"/>
                          </a:solidFill>
                          <a:latin typeface="Calibri"/>
                        </a:rPr>
                        <a:t>577.2</a:t>
                      </a:r>
                    </a:p>
                  </a:txBody>
                  <a:tcPr marL="85725" marR="38100" marT="19050" marB="19050" anchor="ctr">
                    <a:solidFill>
                      <a:srgbClr val="F5F8FA"/>
                    </a:solidFill>
                  </a:tcPr>
                </a:tc>
                <a:tc>
                  <a:txBody>
                    <a:bodyPr wrap="none"/>
                    <a:lstStyle/>
                    <a:p>
                      <a:pPr algn="l"/>
                      <a:r>
                        <a:rPr sz="800" b="0">
                          <a:solidFill>
                            <a:srgbClr val="2E2E2E"/>
                          </a:solidFill>
                          <a:latin typeface="Calibri"/>
                        </a:rPr>
                        <a:t>615.5</a:t>
                      </a:r>
                    </a:p>
                  </a:txBody>
                  <a:tcPr marL="85725" marR="38100" marT="19050" marB="19050" anchor="ctr">
                    <a:solidFill>
                      <a:srgbClr val="F5F8FA"/>
                    </a:solidFill>
                  </a:tcPr>
                </a:tc>
                <a:tc>
                  <a:txBody>
                    <a:bodyPr wrap="none"/>
                    <a:lstStyle/>
                    <a:p>
                      <a:pPr algn="l"/>
                      <a:r>
                        <a:rPr sz="800" b="0">
                          <a:solidFill>
                            <a:srgbClr val="2E2E2E"/>
                          </a:solidFill>
                          <a:latin typeface="Calibri"/>
                        </a:rPr>
                        <a:t>658.9</a:t>
                      </a:r>
                    </a:p>
                  </a:txBody>
                  <a:tcPr marL="85725" marR="38100" marT="19050" marB="19050" anchor="ctr">
                    <a:solidFill>
                      <a:srgbClr val="F5F8FA"/>
                    </a:solidFill>
                  </a:tcPr>
                </a:tc>
                <a:tc>
                  <a:txBody>
                    <a:bodyPr wrap="none"/>
                    <a:lstStyle/>
                    <a:p>
                      <a:pPr algn="l"/>
                      <a:r>
                        <a:rPr sz="800" b="0">
                          <a:solidFill>
                            <a:srgbClr val="2E2E2E"/>
                          </a:solidFill>
                          <a:latin typeface="Calibri"/>
                        </a:rPr>
                        <a:t>708.7</a:t>
                      </a:r>
                    </a:p>
                  </a:txBody>
                  <a:tcPr marL="85725" marR="38100" marT="19050" marB="19050" anchor="ctr">
                    <a:solidFill>
                      <a:srgbClr val="F5F8FA"/>
                    </a:solidFill>
                  </a:tcPr>
                </a:tc>
                <a:tc>
                  <a:txBody>
                    <a:bodyPr wrap="none"/>
                    <a:lstStyle/>
                    <a:p>
                      <a:pPr algn="l"/>
                      <a:r>
                        <a:rPr sz="800" b="0">
                          <a:solidFill>
                            <a:srgbClr val="2E2E2E"/>
                          </a:solidFill>
                          <a:latin typeface="Calibri"/>
                        </a:rPr>
                        <a:t>764.5</a:t>
                      </a:r>
                    </a:p>
                  </a:txBody>
                  <a:tcPr marL="85725" marR="38100" marT="19050" marB="19050" anchor="ctr">
                    <a:solidFill>
                      <a:srgbClr val="F5F8FA"/>
                    </a:solidFill>
                  </a:tcPr>
                </a:tc>
                <a:tc>
                  <a:txBody>
                    <a:bodyPr wrap="none"/>
                    <a:lstStyle/>
                    <a:p>
                      <a:pPr algn="l"/>
                      <a:r>
                        <a:rPr sz="800" b="0">
                          <a:solidFill>
                            <a:srgbClr val="2E2E2E"/>
                          </a:solidFill>
                          <a:latin typeface="Calibri"/>
                        </a:rPr>
                        <a:t>826.0</a:t>
                      </a:r>
                    </a:p>
                  </a:txBody>
                  <a:tcPr marL="85725" marR="38100" marT="19050" marB="19050" anchor="ctr">
                    <a:solidFill>
                      <a:srgbClr val="F5F8FA"/>
                    </a:solidFill>
                  </a:tcPr>
                </a:tc>
                <a:tc>
                  <a:txBody>
                    <a:bodyPr wrap="none"/>
                    <a:lstStyle/>
                    <a:p>
                      <a:pPr algn="l"/>
                      <a:r>
                        <a:rPr sz="800" b="0">
                          <a:solidFill>
                            <a:srgbClr val="2E2E2E"/>
                          </a:solidFill>
                          <a:latin typeface="Calibri"/>
                        </a:rPr>
                        <a:t>892.7</a:t>
                      </a:r>
                    </a:p>
                  </a:txBody>
                  <a:tcPr marL="85725" marR="38100" marT="19050" marB="19050" anchor="ctr">
                    <a:solidFill>
                      <a:srgbClr val="F5F8FA"/>
                    </a:solidFill>
                  </a:tcPr>
                </a:tc>
                <a:tc>
                  <a:txBody>
                    <a:bodyPr wrap="none"/>
                    <a:lstStyle/>
                    <a:p>
                      <a:pPr algn="l"/>
                      <a:r>
                        <a:rPr sz="800" b="0">
                          <a:solidFill>
                            <a:srgbClr val="2E2E2E"/>
                          </a:solidFill>
                          <a:latin typeface="Calibri"/>
                        </a:rPr>
                        <a:t>963.7</a:t>
                      </a:r>
                    </a:p>
                  </a:txBody>
                  <a:tcPr marL="85725" marR="38100" marT="19050" marB="19050" anchor="ctr">
                    <a:solidFill>
                      <a:srgbClr val="F5F8FA"/>
                    </a:solidFill>
                  </a:tcPr>
                </a:tc>
                <a:tc>
                  <a:txBody>
                    <a:bodyPr wrap="none"/>
                    <a:lstStyle/>
                    <a:p>
                      <a:pPr algn="l"/>
                      <a:r>
                        <a:rPr sz="800" b="0">
                          <a:solidFill>
                            <a:srgbClr val="2E2E2E"/>
                          </a:solidFill>
                          <a:latin typeface="Calibri"/>
                        </a:rPr>
                        <a:t>1,039</a:t>
                      </a:r>
                    </a:p>
                  </a:txBody>
                  <a:tcPr marL="85725" marR="38100" marT="19050" marB="19050" anchor="ctr">
                    <a:solidFill>
                      <a:srgbClr val="F5F8FA"/>
                    </a:solidFill>
                  </a:tcPr>
                </a:tc>
                <a:tc>
                  <a:txBody>
                    <a:bodyPr wrap="none"/>
                    <a:lstStyle/>
                    <a:p>
                      <a:pPr algn="l"/>
                      <a:r>
                        <a:rPr sz="800" b="0">
                          <a:solidFill>
                            <a:srgbClr val="2E2E2E"/>
                          </a:solidFill>
                          <a:latin typeface="Calibri"/>
                        </a:rPr>
                        <a:t>1,119</a:t>
                      </a:r>
                    </a:p>
                  </a:txBody>
                  <a:tcPr marL="85725" marR="38100" marT="19050" marB="19050" anchor="ctr">
                    <a:solidFill>
                      <a:srgbClr val="F5F8FA"/>
                    </a:solidFill>
                  </a:tcPr>
                </a:tc>
                <a:tc>
                  <a:txBody>
                    <a:bodyPr wrap="none"/>
                    <a:lstStyle/>
                    <a:p>
                      <a:pPr algn="l"/>
                      <a:r>
                        <a:rPr sz="800" b="0">
                          <a:solidFill>
                            <a:srgbClr val="2E2E2E"/>
                          </a:solidFill>
                          <a:latin typeface="Calibri"/>
                        </a:rPr>
                        <a:t>1,203</a:t>
                      </a:r>
                    </a:p>
                  </a:txBody>
                  <a:tcPr marL="85725" marR="38100" marT="19050" marB="19050" anchor="ctr">
                    <a:solidFill>
                      <a:srgbClr val="F5F8FA"/>
                    </a:solidFill>
                  </a:tcPr>
                </a:tc>
                <a:tc>
                  <a:txBody>
                    <a:bodyPr wrap="none"/>
                    <a:lstStyle/>
                    <a:p>
                      <a:pPr algn="l"/>
                      <a:r>
                        <a:rPr sz="800" b="0">
                          <a:solidFill>
                            <a:srgbClr val="2E2E2E"/>
                          </a:solidFill>
                          <a:latin typeface="Calibri"/>
                        </a:rPr>
                        <a:t>1,294</a:t>
                      </a:r>
                    </a:p>
                  </a:txBody>
                  <a:tcPr marL="85725" marR="38100" marT="19050" marB="19050" anchor="ctr">
                    <a:solidFill>
                      <a:srgbClr val="F5F8FA"/>
                    </a:solidFill>
                  </a:tcPr>
                </a:tc>
                <a:tc>
                  <a:txBody>
                    <a:bodyPr wrap="none"/>
                    <a:lstStyle/>
                    <a:p>
                      <a:pPr algn="l"/>
                      <a:r>
                        <a:rPr sz="800" b="0">
                          <a:solidFill>
                            <a:srgbClr val="2E2E2E"/>
                          </a:solidFill>
                          <a:latin typeface="Calibri"/>
                        </a:rPr>
                        <a:t>1,391</a:t>
                      </a:r>
                    </a:p>
                  </a:txBody>
                  <a:tcPr marL="85725" marR="38100" marT="19050" marB="19050" anchor="ctr">
                    <a:solidFill>
                      <a:srgbClr val="F5F8FA"/>
                    </a:solidFill>
                  </a:tcPr>
                </a:tc>
                <a:tc>
                  <a:txBody>
                    <a:bodyPr wrap="none"/>
                    <a:lstStyle/>
                    <a:p>
                      <a:pPr algn="l"/>
                      <a:r>
                        <a:rPr sz="800" b="0">
                          <a:solidFill>
                            <a:srgbClr val="2E2E2E"/>
                          </a:solidFill>
                          <a:latin typeface="Calibri"/>
                        </a:rPr>
                        <a:t>1,496</a:t>
                      </a:r>
                    </a:p>
                  </a:txBody>
                  <a:tcPr marL="85725" marR="38100" marT="19050" marB="19050" anchor="ctr">
                    <a:solidFill>
                      <a:srgbClr val="F5F8FA"/>
                    </a:solidFill>
                  </a:tcPr>
                </a:tc>
                <a:tc>
                  <a:txBody>
                    <a:bodyPr wrap="none"/>
                    <a:lstStyle/>
                    <a:p>
                      <a:pPr algn="l"/>
                      <a:r>
                        <a:rPr sz="800" b="0">
                          <a:solidFill>
                            <a:srgbClr val="2E2E2E"/>
                          </a:solidFill>
                          <a:latin typeface="Calibri"/>
                        </a:rPr>
                        <a:t>7.8%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Patient Group</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'Adults' is the largest patient group at 52.4% of 2036 volume (2,917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'Geriatric Patients' grows fastest 7.8%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'Geriatric Patients' (+178 BPS) and away from 'Adults' (-270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Patient Group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Patient Group,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Patient Group (US$ Mn)</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0">
                          <a:solidFill>
                            <a:srgbClr val="2E2E2E"/>
                          </a:solidFill>
                          <a:latin typeface="Calibri"/>
                        </a:rPr>
                        <a:t>136.7</a:t>
                      </a:r>
                    </a:p>
                  </a:txBody>
                  <a:tcPr marL="85725" marR="38100" marT="19050" marB="19050" anchor="ctr">
                    <a:solidFill>
                      <a:srgbClr val="FFFFFF"/>
                    </a:solidFill>
                  </a:tcPr>
                </a:tc>
                <a:tc>
                  <a:txBody>
                    <a:bodyPr wrap="none"/>
                    <a:lstStyle/>
                    <a:p>
                      <a:pPr algn="l"/>
                      <a:r>
                        <a:rPr sz="800" b="0">
                          <a:solidFill>
                            <a:srgbClr val="2E2E2E"/>
                          </a:solidFill>
                          <a:latin typeface="Calibri"/>
                        </a:rPr>
                        <a:t>142.5</a:t>
                      </a:r>
                    </a:p>
                  </a:txBody>
                  <a:tcPr marL="85725" marR="38100" marT="19050" marB="19050" anchor="ctr">
                    <a:solidFill>
                      <a:srgbClr val="FFFFFF"/>
                    </a:solidFill>
                  </a:tcPr>
                </a:tc>
                <a:tc>
                  <a:txBody>
                    <a:bodyPr wrap="none"/>
                    <a:lstStyle/>
                    <a:p>
                      <a:pPr algn="l"/>
                      <a:r>
                        <a:rPr sz="800" b="0">
                          <a:solidFill>
                            <a:srgbClr val="2E2E2E"/>
                          </a:solidFill>
                          <a:latin typeface="Calibri"/>
                        </a:rPr>
                        <a:t>149.2</a:t>
                      </a:r>
                    </a:p>
                  </a:txBody>
                  <a:tcPr marL="85725" marR="38100" marT="19050" marB="19050" anchor="ctr">
                    <a:solidFill>
                      <a:srgbClr val="FFFFFF"/>
                    </a:solidFill>
                  </a:tcPr>
                </a:tc>
                <a:tc>
                  <a:txBody>
                    <a:bodyPr wrap="none"/>
                    <a:lstStyle/>
                    <a:p>
                      <a:pPr algn="l"/>
                      <a:r>
                        <a:rPr sz="800" b="0">
                          <a:solidFill>
                            <a:srgbClr val="2E2E2E"/>
                          </a:solidFill>
                          <a:latin typeface="Calibri"/>
                        </a:rPr>
                        <a:t>157.3</a:t>
                      </a:r>
                    </a:p>
                  </a:txBody>
                  <a:tcPr marL="85725" marR="38100" marT="19050" marB="19050" anchor="ctr">
                    <a:solidFill>
                      <a:srgbClr val="FFFFFF"/>
                    </a:solidFill>
                  </a:tcPr>
                </a:tc>
                <a:tc>
                  <a:txBody>
                    <a:bodyPr wrap="none"/>
                    <a:lstStyle/>
                    <a:p>
                      <a:pPr algn="l"/>
                      <a:r>
                        <a:rPr sz="800" b="0">
                          <a:solidFill>
                            <a:srgbClr val="2E2E2E"/>
                          </a:solidFill>
                          <a:latin typeface="Calibri"/>
                        </a:rPr>
                        <a:t>166.8</a:t>
                      </a:r>
                    </a:p>
                  </a:txBody>
                  <a:tcPr marL="85725" marR="38100" marT="19050" marB="19050" anchor="ctr">
                    <a:solidFill>
                      <a:srgbClr val="FFFFFF"/>
                    </a:solidFill>
                  </a:tcPr>
                </a:tc>
                <a:tc>
                  <a:txBody>
                    <a:bodyPr wrap="none"/>
                    <a:lstStyle/>
                    <a:p>
                      <a:pPr algn="l"/>
                      <a:r>
                        <a:rPr sz="800" b="0">
                          <a:solidFill>
                            <a:srgbClr val="2E2E2E"/>
                          </a:solidFill>
                          <a:latin typeface="Calibri"/>
                        </a:rPr>
                        <a:t>178.1</a:t>
                      </a:r>
                    </a:p>
                  </a:txBody>
                  <a:tcPr marL="85725" marR="38100" marT="19050" marB="19050" anchor="ctr">
                    <a:solidFill>
                      <a:srgbClr val="FFFFFF"/>
                    </a:solidFill>
                  </a:tcPr>
                </a:tc>
                <a:tc>
                  <a:txBody>
                    <a:bodyPr wrap="none"/>
                    <a:lstStyle/>
                    <a:p>
                      <a:pPr algn="l"/>
                      <a:r>
                        <a:rPr sz="800" b="0">
                          <a:solidFill>
                            <a:srgbClr val="2E2E2E"/>
                          </a:solidFill>
                          <a:latin typeface="Calibri"/>
                        </a:rPr>
                        <a:t>191.1</a:t>
                      </a:r>
                    </a:p>
                  </a:txBody>
                  <a:tcPr marL="85725" marR="38100" marT="19050" marB="19050" anchor="ctr">
                    <a:solidFill>
                      <a:srgbClr val="FFFFFF"/>
                    </a:solidFill>
                  </a:tcPr>
                </a:tc>
                <a:tc>
                  <a:txBody>
                    <a:bodyPr wrap="none"/>
                    <a:lstStyle/>
                    <a:p>
                      <a:pPr algn="l"/>
                      <a:r>
                        <a:rPr sz="800" b="0">
                          <a:solidFill>
                            <a:srgbClr val="2E2E2E"/>
                          </a:solidFill>
                          <a:latin typeface="Calibri"/>
                        </a:rPr>
                        <a:t>205.8</a:t>
                      </a:r>
                    </a:p>
                  </a:txBody>
                  <a:tcPr marL="85725" marR="38100" marT="19050" marB="19050" anchor="ctr">
                    <a:solidFill>
                      <a:srgbClr val="FFFFFF"/>
                    </a:solidFill>
                  </a:tcPr>
                </a:tc>
                <a:tc>
                  <a:txBody>
                    <a:bodyPr wrap="none"/>
                    <a:lstStyle/>
                    <a:p>
                      <a:pPr algn="l"/>
                      <a:r>
                        <a:rPr sz="800" b="0">
                          <a:solidFill>
                            <a:srgbClr val="2E2E2E"/>
                          </a:solidFill>
                          <a:latin typeface="Calibri"/>
                        </a:rPr>
                        <a:t>222.1</a:t>
                      </a:r>
                    </a:p>
                  </a:txBody>
                  <a:tcPr marL="85725" marR="38100" marT="19050" marB="19050" anchor="ctr">
                    <a:solidFill>
                      <a:srgbClr val="FFFFFF"/>
                    </a:solidFill>
                  </a:tcPr>
                </a:tc>
                <a:tc>
                  <a:txBody>
                    <a:bodyPr wrap="none"/>
                    <a:lstStyle/>
                    <a:p>
                      <a:pPr algn="l"/>
                      <a:r>
                        <a:rPr sz="800" b="0">
                          <a:solidFill>
                            <a:srgbClr val="2E2E2E"/>
                          </a:solidFill>
                          <a:latin typeface="Calibri"/>
                        </a:rPr>
                        <a:t>240.1</a:t>
                      </a:r>
                    </a:p>
                  </a:txBody>
                  <a:tcPr marL="85725" marR="38100" marT="19050" marB="19050" anchor="ctr">
                    <a:solidFill>
                      <a:srgbClr val="FFFFFF"/>
                    </a:solidFill>
                  </a:tcPr>
                </a:tc>
                <a:tc>
                  <a:txBody>
                    <a:bodyPr wrap="none"/>
                    <a:lstStyle/>
                    <a:p>
                      <a:pPr algn="l"/>
                      <a:r>
                        <a:rPr sz="800" b="0">
                          <a:solidFill>
                            <a:srgbClr val="2E2E2E"/>
                          </a:solidFill>
                          <a:latin typeface="Calibri"/>
                        </a:rPr>
                        <a:t>259.7</a:t>
                      </a:r>
                    </a:p>
                  </a:txBody>
                  <a:tcPr marL="85725" marR="38100" marT="19050" marB="19050" anchor="ctr">
                    <a:solidFill>
                      <a:srgbClr val="FFFFFF"/>
                    </a:solidFill>
                  </a:tcPr>
                </a:tc>
                <a:tc>
                  <a:txBody>
                    <a:bodyPr wrap="none"/>
                    <a:lstStyle/>
                    <a:p>
                      <a:pPr algn="l"/>
                      <a:r>
                        <a:rPr sz="800" b="0">
                          <a:solidFill>
                            <a:srgbClr val="2E2E2E"/>
                          </a:solidFill>
                          <a:latin typeface="Calibri"/>
                        </a:rPr>
                        <a:t>281.3</a:t>
                      </a:r>
                    </a:p>
                  </a:txBody>
                  <a:tcPr marL="85725" marR="38100" marT="19050" marB="19050" anchor="ctr">
                    <a:solidFill>
                      <a:srgbClr val="FFFFFF"/>
                    </a:solidFill>
                  </a:tcPr>
                </a:tc>
                <a:tc>
                  <a:txBody>
                    <a:bodyPr wrap="none"/>
                    <a:lstStyle/>
                    <a:p>
                      <a:pPr algn="l"/>
                      <a:r>
                        <a:rPr sz="800" b="0">
                          <a:solidFill>
                            <a:srgbClr val="2E2E2E"/>
                          </a:solidFill>
                          <a:latin typeface="Calibri"/>
                        </a:rPr>
                        <a:t>304.9</a:t>
                      </a:r>
                    </a:p>
                  </a:txBody>
                  <a:tcPr marL="85725" marR="38100" marT="19050" marB="19050" anchor="ctr">
                    <a:solidFill>
                      <a:srgbClr val="FFFFFF"/>
                    </a:solidFill>
                  </a:tcPr>
                </a:tc>
                <a:tc>
                  <a:txBody>
                    <a:bodyPr wrap="none"/>
                    <a:lstStyle/>
                    <a:p>
                      <a:pPr algn="l"/>
                      <a:r>
                        <a:rPr sz="800" b="0">
                          <a:solidFill>
                            <a:srgbClr val="2E2E2E"/>
                          </a:solidFill>
                          <a:latin typeface="Calibri"/>
                        </a:rPr>
                        <a:t>331.3</a:t>
                      </a:r>
                    </a:p>
                  </a:txBody>
                  <a:tcPr marL="85725" marR="38100" marT="19050" marB="19050" anchor="ctr">
                    <a:solidFill>
                      <a:srgbClr val="FFFFFF"/>
                    </a:solidFill>
                  </a:tcPr>
                </a:tc>
                <a:tc>
                  <a:txBody>
                    <a:bodyPr wrap="none"/>
                    <a:lstStyle/>
                    <a:p>
                      <a:pPr algn="l"/>
                      <a:r>
                        <a:rPr sz="800" b="0">
                          <a:solidFill>
                            <a:srgbClr val="2E2E2E"/>
                          </a:solidFill>
                          <a:latin typeface="Calibri"/>
                        </a:rPr>
                        <a:t>360.6</a:t>
                      </a:r>
                    </a:p>
                  </a:txBody>
                  <a:tcPr marL="85725" marR="38100" marT="19050" marB="19050" anchor="ctr">
                    <a:solidFill>
                      <a:srgbClr val="FFFFFF"/>
                    </a:solidFill>
                  </a:tcPr>
                </a:tc>
                <a:tc>
                  <a:txBody>
                    <a:bodyPr wrap="none"/>
                    <a:lstStyle/>
                    <a:p>
                      <a:pPr algn="l"/>
                      <a:r>
                        <a:rPr sz="800" b="0">
                          <a:solidFill>
                            <a:srgbClr val="2E2E2E"/>
                          </a:solidFill>
                          <a:latin typeface="Calibri"/>
                        </a:rPr>
                        <a:t>393.3</a:t>
                      </a:r>
                    </a:p>
                  </a:txBody>
                  <a:tcPr marL="85725" marR="38100" marT="19050" marB="19050" anchor="ctr">
                    <a:solidFill>
                      <a:srgbClr val="FFFFFF"/>
                    </a:solidFill>
                  </a:tcPr>
                </a:tc>
                <a:tc>
                  <a:txBody>
                    <a:bodyPr wrap="none"/>
                    <a:lstStyle/>
                    <a:p>
                      <a:pPr algn="l"/>
                      <a:r>
                        <a:rPr sz="800" b="0">
                          <a:solidFill>
                            <a:srgbClr val="2E2E2E"/>
                          </a:solidFill>
                          <a:latin typeface="Calibri"/>
                        </a:rPr>
                        <a:t>8.2%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209.7</a:t>
                      </a:r>
                    </a:p>
                  </a:txBody>
                  <a:tcPr marL="85725" marR="38100" marT="19050" marB="19050" anchor="ctr">
                    <a:solidFill>
                      <a:srgbClr val="F5F8FA"/>
                    </a:solidFill>
                  </a:tcPr>
                </a:tc>
                <a:tc>
                  <a:txBody>
                    <a:bodyPr wrap="none"/>
                    <a:lstStyle/>
                    <a:p>
                      <a:pPr algn="l"/>
                      <a:r>
                        <a:rPr sz="800" b="0">
                          <a:solidFill>
                            <a:srgbClr val="2E2E2E"/>
                          </a:solidFill>
                          <a:latin typeface="Calibri"/>
                        </a:rPr>
                        <a:t>219.4</a:t>
                      </a:r>
                    </a:p>
                  </a:txBody>
                  <a:tcPr marL="85725" marR="38100" marT="19050" marB="19050" anchor="ctr">
                    <a:solidFill>
                      <a:srgbClr val="F5F8FA"/>
                    </a:solidFill>
                  </a:tcPr>
                </a:tc>
                <a:tc>
                  <a:txBody>
                    <a:bodyPr wrap="none"/>
                    <a:lstStyle/>
                    <a:p>
                      <a:pPr algn="l"/>
                      <a:r>
                        <a:rPr sz="800" b="0">
                          <a:solidFill>
                            <a:srgbClr val="2E2E2E"/>
                          </a:solidFill>
                          <a:latin typeface="Calibri"/>
                        </a:rPr>
                        <a:t>230.4</a:t>
                      </a:r>
                    </a:p>
                  </a:txBody>
                  <a:tcPr marL="85725" marR="38100" marT="19050" marB="19050" anchor="ctr">
                    <a:solidFill>
                      <a:srgbClr val="F5F8FA"/>
                    </a:solidFill>
                  </a:tcPr>
                </a:tc>
                <a:tc>
                  <a:txBody>
                    <a:bodyPr wrap="none"/>
                    <a:lstStyle/>
                    <a:p>
                      <a:pPr algn="l"/>
                      <a:r>
                        <a:rPr sz="800" b="0">
                          <a:solidFill>
                            <a:srgbClr val="2E2E2E"/>
                          </a:solidFill>
                          <a:latin typeface="Calibri"/>
                        </a:rPr>
                        <a:t>243.7</a:t>
                      </a:r>
                    </a:p>
                  </a:txBody>
                  <a:tcPr marL="85725" marR="38100" marT="19050" marB="19050" anchor="ctr">
                    <a:solidFill>
                      <a:srgbClr val="F5F8FA"/>
                    </a:solidFill>
                  </a:tcPr>
                </a:tc>
                <a:tc>
                  <a:txBody>
                    <a:bodyPr wrap="none"/>
                    <a:lstStyle/>
                    <a:p>
                      <a:pPr algn="l"/>
                      <a:r>
                        <a:rPr sz="800" b="0">
                          <a:solidFill>
                            <a:srgbClr val="2E2E2E"/>
                          </a:solidFill>
                          <a:latin typeface="Calibri"/>
                        </a:rPr>
                        <a:t>259.2</a:t>
                      </a:r>
                    </a:p>
                  </a:txBody>
                  <a:tcPr marL="85725" marR="38100" marT="19050" marB="19050" anchor="ctr">
                    <a:solidFill>
                      <a:srgbClr val="F5F8FA"/>
                    </a:solidFill>
                  </a:tcPr>
                </a:tc>
                <a:tc>
                  <a:txBody>
                    <a:bodyPr wrap="none"/>
                    <a:lstStyle/>
                    <a:p>
                      <a:pPr algn="l"/>
                      <a:r>
                        <a:rPr sz="800" b="0">
                          <a:solidFill>
                            <a:srgbClr val="2E2E2E"/>
                          </a:solidFill>
                          <a:latin typeface="Calibri"/>
                        </a:rPr>
                        <a:t>277.5</a:t>
                      </a:r>
                    </a:p>
                  </a:txBody>
                  <a:tcPr marL="85725" marR="38100" marT="19050" marB="19050" anchor="ctr">
                    <a:solidFill>
                      <a:srgbClr val="F5F8FA"/>
                    </a:solidFill>
                  </a:tcPr>
                </a:tc>
                <a:tc>
                  <a:txBody>
                    <a:bodyPr wrap="none"/>
                    <a:lstStyle/>
                    <a:p>
                      <a:pPr algn="l"/>
                      <a:r>
                        <a:rPr sz="800" b="0">
                          <a:solidFill>
                            <a:srgbClr val="2E2E2E"/>
                          </a:solidFill>
                          <a:latin typeface="Calibri"/>
                        </a:rPr>
                        <a:t>298.7</a:t>
                      </a:r>
                    </a:p>
                  </a:txBody>
                  <a:tcPr marL="85725" marR="38100" marT="19050" marB="19050" anchor="ctr">
                    <a:solidFill>
                      <a:srgbClr val="F5F8FA"/>
                    </a:solidFill>
                  </a:tcPr>
                </a:tc>
                <a:tc>
                  <a:txBody>
                    <a:bodyPr wrap="none"/>
                    <a:lstStyle/>
                    <a:p>
                      <a:pPr algn="l"/>
                      <a:r>
                        <a:rPr sz="800" b="0">
                          <a:solidFill>
                            <a:srgbClr val="2E2E2E"/>
                          </a:solidFill>
                          <a:latin typeface="Calibri"/>
                        </a:rPr>
                        <a:t>322.5</a:t>
                      </a:r>
                    </a:p>
                  </a:txBody>
                  <a:tcPr marL="85725" marR="38100" marT="19050" marB="19050" anchor="ctr">
                    <a:solidFill>
                      <a:srgbClr val="F5F8FA"/>
                    </a:solidFill>
                  </a:tcPr>
                </a:tc>
                <a:tc>
                  <a:txBody>
                    <a:bodyPr wrap="none"/>
                    <a:lstStyle/>
                    <a:p>
                      <a:pPr algn="l"/>
                      <a:r>
                        <a:rPr sz="800" b="0">
                          <a:solidFill>
                            <a:srgbClr val="2E2E2E"/>
                          </a:solidFill>
                          <a:latin typeface="Calibri"/>
                        </a:rPr>
                        <a:t>349.1</a:t>
                      </a:r>
                    </a:p>
                  </a:txBody>
                  <a:tcPr marL="85725" marR="38100" marT="19050" marB="19050" anchor="ctr">
                    <a:solidFill>
                      <a:srgbClr val="F5F8FA"/>
                    </a:solidFill>
                  </a:tcPr>
                </a:tc>
                <a:tc>
                  <a:txBody>
                    <a:bodyPr wrap="none"/>
                    <a:lstStyle/>
                    <a:p>
                      <a:pPr algn="l"/>
                      <a:r>
                        <a:rPr sz="800" b="0">
                          <a:solidFill>
                            <a:srgbClr val="2E2E2E"/>
                          </a:solidFill>
                          <a:latin typeface="Calibri"/>
                        </a:rPr>
                        <a:t>378.4</a:t>
                      </a:r>
                    </a:p>
                  </a:txBody>
                  <a:tcPr marL="85725" marR="38100" marT="19050" marB="19050" anchor="ctr">
                    <a:solidFill>
                      <a:srgbClr val="F5F8FA"/>
                    </a:solidFill>
                  </a:tcPr>
                </a:tc>
                <a:tc>
                  <a:txBody>
                    <a:bodyPr wrap="none"/>
                    <a:lstStyle/>
                    <a:p>
                      <a:pPr algn="l"/>
                      <a:r>
                        <a:rPr sz="800" b="0">
                          <a:solidFill>
                            <a:srgbClr val="2E2E2E"/>
                          </a:solidFill>
                          <a:latin typeface="Calibri"/>
                        </a:rPr>
                        <a:t>410.4</a:t>
                      </a:r>
                    </a:p>
                  </a:txBody>
                  <a:tcPr marL="85725" marR="38100" marT="19050" marB="19050" anchor="ctr">
                    <a:solidFill>
                      <a:srgbClr val="F5F8FA"/>
                    </a:solidFill>
                  </a:tcPr>
                </a:tc>
                <a:tc>
                  <a:txBody>
                    <a:bodyPr wrap="none"/>
                    <a:lstStyle/>
                    <a:p>
                      <a:pPr algn="l"/>
                      <a:r>
                        <a:rPr sz="800" b="0">
                          <a:solidFill>
                            <a:srgbClr val="2E2E2E"/>
                          </a:solidFill>
                          <a:latin typeface="Calibri"/>
                        </a:rPr>
                        <a:t>445.7</a:t>
                      </a:r>
                    </a:p>
                  </a:txBody>
                  <a:tcPr marL="85725" marR="38100" marT="19050" marB="19050" anchor="ctr">
                    <a:solidFill>
                      <a:srgbClr val="F5F8FA"/>
                    </a:solidFill>
                  </a:tcPr>
                </a:tc>
                <a:tc>
                  <a:txBody>
                    <a:bodyPr wrap="none"/>
                    <a:lstStyle/>
                    <a:p>
                      <a:pPr algn="l"/>
                      <a:r>
                        <a:rPr sz="800" b="0">
                          <a:solidFill>
                            <a:srgbClr val="2E2E2E"/>
                          </a:solidFill>
                          <a:latin typeface="Calibri"/>
                        </a:rPr>
                        <a:t>484.2</a:t>
                      </a:r>
                    </a:p>
                  </a:txBody>
                  <a:tcPr marL="85725" marR="38100" marT="19050" marB="19050" anchor="ctr">
                    <a:solidFill>
                      <a:srgbClr val="F5F8FA"/>
                    </a:solidFill>
                  </a:tcPr>
                </a:tc>
                <a:tc>
                  <a:txBody>
                    <a:bodyPr wrap="none"/>
                    <a:lstStyle/>
                    <a:p>
                      <a:pPr algn="l"/>
                      <a:r>
                        <a:rPr sz="800" b="0">
                          <a:solidFill>
                            <a:srgbClr val="2E2E2E"/>
                          </a:solidFill>
                          <a:latin typeface="Calibri"/>
                        </a:rPr>
                        <a:t>527.5</a:t>
                      </a:r>
                    </a:p>
                  </a:txBody>
                  <a:tcPr marL="85725" marR="38100" marT="19050" marB="19050" anchor="ctr">
                    <a:solidFill>
                      <a:srgbClr val="F5F8FA"/>
                    </a:solidFill>
                  </a:tcPr>
                </a:tc>
                <a:tc>
                  <a:txBody>
                    <a:bodyPr wrap="none"/>
                    <a:lstStyle/>
                    <a:p>
                      <a:pPr algn="l"/>
                      <a:r>
                        <a:rPr sz="800" b="0">
                          <a:solidFill>
                            <a:srgbClr val="2E2E2E"/>
                          </a:solidFill>
                          <a:latin typeface="Calibri"/>
                        </a:rPr>
                        <a:t>575.4</a:t>
                      </a:r>
                    </a:p>
                  </a:txBody>
                  <a:tcPr marL="85725" marR="38100" marT="19050" marB="19050" anchor="ctr">
                    <a:solidFill>
                      <a:srgbClr val="F5F8FA"/>
                    </a:solidFill>
                  </a:tcPr>
                </a:tc>
                <a:tc>
                  <a:txBody>
                    <a:bodyPr wrap="none"/>
                    <a:lstStyle/>
                    <a:p>
                      <a:pPr algn="l"/>
                      <a:r>
                        <a:rPr sz="800" b="0">
                          <a:solidFill>
                            <a:srgbClr val="2E2E2E"/>
                          </a:solidFill>
                          <a:latin typeface="Calibri"/>
                        </a:rPr>
                        <a:t>629.0</a:t>
                      </a:r>
                    </a:p>
                  </a:txBody>
                  <a:tcPr marL="85725" marR="38100" marT="19050" marB="19050" anchor="ctr">
                    <a:solidFill>
                      <a:srgbClr val="F5F8FA"/>
                    </a:solidFill>
                  </a:tcPr>
                </a:tc>
                <a:tc>
                  <a:txBody>
                    <a:bodyPr wrap="none"/>
                    <a:lstStyle/>
                    <a:p>
                      <a:pPr algn="l"/>
                      <a:r>
                        <a:rPr sz="8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0">
                          <a:solidFill>
                            <a:srgbClr val="2E2E2E"/>
                          </a:solidFill>
                          <a:latin typeface="Calibri"/>
                        </a:rPr>
                        <a:t>1,006</a:t>
                      </a:r>
                    </a:p>
                  </a:txBody>
                  <a:tcPr marL="85725" marR="38100" marT="19050" marB="19050" anchor="ctr">
                    <a:solidFill>
                      <a:srgbClr val="FFFFFF"/>
                    </a:solidFill>
                  </a:tcPr>
                </a:tc>
                <a:tc>
                  <a:txBody>
                    <a:bodyPr wrap="none"/>
                    <a:lstStyle/>
                    <a:p>
                      <a:pPr algn="l"/>
                      <a:r>
                        <a:rPr sz="800" b="0">
                          <a:solidFill>
                            <a:srgbClr val="2E2E2E"/>
                          </a:solidFill>
                          <a:latin typeface="Calibri"/>
                        </a:rPr>
                        <a:t>1,043</a:t>
                      </a:r>
                    </a:p>
                  </a:txBody>
                  <a:tcPr marL="85725" marR="38100" marT="19050" marB="19050" anchor="ctr">
                    <a:solidFill>
                      <a:srgbClr val="FFFFFF"/>
                    </a:solidFill>
                  </a:tcPr>
                </a:tc>
                <a:tc>
                  <a:txBody>
                    <a:bodyPr wrap="none"/>
                    <a:lstStyle/>
                    <a:p>
                      <a:pPr algn="l"/>
                      <a:r>
                        <a:rPr sz="800" b="0">
                          <a:solidFill>
                            <a:srgbClr val="2E2E2E"/>
                          </a:solidFill>
                          <a:latin typeface="Calibri"/>
                        </a:rPr>
                        <a:t>1,086</a:t>
                      </a:r>
                    </a:p>
                  </a:txBody>
                  <a:tcPr marL="85725" marR="38100" marT="19050" marB="19050" anchor="ctr">
                    <a:solidFill>
                      <a:srgbClr val="FFFFFF"/>
                    </a:solidFill>
                  </a:tcPr>
                </a:tc>
                <a:tc>
                  <a:txBody>
                    <a:bodyPr wrap="none"/>
                    <a:lstStyle/>
                    <a:p>
                      <a:pPr algn="l"/>
                      <a:r>
                        <a:rPr sz="800" b="0">
                          <a:solidFill>
                            <a:srgbClr val="2E2E2E"/>
                          </a:solidFill>
                          <a:latin typeface="Calibri"/>
                        </a:rPr>
                        <a:t>1,138</a:t>
                      </a:r>
                    </a:p>
                  </a:txBody>
                  <a:tcPr marL="85725" marR="38100" marT="19050" marB="19050" anchor="ctr">
                    <a:solidFill>
                      <a:srgbClr val="FFFFFF"/>
                    </a:solidFill>
                  </a:tcPr>
                </a:tc>
                <a:tc>
                  <a:txBody>
                    <a:bodyPr wrap="none"/>
                    <a:lstStyle/>
                    <a:p>
                      <a:pPr algn="l"/>
                      <a:r>
                        <a:rPr sz="800" b="0">
                          <a:solidFill>
                            <a:srgbClr val="2E2E2E"/>
                          </a:solidFill>
                          <a:latin typeface="Calibri"/>
                        </a:rPr>
                        <a:t>1,199</a:t>
                      </a:r>
                    </a:p>
                  </a:txBody>
                  <a:tcPr marL="85725" marR="38100" marT="19050" marB="19050" anchor="ctr">
                    <a:solidFill>
                      <a:srgbClr val="FFFFFF"/>
                    </a:solidFill>
                  </a:tcPr>
                </a:tc>
                <a:tc>
                  <a:txBody>
                    <a:bodyPr wrap="none"/>
                    <a:lstStyle/>
                    <a:p>
                      <a:pPr algn="l"/>
                      <a:r>
                        <a:rPr sz="800" b="0">
                          <a:solidFill>
                            <a:srgbClr val="2E2E2E"/>
                          </a:solidFill>
                          <a:latin typeface="Calibri"/>
                        </a:rPr>
                        <a:t>1,272</a:t>
                      </a:r>
                    </a:p>
                  </a:txBody>
                  <a:tcPr marL="85725" marR="38100" marT="19050" marB="19050" anchor="ctr">
                    <a:solidFill>
                      <a:srgbClr val="FFFFFF"/>
                    </a:solidFill>
                  </a:tcPr>
                </a:tc>
                <a:tc>
                  <a:txBody>
                    <a:bodyPr wrap="none"/>
                    <a:lstStyle/>
                    <a:p>
                      <a:pPr algn="l"/>
                      <a:r>
                        <a:rPr sz="800" b="0">
                          <a:solidFill>
                            <a:srgbClr val="2E2E2E"/>
                          </a:solidFill>
                          <a:latin typeface="Calibri"/>
                        </a:rPr>
                        <a:t>1,355</a:t>
                      </a:r>
                    </a:p>
                  </a:txBody>
                  <a:tcPr marL="85725" marR="38100" marT="19050" marB="19050" anchor="ctr">
                    <a:solidFill>
                      <a:srgbClr val="FFFFFF"/>
                    </a:solidFill>
                  </a:tcPr>
                </a:tc>
                <a:tc>
                  <a:txBody>
                    <a:bodyPr wrap="none"/>
                    <a:lstStyle/>
                    <a:p>
                      <a:pPr algn="l"/>
                      <a:r>
                        <a:rPr sz="800" b="0">
                          <a:solidFill>
                            <a:srgbClr val="2E2E2E"/>
                          </a:solidFill>
                          <a:latin typeface="Calibri"/>
                        </a:rPr>
                        <a:t>1,448</a:t>
                      </a:r>
                    </a:p>
                  </a:txBody>
                  <a:tcPr marL="85725" marR="38100" marT="19050" marB="19050" anchor="ctr">
                    <a:solidFill>
                      <a:srgbClr val="FFFFFF"/>
                    </a:solidFill>
                  </a:tcPr>
                </a:tc>
                <a:tc>
                  <a:txBody>
                    <a:bodyPr wrap="none"/>
                    <a:lstStyle/>
                    <a:p>
                      <a:pPr algn="l"/>
                      <a:r>
                        <a:rPr sz="800" b="0">
                          <a:solidFill>
                            <a:srgbClr val="2E2E2E"/>
                          </a:solidFill>
                          <a:latin typeface="Calibri"/>
                        </a:rPr>
                        <a:t>1,552</a:t>
                      </a:r>
                    </a:p>
                  </a:txBody>
                  <a:tcPr marL="85725" marR="38100" marT="19050" marB="19050" anchor="ctr">
                    <a:solidFill>
                      <a:srgbClr val="FFFFFF"/>
                    </a:solidFill>
                  </a:tcPr>
                </a:tc>
                <a:tc>
                  <a:txBody>
                    <a:bodyPr wrap="none"/>
                    <a:lstStyle/>
                    <a:p>
                      <a:pPr algn="l"/>
                      <a:r>
                        <a:rPr sz="800" b="0">
                          <a:solidFill>
                            <a:srgbClr val="2E2E2E"/>
                          </a:solidFill>
                          <a:latin typeface="Calibri"/>
                        </a:rPr>
                        <a:t>1,664</a:t>
                      </a:r>
                    </a:p>
                  </a:txBody>
                  <a:tcPr marL="85725" marR="38100" marT="19050" marB="19050" anchor="ctr">
                    <a:solidFill>
                      <a:srgbClr val="FFFFFF"/>
                    </a:solidFill>
                  </a:tcPr>
                </a:tc>
                <a:tc>
                  <a:txBody>
                    <a:bodyPr wrap="none"/>
                    <a:lstStyle/>
                    <a:p>
                      <a:pPr algn="l"/>
                      <a:r>
                        <a:rPr sz="800" b="0">
                          <a:solidFill>
                            <a:srgbClr val="2E2E2E"/>
                          </a:solidFill>
                          <a:latin typeface="Calibri"/>
                        </a:rPr>
                        <a:t>1,785</a:t>
                      </a:r>
                    </a:p>
                  </a:txBody>
                  <a:tcPr marL="85725" marR="38100" marT="19050" marB="19050" anchor="ctr">
                    <a:solidFill>
                      <a:srgbClr val="FFFFFF"/>
                    </a:solidFill>
                  </a:tcPr>
                </a:tc>
                <a:tc>
                  <a:txBody>
                    <a:bodyPr wrap="none"/>
                    <a:lstStyle/>
                    <a:p>
                      <a:pPr algn="l"/>
                      <a:r>
                        <a:rPr sz="800" b="0">
                          <a:solidFill>
                            <a:srgbClr val="2E2E2E"/>
                          </a:solidFill>
                          <a:latin typeface="Calibri"/>
                        </a:rPr>
                        <a:t>1,918</a:t>
                      </a:r>
                    </a:p>
                  </a:txBody>
                  <a:tcPr marL="85725" marR="38100" marT="19050" marB="19050" anchor="ctr">
                    <a:solidFill>
                      <a:srgbClr val="FFFFFF"/>
                    </a:solidFill>
                  </a:tcPr>
                </a:tc>
                <a:tc>
                  <a:txBody>
                    <a:bodyPr wrap="none"/>
                    <a:lstStyle/>
                    <a:p>
                      <a:pPr algn="l"/>
                      <a:r>
                        <a:rPr sz="800" b="0">
                          <a:solidFill>
                            <a:srgbClr val="2E2E2E"/>
                          </a:solidFill>
                          <a:latin typeface="Calibri"/>
                        </a:rPr>
                        <a:t>2,061</a:t>
                      </a:r>
                    </a:p>
                  </a:txBody>
                  <a:tcPr marL="85725" marR="38100" marT="19050" marB="19050" anchor="ctr">
                    <a:solidFill>
                      <a:srgbClr val="FFFFFF"/>
                    </a:solidFill>
                  </a:tcPr>
                </a:tc>
                <a:tc>
                  <a:txBody>
                    <a:bodyPr wrap="none"/>
                    <a:lstStyle/>
                    <a:p>
                      <a:pPr algn="l"/>
                      <a:r>
                        <a:rPr sz="800" b="0">
                          <a:solidFill>
                            <a:srgbClr val="2E2E2E"/>
                          </a:solidFill>
                          <a:latin typeface="Calibri"/>
                        </a:rPr>
                        <a:t>2,220</a:t>
                      </a:r>
                    </a:p>
                  </a:txBody>
                  <a:tcPr marL="85725" marR="38100" marT="19050" marB="19050" anchor="ctr">
                    <a:solidFill>
                      <a:srgbClr val="FFFFFF"/>
                    </a:solidFill>
                  </a:tcPr>
                </a:tc>
                <a:tc>
                  <a:txBody>
                    <a:bodyPr wrap="none"/>
                    <a:lstStyle/>
                    <a:p>
                      <a:pPr algn="l"/>
                      <a:r>
                        <a:rPr sz="800" b="0">
                          <a:solidFill>
                            <a:srgbClr val="2E2E2E"/>
                          </a:solidFill>
                          <a:latin typeface="Calibri"/>
                        </a:rPr>
                        <a:t>2,394</a:t>
                      </a:r>
                    </a:p>
                  </a:txBody>
                  <a:tcPr marL="85725" marR="38100" marT="19050" marB="19050" anchor="ctr">
                    <a:solidFill>
                      <a:srgbClr val="FFFFFF"/>
                    </a:solidFill>
                  </a:tcPr>
                </a:tc>
                <a:tc>
                  <a:txBody>
                    <a:bodyPr wrap="none"/>
                    <a:lstStyle/>
                    <a:p>
                      <a:pPr algn="l"/>
                      <a:r>
                        <a:rPr sz="800" b="0">
                          <a:solidFill>
                            <a:srgbClr val="2E2E2E"/>
                          </a:solidFill>
                          <a:latin typeface="Calibri"/>
                        </a:rPr>
                        <a:t>2,587</a:t>
                      </a:r>
                    </a:p>
                  </a:txBody>
                  <a:tcPr marL="85725" marR="38100" marT="19050" marB="19050" anchor="ctr">
                    <a:solidFill>
                      <a:srgbClr val="FFFFFF"/>
                    </a:solidFill>
                  </a:tcPr>
                </a:tc>
                <a:tc>
                  <a:txBody>
                    <a:bodyPr wrap="none"/>
                    <a:lstStyle/>
                    <a:p>
                      <a:pPr algn="l"/>
                      <a:r>
                        <a:rPr sz="800" b="0">
                          <a:solidFill>
                            <a:srgbClr val="2E2E2E"/>
                          </a:solidFill>
                          <a:latin typeface="Calibri"/>
                        </a:rPr>
                        <a:t>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435.9</a:t>
                      </a:r>
                    </a:p>
                  </a:txBody>
                  <a:tcPr marL="85725" marR="38100" marT="19050" marB="19050" anchor="ctr">
                    <a:solidFill>
                      <a:srgbClr val="F5F8FA"/>
                    </a:solidFill>
                  </a:tcPr>
                </a:tc>
                <a:tc>
                  <a:txBody>
                    <a:bodyPr wrap="none"/>
                    <a:lstStyle/>
                    <a:p>
                      <a:pPr algn="l"/>
                      <a:r>
                        <a:rPr sz="800" b="0">
                          <a:solidFill>
                            <a:srgbClr val="2E2E2E"/>
                          </a:solidFill>
                          <a:latin typeface="Calibri"/>
                        </a:rPr>
                        <a:t>456.1</a:t>
                      </a:r>
                    </a:p>
                  </a:txBody>
                  <a:tcPr marL="85725" marR="38100" marT="19050" marB="19050" anchor="ctr">
                    <a:solidFill>
                      <a:srgbClr val="F5F8FA"/>
                    </a:solidFill>
                  </a:tcPr>
                </a:tc>
                <a:tc>
                  <a:txBody>
                    <a:bodyPr wrap="none"/>
                    <a:lstStyle/>
                    <a:p>
                      <a:pPr algn="l"/>
                      <a:r>
                        <a:rPr sz="800" b="0">
                          <a:solidFill>
                            <a:srgbClr val="2E2E2E"/>
                          </a:solidFill>
                          <a:latin typeface="Calibri"/>
                        </a:rPr>
                        <a:t>479.3</a:t>
                      </a:r>
                    </a:p>
                  </a:txBody>
                  <a:tcPr marL="85725" marR="38100" marT="19050" marB="19050" anchor="ctr">
                    <a:solidFill>
                      <a:srgbClr val="F5F8FA"/>
                    </a:solidFill>
                  </a:tcPr>
                </a:tc>
                <a:tc>
                  <a:txBody>
                    <a:bodyPr wrap="none"/>
                    <a:lstStyle/>
                    <a:p>
                      <a:pPr algn="l"/>
                      <a:r>
                        <a:rPr sz="800" b="0">
                          <a:solidFill>
                            <a:srgbClr val="2E2E2E"/>
                          </a:solidFill>
                          <a:latin typeface="Calibri"/>
                        </a:rPr>
                        <a:t>507.3</a:t>
                      </a:r>
                    </a:p>
                  </a:txBody>
                  <a:tcPr marL="85725" marR="38100" marT="19050" marB="19050" anchor="ctr">
                    <a:solidFill>
                      <a:srgbClr val="F5F8FA"/>
                    </a:solidFill>
                  </a:tcPr>
                </a:tc>
                <a:tc>
                  <a:txBody>
                    <a:bodyPr wrap="none"/>
                    <a:lstStyle/>
                    <a:p>
                      <a:pPr algn="l"/>
                      <a:r>
                        <a:rPr sz="800" b="0">
                          <a:solidFill>
                            <a:srgbClr val="2E2E2E"/>
                          </a:solidFill>
                          <a:latin typeface="Calibri"/>
                        </a:rPr>
                        <a:t>539.9</a:t>
                      </a:r>
                    </a:p>
                  </a:txBody>
                  <a:tcPr marL="85725" marR="38100" marT="19050" marB="19050" anchor="ctr">
                    <a:solidFill>
                      <a:srgbClr val="F5F8FA"/>
                    </a:solidFill>
                  </a:tcPr>
                </a:tc>
                <a:tc>
                  <a:txBody>
                    <a:bodyPr wrap="none"/>
                    <a:lstStyle/>
                    <a:p>
                      <a:pPr algn="l"/>
                      <a:r>
                        <a:rPr sz="800" b="0">
                          <a:solidFill>
                            <a:srgbClr val="2E2E2E"/>
                          </a:solidFill>
                          <a:latin typeface="Calibri"/>
                        </a:rPr>
                        <a:t>578.5</a:t>
                      </a:r>
                    </a:p>
                  </a:txBody>
                  <a:tcPr marL="85725" marR="38100" marT="19050" marB="19050" anchor="ctr">
                    <a:solidFill>
                      <a:srgbClr val="F5F8FA"/>
                    </a:solidFill>
                  </a:tcPr>
                </a:tc>
                <a:tc>
                  <a:txBody>
                    <a:bodyPr wrap="none"/>
                    <a:lstStyle/>
                    <a:p>
                      <a:pPr algn="l"/>
                      <a:r>
                        <a:rPr sz="800" b="0">
                          <a:solidFill>
                            <a:srgbClr val="2E2E2E"/>
                          </a:solidFill>
                          <a:latin typeface="Calibri"/>
                        </a:rPr>
                        <a:t>623.0</a:t>
                      </a:r>
                    </a:p>
                  </a:txBody>
                  <a:tcPr marL="85725" marR="38100" marT="19050" marB="19050" anchor="ctr">
                    <a:solidFill>
                      <a:srgbClr val="F5F8FA"/>
                    </a:solidFill>
                  </a:tcPr>
                </a:tc>
                <a:tc>
                  <a:txBody>
                    <a:bodyPr wrap="none"/>
                    <a:lstStyle/>
                    <a:p>
                      <a:pPr algn="l"/>
                      <a:r>
                        <a:rPr sz="800" b="0">
                          <a:solidFill>
                            <a:srgbClr val="2E2E2E"/>
                          </a:solidFill>
                          <a:latin typeface="Calibri"/>
                        </a:rPr>
                        <a:t>673.3</a:t>
                      </a:r>
                    </a:p>
                  </a:txBody>
                  <a:tcPr marL="85725" marR="38100" marT="19050" marB="19050" anchor="ctr">
                    <a:solidFill>
                      <a:srgbClr val="F5F8FA"/>
                    </a:solidFill>
                  </a:tcPr>
                </a:tc>
                <a:tc>
                  <a:txBody>
                    <a:bodyPr wrap="none"/>
                    <a:lstStyle/>
                    <a:p>
                      <a:pPr algn="l"/>
                      <a:r>
                        <a:rPr sz="800" b="0">
                          <a:solidFill>
                            <a:srgbClr val="2E2E2E"/>
                          </a:solidFill>
                          <a:latin typeface="Calibri"/>
                        </a:rPr>
                        <a:t>729.4</a:t>
                      </a:r>
                    </a:p>
                  </a:txBody>
                  <a:tcPr marL="85725" marR="38100" marT="19050" marB="19050" anchor="ctr">
                    <a:solidFill>
                      <a:srgbClr val="F5F8FA"/>
                    </a:solidFill>
                  </a:tcPr>
                </a:tc>
                <a:tc>
                  <a:txBody>
                    <a:bodyPr wrap="none"/>
                    <a:lstStyle/>
                    <a:p>
                      <a:pPr algn="l"/>
                      <a:r>
                        <a:rPr sz="800" b="0">
                          <a:solidFill>
                            <a:srgbClr val="2E2E2E"/>
                          </a:solidFill>
                          <a:latin typeface="Calibri"/>
                        </a:rPr>
                        <a:t>791.2</a:t>
                      </a:r>
                    </a:p>
                  </a:txBody>
                  <a:tcPr marL="85725" marR="38100" marT="19050" marB="19050" anchor="ctr">
                    <a:solidFill>
                      <a:srgbClr val="F5F8FA"/>
                    </a:solidFill>
                  </a:tcPr>
                </a:tc>
                <a:tc>
                  <a:txBody>
                    <a:bodyPr wrap="none"/>
                    <a:lstStyle/>
                    <a:p>
                      <a:pPr algn="l"/>
                      <a:r>
                        <a:rPr sz="800" b="0">
                          <a:solidFill>
                            <a:srgbClr val="2E2E2E"/>
                          </a:solidFill>
                          <a:latin typeface="Calibri"/>
                        </a:rPr>
                        <a:t>858.8</a:t>
                      </a:r>
                    </a:p>
                  </a:txBody>
                  <a:tcPr marL="85725" marR="38100" marT="19050" marB="19050" anchor="ctr">
                    <a:solidFill>
                      <a:srgbClr val="F5F8FA"/>
                    </a:solidFill>
                  </a:tcPr>
                </a:tc>
                <a:tc>
                  <a:txBody>
                    <a:bodyPr wrap="none"/>
                    <a:lstStyle/>
                    <a:p>
                      <a:pPr algn="l"/>
                      <a:r>
                        <a:rPr sz="800" b="0">
                          <a:solidFill>
                            <a:srgbClr val="2E2E2E"/>
                          </a:solidFill>
                          <a:latin typeface="Calibri"/>
                        </a:rPr>
                        <a:t>933.5</a:t>
                      </a:r>
                    </a:p>
                  </a:txBody>
                  <a:tcPr marL="85725" marR="38100" marT="19050" marB="19050" anchor="ctr">
                    <a:solidFill>
                      <a:srgbClr val="F5F8FA"/>
                    </a:solidFill>
                  </a:tcPr>
                </a:tc>
                <a:tc>
                  <a:txBody>
                    <a:bodyPr wrap="none"/>
                    <a:lstStyle/>
                    <a:p>
                      <a:pPr algn="l"/>
                      <a:r>
                        <a:rPr sz="800" b="0">
                          <a:solidFill>
                            <a:srgbClr val="2E2E2E"/>
                          </a:solidFill>
                          <a:latin typeface="Calibri"/>
                        </a:rPr>
                        <a:t>1,015</a:t>
                      </a:r>
                    </a:p>
                  </a:txBody>
                  <a:tcPr marL="85725" marR="38100" marT="19050" marB="19050" anchor="ctr">
                    <a:solidFill>
                      <a:srgbClr val="F5F8FA"/>
                    </a:solidFill>
                  </a:tcPr>
                </a:tc>
                <a:tc>
                  <a:txBody>
                    <a:bodyPr wrap="none"/>
                    <a:lstStyle/>
                    <a:p>
                      <a:pPr algn="l"/>
                      <a:r>
                        <a:rPr sz="800" b="0">
                          <a:solidFill>
                            <a:srgbClr val="2E2E2E"/>
                          </a:solidFill>
                          <a:latin typeface="Calibri"/>
                        </a:rPr>
                        <a:t>1,107</a:t>
                      </a:r>
                    </a:p>
                  </a:txBody>
                  <a:tcPr marL="85725" marR="38100" marT="19050" marB="19050" anchor="ctr">
                    <a:solidFill>
                      <a:srgbClr val="F5F8FA"/>
                    </a:solidFill>
                  </a:tcPr>
                </a:tc>
                <a:tc>
                  <a:txBody>
                    <a:bodyPr wrap="none"/>
                    <a:lstStyle/>
                    <a:p>
                      <a:pPr algn="l"/>
                      <a:r>
                        <a:rPr sz="800" b="0">
                          <a:solidFill>
                            <a:srgbClr val="2E2E2E"/>
                          </a:solidFill>
                          <a:latin typeface="Calibri"/>
                        </a:rPr>
                        <a:t>1,209</a:t>
                      </a:r>
                    </a:p>
                  </a:txBody>
                  <a:tcPr marL="85725" marR="38100" marT="19050" marB="19050" anchor="ctr">
                    <a:solidFill>
                      <a:srgbClr val="F5F8FA"/>
                    </a:solidFill>
                  </a:tcPr>
                </a:tc>
                <a:tc>
                  <a:txBody>
                    <a:bodyPr wrap="none"/>
                    <a:lstStyle/>
                    <a:p>
                      <a:pPr algn="l"/>
                      <a:r>
                        <a:rPr sz="800" b="0">
                          <a:solidFill>
                            <a:srgbClr val="2E2E2E"/>
                          </a:solidFill>
                          <a:latin typeface="Calibri"/>
                        </a:rPr>
                        <a:t>1,323</a:t>
                      </a:r>
                    </a:p>
                  </a:txBody>
                  <a:tcPr marL="85725" marR="38100" marT="19050" marB="19050" anchor="ctr">
                    <a:solidFill>
                      <a:srgbClr val="F5F8FA"/>
                    </a:solidFill>
                  </a:tcPr>
                </a:tc>
                <a:tc>
                  <a:txBody>
                    <a:bodyPr wrap="none"/>
                    <a:lstStyle/>
                    <a:p>
                      <a:pPr algn="l"/>
                      <a:r>
                        <a:rPr sz="800" b="0">
                          <a:solidFill>
                            <a:srgbClr val="2E2E2E"/>
                          </a:solidFill>
                          <a:latin typeface="Calibri"/>
                        </a:rPr>
                        <a:t>8.6%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Patient Group</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'Adults' is the largest patient group at 52.4% of 2036 value (2,587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'Geriatric Patients' grows fastest 8.6%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'Geriatric Patients' (+174 BPS) and away from 'Adults' (-270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Patient Group</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Patient Group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Patient Group ·  2021 / 2026 / 2036 (US$ Mn)  ·  right axis = BPS share shift</a:t>
            </a:r>
          </a:p>
        </p:txBody>
      </p:sp>
      <p:graphicFrame>
        <p:nvGraphicFramePr>
          <p:cNvPr id="14" name="Chart 13"/>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466850"/>
            <a:ext cx="1586293" cy="179832"/>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-270</a:t>
            </a:r>
          </a:p>
        </p:txBody>
      </p:sp>
      <p:sp>
        <p:nvSpPr>
          <p:cNvPr id="19" name="TextBox 18"/>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+270</a:t>
            </a:r>
          </a:p>
        </p:txBody>
      </p:sp>
      <p:sp>
        <p:nvSpPr>
          <p:cNvPr id="21" name="Oval 20"/>
          <p:cNvSpPr/>
          <p:nvPr/>
        </p:nvSpPr>
        <p:spPr>
          <a:xfrm>
            <a:off x="5971794" y="2671189"/>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27291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3547238"/>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528917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1332" y="2637852"/>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+174</a:t>
            </a:r>
          </a:p>
        </p:txBody>
      </p:sp>
      <p:sp>
        <p:nvSpPr>
          <p:cNvPr id="26" name="TextBox 25"/>
          <p:cNvSpPr txBox="1"/>
          <p:nvPr/>
        </p:nvSpPr>
        <p:spPr>
          <a:xfrm>
            <a:off x="6081332" y="3239575"/>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+72</a:t>
            </a:r>
          </a:p>
        </p:txBody>
      </p:sp>
      <p:sp>
        <p:nvSpPr>
          <p:cNvPr id="27" name="TextBox 26"/>
          <p:cNvSpPr txBox="1"/>
          <p:nvPr/>
        </p:nvSpPr>
        <p:spPr>
          <a:xfrm>
            <a:off x="6081332" y="3513900"/>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+25</a:t>
            </a:r>
          </a:p>
        </p:txBody>
      </p:sp>
      <p:sp>
        <p:nvSpPr>
          <p:cNvPr id="28" name="TextBox 27"/>
          <p:cNvSpPr txBox="1"/>
          <p:nvPr/>
        </p:nvSpPr>
        <p:spPr>
          <a:xfrm>
            <a:off x="6081332" y="5255836"/>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-270</a:t>
            </a:r>
          </a:p>
        </p:txBody>
      </p:sp>
      <p:sp>
        <p:nvSpPr>
          <p:cNvPr id="29" name="Rounded Rectangle 28"/>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Patient Group</a:t>
            </a:r>
          </a:p>
        </p:txBody>
      </p:sp>
      <p:sp>
        <p:nvSpPr>
          <p:cNvPr id="31" name="Rectangle 30"/>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'Geriatric Patients' gains the most share +174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'Adults' cedes the most -270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'Geriatric Patients' is the fastest-growing patient group at 8.6%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Patient Group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Patient Group,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Patient Group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1">
                          <a:solidFill>
                            <a:srgbClr val="2E7D32"/>
                          </a:solidFill>
                          <a:latin typeface="Calibri"/>
                        </a:rPr>
                        <a:t>▲ 5.6%</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c>
                  <a:txBody>
                    <a:bodyPr wrap="none"/>
                    <a:lstStyle/>
                    <a:p>
                      <a:pPr algn="l"/>
                      <a:r>
                        <a:rPr sz="800" b="1">
                          <a:solidFill>
                            <a:srgbClr val="2E7D32"/>
                          </a:solidFill>
                          <a:latin typeface="Calibri"/>
                        </a:rPr>
                        <a:t>▲ 6.2%</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6.0%</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6.5%</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6.1%</a:t>
                      </a:r>
                    </a:p>
                  </a:txBody>
                  <a:tcPr marL="85725" marR="38100" marT="19050" marB="19050" anchor="ctr">
                    <a:solidFill>
                      <a:srgbClr val="F5F8FA"/>
                    </a:solidFill>
                  </a:tcPr>
                </a:tc>
                <a:tc>
                  <a:txBody>
                    <a:bodyPr wrap="none"/>
                    <a:lstStyle/>
                    <a:p>
                      <a:pPr algn="l"/>
                      <a:r>
                        <a:rPr sz="800" b="1">
                          <a:solidFill>
                            <a:srgbClr val="2E7D32"/>
                          </a:solidFill>
                          <a:latin typeface="Calibri"/>
                        </a:rPr>
                        <a:t>▲ 6.3%</a:t>
                      </a:r>
                    </a:p>
                  </a:txBody>
                  <a:tcPr marL="85725" marR="38100" marT="19050" marB="19050" anchor="ctr">
                    <a:solidFill>
                      <a:srgbClr val="F5F8FA"/>
                    </a:solidFill>
                  </a:tcPr>
                </a:tc>
                <a:tc>
                  <a:txBody>
                    <a:bodyPr wrap="none"/>
                    <a:lstStyle/>
                    <a:p>
                      <a:pPr algn="l"/>
                      <a:r>
                        <a:rPr sz="800" b="1">
                          <a:solidFill>
                            <a:srgbClr val="2E7D32"/>
                          </a:solidFill>
                          <a:latin typeface="Calibri"/>
                        </a:rPr>
                        <a:t>▲ 6.6%</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Patient Group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Neonates</a:t>
            </a:r>
          </a:p>
        </p:txBody>
      </p:sp>
      <p:sp>
        <p:nvSpPr>
          <p:cNvPr id="34" name="Rectangle 33"/>
          <p:cNvSpPr/>
          <p:nvPr/>
        </p:nvSpPr>
        <p:spPr>
          <a:xfrm>
            <a:off x="1857375" y="3867150"/>
            <a:ext cx="643890" cy="700088"/>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D5E5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92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4A96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2580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1576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368AC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4895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3D8F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4E97C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4693C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Pediatric Patients</a:t>
            </a:r>
          </a:p>
        </p:txBody>
      </p:sp>
      <p:sp>
        <p:nvSpPr>
          <p:cNvPr id="50" name="Rectangle 49"/>
          <p:cNvSpPr/>
          <p:nvPr/>
        </p:nvSpPr>
        <p:spPr>
          <a:xfrm>
            <a:off x="1857375" y="4567238"/>
            <a:ext cx="643890" cy="70008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5FA1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24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0D629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0C497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0C416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0D578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2982B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227E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2E85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2A83B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Adults</a:t>
            </a:r>
          </a:p>
        </p:txBody>
      </p:sp>
      <p:sp>
        <p:nvSpPr>
          <p:cNvPr id="66" name="Rectangle 65"/>
          <p:cNvSpPr/>
          <p:nvPr/>
        </p:nvSpPr>
        <p:spPr>
          <a:xfrm>
            <a:off x="1857375" y="5267325"/>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F4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CFE1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85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6E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85B6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99C1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A7C9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B3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C0D7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Geriatric Patients</a:t>
            </a:r>
          </a:p>
        </p:txBody>
      </p:sp>
      <p:sp>
        <p:nvSpPr>
          <p:cNvPr id="82" name="Rectangle 81"/>
          <p:cNvSpPr/>
          <p:nvPr/>
        </p:nvSpPr>
        <p:spPr>
          <a:xfrm>
            <a:off x="1857375" y="5967412"/>
            <a:ext cx="643890" cy="70008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90BC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5199C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19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0C4F7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0B365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0C436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0D5C8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0E70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1C7AB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1475B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1A79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7%</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5%</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Patient Group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Patient Group,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Patient Group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1">
                          <a:solidFill>
                            <a:srgbClr val="2E7D32"/>
                          </a:solidFill>
                          <a:latin typeface="Calibri"/>
                        </a:rPr>
                        <a:t>▲ 4.3%</a:t>
                      </a:r>
                    </a:p>
                  </a:txBody>
                  <a:tcPr marL="85725" marR="38100" marT="19050" marB="19050" anchor="ctr">
                    <a:solidFill>
                      <a:srgbClr val="FFFFFF"/>
                    </a:solidFill>
                  </a:tcPr>
                </a:tc>
                <a:tc>
                  <a:txBody>
                    <a:bodyPr wrap="none"/>
                    <a:lstStyle/>
                    <a:p>
                      <a:pPr algn="l"/>
                      <a:r>
                        <a:rPr sz="800" b="1">
                          <a:solidFill>
                            <a:srgbClr val="2E7D32"/>
                          </a:solidFill>
                          <a:latin typeface="Calibri"/>
                        </a:rPr>
                        <a:t>▲ 4.7%</a:t>
                      </a:r>
                    </a:p>
                  </a:txBody>
                  <a:tcPr marL="85725" marR="38100" marT="19050" marB="19050" anchor="ctr">
                    <a:solidFill>
                      <a:srgbClr val="FFFFFF"/>
                    </a:solidFill>
                  </a:tcPr>
                </a:tc>
                <a:tc>
                  <a:txBody>
                    <a:bodyPr wrap="none"/>
                    <a:lstStyle/>
                    <a:p>
                      <a:pPr algn="l"/>
                      <a:r>
                        <a:rPr sz="800" b="1">
                          <a:solidFill>
                            <a:srgbClr val="2E7D32"/>
                          </a:solidFill>
                          <a:latin typeface="Calibri"/>
                        </a:rPr>
                        <a:t>▲ 5.4%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6.7%</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4.6%</a:t>
                      </a:r>
                    </a:p>
                  </a:txBody>
                  <a:tcPr marL="85725" marR="38100" marT="19050" marB="19050" anchor="ctr">
                    <a:solidFill>
                      <a:srgbClr val="F5F8FA"/>
                    </a:solidFill>
                  </a:tcPr>
                </a:tc>
                <a:tc>
                  <a:txBody>
                    <a:bodyPr wrap="none"/>
                    <a:lstStyle/>
                    <a:p>
                      <a:pPr algn="l"/>
                      <a:r>
                        <a:rPr sz="800" b="1">
                          <a:solidFill>
                            <a:srgbClr val="2E7D32"/>
                          </a:solidFill>
                          <a:latin typeface="Calibri"/>
                        </a:rPr>
                        <a:t>▲ 5.0%</a:t>
                      </a:r>
                    </a:p>
                  </a:txBody>
                  <a:tcPr marL="85725" marR="38100" marT="19050" marB="19050" anchor="ctr">
                    <a:solidFill>
                      <a:srgbClr val="F5F8FA"/>
                    </a:solidFill>
                  </a:tcPr>
                </a:tc>
                <a:tc>
                  <a:txBody>
                    <a:bodyPr wrap="none"/>
                    <a:lstStyle/>
                    <a:p>
                      <a:pPr algn="l"/>
                      <a:r>
                        <a:rPr sz="800" b="1">
                          <a:solidFill>
                            <a:srgbClr val="2E7D32"/>
                          </a:solidFill>
                          <a:latin typeface="Calibri"/>
                        </a:rPr>
                        <a:t>▲ 5.8%</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1">
                          <a:solidFill>
                            <a:srgbClr val="A86F00"/>
                          </a:solidFill>
                          <a:latin typeface="Calibri"/>
                        </a:rPr>
                        <a:t>▶ 3.7%</a:t>
                      </a:r>
                    </a:p>
                  </a:txBody>
                  <a:tcPr marL="85725" marR="38100" marT="19050" marB="19050" anchor="ctr">
                    <a:solidFill>
                      <a:srgbClr val="FFFFFF"/>
                    </a:solidFill>
                  </a:tcPr>
                </a:tc>
                <a:tc>
                  <a:txBody>
                    <a:bodyPr wrap="none"/>
                    <a:lstStyle/>
                    <a:p>
                      <a:pPr algn="l"/>
                      <a:r>
                        <a:rPr sz="800" b="1">
                          <a:solidFill>
                            <a:srgbClr val="A86F00"/>
                          </a:solidFill>
                          <a:latin typeface="Calibri"/>
                        </a:rPr>
                        <a:t>▶ 4.1%</a:t>
                      </a:r>
                    </a:p>
                  </a:txBody>
                  <a:tcPr marL="85725" marR="38100" marT="19050" marB="19050" anchor="ctr">
                    <a:solidFill>
                      <a:srgbClr val="FFFFFF"/>
                    </a:solidFill>
                  </a:tcPr>
                </a:tc>
                <a:tc>
                  <a:txBody>
                    <a:bodyPr wrap="none"/>
                    <a:lstStyle/>
                    <a:p>
                      <a:pPr algn="l"/>
                      <a:r>
                        <a:rPr sz="800" b="1">
                          <a:solidFill>
                            <a:srgbClr val="A86F00"/>
                          </a:solidFill>
                          <a:latin typeface="Calibri"/>
                        </a:rPr>
                        <a:t>▶ 4.8%</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4.7%</a:t>
                      </a:r>
                    </a:p>
                  </a:txBody>
                  <a:tcPr marL="85725" marR="38100" marT="19050" marB="19050" anchor="ctr">
                    <a:solidFill>
                      <a:srgbClr val="F5F8FA"/>
                    </a:solidFill>
                  </a:tcPr>
                </a:tc>
                <a:tc>
                  <a:txBody>
                    <a:bodyPr wrap="none"/>
                    <a:lstStyle/>
                    <a:p>
                      <a:pPr algn="l"/>
                      <a:r>
                        <a:rPr sz="800" b="1">
                          <a:solidFill>
                            <a:srgbClr val="2E7D32"/>
                          </a:solidFill>
                          <a:latin typeface="Calibri"/>
                        </a:rPr>
                        <a:t>▲ 5.1%</a:t>
                      </a:r>
                    </a:p>
                  </a:txBody>
                  <a:tcPr marL="85725" marR="38100" marT="19050" marB="19050" anchor="ctr">
                    <a:solidFill>
                      <a:srgbClr val="F5F8FA"/>
                    </a:solidFill>
                  </a:tcPr>
                </a:tc>
                <a:tc>
                  <a:txBody>
                    <a:bodyPr wrap="none"/>
                    <a:lstStyle/>
                    <a:p>
                      <a:pPr algn="l"/>
                      <a:r>
                        <a:rPr sz="800" b="1">
                          <a:solidFill>
                            <a:srgbClr val="2E7D32"/>
                          </a:solidFill>
                          <a:latin typeface="Calibri"/>
                        </a:rPr>
                        <a:t>▲ 5.8%</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Patient Group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Neonates</a:t>
            </a:r>
          </a:p>
        </p:txBody>
      </p:sp>
      <p:sp>
        <p:nvSpPr>
          <p:cNvPr id="34" name="Rectangle 33"/>
          <p:cNvSpPr/>
          <p:nvPr/>
        </p:nvSpPr>
        <p:spPr>
          <a:xfrm>
            <a:off x="1857375" y="3867150"/>
            <a:ext cx="643890" cy="700088"/>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CE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8BB9D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42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3388B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2781B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207D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1C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0E70A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0C4E7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Pediatric Patients</a:t>
            </a:r>
          </a:p>
        </p:txBody>
      </p:sp>
      <p:sp>
        <p:nvSpPr>
          <p:cNvPr id="50" name="Rectangle 49"/>
          <p:cNvSpPr/>
          <p:nvPr/>
        </p:nvSpPr>
        <p:spPr>
          <a:xfrm>
            <a:off x="1857375" y="4567238"/>
            <a:ext cx="643890" cy="700088"/>
          </a:xfrm>
          <a:prstGeom prst="rect">
            <a:avLst/>
          </a:prstGeom>
          <a:solidFill>
            <a:srgbClr val="E7F3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A1C5E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72ABD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4794C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3187B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237FB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1D7BB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1174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0F72A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0D5A8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0C4F7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0C395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Adults</a:t>
            </a:r>
          </a:p>
        </p:txBody>
      </p:sp>
      <p:sp>
        <p:nvSpPr>
          <p:cNvPr id="66" name="Rectangle 65"/>
          <p:cNvSpPr/>
          <p:nvPr/>
        </p:nvSpPr>
        <p:spPr>
          <a:xfrm>
            <a:off x="1857375" y="5267325"/>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F5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D1E2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B2CF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7FB2D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6DA9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65A4C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60A2C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579DC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3F90C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388CC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Geriatric Patients</a:t>
            </a:r>
          </a:p>
        </p:txBody>
      </p:sp>
      <p:sp>
        <p:nvSpPr>
          <p:cNvPr id="82" name="Rectangle 81"/>
          <p:cNvSpPr/>
          <p:nvPr/>
        </p:nvSpPr>
        <p:spPr>
          <a:xfrm>
            <a:off x="1857375" y="5967412"/>
            <a:ext cx="643890" cy="700088"/>
          </a:xfrm>
          <a:prstGeom prst="rect">
            <a:avLst/>
          </a:prstGeom>
          <a:solidFill>
            <a:srgbClr val="E6F3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BC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9DC3D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6CA8D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4191C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2C84B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1F7CB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1878B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1375B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0E6FA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0E6AA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0D517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0C456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9%</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7%</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Distribution Channel</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By Distribution Channel Segment Outlook</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Structure &amp; Attractiveness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Absolute $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Volume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Value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10</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By Distribution Channel Segment Outlook</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Segment analysis of market size, growth and share across 4 sub-segments of Distribution Channel, 2026–2036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323850" y="857250"/>
            <a:ext cx="11544300" cy="323850"/>
          </a:xfrm>
          <a:prstGeom prst="rect">
            <a:avLst/>
          </a:prstGeom>
          <a:noFill/>
        </p:spPr>
        <p:txBody>
          <a:bodyPr wrap="square" lIns="28575" rIns="28575" tIns="9525" bIns="9525">
            <a:spAutoFit/>
          </a:bodyPr>
          <a:lstStyle/>
          <a:p>
            <a:pPr algn="l"/>
            <a:r>
              <a:rPr sz="1150" b="0">
                <a:solidFill>
                  <a:srgbClr val="2E2E2E"/>
                </a:solidFill>
                <a:latin typeface="Calibri"/>
              </a:rPr>
              <a:t>The Distribution Channel segment categorizes the market by distribution channel. Each sub-category is evaluated on market size, growth outlook and adoption trends across the forecast period.</a:t>
            </a:r>
          </a:p>
        </p:txBody>
      </p:sp>
      <p:sp>
        <p:nvSpPr>
          <p:cNvPr id="13" name="Rectangle 12"/>
          <p:cNvSpPr/>
          <p:nvPr/>
        </p:nvSpPr>
        <p:spPr>
          <a:xfrm>
            <a:off x="323850" y="1657350"/>
            <a:ext cx="1428750" cy="457200"/>
          </a:xfrm>
          <a:prstGeom prst="rect">
            <a:avLst/>
          </a:prstGeom>
          <a:solidFill>
            <a:srgbClr val="EEF3F7"/>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575" y="1657350"/>
            <a:ext cx="1295400" cy="457200"/>
          </a:xfrm>
          <a:prstGeom prst="rect">
            <a:avLst/>
          </a:prstGeom>
          <a:noFill/>
        </p:spPr>
        <p:txBody>
          <a:bodyPr wrap="square" lIns="28575" rIns="28575" tIns="9525" bIns="9525" anchor="ctr">
            <a:spAutoFit/>
          </a:bodyPr>
          <a:lstStyle/>
          <a:p>
            <a:pPr algn="l"/>
            <a:r>
              <a:rPr sz="1050" b="1">
                <a:solidFill>
                  <a:srgbClr val="0B2E4A"/>
                </a:solidFill>
                <a:latin typeface="Calibri"/>
              </a:rPr>
              <a:t>Sub-Segment</a:t>
            </a:r>
          </a:p>
        </p:txBody>
      </p:sp>
      <p:sp>
        <p:nvSpPr>
          <p:cNvPr id="15" name="Rectangle 14"/>
          <p:cNvSpPr/>
          <p:nvPr/>
        </p:nvSpPr>
        <p:spPr>
          <a:xfrm>
            <a:off x="323850" y="21336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9575" y="21336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2026 Value (US$ Mn)</a:t>
            </a:r>
          </a:p>
        </p:txBody>
      </p:sp>
      <p:sp>
        <p:nvSpPr>
          <p:cNvPr id="17" name="Rectangle 16"/>
          <p:cNvSpPr/>
          <p:nvPr/>
        </p:nvSpPr>
        <p:spPr>
          <a:xfrm>
            <a:off x="323850" y="264795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9575" y="264795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2036 Value (US$ Mn)</a:t>
            </a:r>
          </a:p>
        </p:txBody>
      </p:sp>
      <p:sp>
        <p:nvSpPr>
          <p:cNvPr id="19" name="Rectangle 18"/>
          <p:cNvSpPr/>
          <p:nvPr/>
        </p:nvSpPr>
        <p:spPr>
          <a:xfrm>
            <a:off x="323850" y="3162300"/>
            <a:ext cx="1428750" cy="495300"/>
          </a:xfrm>
          <a:prstGeom prst="rect">
            <a:avLst/>
          </a:prstGeom>
          <a:solidFill>
            <a:srgbClr val="F7FAFC"/>
          </a:solidFill>
          <a:ln w="6350">
            <a:solidFill>
              <a:srgbClr val="E1E8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9575" y="3162300"/>
            <a:ext cx="1295400" cy="495300"/>
          </a:xfrm>
          <a:prstGeom prst="rect">
            <a:avLst/>
          </a:prstGeom>
          <a:noFill/>
        </p:spPr>
        <p:txBody>
          <a:bodyPr wrap="square" lIns="28575" rIns="28575" tIns="9525" bIns="9525" anchor="ctr">
            <a:spAutoFit/>
          </a:bodyPr>
          <a:lstStyle/>
          <a:p>
            <a:pPr algn="l"/>
            <a:r>
              <a:rPr sz="1050" b="0">
                <a:solidFill>
                  <a:srgbClr val="6C7A89"/>
                </a:solidFill>
                <a:latin typeface="Calibri"/>
              </a:rPr>
              <a:t>CAGR (2026–2036)</a:t>
            </a:r>
          </a:p>
        </p:txBody>
      </p:sp>
      <p:sp>
        <p:nvSpPr>
          <p:cNvPr id="21" name="Rounded Rectangle 20"/>
          <p:cNvSpPr/>
          <p:nvPr/>
        </p:nvSpPr>
        <p:spPr>
          <a:xfrm>
            <a:off x="1866900" y="1657350"/>
            <a:ext cx="2414588" cy="457200"/>
          </a:xfrm>
          <a:prstGeom prst="roundRect">
            <a:avLst>
              <a:gd name="adj" fmla="val 18000"/>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66900" y="1885950"/>
            <a:ext cx="2414588" cy="2286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5000"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Medical Distributors &amp; Wholesalers</a:t>
            </a:r>
          </a:p>
        </p:txBody>
      </p:sp>
      <p:sp>
        <p:nvSpPr>
          <p:cNvPr id="24" name="Rectangle 23"/>
          <p:cNvSpPr/>
          <p:nvPr/>
        </p:nvSpPr>
        <p:spPr>
          <a:xfrm>
            <a:off x="1866900"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948.7</a:t>
            </a:r>
          </a:p>
        </p:txBody>
      </p:sp>
      <p:sp>
        <p:nvSpPr>
          <p:cNvPr id="25" name="Rectangle 24"/>
          <p:cNvSpPr/>
          <p:nvPr/>
        </p:nvSpPr>
        <p:spPr>
          <a:xfrm>
            <a:off x="1866900"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1,754</a:t>
            </a:r>
          </a:p>
        </p:txBody>
      </p:sp>
      <p:sp>
        <p:nvSpPr>
          <p:cNvPr id="26" name="Rectangle 25"/>
          <p:cNvSpPr/>
          <p:nvPr/>
        </p:nvSpPr>
        <p:spPr>
          <a:xfrm>
            <a:off x="1866900"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B2E4A"/>
                </a:solidFill>
                <a:latin typeface="Calibri"/>
              </a:rPr>
              <a:t>6.3%</a:t>
            </a:r>
          </a:p>
        </p:txBody>
      </p:sp>
      <p:sp>
        <p:nvSpPr>
          <p:cNvPr id="27" name="Oval 26"/>
          <p:cNvSpPr/>
          <p:nvPr/>
        </p:nvSpPr>
        <p:spPr>
          <a:xfrm>
            <a:off x="2912269" y="1314450"/>
            <a:ext cx="323850" cy="323850"/>
          </a:xfrm>
          <a:prstGeom prst="ellipse">
            <a:avLst/>
          </a:prstGeom>
          <a:solidFill>
            <a:srgbClr val="0B2E4A"/>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1</a:t>
            </a:r>
          </a:p>
        </p:txBody>
      </p:sp>
      <p:sp>
        <p:nvSpPr>
          <p:cNvPr id="28" name="Rounded Rectangle 27"/>
          <p:cNvSpPr/>
          <p:nvPr/>
        </p:nvSpPr>
        <p:spPr>
          <a:xfrm>
            <a:off x="4395788" y="1657350"/>
            <a:ext cx="2414588" cy="457200"/>
          </a:xfrm>
          <a:prstGeom prst="roundRect">
            <a:avLst>
              <a:gd name="adj" fmla="val 18000"/>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95788" y="1885950"/>
            <a:ext cx="2414588" cy="22860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33888"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Direct Sales</a:t>
            </a:r>
          </a:p>
        </p:txBody>
      </p:sp>
      <p:sp>
        <p:nvSpPr>
          <p:cNvPr id="31" name="Rectangle 30"/>
          <p:cNvSpPr/>
          <p:nvPr/>
        </p:nvSpPr>
        <p:spPr>
          <a:xfrm>
            <a:off x="4395788"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639.8</a:t>
            </a:r>
          </a:p>
        </p:txBody>
      </p:sp>
      <p:sp>
        <p:nvSpPr>
          <p:cNvPr id="32" name="Rectangle 31"/>
          <p:cNvSpPr/>
          <p:nvPr/>
        </p:nvSpPr>
        <p:spPr>
          <a:xfrm>
            <a:off x="4395788"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1,238</a:t>
            </a:r>
          </a:p>
        </p:txBody>
      </p:sp>
      <p:sp>
        <p:nvSpPr>
          <p:cNvPr id="33" name="Rectangle 32"/>
          <p:cNvSpPr/>
          <p:nvPr/>
        </p:nvSpPr>
        <p:spPr>
          <a:xfrm>
            <a:off x="4395788"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E72AE"/>
                </a:solidFill>
                <a:latin typeface="Calibri"/>
              </a:rPr>
              <a:t>6.8%</a:t>
            </a:r>
          </a:p>
        </p:txBody>
      </p:sp>
      <p:sp>
        <p:nvSpPr>
          <p:cNvPr id="34" name="Oval 33"/>
          <p:cNvSpPr/>
          <p:nvPr/>
        </p:nvSpPr>
        <p:spPr>
          <a:xfrm>
            <a:off x="5441156" y="1314450"/>
            <a:ext cx="323850" cy="323850"/>
          </a:xfrm>
          <a:prstGeom prst="ellipse">
            <a:avLst/>
          </a:prstGeom>
          <a:solidFill>
            <a:srgbClr val="0E72AE"/>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2</a:t>
            </a:r>
          </a:p>
        </p:txBody>
      </p:sp>
      <p:sp>
        <p:nvSpPr>
          <p:cNvPr id="35" name="Rounded Rectangle 34"/>
          <p:cNvSpPr/>
          <p:nvPr/>
        </p:nvSpPr>
        <p:spPr>
          <a:xfrm>
            <a:off x="6924675" y="1657350"/>
            <a:ext cx="2414588" cy="457200"/>
          </a:xfrm>
          <a:prstGeom prst="roundRect">
            <a:avLst>
              <a:gd name="adj" fmla="val 18000"/>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924675" y="1885950"/>
            <a:ext cx="2414588" cy="228600"/>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62775"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E-Commerce / DTC</a:t>
            </a:r>
          </a:p>
        </p:txBody>
      </p:sp>
      <p:sp>
        <p:nvSpPr>
          <p:cNvPr id="38" name="Rectangle 37"/>
          <p:cNvSpPr/>
          <p:nvPr/>
        </p:nvSpPr>
        <p:spPr>
          <a:xfrm>
            <a:off x="6924675"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395.9</a:t>
            </a:r>
          </a:p>
        </p:txBody>
      </p:sp>
      <p:sp>
        <p:nvSpPr>
          <p:cNvPr id="39" name="Rectangle 38"/>
          <p:cNvSpPr/>
          <p:nvPr/>
        </p:nvSpPr>
        <p:spPr>
          <a:xfrm>
            <a:off x="6924675"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1,248</a:t>
            </a:r>
          </a:p>
        </p:txBody>
      </p:sp>
      <p:sp>
        <p:nvSpPr>
          <p:cNvPr id="40" name="Rectangle 39"/>
          <p:cNvSpPr/>
          <p:nvPr/>
        </p:nvSpPr>
        <p:spPr>
          <a:xfrm>
            <a:off x="6924675"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008189"/>
                </a:solidFill>
                <a:latin typeface="Calibri"/>
              </a:rPr>
              <a:t>12.2%</a:t>
            </a:r>
          </a:p>
        </p:txBody>
      </p:sp>
      <p:sp>
        <p:nvSpPr>
          <p:cNvPr id="41" name="Oval 40"/>
          <p:cNvSpPr/>
          <p:nvPr/>
        </p:nvSpPr>
        <p:spPr>
          <a:xfrm>
            <a:off x="7970044" y="1314450"/>
            <a:ext cx="323850" cy="323850"/>
          </a:xfrm>
          <a:prstGeom prst="ellipse">
            <a:avLst/>
          </a:prstGeom>
          <a:solidFill>
            <a:srgbClr val="008189"/>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3</a:t>
            </a:r>
          </a:p>
        </p:txBody>
      </p:sp>
      <p:sp>
        <p:nvSpPr>
          <p:cNvPr id="42" name="Rounded Rectangle 41"/>
          <p:cNvSpPr/>
          <p:nvPr/>
        </p:nvSpPr>
        <p:spPr>
          <a:xfrm>
            <a:off x="9453562" y="1657350"/>
            <a:ext cx="2414588" cy="457200"/>
          </a:xfrm>
          <a:prstGeom prst="roundRect">
            <a:avLst>
              <a:gd name="adj" fmla="val 18000"/>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453562" y="1885950"/>
            <a:ext cx="2414588" cy="2286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91662" y="1657350"/>
            <a:ext cx="2338388" cy="457200"/>
          </a:xfrm>
          <a:prstGeom prst="rect">
            <a:avLst/>
          </a:prstGeom>
          <a:noFill/>
        </p:spPr>
        <p:txBody>
          <a:bodyPr wrap="square" lIns="28575" rIns="28575" tIns="9525" bIns="9525" anchor="ctr">
            <a:spAutoFit/>
          </a:bodyPr>
          <a:lstStyle/>
          <a:p>
            <a:pPr algn="ctr"/>
            <a:r>
              <a:rPr sz="1100" b="1">
                <a:solidFill>
                  <a:srgbClr val="FFFFFF"/>
                </a:solidFill>
                <a:latin typeface="Calibri"/>
              </a:rPr>
              <a:t>Retail Pharmacy</a:t>
            </a:r>
          </a:p>
        </p:txBody>
      </p:sp>
      <p:sp>
        <p:nvSpPr>
          <p:cNvPr id="45" name="Rectangle 44"/>
          <p:cNvSpPr/>
          <p:nvPr/>
        </p:nvSpPr>
        <p:spPr>
          <a:xfrm>
            <a:off x="9453562" y="21336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321.3</a:t>
            </a:r>
          </a:p>
        </p:txBody>
      </p:sp>
      <p:sp>
        <p:nvSpPr>
          <p:cNvPr id="46" name="Rectangle 45"/>
          <p:cNvSpPr/>
          <p:nvPr/>
        </p:nvSpPr>
        <p:spPr>
          <a:xfrm>
            <a:off x="9453562" y="2647950"/>
            <a:ext cx="2414588" cy="495300"/>
          </a:xfrm>
          <a:prstGeom prst="rect">
            <a:avLst/>
          </a:prstGeom>
          <a:solidFill>
            <a:srgbClr val="F5F8FB"/>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691.9</a:t>
            </a:r>
          </a:p>
        </p:txBody>
      </p:sp>
      <p:sp>
        <p:nvSpPr>
          <p:cNvPr id="47" name="Rectangle 46"/>
          <p:cNvSpPr/>
          <p:nvPr/>
        </p:nvSpPr>
        <p:spPr>
          <a:xfrm>
            <a:off x="9453562" y="3162300"/>
            <a:ext cx="2414588" cy="495300"/>
          </a:xfrm>
          <a:prstGeom prst="rect">
            <a:avLst/>
          </a:prstGeom>
          <a:solidFill>
            <a:srgbClr val="FFFFFF"/>
          </a:solidFill>
          <a:ln w="6350">
            <a:solidFill>
              <a:srgbClr val="E6ECF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500" b="1">
                <a:solidFill>
                  <a:srgbClr val="6F3CC2"/>
                </a:solidFill>
                <a:latin typeface="Calibri"/>
              </a:rPr>
              <a:t>8.0%</a:t>
            </a:r>
          </a:p>
        </p:txBody>
      </p:sp>
      <p:sp>
        <p:nvSpPr>
          <p:cNvPr id="48" name="Oval 47"/>
          <p:cNvSpPr/>
          <p:nvPr/>
        </p:nvSpPr>
        <p:spPr>
          <a:xfrm>
            <a:off x="10498931" y="1314450"/>
            <a:ext cx="323850" cy="323850"/>
          </a:xfrm>
          <a:prstGeom prst="ellipse">
            <a:avLst/>
          </a:prstGeom>
          <a:solidFill>
            <a:srgbClr val="6F3CC2"/>
          </a:solidFill>
          <a:ln w="31750">
            <a:solidFill>
              <a:srgbClr val="EAF2F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Calibri"/>
              </a:rPr>
              <a:t>4</a:t>
            </a:r>
          </a:p>
        </p:txBody>
      </p:sp>
      <p:sp>
        <p:nvSpPr>
          <p:cNvPr id="49" name="Rounded Rectangle 48"/>
          <p:cNvSpPr/>
          <p:nvPr/>
        </p:nvSpPr>
        <p:spPr>
          <a:xfrm>
            <a:off x="323850" y="3829050"/>
            <a:ext cx="323850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924300"/>
            <a:ext cx="2971800" cy="190500"/>
          </a:xfrm>
          <a:prstGeom prst="rect">
            <a:avLst/>
          </a:prstGeom>
          <a:noFill/>
        </p:spPr>
        <p:txBody>
          <a:bodyPr wrap="square" lIns="28575" rIns="28575" tIns="9525" bIns="9525">
            <a:spAutoFit/>
          </a:bodyPr>
          <a:lstStyle/>
          <a:p>
            <a:pPr algn="l"/>
            <a:r>
              <a:rPr sz="1250" b="1">
                <a:solidFill>
                  <a:srgbClr val="0B2E4A"/>
                </a:solidFill>
                <a:latin typeface="Calibri"/>
              </a:rPr>
              <a:t>Key Highlights</a:t>
            </a:r>
          </a:p>
        </p:txBody>
      </p:sp>
      <p:sp>
        <p:nvSpPr>
          <p:cNvPr id="51" name="Rectangle 50"/>
          <p:cNvSpPr/>
          <p:nvPr/>
        </p:nvSpPr>
        <p:spPr>
          <a:xfrm>
            <a:off x="457200" y="4133850"/>
            <a:ext cx="2971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4210050"/>
            <a:ext cx="297180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'Medical Distributors &amp; Wholesalers' holds the largest share in 2026 41% of segment value.</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'E-Commerce / DTC' is the fastest-growing sub-segment at 12.2% CAGR through 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Segment value expands from 2,306 to 4,933 US$ Mn across 2026–2036.</a:t>
            </a:r>
          </a:p>
          <a:p>
            <a:pPr algn="l">
              <a:lnSpc>
                <a:spcPct val="110000"/>
              </a:lnSpc>
              <a:spcBef>
                <a:spcPts val="0"/>
              </a:spcBef>
              <a:spcAft>
                <a:spcPts val="500"/>
              </a:spcAft>
            </a:pPr>
            <a:r>
              <a:rPr sz="1000" b="0">
                <a:solidFill>
                  <a:srgbClr val="0E72AE"/>
                </a:solidFill>
                <a:latin typeface="Calibri"/>
              </a:rPr>
              <a:t>▪  </a:t>
            </a:r>
            <a:r>
              <a:rPr sz="1050" b="0">
                <a:solidFill>
                  <a:srgbClr val="2E2E2E"/>
                </a:solidFill>
                <a:latin typeface="Calibri"/>
              </a:rPr>
              <a:t>4 sub-segments make up the distribution channel landscape.</a:t>
            </a:r>
          </a:p>
        </p:txBody>
      </p:sp>
      <p:sp>
        <p:nvSpPr>
          <p:cNvPr id="53" name="Rounded Rectangle 52"/>
          <p:cNvSpPr/>
          <p:nvPr/>
        </p:nvSpPr>
        <p:spPr>
          <a:xfrm>
            <a:off x="3676650" y="3829050"/>
            <a:ext cx="4476750" cy="2686050"/>
          </a:xfrm>
          <a:prstGeom prst="roundRect">
            <a:avLst>
              <a:gd name="adj" fmla="val 3000"/>
            </a:avLst>
          </a:prstGeom>
          <a:solidFill>
            <a:srgbClr val="FFFFFF"/>
          </a:solidFill>
          <a:ln w="9525">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810000" y="3924300"/>
            <a:ext cx="4210050" cy="190500"/>
          </a:xfrm>
          <a:prstGeom prst="rect">
            <a:avLst/>
          </a:prstGeom>
          <a:noFill/>
        </p:spPr>
        <p:txBody>
          <a:bodyPr wrap="square" lIns="28575" rIns="28575" tIns="9525" bIns="9525">
            <a:spAutoFit/>
          </a:bodyPr>
          <a:lstStyle/>
          <a:p>
            <a:pPr algn="l"/>
            <a:r>
              <a:rPr sz="1250" b="1">
                <a:solidFill>
                  <a:srgbClr val="0B2E4A"/>
                </a:solidFill>
                <a:latin typeface="Calibri"/>
              </a:rPr>
              <a:t>Sub-Segment Insights</a:t>
            </a:r>
          </a:p>
        </p:txBody>
      </p:sp>
      <p:sp>
        <p:nvSpPr>
          <p:cNvPr id="55" name="Rectangle 54"/>
          <p:cNvSpPr/>
          <p:nvPr/>
        </p:nvSpPr>
        <p:spPr>
          <a:xfrm>
            <a:off x="3810000" y="4133850"/>
            <a:ext cx="42100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10000" y="4210050"/>
            <a:ext cx="42100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900" b="0">
                <a:solidFill>
                  <a:srgbClr val="0B2E4A"/>
                </a:solidFill>
                <a:latin typeface="Calibri"/>
              </a:rPr>
              <a:t>●  </a:t>
            </a:r>
            <a:r>
              <a:rPr sz="1000" b="1">
                <a:solidFill>
                  <a:srgbClr val="0B2E4A"/>
                </a:solidFill>
                <a:latin typeface="Calibri"/>
              </a:rPr>
              <a:t>Medical Distributors &amp; Wholesalers: </a:t>
            </a:r>
            <a:r>
              <a:rPr sz="1000" b="0">
                <a:solidFill>
                  <a:srgbClr val="2E2E2E"/>
                </a:solidFill>
                <a:latin typeface="Calibri"/>
              </a:rPr>
              <a:t>41% of 2026 value · 6.3% CAGR leads the segment.</a:t>
            </a:r>
          </a:p>
          <a:p>
            <a:pPr algn="l">
              <a:lnSpc>
                <a:spcPct val="110000"/>
              </a:lnSpc>
              <a:spcBef>
                <a:spcPts val="0"/>
              </a:spcBef>
              <a:spcAft>
                <a:spcPts val="500"/>
              </a:spcAft>
            </a:pPr>
            <a:r>
              <a:rPr sz="900" b="0">
                <a:solidFill>
                  <a:srgbClr val="0E72AE"/>
                </a:solidFill>
                <a:latin typeface="Calibri"/>
              </a:rPr>
              <a:t>●  </a:t>
            </a:r>
            <a:r>
              <a:rPr sz="1000" b="1">
                <a:solidFill>
                  <a:srgbClr val="0E72AE"/>
                </a:solidFill>
                <a:latin typeface="Calibri"/>
              </a:rPr>
              <a:t>Direct Sales: </a:t>
            </a:r>
            <a:r>
              <a:rPr sz="1000" b="0">
                <a:solidFill>
                  <a:srgbClr val="2E2E2E"/>
                </a:solidFill>
                <a:latin typeface="Calibri"/>
              </a:rPr>
              <a:t>28% of 2026 value · 6.8% CAGR serves a niche.</a:t>
            </a:r>
          </a:p>
          <a:p>
            <a:pPr algn="l">
              <a:lnSpc>
                <a:spcPct val="110000"/>
              </a:lnSpc>
              <a:spcBef>
                <a:spcPts val="0"/>
              </a:spcBef>
              <a:spcAft>
                <a:spcPts val="500"/>
              </a:spcAft>
            </a:pPr>
            <a:r>
              <a:rPr sz="900" b="0">
                <a:solidFill>
                  <a:srgbClr val="008189"/>
                </a:solidFill>
                <a:latin typeface="Calibri"/>
              </a:rPr>
              <a:t>●  </a:t>
            </a:r>
            <a:r>
              <a:rPr sz="1000" b="1">
                <a:solidFill>
                  <a:srgbClr val="008189"/>
                </a:solidFill>
                <a:latin typeface="Calibri"/>
              </a:rPr>
              <a:t>E-Commerce / DTC: </a:t>
            </a:r>
            <a:r>
              <a:rPr sz="1000" b="0">
                <a:solidFill>
                  <a:srgbClr val="2E2E2E"/>
                </a:solidFill>
                <a:latin typeface="Calibri"/>
              </a:rPr>
              <a:t>17% of 2026 value · 12.2% CAGR grows fastest.</a:t>
            </a:r>
          </a:p>
          <a:p>
            <a:pPr algn="l">
              <a:lnSpc>
                <a:spcPct val="110000"/>
              </a:lnSpc>
              <a:spcBef>
                <a:spcPts val="0"/>
              </a:spcBef>
              <a:spcAft>
                <a:spcPts val="500"/>
              </a:spcAft>
            </a:pPr>
            <a:r>
              <a:rPr sz="900" b="0">
                <a:solidFill>
                  <a:srgbClr val="6F3CC2"/>
                </a:solidFill>
                <a:latin typeface="Calibri"/>
              </a:rPr>
              <a:t>●  </a:t>
            </a:r>
            <a:r>
              <a:rPr sz="1000" b="1">
                <a:solidFill>
                  <a:srgbClr val="6F3CC2"/>
                </a:solidFill>
                <a:latin typeface="Calibri"/>
              </a:rPr>
              <a:t>Retail Pharmacy: </a:t>
            </a:r>
            <a:r>
              <a:rPr sz="1000" b="0">
                <a:solidFill>
                  <a:srgbClr val="2E2E2E"/>
                </a:solidFill>
                <a:latin typeface="Calibri"/>
              </a:rPr>
              <a:t>14% of 2026 value · 8.0% CAGR serves a niche.</a:t>
            </a:r>
          </a:p>
        </p:txBody>
      </p:sp>
      <p:sp>
        <p:nvSpPr>
          <p:cNvPr id="57" name="Rounded Rectangle 56"/>
          <p:cNvSpPr/>
          <p:nvPr/>
        </p:nvSpPr>
        <p:spPr>
          <a:xfrm>
            <a:off x="8267700" y="3829050"/>
            <a:ext cx="3600450" cy="2686050"/>
          </a:xfrm>
          <a:prstGeom prst="roundRect">
            <a:avLst>
              <a:gd name="adj" fmla="val 3000"/>
            </a:avLst>
          </a:prstGeom>
          <a:solidFill>
            <a:srgbClr val="EAF3FB"/>
          </a:solidFill>
          <a:ln w="9525">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01050" y="3924300"/>
            <a:ext cx="3333750" cy="190500"/>
          </a:xfrm>
          <a:prstGeom prst="rect">
            <a:avLst/>
          </a:prstGeom>
          <a:noFill/>
        </p:spPr>
        <p:txBody>
          <a:bodyPr wrap="square" lIns="28575" rIns="28575" tIns="9525" bIns="9525">
            <a:spAutoFit/>
          </a:bodyPr>
          <a:lstStyle/>
          <a:p>
            <a:pPr algn="l"/>
            <a:r>
              <a:rPr sz="1250" b="1">
                <a:solidFill>
                  <a:srgbClr val="0B2E4A"/>
                </a:solidFill>
                <a:latin typeface="Calibri"/>
              </a:rPr>
              <a:t>Segment Overview</a:t>
            </a:r>
          </a:p>
        </p:txBody>
      </p:sp>
      <p:sp>
        <p:nvSpPr>
          <p:cNvPr id="59" name="Rectangle 58"/>
          <p:cNvSpPr/>
          <p:nvPr/>
        </p:nvSpPr>
        <p:spPr>
          <a:xfrm>
            <a:off x="8401050" y="4133850"/>
            <a:ext cx="33337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01050" y="4210050"/>
            <a:ext cx="3333750" cy="2209800"/>
          </a:xfrm>
          <a:prstGeom prst="rect">
            <a:avLst/>
          </a:prstGeom>
          <a:noFill/>
        </p:spPr>
        <p:txBody>
          <a:bodyPr wrap="square" lIns="28575" rIns="28575" tIns="9525" bIns="9525">
            <a:spAutoFit/>
          </a:bodyPr>
          <a:lstStyle/>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The Distribution Channel split shows how demand is distributed across distribution channel types and where growth concentrates.</a:t>
            </a:r>
          </a:p>
          <a:p>
            <a:pPr algn="l">
              <a:lnSpc>
                <a:spcPct val="110000"/>
              </a:lnSpc>
              <a:spcBef>
                <a:spcPts val="0"/>
              </a:spcBef>
              <a:spcAft>
                <a:spcPts val="500"/>
              </a:spcAft>
            </a:pPr>
            <a:r>
              <a:rPr sz="1000" b="1">
                <a:solidFill>
                  <a:srgbClr val="008189"/>
                </a:solidFill>
                <a:latin typeface="Calibri"/>
              </a:rPr>
              <a:t>✓  </a:t>
            </a:r>
            <a:r>
              <a:rPr sz="1050" b="0">
                <a:solidFill>
                  <a:srgbClr val="2E2E2E"/>
                </a:solidFill>
                <a:latin typeface="Calibri"/>
              </a:rPr>
              <a:t>Shifting preferences and product innovation are reshaping the mix through 2036.</a:t>
            </a:r>
          </a:p>
        </p:txBody>
      </p:sp>
      <p:sp>
        <p:nvSpPr>
          <p:cNvPr id="61" name="Rectangle 60"/>
          <p:cNvSpPr/>
          <p:nvPr/>
        </p:nvSpPr>
        <p:spPr>
          <a:xfrm>
            <a:off x="8401050" y="5810250"/>
            <a:ext cx="3333750" cy="552450"/>
          </a:xfrm>
          <a:prstGeom prst="rect">
            <a:avLst/>
          </a:prstGeom>
          <a:solidFill>
            <a:srgbClr val="FFFFFF"/>
          </a:solidFill>
          <a:ln w="6350">
            <a:solidFill>
              <a:srgbClr val="CFE2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96300" y="5848350"/>
            <a:ext cx="3219450" cy="476250"/>
          </a:xfrm>
          <a:prstGeom prst="rect">
            <a:avLst/>
          </a:prstGeom>
          <a:noFill/>
        </p:spPr>
        <p:txBody>
          <a:bodyPr wrap="square" lIns="28575" rIns="28575" tIns="9525" bIns="9525" anchor="ctr">
            <a:spAutoFit/>
          </a:bodyPr>
          <a:lstStyle/>
          <a:p>
            <a:pPr algn="l"/>
            <a:r>
              <a:rPr sz="1150" b="1">
                <a:solidFill>
                  <a:srgbClr val="0B2E4A"/>
                </a:solidFill>
                <a:latin typeface="Calibri"/>
              </a:rPr>
              <a:t>The Distribution Channel segment is projected to grow at a CAGR of 7.9% from 2026 to 2036.</a:t>
            </a:r>
          </a:p>
        </p:txBody>
      </p:sp>
      <p:sp>
        <p:nvSpPr>
          <p:cNvPr id="63" name="TextBox 62"/>
          <p:cNvSpPr txBox="1"/>
          <p:nvPr/>
        </p:nvSpPr>
        <p:spPr>
          <a:xfrm>
            <a:off x="323850" y="6591300"/>
            <a:ext cx="3048000" cy="133350"/>
          </a:xfrm>
          <a:prstGeom prst="rect">
            <a:avLst/>
          </a:prstGeom>
          <a:noFill/>
        </p:spPr>
        <p:txBody>
          <a:bodyPr wrap="none">
            <a:spAutoFit/>
          </a:bodyPr>
          <a:lstStyle/>
          <a:p>
            <a:r>
              <a:rPr sz="800" i="1">
                <a:solidFill>
                  <a:srgbClr val="6C7A89"/>
                </a:solidFill>
                <a:latin typeface="Calibri"/>
              </a:rPr>
              <a:t>Source: FMI Analysis, 2026</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Structure &amp; Attractiveness, By Distribution Channel (Value)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Distribution Channel mix within each region and the attractiveness of each sub-segment on growth and size</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6343650"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6153150"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mix within each region (share of 2036 value) · row label = region size (US$ Mn), largest first</a:t>
            </a:r>
          </a:p>
        </p:txBody>
      </p:sp>
      <p:graphicFrame>
        <p:nvGraphicFramePr>
          <p:cNvPr id="14" name="Chart 13"/>
          <p:cNvGraphicFramePr>
            <a:graphicFrameLocks noGrp="1"/>
          </p:cNvGraphicFramePr>
          <p:nvPr/>
        </p:nvGraphicFramePr>
        <p:xfrm>
          <a:off x="238125" y="1314450"/>
          <a:ext cx="6153150" cy="3924300"/>
        </p:xfrm>
        <a:graphic>
          <a:graphicData uri="http://schemas.openxmlformats.org/drawingml/2006/chart">
            <c:chart xmlns:c="http://schemas.openxmlformats.org/drawingml/2006/chart" r:id="rId3"/>
          </a:graphicData>
        </a:graphic>
      </p:graphicFrame>
      <p:sp>
        <p:nvSpPr>
          <p:cNvPr id="15" name="Rounded Rectangle 14"/>
          <p:cNvSpPr/>
          <p:nvPr/>
        </p:nvSpPr>
        <p:spPr>
          <a:xfrm>
            <a:off x="6638925" y="857250"/>
            <a:ext cx="5400675" cy="4438650"/>
          </a:xfrm>
          <a:prstGeom prst="roundRect">
            <a:avLst>
              <a:gd name="adj" fmla="val 171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34175" y="914400"/>
            <a:ext cx="5210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Market Attractiveness, By Distribution Channel (bubble = 2036 size)</a:t>
            </a:r>
          </a:p>
        </p:txBody>
      </p:sp>
      <p:graphicFrame>
        <p:nvGraphicFramePr>
          <p:cNvPr id="17" name="Chart 16"/>
          <p:cNvGraphicFramePr>
            <a:graphicFrameLocks noGrp="1"/>
          </p:cNvGraphicFramePr>
          <p:nvPr/>
        </p:nvGraphicFramePr>
        <p:xfrm>
          <a:off x="6734175" y="1143000"/>
          <a:ext cx="5210175" cy="4095750"/>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5429250"/>
            <a:ext cx="11906250" cy="1295400"/>
          </a:xfrm>
          <a:prstGeom prst="roundRect">
            <a:avLst>
              <a:gd name="adj" fmla="val 5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Between 2026 and 2036, 'E-Commerce / DTC' gains the most share in the Global market (+814 BPS) while 'Medical Distributors &amp; Wholesalers' cedes 558 BPS. Bubbles right of the CAGR-Index line grow faster than the segment average.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Absolute $ Opportunity Analysis, By Distribution Channel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build-up by Distribution Channel and the absolute $ opportunity each sub-segment adds,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2021–2025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2026–2031 (US$ Mn)</a:t>
            </a:r>
          </a:p>
        </p:txBody>
      </p:sp>
      <p:graphicFrame>
        <p:nvGraphicFramePr>
          <p:cNvPr id="17" name="Chart 16"/>
          <p:cNvGraphicFramePr>
            <a:graphicFrameLocks noGrp="1"/>
          </p:cNvGraphicFramePr>
          <p:nvPr/>
        </p:nvGraphicFramePr>
        <p:xfrm>
          <a:off x="6267450" y="1143000"/>
          <a:ext cx="5686425"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Build-up, 2031–2036 (US$ Mn)</a:t>
            </a:r>
          </a:p>
        </p:txBody>
      </p:sp>
      <p:graphicFrame>
        <p:nvGraphicFramePr>
          <p:cNvPr id="20" name="Chart 19"/>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(2026–2036)</a:t>
            </a:r>
          </a:p>
        </p:txBody>
      </p:sp>
      <p:graphicFrame>
        <p:nvGraphicFramePr>
          <p:cNvPr id="23" name="Table 22"/>
          <p:cNvGraphicFramePr>
            <a:graphicFrameLocks noGrp="1"/>
          </p:cNvGraphicFramePr>
          <p:nvPr/>
        </p:nvGraphicFramePr>
        <p:xfrm>
          <a:off x="6267450" y="4143375"/>
          <a:ext cx="5686426" cy="904875"/>
        </p:xfrm>
        <a:graphic>
          <a:graphicData uri="http://schemas.openxmlformats.org/drawingml/2006/table">
            <a:tbl>
              <a:tblPr>
                <a:tableStyleId>{5C22544A-7EE6-4342-B048-85BDC9FD1C3A}</a:tableStyleId>
              </a:tblPr>
              <a:tblGrid>
                <a:gridCol w="1705928"/>
                <a:gridCol w="1990249"/>
                <a:gridCol w="1990249"/>
              </a:tblGrid>
              <a:tr h="180975">
                <a:tc>
                  <a:txBody>
                    <a:bodyPr wrap="none"/>
                    <a:lstStyle/>
                    <a:p>
                      <a:pPr algn="l"/>
                      <a:r>
                        <a:rPr sz="9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Absolute $ Opportunity (US$ Mn)</a:t>
                      </a:r>
                    </a:p>
                  </a:txBody>
                  <a:tcPr marL="85725" marR="38100" marT="19050" marB="19050" anchor="ctr">
                    <a:solidFill>
                      <a:srgbClr val="E0E8EF"/>
                    </a:solidFill>
                  </a:tcPr>
                </a:tc>
                <a:tc>
                  <a:txBody>
                    <a:bodyPr wrap="none"/>
                    <a:lstStyle/>
                    <a:p>
                      <a:pPr algn="l"/>
                      <a:r>
                        <a:rPr sz="900" b="1">
                          <a:solidFill>
                            <a:srgbClr val="0B2E4A"/>
                          </a:solidFill>
                          <a:latin typeface="Calibri"/>
                        </a:rPr>
                        <a:t>Share of Increment</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Sales</a:t>
                      </a:r>
                    </a:p>
                  </a:txBody>
                  <a:tcPr marL="85725" marR="38100" marT="19050" marB="19050" anchor="ctr">
                    <a:solidFill>
                      <a:srgbClr val="FFFFFF"/>
                    </a:solidFill>
                  </a:tcPr>
                </a:tc>
                <a:tc>
                  <a:txBody>
                    <a:bodyPr wrap="none"/>
                    <a:lstStyle/>
                    <a:p>
                      <a:pPr algn="l"/>
                      <a:r>
                        <a:rPr sz="900" b="0">
                          <a:solidFill>
                            <a:srgbClr val="2E2E2E"/>
                          </a:solidFill>
                          <a:latin typeface="Calibri"/>
                        </a:rPr>
                        <a:t>598.4</a:t>
                      </a:r>
                    </a:p>
                  </a:txBody>
                  <a:tcPr marL="85725" marR="38100" marT="19050" marB="19050" anchor="ctr">
                    <a:solidFill>
                      <a:srgbClr val="FFFFFF"/>
                    </a:solidFill>
                  </a:tcPr>
                </a:tc>
                <a:tc>
                  <a:txBody>
                    <a:bodyPr wrap="none"/>
                    <a:lstStyle/>
                    <a:p>
                      <a:pPr algn="l"/>
                      <a:r>
                        <a:rPr sz="900" b="0">
                          <a:solidFill>
                            <a:srgbClr val="2E2E2E"/>
                          </a:solidFill>
                          <a:latin typeface="Calibri"/>
                        </a:rPr>
                        <a:t>22.8%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900" b="0">
                          <a:solidFill>
                            <a:srgbClr val="2E2E2E"/>
                          </a:solidFill>
                          <a:latin typeface="Calibri"/>
                        </a:rPr>
                        <a:t>805.5</a:t>
                      </a:r>
                    </a:p>
                  </a:txBody>
                  <a:tcPr marL="85725" marR="38100" marT="19050" marB="19050" anchor="ctr">
                    <a:solidFill>
                      <a:srgbClr val="F5F8FA"/>
                    </a:solidFill>
                  </a:tcPr>
                </a:tc>
                <a:tc>
                  <a:txBody>
                    <a:bodyPr wrap="none"/>
                    <a:lstStyle/>
                    <a:p>
                      <a:pPr algn="l"/>
                      <a:r>
                        <a:rPr sz="900" b="0">
                          <a:solidFill>
                            <a:srgbClr val="2E2E2E"/>
                          </a:solidFill>
                          <a:latin typeface="Calibri"/>
                        </a:rPr>
                        <a:t>30.7%</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Pharmacy</a:t>
                      </a:r>
                    </a:p>
                  </a:txBody>
                  <a:tcPr marL="85725" marR="38100" marT="19050" marB="19050" anchor="ctr">
                    <a:solidFill>
                      <a:srgbClr val="FFFFFF"/>
                    </a:solidFill>
                  </a:tcPr>
                </a:tc>
                <a:tc>
                  <a:txBody>
                    <a:bodyPr wrap="none"/>
                    <a:lstStyle/>
                    <a:p>
                      <a:pPr algn="l"/>
                      <a:r>
                        <a:rPr sz="900" b="0">
                          <a:solidFill>
                            <a:srgbClr val="2E2E2E"/>
                          </a:solidFill>
                          <a:latin typeface="Calibri"/>
                        </a:rPr>
                        <a:t>370.5</a:t>
                      </a:r>
                    </a:p>
                  </a:txBody>
                  <a:tcPr marL="85725" marR="38100" marT="19050" marB="19050" anchor="ctr">
                    <a:solidFill>
                      <a:srgbClr val="FFFFFF"/>
                    </a:solidFill>
                  </a:tcPr>
                </a:tc>
                <a:tc>
                  <a:txBody>
                    <a:bodyPr wrap="none"/>
                    <a:lstStyle/>
                    <a:p>
                      <a:pPr algn="l"/>
                      <a:r>
                        <a:rPr sz="900" b="0">
                          <a:solidFill>
                            <a:srgbClr val="2E2E2E"/>
                          </a:solidFill>
                          <a:latin typeface="Calibri"/>
                        </a:rPr>
                        <a:t>14.1%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E-Commerce / DTC</a:t>
                      </a:r>
                    </a:p>
                  </a:txBody>
                  <a:tcPr marL="85725" marR="38100" marT="19050" marB="19050" anchor="ctr">
                    <a:solidFill>
                      <a:srgbClr val="F5F8FA"/>
                    </a:solidFill>
                  </a:tcPr>
                </a:tc>
                <a:tc>
                  <a:txBody>
                    <a:bodyPr wrap="none"/>
                    <a:lstStyle/>
                    <a:p>
                      <a:pPr algn="l"/>
                      <a:r>
                        <a:rPr sz="900" b="0">
                          <a:solidFill>
                            <a:srgbClr val="2E2E2E"/>
                          </a:solidFill>
                          <a:latin typeface="Calibri"/>
                        </a:rPr>
                        <a:t>852.4</a:t>
                      </a:r>
                    </a:p>
                  </a:txBody>
                  <a:tcPr marL="85725" marR="38100" marT="19050" marB="19050" anchor="ctr">
                    <a:solidFill>
                      <a:srgbClr val="F5F8FA"/>
                    </a:solidFill>
                  </a:tcPr>
                </a:tc>
                <a:tc>
                  <a:txBody>
                    <a:bodyPr wrap="none"/>
                    <a:lstStyle/>
                    <a:p>
                      <a:pPr algn="l"/>
                      <a:r>
                        <a:rPr sz="900" b="0">
                          <a:solidFill>
                            <a:srgbClr val="2E2E2E"/>
                          </a:solidFill>
                          <a:latin typeface="Calibri"/>
                        </a:rPr>
                        <a:t>32.5%</a:t>
                      </a:r>
                    </a:p>
                  </a:txBody>
                  <a:tcPr marL="85725" marR="38100" marT="19050" marB="19050" anchor="ctr">
                    <a:solidFill>
                      <a:srgbClr val="F5F8FA"/>
                    </a:solidFill>
                  </a:tcPr>
                </a:tc>
              </a:tr>
            </a:tbl>
          </a:graphicData>
        </a:graphic>
      </p:graphicFrame>
      <p:sp>
        <p:nvSpPr>
          <p:cNvPr id="24" name="TextBox 23"/>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Volume Analysis, By Distribution Channel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by Distribution Channel,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By Distribution Channel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0">
                          <a:solidFill>
                            <a:srgbClr val="2E2E2E"/>
                          </a:solidFill>
                          <a:latin typeface="Calibri"/>
                        </a:rPr>
                        <a:t>604.2</a:t>
                      </a:r>
                    </a:p>
                  </a:txBody>
                  <a:tcPr marL="85725" marR="38100" marT="19050" marB="19050" anchor="ctr">
                    <a:solidFill>
                      <a:srgbClr val="FFFFFF"/>
                    </a:solidFill>
                  </a:tcPr>
                </a:tc>
                <a:tc>
                  <a:txBody>
                    <a:bodyPr wrap="none"/>
                    <a:lstStyle/>
                    <a:p>
                      <a:pPr algn="l"/>
                      <a:r>
                        <a:rPr sz="800" b="0">
                          <a:solidFill>
                            <a:srgbClr val="2E2E2E"/>
                          </a:solidFill>
                          <a:latin typeface="Calibri"/>
                        </a:rPr>
                        <a:t>632.9</a:t>
                      </a:r>
                    </a:p>
                  </a:txBody>
                  <a:tcPr marL="85725" marR="38100" marT="19050" marB="19050" anchor="ctr">
                    <a:solidFill>
                      <a:srgbClr val="FFFFFF"/>
                    </a:solidFill>
                  </a:tcPr>
                </a:tc>
                <a:tc>
                  <a:txBody>
                    <a:bodyPr wrap="none"/>
                    <a:lstStyle/>
                    <a:p>
                      <a:pPr algn="l"/>
                      <a:r>
                        <a:rPr sz="800" b="0">
                          <a:solidFill>
                            <a:srgbClr val="2E2E2E"/>
                          </a:solidFill>
                          <a:latin typeface="Calibri"/>
                        </a:rPr>
                        <a:t>664.1</a:t>
                      </a:r>
                    </a:p>
                  </a:txBody>
                  <a:tcPr marL="85725" marR="38100" marT="19050" marB="19050" anchor="ctr">
                    <a:solidFill>
                      <a:srgbClr val="FFFFFF"/>
                    </a:solidFill>
                  </a:tcPr>
                </a:tc>
                <a:tc>
                  <a:txBody>
                    <a:bodyPr wrap="none"/>
                    <a:lstStyle/>
                    <a:p>
                      <a:pPr algn="l"/>
                      <a:r>
                        <a:rPr sz="800" b="0">
                          <a:solidFill>
                            <a:srgbClr val="2E2E2E"/>
                          </a:solidFill>
                          <a:latin typeface="Calibri"/>
                        </a:rPr>
                        <a:t>698.7</a:t>
                      </a:r>
                    </a:p>
                  </a:txBody>
                  <a:tcPr marL="85725" marR="38100" marT="19050" marB="19050" anchor="ctr">
                    <a:solidFill>
                      <a:srgbClr val="FFFFFF"/>
                    </a:solidFill>
                  </a:tcPr>
                </a:tc>
                <a:tc>
                  <a:txBody>
                    <a:bodyPr wrap="none"/>
                    <a:lstStyle/>
                    <a:p>
                      <a:pPr algn="l"/>
                      <a:r>
                        <a:rPr sz="800" b="0">
                          <a:solidFill>
                            <a:srgbClr val="2E2E2E"/>
                          </a:solidFill>
                          <a:latin typeface="Calibri"/>
                        </a:rPr>
                        <a:t>737.7</a:t>
                      </a:r>
                    </a:p>
                  </a:txBody>
                  <a:tcPr marL="85725" marR="38100" marT="19050" marB="19050" anchor="ctr">
                    <a:solidFill>
                      <a:srgbClr val="FFFFFF"/>
                    </a:solidFill>
                  </a:tcPr>
                </a:tc>
                <a:tc>
                  <a:txBody>
                    <a:bodyPr wrap="none"/>
                    <a:lstStyle/>
                    <a:p>
                      <a:pPr algn="l"/>
                      <a:r>
                        <a:rPr sz="800" b="0">
                          <a:solidFill>
                            <a:srgbClr val="2E2E2E"/>
                          </a:solidFill>
                          <a:latin typeface="Calibri"/>
                        </a:rPr>
                        <a:t>782.0</a:t>
                      </a:r>
                    </a:p>
                  </a:txBody>
                  <a:tcPr marL="85725" marR="38100" marT="19050" marB="19050" anchor="ctr">
                    <a:solidFill>
                      <a:srgbClr val="FFFFFF"/>
                    </a:solidFill>
                  </a:tcPr>
                </a:tc>
                <a:tc>
                  <a:txBody>
                    <a:bodyPr wrap="none"/>
                    <a:lstStyle/>
                    <a:p>
                      <a:pPr algn="l"/>
                      <a:r>
                        <a:rPr sz="800" b="0">
                          <a:solidFill>
                            <a:srgbClr val="2E2E2E"/>
                          </a:solidFill>
                          <a:latin typeface="Calibri"/>
                        </a:rPr>
                        <a:t>831.0</a:t>
                      </a:r>
                    </a:p>
                  </a:txBody>
                  <a:tcPr marL="85725" marR="38100" marT="19050" marB="19050" anchor="ctr">
                    <a:solidFill>
                      <a:srgbClr val="FFFFFF"/>
                    </a:solidFill>
                  </a:tcPr>
                </a:tc>
                <a:tc>
                  <a:txBody>
                    <a:bodyPr wrap="none"/>
                    <a:lstStyle/>
                    <a:p>
                      <a:pPr algn="l"/>
                      <a:r>
                        <a:rPr sz="800" b="0">
                          <a:solidFill>
                            <a:srgbClr val="2E2E2E"/>
                          </a:solidFill>
                          <a:latin typeface="Calibri"/>
                        </a:rPr>
                        <a:t>883.9</a:t>
                      </a:r>
                    </a:p>
                  </a:txBody>
                  <a:tcPr marL="85725" marR="38100" marT="19050" marB="19050" anchor="ctr">
                    <a:solidFill>
                      <a:srgbClr val="FFFFFF"/>
                    </a:solidFill>
                  </a:tcPr>
                </a:tc>
                <a:tc>
                  <a:txBody>
                    <a:bodyPr wrap="none"/>
                    <a:lstStyle/>
                    <a:p>
                      <a:pPr algn="l"/>
                      <a:r>
                        <a:rPr sz="800" b="0">
                          <a:solidFill>
                            <a:srgbClr val="2E2E2E"/>
                          </a:solidFill>
                          <a:latin typeface="Calibri"/>
                        </a:rPr>
                        <a:t>940.2</a:t>
                      </a:r>
                    </a:p>
                  </a:txBody>
                  <a:tcPr marL="85725" marR="38100" marT="19050" marB="19050" anchor="ctr">
                    <a:solidFill>
                      <a:srgbClr val="FFFFFF"/>
                    </a:solidFill>
                  </a:tcPr>
                </a:tc>
                <a:tc>
                  <a:txBody>
                    <a:bodyPr wrap="none"/>
                    <a:lstStyle/>
                    <a:p>
                      <a:pPr algn="l"/>
                      <a:r>
                        <a:rPr sz="800" b="0">
                          <a:solidFill>
                            <a:srgbClr val="2E2E2E"/>
                          </a:solidFill>
                          <a:latin typeface="Calibri"/>
                        </a:rPr>
                        <a:t>998.4</a:t>
                      </a:r>
                    </a:p>
                  </a:txBody>
                  <a:tcPr marL="85725" marR="38100" marT="19050" marB="19050" anchor="ctr">
                    <a:solidFill>
                      <a:srgbClr val="FFFFFF"/>
                    </a:solidFill>
                  </a:tcPr>
                </a:tc>
                <a:tc>
                  <a:txBody>
                    <a:bodyPr wrap="none"/>
                    <a:lstStyle/>
                    <a:p>
                      <a:pPr algn="l"/>
                      <a:r>
                        <a:rPr sz="800" b="0">
                          <a:solidFill>
                            <a:srgbClr val="2E2E2E"/>
                          </a:solidFill>
                          <a:latin typeface="Calibri"/>
                        </a:rPr>
                        <a:t>1,058</a:t>
                      </a:r>
                    </a:p>
                  </a:txBody>
                  <a:tcPr marL="85725" marR="38100" marT="19050" marB="19050" anchor="ctr">
                    <a:solidFill>
                      <a:srgbClr val="FFFFFF"/>
                    </a:solidFill>
                  </a:tcPr>
                </a:tc>
                <a:tc>
                  <a:txBody>
                    <a:bodyPr wrap="none"/>
                    <a:lstStyle/>
                    <a:p>
                      <a:pPr algn="l"/>
                      <a:r>
                        <a:rPr sz="800" b="0">
                          <a:solidFill>
                            <a:srgbClr val="2E2E2E"/>
                          </a:solidFill>
                          <a:latin typeface="Calibri"/>
                        </a:rPr>
                        <a:t>1,120</a:t>
                      </a:r>
                    </a:p>
                  </a:txBody>
                  <a:tcPr marL="85725" marR="38100" marT="19050" marB="19050" anchor="ctr">
                    <a:solidFill>
                      <a:srgbClr val="FFFFFF"/>
                    </a:solidFill>
                  </a:tcPr>
                </a:tc>
                <a:tc>
                  <a:txBody>
                    <a:bodyPr wrap="none"/>
                    <a:lstStyle/>
                    <a:p>
                      <a:pPr algn="l"/>
                      <a:r>
                        <a:rPr sz="800" b="0">
                          <a:solidFill>
                            <a:srgbClr val="2E2E2E"/>
                          </a:solidFill>
                          <a:latin typeface="Calibri"/>
                        </a:rPr>
                        <a:t>1,183</a:t>
                      </a:r>
                    </a:p>
                  </a:txBody>
                  <a:tcPr marL="85725" marR="38100" marT="19050" marB="19050" anchor="ctr">
                    <a:solidFill>
                      <a:srgbClr val="FFFFFF"/>
                    </a:solidFill>
                  </a:tcPr>
                </a:tc>
                <a:tc>
                  <a:txBody>
                    <a:bodyPr wrap="none"/>
                    <a:lstStyle/>
                    <a:p>
                      <a:pPr algn="l"/>
                      <a:r>
                        <a:rPr sz="800" b="0">
                          <a:solidFill>
                            <a:srgbClr val="2E2E2E"/>
                          </a:solidFill>
                          <a:latin typeface="Calibri"/>
                        </a:rPr>
                        <a:t>1,250</a:t>
                      </a:r>
                    </a:p>
                  </a:txBody>
                  <a:tcPr marL="85725" marR="38100" marT="19050" marB="19050" anchor="ctr">
                    <a:solidFill>
                      <a:srgbClr val="FFFFFF"/>
                    </a:solidFill>
                  </a:tcPr>
                </a:tc>
                <a:tc>
                  <a:txBody>
                    <a:bodyPr wrap="none"/>
                    <a:lstStyle/>
                    <a:p>
                      <a:pPr algn="l"/>
                      <a:r>
                        <a:rPr sz="800" b="0">
                          <a:solidFill>
                            <a:srgbClr val="2E2E2E"/>
                          </a:solidFill>
                          <a:latin typeface="Calibri"/>
                        </a:rPr>
                        <a:t>1,319</a:t>
                      </a:r>
                    </a:p>
                  </a:txBody>
                  <a:tcPr marL="85725" marR="38100" marT="19050" marB="19050" anchor="ctr">
                    <a:solidFill>
                      <a:srgbClr val="FFFFFF"/>
                    </a:solidFill>
                  </a:tcPr>
                </a:tc>
                <a:tc>
                  <a:txBody>
                    <a:bodyPr wrap="none"/>
                    <a:lstStyle/>
                    <a:p>
                      <a:pPr algn="l"/>
                      <a:r>
                        <a:rPr sz="800" b="0">
                          <a:solidFill>
                            <a:srgbClr val="2E2E2E"/>
                          </a:solidFill>
                          <a:latin typeface="Calibri"/>
                        </a:rPr>
                        <a:t>1,392</a:t>
                      </a:r>
                    </a:p>
                  </a:txBody>
                  <a:tcPr marL="85725" marR="38100" marT="19050" marB="19050" anchor="ctr">
                    <a:solidFill>
                      <a:srgbClr val="FFFFFF"/>
                    </a:solidFill>
                  </a:tcPr>
                </a:tc>
                <a:tc>
                  <a:txBody>
                    <a:bodyPr wrap="none"/>
                    <a:lstStyle/>
                    <a:p>
                      <a:pPr algn="l"/>
                      <a:r>
                        <a:rPr sz="800" b="0">
                          <a:solidFill>
                            <a:srgbClr val="2E2E2E"/>
                          </a:solidFill>
                          <a:latin typeface="Calibri"/>
                        </a:rPr>
                        <a:t>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0">
                          <a:solidFill>
                            <a:srgbClr val="2E2E2E"/>
                          </a:solidFill>
                          <a:latin typeface="Calibri"/>
                        </a:rPr>
                        <a:t>909.3</a:t>
                      </a:r>
                    </a:p>
                  </a:txBody>
                  <a:tcPr marL="85725" marR="38100" marT="19050" marB="19050" anchor="ctr">
                    <a:solidFill>
                      <a:srgbClr val="F5F8FA"/>
                    </a:solidFill>
                  </a:tcPr>
                </a:tc>
                <a:tc>
                  <a:txBody>
                    <a:bodyPr wrap="none"/>
                    <a:lstStyle/>
                    <a:p>
                      <a:pPr algn="l"/>
                      <a:r>
                        <a:rPr sz="800" b="0">
                          <a:solidFill>
                            <a:srgbClr val="2E2E2E"/>
                          </a:solidFill>
                          <a:latin typeface="Calibri"/>
                        </a:rPr>
                        <a:t>950.7</a:t>
                      </a:r>
                    </a:p>
                  </a:txBody>
                  <a:tcPr marL="85725" marR="38100" marT="19050" marB="19050" anchor="ctr">
                    <a:solidFill>
                      <a:srgbClr val="F5F8FA"/>
                    </a:solidFill>
                  </a:tcPr>
                </a:tc>
                <a:tc>
                  <a:txBody>
                    <a:bodyPr wrap="none"/>
                    <a:lstStyle/>
                    <a:p>
                      <a:pPr algn="l"/>
                      <a:r>
                        <a:rPr sz="800" b="0">
                          <a:solidFill>
                            <a:srgbClr val="2E2E2E"/>
                          </a:solidFill>
                          <a:latin typeface="Calibri"/>
                        </a:rPr>
                        <a:t>995.4</a:t>
                      </a:r>
                    </a:p>
                  </a:txBody>
                  <a:tcPr marL="85725" marR="38100" marT="19050" marB="19050" anchor="ctr">
                    <a:solidFill>
                      <a:srgbClr val="F5F8FA"/>
                    </a:solidFill>
                  </a:tcPr>
                </a:tc>
                <a:tc>
                  <a:txBody>
                    <a:bodyPr wrap="none"/>
                    <a:lstStyle/>
                    <a:p>
                      <a:pPr algn="l"/>
                      <a:r>
                        <a:rPr sz="800" b="0">
                          <a:solidFill>
                            <a:srgbClr val="2E2E2E"/>
                          </a:solidFill>
                          <a:latin typeface="Calibri"/>
                        </a:rPr>
                        <a:t>1,044</a:t>
                      </a:r>
                    </a:p>
                  </a:txBody>
                  <a:tcPr marL="85725" marR="38100" marT="19050" marB="19050" anchor="ctr">
                    <a:solidFill>
                      <a:srgbClr val="F5F8FA"/>
                    </a:solidFill>
                  </a:tcPr>
                </a:tc>
                <a:tc>
                  <a:txBody>
                    <a:bodyPr wrap="none"/>
                    <a:lstStyle/>
                    <a:p>
                      <a:pPr algn="l"/>
                      <a:r>
                        <a:rPr sz="800" b="0">
                          <a:solidFill>
                            <a:srgbClr val="2E2E2E"/>
                          </a:solidFill>
                          <a:latin typeface="Calibri"/>
                        </a:rPr>
                        <a:t>1,099</a:t>
                      </a:r>
                    </a:p>
                  </a:txBody>
                  <a:tcPr marL="85725" marR="38100" marT="19050" marB="19050" anchor="ctr">
                    <a:solidFill>
                      <a:srgbClr val="F5F8FA"/>
                    </a:solidFill>
                  </a:tcPr>
                </a:tc>
                <a:tc>
                  <a:txBody>
                    <a:bodyPr wrap="none"/>
                    <a:lstStyle/>
                    <a:p>
                      <a:pPr algn="l"/>
                      <a:r>
                        <a:rPr sz="800" b="0">
                          <a:solidFill>
                            <a:srgbClr val="2E2E2E"/>
                          </a:solidFill>
                          <a:latin typeface="Calibri"/>
                        </a:rPr>
                        <a:t>1,162</a:t>
                      </a:r>
                    </a:p>
                  </a:txBody>
                  <a:tcPr marL="85725" marR="38100" marT="19050" marB="19050" anchor="ctr">
                    <a:solidFill>
                      <a:srgbClr val="F5F8FA"/>
                    </a:solidFill>
                  </a:tcPr>
                </a:tc>
                <a:tc>
                  <a:txBody>
                    <a:bodyPr wrap="none"/>
                    <a:lstStyle/>
                    <a:p>
                      <a:pPr algn="l"/>
                      <a:r>
                        <a:rPr sz="800" b="0">
                          <a:solidFill>
                            <a:srgbClr val="2E2E2E"/>
                          </a:solidFill>
                          <a:latin typeface="Calibri"/>
                        </a:rPr>
                        <a:t>1,230</a:t>
                      </a:r>
                    </a:p>
                  </a:txBody>
                  <a:tcPr marL="85725" marR="38100" marT="19050" marB="19050" anchor="ctr">
                    <a:solidFill>
                      <a:srgbClr val="F5F8FA"/>
                    </a:solidFill>
                  </a:tcPr>
                </a:tc>
                <a:tc>
                  <a:txBody>
                    <a:bodyPr wrap="none"/>
                    <a:lstStyle/>
                    <a:p>
                      <a:pPr algn="l"/>
                      <a:r>
                        <a:rPr sz="800" b="0">
                          <a:solidFill>
                            <a:srgbClr val="2E2E2E"/>
                          </a:solidFill>
                          <a:latin typeface="Calibri"/>
                        </a:rPr>
                        <a:t>1,304</a:t>
                      </a:r>
                    </a:p>
                  </a:txBody>
                  <a:tcPr marL="85725" marR="38100" marT="19050" marB="19050" anchor="ctr">
                    <a:solidFill>
                      <a:srgbClr val="F5F8FA"/>
                    </a:solidFill>
                  </a:tcPr>
                </a:tc>
                <a:tc>
                  <a:txBody>
                    <a:bodyPr wrap="none"/>
                    <a:lstStyle/>
                    <a:p>
                      <a:pPr algn="l"/>
                      <a:r>
                        <a:rPr sz="800" b="0">
                          <a:solidFill>
                            <a:srgbClr val="2E2E2E"/>
                          </a:solidFill>
                          <a:latin typeface="Calibri"/>
                        </a:rPr>
                        <a:t>1,383</a:t>
                      </a:r>
                    </a:p>
                  </a:txBody>
                  <a:tcPr marL="85725" marR="38100" marT="19050" marB="19050" anchor="ctr">
                    <a:solidFill>
                      <a:srgbClr val="F5F8FA"/>
                    </a:solidFill>
                  </a:tcPr>
                </a:tc>
                <a:tc>
                  <a:txBody>
                    <a:bodyPr wrap="none"/>
                    <a:lstStyle/>
                    <a:p>
                      <a:pPr algn="l"/>
                      <a:r>
                        <a:rPr sz="800" b="0">
                          <a:solidFill>
                            <a:srgbClr val="2E2E2E"/>
                          </a:solidFill>
                          <a:latin typeface="Calibri"/>
                        </a:rPr>
                        <a:t>1,463</a:t>
                      </a:r>
                    </a:p>
                  </a:txBody>
                  <a:tcPr marL="85725" marR="38100" marT="19050" marB="19050" anchor="ctr">
                    <a:solidFill>
                      <a:srgbClr val="F5F8FA"/>
                    </a:solidFill>
                  </a:tcPr>
                </a:tc>
                <a:tc>
                  <a:txBody>
                    <a:bodyPr wrap="none"/>
                    <a:lstStyle/>
                    <a:p>
                      <a:pPr algn="l"/>
                      <a:r>
                        <a:rPr sz="800" b="0">
                          <a:solidFill>
                            <a:srgbClr val="2E2E2E"/>
                          </a:solidFill>
                          <a:latin typeface="Calibri"/>
                        </a:rPr>
                        <a:t>1,544</a:t>
                      </a:r>
                    </a:p>
                  </a:txBody>
                  <a:tcPr marL="85725" marR="38100" marT="19050" marB="19050" anchor="ctr">
                    <a:solidFill>
                      <a:srgbClr val="F5F8FA"/>
                    </a:solidFill>
                  </a:tcPr>
                </a:tc>
                <a:tc>
                  <a:txBody>
                    <a:bodyPr wrap="none"/>
                    <a:lstStyle/>
                    <a:p>
                      <a:pPr algn="l"/>
                      <a:r>
                        <a:rPr sz="800" b="0">
                          <a:solidFill>
                            <a:srgbClr val="2E2E2E"/>
                          </a:solidFill>
                          <a:latin typeface="Calibri"/>
                        </a:rPr>
                        <a:t>1,627</a:t>
                      </a:r>
                    </a:p>
                  </a:txBody>
                  <a:tcPr marL="85725" marR="38100" marT="19050" marB="19050" anchor="ctr">
                    <a:solidFill>
                      <a:srgbClr val="F5F8FA"/>
                    </a:solidFill>
                  </a:tcPr>
                </a:tc>
                <a:tc>
                  <a:txBody>
                    <a:bodyPr wrap="none"/>
                    <a:lstStyle/>
                    <a:p>
                      <a:pPr algn="l"/>
                      <a:r>
                        <a:rPr sz="800" b="0">
                          <a:solidFill>
                            <a:srgbClr val="2E2E2E"/>
                          </a:solidFill>
                          <a:latin typeface="Calibri"/>
                        </a:rPr>
                        <a:t>1,711</a:t>
                      </a:r>
                    </a:p>
                  </a:txBody>
                  <a:tcPr marL="85725" marR="38100" marT="19050" marB="19050" anchor="ctr">
                    <a:solidFill>
                      <a:srgbClr val="F5F8FA"/>
                    </a:solidFill>
                  </a:tcPr>
                </a:tc>
                <a:tc>
                  <a:txBody>
                    <a:bodyPr wrap="none"/>
                    <a:lstStyle/>
                    <a:p>
                      <a:pPr algn="l"/>
                      <a:r>
                        <a:rPr sz="800" b="0">
                          <a:solidFill>
                            <a:srgbClr val="2E2E2E"/>
                          </a:solidFill>
                          <a:latin typeface="Calibri"/>
                        </a:rPr>
                        <a:t>1,799</a:t>
                      </a:r>
                    </a:p>
                  </a:txBody>
                  <a:tcPr marL="85725" marR="38100" marT="19050" marB="19050" anchor="ctr">
                    <a:solidFill>
                      <a:srgbClr val="F5F8FA"/>
                    </a:solidFill>
                  </a:tcPr>
                </a:tc>
                <a:tc>
                  <a:txBody>
                    <a:bodyPr wrap="none"/>
                    <a:lstStyle/>
                    <a:p>
                      <a:pPr algn="l"/>
                      <a:r>
                        <a:rPr sz="800" b="0">
                          <a:solidFill>
                            <a:srgbClr val="2E2E2E"/>
                          </a:solidFill>
                          <a:latin typeface="Calibri"/>
                        </a:rPr>
                        <a:t>1,889</a:t>
                      </a:r>
                    </a:p>
                  </a:txBody>
                  <a:tcPr marL="85725" marR="38100" marT="19050" marB="19050" anchor="ctr">
                    <a:solidFill>
                      <a:srgbClr val="F5F8FA"/>
                    </a:solidFill>
                  </a:tcPr>
                </a:tc>
                <a:tc>
                  <a:txBody>
                    <a:bodyPr wrap="none"/>
                    <a:lstStyle/>
                    <a:p>
                      <a:pPr algn="l"/>
                      <a:r>
                        <a:rPr sz="800" b="0">
                          <a:solidFill>
                            <a:srgbClr val="2E2E2E"/>
                          </a:solidFill>
                          <a:latin typeface="Calibri"/>
                        </a:rPr>
                        <a:t>1,982</a:t>
                      </a:r>
                    </a:p>
                  </a:txBody>
                  <a:tcPr marL="85725" marR="38100" marT="19050" marB="19050" anchor="ctr">
                    <a:solidFill>
                      <a:srgbClr val="F5F8FA"/>
                    </a:solidFill>
                  </a:tcPr>
                </a:tc>
                <a:tc>
                  <a:txBody>
                    <a:bodyPr wrap="none"/>
                    <a:lstStyle/>
                    <a:p>
                      <a:pPr algn="l"/>
                      <a:r>
                        <a:rPr sz="800" b="0">
                          <a:solidFill>
                            <a:srgbClr val="2E2E2E"/>
                          </a:solidFill>
                          <a:latin typeface="Calibri"/>
                        </a:rPr>
                        <a:t>5.5%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0">
                          <a:solidFill>
                            <a:srgbClr val="2E2E2E"/>
                          </a:solidFill>
                          <a:latin typeface="Calibri"/>
                        </a:rPr>
                        <a:t>290.3</a:t>
                      </a:r>
                    </a:p>
                  </a:txBody>
                  <a:tcPr marL="85725" marR="38100" marT="19050" marB="19050" anchor="ctr">
                    <a:solidFill>
                      <a:srgbClr val="FFFFFF"/>
                    </a:solidFill>
                  </a:tcPr>
                </a:tc>
                <a:tc>
                  <a:txBody>
                    <a:bodyPr wrap="none"/>
                    <a:lstStyle/>
                    <a:p>
                      <a:pPr algn="l"/>
                      <a:r>
                        <a:rPr sz="800" b="0">
                          <a:solidFill>
                            <a:srgbClr val="2E2E2E"/>
                          </a:solidFill>
                          <a:latin typeface="Calibri"/>
                        </a:rPr>
                        <a:t>306.8</a:t>
                      </a:r>
                    </a:p>
                  </a:txBody>
                  <a:tcPr marL="85725" marR="38100" marT="19050" marB="19050" anchor="ctr">
                    <a:solidFill>
                      <a:srgbClr val="FFFFFF"/>
                    </a:solidFill>
                  </a:tcPr>
                </a:tc>
                <a:tc>
                  <a:txBody>
                    <a:bodyPr wrap="none"/>
                    <a:lstStyle/>
                    <a:p>
                      <a:pPr algn="l"/>
                      <a:r>
                        <a:rPr sz="800" b="0">
                          <a:solidFill>
                            <a:srgbClr val="2E2E2E"/>
                          </a:solidFill>
                          <a:latin typeface="Calibri"/>
                        </a:rPr>
                        <a:t>325.0</a:t>
                      </a:r>
                    </a:p>
                  </a:txBody>
                  <a:tcPr marL="85725" marR="38100" marT="19050" marB="19050" anchor="ctr">
                    <a:solidFill>
                      <a:srgbClr val="FFFFFF"/>
                    </a:solidFill>
                  </a:tcPr>
                </a:tc>
                <a:tc>
                  <a:txBody>
                    <a:bodyPr wrap="none"/>
                    <a:lstStyle/>
                    <a:p>
                      <a:pPr algn="l"/>
                      <a:r>
                        <a:rPr sz="800" b="0">
                          <a:solidFill>
                            <a:srgbClr val="2E2E2E"/>
                          </a:solidFill>
                          <a:latin typeface="Calibri"/>
                        </a:rPr>
                        <a:t>345.3</a:t>
                      </a:r>
                    </a:p>
                  </a:txBody>
                  <a:tcPr marL="85725" marR="38100" marT="19050" marB="19050" anchor="ctr">
                    <a:solidFill>
                      <a:srgbClr val="FFFFFF"/>
                    </a:solidFill>
                  </a:tcPr>
                </a:tc>
                <a:tc>
                  <a:txBody>
                    <a:bodyPr wrap="none"/>
                    <a:lstStyle/>
                    <a:p>
                      <a:pPr algn="l"/>
                      <a:r>
                        <a:rPr sz="800" b="0">
                          <a:solidFill>
                            <a:srgbClr val="2E2E2E"/>
                          </a:solidFill>
                          <a:latin typeface="Calibri"/>
                        </a:rPr>
                        <a:t>368.4</a:t>
                      </a:r>
                    </a:p>
                  </a:txBody>
                  <a:tcPr marL="85725" marR="38100" marT="19050" marB="19050" anchor="ctr">
                    <a:solidFill>
                      <a:srgbClr val="FFFFFF"/>
                    </a:solidFill>
                  </a:tcPr>
                </a:tc>
                <a:tc>
                  <a:txBody>
                    <a:bodyPr wrap="none"/>
                    <a:lstStyle/>
                    <a:p>
                      <a:pPr algn="l"/>
                      <a:r>
                        <a:rPr sz="800" b="0">
                          <a:solidFill>
                            <a:srgbClr val="2E2E2E"/>
                          </a:solidFill>
                          <a:latin typeface="Calibri"/>
                        </a:rPr>
                        <a:t>394.4</a:t>
                      </a:r>
                    </a:p>
                  </a:txBody>
                  <a:tcPr marL="85725" marR="38100" marT="19050" marB="19050" anchor="ctr">
                    <a:solidFill>
                      <a:srgbClr val="FFFFFF"/>
                    </a:solidFill>
                  </a:tcPr>
                </a:tc>
                <a:tc>
                  <a:txBody>
                    <a:bodyPr wrap="none"/>
                    <a:lstStyle/>
                    <a:p>
                      <a:pPr algn="l"/>
                      <a:r>
                        <a:rPr sz="800" b="0">
                          <a:solidFill>
                            <a:srgbClr val="2E2E2E"/>
                          </a:solidFill>
                          <a:latin typeface="Calibri"/>
                        </a:rPr>
                        <a:t>423.5</a:t>
                      </a:r>
                    </a:p>
                  </a:txBody>
                  <a:tcPr marL="85725" marR="38100" marT="19050" marB="19050" anchor="ctr">
                    <a:solidFill>
                      <a:srgbClr val="FFFFFF"/>
                    </a:solidFill>
                  </a:tcPr>
                </a:tc>
                <a:tc>
                  <a:txBody>
                    <a:bodyPr wrap="none"/>
                    <a:lstStyle/>
                    <a:p>
                      <a:pPr algn="l"/>
                      <a:r>
                        <a:rPr sz="800" b="0">
                          <a:solidFill>
                            <a:srgbClr val="2E2E2E"/>
                          </a:solidFill>
                          <a:latin typeface="Calibri"/>
                        </a:rPr>
                        <a:t>455.4</a:t>
                      </a:r>
                    </a:p>
                  </a:txBody>
                  <a:tcPr marL="85725" marR="38100" marT="19050" marB="19050" anchor="ctr">
                    <a:solidFill>
                      <a:srgbClr val="FFFFFF"/>
                    </a:solidFill>
                  </a:tcPr>
                </a:tc>
                <a:tc>
                  <a:txBody>
                    <a:bodyPr wrap="none"/>
                    <a:lstStyle/>
                    <a:p>
                      <a:pPr algn="l"/>
                      <a:r>
                        <a:rPr sz="800" b="0">
                          <a:solidFill>
                            <a:srgbClr val="2E2E2E"/>
                          </a:solidFill>
                          <a:latin typeface="Calibri"/>
                        </a:rPr>
                        <a:t>489.8</a:t>
                      </a:r>
                    </a:p>
                  </a:txBody>
                  <a:tcPr marL="85725" marR="38100" marT="19050" marB="19050" anchor="ctr">
                    <a:solidFill>
                      <a:srgbClr val="FFFFFF"/>
                    </a:solidFill>
                  </a:tcPr>
                </a:tc>
                <a:tc>
                  <a:txBody>
                    <a:bodyPr wrap="none"/>
                    <a:lstStyle/>
                    <a:p>
                      <a:pPr algn="l"/>
                      <a:r>
                        <a:rPr sz="800" b="0">
                          <a:solidFill>
                            <a:srgbClr val="2E2E2E"/>
                          </a:solidFill>
                          <a:latin typeface="Calibri"/>
                        </a:rPr>
                        <a:t>526.1</a:t>
                      </a:r>
                    </a:p>
                  </a:txBody>
                  <a:tcPr marL="85725" marR="38100" marT="19050" marB="19050" anchor="ctr">
                    <a:solidFill>
                      <a:srgbClr val="FFFFFF"/>
                    </a:solidFill>
                  </a:tcPr>
                </a:tc>
                <a:tc>
                  <a:txBody>
                    <a:bodyPr wrap="none"/>
                    <a:lstStyle/>
                    <a:p>
                      <a:pPr algn="l"/>
                      <a:r>
                        <a:rPr sz="800" b="0">
                          <a:solidFill>
                            <a:srgbClr val="2E2E2E"/>
                          </a:solidFill>
                          <a:latin typeface="Calibri"/>
                        </a:rPr>
                        <a:t>564.0</a:t>
                      </a:r>
                    </a:p>
                  </a:txBody>
                  <a:tcPr marL="85725" marR="38100" marT="19050" marB="19050" anchor="ctr">
                    <a:solidFill>
                      <a:srgbClr val="FFFFFF"/>
                    </a:solidFill>
                  </a:tcPr>
                </a:tc>
                <a:tc>
                  <a:txBody>
                    <a:bodyPr wrap="none"/>
                    <a:lstStyle/>
                    <a:p>
                      <a:pPr algn="l"/>
                      <a:r>
                        <a:rPr sz="800" b="0">
                          <a:solidFill>
                            <a:srgbClr val="2E2E2E"/>
                          </a:solidFill>
                          <a:latin typeface="Calibri"/>
                        </a:rPr>
                        <a:t>603.8</a:t>
                      </a:r>
                    </a:p>
                  </a:txBody>
                  <a:tcPr marL="85725" marR="38100" marT="19050" marB="19050" anchor="ctr">
                    <a:solidFill>
                      <a:srgbClr val="FFFFFF"/>
                    </a:solidFill>
                  </a:tcPr>
                </a:tc>
                <a:tc>
                  <a:txBody>
                    <a:bodyPr wrap="none"/>
                    <a:lstStyle/>
                    <a:p>
                      <a:pPr algn="l"/>
                      <a:r>
                        <a:rPr sz="800" b="0">
                          <a:solidFill>
                            <a:srgbClr val="2E2E2E"/>
                          </a:solidFill>
                          <a:latin typeface="Calibri"/>
                        </a:rPr>
                        <a:t>645.3</a:t>
                      </a:r>
                    </a:p>
                  </a:txBody>
                  <a:tcPr marL="85725" marR="38100" marT="19050" marB="19050" anchor="ctr">
                    <a:solidFill>
                      <a:srgbClr val="FFFFFF"/>
                    </a:solidFill>
                  </a:tcPr>
                </a:tc>
                <a:tc>
                  <a:txBody>
                    <a:bodyPr wrap="none"/>
                    <a:lstStyle/>
                    <a:p>
                      <a:pPr algn="l"/>
                      <a:r>
                        <a:rPr sz="800" b="0">
                          <a:solidFill>
                            <a:srgbClr val="2E2E2E"/>
                          </a:solidFill>
                          <a:latin typeface="Calibri"/>
                        </a:rPr>
                        <a:t>689.9</a:t>
                      </a:r>
                    </a:p>
                  </a:txBody>
                  <a:tcPr marL="85725" marR="38100" marT="19050" marB="19050" anchor="ctr">
                    <a:solidFill>
                      <a:srgbClr val="FFFFFF"/>
                    </a:solidFill>
                  </a:tcPr>
                </a:tc>
                <a:tc>
                  <a:txBody>
                    <a:bodyPr wrap="none"/>
                    <a:lstStyle/>
                    <a:p>
                      <a:pPr algn="l"/>
                      <a:r>
                        <a:rPr sz="800" b="0">
                          <a:solidFill>
                            <a:srgbClr val="2E2E2E"/>
                          </a:solidFill>
                          <a:latin typeface="Calibri"/>
                        </a:rPr>
                        <a:t>736.5</a:t>
                      </a:r>
                    </a:p>
                  </a:txBody>
                  <a:tcPr marL="85725" marR="38100" marT="19050" marB="19050" anchor="ctr">
                    <a:solidFill>
                      <a:srgbClr val="FFFFFF"/>
                    </a:solidFill>
                  </a:tcPr>
                </a:tc>
                <a:tc>
                  <a:txBody>
                    <a:bodyPr wrap="none"/>
                    <a:lstStyle/>
                    <a:p>
                      <a:pPr algn="l"/>
                      <a:r>
                        <a:rPr sz="800" b="0">
                          <a:solidFill>
                            <a:srgbClr val="2E2E2E"/>
                          </a:solidFill>
                          <a:latin typeface="Calibri"/>
                        </a:rPr>
                        <a:t>786.1</a:t>
                      </a:r>
                    </a:p>
                  </a:txBody>
                  <a:tcPr marL="85725" marR="38100" marT="19050" marB="19050" anchor="ctr">
                    <a:solidFill>
                      <a:srgbClr val="FFFFFF"/>
                    </a:solidFill>
                  </a:tcPr>
                </a:tc>
                <a:tc>
                  <a:txBody>
                    <a:bodyPr wrap="none"/>
                    <a:lstStyle/>
                    <a:p>
                      <a:pPr algn="l"/>
                      <a:r>
                        <a:rPr sz="800" b="0">
                          <a:solidFill>
                            <a:srgbClr val="2E2E2E"/>
                          </a:solidFill>
                          <a:latin typeface="Calibri"/>
                        </a:rPr>
                        <a:t>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0">
                          <a:solidFill>
                            <a:srgbClr val="2E2E2E"/>
                          </a:solidFill>
                          <a:latin typeface="Calibri"/>
                        </a:rPr>
                        <a:t>296.1</a:t>
                      </a:r>
                    </a:p>
                  </a:txBody>
                  <a:tcPr marL="85725" marR="38100" marT="19050" marB="19050" anchor="ctr">
                    <a:solidFill>
                      <a:srgbClr val="F5F8FA"/>
                    </a:solidFill>
                  </a:tcPr>
                </a:tc>
                <a:tc>
                  <a:txBody>
                    <a:bodyPr wrap="none"/>
                    <a:lstStyle/>
                    <a:p>
                      <a:pPr algn="l"/>
                      <a:r>
                        <a:rPr sz="800" b="0">
                          <a:solidFill>
                            <a:srgbClr val="2E2E2E"/>
                          </a:solidFill>
                          <a:latin typeface="Calibri"/>
                        </a:rPr>
                        <a:t>324.5</a:t>
                      </a:r>
                    </a:p>
                  </a:txBody>
                  <a:tcPr marL="85725" marR="38100" marT="19050" marB="19050" anchor="ctr">
                    <a:solidFill>
                      <a:srgbClr val="F5F8FA"/>
                    </a:solidFill>
                  </a:tcPr>
                </a:tc>
                <a:tc>
                  <a:txBody>
                    <a:bodyPr wrap="none"/>
                    <a:lstStyle/>
                    <a:p>
                      <a:pPr algn="l"/>
                      <a:r>
                        <a:rPr sz="800" b="0">
                          <a:solidFill>
                            <a:srgbClr val="2E2E2E"/>
                          </a:solidFill>
                          <a:latin typeface="Calibri"/>
                        </a:rPr>
                        <a:t>356.6</a:t>
                      </a:r>
                    </a:p>
                  </a:txBody>
                  <a:tcPr marL="85725" marR="38100" marT="19050" marB="19050" anchor="ctr">
                    <a:solidFill>
                      <a:srgbClr val="F5F8FA"/>
                    </a:solidFill>
                  </a:tcPr>
                </a:tc>
                <a:tc>
                  <a:txBody>
                    <a:bodyPr wrap="none"/>
                    <a:lstStyle/>
                    <a:p>
                      <a:pPr algn="l"/>
                      <a:r>
                        <a:rPr sz="800" b="0">
                          <a:solidFill>
                            <a:srgbClr val="2E2E2E"/>
                          </a:solidFill>
                          <a:latin typeface="Calibri"/>
                        </a:rPr>
                        <a:t>393.1</a:t>
                      </a:r>
                    </a:p>
                  </a:txBody>
                  <a:tcPr marL="85725" marR="38100" marT="19050" marB="19050" anchor="ctr">
                    <a:solidFill>
                      <a:srgbClr val="F5F8FA"/>
                    </a:solidFill>
                  </a:tcPr>
                </a:tc>
                <a:tc>
                  <a:txBody>
                    <a:bodyPr wrap="none"/>
                    <a:lstStyle/>
                    <a:p>
                      <a:pPr algn="l"/>
                      <a:r>
                        <a:rPr sz="800" b="0">
                          <a:solidFill>
                            <a:srgbClr val="2E2E2E"/>
                          </a:solidFill>
                          <a:latin typeface="Calibri"/>
                        </a:rPr>
                        <a:t>435.2</a:t>
                      </a:r>
                    </a:p>
                  </a:txBody>
                  <a:tcPr marL="85725" marR="38100" marT="19050" marB="19050" anchor="ctr">
                    <a:solidFill>
                      <a:srgbClr val="F5F8FA"/>
                    </a:solidFill>
                  </a:tcPr>
                </a:tc>
                <a:tc>
                  <a:txBody>
                    <a:bodyPr wrap="none"/>
                    <a:lstStyle/>
                    <a:p>
                      <a:pPr algn="l"/>
                      <a:r>
                        <a:rPr sz="800" b="0">
                          <a:solidFill>
                            <a:srgbClr val="2E2E2E"/>
                          </a:solidFill>
                          <a:latin typeface="Calibri"/>
                        </a:rPr>
                        <a:t>484.1</a:t>
                      </a:r>
                    </a:p>
                  </a:txBody>
                  <a:tcPr marL="85725" marR="38100" marT="19050" marB="19050" anchor="ctr">
                    <a:solidFill>
                      <a:srgbClr val="F5F8FA"/>
                    </a:solidFill>
                  </a:tcPr>
                </a:tc>
                <a:tc>
                  <a:txBody>
                    <a:bodyPr wrap="none"/>
                    <a:lstStyle/>
                    <a:p>
                      <a:pPr algn="l"/>
                      <a:r>
                        <a:rPr sz="800" b="0">
                          <a:solidFill>
                            <a:srgbClr val="2E2E2E"/>
                          </a:solidFill>
                          <a:latin typeface="Calibri"/>
                        </a:rPr>
                        <a:t>540.0</a:t>
                      </a:r>
                    </a:p>
                  </a:txBody>
                  <a:tcPr marL="85725" marR="38100" marT="19050" marB="19050" anchor="ctr">
                    <a:solidFill>
                      <a:srgbClr val="F5F8FA"/>
                    </a:solidFill>
                  </a:tcPr>
                </a:tc>
                <a:tc>
                  <a:txBody>
                    <a:bodyPr wrap="none"/>
                    <a:lstStyle/>
                    <a:p>
                      <a:pPr algn="l"/>
                      <a:r>
                        <a:rPr sz="800" b="0">
                          <a:solidFill>
                            <a:srgbClr val="2E2E2E"/>
                          </a:solidFill>
                          <a:latin typeface="Calibri"/>
                        </a:rPr>
                        <a:t>603.1</a:t>
                      </a:r>
                    </a:p>
                  </a:txBody>
                  <a:tcPr marL="85725" marR="38100" marT="19050" marB="19050" anchor="ctr">
                    <a:solidFill>
                      <a:srgbClr val="F5F8FA"/>
                    </a:solidFill>
                  </a:tcPr>
                </a:tc>
                <a:tc>
                  <a:txBody>
                    <a:bodyPr wrap="none"/>
                    <a:lstStyle/>
                    <a:p>
                      <a:pPr algn="l"/>
                      <a:r>
                        <a:rPr sz="800" b="0">
                          <a:solidFill>
                            <a:srgbClr val="2E2E2E"/>
                          </a:solidFill>
                          <a:latin typeface="Calibri"/>
                        </a:rPr>
                        <a:t>673.6</a:t>
                      </a:r>
                    </a:p>
                  </a:txBody>
                  <a:tcPr marL="85725" marR="38100" marT="19050" marB="19050" anchor="ctr">
                    <a:solidFill>
                      <a:srgbClr val="F5F8FA"/>
                    </a:solidFill>
                  </a:tcPr>
                </a:tc>
                <a:tc>
                  <a:txBody>
                    <a:bodyPr wrap="none"/>
                    <a:lstStyle/>
                    <a:p>
                      <a:pPr algn="l"/>
                      <a:r>
                        <a:rPr sz="800" b="0">
                          <a:solidFill>
                            <a:srgbClr val="2E2E2E"/>
                          </a:solidFill>
                          <a:latin typeface="Calibri"/>
                        </a:rPr>
                        <a:t>751.1</a:t>
                      </a:r>
                    </a:p>
                  </a:txBody>
                  <a:tcPr marL="85725" marR="38100" marT="19050" marB="19050" anchor="ctr">
                    <a:solidFill>
                      <a:srgbClr val="F5F8FA"/>
                    </a:solidFill>
                  </a:tcPr>
                </a:tc>
                <a:tc>
                  <a:txBody>
                    <a:bodyPr wrap="none"/>
                    <a:lstStyle/>
                    <a:p>
                      <a:pPr algn="l"/>
                      <a:r>
                        <a:rPr sz="800" b="0">
                          <a:solidFill>
                            <a:srgbClr val="2E2E2E"/>
                          </a:solidFill>
                          <a:latin typeface="Calibri"/>
                        </a:rPr>
                        <a:t>836.2</a:t>
                      </a:r>
                    </a:p>
                  </a:txBody>
                  <a:tcPr marL="85725" marR="38100" marT="19050" marB="19050" anchor="ctr">
                    <a:solidFill>
                      <a:srgbClr val="F5F8FA"/>
                    </a:solidFill>
                  </a:tcPr>
                </a:tc>
                <a:tc>
                  <a:txBody>
                    <a:bodyPr wrap="none"/>
                    <a:lstStyle/>
                    <a:p>
                      <a:pPr algn="l"/>
                      <a:r>
                        <a:rPr sz="800" b="0">
                          <a:solidFill>
                            <a:srgbClr val="2E2E2E"/>
                          </a:solidFill>
                          <a:latin typeface="Calibri"/>
                        </a:rPr>
                        <a:t>929.5</a:t>
                      </a:r>
                    </a:p>
                  </a:txBody>
                  <a:tcPr marL="85725" marR="38100" marT="19050" marB="19050" anchor="ctr">
                    <a:solidFill>
                      <a:srgbClr val="F5F8FA"/>
                    </a:solidFill>
                  </a:tcPr>
                </a:tc>
                <a:tc>
                  <a:txBody>
                    <a:bodyPr wrap="none"/>
                    <a:lstStyle/>
                    <a:p>
                      <a:pPr algn="l"/>
                      <a:r>
                        <a:rPr sz="800" b="0">
                          <a:solidFill>
                            <a:srgbClr val="2E2E2E"/>
                          </a:solidFill>
                          <a:latin typeface="Calibri"/>
                        </a:rPr>
                        <a:t>1,031</a:t>
                      </a:r>
                    </a:p>
                  </a:txBody>
                  <a:tcPr marL="85725" marR="38100" marT="19050" marB="19050" anchor="ctr">
                    <a:solidFill>
                      <a:srgbClr val="F5F8FA"/>
                    </a:solidFill>
                  </a:tcPr>
                </a:tc>
                <a:tc>
                  <a:txBody>
                    <a:bodyPr wrap="none"/>
                    <a:lstStyle/>
                    <a:p>
                      <a:pPr algn="l"/>
                      <a:r>
                        <a:rPr sz="800" b="0">
                          <a:solidFill>
                            <a:srgbClr val="2E2E2E"/>
                          </a:solidFill>
                          <a:latin typeface="Calibri"/>
                        </a:rPr>
                        <a:t>1,145</a:t>
                      </a:r>
                    </a:p>
                  </a:txBody>
                  <a:tcPr marL="85725" marR="38100" marT="19050" marB="19050" anchor="ctr">
                    <a:solidFill>
                      <a:srgbClr val="F5F8FA"/>
                    </a:solidFill>
                  </a:tcPr>
                </a:tc>
                <a:tc>
                  <a:txBody>
                    <a:bodyPr wrap="none"/>
                    <a:lstStyle/>
                    <a:p>
                      <a:pPr algn="l"/>
                      <a:r>
                        <a:rPr sz="800" b="0">
                          <a:solidFill>
                            <a:srgbClr val="2E2E2E"/>
                          </a:solidFill>
                          <a:latin typeface="Calibri"/>
                        </a:rPr>
                        <a:t>1,268</a:t>
                      </a:r>
                    </a:p>
                  </a:txBody>
                  <a:tcPr marL="85725" marR="38100" marT="19050" marB="19050" anchor="ctr">
                    <a:solidFill>
                      <a:srgbClr val="F5F8FA"/>
                    </a:solidFill>
                  </a:tcPr>
                </a:tc>
                <a:tc>
                  <a:txBody>
                    <a:bodyPr wrap="none"/>
                    <a:lstStyle/>
                    <a:p>
                      <a:pPr algn="l"/>
                      <a:r>
                        <a:rPr sz="800" b="0">
                          <a:solidFill>
                            <a:srgbClr val="2E2E2E"/>
                          </a:solidFill>
                          <a:latin typeface="Calibri"/>
                        </a:rPr>
                        <a:t>1,406</a:t>
                      </a:r>
                    </a:p>
                  </a:txBody>
                  <a:tcPr marL="85725" marR="38100" marT="19050" marB="19050" anchor="ctr">
                    <a:solidFill>
                      <a:srgbClr val="F5F8FA"/>
                    </a:solidFill>
                  </a:tcPr>
                </a:tc>
                <a:tc>
                  <a:txBody>
                    <a:bodyPr wrap="none"/>
                    <a:lstStyle/>
                    <a:p>
                      <a:pPr algn="l"/>
                      <a:r>
                        <a:rPr sz="800" b="0">
                          <a:solidFill>
                            <a:srgbClr val="2E2E2E"/>
                          </a:solidFill>
                          <a:latin typeface="Calibri"/>
                        </a:rPr>
                        <a:t>11.2%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2,100</a:t>
                      </a:r>
                    </a:p>
                  </a:txBody>
                  <a:tcPr marL="85725" marR="38100" marT="19050" marB="19050" anchor="ctr">
                    <a:solidFill>
                      <a:srgbClr val="E0E8EF"/>
                    </a:solidFill>
                  </a:tcPr>
                </a:tc>
                <a:tc>
                  <a:txBody>
                    <a:bodyPr wrap="none"/>
                    <a:lstStyle/>
                    <a:p>
                      <a:pPr algn="l"/>
                      <a:r>
                        <a:rPr sz="800" b="1">
                          <a:solidFill>
                            <a:srgbClr val="2E2E2E"/>
                          </a:solidFill>
                          <a:latin typeface="Calibri"/>
                        </a:rPr>
                        <a:t>2,215</a:t>
                      </a:r>
                    </a:p>
                  </a:txBody>
                  <a:tcPr marL="85725" marR="38100" marT="19050" marB="19050" anchor="ctr">
                    <a:solidFill>
                      <a:srgbClr val="E0E8EF"/>
                    </a:solidFill>
                  </a:tcPr>
                </a:tc>
                <a:tc>
                  <a:txBody>
                    <a:bodyPr wrap="none"/>
                    <a:lstStyle/>
                    <a:p>
                      <a:pPr algn="l"/>
                      <a:r>
                        <a:rPr sz="800" b="1">
                          <a:solidFill>
                            <a:srgbClr val="2E2E2E"/>
                          </a:solidFill>
                          <a:latin typeface="Calibri"/>
                        </a:rPr>
                        <a:t>2,341</a:t>
                      </a:r>
                    </a:p>
                  </a:txBody>
                  <a:tcPr marL="85725" marR="38100" marT="19050" marB="19050" anchor="ctr">
                    <a:solidFill>
                      <a:srgbClr val="E0E8EF"/>
                    </a:solidFill>
                  </a:tcPr>
                </a:tc>
                <a:tc>
                  <a:txBody>
                    <a:bodyPr wrap="none"/>
                    <a:lstStyle/>
                    <a:p>
                      <a:pPr algn="l"/>
                      <a:r>
                        <a:rPr sz="800" b="1">
                          <a:solidFill>
                            <a:srgbClr val="2E2E2E"/>
                          </a:solidFill>
                          <a:latin typeface="Calibri"/>
                        </a:rPr>
                        <a:t>2,482</a:t>
                      </a:r>
                    </a:p>
                  </a:txBody>
                  <a:tcPr marL="85725" marR="38100" marT="19050" marB="19050" anchor="ctr">
                    <a:solidFill>
                      <a:srgbClr val="E0E8EF"/>
                    </a:solidFill>
                  </a:tcPr>
                </a:tc>
                <a:tc>
                  <a:txBody>
                    <a:bodyPr wrap="none"/>
                    <a:lstStyle/>
                    <a:p>
                      <a:pPr algn="l"/>
                      <a:r>
                        <a:rPr sz="800" b="1">
                          <a:solidFill>
                            <a:srgbClr val="2E2E2E"/>
                          </a:solidFill>
                          <a:latin typeface="Calibri"/>
                        </a:rPr>
                        <a:t>2,641</a:t>
                      </a:r>
                    </a:p>
                  </a:txBody>
                  <a:tcPr marL="85725" marR="38100" marT="19050" marB="19050" anchor="ctr">
                    <a:solidFill>
                      <a:srgbClr val="E0E8EF"/>
                    </a:solidFill>
                  </a:tcPr>
                </a:tc>
                <a:tc>
                  <a:txBody>
                    <a:bodyPr wrap="none"/>
                    <a:lstStyle/>
                    <a:p>
                      <a:pPr algn="l"/>
                      <a:r>
                        <a:rPr sz="800" b="1">
                          <a:solidFill>
                            <a:srgbClr val="2E2E2E"/>
                          </a:solidFill>
                          <a:latin typeface="Calibri"/>
                        </a:rPr>
                        <a:t>2,822</a:t>
                      </a:r>
                    </a:p>
                  </a:txBody>
                  <a:tcPr marL="85725" marR="38100" marT="19050" marB="19050" anchor="ctr">
                    <a:solidFill>
                      <a:srgbClr val="E0E8EF"/>
                    </a:solidFill>
                  </a:tcPr>
                </a:tc>
                <a:tc>
                  <a:txBody>
                    <a:bodyPr wrap="none"/>
                    <a:lstStyle/>
                    <a:p>
                      <a:pPr algn="l"/>
                      <a:r>
                        <a:rPr sz="800" b="1">
                          <a:solidFill>
                            <a:srgbClr val="2E2E2E"/>
                          </a:solidFill>
                          <a:latin typeface="Calibri"/>
                        </a:rPr>
                        <a:t>3,025</a:t>
                      </a:r>
                    </a:p>
                  </a:txBody>
                  <a:tcPr marL="85725" marR="38100" marT="19050" marB="19050" anchor="ctr">
                    <a:solidFill>
                      <a:srgbClr val="E0E8EF"/>
                    </a:solidFill>
                  </a:tcPr>
                </a:tc>
                <a:tc>
                  <a:txBody>
                    <a:bodyPr wrap="none"/>
                    <a:lstStyle/>
                    <a:p>
                      <a:pPr algn="l"/>
                      <a:r>
                        <a:rPr sz="800" b="1">
                          <a:solidFill>
                            <a:srgbClr val="2E2E2E"/>
                          </a:solidFill>
                          <a:latin typeface="Calibri"/>
                        </a:rPr>
                        <a:t>3,247</a:t>
                      </a:r>
                    </a:p>
                  </a:txBody>
                  <a:tcPr marL="85725" marR="38100" marT="19050" marB="19050" anchor="ctr">
                    <a:solidFill>
                      <a:srgbClr val="E0E8EF"/>
                    </a:solidFill>
                  </a:tcPr>
                </a:tc>
                <a:tc>
                  <a:txBody>
                    <a:bodyPr wrap="none"/>
                    <a:lstStyle/>
                    <a:p>
                      <a:pPr algn="l"/>
                      <a:r>
                        <a:rPr sz="800" b="1">
                          <a:solidFill>
                            <a:srgbClr val="2E2E2E"/>
                          </a:solidFill>
                          <a:latin typeface="Calibri"/>
                        </a:rPr>
                        <a:t>3,486</a:t>
                      </a:r>
                    </a:p>
                  </a:txBody>
                  <a:tcPr marL="85725" marR="38100" marT="19050" marB="19050" anchor="ctr">
                    <a:solidFill>
                      <a:srgbClr val="E0E8EF"/>
                    </a:solidFill>
                  </a:tcPr>
                </a:tc>
                <a:tc>
                  <a:txBody>
                    <a:bodyPr wrap="none"/>
                    <a:lstStyle/>
                    <a:p>
                      <a:pPr algn="l"/>
                      <a:r>
                        <a:rPr sz="800" b="1">
                          <a:solidFill>
                            <a:srgbClr val="2E2E2E"/>
                          </a:solidFill>
                          <a:latin typeface="Calibri"/>
                        </a:rPr>
                        <a:t>3,738</a:t>
                      </a:r>
                    </a:p>
                  </a:txBody>
                  <a:tcPr marL="85725" marR="38100" marT="19050" marB="19050" anchor="ctr">
                    <a:solidFill>
                      <a:srgbClr val="E0E8EF"/>
                    </a:solidFill>
                  </a:tcPr>
                </a:tc>
                <a:tc>
                  <a:txBody>
                    <a:bodyPr wrap="none"/>
                    <a:lstStyle/>
                    <a:p>
                      <a:pPr algn="l"/>
                      <a:r>
                        <a:rPr sz="800" b="1">
                          <a:solidFill>
                            <a:srgbClr val="2E2E2E"/>
                          </a:solidFill>
                          <a:latin typeface="Calibri"/>
                        </a:rPr>
                        <a:t>4,003</a:t>
                      </a:r>
                    </a:p>
                  </a:txBody>
                  <a:tcPr marL="85725" marR="38100" marT="19050" marB="19050" anchor="ctr">
                    <a:solidFill>
                      <a:srgbClr val="E0E8EF"/>
                    </a:solidFill>
                  </a:tcPr>
                </a:tc>
                <a:tc>
                  <a:txBody>
                    <a:bodyPr wrap="none"/>
                    <a:lstStyle/>
                    <a:p>
                      <a:pPr algn="l"/>
                      <a:r>
                        <a:rPr sz="800" b="1">
                          <a:solidFill>
                            <a:srgbClr val="2E2E2E"/>
                          </a:solidFill>
                          <a:latin typeface="Calibri"/>
                        </a:rPr>
                        <a:t>4,280</a:t>
                      </a:r>
                    </a:p>
                  </a:txBody>
                  <a:tcPr marL="85725" marR="38100" marT="19050" marB="19050" anchor="ctr">
                    <a:solidFill>
                      <a:srgbClr val="E0E8EF"/>
                    </a:solidFill>
                  </a:tcPr>
                </a:tc>
                <a:tc>
                  <a:txBody>
                    <a:bodyPr wrap="none"/>
                    <a:lstStyle/>
                    <a:p>
                      <a:pPr algn="l"/>
                      <a:r>
                        <a:rPr sz="800" b="1">
                          <a:solidFill>
                            <a:srgbClr val="2E2E2E"/>
                          </a:solidFill>
                          <a:latin typeface="Calibri"/>
                        </a:rPr>
                        <a:t>4,571</a:t>
                      </a:r>
                    </a:p>
                  </a:txBody>
                  <a:tcPr marL="85725" marR="38100" marT="19050" marB="19050" anchor="ctr">
                    <a:solidFill>
                      <a:srgbClr val="E0E8EF"/>
                    </a:solidFill>
                  </a:tcPr>
                </a:tc>
                <a:tc>
                  <a:txBody>
                    <a:bodyPr wrap="none"/>
                    <a:lstStyle/>
                    <a:p>
                      <a:pPr algn="l"/>
                      <a:r>
                        <a:rPr sz="800" b="1">
                          <a:solidFill>
                            <a:srgbClr val="2E2E2E"/>
                          </a:solidFill>
                          <a:latin typeface="Calibri"/>
                        </a:rPr>
                        <a:t>4,884</a:t>
                      </a:r>
                    </a:p>
                  </a:txBody>
                  <a:tcPr marL="85725" marR="38100" marT="19050" marB="19050" anchor="ctr">
                    <a:solidFill>
                      <a:srgbClr val="E0E8EF"/>
                    </a:solidFill>
                  </a:tcPr>
                </a:tc>
                <a:tc>
                  <a:txBody>
                    <a:bodyPr wrap="none"/>
                    <a:lstStyle/>
                    <a:p>
                      <a:pPr algn="l"/>
                      <a:r>
                        <a:rPr sz="800" b="1">
                          <a:solidFill>
                            <a:srgbClr val="2E2E2E"/>
                          </a:solidFill>
                          <a:latin typeface="Calibri"/>
                        </a:rPr>
                        <a:t>5,213</a:t>
                      </a:r>
                    </a:p>
                  </a:txBody>
                  <a:tcPr marL="85725" marR="38100" marT="19050" marB="19050" anchor="ctr">
                    <a:solidFill>
                      <a:srgbClr val="E0E8EF"/>
                    </a:solidFill>
                  </a:tcPr>
                </a:tc>
                <a:tc>
                  <a:txBody>
                    <a:bodyPr wrap="none"/>
                    <a:lstStyle/>
                    <a:p>
                      <a:pPr algn="l"/>
                      <a:r>
                        <a:rPr sz="800" b="1">
                          <a:solidFill>
                            <a:srgbClr val="2E2E2E"/>
                          </a:solidFill>
                          <a:latin typeface="Calibri"/>
                        </a:rPr>
                        <a:t>5,566</a:t>
                      </a:r>
                    </a:p>
                  </a:txBody>
                  <a:tcPr marL="85725" marR="38100" marT="19050" marB="19050" anchor="ctr">
                    <a:solidFill>
                      <a:srgbClr val="E0E8EF"/>
                    </a:solidFill>
                  </a:tcPr>
                </a:tc>
                <a:tc>
                  <a:txBody>
                    <a:bodyPr wrap="none"/>
                    <a:lstStyle/>
                    <a:p>
                      <a:pPr algn="l"/>
                      <a:r>
                        <a:rPr sz="800" b="1">
                          <a:solidFill>
                            <a:srgbClr val="2E2E2E"/>
                          </a:solidFill>
                          <a:latin typeface="Calibri"/>
                        </a:rPr>
                        <a:t>7.0%</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Volume Analysis, By Distribution Channel</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'Medical Distributors &amp; Wholesalers' is the largest distribution channel at 35.6% of 2036 volume (1,982 Units).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'E-Commerce / DTC' grows fastest 11.2%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'E-Commerce / DTC' (+810 BPS) and away from 'Medical Distributors &amp; Wholesalers' (-555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volume rises from 2,822 to 5,566 Units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Analysis, By Distribution Channel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value by Distribution Channel, 2021–2036, highlighting the sub-segments driving growth</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133725"/>
          </a:xfrm>
          <a:prstGeom prst="roundRect">
            <a:avLst>
              <a:gd name="adj" fmla="val 243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By Distribution Channel (US$ Mn)</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0">
                          <a:solidFill>
                            <a:srgbClr val="2E2E2E"/>
                          </a:solidFill>
                          <a:latin typeface="Calibri"/>
                        </a:rPr>
                        <a:t>514.8</a:t>
                      </a:r>
                    </a:p>
                  </a:txBody>
                  <a:tcPr marL="85725" marR="38100" marT="19050" marB="19050" anchor="ctr">
                    <a:solidFill>
                      <a:srgbClr val="FFFFFF"/>
                    </a:solidFill>
                  </a:tcPr>
                </a:tc>
                <a:tc>
                  <a:txBody>
                    <a:bodyPr wrap="none"/>
                    <a:lstStyle/>
                    <a:p>
                      <a:pPr algn="l"/>
                      <a:r>
                        <a:rPr sz="800" b="0">
                          <a:solidFill>
                            <a:srgbClr val="2E2E2E"/>
                          </a:solidFill>
                          <a:latin typeface="Calibri"/>
                        </a:rPr>
                        <a:t>532.2</a:t>
                      </a:r>
                    </a:p>
                  </a:txBody>
                  <a:tcPr marL="85725" marR="38100" marT="19050" marB="19050" anchor="ctr">
                    <a:solidFill>
                      <a:srgbClr val="FFFFFF"/>
                    </a:solidFill>
                  </a:tcPr>
                </a:tc>
                <a:tc>
                  <a:txBody>
                    <a:bodyPr wrap="none"/>
                    <a:lstStyle/>
                    <a:p>
                      <a:pPr algn="l"/>
                      <a:r>
                        <a:rPr sz="800" b="0">
                          <a:solidFill>
                            <a:srgbClr val="2E2E2E"/>
                          </a:solidFill>
                          <a:latin typeface="Calibri"/>
                        </a:rPr>
                        <a:t>552.3</a:t>
                      </a:r>
                    </a:p>
                  </a:txBody>
                  <a:tcPr marL="85725" marR="38100" marT="19050" marB="19050" anchor="ctr">
                    <a:solidFill>
                      <a:srgbClr val="FFFFFF"/>
                    </a:solidFill>
                  </a:tcPr>
                </a:tc>
                <a:tc>
                  <a:txBody>
                    <a:bodyPr wrap="none"/>
                    <a:lstStyle/>
                    <a:p>
                      <a:pPr algn="l"/>
                      <a:r>
                        <a:rPr sz="800" b="0">
                          <a:solidFill>
                            <a:srgbClr val="2E2E2E"/>
                          </a:solidFill>
                          <a:latin typeface="Calibri"/>
                        </a:rPr>
                        <a:t>576.9</a:t>
                      </a:r>
                    </a:p>
                  </a:txBody>
                  <a:tcPr marL="85725" marR="38100" marT="19050" marB="19050" anchor="ctr">
                    <a:solidFill>
                      <a:srgbClr val="FFFFFF"/>
                    </a:solidFill>
                  </a:tcPr>
                </a:tc>
                <a:tc>
                  <a:txBody>
                    <a:bodyPr wrap="none"/>
                    <a:lstStyle/>
                    <a:p>
                      <a:pPr algn="l"/>
                      <a:r>
                        <a:rPr sz="800" b="0">
                          <a:solidFill>
                            <a:srgbClr val="2E2E2E"/>
                          </a:solidFill>
                          <a:latin typeface="Calibri"/>
                        </a:rPr>
                        <a:t>605.6</a:t>
                      </a:r>
                    </a:p>
                  </a:txBody>
                  <a:tcPr marL="85725" marR="38100" marT="19050" marB="19050" anchor="ctr">
                    <a:solidFill>
                      <a:srgbClr val="FFFFFF"/>
                    </a:solidFill>
                  </a:tcPr>
                </a:tc>
                <a:tc>
                  <a:txBody>
                    <a:bodyPr wrap="none"/>
                    <a:lstStyle/>
                    <a:p>
                      <a:pPr algn="l"/>
                      <a:r>
                        <a:rPr sz="800" b="0">
                          <a:solidFill>
                            <a:srgbClr val="2E2E2E"/>
                          </a:solidFill>
                          <a:latin typeface="Calibri"/>
                        </a:rPr>
                        <a:t>639.8</a:t>
                      </a:r>
                    </a:p>
                  </a:txBody>
                  <a:tcPr marL="85725" marR="38100" marT="19050" marB="19050" anchor="ctr">
                    <a:solidFill>
                      <a:srgbClr val="FFFFFF"/>
                    </a:solidFill>
                  </a:tcPr>
                </a:tc>
                <a:tc>
                  <a:txBody>
                    <a:bodyPr wrap="none"/>
                    <a:lstStyle/>
                    <a:p>
                      <a:pPr algn="l"/>
                      <a:r>
                        <a:rPr sz="800" b="0">
                          <a:solidFill>
                            <a:srgbClr val="2E2E2E"/>
                          </a:solidFill>
                          <a:latin typeface="Calibri"/>
                        </a:rPr>
                        <a:t>679.0</a:t>
                      </a:r>
                    </a:p>
                  </a:txBody>
                  <a:tcPr marL="85725" marR="38100" marT="19050" marB="19050" anchor="ctr">
                    <a:solidFill>
                      <a:srgbClr val="FFFFFF"/>
                    </a:solidFill>
                  </a:tcPr>
                </a:tc>
                <a:tc>
                  <a:txBody>
                    <a:bodyPr wrap="none"/>
                    <a:lstStyle/>
                    <a:p>
                      <a:pPr algn="l"/>
                      <a:r>
                        <a:rPr sz="800" b="0">
                          <a:solidFill>
                            <a:srgbClr val="2E2E2E"/>
                          </a:solidFill>
                          <a:latin typeface="Calibri"/>
                        </a:rPr>
                        <a:t>722.8</a:t>
                      </a:r>
                    </a:p>
                  </a:txBody>
                  <a:tcPr marL="85725" marR="38100" marT="19050" marB="19050" anchor="ctr">
                    <a:solidFill>
                      <a:srgbClr val="FFFFFF"/>
                    </a:solidFill>
                  </a:tcPr>
                </a:tc>
                <a:tc>
                  <a:txBody>
                    <a:bodyPr wrap="none"/>
                    <a:lstStyle/>
                    <a:p>
                      <a:pPr algn="l"/>
                      <a:r>
                        <a:rPr sz="800" b="0">
                          <a:solidFill>
                            <a:srgbClr val="2E2E2E"/>
                          </a:solidFill>
                          <a:latin typeface="Calibri"/>
                        </a:rPr>
                        <a:t>770.9</a:t>
                      </a:r>
                    </a:p>
                  </a:txBody>
                  <a:tcPr marL="85725" marR="38100" marT="19050" marB="19050" anchor="ctr">
                    <a:solidFill>
                      <a:srgbClr val="FFFFFF"/>
                    </a:solidFill>
                  </a:tcPr>
                </a:tc>
                <a:tc>
                  <a:txBody>
                    <a:bodyPr wrap="none"/>
                    <a:lstStyle/>
                    <a:p>
                      <a:pPr algn="l"/>
                      <a:r>
                        <a:rPr sz="800" b="0">
                          <a:solidFill>
                            <a:srgbClr val="2E2E2E"/>
                          </a:solidFill>
                          <a:latin typeface="Calibri"/>
                        </a:rPr>
                        <a:t>822.8</a:t>
                      </a:r>
                    </a:p>
                  </a:txBody>
                  <a:tcPr marL="85725" marR="38100" marT="19050" marB="19050" anchor="ctr">
                    <a:solidFill>
                      <a:srgbClr val="FFFFFF"/>
                    </a:solidFill>
                  </a:tcPr>
                </a:tc>
                <a:tc>
                  <a:txBody>
                    <a:bodyPr wrap="none"/>
                    <a:lstStyle/>
                    <a:p>
                      <a:pPr algn="l"/>
                      <a:r>
                        <a:rPr sz="800" b="0">
                          <a:solidFill>
                            <a:srgbClr val="2E2E2E"/>
                          </a:solidFill>
                          <a:latin typeface="Calibri"/>
                        </a:rPr>
                        <a:t>878.6</a:t>
                      </a:r>
                    </a:p>
                  </a:txBody>
                  <a:tcPr marL="85725" marR="38100" marT="19050" marB="19050" anchor="ctr">
                    <a:solidFill>
                      <a:srgbClr val="FFFFFF"/>
                    </a:solidFill>
                  </a:tcPr>
                </a:tc>
                <a:tc>
                  <a:txBody>
                    <a:bodyPr wrap="none"/>
                    <a:lstStyle/>
                    <a:p>
                      <a:pPr algn="l"/>
                      <a:r>
                        <a:rPr sz="800" b="0">
                          <a:solidFill>
                            <a:srgbClr val="2E2E2E"/>
                          </a:solidFill>
                          <a:latin typeface="Calibri"/>
                        </a:rPr>
                        <a:t>938.9</a:t>
                      </a:r>
                    </a:p>
                  </a:txBody>
                  <a:tcPr marL="85725" marR="38100" marT="19050" marB="19050" anchor="ctr">
                    <a:solidFill>
                      <a:srgbClr val="FFFFFF"/>
                    </a:solidFill>
                  </a:tcPr>
                </a:tc>
                <a:tc>
                  <a:txBody>
                    <a:bodyPr wrap="none"/>
                    <a:lstStyle/>
                    <a:p>
                      <a:pPr algn="l"/>
                      <a:r>
                        <a:rPr sz="800" b="0">
                          <a:solidFill>
                            <a:srgbClr val="2E2E2E"/>
                          </a:solidFill>
                          <a:latin typeface="Calibri"/>
                        </a:rPr>
                        <a:t>1,003</a:t>
                      </a:r>
                    </a:p>
                  </a:txBody>
                  <a:tcPr marL="85725" marR="38100" marT="19050" marB="19050" anchor="ctr">
                    <a:solidFill>
                      <a:srgbClr val="FFFFFF"/>
                    </a:solidFill>
                  </a:tcPr>
                </a:tc>
                <a:tc>
                  <a:txBody>
                    <a:bodyPr wrap="none"/>
                    <a:lstStyle/>
                    <a:p>
                      <a:pPr algn="l"/>
                      <a:r>
                        <a:rPr sz="800" b="0">
                          <a:solidFill>
                            <a:srgbClr val="2E2E2E"/>
                          </a:solidFill>
                          <a:latin typeface="Calibri"/>
                        </a:rPr>
                        <a:t>1,075</a:t>
                      </a:r>
                    </a:p>
                  </a:txBody>
                  <a:tcPr marL="85725" marR="38100" marT="19050" marB="19050" anchor="ctr">
                    <a:solidFill>
                      <a:srgbClr val="FFFFFF"/>
                    </a:solidFill>
                  </a:tcPr>
                </a:tc>
                <a:tc>
                  <a:txBody>
                    <a:bodyPr wrap="none"/>
                    <a:lstStyle/>
                    <a:p>
                      <a:pPr algn="l"/>
                      <a:r>
                        <a:rPr sz="800" b="0">
                          <a:solidFill>
                            <a:srgbClr val="2E2E2E"/>
                          </a:solidFill>
                          <a:latin typeface="Calibri"/>
                        </a:rPr>
                        <a:t>1,153</a:t>
                      </a:r>
                    </a:p>
                  </a:txBody>
                  <a:tcPr marL="85725" marR="38100" marT="19050" marB="19050" anchor="ctr">
                    <a:solidFill>
                      <a:srgbClr val="FFFFFF"/>
                    </a:solidFill>
                  </a:tcPr>
                </a:tc>
                <a:tc>
                  <a:txBody>
                    <a:bodyPr wrap="none"/>
                    <a:lstStyle/>
                    <a:p>
                      <a:pPr algn="l"/>
                      <a:r>
                        <a:rPr sz="800" b="0">
                          <a:solidFill>
                            <a:srgbClr val="2E2E2E"/>
                          </a:solidFill>
                          <a:latin typeface="Calibri"/>
                        </a:rPr>
                        <a:t>1,238</a:t>
                      </a:r>
                    </a:p>
                  </a:txBody>
                  <a:tcPr marL="85725" marR="38100" marT="19050" marB="19050" anchor="ctr">
                    <a:solidFill>
                      <a:srgbClr val="FFFFFF"/>
                    </a:solidFill>
                  </a:tcPr>
                </a:tc>
                <a:tc>
                  <a:txBody>
                    <a:bodyPr wrap="none"/>
                    <a:lstStyle/>
                    <a:p>
                      <a:pPr algn="l"/>
                      <a:r>
                        <a:rPr sz="8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0">
                          <a:solidFill>
                            <a:srgbClr val="2E2E2E"/>
                          </a:solidFill>
                          <a:latin typeface="Calibri"/>
                        </a:rPr>
                        <a:t>774.2</a:t>
                      </a:r>
                    </a:p>
                  </a:txBody>
                  <a:tcPr marL="85725" marR="38100" marT="19050" marB="19050" anchor="ctr">
                    <a:solidFill>
                      <a:srgbClr val="F5F8FA"/>
                    </a:solidFill>
                  </a:tcPr>
                </a:tc>
                <a:tc>
                  <a:txBody>
                    <a:bodyPr wrap="none"/>
                    <a:lstStyle/>
                    <a:p>
                      <a:pPr algn="l"/>
                      <a:r>
                        <a:rPr sz="800" b="0">
                          <a:solidFill>
                            <a:srgbClr val="2E2E2E"/>
                          </a:solidFill>
                          <a:latin typeface="Calibri"/>
                        </a:rPr>
                        <a:t>798.8</a:t>
                      </a:r>
                    </a:p>
                  </a:txBody>
                  <a:tcPr marL="85725" marR="38100" marT="19050" marB="19050" anchor="ctr">
                    <a:solidFill>
                      <a:srgbClr val="F5F8FA"/>
                    </a:solidFill>
                  </a:tcPr>
                </a:tc>
                <a:tc>
                  <a:txBody>
                    <a:bodyPr wrap="none"/>
                    <a:lstStyle/>
                    <a:p>
                      <a:pPr algn="l"/>
                      <a:r>
                        <a:rPr sz="800" b="0">
                          <a:solidFill>
                            <a:srgbClr val="2E2E2E"/>
                          </a:solidFill>
                          <a:latin typeface="Calibri"/>
                        </a:rPr>
                        <a:t>826.8</a:t>
                      </a:r>
                    </a:p>
                  </a:txBody>
                  <a:tcPr marL="85725" marR="38100" marT="19050" marB="19050" anchor="ctr">
                    <a:solidFill>
                      <a:srgbClr val="F5F8FA"/>
                    </a:solidFill>
                  </a:tcPr>
                </a:tc>
                <a:tc>
                  <a:txBody>
                    <a:bodyPr wrap="none"/>
                    <a:lstStyle/>
                    <a:p>
                      <a:pPr algn="l"/>
                      <a:r>
                        <a:rPr sz="800" b="0">
                          <a:solidFill>
                            <a:srgbClr val="2E2E2E"/>
                          </a:solidFill>
                          <a:latin typeface="Calibri"/>
                        </a:rPr>
                        <a:t>861.1</a:t>
                      </a:r>
                    </a:p>
                  </a:txBody>
                  <a:tcPr marL="85725" marR="38100" marT="19050" marB="19050" anchor="ctr">
                    <a:solidFill>
                      <a:srgbClr val="F5F8FA"/>
                    </a:solidFill>
                  </a:tcPr>
                </a:tc>
                <a:tc>
                  <a:txBody>
                    <a:bodyPr wrap="none"/>
                    <a:lstStyle/>
                    <a:p>
                      <a:pPr algn="l"/>
                      <a:r>
                        <a:rPr sz="800" b="0">
                          <a:solidFill>
                            <a:srgbClr val="2E2E2E"/>
                          </a:solidFill>
                          <a:latin typeface="Calibri"/>
                        </a:rPr>
                        <a:t>901.1</a:t>
                      </a:r>
                    </a:p>
                  </a:txBody>
                  <a:tcPr marL="85725" marR="38100" marT="19050" marB="19050" anchor="ctr">
                    <a:solidFill>
                      <a:srgbClr val="F5F8FA"/>
                    </a:solidFill>
                  </a:tcPr>
                </a:tc>
                <a:tc>
                  <a:txBody>
                    <a:bodyPr wrap="none"/>
                    <a:lstStyle/>
                    <a:p>
                      <a:pPr algn="l"/>
                      <a:r>
                        <a:rPr sz="800" b="0">
                          <a:solidFill>
                            <a:srgbClr val="2E2E2E"/>
                          </a:solidFill>
                          <a:latin typeface="Calibri"/>
                        </a:rPr>
                        <a:t>948.7</a:t>
                      </a:r>
                    </a:p>
                  </a:txBody>
                  <a:tcPr marL="85725" marR="38100" marT="19050" marB="19050" anchor="ctr">
                    <a:solidFill>
                      <a:srgbClr val="F5F8FA"/>
                    </a:solidFill>
                  </a:tcPr>
                </a:tc>
                <a:tc>
                  <a:txBody>
                    <a:bodyPr wrap="none"/>
                    <a:lstStyle/>
                    <a:p>
                      <a:pPr algn="l"/>
                      <a:r>
                        <a:rPr sz="800" b="0">
                          <a:solidFill>
                            <a:srgbClr val="2E2E2E"/>
                          </a:solidFill>
                          <a:latin typeface="Calibri"/>
                        </a:rPr>
                        <a:t>1,003</a:t>
                      </a:r>
                    </a:p>
                  </a:txBody>
                  <a:tcPr marL="85725" marR="38100" marT="19050" marB="19050" anchor="ctr">
                    <a:solidFill>
                      <a:srgbClr val="F5F8FA"/>
                    </a:solidFill>
                  </a:tcPr>
                </a:tc>
                <a:tc>
                  <a:txBody>
                    <a:bodyPr wrap="none"/>
                    <a:lstStyle/>
                    <a:p>
                      <a:pPr algn="l"/>
                      <a:r>
                        <a:rPr sz="800" b="0">
                          <a:solidFill>
                            <a:srgbClr val="2E2E2E"/>
                          </a:solidFill>
                          <a:latin typeface="Calibri"/>
                        </a:rPr>
                        <a:t>1,064</a:t>
                      </a:r>
                    </a:p>
                  </a:txBody>
                  <a:tcPr marL="85725" marR="38100" marT="19050" marB="19050" anchor="ctr">
                    <a:solidFill>
                      <a:srgbClr val="F5F8FA"/>
                    </a:solidFill>
                  </a:tcPr>
                </a:tc>
                <a:tc>
                  <a:txBody>
                    <a:bodyPr wrap="none"/>
                    <a:lstStyle/>
                    <a:p>
                      <a:pPr algn="l"/>
                      <a:r>
                        <a:rPr sz="800" b="0">
                          <a:solidFill>
                            <a:srgbClr val="2E2E2E"/>
                          </a:solidFill>
                          <a:latin typeface="Calibri"/>
                        </a:rPr>
                        <a:t>1,130</a:t>
                      </a:r>
                    </a:p>
                  </a:txBody>
                  <a:tcPr marL="85725" marR="38100" marT="19050" marB="19050" anchor="ctr">
                    <a:solidFill>
                      <a:srgbClr val="F5F8FA"/>
                    </a:solidFill>
                  </a:tcPr>
                </a:tc>
                <a:tc>
                  <a:txBody>
                    <a:bodyPr wrap="none"/>
                    <a:lstStyle/>
                    <a:p>
                      <a:pPr algn="l"/>
                      <a:r>
                        <a:rPr sz="800" b="0">
                          <a:solidFill>
                            <a:srgbClr val="2E2E2E"/>
                          </a:solidFill>
                          <a:latin typeface="Calibri"/>
                        </a:rPr>
                        <a:t>1,202</a:t>
                      </a:r>
                    </a:p>
                  </a:txBody>
                  <a:tcPr marL="85725" marR="38100" marT="19050" marB="19050" anchor="ctr">
                    <a:solidFill>
                      <a:srgbClr val="F5F8FA"/>
                    </a:solidFill>
                  </a:tcPr>
                </a:tc>
                <a:tc>
                  <a:txBody>
                    <a:bodyPr wrap="none"/>
                    <a:lstStyle/>
                    <a:p>
                      <a:pPr algn="l"/>
                      <a:r>
                        <a:rPr sz="800" b="0">
                          <a:solidFill>
                            <a:srgbClr val="2E2E2E"/>
                          </a:solidFill>
                          <a:latin typeface="Calibri"/>
                        </a:rPr>
                        <a:t>1,277</a:t>
                      </a:r>
                    </a:p>
                  </a:txBody>
                  <a:tcPr marL="85725" marR="38100" marT="19050" marB="19050" anchor="ctr">
                    <a:solidFill>
                      <a:srgbClr val="F5F8FA"/>
                    </a:solidFill>
                  </a:tcPr>
                </a:tc>
                <a:tc>
                  <a:txBody>
                    <a:bodyPr wrap="none"/>
                    <a:lstStyle/>
                    <a:p>
                      <a:pPr algn="l"/>
                      <a:r>
                        <a:rPr sz="800" b="0">
                          <a:solidFill>
                            <a:srgbClr val="2E2E2E"/>
                          </a:solidFill>
                          <a:latin typeface="Calibri"/>
                        </a:rPr>
                        <a:t>1,359</a:t>
                      </a:r>
                    </a:p>
                  </a:txBody>
                  <a:tcPr marL="85725" marR="38100" marT="19050" marB="19050" anchor="ctr">
                    <a:solidFill>
                      <a:srgbClr val="F5F8FA"/>
                    </a:solidFill>
                  </a:tcPr>
                </a:tc>
                <a:tc>
                  <a:txBody>
                    <a:bodyPr wrap="none"/>
                    <a:lstStyle/>
                    <a:p>
                      <a:pPr algn="l"/>
                      <a:r>
                        <a:rPr sz="800" b="0">
                          <a:solidFill>
                            <a:srgbClr val="2E2E2E"/>
                          </a:solidFill>
                          <a:latin typeface="Calibri"/>
                        </a:rPr>
                        <a:t>1,445</a:t>
                      </a:r>
                    </a:p>
                  </a:txBody>
                  <a:tcPr marL="85725" marR="38100" marT="19050" marB="19050" anchor="ctr">
                    <a:solidFill>
                      <a:srgbClr val="F5F8FA"/>
                    </a:solidFill>
                  </a:tcPr>
                </a:tc>
                <a:tc>
                  <a:txBody>
                    <a:bodyPr wrap="none"/>
                    <a:lstStyle/>
                    <a:p>
                      <a:pPr algn="l"/>
                      <a:r>
                        <a:rPr sz="800" b="0">
                          <a:solidFill>
                            <a:srgbClr val="2E2E2E"/>
                          </a:solidFill>
                          <a:latin typeface="Calibri"/>
                        </a:rPr>
                        <a:t>1,540</a:t>
                      </a:r>
                    </a:p>
                  </a:txBody>
                  <a:tcPr marL="85725" marR="38100" marT="19050" marB="19050" anchor="ctr">
                    <a:solidFill>
                      <a:srgbClr val="F5F8FA"/>
                    </a:solidFill>
                  </a:tcPr>
                </a:tc>
                <a:tc>
                  <a:txBody>
                    <a:bodyPr wrap="none"/>
                    <a:lstStyle/>
                    <a:p>
                      <a:pPr algn="l"/>
                      <a:r>
                        <a:rPr sz="800" b="0">
                          <a:solidFill>
                            <a:srgbClr val="2E2E2E"/>
                          </a:solidFill>
                          <a:latin typeface="Calibri"/>
                        </a:rPr>
                        <a:t>1,642</a:t>
                      </a:r>
                    </a:p>
                  </a:txBody>
                  <a:tcPr marL="85725" marR="38100" marT="19050" marB="19050" anchor="ctr">
                    <a:solidFill>
                      <a:srgbClr val="F5F8FA"/>
                    </a:solidFill>
                  </a:tcPr>
                </a:tc>
                <a:tc>
                  <a:txBody>
                    <a:bodyPr wrap="none"/>
                    <a:lstStyle/>
                    <a:p>
                      <a:pPr algn="l"/>
                      <a:r>
                        <a:rPr sz="800" b="0">
                          <a:solidFill>
                            <a:srgbClr val="2E2E2E"/>
                          </a:solidFill>
                          <a:latin typeface="Calibri"/>
                        </a:rPr>
                        <a:t>1,754</a:t>
                      </a:r>
                    </a:p>
                  </a:txBody>
                  <a:tcPr marL="85725" marR="38100" marT="19050" marB="19050" anchor="ctr">
                    <a:solidFill>
                      <a:srgbClr val="F5F8FA"/>
                    </a:solidFill>
                  </a:tcPr>
                </a:tc>
                <a:tc>
                  <a:txBody>
                    <a:bodyPr wrap="none"/>
                    <a:lstStyle/>
                    <a:p>
                      <a:pPr algn="l"/>
                      <a:r>
                        <a:rPr sz="800" b="0">
                          <a:solidFill>
                            <a:srgbClr val="2E2E2E"/>
                          </a:solidFill>
                          <a:latin typeface="Calibri"/>
                        </a:rPr>
                        <a:t>6.3%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0">
                          <a:solidFill>
                            <a:srgbClr val="2E2E2E"/>
                          </a:solidFill>
                          <a:latin typeface="Calibri"/>
                        </a:rPr>
                        <a:t>247.1</a:t>
                      </a:r>
                    </a:p>
                  </a:txBody>
                  <a:tcPr marL="85725" marR="38100" marT="19050" marB="19050" anchor="ctr">
                    <a:solidFill>
                      <a:srgbClr val="FFFFFF"/>
                    </a:solidFill>
                  </a:tcPr>
                </a:tc>
                <a:tc>
                  <a:txBody>
                    <a:bodyPr wrap="none"/>
                    <a:lstStyle/>
                    <a:p>
                      <a:pPr algn="l"/>
                      <a:r>
                        <a:rPr sz="800" b="0">
                          <a:solidFill>
                            <a:srgbClr val="2E2E2E"/>
                          </a:solidFill>
                          <a:latin typeface="Calibri"/>
                        </a:rPr>
                        <a:t>257.6</a:t>
                      </a:r>
                    </a:p>
                  </a:txBody>
                  <a:tcPr marL="85725" marR="38100" marT="19050" marB="19050" anchor="ctr">
                    <a:solidFill>
                      <a:srgbClr val="FFFFFF"/>
                    </a:solidFill>
                  </a:tcPr>
                </a:tc>
                <a:tc>
                  <a:txBody>
                    <a:bodyPr wrap="none"/>
                    <a:lstStyle/>
                    <a:p>
                      <a:pPr algn="l"/>
                      <a:r>
                        <a:rPr sz="800" b="0">
                          <a:solidFill>
                            <a:srgbClr val="2E2E2E"/>
                          </a:solidFill>
                          <a:latin typeface="Calibri"/>
                        </a:rPr>
                        <a:t>269.6</a:t>
                      </a:r>
                    </a:p>
                  </a:txBody>
                  <a:tcPr marL="85725" marR="38100" marT="19050" marB="19050" anchor="ctr">
                    <a:solidFill>
                      <a:srgbClr val="FFFFFF"/>
                    </a:solidFill>
                  </a:tcPr>
                </a:tc>
                <a:tc>
                  <a:txBody>
                    <a:bodyPr wrap="none"/>
                    <a:lstStyle/>
                    <a:p>
                      <a:pPr algn="l"/>
                      <a:r>
                        <a:rPr sz="800" b="0">
                          <a:solidFill>
                            <a:srgbClr val="2E2E2E"/>
                          </a:solidFill>
                          <a:latin typeface="Calibri"/>
                        </a:rPr>
                        <a:t>284.2</a:t>
                      </a:r>
                    </a:p>
                  </a:txBody>
                  <a:tcPr marL="85725" marR="38100" marT="19050" marB="19050" anchor="ctr">
                    <a:solidFill>
                      <a:srgbClr val="FFFFFF"/>
                    </a:solidFill>
                  </a:tcPr>
                </a:tc>
                <a:tc>
                  <a:txBody>
                    <a:bodyPr wrap="none"/>
                    <a:lstStyle/>
                    <a:p>
                      <a:pPr algn="l"/>
                      <a:r>
                        <a:rPr sz="800" b="0">
                          <a:solidFill>
                            <a:srgbClr val="2E2E2E"/>
                          </a:solidFill>
                          <a:latin typeface="Calibri"/>
                        </a:rPr>
                        <a:t>301.4</a:t>
                      </a:r>
                    </a:p>
                  </a:txBody>
                  <a:tcPr marL="85725" marR="38100" marT="19050" marB="19050" anchor="ctr">
                    <a:solidFill>
                      <a:srgbClr val="FFFFFF"/>
                    </a:solidFill>
                  </a:tcPr>
                </a:tc>
                <a:tc>
                  <a:txBody>
                    <a:bodyPr wrap="none"/>
                    <a:lstStyle/>
                    <a:p>
                      <a:pPr algn="l"/>
                      <a:r>
                        <a:rPr sz="800" b="0">
                          <a:solidFill>
                            <a:srgbClr val="2E2E2E"/>
                          </a:solidFill>
                          <a:latin typeface="Calibri"/>
                        </a:rPr>
                        <a:t>321.3</a:t>
                      </a:r>
                    </a:p>
                  </a:txBody>
                  <a:tcPr marL="85725" marR="38100" marT="19050" marB="19050" anchor="ctr">
                    <a:solidFill>
                      <a:srgbClr val="FFFFFF"/>
                    </a:solidFill>
                  </a:tcPr>
                </a:tc>
                <a:tc>
                  <a:txBody>
                    <a:bodyPr wrap="none"/>
                    <a:lstStyle/>
                    <a:p>
                      <a:pPr algn="l"/>
                      <a:r>
                        <a:rPr sz="800" b="0">
                          <a:solidFill>
                            <a:srgbClr val="2E2E2E"/>
                          </a:solidFill>
                          <a:latin typeface="Calibri"/>
                        </a:rPr>
                        <a:t>344.4</a:t>
                      </a:r>
                    </a:p>
                  </a:txBody>
                  <a:tcPr marL="85725" marR="38100" marT="19050" marB="19050" anchor="ctr">
                    <a:solidFill>
                      <a:srgbClr val="FFFFFF"/>
                    </a:solidFill>
                  </a:tcPr>
                </a:tc>
                <a:tc>
                  <a:txBody>
                    <a:bodyPr wrap="none"/>
                    <a:lstStyle/>
                    <a:p>
                      <a:pPr algn="l"/>
                      <a:r>
                        <a:rPr sz="800" b="0">
                          <a:solidFill>
                            <a:srgbClr val="2E2E2E"/>
                          </a:solidFill>
                          <a:latin typeface="Calibri"/>
                        </a:rPr>
                        <a:t>370.3</a:t>
                      </a:r>
                    </a:p>
                  </a:txBody>
                  <a:tcPr marL="85725" marR="38100" marT="19050" marB="19050" anchor="ctr">
                    <a:solidFill>
                      <a:srgbClr val="FFFFFF"/>
                    </a:solidFill>
                  </a:tcPr>
                </a:tc>
                <a:tc>
                  <a:txBody>
                    <a:bodyPr wrap="none"/>
                    <a:lstStyle/>
                    <a:p>
                      <a:pPr algn="l"/>
                      <a:r>
                        <a:rPr sz="800" b="0">
                          <a:solidFill>
                            <a:srgbClr val="2E2E2E"/>
                          </a:solidFill>
                          <a:latin typeface="Calibri"/>
                        </a:rPr>
                        <a:t>399.1</a:t>
                      </a:r>
                    </a:p>
                  </a:txBody>
                  <a:tcPr marL="85725" marR="38100" marT="19050" marB="19050" anchor="ctr">
                    <a:solidFill>
                      <a:srgbClr val="FFFFFF"/>
                    </a:solidFill>
                  </a:tcPr>
                </a:tc>
                <a:tc>
                  <a:txBody>
                    <a:bodyPr wrap="none"/>
                    <a:lstStyle/>
                    <a:p>
                      <a:pPr algn="l"/>
                      <a:r>
                        <a:rPr sz="800" b="0">
                          <a:solidFill>
                            <a:srgbClr val="2E2E2E"/>
                          </a:solidFill>
                          <a:latin typeface="Calibri"/>
                        </a:rPr>
                        <a:t>430.6</a:t>
                      </a:r>
                    </a:p>
                  </a:txBody>
                  <a:tcPr marL="85725" marR="38100" marT="19050" marB="19050" anchor="ctr">
                    <a:solidFill>
                      <a:srgbClr val="FFFFFF"/>
                    </a:solidFill>
                  </a:tcPr>
                </a:tc>
                <a:tc>
                  <a:txBody>
                    <a:bodyPr wrap="none"/>
                    <a:lstStyle/>
                    <a:p>
                      <a:pPr algn="l"/>
                      <a:r>
                        <a:rPr sz="800" b="0">
                          <a:solidFill>
                            <a:srgbClr val="2E2E2E"/>
                          </a:solidFill>
                          <a:latin typeface="Calibri"/>
                        </a:rPr>
                        <a:t>464.7</a:t>
                      </a:r>
                    </a:p>
                  </a:txBody>
                  <a:tcPr marL="85725" marR="38100" marT="19050" marB="19050" anchor="ctr">
                    <a:solidFill>
                      <a:srgbClr val="FFFFFF"/>
                    </a:solidFill>
                  </a:tcPr>
                </a:tc>
                <a:tc>
                  <a:txBody>
                    <a:bodyPr wrap="none"/>
                    <a:lstStyle/>
                    <a:p>
                      <a:pPr algn="l"/>
                      <a:r>
                        <a:rPr sz="800" b="0">
                          <a:solidFill>
                            <a:srgbClr val="2E2E2E"/>
                          </a:solidFill>
                          <a:latin typeface="Calibri"/>
                        </a:rPr>
                        <a:t>502.1</a:t>
                      </a:r>
                    </a:p>
                  </a:txBody>
                  <a:tcPr marL="85725" marR="38100" marT="19050" marB="19050" anchor="ctr">
                    <a:solidFill>
                      <a:srgbClr val="FFFFFF"/>
                    </a:solidFill>
                  </a:tcPr>
                </a:tc>
                <a:tc>
                  <a:txBody>
                    <a:bodyPr wrap="none"/>
                    <a:lstStyle/>
                    <a:p>
                      <a:pPr algn="l"/>
                      <a:r>
                        <a:rPr sz="800" b="0">
                          <a:solidFill>
                            <a:srgbClr val="2E2E2E"/>
                          </a:solidFill>
                          <a:latin typeface="Calibri"/>
                        </a:rPr>
                        <a:t>542.5</a:t>
                      </a:r>
                    </a:p>
                  </a:txBody>
                  <a:tcPr marL="85725" marR="38100" marT="19050" marB="19050" anchor="ctr">
                    <a:solidFill>
                      <a:srgbClr val="FFFFFF"/>
                    </a:solidFill>
                  </a:tcPr>
                </a:tc>
                <a:tc>
                  <a:txBody>
                    <a:bodyPr wrap="none"/>
                    <a:lstStyle/>
                    <a:p>
                      <a:pPr algn="l"/>
                      <a:r>
                        <a:rPr sz="800" b="0">
                          <a:solidFill>
                            <a:srgbClr val="2E2E2E"/>
                          </a:solidFill>
                          <a:latin typeface="Calibri"/>
                        </a:rPr>
                        <a:t>587.6</a:t>
                      </a:r>
                    </a:p>
                  </a:txBody>
                  <a:tcPr marL="85725" marR="38100" marT="19050" marB="19050" anchor="ctr">
                    <a:solidFill>
                      <a:srgbClr val="FFFFFF"/>
                    </a:solidFill>
                  </a:tcPr>
                </a:tc>
                <a:tc>
                  <a:txBody>
                    <a:bodyPr wrap="none"/>
                    <a:lstStyle/>
                    <a:p>
                      <a:pPr algn="l"/>
                      <a:r>
                        <a:rPr sz="800" b="0">
                          <a:solidFill>
                            <a:srgbClr val="2E2E2E"/>
                          </a:solidFill>
                          <a:latin typeface="Calibri"/>
                        </a:rPr>
                        <a:t>637.0</a:t>
                      </a:r>
                    </a:p>
                  </a:txBody>
                  <a:tcPr marL="85725" marR="38100" marT="19050" marB="19050" anchor="ctr">
                    <a:solidFill>
                      <a:srgbClr val="FFFFFF"/>
                    </a:solidFill>
                  </a:tcPr>
                </a:tc>
                <a:tc>
                  <a:txBody>
                    <a:bodyPr wrap="none"/>
                    <a:lstStyle/>
                    <a:p>
                      <a:pPr algn="l"/>
                      <a:r>
                        <a:rPr sz="800" b="0">
                          <a:solidFill>
                            <a:srgbClr val="2E2E2E"/>
                          </a:solidFill>
                          <a:latin typeface="Calibri"/>
                        </a:rPr>
                        <a:t>691.9</a:t>
                      </a:r>
                    </a:p>
                  </a:txBody>
                  <a:tcPr marL="85725" marR="38100" marT="19050" marB="19050" anchor="ctr">
                    <a:solidFill>
                      <a:srgbClr val="FFFFFF"/>
                    </a:solidFill>
                  </a:tcPr>
                </a:tc>
                <a:tc>
                  <a:txBody>
                    <a:bodyPr wrap="none"/>
                    <a:lstStyle/>
                    <a:p>
                      <a:pPr algn="l"/>
                      <a:r>
                        <a:rPr sz="800" b="0">
                          <a:solidFill>
                            <a:srgbClr val="2E2E2E"/>
                          </a:solidFill>
                          <a:latin typeface="Calibri"/>
                        </a:rPr>
                        <a:t>8.0%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0">
                          <a:solidFill>
                            <a:srgbClr val="2E2E2E"/>
                          </a:solidFill>
                          <a:latin typeface="Calibri"/>
                        </a:rPr>
                        <a:t>252.2</a:t>
                      </a:r>
                    </a:p>
                  </a:txBody>
                  <a:tcPr marL="85725" marR="38100" marT="19050" marB="19050" anchor="ctr">
                    <a:solidFill>
                      <a:srgbClr val="F5F8FA"/>
                    </a:solidFill>
                  </a:tcPr>
                </a:tc>
                <a:tc>
                  <a:txBody>
                    <a:bodyPr wrap="none"/>
                    <a:lstStyle/>
                    <a:p>
                      <a:pPr algn="l"/>
                      <a:r>
                        <a:rPr sz="800" b="0">
                          <a:solidFill>
                            <a:srgbClr val="2E2E2E"/>
                          </a:solidFill>
                          <a:latin typeface="Calibri"/>
                        </a:rPr>
                        <a:t>272.8</a:t>
                      </a:r>
                    </a:p>
                  </a:txBody>
                  <a:tcPr marL="85725" marR="38100" marT="19050" marB="19050" anchor="ctr">
                    <a:solidFill>
                      <a:srgbClr val="F5F8FA"/>
                    </a:solidFill>
                  </a:tcPr>
                </a:tc>
                <a:tc>
                  <a:txBody>
                    <a:bodyPr wrap="none"/>
                    <a:lstStyle/>
                    <a:p>
                      <a:pPr algn="l"/>
                      <a:r>
                        <a:rPr sz="800" b="0">
                          <a:solidFill>
                            <a:srgbClr val="2E2E2E"/>
                          </a:solidFill>
                          <a:latin typeface="Calibri"/>
                        </a:rPr>
                        <a:t>296.4</a:t>
                      </a:r>
                    </a:p>
                  </a:txBody>
                  <a:tcPr marL="85725" marR="38100" marT="19050" marB="19050" anchor="ctr">
                    <a:solidFill>
                      <a:srgbClr val="F5F8FA"/>
                    </a:solidFill>
                  </a:tcPr>
                </a:tc>
                <a:tc>
                  <a:txBody>
                    <a:bodyPr wrap="none"/>
                    <a:lstStyle/>
                    <a:p>
                      <a:pPr algn="l"/>
                      <a:r>
                        <a:rPr sz="800" b="0">
                          <a:solidFill>
                            <a:srgbClr val="2E2E2E"/>
                          </a:solidFill>
                          <a:latin typeface="Calibri"/>
                        </a:rPr>
                        <a:t>324.5</a:t>
                      </a:r>
                    </a:p>
                  </a:txBody>
                  <a:tcPr marL="85725" marR="38100" marT="19050" marB="19050" anchor="ctr">
                    <a:solidFill>
                      <a:srgbClr val="F5F8FA"/>
                    </a:solidFill>
                  </a:tcPr>
                </a:tc>
                <a:tc>
                  <a:txBody>
                    <a:bodyPr wrap="none"/>
                    <a:lstStyle/>
                    <a:p>
                      <a:pPr algn="l"/>
                      <a:r>
                        <a:rPr sz="800" b="0">
                          <a:solidFill>
                            <a:srgbClr val="2E2E2E"/>
                          </a:solidFill>
                          <a:latin typeface="Calibri"/>
                        </a:rPr>
                        <a:t>357.2</a:t>
                      </a:r>
                    </a:p>
                  </a:txBody>
                  <a:tcPr marL="85725" marR="38100" marT="19050" marB="19050" anchor="ctr">
                    <a:solidFill>
                      <a:srgbClr val="F5F8FA"/>
                    </a:solidFill>
                  </a:tcPr>
                </a:tc>
                <a:tc>
                  <a:txBody>
                    <a:bodyPr wrap="none"/>
                    <a:lstStyle/>
                    <a:p>
                      <a:pPr algn="l"/>
                      <a:r>
                        <a:rPr sz="800" b="0">
                          <a:solidFill>
                            <a:srgbClr val="2E2E2E"/>
                          </a:solidFill>
                          <a:latin typeface="Calibri"/>
                        </a:rPr>
                        <a:t>395.9</a:t>
                      </a:r>
                    </a:p>
                  </a:txBody>
                  <a:tcPr marL="85725" marR="38100" marT="19050" marB="19050" anchor="ctr">
                    <a:solidFill>
                      <a:srgbClr val="F5F8FA"/>
                    </a:solidFill>
                  </a:tcPr>
                </a:tc>
                <a:tc>
                  <a:txBody>
                    <a:bodyPr wrap="none"/>
                    <a:lstStyle/>
                    <a:p>
                      <a:pPr algn="l"/>
                      <a:r>
                        <a:rPr sz="800" b="0">
                          <a:solidFill>
                            <a:srgbClr val="2E2E2E"/>
                          </a:solidFill>
                          <a:latin typeface="Calibri"/>
                        </a:rPr>
                        <a:t>441.0</a:t>
                      </a:r>
                    </a:p>
                  </a:txBody>
                  <a:tcPr marL="85725" marR="38100" marT="19050" marB="19050" anchor="ctr">
                    <a:solidFill>
                      <a:srgbClr val="F5F8FA"/>
                    </a:solidFill>
                  </a:tcPr>
                </a:tc>
                <a:tc>
                  <a:txBody>
                    <a:bodyPr wrap="none"/>
                    <a:lstStyle/>
                    <a:p>
                      <a:pPr algn="l"/>
                      <a:r>
                        <a:rPr sz="800" b="0">
                          <a:solidFill>
                            <a:srgbClr val="2E2E2E"/>
                          </a:solidFill>
                          <a:latin typeface="Calibri"/>
                        </a:rPr>
                        <a:t>492.8</a:t>
                      </a:r>
                    </a:p>
                  </a:txBody>
                  <a:tcPr marL="85725" marR="38100" marT="19050" marB="19050" anchor="ctr">
                    <a:solidFill>
                      <a:srgbClr val="F5F8FA"/>
                    </a:solidFill>
                  </a:tcPr>
                </a:tc>
                <a:tc>
                  <a:txBody>
                    <a:bodyPr wrap="none"/>
                    <a:lstStyle/>
                    <a:p>
                      <a:pPr algn="l"/>
                      <a:r>
                        <a:rPr sz="800" b="0">
                          <a:solidFill>
                            <a:srgbClr val="2E2E2E"/>
                          </a:solidFill>
                          <a:latin typeface="Calibri"/>
                        </a:rPr>
                        <a:t>551.9</a:t>
                      </a:r>
                    </a:p>
                  </a:txBody>
                  <a:tcPr marL="85725" marR="38100" marT="19050" marB="19050" anchor="ctr">
                    <a:solidFill>
                      <a:srgbClr val="F5F8FA"/>
                    </a:solidFill>
                  </a:tcPr>
                </a:tc>
                <a:tc>
                  <a:txBody>
                    <a:bodyPr wrap="none"/>
                    <a:lstStyle/>
                    <a:p>
                      <a:pPr algn="l"/>
                      <a:r>
                        <a:rPr sz="800" b="0">
                          <a:solidFill>
                            <a:srgbClr val="2E2E2E"/>
                          </a:solidFill>
                          <a:latin typeface="Calibri"/>
                        </a:rPr>
                        <a:t>618.5</a:t>
                      </a:r>
                    </a:p>
                  </a:txBody>
                  <a:tcPr marL="85725" marR="38100" marT="19050" marB="19050" anchor="ctr">
                    <a:solidFill>
                      <a:srgbClr val="F5F8FA"/>
                    </a:solidFill>
                  </a:tcPr>
                </a:tc>
                <a:tc>
                  <a:txBody>
                    <a:bodyPr wrap="none"/>
                    <a:lstStyle/>
                    <a:p>
                      <a:pPr algn="l"/>
                      <a:r>
                        <a:rPr sz="800" b="0">
                          <a:solidFill>
                            <a:srgbClr val="2E2E2E"/>
                          </a:solidFill>
                          <a:latin typeface="Calibri"/>
                        </a:rPr>
                        <a:t>693.5</a:t>
                      </a:r>
                    </a:p>
                  </a:txBody>
                  <a:tcPr marL="85725" marR="38100" marT="19050" marB="19050" anchor="ctr">
                    <a:solidFill>
                      <a:srgbClr val="F5F8FA"/>
                    </a:solidFill>
                  </a:tcPr>
                </a:tc>
                <a:tc>
                  <a:txBody>
                    <a:bodyPr wrap="none"/>
                    <a:lstStyle/>
                    <a:p>
                      <a:pPr algn="l"/>
                      <a:r>
                        <a:rPr sz="800" b="0">
                          <a:solidFill>
                            <a:srgbClr val="2E2E2E"/>
                          </a:solidFill>
                          <a:latin typeface="Calibri"/>
                        </a:rPr>
                        <a:t>778.3</a:t>
                      </a:r>
                    </a:p>
                  </a:txBody>
                  <a:tcPr marL="85725" marR="38100" marT="19050" marB="19050" anchor="ctr">
                    <a:solidFill>
                      <a:srgbClr val="F5F8FA"/>
                    </a:solidFill>
                  </a:tcPr>
                </a:tc>
                <a:tc>
                  <a:txBody>
                    <a:bodyPr wrap="none"/>
                    <a:lstStyle/>
                    <a:p>
                      <a:pPr algn="l"/>
                      <a:r>
                        <a:rPr sz="800" b="0">
                          <a:solidFill>
                            <a:srgbClr val="2E2E2E"/>
                          </a:solidFill>
                          <a:latin typeface="Calibri"/>
                        </a:rPr>
                        <a:t>873.6</a:t>
                      </a:r>
                    </a:p>
                  </a:txBody>
                  <a:tcPr marL="85725" marR="38100" marT="19050" marB="19050" anchor="ctr">
                    <a:solidFill>
                      <a:srgbClr val="F5F8FA"/>
                    </a:solidFill>
                  </a:tcPr>
                </a:tc>
                <a:tc>
                  <a:txBody>
                    <a:bodyPr wrap="none"/>
                    <a:lstStyle/>
                    <a:p>
                      <a:pPr algn="l"/>
                      <a:r>
                        <a:rPr sz="800" b="0">
                          <a:solidFill>
                            <a:srgbClr val="2E2E2E"/>
                          </a:solidFill>
                          <a:latin typeface="Calibri"/>
                        </a:rPr>
                        <a:t>982.8</a:t>
                      </a:r>
                    </a:p>
                  </a:txBody>
                  <a:tcPr marL="85725" marR="38100" marT="19050" marB="19050" anchor="ctr">
                    <a:solidFill>
                      <a:srgbClr val="F5F8FA"/>
                    </a:solidFill>
                  </a:tcPr>
                </a:tc>
                <a:tc>
                  <a:txBody>
                    <a:bodyPr wrap="none"/>
                    <a:lstStyle/>
                    <a:p>
                      <a:pPr algn="l"/>
                      <a:r>
                        <a:rPr sz="800" b="0">
                          <a:solidFill>
                            <a:srgbClr val="2E2E2E"/>
                          </a:solidFill>
                          <a:latin typeface="Calibri"/>
                        </a:rPr>
                        <a:t>1,107</a:t>
                      </a:r>
                    </a:p>
                  </a:txBody>
                  <a:tcPr marL="85725" marR="38100" marT="19050" marB="19050" anchor="ctr">
                    <a:solidFill>
                      <a:srgbClr val="F5F8FA"/>
                    </a:solidFill>
                  </a:tcPr>
                </a:tc>
                <a:tc>
                  <a:txBody>
                    <a:bodyPr wrap="none"/>
                    <a:lstStyle/>
                    <a:p>
                      <a:pPr algn="l"/>
                      <a:r>
                        <a:rPr sz="800" b="0">
                          <a:solidFill>
                            <a:srgbClr val="2E2E2E"/>
                          </a:solidFill>
                          <a:latin typeface="Calibri"/>
                        </a:rPr>
                        <a:t>1,248</a:t>
                      </a:r>
                    </a:p>
                  </a:txBody>
                  <a:tcPr marL="85725" marR="38100" marT="19050" marB="19050" anchor="ctr">
                    <a:solidFill>
                      <a:srgbClr val="F5F8FA"/>
                    </a:solidFill>
                  </a:tcPr>
                </a:tc>
                <a:tc>
                  <a:txBody>
                    <a:bodyPr wrap="none"/>
                    <a:lstStyle/>
                    <a:p>
                      <a:pPr algn="l"/>
                      <a:r>
                        <a:rPr sz="800" b="0">
                          <a:solidFill>
                            <a:srgbClr val="2E2E2E"/>
                          </a:solidFill>
                          <a:latin typeface="Calibri"/>
                        </a:rPr>
                        <a:t>12.2%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1,788</a:t>
                      </a:r>
                    </a:p>
                  </a:txBody>
                  <a:tcPr marL="85725" marR="38100" marT="19050" marB="19050" anchor="ctr">
                    <a:solidFill>
                      <a:srgbClr val="E0E8EF"/>
                    </a:solidFill>
                  </a:tcPr>
                </a:tc>
                <a:tc>
                  <a:txBody>
                    <a:bodyPr wrap="none"/>
                    <a:lstStyle/>
                    <a:p>
                      <a:pPr algn="l"/>
                      <a:r>
                        <a:rPr sz="800" b="1">
                          <a:solidFill>
                            <a:srgbClr val="2E2E2E"/>
                          </a:solidFill>
                          <a:latin typeface="Calibri"/>
                        </a:rPr>
                        <a:t>1,861</a:t>
                      </a:r>
                    </a:p>
                  </a:txBody>
                  <a:tcPr marL="85725" marR="38100" marT="19050" marB="19050" anchor="ctr">
                    <a:solidFill>
                      <a:srgbClr val="E0E8EF"/>
                    </a:solidFill>
                  </a:tcPr>
                </a:tc>
                <a:tc>
                  <a:txBody>
                    <a:bodyPr wrap="none"/>
                    <a:lstStyle/>
                    <a:p>
                      <a:pPr algn="l"/>
                      <a:r>
                        <a:rPr sz="800" b="1">
                          <a:solidFill>
                            <a:srgbClr val="2E2E2E"/>
                          </a:solidFill>
                          <a:latin typeface="Calibri"/>
                        </a:rPr>
                        <a:t>1,945</a:t>
                      </a:r>
                    </a:p>
                  </a:txBody>
                  <a:tcPr marL="85725" marR="38100" marT="19050" marB="19050" anchor="ctr">
                    <a:solidFill>
                      <a:srgbClr val="E0E8EF"/>
                    </a:solidFill>
                  </a:tcPr>
                </a:tc>
                <a:tc>
                  <a:txBody>
                    <a:bodyPr wrap="none"/>
                    <a:lstStyle/>
                    <a:p>
                      <a:pPr algn="l"/>
                      <a:r>
                        <a:rPr sz="800" b="1">
                          <a:solidFill>
                            <a:srgbClr val="2E2E2E"/>
                          </a:solidFill>
                          <a:latin typeface="Calibri"/>
                        </a:rPr>
                        <a:t>2,047</a:t>
                      </a:r>
                    </a:p>
                  </a:txBody>
                  <a:tcPr marL="85725" marR="38100" marT="19050" marB="19050" anchor="ctr">
                    <a:solidFill>
                      <a:srgbClr val="E0E8EF"/>
                    </a:solidFill>
                  </a:tcPr>
                </a:tc>
                <a:tc>
                  <a:txBody>
                    <a:bodyPr wrap="none"/>
                    <a:lstStyle/>
                    <a:p>
                      <a:pPr algn="l"/>
                      <a:r>
                        <a:rPr sz="800" b="1">
                          <a:solidFill>
                            <a:srgbClr val="2E2E2E"/>
                          </a:solidFill>
                          <a:latin typeface="Calibri"/>
                        </a:rPr>
                        <a:t>2,165</a:t>
                      </a:r>
                    </a:p>
                  </a:txBody>
                  <a:tcPr marL="85725" marR="38100" marT="19050" marB="19050" anchor="ctr">
                    <a:solidFill>
                      <a:srgbClr val="E0E8EF"/>
                    </a:solidFill>
                  </a:tcPr>
                </a:tc>
                <a:tc>
                  <a:txBody>
                    <a:bodyPr wrap="none"/>
                    <a:lstStyle/>
                    <a:p>
                      <a:pPr algn="l"/>
                      <a:r>
                        <a:rPr sz="800" b="1">
                          <a:solidFill>
                            <a:srgbClr val="2E2E2E"/>
                          </a:solidFill>
                          <a:latin typeface="Calibri"/>
                        </a:rPr>
                        <a:t>2,306</a:t>
                      </a:r>
                    </a:p>
                  </a:txBody>
                  <a:tcPr marL="85725" marR="38100" marT="19050" marB="19050" anchor="ctr">
                    <a:solidFill>
                      <a:srgbClr val="E0E8EF"/>
                    </a:solidFill>
                  </a:tcPr>
                </a:tc>
                <a:tc>
                  <a:txBody>
                    <a:bodyPr wrap="none"/>
                    <a:lstStyle/>
                    <a:p>
                      <a:pPr algn="l"/>
                      <a:r>
                        <a:rPr sz="800" b="1">
                          <a:solidFill>
                            <a:srgbClr val="2E2E2E"/>
                          </a:solidFill>
                          <a:latin typeface="Calibri"/>
                        </a:rPr>
                        <a:t>2,468</a:t>
                      </a:r>
                    </a:p>
                  </a:txBody>
                  <a:tcPr marL="85725" marR="38100" marT="19050" marB="19050" anchor="ctr">
                    <a:solidFill>
                      <a:srgbClr val="E0E8EF"/>
                    </a:solidFill>
                  </a:tcPr>
                </a:tc>
                <a:tc>
                  <a:txBody>
                    <a:bodyPr wrap="none"/>
                    <a:lstStyle/>
                    <a:p>
                      <a:pPr algn="l"/>
                      <a:r>
                        <a:rPr sz="800" b="1">
                          <a:solidFill>
                            <a:srgbClr val="2E2E2E"/>
                          </a:solidFill>
                          <a:latin typeface="Calibri"/>
                        </a:rPr>
                        <a:t>2,650</a:t>
                      </a:r>
                    </a:p>
                  </a:txBody>
                  <a:tcPr marL="85725" marR="38100" marT="19050" marB="19050" anchor="ctr">
                    <a:solidFill>
                      <a:srgbClr val="E0E8EF"/>
                    </a:solidFill>
                  </a:tcPr>
                </a:tc>
                <a:tc>
                  <a:txBody>
                    <a:bodyPr wrap="none"/>
                    <a:lstStyle/>
                    <a:p>
                      <a:pPr algn="l"/>
                      <a:r>
                        <a:rPr sz="800" b="1">
                          <a:solidFill>
                            <a:srgbClr val="2E2E2E"/>
                          </a:solidFill>
                          <a:latin typeface="Calibri"/>
                        </a:rPr>
                        <a:t>2,852</a:t>
                      </a:r>
                    </a:p>
                  </a:txBody>
                  <a:tcPr marL="85725" marR="38100" marT="19050" marB="19050" anchor="ctr">
                    <a:solidFill>
                      <a:srgbClr val="E0E8EF"/>
                    </a:solidFill>
                  </a:tcPr>
                </a:tc>
                <a:tc>
                  <a:txBody>
                    <a:bodyPr wrap="none"/>
                    <a:lstStyle/>
                    <a:p>
                      <a:pPr algn="l"/>
                      <a:r>
                        <a:rPr sz="800" b="1">
                          <a:solidFill>
                            <a:srgbClr val="2E2E2E"/>
                          </a:solidFill>
                          <a:latin typeface="Calibri"/>
                        </a:rPr>
                        <a:t>3,074</a:t>
                      </a:r>
                    </a:p>
                  </a:txBody>
                  <a:tcPr marL="85725" marR="38100" marT="19050" marB="19050" anchor="ctr">
                    <a:solidFill>
                      <a:srgbClr val="E0E8EF"/>
                    </a:solidFill>
                  </a:tcPr>
                </a:tc>
                <a:tc>
                  <a:txBody>
                    <a:bodyPr wrap="none"/>
                    <a:lstStyle/>
                    <a:p>
                      <a:pPr algn="l"/>
                      <a:r>
                        <a:rPr sz="800" b="1">
                          <a:solidFill>
                            <a:srgbClr val="2E2E2E"/>
                          </a:solidFill>
                          <a:latin typeface="Calibri"/>
                        </a:rPr>
                        <a:t>3,314</a:t>
                      </a:r>
                    </a:p>
                  </a:txBody>
                  <a:tcPr marL="85725" marR="38100" marT="19050" marB="19050" anchor="ctr">
                    <a:solidFill>
                      <a:srgbClr val="E0E8EF"/>
                    </a:solidFill>
                  </a:tcPr>
                </a:tc>
                <a:tc>
                  <a:txBody>
                    <a:bodyPr wrap="none"/>
                    <a:lstStyle/>
                    <a:p>
                      <a:pPr algn="l"/>
                      <a:r>
                        <a:rPr sz="800" b="1">
                          <a:solidFill>
                            <a:srgbClr val="2E2E2E"/>
                          </a:solidFill>
                          <a:latin typeface="Calibri"/>
                        </a:rPr>
                        <a:t>3,578</a:t>
                      </a:r>
                    </a:p>
                  </a:txBody>
                  <a:tcPr marL="85725" marR="38100" marT="19050" marB="19050" anchor="ctr">
                    <a:solidFill>
                      <a:srgbClr val="E0E8EF"/>
                    </a:solidFill>
                  </a:tcPr>
                </a:tc>
                <a:tc>
                  <a:txBody>
                    <a:bodyPr wrap="none"/>
                    <a:lstStyle/>
                    <a:p>
                      <a:pPr algn="l"/>
                      <a:r>
                        <a:rPr sz="800" b="1">
                          <a:solidFill>
                            <a:srgbClr val="2E2E2E"/>
                          </a:solidFill>
                          <a:latin typeface="Calibri"/>
                        </a:rPr>
                        <a:t>3,865</a:t>
                      </a:r>
                    </a:p>
                  </a:txBody>
                  <a:tcPr marL="85725" marR="38100" marT="19050" marB="19050" anchor="ctr">
                    <a:solidFill>
                      <a:srgbClr val="E0E8EF"/>
                    </a:solidFill>
                  </a:tcPr>
                </a:tc>
                <a:tc>
                  <a:txBody>
                    <a:bodyPr wrap="none"/>
                    <a:lstStyle/>
                    <a:p>
                      <a:pPr algn="l"/>
                      <a:r>
                        <a:rPr sz="800" b="1">
                          <a:solidFill>
                            <a:srgbClr val="2E2E2E"/>
                          </a:solidFill>
                          <a:latin typeface="Calibri"/>
                        </a:rPr>
                        <a:t>4,185</a:t>
                      </a:r>
                    </a:p>
                  </a:txBody>
                  <a:tcPr marL="85725" marR="38100" marT="19050" marB="19050" anchor="ctr">
                    <a:solidFill>
                      <a:srgbClr val="E0E8EF"/>
                    </a:solidFill>
                  </a:tcPr>
                </a:tc>
                <a:tc>
                  <a:txBody>
                    <a:bodyPr wrap="none"/>
                    <a:lstStyle/>
                    <a:p>
                      <a:pPr algn="l"/>
                      <a:r>
                        <a:rPr sz="800" b="1">
                          <a:solidFill>
                            <a:srgbClr val="2E2E2E"/>
                          </a:solidFill>
                          <a:latin typeface="Calibri"/>
                        </a:rPr>
                        <a:t>4,538</a:t>
                      </a:r>
                    </a:p>
                  </a:txBody>
                  <a:tcPr marL="85725" marR="38100" marT="19050" marB="19050" anchor="ctr">
                    <a:solidFill>
                      <a:srgbClr val="E0E8EF"/>
                    </a:solidFill>
                  </a:tcPr>
                </a:tc>
                <a:tc>
                  <a:txBody>
                    <a:bodyPr wrap="none"/>
                    <a:lstStyle/>
                    <a:p>
                      <a:pPr algn="l"/>
                      <a:r>
                        <a:rPr sz="800" b="1">
                          <a:solidFill>
                            <a:srgbClr val="2E2E2E"/>
                          </a:solidFill>
                          <a:latin typeface="Calibri"/>
                        </a:rPr>
                        <a:t>4,933</a:t>
                      </a:r>
                    </a:p>
                  </a:txBody>
                  <a:tcPr marL="85725" marR="38100" marT="19050" marB="19050" anchor="ctr">
                    <a:solidFill>
                      <a:srgbClr val="E0E8EF"/>
                    </a:solidFill>
                  </a:tcPr>
                </a:tc>
                <a:tc>
                  <a:txBody>
                    <a:bodyPr wrap="none"/>
                    <a:lstStyle/>
                    <a:p>
                      <a:pPr algn="l"/>
                      <a:r>
                        <a:rPr sz="800" b="1">
                          <a:solidFill>
                            <a:srgbClr val="2E2E2E"/>
                          </a:solidFill>
                          <a:latin typeface="Calibri"/>
                        </a:rPr>
                        <a:t>7.9%</a:t>
                      </a:r>
                    </a:p>
                  </a:txBody>
                  <a:tcPr marL="85725" marR="38100" marT="19050" marB="19050" anchor="ctr">
                    <a:solidFill>
                      <a:srgbClr val="E0E8EF"/>
                    </a:solidFill>
                  </a:tcPr>
                </a:tc>
              </a:tr>
            </a:tbl>
          </a:graphicData>
        </a:graphic>
      </p:graphicFrame>
      <p:sp>
        <p:nvSpPr>
          <p:cNvPr id="15" name="TextBox 14"/>
          <p:cNvSpPr txBox="1"/>
          <p:nvPr/>
        </p:nvSpPr>
        <p:spPr>
          <a:xfrm>
            <a:off x="219075" y="38481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124325"/>
            <a:ext cx="11906250" cy="2600325"/>
          </a:xfrm>
          <a:prstGeom prst="roundRect">
            <a:avLst>
              <a:gd name="adj" fmla="val 29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210050"/>
            <a:ext cx="11639550" cy="209550"/>
          </a:xfrm>
          <a:prstGeom prst="rect">
            <a:avLst/>
          </a:prstGeom>
          <a:noFill/>
        </p:spPr>
        <p:txBody>
          <a:bodyPr wrap="square" lIns="0" rIns="19050" tIns="9525" bIns="9525">
            <a:spAutoFit/>
          </a:bodyPr>
          <a:lstStyle/>
          <a:p>
            <a:pPr algn="l"/>
            <a:r>
              <a:rPr sz="1300" b="1">
                <a:solidFill>
                  <a:srgbClr val="0B2E4A"/>
                </a:solidFill>
                <a:latin typeface="Calibri"/>
              </a:rPr>
              <a:t>Global Value Analysis, By Distribution Channel</a:t>
            </a:r>
          </a:p>
        </p:txBody>
      </p:sp>
      <p:sp>
        <p:nvSpPr>
          <p:cNvPr id="18" name="Rectangle 17"/>
          <p:cNvSpPr/>
          <p:nvPr/>
        </p:nvSpPr>
        <p:spPr>
          <a:xfrm>
            <a:off x="276225" y="44481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4533900"/>
            <a:ext cx="11639550" cy="21145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'Medical Distributors &amp; Wholesalers' is the largest distribution channel at 35.6% of 2036 value (1,754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'E-Commerce / DTC' grows fastest 12.2%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shifts toward 'E-Commerce / DTC' (+814 BPS) and away from 'Medical Distributors &amp; Wholesalers' (-558 BPS) between 2026 and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rises from 2,306 to 4,933 US$ Mn across 4 categories.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Market Value &amp; Share Shift, By Distribution Channel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Value composition by Distribution Channel in 2021, 2026 and 2036, highlighting share shifts in basis points</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7400925"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7210425" cy="38100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Composition, By Distribution Channel ·  2021 / 2026 / 2036 (US$ Mn)  ·  right axis = BPS share shift</a:t>
            </a:r>
          </a:p>
        </p:txBody>
      </p:sp>
      <p:graphicFrame>
        <p:nvGraphicFramePr>
          <p:cNvPr id="14" name="Chart 13"/>
          <p:cNvGraphicFramePr>
            <a:graphicFrameLocks noGrp="1"/>
          </p:cNvGraphicFramePr>
          <p:nvPr/>
        </p:nvGraphicFramePr>
        <p:xfrm>
          <a:off x="238125" y="1457325"/>
          <a:ext cx="5624132" cy="5210175"/>
        </p:xfrm>
        <a:graphic>
          <a:graphicData uri="http://schemas.openxmlformats.org/drawingml/2006/chart">
            <c:chart xmlns:c="http://schemas.openxmlformats.org/drawingml/2006/chart" r:id="rId3"/>
          </a:graphicData>
        </a:graphic>
      </p:graphicFrame>
      <p:sp>
        <p:nvSpPr>
          <p:cNvPr id="15" name="TextBox 14"/>
          <p:cNvSpPr txBox="1"/>
          <p:nvPr/>
        </p:nvSpPr>
        <p:spPr>
          <a:xfrm>
            <a:off x="5862256" y="1466850"/>
            <a:ext cx="1586293" cy="179832"/>
          </a:xfrm>
          <a:prstGeom prst="rect">
            <a:avLst/>
          </a:prstGeom>
          <a:noFill/>
        </p:spPr>
        <p:txBody>
          <a:bodyPr wrap="square" lIns="28575" rIns="28575" tIns="9525" bIns="9525" anchor="ctr">
            <a:spAutoFit/>
          </a:bodyPr>
          <a:lstStyle/>
          <a:p>
            <a:pPr algn="ctr"/>
            <a:r>
              <a:rPr sz="950" b="1">
                <a:solidFill>
                  <a:srgbClr val="2E2E2E"/>
                </a:solidFill>
                <a:latin typeface="Calibri"/>
              </a:rPr>
              <a:t>BPS Δ  (2021→2036)</a:t>
            </a:r>
          </a:p>
        </p:txBody>
      </p:sp>
      <p:cxnSp>
        <p:nvCxnSpPr>
          <p:cNvPr id="16" name="Connector 15"/>
          <p:cNvCxnSpPr/>
          <p:nvPr/>
        </p:nvCxnSpPr>
        <p:spPr>
          <a:xfrm>
            <a:off x="7010400" y="1665732"/>
            <a:ext cx="0" cy="4144518"/>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19406" y="3737991"/>
            <a:ext cx="1090994" cy="0"/>
          </a:xfrm>
          <a:prstGeom prst="line">
            <a:avLst/>
          </a:prstGeom>
          <a:ln w="9525">
            <a:solidFill>
              <a:srgbClr val="C7CFD6"/>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38975" y="5265361"/>
            <a:ext cx="419100" cy="133350"/>
          </a:xfrm>
          <a:prstGeom prst="rect">
            <a:avLst/>
          </a:prstGeom>
          <a:noFill/>
        </p:spPr>
        <p:txBody>
          <a:bodyPr wrap="none" lIns="0" rIns="0" tIns="0" bIns="0" anchor="ctr">
            <a:spAutoFit/>
          </a:bodyPr>
          <a:lstStyle/>
          <a:p>
            <a:pPr algn="l"/>
            <a:r>
              <a:rPr sz="750" b="0">
                <a:solidFill>
                  <a:srgbClr val="6C7A89"/>
                </a:solidFill>
                <a:latin typeface="Calibri"/>
              </a:rPr>
              <a:t>-814</a:t>
            </a:r>
          </a:p>
        </p:txBody>
      </p:sp>
      <p:sp>
        <p:nvSpPr>
          <p:cNvPr id="19" name="TextBox 18"/>
          <p:cNvSpPr txBox="1"/>
          <p:nvPr/>
        </p:nvSpPr>
        <p:spPr>
          <a:xfrm>
            <a:off x="7038975" y="3671316"/>
            <a:ext cx="419100" cy="133350"/>
          </a:xfrm>
          <a:prstGeom prst="rect">
            <a:avLst/>
          </a:prstGeom>
          <a:noFill/>
        </p:spPr>
        <p:txBody>
          <a:bodyPr wrap="none" lIns="0" rIns="0" tIns="0" bIns="0" anchor="ctr">
            <a:spAutoFit/>
          </a:bodyPr>
          <a:lstStyle/>
          <a:p>
            <a:pPr algn="l"/>
            <a:r>
              <a:rPr sz="750" b="0">
                <a:solidFill>
                  <a:srgbClr val="6C7A89"/>
                </a:solidFill>
                <a:latin typeface="Calibri"/>
              </a:rPr>
              <a:t>+0</a:t>
            </a:r>
          </a:p>
        </p:txBody>
      </p:sp>
      <p:sp>
        <p:nvSpPr>
          <p:cNvPr id="20" name="TextBox 19"/>
          <p:cNvSpPr txBox="1"/>
          <p:nvPr/>
        </p:nvSpPr>
        <p:spPr>
          <a:xfrm>
            <a:off x="7038975" y="2077271"/>
            <a:ext cx="419100" cy="133350"/>
          </a:xfrm>
          <a:prstGeom prst="rect">
            <a:avLst/>
          </a:prstGeom>
          <a:noFill/>
        </p:spPr>
        <p:txBody>
          <a:bodyPr wrap="none" lIns="0" rIns="0" tIns="0" bIns="0" anchor="ctr">
            <a:spAutoFit/>
          </a:bodyPr>
          <a:lstStyle/>
          <a:p>
            <a:pPr algn="l"/>
            <a:r>
              <a:rPr sz="750" b="0">
                <a:solidFill>
                  <a:srgbClr val="6C7A89"/>
                </a:solidFill>
                <a:latin typeface="Calibri"/>
              </a:rPr>
              <a:t>+814</a:t>
            </a:r>
          </a:p>
        </p:txBody>
      </p:sp>
      <p:sp>
        <p:nvSpPr>
          <p:cNvPr id="21" name="Oval 20"/>
          <p:cNvSpPr/>
          <p:nvPr/>
        </p:nvSpPr>
        <p:spPr>
          <a:xfrm>
            <a:off x="5971794" y="2101083"/>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971794" y="3677477"/>
            <a:ext cx="85725" cy="85725"/>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971794" y="4213409"/>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971794" y="4788544"/>
            <a:ext cx="85725" cy="85725"/>
          </a:xfrm>
          <a:prstGeom prst="ellipse">
            <a:avLst/>
          </a:prstGeom>
          <a:solidFill>
            <a:srgbClr val="E44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1332" y="2067746"/>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+814</a:t>
            </a:r>
          </a:p>
        </p:txBody>
      </p:sp>
      <p:sp>
        <p:nvSpPr>
          <p:cNvPr id="26" name="TextBox 25"/>
          <p:cNvSpPr txBox="1"/>
          <p:nvPr/>
        </p:nvSpPr>
        <p:spPr>
          <a:xfrm>
            <a:off x="6081332" y="3644140"/>
            <a:ext cx="590550" cy="152400"/>
          </a:xfrm>
          <a:prstGeom prst="rect">
            <a:avLst/>
          </a:prstGeom>
          <a:noFill/>
        </p:spPr>
        <p:txBody>
          <a:bodyPr wrap="square" lIns="28575" rIns="28575" tIns="9525" bIns="9525" anchor="ctr">
            <a:spAutoFit/>
          </a:bodyPr>
          <a:lstStyle/>
          <a:p>
            <a:pPr algn="l"/>
            <a:r>
              <a:rPr sz="800" b="1">
                <a:solidFill>
                  <a:srgbClr val="2E7D32"/>
                </a:solidFill>
                <a:latin typeface="Calibri"/>
              </a:rPr>
              <a:t>▲ +9</a:t>
            </a:r>
          </a:p>
        </p:txBody>
      </p:sp>
      <p:sp>
        <p:nvSpPr>
          <p:cNvPr id="27" name="TextBox 26"/>
          <p:cNvSpPr txBox="1"/>
          <p:nvPr/>
        </p:nvSpPr>
        <p:spPr>
          <a:xfrm>
            <a:off x="6081332" y="4180072"/>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-265</a:t>
            </a:r>
          </a:p>
        </p:txBody>
      </p:sp>
      <p:sp>
        <p:nvSpPr>
          <p:cNvPr id="28" name="TextBox 27"/>
          <p:cNvSpPr txBox="1"/>
          <p:nvPr/>
        </p:nvSpPr>
        <p:spPr>
          <a:xfrm>
            <a:off x="6081332" y="4755207"/>
            <a:ext cx="590550" cy="152400"/>
          </a:xfrm>
          <a:prstGeom prst="rect">
            <a:avLst/>
          </a:prstGeom>
          <a:noFill/>
        </p:spPr>
        <p:txBody>
          <a:bodyPr wrap="square" lIns="28575" rIns="28575" tIns="9525" bIns="9525" anchor="ctr">
            <a:spAutoFit/>
          </a:bodyPr>
          <a:lstStyle/>
          <a:p>
            <a:pPr algn="l"/>
            <a:r>
              <a:rPr sz="800" b="1">
                <a:solidFill>
                  <a:srgbClr val="E44D3A"/>
                </a:solidFill>
                <a:latin typeface="Calibri"/>
              </a:rPr>
              <a:t>▼ -558</a:t>
            </a:r>
          </a:p>
        </p:txBody>
      </p:sp>
      <p:sp>
        <p:nvSpPr>
          <p:cNvPr id="29" name="Rounded Rectangle 28"/>
          <p:cNvSpPr/>
          <p:nvPr/>
        </p:nvSpPr>
        <p:spPr>
          <a:xfrm>
            <a:off x="7696200" y="857250"/>
            <a:ext cx="4343400" cy="5867400"/>
          </a:xfrm>
          <a:prstGeom prst="roundRect">
            <a:avLst>
              <a:gd name="adj" fmla="val 175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29550" y="942975"/>
            <a:ext cx="4076700" cy="209550"/>
          </a:xfrm>
          <a:prstGeom prst="rect">
            <a:avLst/>
          </a:prstGeom>
          <a:noFill/>
        </p:spPr>
        <p:txBody>
          <a:bodyPr wrap="square" lIns="0" rIns="19050" tIns="9525" bIns="9525">
            <a:spAutoFit/>
          </a:bodyPr>
          <a:lstStyle/>
          <a:p>
            <a:pPr algn="l"/>
            <a:r>
              <a:rPr sz="1300" b="1">
                <a:solidFill>
                  <a:srgbClr val="0B2E4A"/>
                </a:solidFill>
                <a:latin typeface="Calibri"/>
              </a:rPr>
              <a:t>Global Read-out, By Distribution Channel</a:t>
            </a:r>
          </a:p>
        </p:txBody>
      </p:sp>
      <p:sp>
        <p:nvSpPr>
          <p:cNvPr id="31" name="Rectangle 30"/>
          <p:cNvSpPr/>
          <p:nvPr/>
        </p:nvSpPr>
        <p:spPr>
          <a:xfrm>
            <a:off x="7829550" y="1181100"/>
            <a:ext cx="40767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9550" y="1266825"/>
            <a:ext cx="407670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'E-Commerce / DTC' gains the most share +814 BPS between 2026 and 2036 (</a:t>
            </a:r>
            <a:r>
              <a:rPr sz="1150" b="0">
                <a:solidFill>
                  <a:srgbClr val="2E7D32"/>
                </a:solidFill>
                <a:latin typeface="Calibri"/>
              </a:rPr>
              <a:t>green ▲</a:t>
            </a:r>
            <a:r>
              <a:rPr sz="1150" b="0">
                <a:solidFill>
                  <a:srgbClr val="2E2E2E"/>
                </a:solidFill>
                <a:latin typeface="Calibri"/>
              </a:rPr>
              <a:t> on the scale).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'Medical Distributors &amp; Wholesalers' cedes the most -558 BPS over the same window (</a:t>
            </a:r>
            <a:r>
              <a:rPr sz="1150" b="0">
                <a:solidFill>
                  <a:srgbClr val="E44D3A"/>
                </a:solidFill>
                <a:latin typeface="Calibri"/>
              </a:rPr>
              <a:t>red ▼</a:t>
            </a:r>
            <a:r>
              <a:rPr sz="1150" b="0">
                <a:solidFill>
                  <a:srgbClr val="2E2E2E"/>
                </a:solidFill>
                <a:latin typeface="Calibri"/>
              </a:rPr>
              <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'E-Commerce / DTC' is the fastest-growing distribution channel at 12.2% CAGR (2026–2036).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Total value climbs from 1,788 to 4,933 US$ Mn across 2021–2036.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Bars show the value mix at each snapshot; the scale shows how each share moves.</a:t>
            </a:r>
          </a:p>
        </p:txBody>
      </p:sp>
      <p:sp>
        <p:nvSpPr>
          <p:cNvPr id="33" name="Rectangle 3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5" name="Rounded Rectangle 34">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6" name="Rounded Rectangle 35">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Volume, By Distribution Channel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volume growth by Distribution Channel,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Growth, By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4.9%</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1">
                          <a:solidFill>
                            <a:srgbClr val="A86F00"/>
                          </a:solidFill>
                          <a:latin typeface="Calibri"/>
                        </a:rPr>
                        <a:t>▶ 4.5%</a:t>
                      </a:r>
                    </a:p>
                  </a:txBody>
                  <a:tcPr marL="85725" marR="38100" marT="19050" marB="19050" anchor="ctr">
                    <a:solidFill>
                      <a:srgbClr val="F5F8FA"/>
                    </a:solidFill>
                  </a:tcPr>
                </a:tc>
                <a:tc>
                  <a:txBody>
                    <a:bodyPr wrap="none"/>
                    <a:lstStyle/>
                    <a:p>
                      <a:pPr algn="l"/>
                      <a:r>
                        <a:rPr sz="800" b="1">
                          <a:solidFill>
                            <a:srgbClr val="A86F00"/>
                          </a:solidFill>
                          <a:latin typeface="Calibri"/>
                        </a:rPr>
                        <a:t>▶ 4.7%</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5.6%</a:t>
                      </a:r>
                    </a:p>
                  </a:txBody>
                  <a:tcPr marL="85725" marR="38100" marT="19050" marB="19050" anchor="ctr">
                    <a:solidFill>
                      <a:srgbClr val="F5F8FA"/>
                    </a:solidFill>
                  </a:tcPr>
                </a:tc>
                <a:tc>
                  <a:txBody>
                    <a:bodyPr wrap="none"/>
                    <a:lstStyle/>
                    <a:p>
                      <a:pPr algn="l"/>
                      <a:r>
                        <a:rPr sz="800" b="1">
                          <a:solidFill>
                            <a:srgbClr val="A86F00"/>
                          </a:solidFill>
                          <a:latin typeface="Calibri"/>
                        </a:rPr>
                        <a:t>▶ 5.4%</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5.2%</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1">
                          <a:solidFill>
                            <a:srgbClr val="2E7D32"/>
                          </a:solidFill>
                          <a:latin typeface="Calibri"/>
                        </a:rPr>
                        <a:t>▲ 5.7%</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c>
                  <a:txBody>
                    <a:bodyPr wrap="none"/>
                    <a:lstStyle/>
                    <a:p>
                      <a:pPr algn="l"/>
                      <a:r>
                        <a:rPr sz="800" b="1">
                          <a:solidFill>
                            <a:srgbClr val="2E7D32"/>
                          </a:solidFill>
                          <a:latin typeface="Calibri"/>
                        </a:rPr>
                        <a:t>▲ 6.3%</a:t>
                      </a:r>
                    </a:p>
                  </a:txBody>
                  <a:tcPr marL="85725" marR="38100" marT="19050" marB="19050" anchor="ctr">
                    <a:solidFill>
                      <a:srgbClr val="FFFFFF"/>
                    </a:solidFill>
                  </a:tcPr>
                </a:tc>
                <a:tc>
                  <a:txBody>
                    <a:bodyPr wrap="none"/>
                    <a:lstStyle/>
                    <a:p>
                      <a:pPr algn="l"/>
                      <a:r>
                        <a:rPr sz="800" b="1">
                          <a:solidFill>
                            <a:srgbClr val="2E7D32"/>
                          </a:solidFill>
                          <a:latin typeface="Calibri"/>
                        </a:rPr>
                        <a:t>▲ 6.7%</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7.1%</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Volume YoY Heatmap, By Distribution Channel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Direct Sales</a:t>
            </a:r>
          </a:p>
        </p:txBody>
      </p:sp>
      <p:sp>
        <p:nvSpPr>
          <p:cNvPr id="34" name="Rectangle 33"/>
          <p:cNvSpPr/>
          <p:nvPr/>
        </p:nvSpPr>
        <p:spPr>
          <a:xfrm>
            <a:off x="1857375" y="3867150"/>
            <a:ext cx="643890" cy="700088"/>
          </a:xfrm>
          <a:prstGeom prst="rect">
            <a:avLst/>
          </a:prstGeom>
          <a:solidFill>
            <a:srgbClr val="FB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F1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9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DBEA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E3F0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Medical Distributors &amp; Wholesalers</a:t>
            </a:r>
          </a:p>
        </p:txBody>
      </p:sp>
      <p:sp>
        <p:nvSpPr>
          <p:cNvPr id="50" name="Rectangle 49"/>
          <p:cNvSpPr/>
          <p:nvPr/>
        </p:nvSpPr>
        <p:spPr>
          <a:xfrm>
            <a:off x="185737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F7FC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F0F9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DFEDF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DFED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E4F1F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EA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F2F9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F2FA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F7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Retail Pharmacy</a:t>
            </a:r>
          </a:p>
        </p:txBody>
      </p:sp>
      <p:sp>
        <p:nvSpPr>
          <p:cNvPr id="66" name="Rectangle 65"/>
          <p:cNvSpPr/>
          <p:nvPr/>
        </p:nvSpPr>
        <p:spPr>
          <a:xfrm>
            <a:off x="1857375" y="5267325"/>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E1EFF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D9E8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CF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C1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B4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AECD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B3D0E6"/>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C2D8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E-Commerce / DTC</a:t>
            </a:r>
          </a:p>
        </p:txBody>
      </p:sp>
      <p:sp>
        <p:nvSpPr>
          <p:cNvPr id="82" name="Rectangle 81"/>
          <p:cNvSpPr/>
          <p:nvPr/>
        </p:nvSpPr>
        <p:spPr>
          <a:xfrm>
            <a:off x="1857375" y="5967412"/>
            <a:ext cx="643890" cy="700088"/>
          </a:xfrm>
          <a:prstGeom prst="rect">
            <a:avLst/>
          </a:prstGeom>
          <a:solidFill>
            <a:srgbClr val="3C8EC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3086B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0E71A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0C4C7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0B375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0B2F4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0C3A5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0C476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0D527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0D609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0D5E9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0E6AA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12%</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5%</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YoY Analysis of Global Market Value, By Distribution Channel (%)</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Year-on-year value growth by Distribution Channel, 2022–2036,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447925"/>
          </a:xfrm>
          <a:prstGeom prst="roundRect">
            <a:avLst>
              <a:gd name="adj" fmla="val 31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Growth, By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1">
                          <a:solidFill>
                            <a:srgbClr val="A86F00"/>
                          </a:solidFill>
                          <a:latin typeface="Calibri"/>
                        </a:rPr>
                        <a:t>▶ 3.4%</a:t>
                      </a:r>
                    </a:p>
                  </a:txBody>
                  <a:tcPr marL="85725" marR="38100" marT="19050" marB="19050" anchor="ctr">
                    <a:solidFill>
                      <a:srgbClr val="FFFFFF"/>
                    </a:solidFill>
                  </a:tcPr>
                </a:tc>
                <a:tc>
                  <a:txBody>
                    <a:bodyPr wrap="none"/>
                    <a:lstStyle/>
                    <a:p>
                      <a:pPr algn="l"/>
                      <a:r>
                        <a:rPr sz="800" b="1">
                          <a:solidFill>
                            <a:srgbClr val="A86F00"/>
                          </a:solidFill>
                          <a:latin typeface="Calibri"/>
                        </a:rPr>
                        <a:t>▶ 3.8%</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1">
                          <a:solidFill>
                            <a:srgbClr val="A86F00"/>
                          </a:solidFill>
                          <a:latin typeface="Calibri"/>
                        </a:rPr>
                        <a:t>▶ 3.2%</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4.2%</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1">
                          <a:solidFill>
                            <a:srgbClr val="2E7D32"/>
                          </a:solidFill>
                          <a:latin typeface="Calibri"/>
                        </a:rPr>
                        <a:t>▲ 4.2%</a:t>
                      </a:r>
                    </a:p>
                  </a:txBody>
                  <a:tcPr marL="85725" marR="38100" marT="19050" marB="19050" anchor="ctr">
                    <a:solidFill>
                      <a:srgbClr val="FFFFFF"/>
                    </a:solidFill>
                  </a:tcPr>
                </a:tc>
                <a:tc>
                  <a:txBody>
                    <a:bodyPr wrap="none"/>
                    <a:lstStyle/>
                    <a:p>
                      <a:pPr algn="l"/>
                      <a:r>
                        <a:rPr sz="800" b="1">
                          <a:solidFill>
                            <a:srgbClr val="2E7D32"/>
                          </a:solidFill>
                          <a:latin typeface="Calibri"/>
                        </a:rPr>
                        <a:t>▲ 4.7%</a:t>
                      </a:r>
                    </a:p>
                  </a:txBody>
                  <a:tcPr marL="85725" marR="38100" marT="19050" marB="19050" anchor="ctr">
                    <a:solidFill>
                      <a:srgbClr val="FFFFFF"/>
                    </a:solidFill>
                  </a:tcPr>
                </a:tc>
                <a:tc>
                  <a:txBody>
                    <a:bodyPr wrap="none"/>
                    <a:lstStyle/>
                    <a:p>
                      <a:pPr algn="l"/>
                      <a:r>
                        <a:rPr sz="800" b="1">
                          <a:solidFill>
                            <a:srgbClr val="2E7D32"/>
                          </a:solidFill>
                          <a:latin typeface="Calibri"/>
                        </a:rPr>
                        <a:t>▲ 5.4%</a:t>
                      </a:r>
                    </a:p>
                  </a:txBody>
                  <a:tcPr marL="85725" marR="38100" marT="19050" marB="19050" anchor="ctr">
                    <a:solidFill>
                      <a:srgbClr val="FFFFFF"/>
                    </a:solidFill>
                  </a:tcPr>
                </a:tc>
                <a:tc>
                  <a:txBody>
                    <a:bodyPr wrap="none"/>
                    <a:lstStyle/>
                    <a:p>
                      <a:pPr algn="l"/>
                      <a:r>
                        <a:rPr sz="800" b="1">
                          <a:solidFill>
                            <a:srgbClr val="2E7D32"/>
                          </a:solidFill>
                          <a:latin typeface="Calibri"/>
                        </a:rPr>
                        <a:t>▲ 6.0%</a:t>
                      </a:r>
                    </a:p>
                  </a:txBody>
                  <a:tcPr marL="85725" marR="38100" marT="19050" marB="19050" anchor="ctr">
                    <a:solidFill>
                      <a:srgbClr val="FFFFFF"/>
                    </a:solidFill>
                  </a:tcPr>
                </a:tc>
                <a:tc>
                  <a:txBody>
                    <a:bodyPr wrap="none"/>
                    <a:lstStyle/>
                    <a:p>
                      <a:pPr algn="l"/>
                      <a:r>
                        <a:rPr sz="800" b="1">
                          <a:solidFill>
                            <a:srgbClr val="2E7D32"/>
                          </a:solidFill>
                          <a:latin typeface="Calibri"/>
                        </a:rPr>
                        <a:t>▲ 6.6%</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A86F00"/>
                          </a:solidFill>
                          <a:latin typeface="Calibri"/>
                        </a:rPr>
                        <a:t>▶ 8.4%</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11.4%</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12.5%</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12.8%</a:t>
                      </a:r>
                    </a:p>
                  </a:txBody>
                  <a:tcPr marL="85725" marR="38100" marT="19050" marB="19050" anchor="ctr">
                    <a:solidFill>
                      <a:srgbClr val="F5F8FA"/>
                    </a:solidFill>
                  </a:tcPr>
                </a:tc>
              </a:tr>
            </a:tbl>
          </a:graphicData>
        </a:graphic>
      </p:graphicFrame>
      <p:sp>
        <p:nvSpPr>
          <p:cNvPr id="15" name="TextBox 14"/>
          <p:cNvSpPr txBox="1"/>
          <p:nvPr/>
        </p:nvSpPr>
        <p:spPr>
          <a:xfrm>
            <a:off x="219075" y="31623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438525"/>
            <a:ext cx="11906250" cy="3286125"/>
          </a:xfrm>
          <a:prstGeom prst="roundRect">
            <a:avLst>
              <a:gd name="adj" fmla="val 231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956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YoY Heatmap, By Distribution Channel (%)  ·  light = lower, dark = higher growth</a:t>
            </a:r>
          </a:p>
        </p:txBody>
      </p:sp>
      <p:sp>
        <p:nvSpPr>
          <p:cNvPr id="18" name="TextBox 17"/>
          <p:cNvSpPr txBox="1"/>
          <p:nvPr/>
        </p:nvSpPr>
        <p:spPr>
          <a:xfrm>
            <a:off x="18573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2022</a:t>
            </a:r>
          </a:p>
        </p:txBody>
      </p:sp>
      <p:sp>
        <p:nvSpPr>
          <p:cNvPr id="19" name="TextBox 18"/>
          <p:cNvSpPr txBox="1"/>
          <p:nvPr/>
        </p:nvSpPr>
        <p:spPr>
          <a:xfrm>
            <a:off x="25012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2023</a:t>
            </a:r>
          </a:p>
        </p:txBody>
      </p:sp>
      <p:sp>
        <p:nvSpPr>
          <p:cNvPr id="20" name="TextBox 19"/>
          <p:cNvSpPr txBox="1"/>
          <p:nvPr/>
        </p:nvSpPr>
        <p:spPr>
          <a:xfrm>
            <a:off x="31451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2024</a:t>
            </a:r>
          </a:p>
        </p:txBody>
      </p:sp>
      <p:sp>
        <p:nvSpPr>
          <p:cNvPr id="21" name="TextBox 20"/>
          <p:cNvSpPr txBox="1"/>
          <p:nvPr/>
        </p:nvSpPr>
        <p:spPr>
          <a:xfrm>
            <a:off x="37890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2025</a:t>
            </a:r>
          </a:p>
        </p:txBody>
      </p:sp>
      <p:sp>
        <p:nvSpPr>
          <p:cNvPr id="22" name="TextBox 21"/>
          <p:cNvSpPr txBox="1"/>
          <p:nvPr/>
        </p:nvSpPr>
        <p:spPr>
          <a:xfrm>
            <a:off x="44329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2026</a:t>
            </a:r>
          </a:p>
        </p:txBody>
      </p:sp>
      <p:sp>
        <p:nvSpPr>
          <p:cNvPr id="23" name="TextBox 22"/>
          <p:cNvSpPr txBox="1"/>
          <p:nvPr/>
        </p:nvSpPr>
        <p:spPr>
          <a:xfrm>
            <a:off x="507682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2027</a:t>
            </a:r>
          </a:p>
        </p:txBody>
      </p:sp>
      <p:sp>
        <p:nvSpPr>
          <p:cNvPr id="24" name="TextBox 23"/>
          <p:cNvSpPr txBox="1"/>
          <p:nvPr/>
        </p:nvSpPr>
        <p:spPr>
          <a:xfrm>
            <a:off x="572071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2028</a:t>
            </a:r>
          </a:p>
        </p:txBody>
      </p:sp>
      <p:sp>
        <p:nvSpPr>
          <p:cNvPr id="25" name="TextBox 24"/>
          <p:cNvSpPr txBox="1"/>
          <p:nvPr/>
        </p:nvSpPr>
        <p:spPr>
          <a:xfrm>
            <a:off x="636460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2029</a:t>
            </a:r>
          </a:p>
        </p:txBody>
      </p:sp>
      <p:sp>
        <p:nvSpPr>
          <p:cNvPr id="26" name="TextBox 25"/>
          <p:cNvSpPr txBox="1"/>
          <p:nvPr/>
        </p:nvSpPr>
        <p:spPr>
          <a:xfrm>
            <a:off x="700849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2030</a:t>
            </a:r>
          </a:p>
        </p:txBody>
      </p:sp>
      <p:sp>
        <p:nvSpPr>
          <p:cNvPr id="27" name="TextBox 26"/>
          <p:cNvSpPr txBox="1"/>
          <p:nvPr/>
        </p:nvSpPr>
        <p:spPr>
          <a:xfrm>
            <a:off x="765238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2031</a:t>
            </a:r>
          </a:p>
        </p:txBody>
      </p:sp>
      <p:sp>
        <p:nvSpPr>
          <p:cNvPr id="28" name="TextBox 27"/>
          <p:cNvSpPr txBox="1"/>
          <p:nvPr/>
        </p:nvSpPr>
        <p:spPr>
          <a:xfrm>
            <a:off x="829627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2032</a:t>
            </a:r>
          </a:p>
        </p:txBody>
      </p:sp>
      <p:sp>
        <p:nvSpPr>
          <p:cNvPr id="29" name="TextBox 28"/>
          <p:cNvSpPr txBox="1"/>
          <p:nvPr/>
        </p:nvSpPr>
        <p:spPr>
          <a:xfrm>
            <a:off x="894016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2033</a:t>
            </a:r>
          </a:p>
        </p:txBody>
      </p:sp>
      <p:sp>
        <p:nvSpPr>
          <p:cNvPr id="30" name="TextBox 29"/>
          <p:cNvSpPr txBox="1"/>
          <p:nvPr/>
        </p:nvSpPr>
        <p:spPr>
          <a:xfrm>
            <a:off x="958405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2034</a:t>
            </a:r>
          </a:p>
        </p:txBody>
      </p:sp>
      <p:sp>
        <p:nvSpPr>
          <p:cNvPr id="31" name="TextBox 30"/>
          <p:cNvSpPr txBox="1"/>
          <p:nvPr/>
        </p:nvSpPr>
        <p:spPr>
          <a:xfrm>
            <a:off x="1022794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2035</a:t>
            </a:r>
          </a:p>
        </p:txBody>
      </p:sp>
      <p:sp>
        <p:nvSpPr>
          <p:cNvPr id="32" name="TextBox 31"/>
          <p:cNvSpPr txBox="1"/>
          <p:nvPr/>
        </p:nvSpPr>
        <p:spPr>
          <a:xfrm>
            <a:off x="10871835" y="3724275"/>
            <a:ext cx="643890" cy="142875"/>
          </a:xfrm>
          <a:prstGeom prst="rect">
            <a:avLst/>
          </a:prstGeom>
          <a:noFill/>
        </p:spPr>
        <p:txBody>
          <a:bodyPr wrap="none" lIns="0" rIns="0" tIns="0" bIns="0" anchor="ctr">
            <a:spAutoFit/>
          </a:bodyPr>
          <a:lstStyle/>
          <a:p>
            <a:pPr algn="ctr"/>
            <a:r>
              <a:rPr sz="750" b="1">
                <a:solidFill>
                  <a:srgbClr val="6C7A89"/>
                </a:solidFill>
                <a:latin typeface="Calibri"/>
              </a:rPr>
              <a:t>2036</a:t>
            </a:r>
          </a:p>
        </p:txBody>
      </p:sp>
      <p:sp>
        <p:nvSpPr>
          <p:cNvPr id="33" name="TextBox 32"/>
          <p:cNvSpPr txBox="1"/>
          <p:nvPr/>
        </p:nvSpPr>
        <p:spPr>
          <a:xfrm>
            <a:off x="238125" y="3867150"/>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Direct Sales</a:t>
            </a:r>
          </a:p>
        </p:txBody>
      </p:sp>
      <p:sp>
        <p:nvSpPr>
          <p:cNvPr id="34" name="Rectangle 33"/>
          <p:cNvSpPr/>
          <p:nvPr/>
        </p:nvSpPr>
        <p:spPr>
          <a:xfrm>
            <a:off x="1857375" y="3867150"/>
            <a:ext cx="643890" cy="700088"/>
          </a:xfrm>
          <a:prstGeom prst="rect">
            <a:avLst/>
          </a:prstGeom>
          <a:solidFill>
            <a:srgbClr val="FCFE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501265" y="3867150"/>
            <a:ext cx="643890" cy="700088"/>
          </a:xfrm>
          <a:prstGeom prst="rect">
            <a:avLst/>
          </a:prstGeom>
          <a:solidFill>
            <a:srgbClr val="F6FBF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45155" y="3867150"/>
            <a:ext cx="643890" cy="700088"/>
          </a:xfrm>
          <a:prstGeom prst="rect">
            <a:avLst/>
          </a:prstGeom>
          <a:solidFill>
            <a:srgbClr val="EBF6F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9045" y="3867150"/>
            <a:ext cx="643890" cy="700088"/>
          </a:xfrm>
          <a:prstGeom prst="rect">
            <a:avLst/>
          </a:prstGeom>
          <a:solidFill>
            <a:srgbClr val="E2EFF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2935" y="3867150"/>
            <a:ext cx="643890" cy="700088"/>
          </a:xfrm>
          <a:prstGeom prst="rect">
            <a:avLst/>
          </a:prstGeom>
          <a:solidFill>
            <a:srgbClr val="D6E6F3"/>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6825" y="3867150"/>
            <a:ext cx="643890" cy="700088"/>
          </a:xfrm>
          <a:prstGeom prst="rect">
            <a:avLst/>
          </a:prstGeom>
          <a:solidFill>
            <a:srgbClr val="CDDF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720715" y="3867150"/>
            <a:ext cx="643890" cy="700088"/>
          </a:xfrm>
          <a:prstGeom prst="rect">
            <a:avLst/>
          </a:prstGeom>
          <a:solidFill>
            <a:srgbClr val="C5DAE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64605" y="3867150"/>
            <a:ext cx="643890" cy="700088"/>
          </a:xfrm>
          <a:prstGeom prst="rect">
            <a:avLst/>
          </a:prstGeom>
          <a:solidFill>
            <a:srgbClr val="BE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08495" y="3867150"/>
            <a:ext cx="643890" cy="700088"/>
          </a:xfrm>
          <a:prstGeom prst="rect">
            <a:avLst/>
          </a:prstGeom>
          <a:solidFill>
            <a:srgbClr val="BCD5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52385" y="3867150"/>
            <a:ext cx="643890" cy="700088"/>
          </a:xfrm>
          <a:prstGeom prst="rect">
            <a:avLst/>
          </a:prstGeom>
          <a:solidFill>
            <a:srgbClr val="BBD4E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96275" y="3867150"/>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940165" y="3867150"/>
            <a:ext cx="643890" cy="700088"/>
          </a:xfrm>
          <a:prstGeom prst="rect">
            <a:avLst/>
          </a:prstGeom>
          <a:solidFill>
            <a:srgbClr val="B8D2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584055" y="3867150"/>
            <a:ext cx="643890" cy="700088"/>
          </a:xfrm>
          <a:prstGeom prst="rect">
            <a:avLst/>
          </a:prstGeom>
          <a:solidFill>
            <a:srgbClr val="B0CE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227945" y="3867150"/>
            <a:ext cx="643890" cy="700088"/>
          </a:xfrm>
          <a:prstGeom prst="rect">
            <a:avLst/>
          </a:prstGeom>
          <a:solidFill>
            <a:srgbClr val="ADCCE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871835" y="3867150"/>
            <a:ext cx="643890" cy="700088"/>
          </a:xfrm>
          <a:prstGeom prst="rect">
            <a:avLst/>
          </a:prstGeom>
          <a:solidFill>
            <a:srgbClr val="A6C8E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8125" y="4567238"/>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Medical Distributors &amp; Wholesalers</a:t>
            </a:r>
          </a:p>
        </p:txBody>
      </p:sp>
      <p:sp>
        <p:nvSpPr>
          <p:cNvPr id="50" name="Rectangle 49"/>
          <p:cNvSpPr/>
          <p:nvPr/>
        </p:nvSpPr>
        <p:spPr>
          <a:xfrm>
            <a:off x="1857375" y="4567238"/>
            <a:ext cx="643890" cy="700088"/>
          </a:xfrm>
          <a:prstGeom prst="rect">
            <a:avLst/>
          </a:prstGeom>
          <a:solidFill>
            <a:srgbClr val="FFFFF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501265" y="4567238"/>
            <a:ext cx="643890" cy="700088"/>
          </a:xfrm>
          <a:prstGeom prst="rect">
            <a:avLst/>
          </a:prstGeom>
          <a:solidFill>
            <a:srgbClr val="FAFDF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145155" y="4567238"/>
            <a:ext cx="643890" cy="700088"/>
          </a:xfrm>
          <a:prstGeom prst="rect">
            <a:avLst/>
          </a:prstGeom>
          <a:solidFill>
            <a:srgbClr val="F0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789045" y="4567238"/>
            <a:ext cx="643890" cy="700088"/>
          </a:xfrm>
          <a:prstGeom prst="rect">
            <a:avLst/>
          </a:prstGeom>
          <a:solidFill>
            <a:srgbClr val="E8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432935" y="4567238"/>
            <a:ext cx="643890" cy="700088"/>
          </a:xfrm>
          <a:prstGeom prst="rect">
            <a:avLst/>
          </a:prstGeom>
          <a:solidFill>
            <a:srgbClr val="DCEBF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76825" y="4567238"/>
            <a:ext cx="643890" cy="700088"/>
          </a:xfrm>
          <a:prstGeom prst="rect">
            <a:avLst/>
          </a:prstGeom>
          <a:solidFill>
            <a:srgbClr val="D4E4F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720715" y="4567238"/>
            <a:ext cx="643890" cy="700088"/>
          </a:xfrm>
          <a:prstGeom prst="rect">
            <a:avLst/>
          </a:prstGeom>
          <a:solidFill>
            <a:srgbClr val="CFE0E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364605" y="4567238"/>
            <a:ext cx="643890" cy="700088"/>
          </a:xfrm>
          <a:prstGeom prst="rect">
            <a:avLst/>
          </a:prstGeom>
          <a:solidFill>
            <a:srgbClr val="CBDD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008495" y="4567238"/>
            <a:ext cx="643890" cy="700088"/>
          </a:xfrm>
          <a:prstGeom prst="rect">
            <a:avLst/>
          </a:prstGeom>
          <a:solidFill>
            <a:srgbClr val="CADCE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52385" y="4567238"/>
            <a:ext cx="643890" cy="700088"/>
          </a:xfrm>
          <a:prstGeom prst="rect">
            <a:avLst/>
          </a:prstGeom>
          <a:solidFill>
            <a:srgbClr val="C9DC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296275" y="4567238"/>
            <a:ext cx="643890" cy="700088"/>
          </a:xfrm>
          <a:prstGeom prst="rect">
            <a:avLst/>
          </a:prstGeom>
          <a:solidFill>
            <a:srgbClr val="C7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940165" y="4567238"/>
            <a:ext cx="643890" cy="700088"/>
          </a:xfrm>
          <a:prstGeom prst="rect">
            <a:avLst/>
          </a:prstGeom>
          <a:solidFill>
            <a:srgbClr val="C8DBE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84055" y="4567238"/>
            <a:ext cx="643890" cy="700088"/>
          </a:xfrm>
          <a:prstGeom prst="rect">
            <a:avLst/>
          </a:prstGeom>
          <a:solidFill>
            <a:srgbClr val="C1D7E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227945" y="4567238"/>
            <a:ext cx="643890" cy="70008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871835" y="4567238"/>
            <a:ext cx="643890" cy="700088"/>
          </a:xfrm>
          <a:prstGeom prst="rect">
            <a:avLst/>
          </a:prstGeom>
          <a:solidFill>
            <a:srgbClr val="BAD3E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38125" y="5267325"/>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Retail Pharmacy</a:t>
            </a:r>
          </a:p>
        </p:txBody>
      </p:sp>
      <p:sp>
        <p:nvSpPr>
          <p:cNvPr id="66" name="Rectangle 65"/>
          <p:cNvSpPr/>
          <p:nvPr/>
        </p:nvSpPr>
        <p:spPr>
          <a:xfrm>
            <a:off x="1857375" y="5267325"/>
            <a:ext cx="643890" cy="700088"/>
          </a:xfrm>
          <a:prstGeom prst="rect">
            <a:avLst/>
          </a:prstGeom>
          <a:solidFill>
            <a:srgbClr val="EEF8F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501265" y="5267325"/>
            <a:ext cx="643890" cy="700088"/>
          </a:xfrm>
          <a:prstGeom prst="rect">
            <a:avLst/>
          </a:prstGeom>
          <a:solidFill>
            <a:srgbClr val="E7F4F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145155" y="5267325"/>
            <a:ext cx="643890" cy="700088"/>
          </a:xfrm>
          <a:prstGeom prst="rect">
            <a:avLst/>
          </a:prstGeom>
          <a:solidFill>
            <a:srgbClr val="DAE9F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3789045" y="5267325"/>
            <a:ext cx="643890" cy="700088"/>
          </a:xfrm>
          <a:prstGeom prst="rect">
            <a:avLst/>
          </a:prstGeom>
          <a:solidFill>
            <a:srgbClr val="CFE0F0"/>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4432935" y="5267325"/>
            <a:ext cx="643890" cy="700088"/>
          </a:xfrm>
          <a:prstGeom prst="rect">
            <a:avLst/>
          </a:prstGeom>
          <a:solidFill>
            <a:srgbClr val="BFD6E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076825" y="5267325"/>
            <a:ext cx="643890" cy="700088"/>
          </a:xfrm>
          <a:prstGeom prst="rect">
            <a:avLst/>
          </a:prstGeom>
          <a:solidFill>
            <a:srgbClr val="AFCDE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720715" y="5267325"/>
            <a:ext cx="643890" cy="700088"/>
          </a:xfrm>
          <a:prstGeom prst="rect">
            <a:avLst/>
          </a:prstGeom>
          <a:solidFill>
            <a:srgbClr val="A3C6E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364605" y="5267325"/>
            <a:ext cx="643890" cy="700088"/>
          </a:xfrm>
          <a:prstGeom prst="rect">
            <a:avLst/>
          </a:prstGeom>
          <a:solidFill>
            <a:srgbClr val="9CC2DE"/>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7008495" y="5267325"/>
            <a:ext cx="643890" cy="700088"/>
          </a:xfrm>
          <a:prstGeom prst="rect">
            <a:avLst/>
          </a:prstGeom>
          <a:solidFill>
            <a:srgbClr val="99C0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652385" y="5267325"/>
            <a:ext cx="643890" cy="700088"/>
          </a:xfrm>
          <a:prstGeom prst="rect">
            <a:avLst/>
          </a:prstGeom>
          <a:solidFill>
            <a:srgbClr val="97BFD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296275" y="5267325"/>
            <a:ext cx="643890" cy="700088"/>
          </a:xfrm>
          <a:prstGeom prst="rect">
            <a:avLst/>
          </a:prstGeom>
          <a:solidFill>
            <a:srgbClr val="94BEDC"/>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940165" y="5267325"/>
            <a:ext cx="643890" cy="700088"/>
          </a:xfrm>
          <a:prstGeom prst="rect">
            <a:avLst/>
          </a:prstGeom>
          <a:solidFill>
            <a:srgbClr val="93BDDB"/>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84055" y="5267325"/>
            <a:ext cx="643890" cy="700088"/>
          </a:xfrm>
          <a:prstGeom prst="rect">
            <a:avLst/>
          </a:prstGeom>
          <a:solidFill>
            <a:srgbClr val="89B8D8"/>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227945" y="5267325"/>
            <a:ext cx="643890" cy="700088"/>
          </a:xfrm>
          <a:prstGeom prst="rect">
            <a:avLst/>
          </a:prstGeom>
          <a:solidFill>
            <a:srgbClr val="84B5D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871835" y="5267325"/>
            <a:ext cx="643890" cy="700088"/>
          </a:xfrm>
          <a:prstGeom prst="rect">
            <a:avLst/>
          </a:prstGeom>
          <a:solidFill>
            <a:srgbClr val="7BB0D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38125" y="5967412"/>
            <a:ext cx="1590675" cy="700088"/>
          </a:xfrm>
          <a:prstGeom prst="rect">
            <a:avLst/>
          </a:prstGeom>
          <a:noFill/>
        </p:spPr>
        <p:txBody>
          <a:bodyPr wrap="square" lIns="28575" rIns="28575" tIns="9525" bIns="9525" anchor="ctr">
            <a:spAutoFit/>
          </a:bodyPr>
          <a:lstStyle/>
          <a:p>
            <a:pPr algn="l"/>
            <a:r>
              <a:rPr sz="750" b="0">
                <a:solidFill>
                  <a:srgbClr val="2E2E2E"/>
                </a:solidFill>
                <a:latin typeface="Calibri"/>
              </a:rPr>
              <a:t>E-Commerce / DTC</a:t>
            </a:r>
          </a:p>
        </p:txBody>
      </p:sp>
      <p:sp>
        <p:nvSpPr>
          <p:cNvPr id="82" name="Rectangle 81"/>
          <p:cNvSpPr/>
          <p:nvPr/>
        </p:nvSpPr>
        <p:spPr>
          <a:xfrm>
            <a:off x="1857375" y="5967412"/>
            <a:ext cx="643890" cy="700088"/>
          </a:xfrm>
          <a:prstGeom prst="rect">
            <a:avLst/>
          </a:prstGeom>
          <a:solidFill>
            <a:srgbClr val="90BBD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501265" y="5967412"/>
            <a:ext cx="643890" cy="700088"/>
          </a:xfrm>
          <a:prstGeom prst="rect">
            <a:avLst/>
          </a:prstGeom>
          <a:solidFill>
            <a:srgbClr val="79AFD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145155" y="5967412"/>
            <a:ext cx="643890" cy="700088"/>
          </a:xfrm>
          <a:prstGeom prst="rect">
            <a:avLst/>
          </a:prstGeom>
          <a:solidFill>
            <a:srgbClr val="549BC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789045" y="5967412"/>
            <a:ext cx="643890" cy="700088"/>
          </a:xfrm>
          <a:prstGeom prst="rect">
            <a:avLst/>
          </a:prstGeom>
          <a:solidFill>
            <a:srgbClr val="398CC2"/>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432935" y="5967412"/>
            <a:ext cx="643890" cy="700088"/>
          </a:xfrm>
          <a:prstGeom prst="rect">
            <a:avLst/>
          </a:prstGeom>
          <a:solidFill>
            <a:srgbClr val="217DB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5076825" y="5967412"/>
            <a:ext cx="643890" cy="700088"/>
          </a:xfrm>
          <a:prstGeom prst="rect">
            <a:avLst/>
          </a:prstGeom>
          <a:solidFill>
            <a:srgbClr val="1073AF"/>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5720715" y="5967412"/>
            <a:ext cx="643890" cy="700088"/>
          </a:xfrm>
          <a:prstGeom prst="rect">
            <a:avLst/>
          </a:prstGeom>
          <a:solidFill>
            <a:srgbClr val="0D6499"/>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64605" y="5967412"/>
            <a:ext cx="643890" cy="700088"/>
          </a:xfrm>
          <a:prstGeom prst="rect">
            <a:avLst/>
          </a:prstGeom>
          <a:solidFill>
            <a:srgbClr val="0D5887"/>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8495" y="5967412"/>
            <a:ext cx="643890" cy="700088"/>
          </a:xfrm>
          <a:prstGeom prst="rect">
            <a:avLst/>
          </a:prstGeom>
          <a:solidFill>
            <a:srgbClr val="0D538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652385" y="5967412"/>
            <a:ext cx="643890" cy="700088"/>
          </a:xfrm>
          <a:prstGeom prst="rect">
            <a:avLst/>
          </a:prstGeom>
          <a:solidFill>
            <a:srgbClr val="0D507D"/>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8296275" y="5967412"/>
            <a:ext cx="643890" cy="700088"/>
          </a:xfrm>
          <a:prstGeom prst="rect">
            <a:avLst/>
          </a:prstGeom>
          <a:solidFill>
            <a:srgbClr val="0C4B75"/>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940165" y="5967412"/>
            <a:ext cx="643890" cy="700088"/>
          </a:xfrm>
          <a:prstGeom prst="rect">
            <a:avLst/>
          </a:prstGeom>
          <a:solidFill>
            <a:srgbClr val="0C4B74"/>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584055" y="5967412"/>
            <a:ext cx="643890" cy="700088"/>
          </a:xfrm>
          <a:prstGeom prst="rect">
            <a:avLst/>
          </a:prstGeom>
          <a:solidFill>
            <a:srgbClr val="0C3E61"/>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227945" y="5967412"/>
            <a:ext cx="643890" cy="700088"/>
          </a:xfrm>
          <a:prstGeom prst="rect">
            <a:avLst/>
          </a:prstGeom>
          <a:solidFill>
            <a:srgbClr val="0B395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871835" y="5967412"/>
            <a:ext cx="643890" cy="700088"/>
          </a:xfrm>
          <a:prstGeom prst="rect">
            <a:avLst/>
          </a:prstGeom>
          <a:solidFill>
            <a:srgbClr val="0B2E4A"/>
          </a:solid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1572875" y="3905250"/>
            <a:ext cx="104775" cy="75724"/>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1572875" y="3973354"/>
            <a:ext cx="104775" cy="75724"/>
          </a:xfrm>
          <a:prstGeom prst="rect">
            <a:avLst/>
          </a:prstGeom>
          <a:solidFill>
            <a:srgbClr val="0C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1572875" y="4041458"/>
            <a:ext cx="104775" cy="75724"/>
          </a:xfrm>
          <a:prstGeom prst="rect">
            <a:avLst/>
          </a:prstGeom>
          <a:solidFill>
            <a:srgbClr val="0C4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1572875" y="4109561"/>
            <a:ext cx="104775" cy="75724"/>
          </a:xfrm>
          <a:prstGeom prst="rect">
            <a:avLst/>
          </a:prstGeom>
          <a:solidFill>
            <a:srgbClr val="0D5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1572875" y="4177665"/>
            <a:ext cx="104775" cy="75724"/>
          </a:xfrm>
          <a:prstGeom prst="rect">
            <a:avLst/>
          </a:prstGeom>
          <a:solidFill>
            <a:srgbClr val="0D5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1572875" y="4245769"/>
            <a:ext cx="104775" cy="75724"/>
          </a:xfrm>
          <a:prstGeom prst="rect">
            <a:avLst/>
          </a:prstGeom>
          <a:solidFill>
            <a:srgbClr val="0E6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1572875" y="4313872"/>
            <a:ext cx="104775" cy="75724"/>
          </a:xfrm>
          <a:prstGeom prst="rect">
            <a:avLst/>
          </a:prstGeom>
          <a:solidFill>
            <a:srgbClr val="117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1572875" y="4381976"/>
            <a:ext cx="104775" cy="75724"/>
          </a:xfrm>
          <a:prstGeom prst="rect">
            <a:avLst/>
          </a:prstGeom>
          <a:solidFill>
            <a:srgbClr val="1978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1572875" y="4450080"/>
            <a:ext cx="104775" cy="75724"/>
          </a:xfrm>
          <a:prstGeom prst="rect">
            <a:avLst/>
          </a:prstGeom>
          <a:solidFill>
            <a:srgbClr val="207D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1572875" y="4518184"/>
            <a:ext cx="104775" cy="75724"/>
          </a:xfrm>
          <a:prstGeom prst="rect">
            <a:avLst/>
          </a:prstGeom>
          <a:solidFill>
            <a:srgbClr val="2781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1572875" y="4586288"/>
            <a:ext cx="104775" cy="75724"/>
          </a:xfrm>
          <a:prstGeom prst="rect">
            <a:avLst/>
          </a:prstGeom>
          <a:solidFill>
            <a:srgbClr val="2F86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1572875" y="4654391"/>
            <a:ext cx="104775" cy="75724"/>
          </a:xfrm>
          <a:prstGeom prst="rect">
            <a:avLst/>
          </a:prstGeom>
          <a:solidFill>
            <a:srgbClr val="368A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1572875" y="4722495"/>
            <a:ext cx="104775" cy="75724"/>
          </a:xfrm>
          <a:prstGeom prst="rect">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1572875" y="4790599"/>
            <a:ext cx="104775" cy="75724"/>
          </a:xfrm>
          <a:prstGeom prst="rect">
            <a:avLst/>
          </a:prstGeom>
          <a:solidFill>
            <a:srgbClr val="4995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1572875" y="4858702"/>
            <a:ext cx="104775" cy="75724"/>
          </a:xfrm>
          <a:prstGeom prst="rect">
            <a:avLst/>
          </a:prstGeom>
          <a:solidFill>
            <a:srgbClr val="549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1572875" y="4926806"/>
            <a:ext cx="104775" cy="75724"/>
          </a:xfrm>
          <a:prstGeom prst="rect">
            <a:avLst/>
          </a:prstGeom>
          <a:solidFill>
            <a:srgbClr val="60A1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1572875" y="4994910"/>
            <a:ext cx="104775" cy="75724"/>
          </a:xfrm>
          <a:prstGeom prst="rect">
            <a:avLst/>
          </a:prstGeom>
          <a:solidFill>
            <a:srgbClr val="6BA7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1572875" y="5063014"/>
            <a:ext cx="104775" cy="75724"/>
          </a:xfrm>
          <a:prstGeom prst="rect">
            <a:avLst/>
          </a:prstGeom>
          <a:solidFill>
            <a:srgbClr val="76AE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1572875" y="5131118"/>
            <a:ext cx="104775" cy="75724"/>
          </a:xfrm>
          <a:prstGeom prst="rect">
            <a:avLst/>
          </a:prstGeom>
          <a:solidFill>
            <a:srgbClr val="81B4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1572875" y="5199221"/>
            <a:ext cx="104775" cy="75724"/>
          </a:xfrm>
          <a:prstGeom prst="rect">
            <a:avLst/>
          </a:prstGeom>
          <a:solidFill>
            <a:srgbClr val="8DBA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1572875" y="5267325"/>
            <a:ext cx="104775" cy="75724"/>
          </a:xfrm>
          <a:prstGeom prst="rect">
            <a:avLst/>
          </a:prstGeom>
          <a:solidFill>
            <a:srgbClr val="95B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572875" y="5335429"/>
            <a:ext cx="104775" cy="75724"/>
          </a:xfrm>
          <a:prstGeom prst="rect">
            <a:avLst/>
          </a:prstGeom>
          <a:solidFill>
            <a:srgbClr val="9CC3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1572875" y="5403532"/>
            <a:ext cx="104775" cy="75724"/>
          </a:xfrm>
          <a:prstGeom prst="rect">
            <a:avLst/>
          </a:prstGeom>
          <a:solidFill>
            <a:srgbClr val="A4C7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1572875" y="5471636"/>
            <a:ext cx="104775" cy="75724"/>
          </a:xfrm>
          <a:prstGeom prst="rect">
            <a:avLst/>
          </a:prstGeom>
          <a:solidFill>
            <a:srgbClr val="ACCB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572875" y="5539740"/>
            <a:ext cx="104775" cy="75724"/>
          </a:xfrm>
          <a:prstGeom prst="rect">
            <a:avLst/>
          </a:prstGeom>
          <a:solidFill>
            <a:srgbClr val="B3C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72875" y="5607844"/>
            <a:ext cx="104775" cy="75724"/>
          </a:xfrm>
          <a:prstGeom prst="rect">
            <a:avLst/>
          </a:prstGeom>
          <a:solidFill>
            <a:srgbClr val="BAD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572875" y="5675948"/>
            <a:ext cx="104775" cy="75724"/>
          </a:xfrm>
          <a:prstGeom prst="rect">
            <a:avLst/>
          </a:prstGeom>
          <a:solidFill>
            <a:srgbClr val="C2D8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1572875" y="5744051"/>
            <a:ext cx="104775" cy="75724"/>
          </a:xfrm>
          <a:prstGeom prst="rect">
            <a:avLst/>
          </a:prstGeom>
          <a:solidFill>
            <a:srgbClr val="CADC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1572875" y="5812155"/>
            <a:ext cx="104775" cy="75724"/>
          </a:xfrm>
          <a:prstGeom prst="rect">
            <a:avLst/>
          </a:prstGeom>
          <a:solidFill>
            <a:srgbClr val="CEE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1572875" y="5880259"/>
            <a:ext cx="104775" cy="75724"/>
          </a:xfrm>
          <a:prstGeom prst="rect">
            <a:avLst/>
          </a:prstGeom>
          <a:solidFill>
            <a:srgbClr val="D3E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1572875" y="5948362"/>
            <a:ext cx="104775" cy="75724"/>
          </a:xfrm>
          <a:prstGeom prst="rect">
            <a:avLst/>
          </a:prstGeom>
          <a:solidFill>
            <a:srgbClr val="D7E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1572875" y="6016466"/>
            <a:ext cx="104775" cy="75724"/>
          </a:xfrm>
          <a:prstGeom prst="rect">
            <a:avLst/>
          </a:prstGeom>
          <a:solidFill>
            <a:srgbClr val="DBEA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1572875" y="6084570"/>
            <a:ext cx="104775" cy="75724"/>
          </a:xfrm>
          <a:prstGeom prst="rect">
            <a:avLst/>
          </a:prstGeom>
          <a:solidFill>
            <a:srgbClr val="E0EE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1572875" y="6152674"/>
            <a:ext cx="104775" cy="75724"/>
          </a:xfrm>
          <a:prstGeom prst="rect">
            <a:avLst/>
          </a:prstGeom>
          <a:solidFill>
            <a:srgbClr val="E4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1572875" y="6220778"/>
            <a:ext cx="104775" cy="75724"/>
          </a:xfrm>
          <a:prstGeom prst="rect">
            <a:avLst/>
          </a:prstGeom>
          <a:solidFill>
            <a:srgbClr val="E8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572875" y="6288881"/>
            <a:ext cx="104775" cy="75724"/>
          </a:xfrm>
          <a:prstGeom prst="rect">
            <a:avLst/>
          </a:prstGeom>
          <a:solidFill>
            <a:srgbClr val="EC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572875" y="6356985"/>
            <a:ext cx="104775" cy="75724"/>
          </a:xfrm>
          <a:prstGeom prst="rect">
            <a:avLst/>
          </a:prstGeom>
          <a:solidFill>
            <a:srgbClr val="F0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572875" y="6425089"/>
            <a:ext cx="104775" cy="75724"/>
          </a:xfrm>
          <a:prstGeom prst="rect">
            <a:avLst/>
          </a:prstGeom>
          <a:solidFill>
            <a:srgbClr val="F4FA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572875" y="6493192"/>
            <a:ext cx="104775" cy="75724"/>
          </a:xfrm>
          <a:prstGeom prst="rect">
            <a:avLst/>
          </a:prstGeom>
          <a:solidFill>
            <a:srgbClr val="F8FC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572875" y="6561296"/>
            <a:ext cx="104775" cy="75724"/>
          </a:xfrm>
          <a:prstGeom prst="rect">
            <a:avLst/>
          </a:prstGeom>
          <a:solidFill>
            <a:srgbClr val="FBFD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1572875" y="3905250"/>
            <a:ext cx="104775" cy="2724150"/>
          </a:xfrm>
          <a:prstGeom prst="rect">
            <a:avLst/>
          </a:prstGeom>
          <a:noFill/>
          <a:ln w="6350">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687175" y="3838575"/>
            <a:ext cx="276225" cy="133350"/>
          </a:xfrm>
          <a:prstGeom prst="rect">
            <a:avLst/>
          </a:prstGeom>
          <a:noFill/>
        </p:spPr>
        <p:txBody>
          <a:bodyPr wrap="none" lIns="0" rIns="0" tIns="0" bIns="0" anchor="ctr">
            <a:spAutoFit/>
          </a:bodyPr>
          <a:lstStyle/>
          <a:p>
            <a:pPr algn="l"/>
            <a:r>
              <a:rPr sz="700" b="0">
                <a:solidFill>
                  <a:srgbClr val="6C7A89"/>
                </a:solidFill>
                <a:latin typeface="Calibri"/>
              </a:rPr>
              <a:t>13%</a:t>
            </a:r>
          </a:p>
        </p:txBody>
      </p:sp>
      <p:sp>
        <p:nvSpPr>
          <p:cNvPr id="139" name="TextBox 138"/>
          <p:cNvSpPr txBox="1"/>
          <p:nvPr/>
        </p:nvSpPr>
        <p:spPr>
          <a:xfrm>
            <a:off x="11687175" y="5200650"/>
            <a:ext cx="276225" cy="133350"/>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140" name="TextBox 139"/>
          <p:cNvSpPr txBox="1"/>
          <p:nvPr/>
        </p:nvSpPr>
        <p:spPr>
          <a:xfrm>
            <a:off x="11687175" y="6562725"/>
            <a:ext cx="276225" cy="133350"/>
          </a:xfrm>
          <a:prstGeom prst="rect">
            <a:avLst/>
          </a:prstGeom>
          <a:noFill/>
        </p:spPr>
        <p:txBody>
          <a:bodyPr wrap="none" lIns="0" rIns="0" tIns="0" bIns="0" anchor="ctr">
            <a:spAutoFit/>
          </a:bodyPr>
          <a:lstStyle/>
          <a:p>
            <a:pPr algn="l"/>
            <a:r>
              <a:rPr sz="700" b="0">
                <a:solidFill>
                  <a:srgbClr val="6C7A89"/>
                </a:solidFill>
                <a:latin typeface="Calibri"/>
              </a:rPr>
              <a:t>3%</a:t>
            </a:r>
          </a:p>
        </p:txBody>
      </p:sp>
      <p:sp>
        <p:nvSpPr>
          <p:cNvPr id="141" name="Rectangle 14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3" name="Rounded Rectangle 142">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4" name="Rounded Rectangle 143">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5" name="Rounded Rectangle 144">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Pricing</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Product Pricing &amp; Regional Price Index Trends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Global Pricing Assessment</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Price Positioning &amp; Key Findings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Key Pricing Drivers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Factors Impacting Pricing</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Product Pricing &amp; Regional Price Index Trends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Price range by sub-segment and indexed regional price movement, highlighting dispersion and structural shifts</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Analysis of average USD pricing by product type and indexed regional price movement with base-year inflation adjustments.</a:t>
            </a:r>
          </a:p>
        </p:txBody>
      </p:sp>
      <p:sp>
        <p:nvSpPr>
          <p:cNvPr id="12" name="Rounded Rectangle 11"/>
          <p:cNvSpPr/>
          <p:nvPr/>
        </p:nvSpPr>
        <p:spPr>
          <a:xfrm>
            <a:off x="142875" y="1181100"/>
            <a:ext cx="7696200"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382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Pricing by Product Type</a:t>
            </a:r>
          </a:p>
        </p:txBody>
      </p:sp>
      <p:sp>
        <p:nvSpPr>
          <p:cNvPr id="14" name="TextBox 13"/>
          <p:cNvSpPr txBox="1"/>
          <p:nvPr/>
        </p:nvSpPr>
        <p:spPr>
          <a:xfrm>
            <a:off x="219075" y="3448050"/>
            <a:ext cx="381000" cy="133350"/>
          </a:xfrm>
          <a:prstGeom prst="rect">
            <a:avLst/>
          </a:prstGeom>
          <a:noFill/>
        </p:spPr>
        <p:txBody>
          <a:bodyPr wrap="square" lIns="28575" rIns="28575" tIns="9525" bIns="9525" anchor="ctr">
            <a:spAutoFit/>
          </a:bodyPr>
          <a:lstStyle/>
          <a:p>
            <a:pPr algn="r"/>
            <a:r>
              <a:rPr sz="693" b="0">
                <a:solidFill>
                  <a:srgbClr val="6C7A89"/>
                </a:solidFill>
                <a:latin typeface="Calibri"/>
              </a:rPr>
              <a:t>804192.0</a:t>
            </a:r>
          </a:p>
        </p:txBody>
      </p:sp>
      <p:sp>
        <p:nvSpPr>
          <p:cNvPr id="15" name="TextBox 14"/>
          <p:cNvSpPr txBox="1"/>
          <p:nvPr/>
        </p:nvSpPr>
        <p:spPr>
          <a:xfrm>
            <a:off x="219075" y="2481262"/>
            <a:ext cx="381000" cy="133350"/>
          </a:xfrm>
          <a:prstGeom prst="rect">
            <a:avLst/>
          </a:prstGeom>
          <a:noFill/>
        </p:spPr>
        <p:txBody>
          <a:bodyPr wrap="square" lIns="28575" rIns="28575" tIns="9525" bIns="9525" anchor="ctr">
            <a:spAutoFit/>
          </a:bodyPr>
          <a:lstStyle/>
          <a:p>
            <a:pPr algn="r"/>
            <a:r>
              <a:rPr sz="701" b="0">
                <a:solidFill>
                  <a:srgbClr val="6C7A89"/>
                </a:solidFill>
                <a:latin typeface="Calibri"/>
              </a:rPr>
              <a:t>851090.7</a:t>
            </a:r>
          </a:p>
        </p:txBody>
      </p:sp>
      <p:sp>
        <p:nvSpPr>
          <p:cNvPr id="16" name="TextBox 15"/>
          <p:cNvSpPr txBox="1"/>
          <p:nvPr/>
        </p:nvSpPr>
        <p:spPr>
          <a:xfrm>
            <a:off x="219075" y="1514475"/>
            <a:ext cx="381000" cy="133350"/>
          </a:xfrm>
          <a:prstGeom prst="rect">
            <a:avLst/>
          </a:prstGeom>
          <a:noFill/>
        </p:spPr>
        <p:txBody>
          <a:bodyPr wrap="square" lIns="28575" rIns="28575" tIns="9525" bIns="9525" anchor="ctr">
            <a:spAutoFit/>
          </a:bodyPr>
          <a:lstStyle/>
          <a:p>
            <a:pPr algn="r"/>
            <a:r>
              <a:rPr sz="670" b="0">
                <a:solidFill>
                  <a:srgbClr val="6C7A89"/>
                </a:solidFill>
                <a:latin typeface="Calibri"/>
              </a:rPr>
              <a:t>897989.4</a:t>
            </a:r>
          </a:p>
        </p:txBody>
      </p:sp>
      <p:cxnSp>
        <p:nvCxnSpPr>
          <p:cNvPr id="17" name="Connector 16"/>
          <p:cNvCxnSpPr/>
          <p:nvPr/>
        </p:nvCxnSpPr>
        <p:spPr>
          <a:xfrm>
            <a:off x="1533525" y="1824208"/>
            <a:ext cx="0" cy="1437282"/>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314450" y="1824208"/>
            <a:ext cx="438150" cy="689059"/>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225" y="1671808"/>
            <a:ext cx="1752600" cy="133350"/>
          </a:xfrm>
          <a:prstGeom prst="rect">
            <a:avLst/>
          </a:prstGeom>
          <a:noFill/>
        </p:spPr>
        <p:txBody>
          <a:bodyPr wrap="square" lIns="28575" rIns="28575" tIns="9525" bIns="9525">
            <a:spAutoFit/>
          </a:bodyPr>
          <a:lstStyle/>
          <a:p>
            <a:pPr algn="ctr"/>
            <a:r>
              <a:rPr sz="750" b="1">
                <a:solidFill>
                  <a:srgbClr val="0B2E4A"/>
                </a:solidFill>
                <a:latin typeface="Calibri"/>
              </a:rPr>
              <a:t>886198.7</a:t>
            </a:r>
          </a:p>
        </p:txBody>
      </p:sp>
      <p:sp>
        <p:nvSpPr>
          <p:cNvPr id="20" name="TextBox 19"/>
          <p:cNvSpPr txBox="1"/>
          <p:nvPr/>
        </p:nvSpPr>
        <p:spPr>
          <a:xfrm>
            <a:off x="657225" y="3543300"/>
            <a:ext cx="1752600" cy="285750"/>
          </a:xfrm>
          <a:prstGeom prst="rect">
            <a:avLst/>
          </a:prstGeom>
          <a:noFill/>
        </p:spPr>
        <p:txBody>
          <a:bodyPr wrap="square" lIns="28575" rIns="28575" tIns="9525" bIns="9525">
            <a:spAutoFit/>
          </a:bodyPr>
          <a:lstStyle/>
          <a:p>
            <a:pPr algn="ctr"/>
            <a:r>
              <a:rPr sz="750" b="0">
                <a:solidFill>
                  <a:srgbClr val="2E2E2E"/>
                </a:solidFill>
                <a:latin typeface="Calibri"/>
              </a:rPr>
              <a:t>Capillary Blood Colle…</a:t>
            </a:r>
          </a:p>
        </p:txBody>
      </p:sp>
      <p:cxnSp>
        <p:nvCxnSpPr>
          <p:cNvPr id="21" name="Connector 20"/>
          <p:cNvCxnSpPr/>
          <p:nvPr/>
        </p:nvCxnSpPr>
        <p:spPr>
          <a:xfrm>
            <a:off x="3286125" y="1816763"/>
            <a:ext cx="0" cy="1474857"/>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067050" y="1816763"/>
            <a:ext cx="438150" cy="761491"/>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409825" y="1664363"/>
            <a:ext cx="1752600" cy="133350"/>
          </a:xfrm>
          <a:prstGeom prst="rect">
            <a:avLst/>
          </a:prstGeom>
          <a:noFill/>
        </p:spPr>
        <p:txBody>
          <a:bodyPr wrap="square" lIns="28575" rIns="28575" tIns="9525" bIns="9525">
            <a:spAutoFit/>
          </a:bodyPr>
          <a:lstStyle/>
          <a:p>
            <a:pPr algn="ctr"/>
            <a:r>
              <a:rPr sz="750" b="1">
                <a:solidFill>
                  <a:srgbClr val="0B2E4A"/>
                </a:solidFill>
                <a:latin typeface="Calibri"/>
              </a:rPr>
              <a:t>886559.8</a:t>
            </a:r>
          </a:p>
        </p:txBody>
      </p:sp>
      <p:sp>
        <p:nvSpPr>
          <p:cNvPr id="24" name="TextBox 23"/>
          <p:cNvSpPr txBox="1"/>
          <p:nvPr/>
        </p:nvSpPr>
        <p:spPr>
          <a:xfrm>
            <a:off x="2409825" y="3543300"/>
            <a:ext cx="1752600" cy="285750"/>
          </a:xfrm>
          <a:prstGeom prst="rect">
            <a:avLst/>
          </a:prstGeom>
          <a:noFill/>
        </p:spPr>
        <p:txBody>
          <a:bodyPr wrap="square" lIns="28575" rIns="28575" tIns="9525" bIns="9525">
            <a:spAutoFit/>
          </a:bodyPr>
          <a:lstStyle/>
          <a:p>
            <a:pPr algn="ctr"/>
            <a:r>
              <a:rPr sz="750" b="0">
                <a:solidFill>
                  <a:srgbClr val="2E2E2E"/>
                </a:solidFill>
                <a:latin typeface="Calibri"/>
              </a:rPr>
              <a:t>Blood Collection Lanc…</a:t>
            </a:r>
          </a:p>
        </p:txBody>
      </p:sp>
      <p:cxnSp>
        <p:nvCxnSpPr>
          <p:cNvPr id="25" name="Connector 24"/>
          <p:cNvCxnSpPr/>
          <p:nvPr/>
        </p:nvCxnSpPr>
        <p:spPr>
          <a:xfrm>
            <a:off x="5038725" y="1851226"/>
            <a:ext cx="0" cy="1437089"/>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819650" y="1851226"/>
            <a:ext cx="438150" cy="650450"/>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62425" y="1698826"/>
            <a:ext cx="1752600" cy="133350"/>
          </a:xfrm>
          <a:prstGeom prst="rect">
            <a:avLst/>
          </a:prstGeom>
          <a:noFill/>
        </p:spPr>
        <p:txBody>
          <a:bodyPr wrap="square" lIns="28575" rIns="28575" tIns="9525" bIns="9525">
            <a:spAutoFit/>
          </a:bodyPr>
          <a:lstStyle/>
          <a:p>
            <a:pPr algn="ctr"/>
            <a:r>
              <a:rPr sz="750" b="1">
                <a:solidFill>
                  <a:srgbClr val="0B2E4A"/>
                </a:solidFill>
                <a:latin typeface="Calibri"/>
              </a:rPr>
              <a:t>884888.0</a:t>
            </a:r>
          </a:p>
        </p:txBody>
      </p:sp>
      <p:sp>
        <p:nvSpPr>
          <p:cNvPr id="28" name="TextBox 27"/>
          <p:cNvSpPr txBox="1"/>
          <p:nvPr/>
        </p:nvSpPr>
        <p:spPr>
          <a:xfrm>
            <a:off x="4162425" y="3543300"/>
            <a:ext cx="1752600" cy="285750"/>
          </a:xfrm>
          <a:prstGeom prst="rect">
            <a:avLst/>
          </a:prstGeom>
          <a:noFill/>
        </p:spPr>
        <p:txBody>
          <a:bodyPr wrap="square" lIns="28575" rIns="28575" tIns="9525" bIns="9525">
            <a:spAutoFit/>
          </a:bodyPr>
          <a:lstStyle/>
          <a:p>
            <a:pPr algn="ctr"/>
            <a:r>
              <a:rPr sz="750" b="0">
                <a:solidFill>
                  <a:srgbClr val="2E2E2E"/>
                </a:solidFill>
                <a:latin typeface="Calibri"/>
              </a:rPr>
              <a:t>Integrated Capillary…</a:t>
            </a:r>
          </a:p>
        </p:txBody>
      </p:sp>
      <p:cxnSp>
        <p:nvCxnSpPr>
          <p:cNvPr id="29" name="Connector 28"/>
          <p:cNvCxnSpPr/>
          <p:nvPr/>
        </p:nvCxnSpPr>
        <p:spPr>
          <a:xfrm>
            <a:off x="6791325" y="1804255"/>
            <a:ext cx="0" cy="1476288"/>
          </a:xfrm>
          <a:prstGeom prst="line">
            <a:avLst/>
          </a:prstGeom>
          <a:ln w="17780">
            <a:solidFill>
              <a:srgbClr val="7C8B96"/>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572250" y="1804255"/>
            <a:ext cx="438150" cy="675108"/>
          </a:xfrm>
          <a:prstGeom prst="rect">
            <a:avLst/>
          </a:prstGeom>
          <a:solidFill>
            <a:srgbClr val="C9D9E8"/>
          </a:solidFill>
          <a:ln w="15875">
            <a:solidFill>
              <a:srgbClr val="7C8B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15025" y="1651855"/>
            <a:ext cx="1752600" cy="133350"/>
          </a:xfrm>
          <a:prstGeom prst="rect">
            <a:avLst/>
          </a:prstGeom>
          <a:noFill/>
        </p:spPr>
        <p:txBody>
          <a:bodyPr wrap="square" lIns="28575" rIns="28575" tIns="9525" bIns="9525">
            <a:spAutoFit/>
          </a:bodyPr>
          <a:lstStyle/>
          <a:p>
            <a:pPr algn="ctr"/>
            <a:r>
              <a:rPr sz="750" b="1">
                <a:solidFill>
                  <a:srgbClr val="0B2E4A"/>
                </a:solidFill>
                <a:latin typeface="Calibri"/>
              </a:rPr>
              <a:t>887166.6</a:t>
            </a:r>
          </a:p>
        </p:txBody>
      </p:sp>
      <p:sp>
        <p:nvSpPr>
          <p:cNvPr id="32" name="TextBox 31"/>
          <p:cNvSpPr txBox="1"/>
          <p:nvPr/>
        </p:nvSpPr>
        <p:spPr>
          <a:xfrm>
            <a:off x="5915025" y="3543300"/>
            <a:ext cx="1752600" cy="285750"/>
          </a:xfrm>
          <a:prstGeom prst="rect">
            <a:avLst/>
          </a:prstGeom>
          <a:noFill/>
        </p:spPr>
        <p:txBody>
          <a:bodyPr wrap="square" lIns="28575" rIns="28575" tIns="9525" bIns="9525">
            <a:spAutoFit/>
          </a:bodyPr>
          <a:lstStyle/>
          <a:p>
            <a:pPr algn="ctr"/>
            <a:r>
              <a:rPr sz="750" b="0">
                <a:solidFill>
                  <a:srgbClr val="2E2E2E"/>
                </a:solidFill>
                <a:latin typeface="Calibri"/>
              </a:rPr>
              <a:t>Dried Blood Spot Coll…</a:t>
            </a:r>
          </a:p>
        </p:txBody>
      </p:sp>
      <p:sp>
        <p:nvSpPr>
          <p:cNvPr id="33" name="Rounded Rectangle 32"/>
          <p:cNvSpPr/>
          <p:nvPr/>
        </p:nvSpPr>
        <p:spPr>
          <a:xfrm>
            <a:off x="142875" y="3971925"/>
            <a:ext cx="7696200" cy="2676525"/>
          </a:xfrm>
          <a:prstGeom prst="roundRect">
            <a:avLst>
              <a:gd name="adj" fmla="val 284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125" y="4029075"/>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Variation by Region</a:t>
            </a:r>
          </a:p>
        </p:txBody>
      </p:sp>
      <p:sp>
        <p:nvSpPr>
          <p:cNvPr id="35" name="TextBox 34"/>
          <p:cNvSpPr txBox="1"/>
          <p:nvPr/>
        </p:nvSpPr>
        <p:spPr>
          <a:xfrm>
            <a:off x="219075" y="4454064"/>
            <a:ext cx="361950" cy="133350"/>
          </a:xfrm>
          <a:prstGeom prst="rect">
            <a:avLst/>
          </a:prstGeom>
          <a:noFill/>
        </p:spPr>
        <p:txBody>
          <a:bodyPr wrap="none" lIns="0" rIns="0" tIns="0" bIns="0" anchor="ctr">
            <a:spAutoFit/>
          </a:bodyPr>
          <a:lstStyle/>
          <a:p>
            <a:pPr algn="r"/>
            <a:r>
              <a:rPr sz="750" b="0">
                <a:solidFill>
                  <a:srgbClr val="6C7A89"/>
                </a:solidFill>
                <a:latin typeface="Calibri"/>
              </a:rPr>
              <a:t>+11%</a:t>
            </a:r>
          </a:p>
        </p:txBody>
      </p:sp>
      <p:sp>
        <p:nvSpPr>
          <p:cNvPr id="36" name="TextBox 35"/>
          <p:cNvSpPr txBox="1"/>
          <p:nvPr/>
        </p:nvSpPr>
        <p:spPr>
          <a:xfrm>
            <a:off x="219075" y="5272088"/>
            <a:ext cx="361950" cy="133350"/>
          </a:xfrm>
          <a:prstGeom prst="rect">
            <a:avLst/>
          </a:prstGeom>
          <a:noFill/>
        </p:spPr>
        <p:txBody>
          <a:bodyPr wrap="none" lIns="0" rIns="0" tIns="0" bIns="0" anchor="ctr">
            <a:spAutoFit/>
          </a:bodyPr>
          <a:lstStyle/>
          <a:p>
            <a:pPr algn="r"/>
            <a:r>
              <a:rPr sz="750" b="0">
                <a:solidFill>
                  <a:srgbClr val="6C7A89"/>
                </a:solidFill>
                <a:latin typeface="Calibri"/>
              </a:rPr>
              <a:t>0%</a:t>
            </a:r>
          </a:p>
        </p:txBody>
      </p:sp>
      <p:sp>
        <p:nvSpPr>
          <p:cNvPr id="37" name="TextBox 36"/>
          <p:cNvSpPr txBox="1"/>
          <p:nvPr/>
        </p:nvSpPr>
        <p:spPr>
          <a:xfrm>
            <a:off x="219075" y="6090111"/>
            <a:ext cx="361950" cy="133350"/>
          </a:xfrm>
          <a:prstGeom prst="rect">
            <a:avLst/>
          </a:prstGeom>
          <a:noFill/>
        </p:spPr>
        <p:txBody>
          <a:bodyPr wrap="none" lIns="0" rIns="0" tIns="0" bIns="0" anchor="ctr">
            <a:spAutoFit/>
          </a:bodyPr>
          <a:lstStyle/>
          <a:p>
            <a:pPr algn="r"/>
            <a:r>
              <a:rPr sz="750" b="0">
                <a:solidFill>
                  <a:srgbClr val="6C7A89"/>
                </a:solidFill>
                <a:latin typeface="Calibri"/>
              </a:rPr>
              <a:t>-11%</a:t>
            </a:r>
          </a:p>
        </p:txBody>
      </p:sp>
      <p:cxnSp>
        <p:nvCxnSpPr>
          <p:cNvPr id="38" name="Connector 37"/>
          <p:cNvCxnSpPr/>
          <p:nvPr/>
        </p:nvCxnSpPr>
        <p:spPr>
          <a:xfrm>
            <a:off x="619125" y="5338762"/>
            <a:ext cx="7048500" cy="0"/>
          </a:xfrm>
          <a:prstGeom prst="line">
            <a:avLst/>
          </a:prstGeom>
          <a:ln w="13970">
            <a:solidFill>
              <a:srgbClr val="6C7A89"/>
            </a:solidFill>
            <a:prstDash val="dash"/>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93989" y="4661188"/>
            <a:ext cx="457200" cy="677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125" y="4518313"/>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+9.0%</a:t>
            </a:r>
          </a:p>
        </p:txBody>
      </p:sp>
      <p:sp>
        <p:nvSpPr>
          <p:cNvPr id="41" name="TextBox 40"/>
          <p:cNvSpPr txBox="1"/>
          <p:nvPr/>
        </p:nvSpPr>
        <p:spPr>
          <a:xfrm>
            <a:off x="619125"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North America</a:t>
            </a:r>
          </a:p>
        </p:txBody>
      </p:sp>
      <p:sp>
        <p:nvSpPr>
          <p:cNvPr id="42" name="Rectangle 41"/>
          <p:cNvSpPr/>
          <p:nvPr/>
        </p:nvSpPr>
        <p:spPr>
          <a:xfrm>
            <a:off x="1900918" y="4622624"/>
            <a:ext cx="457200" cy="716139"/>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626054" y="4479749"/>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+9.5%</a:t>
            </a:r>
          </a:p>
        </p:txBody>
      </p:sp>
      <p:sp>
        <p:nvSpPr>
          <p:cNvPr id="44" name="TextBox 43"/>
          <p:cNvSpPr txBox="1"/>
          <p:nvPr/>
        </p:nvSpPr>
        <p:spPr>
          <a:xfrm>
            <a:off x="1626054"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Latin America</a:t>
            </a:r>
          </a:p>
        </p:txBody>
      </p:sp>
      <p:sp>
        <p:nvSpPr>
          <p:cNvPr id="45" name="Rectangle 44"/>
          <p:cNvSpPr/>
          <p:nvPr/>
        </p:nvSpPr>
        <p:spPr>
          <a:xfrm>
            <a:off x="2907846" y="4665041"/>
            <a:ext cx="457200" cy="673722"/>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32982" y="4522166"/>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+9.0%</a:t>
            </a:r>
          </a:p>
        </p:txBody>
      </p:sp>
      <p:sp>
        <p:nvSpPr>
          <p:cNvPr id="47" name="TextBox 46"/>
          <p:cNvSpPr txBox="1"/>
          <p:nvPr/>
        </p:nvSpPr>
        <p:spPr>
          <a:xfrm>
            <a:off x="2632982"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Western Europe</a:t>
            </a:r>
          </a:p>
        </p:txBody>
      </p:sp>
      <p:sp>
        <p:nvSpPr>
          <p:cNvPr id="48" name="Rectangle 47"/>
          <p:cNvSpPr/>
          <p:nvPr/>
        </p:nvSpPr>
        <p:spPr>
          <a:xfrm>
            <a:off x="3914775" y="4652059"/>
            <a:ext cx="457200" cy="686704"/>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39911" y="4509184"/>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+9.2%</a:t>
            </a:r>
          </a:p>
        </p:txBody>
      </p:sp>
      <p:sp>
        <p:nvSpPr>
          <p:cNvPr id="50" name="TextBox 49"/>
          <p:cNvSpPr txBox="1"/>
          <p:nvPr/>
        </p:nvSpPr>
        <p:spPr>
          <a:xfrm>
            <a:off x="3639911"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Eastern Europe</a:t>
            </a:r>
          </a:p>
        </p:txBody>
      </p:sp>
      <p:sp>
        <p:nvSpPr>
          <p:cNvPr id="51" name="Rectangle 50"/>
          <p:cNvSpPr/>
          <p:nvPr/>
        </p:nvSpPr>
        <p:spPr>
          <a:xfrm>
            <a:off x="4921704" y="4773721"/>
            <a:ext cx="457200" cy="56504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46839" y="4630846"/>
            <a:ext cx="1006929" cy="133350"/>
          </a:xfrm>
          <a:prstGeom prst="rect">
            <a:avLst/>
          </a:prstGeom>
          <a:noFill/>
        </p:spPr>
        <p:txBody>
          <a:bodyPr wrap="square" lIns="28575" rIns="28575" tIns="9525" bIns="9525">
            <a:spAutoFit/>
          </a:bodyPr>
          <a:lstStyle/>
          <a:p>
            <a:pPr algn="ctr"/>
            <a:r>
              <a:rPr sz="800" b="1">
                <a:solidFill>
                  <a:srgbClr val="2E2E2E"/>
                </a:solidFill>
                <a:latin typeface="Calibri"/>
              </a:rPr>
              <a:t>+7.5%</a:t>
            </a:r>
          </a:p>
        </p:txBody>
      </p:sp>
      <p:sp>
        <p:nvSpPr>
          <p:cNvPr id="53" name="TextBox 52"/>
          <p:cNvSpPr txBox="1"/>
          <p:nvPr/>
        </p:nvSpPr>
        <p:spPr>
          <a:xfrm>
            <a:off x="4646839"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East Asia</a:t>
            </a:r>
          </a:p>
        </p:txBody>
      </p:sp>
      <p:sp>
        <p:nvSpPr>
          <p:cNvPr id="54" name="Rectangle 53"/>
          <p:cNvSpPr/>
          <p:nvPr/>
        </p:nvSpPr>
        <p:spPr>
          <a:xfrm>
            <a:off x="5928632" y="4784491"/>
            <a:ext cx="457200" cy="55427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53768" y="4641616"/>
            <a:ext cx="1006929" cy="133350"/>
          </a:xfrm>
          <a:prstGeom prst="rect">
            <a:avLst/>
          </a:prstGeom>
          <a:noFill/>
        </p:spPr>
        <p:txBody>
          <a:bodyPr wrap="square" lIns="28575" rIns="28575" tIns="9525" bIns="9525">
            <a:spAutoFit/>
          </a:bodyPr>
          <a:lstStyle/>
          <a:p>
            <a:pPr algn="ctr"/>
            <a:r>
              <a:rPr sz="800" b="1">
                <a:solidFill>
                  <a:srgbClr val="2E2E2E"/>
                </a:solidFill>
                <a:latin typeface="Calibri"/>
              </a:rPr>
              <a:t>+7.4%</a:t>
            </a:r>
          </a:p>
        </p:txBody>
      </p:sp>
      <p:sp>
        <p:nvSpPr>
          <p:cNvPr id="56" name="TextBox 55"/>
          <p:cNvSpPr txBox="1"/>
          <p:nvPr/>
        </p:nvSpPr>
        <p:spPr>
          <a:xfrm>
            <a:off x="5653768"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South Asia Pacific</a:t>
            </a:r>
          </a:p>
        </p:txBody>
      </p:sp>
      <p:sp>
        <p:nvSpPr>
          <p:cNvPr id="57" name="Rectangle 56"/>
          <p:cNvSpPr/>
          <p:nvPr/>
        </p:nvSpPr>
        <p:spPr>
          <a:xfrm>
            <a:off x="6935561" y="4641101"/>
            <a:ext cx="457200" cy="697661"/>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60696" y="4498226"/>
            <a:ext cx="1006929" cy="133350"/>
          </a:xfrm>
          <a:prstGeom prst="rect">
            <a:avLst/>
          </a:prstGeom>
          <a:noFill/>
        </p:spPr>
        <p:txBody>
          <a:bodyPr wrap="square" lIns="28575" rIns="28575" tIns="9525" bIns="9525">
            <a:spAutoFit/>
          </a:bodyPr>
          <a:lstStyle/>
          <a:p>
            <a:pPr algn="ctr"/>
            <a:r>
              <a:rPr sz="800" b="1">
                <a:solidFill>
                  <a:srgbClr val="2E2E2E"/>
                </a:solidFill>
                <a:latin typeface="Calibri"/>
              </a:rPr>
              <a:t>+9.3%</a:t>
            </a:r>
          </a:p>
        </p:txBody>
      </p:sp>
      <p:sp>
        <p:nvSpPr>
          <p:cNvPr id="59" name="TextBox 58"/>
          <p:cNvSpPr txBox="1"/>
          <p:nvPr/>
        </p:nvSpPr>
        <p:spPr>
          <a:xfrm>
            <a:off x="6660696" y="6334125"/>
            <a:ext cx="1006929" cy="247650"/>
          </a:xfrm>
          <a:prstGeom prst="rect">
            <a:avLst/>
          </a:prstGeom>
          <a:noFill/>
        </p:spPr>
        <p:txBody>
          <a:bodyPr wrap="square" lIns="28575" rIns="28575" tIns="9525" bIns="9525">
            <a:spAutoFit/>
          </a:bodyPr>
          <a:lstStyle/>
          <a:p>
            <a:pPr algn="ctr"/>
            <a:r>
              <a:rPr sz="750" b="0">
                <a:solidFill>
                  <a:srgbClr val="2E2E2E"/>
                </a:solidFill>
                <a:latin typeface="Calibri"/>
              </a:rPr>
              <a:t>Middle East &amp; Africa</a:t>
            </a:r>
          </a:p>
        </p:txBody>
      </p:sp>
      <p:sp>
        <p:nvSpPr>
          <p:cNvPr id="60" name="Rounded Rectangle 59"/>
          <p:cNvSpPr/>
          <p:nvPr/>
        </p:nvSpPr>
        <p:spPr>
          <a:xfrm>
            <a:off x="7915275" y="1181100"/>
            <a:ext cx="4133850" cy="54673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62" name="Rectangle 61"/>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8625" y="1590675"/>
            <a:ext cx="3867150" cy="49815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chart shows global average pricing of key product type types in USD, harmonised across regions. Each candlestick spans the minimum-to-maximum observed price within the base year, giving a clear read of price range and market dispersion.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Wider bodies mark a larger gap between opening and closing price levels 'Blood Collection Lancets' shows the most movement (+4.3%) and 'Integrated Capillary Blood Collection Devices' the least (+3.7%) variability stakeholders should monitor when planning procurement or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lower chart indexes regional price movement to the base year, applied consistently across the horizon to strip out year-on-year inflationary volatility and reveal structural price shifts.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Regional indices diverge by up to 9.5% between 2026 and 2036: developed regions start higher and grow steadily, while emerging regions start lower and converge, reflecting catch-up growth.</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Global Pricing Assessment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Assessment of pricing pattern, price range and average price by product for each region of the global market</a:t>
            </a:r>
          </a:p>
        </p:txBody>
      </p:sp>
      <p:sp>
        <p:nvSpPr>
          <p:cNvPr id="11" name="TextBox 10"/>
          <p:cNvSpPr txBox="1"/>
          <p:nvPr/>
        </p:nvSpPr>
        <p:spPr>
          <a:xfrm>
            <a:off x="142875" y="800100"/>
            <a:ext cx="6096000" cy="152400"/>
          </a:xfrm>
          <a:prstGeom prst="rect">
            <a:avLst/>
          </a:prstGeom>
          <a:noFill/>
        </p:spPr>
        <p:txBody>
          <a:bodyPr wrap="square" lIns="28575" rIns="28575" tIns="9525" bIns="9525" anchor="ctr">
            <a:spAutoFit/>
          </a:bodyPr>
          <a:lstStyle/>
          <a:p>
            <a:pPr algn="l"/>
            <a:r>
              <a:rPr sz="1150" b="1">
                <a:solidFill>
                  <a:srgbClr val="0B2E4A"/>
                </a:solidFill>
                <a:latin typeface="Calibri"/>
              </a:rPr>
              <a:t>Global Price Point Assessment (US$/Units)</a:t>
            </a:r>
          </a:p>
        </p:txBody>
      </p:sp>
      <p:sp>
        <p:nvSpPr>
          <p:cNvPr id="12" name="Oval 11"/>
          <p:cNvSpPr/>
          <p:nvPr/>
        </p:nvSpPr>
        <p:spPr>
          <a:xfrm>
            <a:off x="2005012" y="1004888"/>
            <a:ext cx="104775" cy="104775"/>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3125"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Capillary Blood Col…</a:t>
            </a:r>
          </a:p>
        </p:txBody>
      </p:sp>
      <p:sp>
        <p:nvSpPr>
          <p:cNvPr id="14" name="Oval 13"/>
          <p:cNvSpPr/>
          <p:nvPr/>
        </p:nvSpPr>
        <p:spPr>
          <a:xfrm>
            <a:off x="3125429" y="1004888"/>
            <a:ext cx="104775" cy="1047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3541"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Blood Collection La…</a:t>
            </a:r>
          </a:p>
        </p:txBody>
      </p:sp>
      <p:sp>
        <p:nvSpPr>
          <p:cNvPr id="16" name="Oval 15"/>
          <p:cNvSpPr/>
          <p:nvPr/>
        </p:nvSpPr>
        <p:spPr>
          <a:xfrm>
            <a:off x="4258447" y="1004888"/>
            <a:ext cx="104775" cy="10477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6559"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Integrated Capillar…</a:t>
            </a:r>
          </a:p>
        </p:txBody>
      </p:sp>
      <p:sp>
        <p:nvSpPr>
          <p:cNvPr id="18" name="Rectangle 17"/>
          <p:cNvSpPr/>
          <p:nvPr/>
        </p:nvSpPr>
        <p:spPr>
          <a:xfrm>
            <a:off x="5359724" y="1000125"/>
            <a:ext cx="209550" cy="1143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07374" y="990600"/>
            <a:ext cx="857250" cy="142875"/>
          </a:xfrm>
          <a:prstGeom prst="rect">
            <a:avLst/>
          </a:prstGeom>
          <a:noFill/>
        </p:spPr>
        <p:txBody>
          <a:bodyPr wrap="square" lIns="28575" rIns="28575" tIns="9525" bIns="9525" anchor="ctr">
            <a:spAutoFit/>
          </a:bodyPr>
          <a:lstStyle/>
          <a:p>
            <a:pPr algn="l"/>
            <a:r>
              <a:rPr sz="900" b="0">
                <a:solidFill>
                  <a:srgbClr val="2E2E2E"/>
                </a:solidFill>
                <a:latin typeface="Calibri"/>
              </a:rPr>
              <a:t>Price Range</a:t>
            </a:r>
          </a:p>
        </p:txBody>
      </p:sp>
      <p:sp>
        <p:nvSpPr>
          <p:cNvPr id="20" name="TextBox 19"/>
          <p:cNvSpPr txBox="1"/>
          <p:nvPr/>
        </p:nvSpPr>
        <p:spPr>
          <a:xfrm>
            <a:off x="6715125" y="990600"/>
            <a:ext cx="5334000" cy="142875"/>
          </a:xfrm>
          <a:prstGeom prst="rect">
            <a:avLst/>
          </a:prstGeom>
          <a:noFill/>
        </p:spPr>
        <p:txBody>
          <a:bodyPr wrap="square" lIns="28575" rIns="28575" tIns="9525" bIns="9525" anchor="ctr">
            <a:spAutoFit/>
          </a:bodyPr>
          <a:lstStyle/>
          <a:p>
            <a:pPr algn="l"/>
            <a:r>
              <a:rPr sz="950" b="1">
                <a:solidFill>
                  <a:srgbClr val="0B2E4A"/>
                </a:solidFill>
                <a:latin typeface="Calibri"/>
              </a:rPr>
              <a:t>Average Pricing by Product Type (US$/Units)</a:t>
            </a:r>
          </a:p>
        </p:txBody>
      </p:sp>
      <p:sp>
        <p:nvSpPr>
          <p:cNvPr id="21" name="TextBox 20"/>
          <p:cNvSpPr txBox="1"/>
          <p:nvPr/>
        </p:nvSpPr>
        <p:spPr>
          <a:xfrm>
            <a:off x="11191875" y="800100"/>
            <a:ext cx="857250" cy="142875"/>
          </a:xfrm>
          <a:prstGeom prst="rect">
            <a:avLst/>
          </a:prstGeom>
          <a:noFill/>
        </p:spPr>
        <p:txBody>
          <a:bodyPr wrap="square" lIns="28575" rIns="28575" tIns="9525" bIns="9525" anchor="ctr">
            <a:spAutoFit/>
          </a:bodyPr>
          <a:lstStyle/>
          <a:p>
            <a:pPr algn="r"/>
            <a:r>
              <a:rPr sz="900" b="1">
                <a:solidFill>
                  <a:srgbClr val="6C7A89"/>
                </a:solidFill>
                <a:latin typeface="Calibri"/>
              </a:rPr>
              <a:t>(1 / 2)</a:t>
            </a:r>
          </a:p>
        </p:txBody>
      </p:sp>
      <p:sp>
        <p:nvSpPr>
          <p:cNvPr id="22" name="Rectangle 21"/>
          <p:cNvSpPr/>
          <p:nvPr/>
        </p:nvSpPr>
        <p:spPr>
          <a:xfrm>
            <a:off x="142875" y="12192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0025" y="12382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North America Pricing Pattern</a:t>
            </a:r>
          </a:p>
        </p:txBody>
      </p:sp>
      <p:cxnSp>
        <p:nvCxnSpPr>
          <p:cNvPr id="24" name="Connector 23"/>
          <p:cNvCxnSpPr/>
          <p:nvPr/>
        </p:nvCxnSpPr>
        <p:spPr>
          <a:xfrm>
            <a:off x="466725" y="14753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3350" y="135255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26" name="TextBox 25"/>
          <p:cNvSpPr txBox="1"/>
          <p:nvPr/>
        </p:nvSpPr>
        <p:spPr>
          <a:xfrm>
            <a:off x="133350" y="230505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27" name="Freeform 26"/>
          <p:cNvSpPr/>
          <p:nvPr/>
        </p:nvSpPr>
        <p:spPr>
          <a:xfrm>
            <a:off x="466725" y="1476375"/>
            <a:ext cx="2314575" cy="742950"/>
          </a:xfrm>
          <a:custGeom>
            <a:avLst/>
            <a:gdLst/>
            <a:ahLst/>
            <a:cxnLst/>
            <a:rect l="l" t="t" r="r" b="b"/>
            <a:pathLst>
              <a:path w="243" h="78">
                <a:moveTo>
                  <a:pt x="0" y="0"/>
                </a:moveTo>
                <a:lnTo>
                  <a:pt x="49" y="26"/>
                </a:lnTo>
                <a:lnTo>
                  <a:pt x="97" y="47"/>
                </a:lnTo>
                <a:lnTo>
                  <a:pt x="146" y="61"/>
                </a:lnTo>
                <a:lnTo>
                  <a:pt x="194" y="72"/>
                </a:lnTo>
                <a:lnTo>
                  <a:pt x="243" y="78"/>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66725" y="1476375"/>
            <a:ext cx="2314575" cy="704850"/>
          </a:xfrm>
          <a:custGeom>
            <a:avLst/>
            <a:gdLst/>
            <a:ahLst/>
            <a:cxnLst/>
            <a:rect l="l" t="t" r="r" b="b"/>
            <a:pathLst>
              <a:path w="243" h="74">
                <a:moveTo>
                  <a:pt x="0" y="0"/>
                </a:moveTo>
                <a:lnTo>
                  <a:pt x="49" y="26"/>
                </a:lnTo>
                <a:lnTo>
                  <a:pt x="97" y="48"/>
                </a:lnTo>
                <a:lnTo>
                  <a:pt x="146" y="60"/>
                </a:lnTo>
                <a:lnTo>
                  <a:pt x="194" y="69"/>
                </a:lnTo>
                <a:lnTo>
                  <a:pt x="243" y="74"/>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466725" y="1476375"/>
            <a:ext cx="2314575" cy="819150"/>
          </a:xfrm>
          <a:custGeom>
            <a:avLst/>
            <a:gdLst/>
            <a:ahLst/>
            <a:cxnLst/>
            <a:rect l="l" t="t" r="r" b="b"/>
            <a:pathLst>
              <a:path w="243" h="86">
                <a:moveTo>
                  <a:pt x="0" y="0"/>
                </a:moveTo>
                <a:lnTo>
                  <a:pt x="49" y="26"/>
                </a:lnTo>
                <a:lnTo>
                  <a:pt x="97" y="49"/>
                </a:lnTo>
                <a:lnTo>
                  <a:pt x="146" y="65"/>
                </a:lnTo>
                <a:lnTo>
                  <a:pt x="194" y="78"/>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4325"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31" name="TextBox 30"/>
          <p:cNvSpPr txBox="1"/>
          <p:nvPr/>
        </p:nvSpPr>
        <p:spPr>
          <a:xfrm>
            <a:off x="2514600"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32" name="Connector 31"/>
          <p:cNvCxnSpPr/>
          <p:nvPr/>
        </p:nvCxnSpPr>
        <p:spPr>
          <a:xfrm>
            <a:off x="3314700" y="18684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162300" y="18017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34" name="Connector 33"/>
          <p:cNvCxnSpPr/>
          <p:nvPr/>
        </p:nvCxnSpPr>
        <p:spPr>
          <a:xfrm>
            <a:off x="331470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8610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36" name="Connector 35"/>
          <p:cNvCxnSpPr/>
          <p:nvPr/>
        </p:nvCxnSpPr>
        <p:spPr>
          <a:xfrm>
            <a:off x="396621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3761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38" name="Connector 37"/>
          <p:cNvCxnSpPr/>
          <p:nvPr/>
        </p:nvCxnSpPr>
        <p:spPr>
          <a:xfrm>
            <a:off x="461772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8912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40" name="Connector 39"/>
          <p:cNvCxnSpPr/>
          <p:nvPr/>
        </p:nvCxnSpPr>
        <p:spPr>
          <a:xfrm>
            <a:off x="526923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04063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42" name="Connector 41"/>
          <p:cNvCxnSpPr/>
          <p:nvPr/>
        </p:nvCxnSpPr>
        <p:spPr>
          <a:xfrm>
            <a:off x="592074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9214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44" name="Connector 43"/>
          <p:cNvCxnSpPr/>
          <p:nvPr/>
        </p:nvCxnSpPr>
        <p:spPr>
          <a:xfrm>
            <a:off x="657225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4365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46" name="Rectangle 45"/>
          <p:cNvSpPr/>
          <p:nvPr/>
        </p:nvSpPr>
        <p:spPr>
          <a:xfrm>
            <a:off x="5066716" y="1792224"/>
            <a:ext cx="28575"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025974" y="18112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030505" y="18112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009566" y="18112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15125" y="13906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51" name="TextBox 50"/>
          <p:cNvSpPr txBox="1"/>
          <p:nvPr/>
        </p:nvSpPr>
        <p:spPr>
          <a:xfrm>
            <a:off x="8155305" y="13906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712,464.33   712,772.70   711,347.41</a:t>
            </a:r>
          </a:p>
        </p:txBody>
      </p:sp>
      <p:sp>
        <p:nvSpPr>
          <p:cNvPr id="52" name="TextBox 51"/>
          <p:cNvSpPr txBox="1"/>
          <p:nvPr/>
        </p:nvSpPr>
        <p:spPr>
          <a:xfrm>
            <a:off x="6715125" y="17526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53" name="TextBox 52"/>
          <p:cNvSpPr txBox="1"/>
          <p:nvPr/>
        </p:nvSpPr>
        <p:spPr>
          <a:xfrm>
            <a:off x="8155305" y="17526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753,886.68   754,212.98   752,704.81</a:t>
            </a:r>
          </a:p>
        </p:txBody>
      </p:sp>
      <p:sp>
        <p:nvSpPr>
          <p:cNvPr id="54" name="TextBox 53"/>
          <p:cNvSpPr txBox="1"/>
          <p:nvPr/>
        </p:nvSpPr>
        <p:spPr>
          <a:xfrm>
            <a:off x="6715125" y="2114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55" name="TextBox 54"/>
          <p:cNvSpPr txBox="1"/>
          <p:nvPr/>
        </p:nvSpPr>
        <p:spPr>
          <a:xfrm>
            <a:off x="8155305" y="2114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795,309.02   795,653.25   794,062.22</a:t>
            </a:r>
          </a:p>
        </p:txBody>
      </p:sp>
      <p:sp>
        <p:nvSpPr>
          <p:cNvPr id="56" name="TextBox 55"/>
          <p:cNvSpPr txBox="1"/>
          <p:nvPr/>
        </p:nvSpPr>
        <p:spPr>
          <a:xfrm>
            <a:off x="9382125" y="13906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57" name="TextBox 56"/>
          <p:cNvSpPr txBox="1"/>
          <p:nvPr/>
        </p:nvSpPr>
        <p:spPr>
          <a:xfrm>
            <a:off x="10822305" y="13906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836,731.37   837,093.52   835,419.63</a:t>
            </a:r>
          </a:p>
        </p:txBody>
      </p:sp>
      <p:sp>
        <p:nvSpPr>
          <p:cNvPr id="58" name="TextBox 57"/>
          <p:cNvSpPr txBox="1"/>
          <p:nvPr/>
        </p:nvSpPr>
        <p:spPr>
          <a:xfrm>
            <a:off x="9382125" y="17526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59" name="TextBox 58"/>
          <p:cNvSpPr txBox="1"/>
          <p:nvPr/>
        </p:nvSpPr>
        <p:spPr>
          <a:xfrm>
            <a:off x="10822305" y="17526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878,153.71   878,533.80   876,777.04</a:t>
            </a:r>
          </a:p>
        </p:txBody>
      </p:sp>
      <p:sp>
        <p:nvSpPr>
          <p:cNvPr id="60" name="TextBox 59"/>
          <p:cNvSpPr txBox="1"/>
          <p:nvPr/>
        </p:nvSpPr>
        <p:spPr>
          <a:xfrm>
            <a:off x="9382125" y="2114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61" name="TextBox 60"/>
          <p:cNvSpPr txBox="1"/>
          <p:nvPr/>
        </p:nvSpPr>
        <p:spPr>
          <a:xfrm>
            <a:off x="10822305" y="2114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919,576.06   919,974.07   918,134.44</a:t>
            </a:r>
          </a:p>
        </p:txBody>
      </p:sp>
      <p:sp>
        <p:nvSpPr>
          <p:cNvPr id="62" name="Rectangle 61"/>
          <p:cNvSpPr/>
          <p:nvPr/>
        </p:nvSpPr>
        <p:spPr>
          <a:xfrm>
            <a:off x="142875" y="25336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00025" y="25527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Latin America Pricing Pattern</a:t>
            </a:r>
          </a:p>
        </p:txBody>
      </p:sp>
      <p:cxnSp>
        <p:nvCxnSpPr>
          <p:cNvPr id="64" name="Connector 63"/>
          <p:cNvCxnSpPr/>
          <p:nvPr/>
        </p:nvCxnSpPr>
        <p:spPr>
          <a:xfrm>
            <a:off x="466725" y="27898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33350" y="266700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66" name="TextBox 65"/>
          <p:cNvSpPr txBox="1"/>
          <p:nvPr/>
        </p:nvSpPr>
        <p:spPr>
          <a:xfrm>
            <a:off x="133350" y="361950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67" name="Freeform 66"/>
          <p:cNvSpPr/>
          <p:nvPr/>
        </p:nvSpPr>
        <p:spPr>
          <a:xfrm>
            <a:off x="466725" y="2790825"/>
            <a:ext cx="2314575" cy="781050"/>
          </a:xfrm>
          <a:custGeom>
            <a:avLst/>
            <a:gdLst/>
            <a:ahLst/>
            <a:cxnLst/>
            <a:rect l="l" t="t" r="r" b="b"/>
            <a:pathLst>
              <a:path w="243" h="82">
                <a:moveTo>
                  <a:pt x="0" y="0"/>
                </a:moveTo>
                <a:lnTo>
                  <a:pt x="49" y="25"/>
                </a:lnTo>
                <a:lnTo>
                  <a:pt x="97" y="47"/>
                </a:lnTo>
                <a:lnTo>
                  <a:pt x="146" y="62"/>
                </a:lnTo>
                <a:lnTo>
                  <a:pt x="194" y="74"/>
                </a:lnTo>
                <a:lnTo>
                  <a:pt x="243" y="82"/>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466725" y="2790825"/>
            <a:ext cx="2314575" cy="600075"/>
          </a:xfrm>
          <a:custGeom>
            <a:avLst/>
            <a:gdLst/>
            <a:ahLst/>
            <a:cxnLst/>
            <a:rect l="l" t="t" r="r" b="b"/>
            <a:pathLst>
              <a:path w="243" h="63">
                <a:moveTo>
                  <a:pt x="0" y="0"/>
                </a:moveTo>
                <a:lnTo>
                  <a:pt x="49" y="22"/>
                </a:lnTo>
                <a:lnTo>
                  <a:pt x="97" y="40"/>
                </a:lnTo>
                <a:lnTo>
                  <a:pt x="146" y="51"/>
                </a:lnTo>
                <a:lnTo>
                  <a:pt x="194" y="58"/>
                </a:lnTo>
                <a:lnTo>
                  <a:pt x="243" y="63"/>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466725" y="2790825"/>
            <a:ext cx="2314575" cy="819150"/>
          </a:xfrm>
          <a:custGeom>
            <a:avLst/>
            <a:gdLst/>
            <a:ahLst/>
            <a:cxnLst/>
            <a:rect l="l" t="t" r="r" b="b"/>
            <a:pathLst>
              <a:path w="243" h="86">
                <a:moveTo>
                  <a:pt x="0" y="0"/>
                </a:moveTo>
                <a:lnTo>
                  <a:pt x="49" y="29"/>
                </a:lnTo>
                <a:lnTo>
                  <a:pt x="97" y="53"/>
                </a:lnTo>
                <a:lnTo>
                  <a:pt x="146" y="69"/>
                </a:lnTo>
                <a:lnTo>
                  <a:pt x="194" y="80"/>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14325"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71" name="TextBox 70"/>
          <p:cNvSpPr txBox="1"/>
          <p:nvPr/>
        </p:nvSpPr>
        <p:spPr>
          <a:xfrm>
            <a:off x="2514600"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72" name="Connector 71"/>
          <p:cNvCxnSpPr/>
          <p:nvPr/>
        </p:nvCxnSpPr>
        <p:spPr>
          <a:xfrm>
            <a:off x="3314700" y="31828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3162300" y="31161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74" name="Connector 73"/>
          <p:cNvCxnSpPr/>
          <p:nvPr/>
        </p:nvCxnSpPr>
        <p:spPr>
          <a:xfrm>
            <a:off x="331470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08610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76" name="Connector 75"/>
          <p:cNvCxnSpPr/>
          <p:nvPr/>
        </p:nvCxnSpPr>
        <p:spPr>
          <a:xfrm>
            <a:off x="396621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73761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78" name="Connector 77"/>
          <p:cNvCxnSpPr/>
          <p:nvPr/>
        </p:nvCxnSpPr>
        <p:spPr>
          <a:xfrm>
            <a:off x="461772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438912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80" name="Connector 79"/>
          <p:cNvCxnSpPr/>
          <p:nvPr/>
        </p:nvCxnSpPr>
        <p:spPr>
          <a:xfrm>
            <a:off x="526923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04063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82" name="Connector 81"/>
          <p:cNvCxnSpPr/>
          <p:nvPr/>
        </p:nvCxnSpPr>
        <p:spPr>
          <a:xfrm>
            <a:off x="592074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569214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84" name="Connector 83"/>
          <p:cNvCxnSpPr/>
          <p:nvPr/>
        </p:nvCxnSpPr>
        <p:spPr>
          <a:xfrm>
            <a:off x="657225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34365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86" name="Rectangle 85"/>
          <p:cNvSpPr/>
          <p:nvPr/>
        </p:nvSpPr>
        <p:spPr>
          <a:xfrm>
            <a:off x="4404981" y="3106674"/>
            <a:ext cx="28575"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347947" y="31257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366424" y="31257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347831" y="31257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715125" y="27051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91" name="TextBox 90"/>
          <p:cNvSpPr txBox="1"/>
          <p:nvPr/>
        </p:nvSpPr>
        <p:spPr>
          <a:xfrm>
            <a:off x="8155305" y="27051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666,312.29   667,569.92   666,304.33</a:t>
            </a:r>
          </a:p>
        </p:txBody>
      </p:sp>
      <p:sp>
        <p:nvSpPr>
          <p:cNvPr id="92" name="TextBox 91"/>
          <p:cNvSpPr txBox="1"/>
          <p:nvPr/>
        </p:nvSpPr>
        <p:spPr>
          <a:xfrm>
            <a:off x="6715125" y="30670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93" name="TextBox 92"/>
          <p:cNvSpPr txBox="1"/>
          <p:nvPr/>
        </p:nvSpPr>
        <p:spPr>
          <a:xfrm>
            <a:off x="8155305" y="30670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705,051.37   706,382.13   705,042.95</a:t>
            </a:r>
          </a:p>
        </p:txBody>
      </p:sp>
      <p:sp>
        <p:nvSpPr>
          <p:cNvPr id="94" name="TextBox 93"/>
          <p:cNvSpPr txBox="1"/>
          <p:nvPr/>
        </p:nvSpPr>
        <p:spPr>
          <a:xfrm>
            <a:off x="6715125" y="3429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95" name="TextBox 94"/>
          <p:cNvSpPr txBox="1"/>
          <p:nvPr/>
        </p:nvSpPr>
        <p:spPr>
          <a:xfrm>
            <a:off x="8155305" y="3429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743,790.46   745,194.33   743,781.58</a:t>
            </a:r>
          </a:p>
        </p:txBody>
      </p:sp>
      <p:sp>
        <p:nvSpPr>
          <p:cNvPr id="96" name="TextBox 95"/>
          <p:cNvSpPr txBox="1"/>
          <p:nvPr/>
        </p:nvSpPr>
        <p:spPr>
          <a:xfrm>
            <a:off x="9382125" y="27051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97" name="TextBox 96"/>
          <p:cNvSpPr txBox="1"/>
          <p:nvPr/>
        </p:nvSpPr>
        <p:spPr>
          <a:xfrm>
            <a:off x="10822305" y="27051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782,529.55   784,006.54   782,520.20</a:t>
            </a:r>
          </a:p>
        </p:txBody>
      </p:sp>
      <p:sp>
        <p:nvSpPr>
          <p:cNvPr id="98" name="TextBox 97"/>
          <p:cNvSpPr txBox="1"/>
          <p:nvPr/>
        </p:nvSpPr>
        <p:spPr>
          <a:xfrm>
            <a:off x="9382125" y="30670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99" name="TextBox 98"/>
          <p:cNvSpPr txBox="1"/>
          <p:nvPr/>
        </p:nvSpPr>
        <p:spPr>
          <a:xfrm>
            <a:off x="10822305" y="30670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821,268.63   822,818.74   821,258.83</a:t>
            </a:r>
          </a:p>
        </p:txBody>
      </p:sp>
      <p:sp>
        <p:nvSpPr>
          <p:cNvPr id="100" name="TextBox 99"/>
          <p:cNvSpPr txBox="1"/>
          <p:nvPr/>
        </p:nvSpPr>
        <p:spPr>
          <a:xfrm>
            <a:off x="9382125" y="3429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101" name="TextBox 100"/>
          <p:cNvSpPr txBox="1"/>
          <p:nvPr/>
        </p:nvSpPr>
        <p:spPr>
          <a:xfrm>
            <a:off x="10822305" y="3429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860,007.72   861,630.95   859,997.45</a:t>
            </a:r>
          </a:p>
        </p:txBody>
      </p:sp>
      <p:sp>
        <p:nvSpPr>
          <p:cNvPr id="102" name="Rectangle 101"/>
          <p:cNvSpPr/>
          <p:nvPr/>
        </p:nvSpPr>
        <p:spPr>
          <a:xfrm>
            <a:off x="142875" y="38481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00025" y="38671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Western Europe Pricing Pattern</a:t>
            </a:r>
          </a:p>
        </p:txBody>
      </p:sp>
      <p:cxnSp>
        <p:nvCxnSpPr>
          <p:cNvPr id="104" name="Connector 103"/>
          <p:cNvCxnSpPr/>
          <p:nvPr/>
        </p:nvCxnSpPr>
        <p:spPr>
          <a:xfrm>
            <a:off x="466725" y="41042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33350" y="398145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106" name="TextBox 105"/>
          <p:cNvSpPr txBox="1"/>
          <p:nvPr/>
        </p:nvSpPr>
        <p:spPr>
          <a:xfrm>
            <a:off x="133350" y="493395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107" name="Freeform 106"/>
          <p:cNvSpPr/>
          <p:nvPr/>
        </p:nvSpPr>
        <p:spPr>
          <a:xfrm>
            <a:off x="466725" y="4105275"/>
            <a:ext cx="2314575" cy="790575"/>
          </a:xfrm>
          <a:custGeom>
            <a:avLst/>
            <a:gdLst/>
            <a:ahLst/>
            <a:cxnLst/>
            <a:rect l="l" t="t" r="r" b="b"/>
            <a:pathLst>
              <a:path w="243" h="83">
                <a:moveTo>
                  <a:pt x="0" y="0"/>
                </a:moveTo>
                <a:lnTo>
                  <a:pt x="49" y="27"/>
                </a:lnTo>
                <a:lnTo>
                  <a:pt x="97" y="49"/>
                </a:lnTo>
                <a:lnTo>
                  <a:pt x="146" y="64"/>
                </a:lnTo>
                <a:lnTo>
                  <a:pt x="194" y="76"/>
                </a:lnTo>
                <a:lnTo>
                  <a:pt x="243" y="83"/>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466725" y="4105275"/>
            <a:ext cx="2314575" cy="819150"/>
          </a:xfrm>
          <a:custGeom>
            <a:avLst/>
            <a:gdLst/>
            <a:ahLst/>
            <a:cxnLst/>
            <a:rect l="l" t="t" r="r" b="b"/>
            <a:pathLst>
              <a:path w="243" h="86">
                <a:moveTo>
                  <a:pt x="0" y="0"/>
                </a:moveTo>
                <a:lnTo>
                  <a:pt x="49" y="28"/>
                </a:lnTo>
                <a:lnTo>
                  <a:pt x="97" y="52"/>
                </a:lnTo>
                <a:lnTo>
                  <a:pt x="146" y="67"/>
                </a:lnTo>
                <a:lnTo>
                  <a:pt x="194" y="79"/>
                </a:lnTo>
                <a:lnTo>
                  <a:pt x="243" y="8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466725" y="4105275"/>
            <a:ext cx="2314575" cy="819150"/>
          </a:xfrm>
          <a:custGeom>
            <a:avLst/>
            <a:gdLst/>
            <a:ahLst/>
            <a:cxnLst/>
            <a:rect l="l" t="t" r="r" b="b"/>
            <a:pathLst>
              <a:path w="243" h="86">
                <a:moveTo>
                  <a:pt x="0" y="0"/>
                </a:moveTo>
                <a:lnTo>
                  <a:pt x="49" y="27"/>
                </a:lnTo>
                <a:lnTo>
                  <a:pt x="97" y="50"/>
                </a:lnTo>
                <a:lnTo>
                  <a:pt x="146" y="66"/>
                </a:lnTo>
                <a:lnTo>
                  <a:pt x="194" y="78"/>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14325"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111" name="TextBox 110"/>
          <p:cNvSpPr txBox="1"/>
          <p:nvPr/>
        </p:nvSpPr>
        <p:spPr>
          <a:xfrm>
            <a:off x="2514600"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112" name="Connector 111"/>
          <p:cNvCxnSpPr/>
          <p:nvPr/>
        </p:nvCxnSpPr>
        <p:spPr>
          <a:xfrm>
            <a:off x="3314700" y="44973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162300" y="44306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114" name="Connector 113"/>
          <p:cNvCxnSpPr/>
          <p:nvPr/>
        </p:nvCxnSpPr>
        <p:spPr>
          <a:xfrm>
            <a:off x="331470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308610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116" name="Connector 115"/>
          <p:cNvCxnSpPr/>
          <p:nvPr/>
        </p:nvCxnSpPr>
        <p:spPr>
          <a:xfrm>
            <a:off x="396621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373761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118" name="Connector 117"/>
          <p:cNvCxnSpPr/>
          <p:nvPr/>
        </p:nvCxnSpPr>
        <p:spPr>
          <a:xfrm>
            <a:off x="461772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438912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120" name="Connector 119"/>
          <p:cNvCxnSpPr/>
          <p:nvPr/>
        </p:nvCxnSpPr>
        <p:spPr>
          <a:xfrm>
            <a:off x="526923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04063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122" name="Connector 121"/>
          <p:cNvCxnSpPr/>
          <p:nvPr/>
        </p:nvCxnSpPr>
        <p:spPr>
          <a:xfrm>
            <a:off x="592074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569214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124" name="Connector 123"/>
          <p:cNvCxnSpPr/>
          <p:nvPr/>
        </p:nvCxnSpPr>
        <p:spPr>
          <a:xfrm>
            <a:off x="657225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634365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126" name="Rectangle 125"/>
          <p:cNvSpPr/>
          <p:nvPr/>
        </p:nvSpPr>
        <p:spPr>
          <a:xfrm>
            <a:off x="6209809" y="4421124"/>
            <a:ext cx="28575"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6158805" y="44401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6157712" y="44401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6152659" y="44401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715125" y="4019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131" name="TextBox 130"/>
          <p:cNvSpPr txBox="1"/>
          <p:nvPr/>
        </p:nvSpPr>
        <p:spPr>
          <a:xfrm>
            <a:off x="8155305" y="4019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789,574.05   789,499.64   789,155.67</a:t>
            </a:r>
          </a:p>
        </p:txBody>
      </p:sp>
      <p:sp>
        <p:nvSpPr>
          <p:cNvPr id="132" name="TextBox 131"/>
          <p:cNvSpPr txBox="1"/>
          <p:nvPr/>
        </p:nvSpPr>
        <p:spPr>
          <a:xfrm>
            <a:off x="6715125" y="43815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133" name="TextBox 132"/>
          <p:cNvSpPr txBox="1"/>
          <p:nvPr/>
        </p:nvSpPr>
        <p:spPr>
          <a:xfrm>
            <a:off x="8155305" y="43815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835,479.52   835,400.78   835,036.82</a:t>
            </a:r>
          </a:p>
        </p:txBody>
      </p:sp>
      <p:sp>
        <p:nvSpPr>
          <p:cNvPr id="134" name="TextBox 133"/>
          <p:cNvSpPr txBox="1"/>
          <p:nvPr/>
        </p:nvSpPr>
        <p:spPr>
          <a:xfrm>
            <a:off x="6715125" y="47434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135" name="TextBox 134"/>
          <p:cNvSpPr txBox="1"/>
          <p:nvPr/>
        </p:nvSpPr>
        <p:spPr>
          <a:xfrm>
            <a:off x="8155305" y="47434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881,384.99   881,301.92   880,917.96</a:t>
            </a:r>
          </a:p>
        </p:txBody>
      </p:sp>
      <p:sp>
        <p:nvSpPr>
          <p:cNvPr id="136" name="TextBox 135"/>
          <p:cNvSpPr txBox="1"/>
          <p:nvPr/>
        </p:nvSpPr>
        <p:spPr>
          <a:xfrm>
            <a:off x="9382125" y="4019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137" name="TextBox 136"/>
          <p:cNvSpPr txBox="1"/>
          <p:nvPr/>
        </p:nvSpPr>
        <p:spPr>
          <a:xfrm>
            <a:off x="10822305" y="4019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927,290.46   927,203.06   926,799.10</a:t>
            </a:r>
          </a:p>
        </p:txBody>
      </p:sp>
      <p:sp>
        <p:nvSpPr>
          <p:cNvPr id="138" name="TextBox 137"/>
          <p:cNvSpPr txBox="1"/>
          <p:nvPr/>
        </p:nvSpPr>
        <p:spPr>
          <a:xfrm>
            <a:off x="9382125" y="43815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139" name="TextBox 138"/>
          <p:cNvSpPr txBox="1"/>
          <p:nvPr/>
        </p:nvSpPr>
        <p:spPr>
          <a:xfrm>
            <a:off x="10822305" y="43815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973,195.93   973,104.20   972,680.25</a:t>
            </a:r>
          </a:p>
        </p:txBody>
      </p:sp>
      <p:sp>
        <p:nvSpPr>
          <p:cNvPr id="140" name="TextBox 139"/>
          <p:cNvSpPr txBox="1"/>
          <p:nvPr/>
        </p:nvSpPr>
        <p:spPr>
          <a:xfrm>
            <a:off x="9382125" y="47434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141" name="TextBox 140"/>
          <p:cNvSpPr txBox="1"/>
          <p:nvPr/>
        </p:nvSpPr>
        <p:spPr>
          <a:xfrm>
            <a:off x="10822305" y="47434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1,019,101.40   1,019,005.35   1,018,561.39</a:t>
            </a:r>
          </a:p>
        </p:txBody>
      </p:sp>
      <p:sp>
        <p:nvSpPr>
          <p:cNvPr id="142" name="Rectangle 141"/>
          <p:cNvSpPr/>
          <p:nvPr/>
        </p:nvSpPr>
        <p:spPr>
          <a:xfrm>
            <a:off x="142875" y="51625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00025" y="51816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Eastern Europe Pricing Pattern</a:t>
            </a:r>
          </a:p>
        </p:txBody>
      </p:sp>
      <p:cxnSp>
        <p:nvCxnSpPr>
          <p:cNvPr id="144" name="Connector 143"/>
          <p:cNvCxnSpPr/>
          <p:nvPr/>
        </p:nvCxnSpPr>
        <p:spPr>
          <a:xfrm>
            <a:off x="466725" y="54187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33350" y="529590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146" name="TextBox 145"/>
          <p:cNvSpPr txBox="1"/>
          <p:nvPr/>
        </p:nvSpPr>
        <p:spPr>
          <a:xfrm>
            <a:off x="133350" y="624840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147" name="Freeform 146"/>
          <p:cNvSpPr/>
          <p:nvPr/>
        </p:nvSpPr>
        <p:spPr>
          <a:xfrm>
            <a:off x="466725" y="5419725"/>
            <a:ext cx="2314575" cy="676275"/>
          </a:xfrm>
          <a:custGeom>
            <a:avLst/>
            <a:gdLst/>
            <a:ahLst/>
            <a:cxnLst/>
            <a:rect l="l" t="t" r="r" b="b"/>
            <a:pathLst>
              <a:path w="243" h="71">
                <a:moveTo>
                  <a:pt x="0" y="0"/>
                </a:moveTo>
                <a:lnTo>
                  <a:pt x="49" y="23"/>
                </a:lnTo>
                <a:lnTo>
                  <a:pt x="97" y="42"/>
                </a:lnTo>
                <a:lnTo>
                  <a:pt x="146" y="55"/>
                </a:lnTo>
                <a:lnTo>
                  <a:pt x="194" y="65"/>
                </a:lnTo>
                <a:lnTo>
                  <a:pt x="243" y="71"/>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Freeform 147"/>
          <p:cNvSpPr/>
          <p:nvPr/>
        </p:nvSpPr>
        <p:spPr>
          <a:xfrm>
            <a:off x="466725" y="5419725"/>
            <a:ext cx="2314575" cy="819150"/>
          </a:xfrm>
          <a:custGeom>
            <a:avLst/>
            <a:gdLst/>
            <a:ahLst/>
            <a:cxnLst/>
            <a:rect l="l" t="t" r="r" b="b"/>
            <a:pathLst>
              <a:path w="243" h="86">
                <a:moveTo>
                  <a:pt x="0" y="0"/>
                </a:moveTo>
                <a:lnTo>
                  <a:pt x="49" y="28"/>
                </a:lnTo>
                <a:lnTo>
                  <a:pt x="97" y="52"/>
                </a:lnTo>
                <a:lnTo>
                  <a:pt x="146" y="67"/>
                </a:lnTo>
                <a:lnTo>
                  <a:pt x="194" y="79"/>
                </a:lnTo>
                <a:lnTo>
                  <a:pt x="243" y="8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Freeform 148"/>
          <p:cNvSpPr/>
          <p:nvPr/>
        </p:nvSpPr>
        <p:spPr>
          <a:xfrm>
            <a:off x="466725" y="5419725"/>
            <a:ext cx="2314575" cy="685800"/>
          </a:xfrm>
          <a:custGeom>
            <a:avLst/>
            <a:gdLst/>
            <a:ahLst/>
            <a:cxnLst/>
            <a:rect l="l" t="t" r="r" b="b"/>
            <a:pathLst>
              <a:path w="243" h="72">
                <a:moveTo>
                  <a:pt x="0" y="0"/>
                </a:moveTo>
                <a:lnTo>
                  <a:pt x="49" y="24"/>
                </a:lnTo>
                <a:lnTo>
                  <a:pt x="97" y="44"/>
                </a:lnTo>
                <a:lnTo>
                  <a:pt x="146" y="57"/>
                </a:lnTo>
                <a:lnTo>
                  <a:pt x="194" y="67"/>
                </a:lnTo>
                <a:lnTo>
                  <a:pt x="243" y="72"/>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314325" y="63246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151" name="TextBox 150"/>
          <p:cNvSpPr txBox="1"/>
          <p:nvPr/>
        </p:nvSpPr>
        <p:spPr>
          <a:xfrm>
            <a:off x="2514600" y="63246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152" name="Connector 151"/>
          <p:cNvCxnSpPr/>
          <p:nvPr/>
        </p:nvCxnSpPr>
        <p:spPr>
          <a:xfrm>
            <a:off x="3314700" y="58117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3162300" y="57450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154" name="Connector 153"/>
          <p:cNvCxnSpPr/>
          <p:nvPr/>
        </p:nvCxnSpPr>
        <p:spPr>
          <a:xfrm>
            <a:off x="331470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308610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156" name="Connector 155"/>
          <p:cNvCxnSpPr/>
          <p:nvPr/>
        </p:nvCxnSpPr>
        <p:spPr>
          <a:xfrm>
            <a:off x="396621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373761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158" name="Connector 157"/>
          <p:cNvCxnSpPr/>
          <p:nvPr/>
        </p:nvCxnSpPr>
        <p:spPr>
          <a:xfrm>
            <a:off x="461772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438912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160" name="Connector 159"/>
          <p:cNvCxnSpPr/>
          <p:nvPr/>
        </p:nvCxnSpPr>
        <p:spPr>
          <a:xfrm>
            <a:off x="526923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504063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162" name="Connector 161"/>
          <p:cNvCxnSpPr/>
          <p:nvPr/>
        </p:nvCxnSpPr>
        <p:spPr>
          <a:xfrm>
            <a:off x="592074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569214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164" name="Connector 163"/>
          <p:cNvCxnSpPr/>
          <p:nvPr/>
        </p:nvCxnSpPr>
        <p:spPr>
          <a:xfrm>
            <a:off x="6572250" y="57736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6343650" y="56498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166" name="Rectangle 165"/>
          <p:cNvSpPr/>
          <p:nvPr/>
        </p:nvSpPr>
        <p:spPr>
          <a:xfrm>
            <a:off x="4260945" y="5735574"/>
            <a:ext cx="28575"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4219845" y="57546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203795" y="57546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4216404" y="57546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6715125" y="5334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171" name="TextBox 170"/>
          <p:cNvSpPr txBox="1"/>
          <p:nvPr/>
        </p:nvSpPr>
        <p:spPr>
          <a:xfrm>
            <a:off x="8155305" y="5334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657,592.60   656,500.06   657,358.39</a:t>
            </a:r>
          </a:p>
        </p:txBody>
      </p:sp>
      <p:sp>
        <p:nvSpPr>
          <p:cNvPr id="172" name="TextBox 171"/>
          <p:cNvSpPr txBox="1"/>
          <p:nvPr/>
        </p:nvSpPr>
        <p:spPr>
          <a:xfrm>
            <a:off x="6715125" y="56959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173" name="TextBox 172"/>
          <p:cNvSpPr txBox="1"/>
          <p:nvPr/>
        </p:nvSpPr>
        <p:spPr>
          <a:xfrm>
            <a:off x="8155305" y="56959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695,824.73   694,668.67   695,576.90</a:t>
            </a:r>
          </a:p>
        </p:txBody>
      </p:sp>
      <p:sp>
        <p:nvSpPr>
          <p:cNvPr id="174" name="TextBox 173"/>
          <p:cNvSpPr txBox="1"/>
          <p:nvPr/>
        </p:nvSpPr>
        <p:spPr>
          <a:xfrm>
            <a:off x="6715125" y="60579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175" name="TextBox 174"/>
          <p:cNvSpPr txBox="1"/>
          <p:nvPr/>
        </p:nvSpPr>
        <p:spPr>
          <a:xfrm>
            <a:off x="8155305" y="60579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734,056.86   732,837.28   733,795.41</a:t>
            </a:r>
          </a:p>
        </p:txBody>
      </p:sp>
      <p:sp>
        <p:nvSpPr>
          <p:cNvPr id="176" name="TextBox 175"/>
          <p:cNvSpPr txBox="1"/>
          <p:nvPr/>
        </p:nvSpPr>
        <p:spPr>
          <a:xfrm>
            <a:off x="9382125" y="5334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177" name="TextBox 176"/>
          <p:cNvSpPr txBox="1"/>
          <p:nvPr/>
        </p:nvSpPr>
        <p:spPr>
          <a:xfrm>
            <a:off x="10822305" y="5334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772,288.99   771,005.89   772,013.92</a:t>
            </a:r>
          </a:p>
        </p:txBody>
      </p:sp>
      <p:sp>
        <p:nvSpPr>
          <p:cNvPr id="178" name="TextBox 177"/>
          <p:cNvSpPr txBox="1"/>
          <p:nvPr/>
        </p:nvSpPr>
        <p:spPr>
          <a:xfrm>
            <a:off x="9382125" y="56959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179" name="TextBox 178"/>
          <p:cNvSpPr txBox="1"/>
          <p:nvPr/>
        </p:nvSpPr>
        <p:spPr>
          <a:xfrm>
            <a:off x="10822305" y="56959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810,521.11   809,174.50   810,232.43</a:t>
            </a:r>
          </a:p>
        </p:txBody>
      </p:sp>
      <p:sp>
        <p:nvSpPr>
          <p:cNvPr id="180" name="TextBox 179"/>
          <p:cNvSpPr txBox="1"/>
          <p:nvPr/>
        </p:nvSpPr>
        <p:spPr>
          <a:xfrm>
            <a:off x="9382125" y="60579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181" name="TextBox 180"/>
          <p:cNvSpPr txBox="1"/>
          <p:nvPr/>
        </p:nvSpPr>
        <p:spPr>
          <a:xfrm>
            <a:off x="10822305" y="60579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848,753.24   847,343.10   848,450.94</a:t>
            </a:r>
          </a:p>
        </p:txBody>
      </p:sp>
      <p:sp>
        <p:nvSpPr>
          <p:cNvPr id="182" name="TextBox 181"/>
          <p:cNvSpPr txBox="1"/>
          <p:nvPr/>
        </p:nvSpPr>
        <p:spPr>
          <a:xfrm>
            <a:off x="3314700" y="6610350"/>
            <a:ext cx="14287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Product</a:t>
            </a:r>
          </a:p>
        </p:txBody>
      </p:sp>
      <p:sp>
        <p:nvSpPr>
          <p:cNvPr id="183" name="TextBox 182"/>
          <p:cNvSpPr txBox="1"/>
          <p:nvPr/>
        </p:nvSpPr>
        <p:spPr>
          <a:xfrm>
            <a:off x="6715125" y="6610350"/>
            <a:ext cx="16192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Application</a:t>
            </a:r>
          </a:p>
        </p:txBody>
      </p:sp>
      <p:sp>
        <p:nvSpPr>
          <p:cNvPr id="184" name="Rectangle 18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86" name="Rounded Rectangle 18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7" name="Rounded Rectangle 18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8" name="Rounded Rectangle 18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Global Pricing Assessment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Assessment of pricing pattern, price range and average price by product for each region of the global market</a:t>
            </a:r>
          </a:p>
        </p:txBody>
      </p:sp>
      <p:sp>
        <p:nvSpPr>
          <p:cNvPr id="11" name="TextBox 10"/>
          <p:cNvSpPr txBox="1"/>
          <p:nvPr/>
        </p:nvSpPr>
        <p:spPr>
          <a:xfrm>
            <a:off x="142875" y="800100"/>
            <a:ext cx="6096000" cy="152400"/>
          </a:xfrm>
          <a:prstGeom prst="rect">
            <a:avLst/>
          </a:prstGeom>
          <a:noFill/>
        </p:spPr>
        <p:txBody>
          <a:bodyPr wrap="square" lIns="28575" rIns="28575" tIns="9525" bIns="9525" anchor="ctr">
            <a:spAutoFit/>
          </a:bodyPr>
          <a:lstStyle/>
          <a:p>
            <a:pPr algn="l"/>
            <a:r>
              <a:rPr sz="1150" b="1">
                <a:solidFill>
                  <a:srgbClr val="0B2E4A"/>
                </a:solidFill>
                <a:latin typeface="Calibri"/>
              </a:rPr>
              <a:t>Global Price Point Assessment (US$/Units)</a:t>
            </a:r>
          </a:p>
        </p:txBody>
      </p:sp>
      <p:sp>
        <p:nvSpPr>
          <p:cNvPr id="12" name="Oval 11"/>
          <p:cNvSpPr/>
          <p:nvPr/>
        </p:nvSpPr>
        <p:spPr>
          <a:xfrm>
            <a:off x="2005012" y="1004888"/>
            <a:ext cx="104775" cy="104775"/>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3125"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Capillary Blood Col…</a:t>
            </a:r>
          </a:p>
        </p:txBody>
      </p:sp>
      <p:sp>
        <p:nvSpPr>
          <p:cNvPr id="14" name="Oval 13"/>
          <p:cNvSpPr/>
          <p:nvPr/>
        </p:nvSpPr>
        <p:spPr>
          <a:xfrm>
            <a:off x="3125429" y="1004888"/>
            <a:ext cx="104775" cy="1047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3541"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Blood Collection La…</a:t>
            </a:r>
          </a:p>
        </p:txBody>
      </p:sp>
      <p:sp>
        <p:nvSpPr>
          <p:cNvPr id="16" name="Oval 15"/>
          <p:cNvSpPr/>
          <p:nvPr/>
        </p:nvSpPr>
        <p:spPr>
          <a:xfrm>
            <a:off x="4258447" y="1004888"/>
            <a:ext cx="104775" cy="104775"/>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6559" y="990600"/>
            <a:ext cx="1238250" cy="142875"/>
          </a:xfrm>
          <a:prstGeom prst="rect">
            <a:avLst/>
          </a:prstGeom>
          <a:noFill/>
        </p:spPr>
        <p:txBody>
          <a:bodyPr wrap="square" lIns="28575" rIns="28575" tIns="9525" bIns="9525" anchor="ctr">
            <a:spAutoFit/>
          </a:bodyPr>
          <a:lstStyle/>
          <a:p>
            <a:pPr algn="l"/>
            <a:r>
              <a:rPr sz="900" b="0">
                <a:solidFill>
                  <a:srgbClr val="2E2E2E"/>
                </a:solidFill>
                <a:latin typeface="Calibri"/>
              </a:rPr>
              <a:t>Integrated Capillar…</a:t>
            </a:r>
          </a:p>
        </p:txBody>
      </p:sp>
      <p:sp>
        <p:nvSpPr>
          <p:cNvPr id="18" name="Rectangle 17"/>
          <p:cNvSpPr/>
          <p:nvPr/>
        </p:nvSpPr>
        <p:spPr>
          <a:xfrm>
            <a:off x="5359724" y="1000125"/>
            <a:ext cx="209550" cy="1143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07374" y="990600"/>
            <a:ext cx="857250" cy="142875"/>
          </a:xfrm>
          <a:prstGeom prst="rect">
            <a:avLst/>
          </a:prstGeom>
          <a:noFill/>
        </p:spPr>
        <p:txBody>
          <a:bodyPr wrap="square" lIns="28575" rIns="28575" tIns="9525" bIns="9525" anchor="ctr">
            <a:spAutoFit/>
          </a:bodyPr>
          <a:lstStyle/>
          <a:p>
            <a:pPr algn="l"/>
            <a:r>
              <a:rPr sz="900" b="0">
                <a:solidFill>
                  <a:srgbClr val="2E2E2E"/>
                </a:solidFill>
                <a:latin typeface="Calibri"/>
              </a:rPr>
              <a:t>Price Range</a:t>
            </a:r>
          </a:p>
        </p:txBody>
      </p:sp>
      <p:sp>
        <p:nvSpPr>
          <p:cNvPr id="20" name="TextBox 19"/>
          <p:cNvSpPr txBox="1"/>
          <p:nvPr/>
        </p:nvSpPr>
        <p:spPr>
          <a:xfrm>
            <a:off x="6715125" y="990600"/>
            <a:ext cx="5334000" cy="142875"/>
          </a:xfrm>
          <a:prstGeom prst="rect">
            <a:avLst/>
          </a:prstGeom>
          <a:noFill/>
        </p:spPr>
        <p:txBody>
          <a:bodyPr wrap="square" lIns="28575" rIns="28575" tIns="9525" bIns="9525" anchor="ctr">
            <a:spAutoFit/>
          </a:bodyPr>
          <a:lstStyle/>
          <a:p>
            <a:pPr algn="l"/>
            <a:r>
              <a:rPr sz="950" b="1">
                <a:solidFill>
                  <a:srgbClr val="0B2E4A"/>
                </a:solidFill>
                <a:latin typeface="Calibri"/>
              </a:rPr>
              <a:t>Average Pricing by Product Type (US$/Units)</a:t>
            </a:r>
          </a:p>
        </p:txBody>
      </p:sp>
      <p:sp>
        <p:nvSpPr>
          <p:cNvPr id="21" name="TextBox 20"/>
          <p:cNvSpPr txBox="1"/>
          <p:nvPr/>
        </p:nvSpPr>
        <p:spPr>
          <a:xfrm>
            <a:off x="11191875" y="800100"/>
            <a:ext cx="857250" cy="142875"/>
          </a:xfrm>
          <a:prstGeom prst="rect">
            <a:avLst/>
          </a:prstGeom>
          <a:noFill/>
        </p:spPr>
        <p:txBody>
          <a:bodyPr wrap="square" lIns="28575" rIns="28575" tIns="9525" bIns="9525" anchor="ctr">
            <a:spAutoFit/>
          </a:bodyPr>
          <a:lstStyle/>
          <a:p>
            <a:pPr algn="r"/>
            <a:r>
              <a:rPr sz="900" b="1">
                <a:solidFill>
                  <a:srgbClr val="6C7A89"/>
                </a:solidFill>
                <a:latin typeface="Calibri"/>
              </a:rPr>
              <a:t>(2 / 2)</a:t>
            </a:r>
          </a:p>
        </p:txBody>
      </p:sp>
      <p:sp>
        <p:nvSpPr>
          <p:cNvPr id="22" name="Rectangle 21"/>
          <p:cNvSpPr/>
          <p:nvPr/>
        </p:nvSpPr>
        <p:spPr>
          <a:xfrm>
            <a:off x="142875" y="12192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0025" y="12382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East Asia Pricing Pattern</a:t>
            </a:r>
          </a:p>
        </p:txBody>
      </p:sp>
      <p:cxnSp>
        <p:nvCxnSpPr>
          <p:cNvPr id="24" name="Connector 23"/>
          <p:cNvCxnSpPr/>
          <p:nvPr/>
        </p:nvCxnSpPr>
        <p:spPr>
          <a:xfrm>
            <a:off x="466725" y="14753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3350" y="135255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26" name="TextBox 25"/>
          <p:cNvSpPr txBox="1"/>
          <p:nvPr/>
        </p:nvSpPr>
        <p:spPr>
          <a:xfrm>
            <a:off x="133350" y="230505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27" name="Freeform 26"/>
          <p:cNvSpPr/>
          <p:nvPr/>
        </p:nvSpPr>
        <p:spPr>
          <a:xfrm>
            <a:off x="466725" y="1476375"/>
            <a:ext cx="2314575" cy="752475"/>
          </a:xfrm>
          <a:custGeom>
            <a:avLst/>
            <a:gdLst/>
            <a:ahLst/>
            <a:cxnLst/>
            <a:rect l="l" t="t" r="r" b="b"/>
            <a:pathLst>
              <a:path w="243" h="79">
                <a:moveTo>
                  <a:pt x="0" y="0"/>
                </a:moveTo>
                <a:lnTo>
                  <a:pt x="49" y="24"/>
                </a:lnTo>
                <a:lnTo>
                  <a:pt x="97" y="45"/>
                </a:lnTo>
                <a:lnTo>
                  <a:pt x="146" y="59"/>
                </a:lnTo>
                <a:lnTo>
                  <a:pt x="194" y="71"/>
                </a:lnTo>
                <a:lnTo>
                  <a:pt x="243" y="79"/>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466725" y="1476375"/>
            <a:ext cx="2314575" cy="695325"/>
          </a:xfrm>
          <a:custGeom>
            <a:avLst/>
            <a:gdLst/>
            <a:ahLst/>
            <a:cxnLst/>
            <a:rect l="l" t="t" r="r" b="b"/>
            <a:pathLst>
              <a:path w="243" h="73">
                <a:moveTo>
                  <a:pt x="0" y="0"/>
                </a:moveTo>
                <a:lnTo>
                  <a:pt x="49" y="22"/>
                </a:lnTo>
                <a:lnTo>
                  <a:pt x="97" y="41"/>
                </a:lnTo>
                <a:lnTo>
                  <a:pt x="146" y="54"/>
                </a:lnTo>
                <a:lnTo>
                  <a:pt x="194" y="65"/>
                </a:lnTo>
                <a:lnTo>
                  <a:pt x="243" y="73"/>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466725" y="1476375"/>
            <a:ext cx="2314575" cy="819150"/>
          </a:xfrm>
          <a:custGeom>
            <a:avLst/>
            <a:gdLst/>
            <a:ahLst/>
            <a:cxnLst/>
            <a:rect l="l" t="t" r="r" b="b"/>
            <a:pathLst>
              <a:path w="243" h="86">
                <a:moveTo>
                  <a:pt x="0" y="0"/>
                </a:moveTo>
                <a:lnTo>
                  <a:pt x="49" y="28"/>
                </a:lnTo>
                <a:lnTo>
                  <a:pt x="97" y="52"/>
                </a:lnTo>
                <a:lnTo>
                  <a:pt x="146" y="67"/>
                </a:lnTo>
                <a:lnTo>
                  <a:pt x="194" y="79"/>
                </a:lnTo>
                <a:lnTo>
                  <a:pt x="243" y="86"/>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4325"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31" name="TextBox 30"/>
          <p:cNvSpPr txBox="1"/>
          <p:nvPr/>
        </p:nvSpPr>
        <p:spPr>
          <a:xfrm>
            <a:off x="2514600" y="23812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32" name="Connector 31"/>
          <p:cNvCxnSpPr/>
          <p:nvPr/>
        </p:nvCxnSpPr>
        <p:spPr>
          <a:xfrm>
            <a:off x="3314700" y="18684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162300" y="18017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34" name="Connector 33"/>
          <p:cNvCxnSpPr/>
          <p:nvPr/>
        </p:nvCxnSpPr>
        <p:spPr>
          <a:xfrm>
            <a:off x="331470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8610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36" name="Connector 35"/>
          <p:cNvCxnSpPr/>
          <p:nvPr/>
        </p:nvCxnSpPr>
        <p:spPr>
          <a:xfrm>
            <a:off x="396621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73761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38" name="Connector 37"/>
          <p:cNvCxnSpPr/>
          <p:nvPr/>
        </p:nvCxnSpPr>
        <p:spPr>
          <a:xfrm>
            <a:off x="461772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8912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40" name="Connector 39"/>
          <p:cNvCxnSpPr/>
          <p:nvPr/>
        </p:nvCxnSpPr>
        <p:spPr>
          <a:xfrm>
            <a:off x="526923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04063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42" name="Connector 41"/>
          <p:cNvCxnSpPr/>
          <p:nvPr/>
        </p:nvCxnSpPr>
        <p:spPr>
          <a:xfrm>
            <a:off x="592074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9214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44" name="Connector 43"/>
          <p:cNvCxnSpPr/>
          <p:nvPr/>
        </p:nvCxnSpPr>
        <p:spPr>
          <a:xfrm>
            <a:off x="6572250" y="18303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43650" y="17064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46" name="Rectangle 45"/>
          <p:cNvSpPr/>
          <p:nvPr/>
        </p:nvSpPr>
        <p:spPr>
          <a:xfrm>
            <a:off x="4041434" y="1792224"/>
            <a:ext cx="54007"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991609" y="18112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984284" y="18112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038291" y="18112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15125" y="13906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51" name="TextBox 50"/>
          <p:cNvSpPr txBox="1"/>
          <p:nvPr/>
        </p:nvSpPr>
        <p:spPr>
          <a:xfrm>
            <a:off x="8155305" y="13906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642,057.00   641,558.38   645,234.55</a:t>
            </a:r>
          </a:p>
        </p:txBody>
      </p:sp>
      <p:sp>
        <p:nvSpPr>
          <p:cNvPr id="52" name="TextBox 51"/>
          <p:cNvSpPr txBox="1"/>
          <p:nvPr/>
        </p:nvSpPr>
        <p:spPr>
          <a:xfrm>
            <a:off x="6715125" y="17526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53" name="TextBox 52"/>
          <p:cNvSpPr txBox="1"/>
          <p:nvPr/>
        </p:nvSpPr>
        <p:spPr>
          <a:xfrm>
            <a:off x="8155305" y="17526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679,385.90   678,858.28   682,748.19</a:t>
            </a:r>
          </a:p>
        </p:txBody>
      </p:sp>
      <p:sp>
        <p:nvSpPr>
          <p:cNvPr id="54" name="TextBox 53"/>
          <p:cNvSpPr txBox="1"/>
          <p:nvPr/>
        </p:nvSpPr>
        <p:spPr>
          <a:xfrm>
            <a:off x="6715125" y="2114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55" name="TextBox 54"/>
          <p:cNvSpPr txBox="1"/>
          <p:nvPr/>
        </p:nvSpPr>
        <p:spPr>
          <a:xfrm>
            <a:off x="8155305" y="2114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716,714.79   716,158.19   720,261.83</a:t>
            </a:r>
          </a:p>
        </p:txBody>
      </p:sp>
      <p:sp>
        <p:nvSpPr>
          <p:cNvPr id="56" name="TextBox 55"/>
          <p:cNvSpPr txBox="1"/>
          <p:nvPr/>
        </p:nvSpPr>
        <p:spPr>
          <a:xfrm>
            <a:off x="9382125" y="13906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57" name="TextBox 56"/>
          <p:cNvSpPr txBox="1"/>
          <p:nvPr/>
        </p:nvSpPr>
        <p:spPr>
          <a:xfrm>
            <a:off x="10822305" y="13906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754,043.69   753,458.09   757,775.46</a:t>
            </a:r>
          </a:p>
        </p:txBody>
      </p:sp>
      <p:sp>
        <p:nvSpPr>
          <p:cNvPr id="58" name="TextBox 57"/>
          <p:cNvSpPr txBox="1"/>
          <p:nvPr/>
        </p:nvSpPr>
        <p:spPr>
          <a:xfrm>
            <a:off x="9382125" y="17526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59" name="TextBox 58"/>
          <p:cNvSpPr txBox="1"/>
          <p:nvPr/>
        </p:nvSpPr>
        <p:spPr>
          <a:xfrm>
            <a:off x="10822305" y="17526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791,372.58   790,758.00   795,289.10</a:t>
            </a:r>
          </a:p>
        </p:txBody>
      </p:sp>
      <p:sp>
        <p:nvSpPr>
          <p:cNvPr id="60" name="TextBox 59"/>
          <p:cNvSpPr txBox="1"/>
          <p:nvPr/>
        </p:nvSpPr>
        <p:spPr>
          <a:xfrm>
            <a:off x="9382125" y="2114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61" name="TextBox 60"/>
          <p:cNvSpPr txBox="1"/>
          <p:nvPr/>
        </p:nvSpPr>
        <p:spPr>
          <a:xfrm>
            <a:off x="10822305" y="2114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828,701.48   828,057.90   832,802.74</a:t>
            </a:r>
          </a:p>
        </p:txBody>
      </p:sp>
      <p:sp>
        <p:nvSpPr>
          <p:cNvPr id="62" name="Rectangle 61"/>
          <p:cNvSpPr/>
          <p:nvPr/>
        </p:nvSpPr>
        <p:spPr>
          <a:xfrm>
            <a:off x="142875" y="2533650"/>
            <a:ext cx="11906250" cy="1257300"/>
          </a:xfrm>
          <a:prstGeom prst="rect">
            <a:avLst/>
          </a:prstGeom>
          <a:solidFill>
            <a:srgbClr val="FFFFFF"/>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00025" y="255270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South Asia Pacific Pricing Pattern</a:t>
            </a:r>
          </a:p>
        </p:txBody>
      </p:sp>
      <p:cxnSp>
        <p:nvCxnSpPr>
          <p:cNvPr id="64" name="Connector 63"/>
          <p:cNvCxnSpPr/>
          <p:nvPr/>
        </p:nvCxnSpPr>
        <p:spPr>
          <a:xfrm>
            <a:off x="466725" y="278984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133350" y="266700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66" name="TextBox 65"/>
          <p:cNvSpPr txBox="1"/>
          <p:nvPr/>
        </p:nvSpPr>
        <p:spPr>
          <a:xfrm>
            <a:off x="133350" y="361950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67" name="Freeform 66"/>
          <p:cNvSpPr/>
          <p:nvPr/>
        </p:nvSpPr>
        <p:spPr>
          <a:xfrm>
            <a:off x="466725" y="2790825"/>
            <a:ext cx="2314575" cy="819150"/>
          </a:xfrm>
          <a:custGeom>
            <a:avLst/>
            <a:gdLst/>
            <a:ahLst/>
            <a:cxnLst/>
            <a:rect l="l" t="t" r="r" b="b"/>
            <a:pathLst>
              <a:path w="243" h="86">
                <a:moveTo>
                  <a:pt x="0" y="0"/>
                </a:moveTo>
                <a:lnTo>
                  <a:pt x="49" y="27"/>
                </a:lnTo>
                <a:lnTo>
                  <a:pt x="97" y="50"/>
                </a:lnTo>
                <a:lnTo>
                  <a:pt x="146" y="65"/>
                </a:lnTo>
                <a:lnTo>
                  <a:pt x="194" y="77"/>
                </a:lnTo>
                <a:lnTo>
                  <a:pt x="243" y="86"/>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466725" y="2790825"/>
            <a:ext cx="2314575" cy="695325"/>
          </a:xfrm>
          <a:custGeom>
            <a:avLst/>
            <a:gdLst/>
            <a:ahLst/>
            <a:cxnLst/>
            <a:rect l="l" t="t" r="r" b="b"/>
            <a:pathLst>
              <a:path w="243" h="73">
                <a:moveTo>
                  <a:pt x="0" y="0"/>
                </a:moveTo>
                <a:lnTo>
                  <a:pt x="49" y="24"/>
                </a:lnTo>
                <a:lnTo>
                  <a:pt x="97" y="44"/>
                </a:lnTo>
                <a:lnTo>
                  <a:pt x="146" y="57"/>
                </a:lnTo>
                <a:lnTo>
                  <a:pt x="194" y="67"/>
                </a:lnTo>
                <a:lnTo>
                  <a:pt x="243" y="73"/>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466725" y="2790825"/>
            <a:ext cx="2314575" cy="676275"/>
          </a:xfrm>
          <a:custGeom>
            <a:avLst/>
            <a:gdLst/>
            <a:ahLst/>
            <a:cxnLst/>
            <a:rect l="l" t="t" r="r" b="b"/>
            <a:pathLst>
              <a:path w="243" h="71">
                <a:moveTo>
                  <a:pt x="0" y="0"/>
                </a:moveTo>
                <a:lnTo>
                  <a:pt x="49" y="23"/>
                </a:lnTo>
                <a:lnTo>
                  <a:pt x="97" y="43"/>
                </a:lnTo>
                <a:lnTo>
                  <a:pt x="146" y="56"/>
                </a:lnTo>
                <a:lnTo>
                  <a:pt x="194" y="65"/>
                </a:lnTo>
                <a:lnTo>
                  <a:pt x="243" y="71"/>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14325"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71" name="TextBox 70"/>
          <p:cNvSpPr txBox="1"/>
          <p:nvPr/>
        </p:nvSpPr>
        <p:spPr>
          <a:xfrm>
            <a:off x="2514600" y="369570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72" name="Connector 71"/>
          <p:cNvCxnSpPr/>
          <p:nvPr/>
        </p:nvCxnSpPr>
        <p:spPr>
          <a:xfrm>
            <a:off x="3314700" y="318287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3162300" y="311619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74" name="Connector 73"/>
          <p:cNvCxnSpPr/>
          <p:nvPr/>
        </p:nvCxnSpPr>
        <p:spPr>
          <a:xfrm>
            <a:off x="331470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308610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76" name="Connector 75"/>
          <p:cNvCxnSpPr/>
          <p:nvPr/>
        </p:nvCxnSpPr>
        <p:spPr>
          <a:xfrm>
            <a:off x="396621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73761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78" name="Connector 77"/>
          <p:cNvCxnSpPr/>
          <p:nvPr/>
        </p:nvCxnSpPr>
        <p:spPr>
          <a:xfrm>
            <a:off x="461772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438912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80" name="Connector 79"/>
          <p:cNvCxnSpPr/>
          <p:nvPr/>
        </p:nvCxnSpPr>
        <p:spPr>
          <a:xfrm>
            <a:off x="526923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04063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82" name="Connector 81"/>
          <p:cNvCxnSpPr/>
          <p:nvPr/>
        </p:nvCxnSpPr>
        <p:spPr>
          <a:xfrm>
            <a:off x="592074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569214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84" name="Connector 83"/>
          <p:cNvCxnSpPr/>
          <p:nvPr/>
        </p:nvCxnSpPr>
        <p:spPr>
          <a:xfrm>
            <a:off x="6572250" y="314477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6343650" y="302094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86" name="Rectangle 85"/>
          <p:cNvSpPr/>
          <p:nvPr/>
        </p:nvSpPr>
        <p:spPr>
          <a:xfrm>
            <a:off x="3670995" y="3106674"/>
            <a:ext cx="38724"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613845" y="312572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635841" y="312572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652568" y="312572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6715125" y="27051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91" name="TextBox 90"/>
          <p:cNvSpPr txBox="1"/>
          <p:nvPr/>
        </p:nvSpPr>
        <p:spPr>
          <a:xfrm>
            <a:off x="8155305" y="27051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616,343.25   617,840.49   618,979.11</a:t>
            </a:r>
          </a:p>
        </p:txBody>
      </p:sp>
      <p:sp>
        <p:nvSpPr>
          <p:cNvPr id="92" name="TextBox 91"/>
          <p:cNvSpPr txBox="1"/>
          <p:nvPr/>
        </p:nvSpPr>
        <p:spPr>
          <a:xfrm>
            <a:off x="6715125" y="30670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93" name="TextBox 92"/>
          <p:cNvSpPr txBox="1"/>
          <p:nvPr/>
        </p:nvSpPr>
        <p:spPr>
          <a:xfrm>
            <a:off x="8155305" y="30670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652,177.16   653,761.45   654,966.27</a:t>
            </a:r>
          </a:p>
        </p:txBody>
      </p:sp>
      <p:sp>
        <p:nvSpPr>
          <p:cNvPr id="94" name="TextBox 93"/>
          <p:cNvSpPr txBox="1"/>
          <p:nvPr/>
        </p:nvSpPr>
        <p:spPr>
          <a:xfrm>
            <a:off x="6715125" y="3429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95" name="TextBox 94"/>
          <p:cNvSpPr txBox="1"/>
          <p:nvPr/>
        </p:nvSpPr>
        <p:spPr>
          <a:xfrm>
            <a:off x="8155305" y="3429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688,011.07   689,682.40   690,953.43</a:t>
            </a:r>
          </a:p>
        </p:txBody>
      </p:sp>
      <p:sp>
        <p:nvSpPr>
          <p:cNvPr id="96" name="TextBox 95"/>
          <p:cNvSpPr txBox="1"/>
          <p:nvPr/>
        </p:nvSpPr>
        <p:spPr>
          <a:xfrm>
            <a:off x="9382125" y="27051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97" name="TextBox 96"/>
          <p:cNvSpPr txBox="1"/>
          <p:nvPr/>
        </p:nvSpPr>
        <p:spPr>
          <a:xfrm>
            <a:off x="10822305" y="27051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723,844.98   725,603.36   726,940.58</a:t>
            </a:r>
          </a:p>
        </p:txBody>
      </p:sp>
      <p:sp>
        <p:nvSpPr>
          <p:cNvPr id="98" name="TextBox 97"/>
          <p:cNvSpPr txBox="1"/>
          <p:nvPr/>
        </p:nvSpPr>
        <p:spPr>
          <a:xfrm>
            <a:off x="9382125" y="30670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99" name="TextBox 98"/>
          <p:cNvSpPr txBox="1"/>
          <p:nvPr/>
        </p:nvSpPr>
        <p:spPr>
          <a:xfrm>
            <a:off x="10822305" y="30670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759,678.89   761,524.32   762,927.74</a:t>
            </a:r>
          </a:p>
        </p:txBody>
      </p:sp>
      <p:sp>
        <p:nvSpPr>
          <p:cNvPr id="100" name="TextBox 99"/>
          <p:cNvSpPr txBox="1"/>
          <p:nvPr/>
        </p:nvSpPr>
        <p:spPr>
          <a:xfrm>
            <a:off x="9382125" y="34290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101" name="TextBox 100"/>
          <p:cNvSpPr txBox="1"/>
          <p:nvPr/>
        </p:nvSpPr>
        <p:spPr>
          <a:xfrm>
            <a:off x="10822305" y="34290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795,512.80   797,445.28   798,914.90</a:t>
            </a:r>
          </a:p>
        </p:txBody>
      </p:sp>
      <p:sp>
        <p:nvSpPr>
          <p:cNvPr id="102" name="Rectangle 101"/>
          <p:cNvSpPr/>
          <p:nvPr/>
        </p:nvSpPr>
        <p:spPr>
          <a:xfrm>
            <a:off x="142875" y="3848100"/>
            <a:ext cx="11906250" cy="1257300"/>
          </a:xfrm>
          <a:prstGeom prst="rect">
            <a:avLst/>
          </a:prstGeom>
          <a:solidFill>
            <a:srgbClr val="F5F7F9"/>
          </a:solidFill>
          <a:ln w="9525">
            <a:solidFill>
              <a:srgbClr val="EDF1F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00025" y="3867150"/>
            <a:ext cx="2762250" cy="133350"/>
          </a:xfrm>
          <a:prstGeom prst="rect">
            <a:avLst/>
          </a:prstGeom>
          <a:noFill/>
        </p:spPr>
        <p:txBody>
          <a:bodyPr wrap="square" lIns="28575" rIns="28575" tIns="9525" bIns="9525" anchor="ctr">
            <a:spAutoFit/>
          </a:bodyPr>
          <a:lstStyle/>
          <a:p>
            <a:pPr algn="l"/>
            <a:r>
              <a:rPr sz="950" b="1">
                <a:solidFill>
                  <a:srgbClr val="0B2E4A"/>
                </a:solidFill>
                <a:latin typeface="Calibri"/>
              </a:rPr>
              <a:t>Middle East &amp; Africa Pricing Pattern</a:t>
            </a:r>
          </a:p>
        </p:txBody>
      </p:sp>
      <p:cxnSp>
        <p:nvCxnSpPr>
          <p:cNvPr id="104" name="Connector 103"/>
          <p:cNvCxnSpPr/>
          <p:nvPr/>
        </p:nvCxnSpPr>
        <p:spPr>
          <a:xfrm>
            <a:off x="466725" y="4104290"/>
            <a:ext cx="2314575" cy="0"/>
          </a:xfrm>
          <a:prstGeom prst="line">
            <a:avLst/>
          </a:prstGeom>
          <a:ln w="10160">
            <a:solidFill>
              <a:srgbClr val="C9D2DA"/>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33350" y="3981450"/>
            <a:ext cx="304800" cy="114300"/>
          </a:xfrm>
          <a:prstGeom prst="rect">
            <a:avLst/>
          </a:prstGeom>
          <a:noFill/>
        </p:spPr>
        <p:txBody>
          <a:bodyPr wrap="none" lIns="0" rIns="0" tIns="0" bIns="0" anchor="ctr">
            <a:spAutoFit/>
          </a:bodyPr>
          <a:lstStyle/>
          <a:p>
            <a:pPr algn="r"/>
            <a:r>
              <a:rPr sz="600" b="0">
                <a:solidFill>
                  <a:srgbClr val="6C7A89"/>
                </a:solidFill>
                <a:latin typeface="Calibri"/>
              </a:rPr>
              <a:t>+0%</a:t>
            </a:r>
          </a:p>
        </p:txBody>
      </p:sp>
      <p:sp>
        <p:nvSpPr>
          <p:cNvPr id="106" name="TextBox 105"/>
          <p:cNvSpPr txBox="1"/>
          <p:nvPr/>
        </p:nvSpPr>
        <p:spPr>
          <a:xfrm>
            <a:off x="133350" y="4933950"/>
            <a:ext cx="304800" cy="114300"/>
          </a:xfrm>
          <a:prstGeom prst="rect">
            <a:avLst/>
          </a:prstGeom>
          <a:noFill/>
        </p:spPr>
        <p:txBody>
          <a:bodyPr wrap="none" lIns="0" rIns="0" tIns="0" bIns="0" anchor="ctr">
            <a:spAutoFit/>
          </a:bodyPr>
          <a:lstStyle/>
          <a:p>
            <a:pPr algn="r"/>
            <a:r>
              <a:rPr sz="600" b="0">
                <a:solidFill>
                  <a:srgbClr val="6C7A89"/>
                </a:solidFill>
                <a:latin typeface="Calibri"/>
              </a:rPr>
              <a:t>-5%</a:t>
            </a:r>
          </a:p>
        </p:txBody>
      </p:sp>
      <p:sp>
        <p:nvSpPr>
          <p:cNvPr id="107" name="Freeform 106"/>
          <p:cNvSpPr/>
          <p:nvPr/>
        </p:nvSpPr>
        <p:spPr>
          <a:xfrm>
            <a:off x="466725" y="4105275"/>
            <a:ext cx="2314575" cy="733425"/>
          </a:xfrm>
          <a:custGeom>
            <a:avLst/>
            <a:gdLst/>
            <a:ahLst/>
            <a:cxnLst/>
            <a:rect l="l" t="t" r="r" b="b"/>
            <a:pathLst>
              <a:path w="243" h="77">
                <a:moveTo>
                  <a:pt x="0" y="0"/>
                </a:moveTo>
                <a:lnTo>
                  <a:pt x="49" y="26"/>
                </a:lnTo>
                <a:lnTo>
                  <a:pt x="97" y="48"/>
                </a:lnTo>
                <a:lnTo>
                  <a:pt x="146" y="62"/>
                </a:lnTo>
                <a:lnTo>
                  <a:pt x="194" y="71"/>
                </a:lnTo>
                <a:lnTo>
                  <a:pt x="243" y="77"/>
                </a:lnTo>
              </a:path>
            </a:pathLst>
          </a:custGeom>
          <a:noFill/>
          <a:ln w="2032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Freeform 107"/>
          <p:cNvSpPr/>
          <p:nvPr/>
        </p:nvSpPr>
        <p:spPr>
          <a:xfrm>
            <a:off x="466725" y="4105275"/>
            <a:ext cx="2314575" cy="819150"/>
          </a:xfrm>
          <a:custGeom>
            <a:avLst/>
            <a:gdLst/>
            <a:ahLst/>
            <a:cxnLst/>
            <a:rect l="l" t="t" r="r" b="b"/>
            <a:pathLst>
              <a:path w="243" h="86">
                <a:moveTo>
                  <a:pt x="0" y="0"/>
                </a:moveTo>
                <a:lnTo>
                  <a:pt x="49" y="28"/>
                </a:lnTo>
                <a:lnTo>
                  <a:pt x="97" y="51"/>
                </a:lnTo>
                <a:lnTo>
                  <a:pt x="146" y="67"/>
                </a:lnTo>
                <a:lnTo>
                  <a:pt x="194" y="78"/>
                </a:lnTo>
                <a:lnTo>
                  <a:pt x="243" y="86"/>
                </a:lnTo>
              </a:path>
            </a:pathLst>
          </a:custGeom>
          <a:noFill/>
          <a:ln w="2032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Freeform 108"/>
          <p:cNvSpPr/>
          <p:nvPr/>
        </p:nvSpPr>
        <p:spPr>
          <a:xfrm>
            <a:off x="466725" y="4105275"/>
            <a:ext cx="2314575" cy="733425"/>
          </a:xfrm>
          <a:custGeom>
            <a:avLst/>
            <a:gdLst/>
            <a:ahLst/>
            <a:cxnLst/>
            <a:rect l="l" t="t" r="r" b="b"/>
            <a:pathLst>
              <a:path w="243" h="77">
                <a:moveTo>
                  <a:pt x="0" y="0"/>
                </a:moveTo>
                <a:lnTo>
                  <a:pt x="49" y="26"/>
                </a:lnTo>
                <a:lnTo>
                  <a:pt x="97" y="48"/>
                </a:lnTo>
                <a:lnTo>
                  <a:pt x="146" y="61"/>
                </a:lnTo>
                <a:lnTo>
                  <a:pt x="194" y="71"/>
                </a:lnTo>
                <a:lnTo>
                  <a:pt x="243" y="77"/>
                </a:lnTo>
              </a:path>
            </a:pathLst>
          </a:custGeom>
          <a:no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14325"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2021</a:t>
            </a:r>
          </a:p>
        </p:txBody>
      </p:sp>
      <p:sp>
        <p:nvSpPr>
          <p:cNvPr id="111" name="TextBox 110"/>
          <p:cNvSpPr txBox="1"/>
          <p:nvPr/>
        </p:nvSpPr>
        <p:spPr>
          <a:xfrm>
            <a:off x="2514600" y="5010150"/>
            <a:ext cx="419100" cy="95250"/>
          </a:xfrm>
          <a:prstGeom prst="rect">
            <a:avLst/>
          </a:prstGeom>
          <a:noFill/>
        </p:spPr>
        <p:txBody>
          <a:bodyPr wrap="none" lIns="0" rIns="0" tIns="0" bIns="0" anchor="ctr">
            <a:spAutoFit/>
          </a:bodyPr>
          <a:lstStyle/>
          <a:p>
            <a:pPr algn="ctr"/>
            <a:r>
              <a:rPr sz="600" b="0">
                <a:solidFill>
                  <a:srgbClr val="6C7A89"/>
                </a:solidFill>
                <a:latin typeface="Calibri"/>
              </a:rPr>
              <a:t>2026</a:t>
            </a:r>
          </a:p>
        </p:txBody>
      </p:sp>
      <p:cxnSp>
        <p:nvCxnSpPr>
          <p:cNvPr id="112" name="Connector 111"/>
          <p:cNvCxnSpPr/>
          <p:nvPr/>
        </p:nvCxnSpPr>
        <p:spPr>
          <a:xfrm>
            <a:off x="3314700" y="4497324"/>
            <a:ext cx="3257550" cy="0"/>
          </a:xfrm>
          <a:prstGeom prst="line">
            <a:avLst/>
          </a:prstGeom>
          <a:ln w="12700">
            <a:solidFill>
              <a:srgbClr val="6C7A89"/>
            </a:solidFill>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162300" y="4430649"/>
            <a:ext cx="114300" cy="123825"/>
          </a:xfrm>
          <a:prstGeom prst="rect">
            <a:avLst/>
          </a:prstGeom>
          <a:noFill/>
        </p:spPr>
        <p:txBody>
          <a:bodyPr wrap="none" lIns="0" rIns="0" tIns="0" bIns="0" anchor="ctr">
            <a:spAutoFit/>
          </a:bodyPr>
          <a:lstStyle/>
          <a:p>
            <a:pPr algn="ctr"/>
            <a:r>
              <a:rPr sz="800" b="1">
                <a:solidFill>
                  <a:srgbClr val="2E2E2E"/>
                </a:solidFill>
                <a:latin typeface="Calibri"/>
              </a:rPr>
              <a:t>A</a:t>
            </a:r>
          </a:p>
        </p:txBody>
      </p:sp>
      <p:cxnSp>
        <p:nvCxnSpPr>
          <p:cNvPr id="114" name="Connector 113"/>
          <p:cNvCxnSpPr/>
          <p:nvPr/>
        </p:nvCxnSpPr>
        <p:spPr>
          <a:xfrm>
            <a:off x="331470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308610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688,478</a:t>
            </a:r>
          </a:p>
        </p:txBody>
      </p:sp>
      <p:cxnSp>
        <p:nvCxnSpPr>
          <p:cNvPr id="116" name="Connector 115"/>
          <p:cNvCxnSpPr/>
          <p:nvPr/>
        </p:nvCxnSpPr>
        <p:spPr>
          <a:xfrm>
            <a:off x="396621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373761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740,044</a:t>
            </a:r>
          </a:p>
        </p:txBody>
      </p:sp>
      <p:cxnSp>
        <p:nvCxnSpPr>
          <p:cNvPr id="118" name="Connector 117"/>
          <p:cNvCxnSpPr/>
          <p:nvPr/>
        </p:nvCxnSpPr>
        <p:spPr>
          <a:xfrm>
            <a:off x="461772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438912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791,611</a:t>
            </a:r>
          </a:p>
        </p:txBody>
      </p:sp>
      <p:cxnSp>
        <p:nvCxnSpPr>
          <p:cNvPr id="120" name="Connector 119"/>
          <p:cNvCxnSpPr/>
          <p:nvPr/>
        </p:nvCxnSpPr>
        <p:spPr>
          <a:xfrm>
            <a:off x="526923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504063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843,177</a:t>
            </a:r>
          </a:p>
        </p:txBody>
      </p:sp>
      <p:cxnSp>
        <p:nvCxnSpPr>
          <p:cNvPr id="122" name="Connector 121"/>
          <p:cNvCxnSpPr/>
          <p:nvPr/>
        </p:nvCxnSpPr>
        <p:spPr>
          <a:xfrm>
            <a:off x="592074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569214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894,743</a:t>
            </a:r>
          </a:p>
        </p:txBody>
      </p:sp>
      <p:cxnSp>
        <p:nvCxnSpPr>
          <p:cNvPr id="124" name="Connector 123"/>
          <p:cNvCxnSpPr/>
          <p:nvPr/>
        </p:nvCxnSpPr>
        <p:spPr>
          <a:xfrm>
            <a:off x="6572250" y="4459224"/>
            <a:ext cx="0" cy="76200"/>
          </a:xfrm>
          <a:prstGeom prst="line">
            <a:avLst/>
          </a:prstGeom>
          <a:ln w="10160">
            <a:solidFill>
              <a:srgbClr val="6B6B6B"/>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6343650" y="4335399"/>
            <a:ext cx="457200" cy="95250"/>
          </a:xfrm>
          <a:prstGeom prst="rect">
            <a:avLst/>
          </a:prstGeom>
          <a:noFill/>
        </p:spPr>
        <p:txBody>
          <a:bodyPr wrap="square" lIns="28575" rIns="28575" tIns="9525" bIns="9525" anchor="ctr">
            <a:spAutoFit/>
          </a:bodyPr>
          <a:lstStyle/>
          <a:p>
            <a:pPr algn="ctr"/>
            <a:r>
              <a:rPr sz="650" b="0">
                <a:solidFill>
                  <a:srgbClr val="6C7A89"/>
                </a:solidFill>
                <a:latin typeface="Calibri"/>
              </a:rPr>
              <a:t>946,310</a:t>
            </a:r>
          </a:p>
        </p:txBody>
      </p:sp>
      <p:sp>
        <p:nvSpPr>
          <p:cNvPr id="126" name="Rectangle 125"/>
          <p:cNvSpPr/>
          <p:nvPr/>
        </p:nvSpPr>
        <p:spPr>
          <a:xfrm>
            <a:off x="4735816" y="4421124"/>
            <a:ext cx="33968" cy="152400"/>
          </a:xfrm>
          <a:prstGeom prst="rect">
            <a:avLst/>
          </a:prstGeom>
          <a:solidFill>
            <a:srgbClr val="C9DCEE"/>
          </a:solidFill>
          <a:ln w="9525">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4712634" y="4440174"/>
            <a:ext cx="114300" cy="114300"/>
          </a:xfrm>
          <a:prstGeom prst="ellipse">
            <a:avLst/>
          </a:prstGeom>
          <a:solidFill>
            <a:srgbClr val="C55A1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691707" y="4440174"/>
            <a:ext cx="114300" cy="114300"/>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4678666" y="4440174"/>
            <a:ext cx="114300" cy="11430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6715125" y="4019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Diabetes &amp; Glucose Tes</a:t>
            </a:r>
          </a:p>
        </p:txBody>
      </p:sp>
      <p:sp>
        <p:nvSpPr>
          <p:cNvPr id="131" name="TextBox 130"/>
          <p:cNvSpPr txBox="1"/>
          <p:nvPr/>
        </p:nvSpPr>
        <p:spPr>
          <a:xfrm>
            <a:off x="8155305" y="4019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691,135.79   689,711.39   688,823.66</a:t>
            </a:r>
          </a:p>
        </p:txBody>
      </p:sp>
      <p:sp>
        <p:nvSpPr>
          <p:cNvPr id="132" name="TextBox 131"/>
          <p:cNvSpPr txBox="1"/>
          <p:nvPr/>
        </p:nvSpPr>
        <p:spPr>
          <a:xfrm>
            <a:off x="6715125" y="43815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Newborn Screening</a:t>
            </a:r>
          </a:p>
        </p:txBody>
      </p:sp>
      <p:sp>
        <p:nvSpPr>
          <p:cNvPr id="133" name="TextBox 132"/>
          <p:cNvSpPr txBox="1"/>
          <p:nvPr/>
        </p:nvSpPr>
        <p:spPr>
          <a:xfrm>
            <a:off x="8155305" y="43815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731,318.11   729,810.89   728,871.55</a:t>
            </a:r>
          </a:p>
        </p:txBody>
      </p:sp>
      <p:sp>
        <p:nvSpPr>
          <p:cNvPr id="134" name="TextBox 133"/>
          <p:cNvSpPr txBox="1"/>
          <p:nvPr/>
        </p:nvSpPr>
        <p:spPr>
          <a:xfrm>
            <a:off x="6715125" y="47434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Hematology Testing</a:t>
            </a:r>
          </a:p>
        </p:txBody>
      </p:sp>
      <p:sp>
        <p:nvSpPr>
          <p:cNvPr id="135" name="TextBox 134"/>
          <p:cNvSpPr txBox="1"/>
          <p:nvPr/>
        </p:nvSpPr>
        <p:spPr>
          <a:xfrm>
            <a:off x="8155305" y="47434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771,500.42   769,910.39   768,919.43</a:t>
            </a:r>
          </a:p>
        </p:txBody>
      </p:sp>
      <p:sp>
        <p:nvSpPr>
          <p:cNvPr id="136" name="TextBox 135"/>
          <p:cNvSpPr txBox="1"/>
          <p:nvPr/>
        </p:nvSpPr>
        <p:spPr>
          <a:xfrm>
            <a:off x="9382125" y="40195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Infectious Disease Tes</a:t>
            </a:r>
          </a:p>
        </p:txBody>
      </p:sp>
      <p:sp>
        <p:nvSpPr>
          <p:cNvPr id="137" name="TextBox 136"/>
          <p:cNvSpPr txBox="1"/>
          <p:nvPr/>
        </p:nvSpPr>
        <p:spPr>
          <a:xfrm>
            <a:off x="10822305" y="40195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811,682.74   810,009.89   808,967.32</a:t>
            </a:r>
          </a:p>
        </p:txBody>
      </p:sp>
      <p:sp>
        <p:nvSpPr>
          <p:cNvPr id="138" name="TextBox 137"/>
          <p:cNvSpPr txBox="1"/>
          <p:nvPr/>
        </p:nvSpPr>
        <p:spPr>
          <a:xfrm>
            <a:off x="9382125" y="438150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Genetic &amp; Molecular Te</a:t>
            </a:r>
          </a:p>
        </p:txBody>
      </p:sp>
      <p:sp>
        <p:nvSpPr>
          <p:cNvPr id="139" name="TextBox 138"/>
          <p:cNvSpPr txBox="1"/>
          <p:nvPr/>
        </p:nvSpPr>
        <p:spPr>
          <a:xfrm>
            <a:off x="10822305" y="438150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851,865.05   850,109.39   849,015.21</a:t>
            </a:r>
          </a:p>
        </p:txBody>
      </p:sp>
      <p:sp>
        <p:nvSpPr>
          <p:cNvPr id="140" name="TextBox 139"/>
          <p:cNvSpPr txBox="1"/>
          <p:nvPr/>
        </p:nvSpPr>
        <p:spPr>
          <a:xfrm>
            <a:off x="9382125" y="4743450"/>
            <a:ext cx="1440180" cy="361950"/>
          </a:xfrm>
          <a:prstGeom prst="rect">
            <a:avLst/>
          </a:prstGeom>
          <a:noFill/>
        </p:spPr>
        <p:txBody>
          <a:bodyPr wrap="square" lIns="28575" rIns="28575" tIns="9525" bIns="9525" anchor="ctr">
            <a:spAutoFit/>
          </a:bodyPr>
          <a:lstStyle/>
          <a:p>
            <a:pPr algn="l"/>
            <a:r>
              <a:rPr sz="700" b="1">
                <a:solidFill>
                  <a:srgbClr val="0B2E4A"/>
                </a:solidFill>
                <a:latin typeface="Calibri"/>
              </a:rPr>
              <a:t>Therapeutic Drug Monit</a:t>
            </a:r>
          </a:p>
        </p:txBody>
      </p:sp>
      <p:sp>
        <p:nvSpPr>
          <p:cNvPr id="141" name="TextBox 140"/>
          <p:cNvSpPr txBox="1"/>
          <p:nvPr/>
        </p:nvSpPr>
        <p:spPr>
          <a:xfrm>
            <a:off x="10822305" y="4743450"/>
            <a:ext cx="1226820" cy="361950"/>
          </a:xfrm>
          <a:prstGeom prst="rect">
            <a:avLst/>
          </a:prstGeom>
          <a:noFill/>
        </p:spPr>
        <p:txBody>
          <a:bodyPr wrap="square" lIns="28575" rIns="28575" tIns="9525" bIns="9525" anchor="ctr">
            <a:spAutoFit/>
          </a:bodyPr>
          <a:lstStyle/>
          <a:p>
            <a:pPr algn="l"/>
            <a:r>
              <a:rPr sz="700" b="0">
                <a:solidFill>
                  <a:srgbClr val="2E2E2E"/>
                </a:solidFill>
                <a:latin typeface="Calibri"/>
              </a:rPr>
              <a:t>892,047.36   890,208.89   889,063.10</a:t>
            </a:r>
          </a:p>
        </p:txBody>
      </p:sp>
      <p:sp>
        <p:nvSpPr>
          <p:cNvPr id="142" name="TextBox 141"/>
          <p:cNvSpPr txBox="1"/>
          <p:nvPr/>
        </p:nvSpPr>
        <p:spPr>
          <a:xfrm>
            <a:off x="3314700" y="6610350"/>
            <a:ext cx="14287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Product</a:t>
            </a:r>
          </a:p>
        </p:txBody>
      </p:sp>
      <p:sp>
        <p:nvSpPr>
          <p:cNvPr id="143" name="TextBox 142"/>
          <p:cNvSpPr txBox="1"/>
          <p:nvPr/>
        </p:nvSpPr>
        <p:spPr>
          <a:xfrm>
            <a:off x="6715125" y="6610350"/>
            <a:ext cx="1619250" cy="114300"/>
          </a:xfrm>
          <a:prstGeom prst="rect">
            <a:avLst/>
          </a:prstGeom>
          <a:noFill/>
        </p:spPr>
        <p:txBody>
          <a:bodyPr wrap="square" lIns="28575" rIns="28575" tIns="9525" bIns="9525" anchor="ctr">
            <a:spAutoFit/>
          </a:bodyPr>
          <a:lstStyle/>
          <a:p>
            <a:pPr algn="l"/>
            <a:r>
              <a:rPr sz="800" b="1" u="sng">
                <a:solidFill>
                  <a:srgbClr val="0B2E4A"/>
                </a:solidFill>
                <a:latin typeface="Calibri"/>
              </a:rPr>
              <a:t>Price By Application</a:t>
            </a:r>
          </a:p>
        </p:txBody>
      </p:sp>
      <p:sp>
        <p:nvSpPr>
          <p:cNvPr id="144" name="Rectangle 14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46" name="Rounded Rectangle 14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7" name="Rounded Rectangle 14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8" name="Rounded Rectangle 14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Price Positioning &amp; Key Findings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Price positioning of each region on a common axis with FMI's key findings on where premiums and discounts sit</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Average selling price and price range by region on a shared price scale (US$/Units).</a:t>
            </a:r>
          </a:p>
        </p:txBody>
      </p:sp>
      <p:sp>
        <p:nvSpPr>
          <p:cNvPr id="12" name="Rounded Rectangle 11"/>
          <p:cNvSpPr/>
          <p:nvPr/>
        </p:nvSpPr>
        <p:spPr>
          <a:xfrm>
            <a:off x="142875" y="1181100"/>
            <a:ext cx="769620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382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Average Price &amp; Range by Region</a:t>
            </a:r>
          </a:p>
        </p:txBody>
      </p:sp>
      <p:cxnSp>
        <p:nvCxnSpPr>
          <p:cNvPr id="14" name="Connector 13"/>
          <p:cNvCxnSpPr/>
          <p:nvPr/>
        </p:nvCxnSpPr>
        <p:spPr>
          <a:xfrm>
            <a:off x="136207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1442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688,470</a:t>
            </a:r>
          </a:p>
        </p:txBody>
      </p:sp>
      <p:cxnSp>
        <p:nvCxnSpPr>
          <p:cNvPr id="16" name="Connector 15"/>
          <p:cNvCxnSpPr/>
          <p:nvPr/>
        </p:nvCxnSpPr>
        <p:spPr>
          <a:xfrm>
            <a:off x="261175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6410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740,051</a:t>
            </a:r>
          </a:p>
        </p:txBody>
      </p:sp>
      <p:cxnSp>
        <p:nvCxnSpPr>
          <p:cNvPr id="18" name="Connector 17"/>
          <p:cNvCxnSpPr/>
          <p:nvPr/>
        </p:nvCxnSpPr>
        <p:spPr>
          <a:xfrm>
            <a:off x="386143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61378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791,632</a:t>
            </a:r>
          </a:p>
        </p:txBody>
      </p:sp>
      <p:cxnSp>
        <p:nvCxnSpPr>
          <p:cNvPr id="20" name="Connector 19"/>
          <p:cNvCxnSpPr/>
          <p:nvPr/>
        </p:nvCxnSpPr>
        <p:spPr>
          <a:xfrm>
            <a:off x="511111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86346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843,213</a:t>
            </a:r>
          </a:p>
        </p:txBody>
      </p:sp>
      <p:cxnSp>
        <p:nvCxnSpPr>
          <p:cNvPr id="22" name="Connector 21"/>
          <p:cNvCxnSpPr/>
          <p:nvPr/>
        </p:nvCxnSpPr>
        <p:spPr>
          <a:xfrm>
            <a:off x="636079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1314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894,794</a:t>
            </a:r>
          </a:p>
        </p:txBody>
      </p:sp>
      <p:cxnSp>
        <p:nvCxnSpPr>
          <p:cNvPr id="24" name="Connector 23"/>
          <p:cNvCxnSpPr/>
          <p:nvPr/>
        </p:nvCxnSpPr>
        <p:spPr>
          <a:xfrm>
            <a:off x="7610475" y="1752600"/>
            <a:ext cx="0" cy="4610100"/>
          </a:xfrm>
          <a:prstGeom prst="line">
            <a:avLst/>
          </a:prstGeom>
          <a:ln w="6350">
            <a:solidFill>
              <a:srgbClr val="E3E8EC"/>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62825" y="6381750"/>
            <a:ext cx="495300" cy="114300"/>
          </a:xfrm>
          <a:prstGeom prst="rect">
            <a:avLst/>
          </a:prstGeom>
          <a:noFill/>
        </p:spPr>
        <p:txBody>
          <a:bodyPr wrap="square" lIns="28575" rIns="28575" tIns="9525" bIns="9525">
            <a:spAutoFit/>
          </a:bodyPr>
          <a:lstStyle/>
          <a:p>
            <a:pPr algn="ctr"/>
            <a:r>
              <a:rPr sz="700" b="0">
                <a:solidFill>
                  <a:srgbClr val="6C7A89"/>
                </a:solidFill>
                <a:latin typeface="Calibri"/>
              </a:rPr>
              <a:t>946,375</a:t>
            </a:r>
          </a:p>
        </p:txBody>
      </p:sp>
      <p:sp>
        <p:nvSpPr>
          <p:cNvPr id="26" name="TextBox 25"/>
          <p:cNvSpPr txBox="1"/>
          <p:nvPr/>
        </p:nvSpPr>
        <p:spPr>
          <a:xfrm>
            <a:off x="238125" y="2031546"/>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North America</a:t>
            </a:r>
          </a:p>
        </p:txBody>
      </p:sp>
      <p:sp>
        <p:nvSpPr>
          <p:cNvPr id="27" name="Rectangle 26"/>
          <p:cNvSpPr/>
          <p:nvPr/>
        </p:nvSpPr>
        <p:spPr>
          <a:xfrm>
            <a:off x="4721906" y="1947454"/>
            <a:ext cx="40153"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81870" y="2055359"/>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8125" y="2684689"/>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Latin America</a:t>
            </a:r>
          </a:p>
        </p:txBody>
      </p:sp>
      <p:sp>
        <p:nvSpPr>
          <p:cNvPr id="30" name="Rectangle 29"/>
          <p:cNvSpPr/>
          <p:nvPr/>
        </p:nvSpPr>
        <p:spPr>
          <a:xfrm>
            <a:off x="3452974" y="2600597"/>
            <a:ext cx="35654"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404879" y="2708502"/>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3337832"/>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Western Europe</a:t>
            </a:r>
          </a:p>
        </p:txBody>
      </p:sp>
      <p:sp>
        <p:nvSpPr>
          <p:cNvPr id="33" name="Rectangle 32"/>
          <p:cNvSpPr/>
          <p:nvPr/>
        </p:nvSpPr>
        <p:spPr>
          <a:xfrm>
            <a:off x="6913884" y="3253740"/>
            <a:ext cx="28575"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60633" y="3361645"/>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8125" y="3990975"/>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Eastern Europe</a:t>
            </a:r>
          </a:p>
        </p:txBody>
      </p:sp>
      <p:sp>
        <p:nvSpPr>
          <p:cNvPr id="36" name="Rectangle 35"/>
          <p:cNvSpPr/>
          <p:nvPr/>
        </p:nvSpPr>
        <p:spPr>
          <a:xfrm>
            <a:off x="3176772" y="3906883"/>
            <a:ext cx="30778"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130337" y="4014788"/>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125" y="4644118"/>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East Asia</a:t>
            </a:r>
          </a:p>
        </p:txBody>
      </p:sp>
      <p:sp>
        <p:nvSpPr>
          <p:cNvPr id="39" name="Rectangle 38"/>
          <p:cNvSpPr/>
          <p:nvPr/>
        </p:nvSpPr>
        <p:spPr>
          <a:xfrm>
            <a:off x="2751950" y="4560026"/>
            <a:ext cx="107455"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2722359" y="4667930"/>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38125" y="5297261"/>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South Asia Pacific</a:t>
            </a:r>
          </a:p>
        </p:txBody>
      </p:sp>
      <p:sp>
        <p:nvSpPr>
          <p:cNvPr id="42" name="Rectangle 41"/>
          <p:cNvSpPr/>
          <p:nvPr/>
        </p:nvSpPr>
        <p:spPr>
          <a:xfrm>
            <a:off x="2045494" y="5213169"/>
            <a:ext cx="74256"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018449" y="5321073"/>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8125" y="5950404"/>
            <a:ext cx="1066800" cy="171450"/>
          </a:xfrm>
          <a:prstGeom prst="rect">
            <a:avLst/>
          </a:prstGeom>
          <a:noFill/>
        </p:spPr>
        <p:txBody>
          <a:bodyPr wrap="square" lIns="28575" rIns="28575" tIns="9525" bIns="9525" anchor="ctr">
            <a:spAutoFit/>
          </a:bodyPr>
          <a:lstStyle/>
          <a:p>
            <a:pPr algn="l"/>
            <a:r>
              <a:rPr sz="850" b="1">
                <a:solidFill>
                  <a:srgbClr val="0B2E4A"/>
                </a:solidFill>
                <a:latin typeface="Calibri"/>
              </a:rPr>
              <a:t>Middle East &amp; Africa</a:t>
            </a:r>
          </a:p>
        </p:txBody>
      </p:sp>
      <p:sp>
        <p:nvSpPr>
          <p:cNvPr id="45" name="Rectangle 44"/>
          <p:cNvSpPr/>
          <p:nvPr/>
        </p:nvSpPr>
        <p:spPr>
          <a:xfrm>
            <a:off x="4087378" y="5866311"/>
            <a:ext cx="65136" cy="339634"/>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051918" y="5974216"/>
            <a:ext cx="123825" cy="123825"/>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362075" y="1590675"/>
            <a:ext cx="114300" cy="114300"/>
          </a:xfrm>
          <a:prstGeom prst="ellipse">
            <a:avLst/>
          </a:prstGeom>
          <a:solidFill>
            <a:srgbClr val="F2994A"/>
          </a:solidFill>
          <a:ln w="12700">
            <a:solidFill>
              <a:srgbClr val="B970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95425" y="1581150"/>
            <a:ext cx="838200" cy="133350"/>
          </a:xfrm>
          <a:prstGeom prst="rect">
            <a:avLst/>
          </a:prstGeom>
          <a:noFill/>
        </p:spPr>
        <p:txBody>
          <a:bodyPr wrap="square" lIns="28575" rIns="28575" tIns="9525" bIns="9525">
            <a:spAutoFit/>
          </a:bodyPr>
          <a:lstStyle/>
          <a:p>
            <a:pPr algn="l"/>
            <a:r>
              <a:rPr sz="800" b="0">
                <a:solidFill>
                  <a:srgbClr val="2E2E2E"/>
                </a:solidFill>
                <a:latin typeface="Calibri"/>
              </a:rPr>
              <a:t>Average Price</a:t>
            </a:r>
          </a:p>
        </p:txBody>
      </p:sp>
      <p:sp>
        <p:nvSpPr>
          <p:cNvPr id="49" name="Rectangle 48"/>
          <p:cNvSpPr/>
          <p:nvPr/>
        </p:nvSpPr>
        <p:spPr>
          <a:xfrm>
            <a:off x="2390775" y="1600200"/>
            <a:ext cx="190500" cy="114300"/>
          </a:xfrm>
          <a:prstGeom prst="rect">
            <a:avLst/>
          </a:prstGeom>
          <a:solidFill>
            <a:srgbClr val="CFE7F5"/>
          </a:solidFill>
          <a:ln w="12700">
            <a:solidFill>
              <a:srgbClr val="7FBE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19375" y="1581150"/>
            <a:ext cx="800100" cy="133350"/>
          </a:xfrm>
          <a:prstGeom prst="rect">
            <a:avLst/>
          </a:prstGeom>
          <a:noFill/>
        </p:spPr>
        <p:txBody>
          <a:bodyPr wrap="square" lIns="28575" rIns="28575" tIns="9525" bIns="9525">
            <a:spAutoFit/>
          </a:bodyPr>
          <a:lstStyle/>
          <a:p>
            <a:pPr algn="l"/>
            <a:r>
              <a:rPr sz="800" b="0">
                <a:solidFill>
                  <a:srgbClr val="2E2E2E"/>
                </a:solidFill>
                <a:latin typeface="Calibri"/>
              </a:rPr>
              <a:t>Price Range</a:t>
            </a:r>
          </a:p>
        </p:txBody>
      </p:sp>
      <p:sp>
        <p:nvSpPr>
          <p:cNvPr id="51" name="Rounded Rectangle 50"/>
          <p:cNvSpPr/>
          <p:nvPr/>
        </p:nvSpPr>
        <p:spPr>
          <a:xfrm>
            <a:off x="7915275" y="1181100"/>
            <a:ext cx="4133850" cy="4095750"/>
          </a:xfrm>
          <a:prstGeom prst="roundRect">
            <a:avLst>
              <a:gd name="adj" fmla="val 18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Findings</a:t>
            </a:r>
          </a:p>
        </p:txBody>
      </p:sp>
      <p:sp>
        <p:nvSpPr>
          <p:cNvPr id="53" name="Rectangle 52"/>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48625" y="1590675"/>
            <a:ext cx="3867150" cy="36099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prices sit within a tight band across regions, ranging from ~718,117.38 US$/Units in 'South Asia Pacific' to ~917,980.41 US$/Units in 'Western Europe' at 2026.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'Western Europe' commands the premium a signal of stronger demand and limited price-competitive supply while 'South Asia Pacific' remains the most accessible, value-led geography.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orange dot is each region's average selling price; the blue band is its full low-to-high price range, all derived as Value ÷ Volume.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Narrow bands point to commoditised, price-led competition; wider bands flag premiumisation headroom to trade buyers up the mix.</a:t>
            </a:r>
          </a:p>
        </p:txBody>
      </p:sp>
      <p:sp>
        <p:nvSpPr>
          <p:cNvPr id="55" name="Rounded Rectangle 54"/>
          <p:cNvSpPr/>
          <p:nvPr/>
        </p:nvSpPr>
        <p:spPr>
          <a:xfrm>
            <a:off x="7915275" y="5391150"/>
            <a:ext cx="41338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Note: the above information is indicative in nature and does not constitute any form of analysis.</a:t>
            </a:r>
          </a:p>
        </p:txBody>
      </p:sp>
      <p:sp>
        <p:nvSpPr>
          <p:cNvPr id="56" name="Rectangle 5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8" name="Rounded Rectangle 5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9" name="Rounded Rectangle 5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0" name="Rounded Rectangle 5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Key Pricing Drivers Influencing Capillary Blood Collection Devices Market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input costs, market conditions and competitive forces shaping pricing strategies and profitability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Analysis of input costs, market conditions, and competitive forces shaping pricing strategies and profitability across the value chain</a:t>
            </a:r>
          </a:p>
        </p:txBody>
      </p:sp>
      <p:sp>
        <p:nvSpPr>
          <p:cNvPr id="13" name="Rounded Rectangle 12"/>
          <p:cNvSpPr/>
          <p:nvPr/>
        </p:nvSpPr>
        <p:spPr>
          <a:xfrm>
            <a:off x="142875" y="1219200"/>
            <a:ext cx="7696200" cy="5448300"/>
          </a:xfrm>
          <a:prstGeom prst="roundRect">
            <a:avLst>
              <a:gd name="adj" fmla="val 13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276350"/>
            <a:ext cx="75057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Impacting Factors</a:t>
            </a:r>
          </a:p>
        </p:txBody>
      </p:sp>
      <p:sp>
        <p:nvSpPr>
          <p:cNvPr id="15" name="Freeform 14"/>
          <p:cNvSpPr/>
          <p:nvPr/>
        </p:nvSpPr>
        <p:spPr>
          <a:xfrm>
            <a:off x="3609975" y="3657600"/>
            <a:ext cx="762000" cy="800100"/>
          </a:xfrm>
          <a:custGeom>
            <a:avLst/>
            <a:gdLst/>
            <a:ahLst/>
            <a:cxnLst/>
            <a:rect l="l" t="t" r="r" b="b"/>
            <a:pathLst>
              <a:path w="80" h="84">
                <a:moveTo>
                  <a:pt x="40" y="0"/>
                </a:moveTo>
                <a:lnTo>
                  <a:pt x="65" y="8"/>
                </a:lnTo>
                <a:lnTo>
                  <a:pt x="80" y="29"/>
                </a:lnTo>
                <a:lnTo>
                  <a:pt x="80" y="55"/>
                </a:lnTo>
                <a:lnTo>
                  <a:pt x="65" y="76"/>
                </a:lnTo>
                <a:lnTo>
                  <a:pt x="40" y="84"/>
                </a:lnTo>
                <a:lnTo>
                  <a:pt x="15" y="76"/>
                </a:lnTo>
                <a:lnTo>
                  <a:pt x="0" y="55"/>
                </a:lnTo>
                <a:lnTo>
                  <a:pt x="0" y="29"/>
                </a:lnTo>
                <a:lnTo>
                  <a:pt x="15" y="8"/>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3228975" y="3257550"/>
            <a:ext cx="1524000" cy="1600200"/>
          </a:xfrm>
          <a:custGeom>
            <a:avLst/>
            <a:gdLst/>
            <a:ahLst/>
            <a:cxnLst/>
            <a:rect l="l" t="t" r="r" b="b"/>
            <a:pathLst>
              <a:path w="160" h="168">
                <a:moveTo>
                  <a:pt x="80" y="0"/>
                </a:moveTo>
                <a:lnTo>
                  <a:pt x="129" y="16"/>
                </a:lnTo>
                <a:lnTo>
                  <a:pt x="160" y="58"/>
                </a:lnTo>
                <a:lnTo>
                  <a:pt x="160" y="110"/>
                </a:lnTo>
                <a:lnTo>
                  <a:pt x="129" y="152"/>
                </a:lnTo>
                <a:lnTo>
                  <a:pt x="80" y="168"/>
                </a:lnTo>
                <a:lnTo>
                  <a:pt x="31" y="152"/>
                </a:lnTo>
                <a:lnTo>
                  <a:pt x="0" y="110"/>
                </a:lnTo>
                <a:lnTo>
                  <a:pt x="0" y="58"/>
                </a:lnTo>
                <a:lnTo>
                  <a:pt x="31" y="1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2847975" y="2857500"/>
            <a:ext cx="2286000" cy="2400300"/>
          </a:xfrm>
          <a:custGeom>
            <a:avLst/>
            <a:gdLst/>
            <a:ahLst/>
            <a:cxnLst/>
            <a:rect l="l" t="t" r="r" b="b"/>
            <a:pathLst>
              <a:path w="240" h="252">
                <a:moveTo>
                  <a:pt x="120" y="0"/>
                </a:moveTo>
                <a:lnTo>
                  <a:pt x="194" y="24"/>
                </a:lnTo>
                <a:lnTo>
                  <a:pt x="240" y="87"/>
                </a:lnTo>
                <a:lnTo>
                  <a:pt x="240" y="165"/>
                </a:lnTo>
                <a:lnTo>
                  <a:pt x="194" y="228"/>
                </a:lnTo>
                <a:lnTo>
                  <a:pt x="120" y="252"/>
                </a:lnTo>
                <a:lnTo>
                  <a:pt x="46" y="228"/>
                </a:lnTo>
                <a:lnTo>
                  <a:pt x="0" y="165"/>
                </a:lnTo>
                <a:lnTo>
                  <a:pt x="0" y="87"/>
                </a:lnTo>
                <a:lnTo>
                  <a:pt x="46" y="2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466975" y="2457450"/>
            <a:ext cx="3048000" cy="3200400"/>
          </a:xfrm>
          <a:custGeom>
            <a:avLst/>
            <a:gdLst/>
            <a:ahLst/>
            <a:cxnLst/>
            <a:rect l="l" t="t" r="r" b="b"/>
            <a:pathLst>
              <a:path w="320" h="336">
                <a:moveTo>
                  <a:pt x="160" y="0"/>
                </a:moveTo>
                <a:lnTo>
                  <a:pt x="259" y="32"/>
                </a:lnTo>
                <a:lnTo>
                  <a:pt x="320" y="116"/>
                </a:lnTo>
                <a:lnTo>
                  <a:pt x="320" y="220"/>
                </a:lnTo>
                <a:lnTo>
                  <a:pt x="259" y="304"/>
                </a:lnTo>
                <a:lnTo>
                  <a:pt x="160" y="336"/>
                </a:lnTo>
                <a:lnTo>
                  <a:pt x="61" y="304"/>
                </a:lnTo>
                <a:lnTo>
                  <a:pt x="0" y="220"/>
                </a:lnTo>
                <a:lnTo>
                  <a:pt x="0" y="116"/>
                </a:lnTo>
                <a:lnTo>
                  <a:pt x="61" y="32"/>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85975" y="2057400"/>
            <a:ext cx="3810000" cy="4000500"/>
          </a:xfrm>
          <a:custGeom>
            <a:avLst/>
            <a:gdLst/>
            <a:ahLst/>
            <a:cxnLst/>
            <a:rect l="l" t="t" r="r" b="b"/>
            <a:pathLst>
              <a:path w="400" h="420">
                <a:moveTo>
                  <a:pt x="200" y="0"/>
                </a:moveTo>
                <a:lnTo>
                  <a:pt x="323" y="40"/>
                </a:lnTo>
                <a:lnTo>
                  <a:pt x="400" y="145"/>
                </a:lnTo>
                <a:lnTo>
                  <a:pt x="400" y="275"/>
                </a:lnTo>
                <a:lnTo>
                  <a:pt x="323" y="380"/>
                </a:lnTo>
                <a:lnTo>
                  <a:pt x="200" y="420"/>
                </a:lnTo>
                <a:lnTo>
                  <a:pt x="77" y="380"/>
                </a:lnTo>
                <a:lnTo>
                  <a:pt x="0" y="275"/>
                </a:lnTo>
                <a:lnTo>
                  <a:pt x="0" y="145"/>
                </a:lnTo>
                <a:lnTo>
                  <a:pt x="77"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3990975" y="2057400"/>
            <a:ext cx="0" cy="200025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990975" y="2439414"/>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990975" y="3439539"/>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990975" y="4057650"/>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90975" y="4057650"/>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990975" y="4057650"/>
            <a:ext cx="0" cy="200025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815258" y="4057650"/>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088624" y="4057650"/>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088624" y="3439539"/>
            <a:ext cx="1902351" cy="618111"/>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815258" y="2439414"/>
            <a:ext cx="1175717" cy="1618236"/>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2752725" y="2257425"/>
            <a:ext cx="2667000" cy="3400425"/>
          </a:xfrm>
          <a:custGeom>
            <a:avLst/>
            <a:gdLst/>
            <a:ahLst/>
            <a:cxnLst/>
            <a:rect l="l" t="t" r="r" b="b"/>
            <a:pathLst>
              <a:path w="280" h="357">
                <a:moveTo>
                  <a:pt x="130" y="0"/>
                </a:moveTo>
                <a:lnTo>
                  <a:pt x="216" y="70"/>
                </a:lnTo>
                <a:lnTo>
                  <a:pt x="260" y="147"/>
                </a:lnTo>
                <a:lnTo>
                  <a:pt x="280" y="238"/>
                </a:lnTo>
                <a:lnTo>
                  <a:pt x="235" y="333"/>
                </a:lnTo>
                <a:lnTo>
                  <a:pt x="130" y="357"/>
                </a:lnTo>
                <a:lnTo>
                  <a:pt x="56" y="291"/>
                </a:lnTo>
                <a:lnTo>
                  <a:pt x="20" y="225"/>
                </a:lnTo>
                <a:lnTo>
                  <a:pt x="0" y="147"/>
                </a:lnTo>
                <a:lnTo>
                  <a:pt x="74" y="113"/>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957638" y="222408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780640" y="2891547"/>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94166" y="362254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384401" y="448789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956997" y="539981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957638" y="562451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252207" y="499525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911345" y="436427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721109" y="3622540"/>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428565" y="3296106"/>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19550" y="359092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42" name="TextBox 41"/>
          <p:cNvSpPr txBox="1"/>
          <p:nvPr/>
        </p:nvSpPr>
        <p:spPr>
          <a:xfrm>
            <a:off x="4019550" y="3190875"/>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43" name="TextBox 42"/>
          <p:cNvSpPr txBox="1"/>
          <p:nvPr/>
        </p:nvSpPr>
        <p:spPr>
          <a:xfrm>
            <a:off x="4019550" y="279082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44" name="TextBox 43"/>
          <p:cNvSpPr txBox="1"/>
          <p:nvPr/>
        </p:nvSpPr>
        <p:spPr>
          <a:xfrm>
            <a:off x="4019550" y="2390775"/>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45" name="TextBox 44"/>
          <p:cNvSpPr txBox="1"/>
          <p:nvPr/>
        </p:nvSpPr>
        <p:spPr>
          <a:xfrm>
            <a:off x="4019550" y="19907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6" name="TextBox 45"/>
          <p:cNvSpPr txBox="1"/>
          <p:nvPr/>
        </p:nvSpPr>
        <p:spPr>
          <a:xfrm>
            <a:off x="3333750" y="17049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Input Cost  13.0%</a:t>
            </a:r>
          </a:p>
        </p:txBody>
      </p:sp>
      <p:sp>
        <p:nvSpPr>
          <p:cNvPr id="47" name="TextBox 46"/>
          <p:cNvSpPr txBox="1"/>
          <p:nvPr/>
        </p:nvSpPr>
        <p:spPr>
          <a:xfrm>
            <a:off x="4632638" y="21270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Labor &amp; Production Costs  10.1%</a:t>
            </a:r>
          </a:p>
        </p:txBody>
      </p:sp>
      <p:sp>
        <p:nvSpPr>
          <p:cNvPr id="48" name="TextBox 47"/>
          <p:cNvSpPr txBox="1"/>
          <p:nvPr/>
        </p:nvSpPr>
        <p:spPr>
          <a:xfrm>
            <a:off x="5435395" y="32319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Technology &amp; Innovation  9.4%</a:t>
            </a:r>
          </a:p>
        </p:txBody>
      </p:sp>
      <p:sp>
        <p:nvSpPr>
          <p:cNvPr id="49" name="TextBox 48"/>
          <p:cNvSpPr txBox="1"/>
          <p:nvPr/>
        </p:nvSpPr>
        <p:spPr>
          <a:xfrm>
            <a:off x="5435395" y="45976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Supply Chain &amp; Logistics  10.9%</a:t>
            </a:r>
          </a:p>
        </p:txBody>
      </p:sp>
      <p:sp>
        <p:nvSpPr>
          <p:cNvPr id="50" name="TextBox 49"/>
          <p:cNvSpPr txBox="1"/>
          <p:nvPr/>
        </p:nvSpPr>
        <p:spPr>
          <a:xfrm>
            <a:off x="4632638" y="57025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Demand &amp; Market Conditions  12.3%</a:t>
            </a:r>
          </a:p>
        </p:txBody>
      </p:sp>
      <p:sp>
        <p:nvSpPr>
          <p:cNvPr id="51" name="TextBox 50"/>
          <p:cNvSpPr txBox="1"/>
          <p:nvPr/>
        </p:nvSpPr>
        <p:spPr>
          <a:xfrm>
            <a:off x="3333750" y="61245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Competitive Landscape  11.6%</a:t>
            </a:r>
          </a:p>
        </p:txBody>
      </p:sp>
      <p:sp>
        <p:nvSpPr>
          <p:cNvPr id="52" name="TextBox 51"/>
          <p:cNvSpPr txBox="1"/>
          <p:nvPr/>
        </p:nvSpPr>
        <p:spPr>
          <a:xfrm>
            <a:off x="2034862" y="57025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Regulatory &amp; Compliance Costs  8.7%</a:t>
            </a:r>
          </a:p>
        </p:txBody>
      </p:sp>
      <p:sp>
        <p:nvSpPr>
          <p:cNvPr id="53" name="TextBox 52"/>
          <p:cNvSpPr txBox="1"/>
          <p:nvPr/>
        </p:nvSpPr>
        <p:spPr>
          <a:xfrm>
            <a:off x="1232105" y="4597641"/>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Currency &amp; Trade Dynamics  8.0%</a:t>
            </a:r>
          </a:p>
        </p:txBody>
      </p:sp>
      <p:sp>
        <p:nvSpPr>
          <p:cNvPr id="54" name="TextBox 53"/>
          <p:cNvSpPr txBox="1"/>
          <p:nvPr/>
        </p:nvSpPr>
        <p:spPr>
          <a:xfrm>
            <a:off x="1232105" y="32319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Brand &amp; Value Perception  9.4%</a:t>
            </a:r>
          </a:p>
        </p:txBody>
      </p:sp>
      <p:sp>
        <p:nvSpPr>
          <p:cNvPr id="55" name="TextBox 54"/>
          <p:cNvSpPr txBox="1"/>
          <p:nvPr/>
        </p:nvSpPr>
        <p:spPr>
          <a:xfrm>
            <a:off x="2034862" y="2127009"/>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Aftermarket &amp; Service Costs  6.5%</a:t>
            </a:r>
          </a:p>
        </p:txBody>
      </p:sp>
      <p:sp>
        <p:nvSpPr>
          <p:cNvPr id="56" name="Rounded Rectangle 55"/>
          <p:cNvSpPr/>
          <p:nvPr/>
        </p:nvSpPr>
        <p:spPr>
          <a:xfrm>
            <a:off x="7915275" y="1219200"/>
            <a:ext cx="4133850" cy="3657600"/>
          </a:xfrm>
          <a:prstGeom prst="roundRect">
            <a:avLst>
              <a:gd name="adj" fmla="val 208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48625" y="1304925"/>
            <a:ext cx="38671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8" name="Rectangle 57"/>
          <p:cNvSpPr/>
          <p:nvPr/>
        </p:nvSpPr>
        <p:spPr>
          <a:xfrm>
            <a:off x="8048625" y="15430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8625" y="1628775"/>
            <a:ext cx="3867150" cy="317182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Pricing across the Capillary Blood Collection Devices Market is shaped by a mix of input costs, operational efficiency and market dynamics with raw-material and input costs carrying the single heaviest weight on selling prices today.</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Raw-material and input costs and demand and broader market conditions are the dominant cost pressures; as they fluctuate they feed directly into prices and squeeze margins along the value chain.</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Competitive intensity and supply-chain and logistics conditions are the next most influential forces helping offset cost inflation and setting how aggressively players can price without ceding share.</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Demand strength, competitive intensity and supply-chain reliability together define the ceiling on pricing power across the Capillary Blood Collection Devices Market.</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Regulatory, currency and brand factors add second-order effects while aftermarket and service costs exert the least pressure collectively creating a pricing balance that must be monitored to stay competitive and profitable.</a:t>
            </a:r>
          </a:p>
        </p:txBody>
      </p:sp>
      <p:sp>
        <p:nvSpPr>
          <p:cNvPr id="60" name="Rounded Rectangle 59"/>
          <p:cNvSpPr/>
          <p:nvPr/>
        </p:nvSpPr>
        <p:spPr>
          <a:xfrm>
            <a:off x="7915275" y="4991100"/>
            <a:ext cx="4133850" cy="1676400"/>
          </a:xfrm>
          <a:prstGeom prst="roundRect">
            <a:avLst>
              <a:gd name="adj" fmla="val 45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048625" y="5076825"/>
            <a:ext cx="3867150" cy="209550"/>
          </a:xfrm>
          <a:prstGeom prst="rect">
            <a:avLst/>
          </a:prstGeom>
          <a:noFill/>
        </p:spPr>
        <p:txBody>
          <a:bodyPr wrap="square" lIns="0" rIns="19050" tIns="9525" bIns="9525">
            <a:spAutoFit/>
          </a:bodyPr>
          <a:lstStyle/>
          <a:p>
            <a:pPr algn="l"/>
            <a:r>
              <a:rPr sz="1300" b="1">
                <a:solidFill>
                  <a:srgbClr val="0B2E4A"/>
                </a:solidFill>
                <a:latin typeface="Calibri"/>
              </a:rPr>
              <a:t>Highest-Impact Drivers</a:t>
            </a:r>
          </a:p>
        </p:txBody>
      </p:sp>
      <p:sp>
        <p:nvSpPr>
          <p:cNvPr id="62" name="Rectangle 61"/>
          <p:cNvSpPr/>
          <p:nvPr/>
        </p:nvSpPr>
        <p:spPr>
          <a:xfrm>
            <a:off x="8048625" y="531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048625" y="5400675"/>
            <a:ext cx="3867150" cy="1190625"/>
          </a:xfrm>
          <a:prstGeom prst="rect">
            <a:avLst/>
          </a:prstGeom>
          <a:noFill/>
        </p:spPr>
        <p:txBody>
          <a:bodyPr wrap="square" lIns="0" rIns="19050" tIns="9525" bIns="9525">
            <a:spAutoFit/>
          </a:bodyPr>
          <a:lstStyle/>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Input Cost 9.0 / 10  ·  dominant cost pressure</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Demand &amp; Market Conditions 8.5 / 10  ·  major cost pressure</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Competitive Landscape 8.0 / 10  ·  key pricing lever</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Supply Chain &amp; Logistics 7.5 / 10  ·  key pricing lever</a:t>
            </a:r>
          </a:p>
          <a:p>
            <a:pPr algn="l">
              <a:lnSpc>
                <a:spcPct val="110000"/>
              </a:lnSpc>
              <a:spcBef>
                <a:spcPts val="0"/>
              </a:spcBef>
              <a:spcAft>
                <a:spcPts val="500"/>
              </a:spcAft>
            </a:pPr>
            <a:r>
              <a:rPr sz="900" b="0">
                <a:solidFill>
                  <a:srgbClr val="0E72AE"/>
                </a:solidFill>
                <a:latin typeface="Calibri"/>
              </a:rPr>
              <a:t>▪  </a:t>
            </a:r>
            <a:r>
              <a:rPr sz="1000" b="0">
                <a:solidFill>
                  <a:srgbClr val="2E2E2E"/>
                </a:solidFill>
                <a:latin typeface="Calibri"/>
              </a:rPr>
              <a:t>Labor &amp; Production Costs 7.0 / 10  ·  supporting factor</a:t>
            </a:r>
          </a:p>
        </p:txBody>
      </p:sp>
      <p:sp>
        <p:nvSpPr>
          <p:cNvPr id="64" name="Rectangle 6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6" name="Rounded Rectangle 6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8" name="Rounded Rectangle 6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Factors Impacting Pricing</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Factors affecting the pricing decision of the product: category, price impact, direction of pressure and rationale</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The cost, demand, efficiency and regulatory forces shaping and impacting achievable selling prices grouped by category, with each factor's direction, impact and score.</a:t>
            </a:r>
          </a:p>
        </p:txBody>
      </p:sp>
      <p:sp>
        <p:nvSpPr>
          <p:cNvPr id="12" name="Rounded Rectangle 11"/>
          <p:cNvSpPr/>
          <p:nvPr/>
        </p:nvSpPr>
        <p:spPr>
          <a:xfrm>
            <a:off x="142875" y="11811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219075" y="1257300"/>
          <a:ext cx="11753850" cy="1990725"/>
        </p:xfrm>
        <a:graphic>
          <a:graphicData uri="http://schemas.openxmlformats.org/drawingml/2006/table">
            <a:tbl>
              <a:tblPr>
                <a:tableStyleId>{5C22544A-7EE6-4342-B048-85BDC9FD1C3A}</a:tableStyleId>
              </a:tblPr>
              <a:tblGrid>
                <a:gridCol w="3526155"/>
                <a:gridCol w="1645539"/>
                <a:gridCol w="1645539"/>
                <a:gridCol w="1645539"/>
                <a:gridCol w="1645539"/>
                <a:gridCol w="1645539"/>
              </a:tblGrid>
              <a:tr h="180975">
                <a:tc>
                  <a:txBody>
                    <a:bodyPr wrap="none"/>
                    <a:lstStyle/>
                    <a:p>
                      <a:pPr algn="l"/>
                      <a:r>
                        <a:rPr sz="900" b="1">
                          <a:solidFill>
                            <a:srgbClr val="0B2E4A"/>
                          </a:solidFill>
                          <a:latin typeface="Calibri"/>
                        </a:rPr>
                        <a:t>Factor</a:t>
                      </a:r>
                    </a:p>
                  </a:txBody>
                  <a:tcPr marL="85725" marR="38100" marT="19050" marB="19050" anchor="ctr">
                    <a:solidFill>
                      <a:srgbClr val="E0E8EF"/>
                    </a:solidFill>
                  </a:tcPr>
                </a:tc>
                <a:tc>
                  <a:txBody>
                    <a:bodyPr wrap="none"/>
                    <a:lstStyle/>
                    <a:p>
                      <a:pPr algn="l"/>
                      <a:r>
                        <a:rPr sz="900" b="1">
                          <a:solidFill>
                            <a:srgbClr val="0B2E4A"/>
                          </a:solidFill>
                          <a:latin typeface="Calibri"/>
                        </a:rPr>
                        <a:t>Category</a:t>
                      </a:r>
                    </a:p>
                  </a:txBody>
                  <a:tcPr marL="85725" marR="38100" marT="19050" marB="19050" anchor="ctr">
                    <a:solidFill>
                      <a:srgbClr val="E0E8EF"/>
                    </a:solidFill>
                  </a:tcPr>
                </a:tc>
                <a:tc>
                  <a:txBody>
                    <a:bodyPr wrap="none"/>
                    <a:lstStyle/>
                    <a:p>
                      <a:pPr algn="l"/>
                      <a:r>
                        <a:rPr sz="900" b="1">
                          <a:solidFill>
                            <a:srgbClr val="0B2E4A"/>
                          </a:solidFill>
                          <a:latin typeface="Calibri"/>
                        </a:rPr>
                        <a:t>Price Impact</a:t>
                      </a:r>
                    </a:p>
                  </a:txBody>
                  <a:tcPr marL="85725" marR="38100" marT="19050" marB="19050" anchor="ctr">
                    <a:solidFill>
                      <a:srgbClr val="E0E8EF"/>
                    </a:solidFill>
                  </a:tcPr>
                </a:tc>
                <a:tc>
                  <a:txBody>
                    <a:bodyPr wrap="none"/>
                    <a:lstStyle/>
                    <a:p>
                      <a:pPr algn="l"/>
                      <a:r>
                        <a:rPr sz="900" b="1">
                          <a:solidFill>
                            <a:srgbClr val="0B2E4A"/>
                          </a:solidFill>
                          <a:latin typeface="Calibri"/>
                        </a:rPr>
                        <a:t>Direction</a:t>
                      </a:r>
                    </a:p>
                  </a:txBody>
                  <a:tcPr marL="85725" marR="38100" marT="19050" marB="19050" anchor="ctr">
                    <a:solidFill>
                      <a:srgbClr val="E0E8EF"/>
                    </a:solidFill>
                  </a:tcPr>
                </a:tc>
                <a:tc>
                  <a:txBody>
                    <a:bodyPr wrap="none"/>
                    <a:lstStyle/>
                    <a:p>
                      <a:pPr algn="l"/>
                      <a:r>
                        <a:rPr sz="900" b="1">
                          <a:solidFill>
                            <a:srgbClr val="0B2E4A"/>
                          </a:solidFill>
                          <a:latin typeface="Calibri"/>
                        </a:rPr>
                        <a:t>Score (0–10)</a:t>
                      </a:r>
                    </a:p>
                  </a:txBody>
                  <a:tcPr marL="85725" marR="38100" marT="19050" marB="19050" anchor="ctr">
                    <a:solidFill>
                      <a:srgbClr val="E0E8EF"/>
                    </a:solidFill>
                  </a:tcPr>
                </a:tc>
                <a:tc>
                  <a:txBody>
                    <a:bodyPr wrap="none"/>
                    <a:lstStyle/>
                    <a:p>
                      <a:pPr algn="l"/>
                      <a:r>
                        <a:rPr sz="900" b="1">
                          <a:solidFill>
                            <a:srgbClr val="0B2E4A"/>
                          </a:solidFill>
                          <a:latin typeface="Calibri"/>
                        </a:rPr>
                        <a:t>How It Shapes Price</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Input Cost</a:t>
                      </a:r>
                    </a:p>
                  </a:txBody>
                  <a:tcPr marL="85725" marR="38100" marT="19050" marB="19050" anchor="ctr">
                    <a:solidFill>
                      <a:srgbClr val="FFFFFF"/>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9.0</a:t>
                      </a:r>
                    </a:p>
                  </a:txBody>
                  <a:tcPr marL="85725" marR="38100" marT="19050" marB="19050" anchor="ctr">
                    <a:solidFill>
                      <a:srgbClr val="FFFFFF"/>
                    </a:solidFill>
                  </a:tcPr>
                </a:tc>
                <a:tc>
                  <a:txBody>
                    <a:bodyPr wrap="none"/>
                    <a:lstStyle/>
                    <a:p>
                      <a:pPr algn="l"/>
                      <a:r>
                        <a:rPr sz="900" b="0">
                          <a:solidFill>
                            <a:srgbClr val="2E2E2E"/>
                          </a:solidFill>
                          <a:latin typeface="Calibri"/>
                        </a:rPr>
                        <a:t>Raw-material and input costs.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Labor &amp; Production Costs</a:t>
                      </a:r>
                    </a:p>
                  </a:txBody>
                  <a:tcPr marL="85725" marR="38100" marT="19050" marB="19050" anchor="ctr">
                    <a:solidFill>
                      <a:srgbClr val="F5F8FA"/>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7.0</a:t>
                      </a:r>
                    </a:p>
                  </a:txBody>
                  <a:tcPr marL="85725" marR="38100" marT="19050" marB="19050" anchor="ctr">
                    <a:solidFill>
                      <a:srgbClr val="F5F8FA"/>
                    </a:solidFill>
                  </a:tcPr>
                </a:tc>
                <a:tc>
                  <a:txBody>
                    <a:bodyPr wrap="none"/>
                    <a:lstStyle/>
                    <a:p>
                      <a:pPr algn="l"/>
                      <a:r>
                        <a:rPr sz="900" b="0">
                          <a:solidFill>
                            <a:srgbClr val="2E2E2E"/>
                          </a:solidFill>
                          <a:latin typeface="Calibri"/>
                        </a:rPr>
                        <a:t>Labour and production expenses.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Supply Chain &amp; Logistics</a:t>
                      </a:r>
                    </a:p>
                  </a:txBody>
                  <a:tcPr marL="85725" marR="38100" marT="19050" marB="19050" anchor="ctr">
                    <a:solidFill>
                      <a:srgbClr val="FFFFFF"/>
                    </a:solidFill>
                  </a:tcPr>
                </a:tc>
                <a:tc>
                  <a:txBody>
                    <a:bodyPr wrap="none"/>
                    <a:lstStyle/>
                    <a:p>
                      <a:pPr algn="l"/>
                      <a:r>
                        <a:rPr sz="900" b="0">
                          <a:solidFill>
                            <a:srgbClr val="2E2E2E"/>
                          </a:solidFill>
                          <a:latin typeface="Calibri"/>
                        </a:rPr>
                        <a:t>Cost &amp; Input Pressures</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c>
                  <a:txBody>
                    <a:bodyPr wrap="none"/>
                    <a:lstStyle/>
                    <a:p>
                      <a:pPr algn="l"/>
                      <a:r>
                        <a:rPr sz="900" b="0">
                          <a:solidFill>
                            <a:srgbClr val="2E2E2E"/>
                          </a:solidFill>
                          <a:latin typeface="Calibri"/>
                        </a:rPr>
                        <a:t>Supply-chain and logistics conditions.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Demand &amp; Market Conditions</a:t>
                      </a:r>
                    </a:p>
                  </a:txBody>
                  <a:tcPr marL="85725" marR="38100" marT="19050" marB="19050" anchor="ctr">
                    <a:solidFill>
                      <a:srgbClr val="F5F8FA"/>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5F8FA"/>
                    </a:solidFill>
                  </a:tcPr>
                </a:tc>
                <a:tc>
                  <a:txBody>
                    <a:bodyPr wrap="none"/>
                    <a:lstStyle/>
                    <a:p>
                      <a:pPr algn="l"/>
                      <a:r>
                        <a:rPr sz="900" b="0">
                          <a:solidFill>
                            <a:srgbClr val="2E2E2E"/>
                          </a:solidFill>
                          <a:latin typeface="Calibri"/>
                        </a:rPr>
                        <a:t>High</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c>
                  <a:txBody>
                    <a:bodyPr wrap="none"/>
                    <a:lstStyle/>
                    <a:p>
                      <a:pPr algn="l"/>
                      <a:r>
                        <a:rPr sz="900" b="0">
                          <a:solidFill>
                            <a:srgbClr val="2E2E2E"/>
                          </a:solidFill>
                          <a:latin typeface="Calibri"/>
                        </a:rPr>
                        <a:t>Demand and broader market conditions.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Competitive Landscape</a:t>
                      </a:r>
                    </a:p>
                  </a:txBody>
                  <a:tcPr marL="85725" marR="38100" marT="19050" marB="19050" anchor="ctr">
                    <a:solidFill>
                      <a:srgbClr val="FFFFFF"/>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0">
                          <a:solidFill>
                            <a:srgbClr val="2E2E2E"/>
                          </a:solidFill>
                          <a:latin typeface="Calibri"/>
                        </a:rPr>
                        <a:t>Competitive intensity.</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Brand &amp; Value Perception</a:t>
                      </a:r>
                    </a:p>
                  </a:txBody>
                  <a:tcPr marL="85725" marR="38100" marT="19050" marB="19050" anchor="ctr">
                    <a:solidFill>
                      <a:srgbClr val="F5F8FA"/>
                    </a:solidFill>
                  </a:tcPr>
                </a:tc>
                <a:tc>
                  <a:txBody>
                    <a:bodyPr wrap="none"/>
                    <a:lstStyle/>
                    <a:p>
                      <a:pPr algn="l"/>
                      <a:r>
                        <a:rPr sz="900" b="0">
                          <a:solidFill>
                            <a:srgbClr val="2E2E2E"/>
                          </a:solidFill>
                          <a:latin typeface="Calibri"/>
                        </a:rPr>
                        <a:t>Demand &amp; Competitive Forces</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6.5</a:t>
                      </a:r>
                    </a:p>
                  </a:txBody>
                  <a:tcPr marL="85725" marR="38100" marT="19050" marB="19050" anchor="ctr">
                    <a:solidFill>
                      <a:srgbClr val="F5F8FA"/>
                    </a:solidFill>
                  </a:tcPr>
                </a:tc>
                <a:tc>
                  <a:txBody>
                    <a:bodyPr wrap="none"/>
                    <a:lstStyle/>
                    <a:p>
                      <a:pPr algn="l"/>
                      <a:r>
                        <a:rPr sz="900" b="0">
                          <a:solidFill>
                            <a:srgbClr val="2E2E2E"/>
                          </a:solidFill>
                          <a:latin typeface="Calibri"/>
                        </a:rPr>
                        <a:t>Brand strength and value perception.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Technology &amp; Innovation</a:t>
                      </a:r>
                    </a:p>
                  </a:txBody>
                  <a:tcPr marL="85725" marR="38100" marT="19050" marB="19050" anchor="ctr">
                    <a:solidFill>
                      <a:srgbClr val="FFFFFF"/>
                    </a:solidFill>
                  </a:tcPr>
                </a:tc>
                <a:tc>
                  <a:txBody>
                    <a:bodyPr wrap="none"/>
                    <a:lstStyle/>
                    <a:p>
                      <a:pPr algn="l"/>
                      <a:r>
                        <a:rPr sz="900" b="0">
                          <a:solidFill>
                            <a:srgbClr val="2E2E2E"/>
                          </a:solidFill>
                          <a:latin typeface="Calibri"/>
                        </a:rPr>
                        <a:t>Innovation &amp; Operating Efficiency</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6.5</a:t>
                      </a:r>
                    </a:p>
                  </a:txBody>
                  <a:tcPr marL="85725" marR="38100" marT="19050" marB="19050" anchor="ctr">
                    <a:solidFill>
                      <a:srgbClr val="FFFFFF"/>
                    </a:solidFill>
                  </a:tcPr>
                </a:tc>
                <a:tc>
                  <a:txBody>
                    <a:bodyPr wrap="none"/>
                    <a:lstStyle/>
                    <a:p>
                      <a:pPr algn="l"/>
                      <a:r>
                        <a:rPr sz="900" b="0">
                          <a:solidFill>
                            <a:srgbClr val="2E2E2E"/>
                          </a:solidFill>
                          <a:latin typeface="Calibri"/>
                        </a:rPr>
                        <a:t>Technology and process innovation.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Aftermarket &amp; Service Costs</a:t>
                      </a:r>
                    </a:p>
                  </a:txBody>
                  <a:tcPr marL="85725" marR="38100" marT="19050" marB="19050" anchor="ctr">
                    <a:solidFill>
                      <a:srgbClr val="F5F8FA"/>
                    </a:solidFill>
                  </a:tcPr>
                </a:tc>
                <a:tc>
                  <a:txBody>
                    <a:bodyPr wrap="none"/>
                    <a:lstStyle/>
                    <a:p>
                      <a:pPr algn="l"/>
                      <a:r>
                        <a:rPr sz="900" b="0">
                          <a:solidFill>
                            <a:srgbClr val="2E2E2E"/>
                          </a:solidFill>
                          <a:latin typeface="Calibri"/>
                        </a:rPr>
                        <a:t>Innovation &amp; Operating Efficiency</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4.5</a:t>
                      </a:r>
                    </a:p>
                  </a:txBody>
                  <a:tcPr marL="85725" marR="38100" marT="19050" marB="19050" anchor="ctr">
                    <a:solidFill>
                      <a:srgbClr val="F5F8FA"/>
                    </a:solidFill>
                  </a:tcPr>
                </a:tc>
                <a:tc>
                  <a:txBody>
                    <a:bodyPr wrap="none"/>
                    <a:lstStyle/>
                    <a:p>
                      <a:pPr algn="l"/>
                      <a:r>
                        <a:rPr sz="900" b="0">
                          <a:solidFill>
                            <a:srgbClr val="2E2E2E"/>
                          </a:solidFill>
                          <a:latin typeface="Calibri"/>
                        </a:rPr>
                        <a:t>Aftermarket and service costs.</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Regulatory &amp; Compliance Costs</a:t>
                      </a:r>
                    </a:p>
                  </a:txBody>
                  <a:tcPr marL="85725" marR="38100" marT="19050" marB="19050" anchor="ctr">
                    <a:solidFill>
                      <a:srgbClr val="FFFFFF"/>
                    </a:solidFill>
                  </a:tcPr>
                </a:tc>
                <a:tc>
                  <a:txBody>
                    <a:bodyPr wrap="none"/>
                    <a:lstStyle/>
                    <a:p>
                      <a:pPr algn="l"/>
                      <a:r>
                        <a:rPr sz="900" b="0">
                          <a:solidFill>
                            <a:srgbClr val="2E2E2E"/>
                          </a:solidFill>
                          <a:latin typeface="Calibri"/>
                        </a:rPr>
                        <a:t>Regulatory, Currency &amp; Macro</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6.0</a:t>
                      </a:r>
                    </a:p>
                  </a:txBody>
                  <a:tcPr marL="85725" marR="38100" marT="19050" marB="19050" anchor="ctr">
                    <a:solidFill>
                      <a:srgbClr val="FFFFFF"/>
                    </a:solidFill>
                  </a:tcPr>
                </a:tc>
                <a:tc>
                  <a:txBody>
                    <a:bodyPr wrap="none"/>
                    <a:lstStyle/>
                    <a:p>
                      <a:pPr algn="l"/>
                      <a:r>
                        <a:rPr sz="900" b="0">
                          <a:solidFill>
                            <a:srgbClr val="2E2E2E"/>
                          </a:solidFill>
                          <a:latin typeface="Calibri"/>
                        </a:rPr>
                        <a:t>Regulatory and compliance costs.</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Currency &amp; Trade Dynamics</a:t>
                      </a:r>
                    </a:p>
                  </a:txBody>
                  <a:tcPr marL="85725" marR="38100" marT="19050" marB="19050" anchor="ctr">
                    <a:solidFill>
                      <a:srgbClr val="F5F8FA"/>
                    </a:solidFill>
                  </a:tcPr>
                </a:tc>
                <a:tc>
                  <a:txBody>
                    <a:bodyPr wrap="none"/>
                    <a:lstStyle/>
                    <a:p>
                      <a:pPr algn="l"/>
                      <a:r>
                        <a:rPr sz="900" b="0">
                          <a:solidFill>
                            <a:srgbClr val="2E2E2E"/>
                          </a:solidFill>
                          <a:latin typeface="Calibri"/>
                        </a:rPr>
                        <a:t>Regulatory, Currency &amp; Macro</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5.5</a:t>
                      </a:r>
                    </a:p>
                  </a:txBody>
                  <a:tcPr marL="85725" marR="38100" marT="19050" marB="19050" anchor="ctr">
                    <a:solidFill>
                      <a:srgbClr val="F5F8FA"/>
                    </a:solidFill>
                  </a:tcPr>
                </a:tc>
                <a:tc>
                  <a:txBody>
                    <a:bodyPr wrap="none"/>
                    <a:lstStyle/>
                    <a:p>
                      <a:pPr algn="l"/>
                      <a:r>
                        <a:rPr sz="900" b="0">
                          <a:solidFill>
                            <a:srgbClr val="2E2E2E"/>
                          </a:solidFill>
                          <a:latin typeface="Calibri"/>
                        </a:rPr>
                        <a:t>Currency and trade dynamics.</a:t>
                      </a:r>
                    </a:p>
                  </a:txBody>
                  <a:tcPr marL="85725" marR="38100" marT="19050" marB="19050" anchor="ctr">
                    <a:solidFill>
                      <a:srgbClr val="F5F8FA"/>
                    </a:solidFill>
                  </a:tcPr>
                </a:tc>
              </a:tr>
            </a:tbl>
          </a:graphicData>
        </a:graphic>
      </p:graphicFrame>
      <p:sp>
        <p:nvSpPr>
          <p:cNvPr id="14" name="TextBox 13"/>
          <p:cNvSpPr txBox="1"/>
          <p:nvPr/>
        </p:nvSpPr>
        <p:spPr>
          <a:xfrm>
            <a:off x="219075" y="48482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5143500"/>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5229225"/>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the Factors Imply</a:t>
            </a:r>
          </a:p>
        </p:txBody>
      </p:sp>
      <p:sp>
        <p:nvSpPr>
          <p:cNvPr id="17" name="Rectangle 16"/>
          <p:cNvSpPr/>
          <p:nvPr/>
        </p:nvSpPr>
        <p:spPr>
          <a:xfrm>
            <a:off x="276225" y="5467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553075"/>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Input Cost and Demand &amp; Market Conditions carry the heaviest weight on selling prices (9.0 and 8.5 / 10).</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8 of 10 factors exert upward pressure on price; the rest pull prices down chiefly Technology &amp; Innovation and the Competitive Landscape.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Cost-side factors set the price floor; demand, brand and competitive forces determine how much of that cost can be passed through.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Aftermarket &amp; Service Costs exerts the least pressure a second-order effect to monitor rather than actively manage.</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Regional Price Assessment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Regional price assessment across the value chain, from manufacturer to retail, and average price by geography, 2026–2036</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price assessment across the value chain (US$/Units) and price trajectory to 2036.</a:t>
            </a:r>
          </a:p>
        </p:txBody>
      </p:sp>
      <p:sp>
        <p:nvSpPr>
          <p:cNvPr id="12" name="Rounded Rectangle 11"/>
          <p:cNvSpPr/>
          <p:nvPr/>
        </p:nvSpPr>
        <p:spPr>
          <a:xfrm>
            <a:off x="142875" y="1181100"/>
            <a:ext cx="590550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382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Regional Price by Value-Chain Level (US$/Units)</a:t>
            </a:r>
          </a:p>
        </p:txBody>
      </p:sp>
      <p:graphicFrame>
        <p:nvGraphicFramePr>
          <p:cNvPr id="14" name="Table 13"/>
          <p:cNvGraphicFramePr>
            <a:graphicFrameLocks noGrp="1"/>
          </p:cNvGraphicFramePr>
          <p:nvPr/>
        </p:nvGraphicFramePr>
        <p:xfrm>
          <a:off x="238125" y="1466850"/>
          <a:ext cx="5715000" cy="1447800"/>
        </p:xfrm>
        <a:graphic>
          <a:graphicData uri="http://schemas.openxmlformats.org/drawingml/2006/table">
            <a:tbl>
              <a:tblPr>
                <a:tableStyleId>{5C22544A-7EE6-4342-B048-85BDC9FD1C3A}</a:tableStyleId>
              </a:tblPr>
              <a:tblGrid>
                <a:gridCol w="1714500"/>
                <a:gridCol w="1000125"/>
                <a:gridCol w="1000125"/>
                <a:gridCol w="1000125"/>
                <a:gridCol w="1000125"/>
              </a:tblGrid>
              <a:tr h="180975">
                <a:tc>
                  <a:txBody>
                    <a:bodyPr wrap="none"/>
                    <a:lstStyle/>
                    <a:p>
                      <a:pPr algn="l"/>
                      <a:r>
                        <a:rPr sz="900" b="1">
                          <a:solidFill>
                            <a:srgbClr val="0B2E4A"/>
                          </a:solidFill>
                          <a:latin typeface="Calibri"/>
                        </a:rPr>
                        <a:t>Geography</a:t>
                      </a:r>
                    </a:p>
                  </a:txBody>
                  <a:tcPr marL="85725" marR="38100" marT="19050" marB="19050" anchor="ctr">
                    <a:solidFill>
                      <a:srgbClr val="E0E8EF"/>
                    </a:solidFill>
                  </a:tcPr>
                </a:tc>
                <a:tc>
                  <a:txBody>
                    <a:bodyPr wrap="none"/>
                    <a:lstStyle/>
                    <a:p>
                      <a:pPr algn="l"/>
                      <a:r>
                        <a:rPr sz="900" b="1">
                          <a:solidFill>
                            <a:srgbClr val="0B2E4A"/>
                          </a:solidFill>
                          <a:latin typeface="Calibri"/>
                        </a:rPr>
                        <a:t>Manufacturer</a:t>
                      </a:r>
                    </a:p>
                  </a:txBody>
                  <a:tcPr marL="85725" marR="38100" marT="19050" marB="19050" anchor="ctr">
                    <a:solidFill>
                      <a:srgbClr val="E0E8EF"/>
                    </a:solidFill>
                  </a:tcPr>
                </a:tc>
                <a:tc>
                  <a:txBody>
                    <a:bodyPr wrap="none"/>
                    <a:lstStyle/>
                    <a:p>
                      <a:pPr algn="l"/>
                      <a:r>
                        <a:rPr sz="900" b="1">
                          <a:solidFill>
                            <a:srgbClr val="0B2E4A"/>
                          </a:solidFill>
                          <a:latin typeface="Calibri"/>
                        </a:rPr>
                        <a:t>Distribution</a:t>
                      </a:r>
                    </a:p>
                  </a:txBody>
                  <a:tcPr marL="85725" marR="38100" marT="19050" marB="19050" anchor="ctr">
                    <a:solidFill>
                      <a:srgbClr val="E0E8EF"/>
                    </a:solidFill>
                  </a:tcPr>
                </a:tc>
                <a:tc>
                  <a:txBody>
                    <a:bodyPr wrap="none"/>
                    <a:lstStyle/>
                    <a:p>
                      <a:pPr algn="l"/>
                      <a:r>
                        <a:rPr sz="900" b="1">
                          <a:solidFill>
                            <a:srgbClr val="0B2E4A"/>
                          </a:solidFill>
                          <a:latin typeface="Calibri"/>
                        </a:rPr>
                        <a:t>Retail</a:t>
                      </a:r>
                    </a:p>
                  </a:txBody>
                  <a:tcPr marL="85725" marR="38100" marT="19050" marB="19050" anchor="ctr">
                    <a:solidFill>
                      <a:srgbClr val="E0E8EF"/>
                    </a:solidFill>
                  </a:tcPr>
                </a:tc>
                <a:tc>
                  <a:txBody>
                    <a:bodyPr wrap="none"/>
                    <a:lstStyle/>
                    <a:p>
                      <a:pPr algn="l"/>
                      <a:r>
                        <a:rPr sz="900" b="1">
                          <a:solidFill>
                            <a:srgbClr val="0B2E4A"/>
                          </a:solidFill>
                          <a:latin typeface="Calibri"/>
                        </a:rPr>
                        <a:t>Total Margin (%)</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430,783.94</a:t>
                      </a:r>
                    </a:p>
                  </a:txBody>
                  <a:tcPr marL="85725" marR="38100" marT="19050" marB="19050" anchor="ctr">
                    <a:solidFill>
                      <a:srgbClr val="FFFFFF"/>
                    </a:solidFill>
                  </a:tcPr>
                </a:tc>
                <a:tc>
                  <a:txBody>
                    <a:bodyPr wrap="none"/>
                    <a:lstStyle/>
                    <a:p>
                      <a:pPr algn="l"/>
                      <a:r>
                        <a:rPr sz="900" b="0">
                          <a:solidFill>
                            <a:srgbClr val="2E2E2E"/>
                          </a:solidFill>
                          <a:latin typeface="Calibri"/>
                        </a:rPr>
                        <a:t>596,470.07</a:t>
                      </a:r>
                    </a:p>
                  </a:txBody>
                  <a:tcPr marL="85725" marR="38100" marT="19050" marB="19050" anchor="ctr">
                    <a:solidFill>
                      <a:srgbClr val="FFFFFF"/>
                    </a:solidFill>
                  </a:tcPr>
                </a:tc>
                <a:tc>
                  <a:txBody>
                    <a:bodyPr wrap="none"/>
                    <a:lstStyle/>
                    <a:p>
                      <a:pPr algn="l"/>
                      <a:r>
                        <a:rPr sz="900" b="0">
                          <a:solidFill>
                            <a:srgbClr val="2E2E2E"/>
                          </a:solidFill>
                          <a:latin typeface="Calibri"/>
                        </a:rPr>
                        <a:t>828,430.65</a:t>
                      </a:r>
                    </a:p>
                  </a:txBody>
                  <a:tcPr marL="85725" marR="38100" marT="19050" marB="19050" anchor="ctr">
                    <a:solidFill>
                      <a:srgbClr val="FFFFFF"/>
                    </a:solidFill>
                  </a:tcPr>
                </a:tc>
                <a:tc>
                  <a:txBody>
                    <a:bodyPr wrap="none"/>
                    <a:lstStyle/>
                    <a:p>
                      <a:pPr algn="l"/>
                      <a:r>
                        <a:rPr sz="900" b="0">
                          <a:solidFill>
                            <a:srgbClr val="2E2E2E"/>
                          </a:solidFill>
                          <a:latin typeface="Calibri"/>
                        </a:rPr>
                        <a:t>48%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415,602.61</a:t>
                      </a:r>
                    </a:p>
                  </a:txBody>
                  <a:tcPr marL="85725" marR="38100" marT="19050" marB="19050" anchor="ctr">
                    <a:solidFill>
                      <a:srgbClr val="F5F8FA"/>
                    </a:solidFill>
                  </a:tcPr>
                </a:tc>
                <a:tc>
                  <a:txBody>
                    <a:bodyPr wrap="none"/>
                    <a:lstStyle/>
                    <a:p>
                      <a:pPr algn="l"/>
                      <a:r>
                        <a:rPr sz="900" b="0">
                          <a:solidFill>
                            <a:srgbClr val="2E2E2E"/>
                          </a:solidFill>
                          <a:latin typeface="Calibri"/>
                        </a:rPr>
                        <a:t>570,678.22</a:t>
                      </a:r>
                    </a:p>
                  </a:txBody>
                  <a:tcPr marL="85725" marR="38100" marT="19050" marB="19050" anchor="ctr">
                    <a:solidFill>
                      <a:srgbClr val="F5F8FA"/>
                    </a:solidFill>
                  </a:tcPr>
                </a:tc>
                <a:tc>
                  <a:txBody>
                    <a:bodyPr wrap="none"/>
                    <a:lstStyle/>
                    <a:p>
                      <a:pPr algn="l"/>
                      <a:r>
                        <a:rPr sz="900" b="0">
                          <a:solidFill>
                            <a:srgbClr val="2E2E2E"/>
                          </a:solidFill>
                          <a:latin typeface="Calibri"/>
                        </a:rPr>
                        <a:t>775,378.01</a:t>
                      </a:r>
                    </a:p>
                  </a:txBody>
                  <a:tcPr marL="85725" marR="38100" marT="19050" marB="19050" anchor="ctr">
                    <a:solidFill>
                      <a:srgbClr val="F5F8FA"/>
                    </a:solidFill>
                  </a:tcPr>
                </a:tc>
                <a:tc>
                  <a:txBody>
                    <a:bodyPr wrap="none"/>
                    <a:lstStyle/>
                    <a:p>
                      <a:pPr algn="l"/>
                      <a:r>
                        <a:rPr sz="900" b="0">
                          <a:solidFill>
                            <a:srgbClr val="2E2E2E"/>
                          </a:solidFill>
                          <a:latin typeface="Calibri"/>
                        </a:rPr>
                        <a:t>46%</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506,757.43</a:t>
                      </a:r>
                    </a:p>
                  </a:txBody>
                  <a:tcPr marL="85725" marR="38100" marT="19050" marB="19050" anchor="ctr">
                    <a:solidFill>
                      <a:srgbClr val="FFFFFF"/>
                    </a:solidFill>
                  </a:tcPr>
                </a:tc>
                <a:tc>
                  <a:txBody>
                    <a:bodyPr wrap="none"/>
                    <a:lstStyle/>
                    <a:p>
                      <a:pPr algn="l"/>
                      <a:r>
                        <a:rPr sz="900" b="0">
                          <a:solidFill>
                            <a:srgbClr val="2E2E2E"/>
                          </a:solidFill>
                          <a:latin typeface="Calibri"/>
                        </a:rPr>
                        <a:t>690,365.20</a:t>
                      </a:r>
                    </a:p>
                  </a:txBody>
                  <a:tcPr marL="85725" marR="38100" marT="19050" marB="19050" anchor="ctr">
                    <a:solidFill>
                      <a:srgbClr val="FFFFFF"/>
                    </a:solidFill>
                  </a:tcPr>
                </a:tc>
                <a:tc>
                  <a:txBody>
                    <a:bodyPr wrap="none"/>
                    <a:lstStyle/>
                    <a:p>
                      <a:pPr algn="l"/>
                      <a:r>
                        <a:rPr sz="900" b="0">
                          <a:solidFill>
                            <a:srgbClr val="2E2E2E"/>
                          </a:solidFill>
                          <a:latin typeface="Calibri"/>
                        </a:rPr>
                        <a:t>918,038.83</a:t>
                      </a:r>
                    </a:p>
                  </a:txBody>
                  <a:tcPr marL="85725" marR="38100" marT="19050" marB="19050" anchor="ctr">
                    <a:solidFill>
                      <a:srgbClr val="FFFFFF"/>
                    </a:solidFill>
                  </a:tcPr>
                </a:tc>
                <a:tc>
                  <a:txBody>
                    <a:bodyPr wrap="none"/>
                    <a:lstStyle/>
                    <a:p>
                      <a:pPr algn="l"/>
                      <a:r>
                        <a:rPr sz="900" b="0">
                          <a:solidFill>
                            <a:srgbClr val="2E2E2E"/>
                          </a:solidFill>
                          <a:latin typeface="Calibri"/>
                        </a:rPr>
                        <a:t>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Eastern Europe</a:t>
                      </a:r>
                    </a:p>
                  </a:txBody>
                  <a:tcPr marL="85725" marR="38100" marT="19050" marB="19050" anchor="ctr">
                    <a:solidFill>
                      <a:srgbClr val="F5F8FA"/>
                    </a:solidFill>
                  </a:tcPr>
                </a:tc>
                <a:tc>
                  <a:txBody>
                    <a:bodyPr wrap="none"/>
                    <a:lstStyle/>
                    <a:p>
                      <a:pPr algn="l"/>
                      <a:r>
                        <a:rPr sz="900" b="0">
                          <a:solidFill>
                            <a:srgbClr val="2E2E2E"/>
                          </a:solidFill>
                          <a:latin typeface="Calibri"/>
                        </a:rPr>
                        <a:t>433,985.54</a:t>
                      </a:r>
                    </a:p>
                  </a:txBody>
                  <a:tcPr marL="85725" marR="38100" marT="19050" marB="19050" anchor="ctr">
                    <a:solidFill>
                      <a:srgbClr val="F5F8FA"/>
                    </a:solidFill>
                  </a:tcPr>
                </a:tc>
                <a:tc>
                  <a:txBody>
                    <a:bodyPr wrap="none"/>
                    <a:lstStyle/>
                    <a:p>
                      <a:pPr algn="l"/>
                      <a:r>
                        <a:rPr sz="900" b="0">
                          <a:solidFill>
                            <a:srgbClr val="2E2E2E"/>
                          </a:solidFill>
                          <a:latin typeface="Calibri"/>
                        </a:rPr>
                        <a:t>586,797.35</a:t>
                      </a:r>
                    </a:p>
                  </a:txBody>
                  <a:tcPr marL="85725" marR="38100" marT="19050" marB="19050" anchor="ctr">
                    <a:solidFill>
                      <a:srgbClr val="F5F8FA"/>
                    </a:solidFill>
                  </a:tcPr>
                </a:tc>
                <a:tc>
                  <a:txBody>
                    <a:bodyPr wrap="none"/>
                    <a:lstStyle/>
                    <a:p>
                      <a:pPr algn="l"/>
                      <a:r>
                        <a:rPr sz="900" b="0">
                          <a:solidFill>
                            <a:srgbClr val="2E2E2E"/>
                          </a:solidFill>
                          <a:latin typeface="Calibri"/>
                        </a:rPr>
                        <a:t>764,059.05</a:t>
                      </a:r>
                    </a:p>
                  </a:txBody>
                  <a:tcPr marL="85725" marR="38100" marT="19050" marB="19050" anchor="ctr">
                    <a:solidFill>
                      <a:srgbClr val="F5F8FA"/>
                    </a:solidFill>
                  </a:tcPr>
                </a:tc>
                <a:tc>
                  <a:txBody>
                    <a:bodyPr wrap="none"/>
                    <a:lstStyle/>
                    <a:p>
                      <a:pPr algn="l"/>
                      <a:r>
                        <a:rPr sz="900" b="0">
                          <a:solidFill>
                            <a:srgbClr val="2E2E2E"/>
                          </a:solidFill>
                          <a:latin typeface="Calibri"/>
                        </a:rPr>
                        <a:t>43%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FFFFF"/>
                    </a:solidFill>
                  </a:tcPr>
                </a:tc>
                <a:tc>
                  <a:txBody>
                    <a:bodyPr wrap="none"/>
                    <a:lstStyle/>
                    <a:p>
                      <a:pPr algn="l"/>
                      <a:r>
                        <a:rPr sz="900" b="0">
                          <a:solidFill>
                            <a:srgbClr val="2E2E2E"/>
                          </a:solidFill>
                          <a:latin typeface="Calibri"/>
                        </a:rPr>
                        <a:t>436,031.34</a:t>
                      </a:r>
                    </a:p>
                  </a:txBody>
                  <a:tcPr marL="85725" marR="38100" marT="19050" marB="19050" anchor="ctr">
                    <a:solidFill>
                      <a:srgbClr val="FFFFFF"/>
                    </a:solidFill>
                  </a:tcPr>
                </a:tc>
                <a:tc>
                  <a:txBody>
                    <a:bodyPr wrap="none"/>
                    <a:lstStyle/>
                    <a:p>
                      <a:pPr algn="l"/>
                      <a:r>
                        <a:rPr sz="900" b="0">
                          <a:solidFill>
                            <a:srgbClr val="2E2E2E"/>
                          </a:solidFill>
                          <a:latin typeface="Calibri"/>
                        </a:rPr>
                        <a:t>585,357.14</a:t>
                      </a:r>
                    </a:p>
                  </a:txBody>
                  <a:tcPr marL="85725" marR="38100" marT="19050" marB="19050" anchor="ctr">
                    <a:solidFill>
                      <a:srgbClr val="FFFFFF"/>
                    </a:solidFill>
                  </a:tcPr>
                </a:tc>
                <a:tc>
                  <a:txBody>
                    <a:bodyPr wrap="none"/>
                    <a:lstStyle/>
                    <a:p>
                      <a:pPr algn="l"/>
                      <a:r>
                        <a:rPr sz="900" b="0">
                          <a:solidFill>
                            <a:srgbClr val="2E2E2E"/>
                          </a:solidFill>
                          <a:latin typeface="Calibri"/>
                        </a:rPr>
                        <a:t>746,629.00</a:t>
                      </a:r>
                    </a:p>
                  </a:txBody>
                  <a:tcPr marL="85725" marR="38100" marT="19050" marB="19050" anchor="ctr">
                    <a:solidFill>
                      <a:srgbClr val="FFFFFF"/>
                    </a:solidFill>
                  </a:tcPr>
                </a:tc>
                <a:tc>
                  <a:txBody>
                    <a:bodyPr wrap="none"/>
                    <a:lstStyle/>
                    <a:p>
                      <a:pPr algn="l"/>
                      <a:r>
                        <a:rPr sz="900" b="0">
                          <a:solidFill>
                            <a:srgbClr val="2E2E2E"/>
                          </a:solidFill>
                          <a:latin typeface="Calibri"/>
                        </a:rPr>
                        <a:t>42%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900" b="0">
                          <a:solidFill>
                            <a:srgbClr val="2E2E2E"/>
                          </a:solidFill>
                          <a:latin typeface="Calibri"/>
                        </a:rPr>
                        <a:t>430,608.62</a:t>
                      </a:r>
                    </a:p>
                  </a:txBody>
                  <a:tcPr marL="85725" marR="38100" marT="19050" marB="19050" anchor="ctr">
                    <a:solidFill>
                      <a:srgbClr val="F5F8FA"/>
                    </a:solidFill>
                  </a:tcPr>
                </a:tc>
                <a:tc>
                  <a:txBody>
                    <a:bodyPr wrap="none"/>
                    <a:lstStyle/>
                    <a:p>
                      <a:pPr algn="l"/>
                      <a:r>
                        <a:rPr sz="900" b="0">
                          <a:solidFill>
                            <a:srgbClr val="2E2E2E"/>
                          </a:solidFill>
                          <a:latin typeface="Calibri"/>
                        </a:rPr>
                        <a:t>574,144.83</a:t>
                      </a:r>
                    </a:p>
                  </a:txBody>
                  <a:tcPr marL="85725" marR="38100" marT="19050" marB="19050" anchor="ctr">
                    <a:solidFill>
                      <a:srgbClr val="F5F8FA"/>
                    </a:solidFill>
                  </a:tcPr>
                </a:tc>
                <a:tc>
                  <a:txBody>
                    <a:bodyPr wrap="none"/>
                    <a:lstStyle/>
                    <a:p>
                      <a:pPr algn="l"/>
                      <a:r>
                        <a:rPr sz="900" b="0">
                          <a:solidFill>
                            <a:srgbClr val="2E2E2E"/>
                          </a:solidFill>
                          <a:latin typeface="Calibri"/>
                        </a:rPr>
                        <a:t>717,681.04</a:t>
                      </a:r>
                    </a:p>
                  </a:txBody>
                  <a:tcPr marL="85725" marR="38100" marT="19050" marB="19050" anchor="ctr">
                    <a:solidFill>
                      <a:srgbClr val="F5F8FA"/>
                    </a:solidFill>
                  </a:tcPr>
                </a:tc>
                <a:tc>
                  <a:txBody>
                    <a:bodyPr wrap="none"/>
                    <a:lstStyle/>
                    <a:p>
                      <a:pPr algn="l"/>
                      <a:r>
                        <a:rPr sz="900" b="0">
                          <a:solidFill>
                            <a:srgbClr val="2E2E2E"/>
                          </a:solidFill>
                          <a:latin typeface="Calibri"/>
                        </a:rPr>
                        <a:t>40%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900" b="0">
                          <a:solidFill>
                            <a:srgbClr val="2E2E2E"/>
                          </a:solidFill>
                          <a:latin typeface="Calibri"/>
                        </a:rPr>
                        <a:t>417,365.31</a:t>
                      </a:r>
                    </a:p>
                  </a:txBody>
                  <a:tcPr marL="85725" marR="38100" marT="19050" marB="19050" anchor="ctr">
                    <a:solidFill>
                      <a:srgbClr val="FFFFFF"/>
                    </a:solidFill>
                  </a:tcPr>
                </a:tc>
                <a:tc>
                  <a:txBody>
                    <a:bodyPr wrap="none"/>
                    <a:lstStyle/>
                    <a:p>
                      <a:pPr algn="l"/>
                      <a:r>
                        <a:rPr sz="900" b="0">
                          <a:solidFill>
                            <a:srgbClr val="2E2E2E"/>
                          </a:solidFill>
                          <a:latin typeface="Calibri"/>
                        </a:rPr>
                        <a:t>577,890.42</a:t>
                      </a:r>
                    </a:p>
                  </a:txBody>
                  <a:tcPr marL="85725" marR="38100" marT="19050" marB="19050" anchor="ctr">
                    <a:solidFill>
                      <a:srgbClr val="FFFFFF"/>
                    </a:solidFill>
                  </a:tcPr>
                </a:tc>
                <a:tc>
                  <a:txBody>
                    <a:bodyPr wrap="none"/>
                    <a:lstStyle/>
                    <a:p>
                      <a:pPr algn="l"/>
                      <a:r>
                        <a:rPr sz="900" b="0">
                          <a:solidFill>
                            <a:srgbClr val="2E2E2E"/>
                          </a:solidFill>
                          <a:latin typeface="Calibri"/>
                        </a:rPr>
                        <a:t>802,625.59</a:t>
                      </a:r>
                    </a:p>
                  </a:txBody>
                  <a:tcPr marL="85725" marR="38100" marT="19050" marB="19050" anchor="ctr">
                    <a:solidFill>
                      <a:srgbClr val="FFFFFF"/>
                    </a:solidFill>
                  </a:tcPr>
                </a:tc>
                <a:tc>
                  <a:txBody>
                    <a:bodyPr wrap="none"/>
                    <a:lstStyle/>
                    <a:p>
                      <a:pPr algn="l"/>
                      <a:r>
                        <a:rPr sz="900" b="0">
                          <a:solidFill>
                            <a:srgbClr val="2E2E2E"/>
                          </a:solidFill>
                          <a:latin typeface="Calibri"/>
                        </a:rPr>
                        <a:t>48%</a:t>
                      </a:r>
                    </a:p>
                  </a:txBody>
                  <a:tcPr marL="85725" marR="38100" marT="19050" marB="19050" anchor="ctr">
                    <a:solidFill>
                      <a:srgbClr val="FFFFFF"/>
                    </a:solidFill>
                  </a:tcPr>
                </a:tc>
              </a:tr>
            </a:tbl>
          </a:graphicData>
        </a:graphic>
      </p:graphicFrame>
      <p:sp>
        <p:nvSpPr>
          <p:cNvPr id="15" name="TextBox 14"/>
          <p:cNvSpPr txBox="1"/>
          <p:nvPr/>
        </p:nvSpPr>
        <p:spPr>
          <a:xfrm>
            <a:off x="219075" y="389572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6200775" y="1181100"/>
            <a:ext cx="584835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6025" y="12382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by Geography (US$/Units)</a:t>
            </a:r>
          </a:p>
        </p:txBody>
      </p:sp>
      <p:graphicFrame>
        <p:nvGraphicFramePr>
          <p:cNvPr id="18" name="Table 17"/>
          <p:cNvGraphicFramePr>
            <a:graphicFrameLocks noGrp="1"/>
          </p:cNvGraphicFramePr>
          <p:nvPr/>
        </p:nvGraphicFramePr>
        <p:xfrm>
          <a:off x="6296025" y="1466850"/>
          <a:ext cx="5657851" cy="1447800"/>
        </p:xfrm>
        <a:graphic>
          <a:graphicData uri="http://schemas.openxmlformats.org/drawingml/2006/table">
            <a:tbl>
              <a:tblPr>
                <a:tableStyleId>{5C22544A-7EE6-4342-B048-85BDC9FD1C3A}</a:tableStyleId>
              </a:tblPr>
              <a:tblGrid>
                <a:gridCol w="1697355"/>
                <a:gridCol w="990124"/>
                <a:gridCol w="990124"/>
                <a:gridCol w="990124"/>
                <a:gridCol w="990124"/>
              </a:tblGrid>
              <a:tr h="180975">
                <a:tc>
                  <a:txBody>
                    <a:bodyPr wrap="none"/>
                    <a:lstStyle/>
                    <a:p>
                      <a:pPr algn="l"/>
                      <a:r>
                        <a:rPr sz="900" b="1">
                          <a:solidFill>
                            <a:srgbClr val="0B2E4A"/>
                          </a:solidFill>
                          <a:latin typeface="Calibri"/>
                        </a:rPr>
                        <a:t>Geography</a:t>
                      </a:r>
                    </a:p>
                  </a:txBody>
                  <a:tcPr marL="85725" marR="38100" marT="19050" marB="19050" anchor="ctr">
                    <a:solidFill>
                      <a:srgbClr val="E0E8EF"/>
                    </a:solidFill>
                  </a:tcPr>
                </a:tc>
                <a:tc>
                  <a:txBody>
                    <a:bodyPr wrap="none"/>
                    <a:lstStyle/>
                    <a:p>
                      <a:pPr algn="l"/>
                      <a:r>
                        <a:rPr sz="900" b="1">
                          <a:solidFill>
                            <a:srgbClr val="0B2E4A"/>
                          </a:solidFill>
                          <a:latin typeface="Calibri"/>
                        </a:rPr>
                        <a:t>2026</a:t>
                      </a:r>
                    </a:p>
                  </a:txBody>
                  <a:tcPr marL="85725" marR="38100" marT="19050" marB="19050" anchor="ctr">
                    <a:solidFill>
                      <a:srgbClr val="E0E8EF"/>
                    </a:solidFill>
                  </a:tcPr>
                </a:tc>
                <a:tc>
                  <a:txBody>
                    <a:bodyPr wrap="none"/>
                    <a:lstStyle/>
                    <a:p>
                      <a:pPr algn="l"/>
                      <a:r>
                        <a:rPr sz="900" b="1">
                          <a:solidFill>
                            <a:srgbClr val="0B2E4A"/>
                          </a:solidFill>
                          <a:latin typeface="Calibri"/>
                        </a:rPr>
                        <a:t>2029</a:t>
                      </a:r>
                    </a:p>
                  </a:txBody>
                  <a:tcPr marL="85725" marR="38100" marT="19050" marB="19050" anchor="ctr">
                    <a:solidFill>
                      <a:srgbClr val="E0E8EF"/>
                    </a:solidFill>
                  </a:tcPr>
                </a:tc>
                <a:tc>
                  <a:txBody>
                    <a:bodyPr wrap="none"/>
                    <a:lstStyle/>
                    <a:p>
                      <a:pPr algn="l"/>
                      <a:r>
                        <a:rPr sz="900" b="1">
                          <a:solidFill>
                            <a:srgbClr val="0B2E4A"/>
                          </a:solidFill>
                          <a:latin typeface="Calibri"/>
                        </a:rPr>
                        <a:t>2032</a:t>
                      </a:r>
                    </a:p>
                  </a:txBody>
                  <a:tcPr marL="85725" marR="38100" marT="19050" marB="19050" anchor="ctr">
                    <a:solidFill>
                      <a:srgbClr val="E0E8EF"/>
                    </a:solidFill>
                  </a:tcPr>
                </a:tc>
                <a:tc>
                  <a:txBody>
                    <a:bodyPr wrap="none"/>
                    <a:lstStyle/>
                    <a:p>
                      <a:pPr algn="l"/>
                      <a:r>
                        <a:rPr sz="9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828,430.65</a:t>
                      </a:r>
                    </a:p>
                  </a:txBody>
                  <a:tcPr marL="85725" marR="38100" marT="19050" marB="19050" anchor="ctr">
                    <a:solidFill>
                      <a:srgbClr val="FFFFFF"/>
                    </a:solidFill>
                  </a:tcPr>
                </a:tc>
                <a:tc>
                  <a:txBody>
                    <a:bodyPr wrap="none"/>
                    <a:lstStyle/>
                    <a:p>
                      <a:pPr algn="l"/>
                      <a:r>
                        <a:rPr sz="900" b="0">
                          <a:solidFill>
                            <a:srgbClr val="2E2E2E"/>
                          </a:solidFill>
                          <a:latin typeface="Calibri"/>
                        </a:rPr>
                        <a:t>831,259.29</a:t>
                      </a:r>
                    </a:p>
                  </a:txBody>
                  <a:tcPr marL="85725" marR="38100" marT="19050" marB="19050" anchor="ctr">
                    <a:solidFill>
                      <a:srgbClr val="FFFFFF"/>
                    </a:solidFill>
                  </a:tcPr>
                </a:tc>
                <a:tc>
                  <a:txBody>
                    <a:bodyPr wrap="none"/>
                    <a:lstStyle/>
                    <a:p>
                      <a:pPr algn="l"/>
                      <a:r>
                        <a:rPr sz="900" b="0">
                          <a:solidFill>
                            <a:srgbClr val="2E2E2E"/>
                          </a:solidFill>
                          <a:latin typeface="Calibri"/>
                        </a:rPr>
                        <a:t>850,689.95</a:t>
                      </a:r>
                    </a:p>
                  </a:txBody>
                  <a:tcPr marL="85725" marR="38100" marT="19050" marB="19050" anchor="ctr">
                    <a:solidFill>
                      <a:srgbClr val="FFFFFF"/>
                    </a:solidFill>
                  </a:tcPr>
                </a:tc>
                <a:tc>
                  <a:txBody>
                    <a:bodyPr wrap="none"/>
                    <a:lstStyle/>
                    <a:p>
                      <a:pPr algn="l"/>
                      <a:r>
                        <a:rPr sz="900" b="0">
                          <a:solidFill>
                            <a:srgbClr val="2E2E2E"/>
                          </a:solidFill>
                          <a:latin typeface="Calibri"/>
                        </a:rPr>
                        <a:t>903,225.92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775,378.01</a:t>
                      </a:r>
                    </a:p>
                  </a:txBody>
                  <a:tcPr marL="85725" marR="38100" marT="19050" marB="19050" anchor="ctr">
                    <a:solidFill>
                      <a:srgbClr val="F5F8FA"/>
                    </a:solidFill>
                  </a:tcPr>
                </a:tc>
                <a:tc>
                  <a:txBody>
                    <a:bodyPr wrap="none"/>
                    <a:lstStyle/>
                    <a:p>
                      <a:pPr algn="l"/>
                      <a:r>
                        <a:rPr sz="900" b="0">
                          <a:solidFill>
                            <a:srgbClr val="2E2E2E"/>
                          </a:solidFill>
                          <a:latin typeface="Calibri"/>
                        </a:rPr>
                        <a:t>778,196.45</a:t>
                      </a:r>
                    </a:p>
                  </a:txBody>
                  <a:tcPr marL="85725" marR="38100" marT="19050" marB="19050" anchor="ctr">
                    <a:solidFill>
                      <a:srgbClr val="F5F8FA"/>
                    </a:solidFill>
                  </a:tcPr>
                </a:tc>
                <a:tc>
                  <a:txBody>
                    <a:bodyPr wrap="none"/>
                    <a:lstStyle/>
                    <a:p>
                      <a:pPr algn="l"/>
                      <a:r>
                        <a:rPr sz="900" b="0">
                          <a:solidFill>
                            <a:srgbClr val="2E2E2E"/>
                          </a:solidFill>
                          <a:latin typeface="Calibri"/>
                        </a:rPr>
                        <a:t>797,488.47</a:t>
                      </a:r>
                    </a:p>
                  </a:txBody>
                  <a:tcPr marL="85725" marR="38100" marT="19050" marB="19050" anchor="ctr">
                    <a:solidFill>
                      <a:srgbClr val="F5F8FA"/>
                    </a:solidFill>
                  </a:tcPr>
                </a:tc>
                <a:tc>
                  <a:txBody>
                    <a:bodyPr wrap="none"/>
                    <a:lstStyle/>
                    <a:p>
                      <a:pPr algn="l"/>
                      <a:r>
                        <a:rPr sz="900" b="0">
                          <a:solidFill>
                            <a:srgbClr val="2E2E2E"/>
                          </a:solidFill>
                          <a:latin typeface="Calibri"/>
                        </a:rPr>
                        <a:t>849,367.75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918,038.83</a:t>
                      </a:r>
                    </a:p>
                  </a:txBody>
                  <a:tcPr marL="85725" marR="38100" marT="19050" marB="19050" anchor="ctr">
                    <a:solidFill>
                      <a:srgbClr val="FFFFFF"/>
                    </a:solidFill>
                  </a:tcPr>
                </a:tc>
                <a:tc>
                  <a:txBody>
                    <a:bodyPr wrap="none"/>
                    <a:lstStyle/>
                    <a:p>
                      <a:pPr algn="l"/>
                      <a:r>
                        <a:rPr sz="900" b="0">
                          <a:solidFill>
                            <a:srgbClr val="2E2E2E"/>
                          </a:solidFill>
                          <a:latin typeface="Calibri"/>
                        </a:rPr>
                        <a:t>920,361.04</a:t>
                      </a:r>
                    </a:p>
                  </a:txBody>
                  <a:tcPr marL="85725" marR="38100" marT="19050" marB="19050" anchor="ctr">
                    <a:solidFill>
                      <a:srgbClr val="FFFFFF"/>
                    </a:solidFill>
                  </a:tcPr>
                </a:tc>
                <a:tc>
                  <a:txBody>
                    <a:bodyPr wrap="none"/>
                    <a:lstStyle/>
                    <a:p>
                      <a:pPr algn="l"/>
                      <a:r>
                        <a:rPr sz="900" b="0">
                          <a:solidFill>
                            <a:srgbClr val="2E2E2E"/>
                          </a:solidFill>
                          <a:latin typeface="Calibri"/>
                        </a:rPr>
                        <a:t>941,799.65</a:t>
                      </a:r>
                    </a:p>
                  </a:txBody>
                  <a:tcPr marL="85725" marR="38100" marT="19050" marB="19050" anchor="ctr">
                    <a:solidFill>
                      <a:srgbClr val="FFFFFF"/>
                    </a:solidFill>
                  </a:tcPr>
                </a:tc>
                <a:tc>
                  <a:txBody>
                    <a:bodyPr wrap="none"/>
                    <a:lstStyle/>
                    <a:p>
                      <a:pPr algn="l"/>
                      <a:r>
                        <a:rPr sz="900" b="0">
                          <a:solidFill>
                            <a:srgbClr val="2E2E2E"/>
                          </a:solidFill>
                          <a:latin typeface="Calibri"/>
                        </a:rPr>
                        <a:t>1,000,453.09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Eastern Europe</a:t>
                      </a:r>
                    </a:p>
                  </a:txBody>
                  <a:tcPr marL="85725" marR="38100" marT="19050" marB="19050" anchor="ctr">
                    <a:solidFill>
                      <a:srgbClr val="F5F8FA"/>
                    </a:solidFill>
                  </a:tcPr>
                </a:tc>
                <a:tc>
                  <a:txBody>
                    <a:bodyPr wrap="none"/>
                    <a:lstStyle/>
                    <a:p>
                      <a:pPr algn="l"/>
                      <a:r>
                        <a:rPr sz="900" b="0">
                          <a:solidFill>
                            <a:srgbClr val="2E2E2E"/>
                          </a:solidFill>
                          <a:latin typeface="Calibri"/>
                        </a:rPr>
                        <a:t>764,059.05</a:t>
                      </a:r>
                    </a:p>
                  </a:txBody>
                  <a:tcPr marL="85725" marR="38100" marT="19050" marB="19050" anchor="ctr">
                    <a:solidFill>
                      <a:srgbClr val="F5F8FA"/>
                    </a:solidFill>
                  </a:tcPr>
                </a:tc>
                <a:tc>
                  <a:txBody>
                    <a:bodyPr wrap="none"/>
                    <a:lstStyle/>
                    <a:p>
                      <a:pPr algn="l"/>
                      <a:r>
                        <a:rPr sz="900" b="0">
                          <a:solidFill>
                            <a:srgbClr val="2E2E2E"/>
                          </a:solidFill>
                          <a:latin typeface="Calibri"/>
                        </a:rPr>
                        <a:t>767,006.34</a:t>
                      </a:r>
                    </a:p>
                  </a:txBody>
                  <a:tcPr marL="85725" marR="38100" marT="19050" marB="19050" anchor="ctr">
                    <a:solidFill>
                      <a:srgbClr val="F5F8FA"/>
                    </a:solidFill>
                  </a:tcPr>
                </a:tc>
                <a:tc>
                  <a:txBody>
                    <a:bodyPr wrap="none"/>
                    <a:lstStyle/>
                    <a:p>
                      <a:pPr algn="l"/>
                      <a:r>
                        <a:rPr sz="900" b="0">
                          <a:solidFill>
                            <a:srgbClr val="2E2E2E"/>
                          </a:solidFill>
                          <a:latin typeface="Calibri"/>
                        </a:rPr>
                        <a:t>784,946.77</a:t>
                      </a:r>
                    </a:p>
                  </a:txBody>
                  <a:tcPr marL="85725" marR="38100" marT="19050" marB="19050" anchor="ctr">
                    <a:solidFill>
                      <a:srgbClr val="F5F8FA"/>
                    </a:solidFill>
                  </a:tcPr>
                </a:tc>
                <a:tc>
                  <a:txBody>
                    <a:bodyPr wrap="none"/>
                    <a:lstStyle/>
                    <a:p>
                      <a:pPr algn="l"/>
                      <a:r>
                        <a:rPr sz="900" b="0">
                          <a:solidFill>
                            <a:srgbClr val="2E2E2E"/>
                          </a:solidFill>
                          <a:latin typeface="Calibri"/>
                        </a:rPr>
                        <a:t>833,971.92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FFFFF"/>
                    </a:solidFill>
                  </a:tcPr>
                </a:tc>
                <a:tc>
                  <a:txBody>
                    <a:bodyPr wrap="none"/>
                    <a:lstStyle/>
                    <a:p>
                      <a:pPr algn="l"/>
                      <a:r>
                        <a:rPr sz="900" b="0">
                          <a:solidFill>
                            <a:srgbClr val="2E2E2E"/>
                          </a:solidFill>
                          <a:latin typeface="Calibri"/>
                        </a:rPr>
                        <a:t>746,629.00</a:t>
                      </a:r>
                    </a:p>
                  </a:txBody>
                  <a:tcPr marL="85725" marR="38100" marT="19050" marB="19050" anchor="ctr">
                    <a:solidFill>
                      <a:srgbClr val="FFFFFF"/>
                    </a:solidFill>
                  </a:tcPr>
                </a:tc>
                <a:tc>
                  <a:txBody>
                    <a:bodyPr wrap="none"/>
                    <a:lstStyle/>
                    <a:p>
                      <a:pPr algn="l"/>
                      <a:r>
                        <a:rPr sz="900" b="0">
                          <a:solidFill>
                            <a:srgbClr val="2E2E2E"/>
                          </a:solidFill>
                          <a:latin typeface="Calibri"/>
                        </a:rPr>
                        <a:t>745,389.74</a:t>
                      </a:r>
                    </a:p>
                  </a:txBody>
                  <a:tcPr marL="85725" marR="38100" marT="19050" marB="19050" anchor="ctr">
                    <a:solidFill>
                      <a:srgbClr val="FFFFFF"/>
                    </a:solidFill>
                  </a:tcPr>
                </a:tc>
                <a:tc>
                  <a:txBody>
                    <a:bodyPr wrap="none"/>
                    <a:lstStyle/>
                    <a:p>
                      <a:pPr algn="l"/>
                      <a:r>
                        <a:rPr sz="900" b="0">
                          <a:solidFill>
                            <a:srgbClr val="2E2E2E"/>
                          </a:solidFill>
                          <a:latin typeface="Calibri"/>
                        </a:rPr>
                        <a:t>759,695.89</a:t>
                      </a:r>
                    </a:p>
                  </a:txBody>
                  <a:tcPr marL="85725" marR="38100" marT="19050" marB="19050" anchor="ctr">
                    <a:solidFill>
                      <a:srgbClr val="FFFFFF"/>
                    </a:solidFill>
                  </a:tcPr>
                </a:tc>
                <a:tc>
                  <a:txBody>
                    <a:bodyPr wrap="none"/>
                    <a:lstStyle/>
                    <a:p>
                      <a:pPr algn="l"/>
                      <a:r>
                        <a:rPr sz="900" b="0">
                          <a:solidFill>
                            <a:srgbClr val="2E2E2E"/>
                          </a:solidFill>
                          <a:latin typeface="Calibri"/>
                        </a:rPr>
                        <a:t>802,843.15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900" b="0">
                          <a:solidFill>
                            <a:srgbClr val="2E2E2E"/>
                          </a:solidFill>
                          <a:latin typeface="Calibri"/>
                        </a:rPr>
                        <a:t>717,681.04</a:t>
                      </a:r>
                    </a:p>
                  </a:txBody>
                  <a:tcPr marL="85725" marR="38100" marT="19050" marB="19050" anchor="ctr">
                    <a:solidFill>
                      <a:srgbClr val="F5F8FA"/>
                    </a:solidFill>
                  </a:tcPr>
                </a:tc>
                <a:tc>
                  <a:txBody>
                    <a:bodyPr wrap="none"/>
                    <a:lstStyle/>
                    <a:p>
                      <a:pPr algn="l"/>
                      <a:r>
                        <a:rPr sz="900" b="0">
                          <a:solidFill>
                            <a:srgbClr val="2E2E2E"/>
                          </a:solidFill>
                          <a:latin typeface="Calibri"/>
                        </a:rPr>
                        <a:t>716,771.46</a:t>
                      </a:r>
                    </a:p>
                  </a:txBody>
                  <a:tcPr marL="85725" marR="38100" marT="19050" marB="19050" anchor="ctr">
                    <a:solidFill>
                      <a:srgbClr val="F5F8FA"/>
                    </a:solidFill>
                  </a:tcPr>
                </a:tc>
                <a:tc>
                  <a:txBody>
                    <a:bodyPr wrap="none"/>
                    <a:lstStyle/>
                    <a:p>
                      <a:pPr algn="l"/>
                      <a:r>
                        <a:rPr sz="900" b="0">
                          <a:solidFill>
                            <a:srgbClr val="2E2E2E"/>
                          </a:solidFill>
                          <a:latin typeface="Calibri"/>
                        </a:rPr>
                        <a:t>729,982.44</a:t>
                      </a:r>
                    </a:p>
                  </a:txBody>
                  <a:tcPr marL="85725" marR="38100" marT="19050" marB="19050" anchor="ctr">
                    <a:solidFill>
                      <a:srgbClr val="F5F8FA"/>
                    </a:solidFill>
                  </a:tcPr>
                </a:tc>
                <a:tc>
                  <a:txBody>
                    <a:bodyPr wrap="none"/>
                    <a:lstStyle/>
                    <a:p>
                      <a:pPr algn="l"/>
                      <a:r>
                        <a:rPr sz="900" b="0">
                          <a:solidFill>
                            <a:srgbClr val="2E2E2E"/>
                          </a:solidFill>
                          <a:latin typeface="Calibri"/>
                        </a:rPr>
                        <a:t>770,685.74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900" b="0">
                          <a:solidFill>
                            <a:srgbClr val="2E2E2E"/>
                          </a:solidFill>
                          <a:latin typeface="Calibri"/>
                        </a:rPr>
                        <a:t>802,625.59</a:t>
                      </a:r>
                    </a:p>
                  </a:txBody>
                  <a:tcPr marL="85725" marR="38100" marT="19050" marB="19050" anchor="ctr">
                    <a:solidFill>
                      <a:srgbClr val="FFFFFF"/>
                    </a:solidFill>
                  </a:tcPr>
                </a:tc>
                <a:tc>
                  <a:txBody>
                    <a:bodyPr wrap="none"/>
                    <a:lstStyle/>
                    <a:p>
                      <a:pPr algn="l"/>
                      <a:r>
                        <a:rPr sz="900" b="0">
                          <a:solidFill>
                            <a:srgbClr val="2E2E2E"/>
                          </a:solidFill>
                          <a:latin typeface="Calibri"/>
                        </a:rPr>
                        <a:t>804,854.79</a:t>
                      </a:r>
                    </a:p>
                  </a:txBody>
                  <a:tcPr marL="85725" marR="38100" marT="19050" marB="19050" anchor="ctr">
                    <a:solidFill>
                      <a:srgbClr val="FFFFFF"/>
                    </a:solidFill>
                  </a:tcPr>
                </a:tc>
                <a:tc>
                  <a:txBody>
                    <a:bodyPr wrap="none"/>
                    <a:lstStyle/>
                    <a:p>
                      <a:pPr algn="l"/>
                      <a:r>
                        <a:rPr sz="900" b="0">
                          <a:solidFill>
                            <a:srgbClr val="2E2E2E"/>
                          </a:solidFill>
                          <a:latin typeface="Calibri"/>
                        </a:rPr>
                        <a:t>824,623.79</a:t>
                      </a:r>
                    </a:p>
                  </a:txBody>
                  <a:tcPr marL="85725" marR="38100" marT="19050" marB="19050" anchor="ctr">
                    <a:solidFill>
                      <a:srgbClr val="FFFFFF"/>
                    </a:solidFill>
                  </a:tcPr>
                </a:tc>
                <a:tc>
                  <a:txBody>
                    <a:bodyPr wrap="none"/>
                    <a:lstStyle/>
                    <a:p>
                      <a:pPr algn="l"/>
                      <a:r>
                        <a:rPr sz="900" b="0">
                          <a:solidFill>
                            <a:srgbClr val="2E2E2E"/>
                          </a:solidFill>
                          <a:latin typeface="Calibri"/>
                        </a:rPr>
                        <a:t>877,239.24</a:t>
                      </a:r>
                    </a:p>
                  </a:txBody>
                  <a:tcPr marL="85725" marR="38100" marT="19050" marB="19050" anchor="ctr">
                    <a:solidFill>
                      <a:srgbClr val="FFFFFF"/>
                    </a:solidFill>
                  </a:tcPr>
                </a:tc>
              </a:tr>
            </a:tbl>
          </a:graphicData>
        </a:graphic>
      </p:graphicFrame>
      <p:sp>
        <p:nvSpPr>
          <p:cNvPr id="19" name="TextBox 18"/>
          <p:cNvSpPr txBox="1"/>
          <p:nvPr/>
        </p:nvSpPr>
        <p:spPr>
          <a:xfrm>
            <a:off x="6276975" y="389572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ounded Rectangle 19"/>
          <p:cNvSpPr/>
          <p:nvPr/>
        </p:nvSpPr>
        <p:spPr>
          <a:xfrm>
            <a:off x="142875" y="4191000"/>
            <a:ext cx="11906250" cy="2457450"/>
          </a:xfrm>
          <a:prstGeom prst="roundRect">
            <a:avLst>
              <a:gd name="adj" fmla="val 31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276725"/>
            <a:ext cx="11639550" cy="209550"/>
          </a:xfrm>
          <a:prstGeom prst="rect">
            <a:avLst/>
          </a:prstGeom>
          <a:noFill/>
        </p:spPr>
        <p:txBody>
          <a:bodyPr wrap="square" lIns="0" rIns="19050" tIns="9525" bIns="9525">
            <a:spAutoFit/>
          </a:bodyPr>
          <a:lstStyle/>
          <a:p>
            <a:pPr algn="l"/>
            <a:r>
              <a:rPr sz="1300" b="1">
                <a:solidFill>
                  <a:srgbClr val="0B2E4A"/>
                </a:solidFill>
                <a:latin typeface="Calibri"/>
              </a:rPr>
              <a:t>What This Section Covers</a:t>
            </a:r>
          </a:p>
        </p:txBody>
      </p:sp>
      <p:sp>
        <p:nvSpPr>
          <p:cNvPr id="22" name="Rectangle 21"/>
          <p:cNvSpPr/>
          <p:nvPr/>
        </p:nvSpPr>
        <p:spPr>
          <a:xfrm>
            <a:off x="276225" y="45148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600575"/>
            <a:ext cx="11639550" cy="19716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Manufacturer-level pricing ex-works / producer price benchmarked for each geography.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Distribution &amp; channel pricing logistics and channel margin layered onto the producer price.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Retail / end-market pricing the average price paid by the end customer across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Value-chain margin build-up cumulative margin from manufacturer to retail, by geography (prices derived as Value ÷ Volume).</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Global Pricing Benchmarking</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Benchmarking of price range by region and sub-segment against the weighted average price of each region</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Development-stage price assumptions and manufacturer benchmarking price range by product type type and region (US$/Units).</a:t>
            </a:r>
          </a:p>
        </p:txBody>
      </p:sp>
      <p:sp>
        <p:nvSpPr>
          <p:cNvPr id="12" name="Rounded Rectangle 11"/>
          <p:cNvSpPr/>
          <p:nvPr/>
        </p:nvSpPr>
        <p:spPr>
          <a:xfrm>
            <a:off x="142875" y="1181100"/>
            <a:ext cx="11906250" cy="3810000"/>
          </a:xfrm>
          <a:prstGeom prst="roundRect">
            <a:avLst>
              <a:gd name="adj" fmla="val 2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382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Benchmarking by Region &amp; Product Type (US$/Units)</a:t>
            </a:r>
          </a:p>
        </p:txBody>
      </p:sp>
      <p:graphicFrame>
        <p:nvGraphicFramePr>
          <p:cNvPr id="14" name="Table 13"/>
          <p:cNvGraphicFramePr>
            <a:graphicFrameLocks noGrp="1"/>
          </p:cNvGraphicFramePr>
          <p:nvPr/>
        </p:nvGraphicFramePr>
        <p:xfrm>
          <a:off x="238125" y="1466850"/>
          <a:ext cx="11715750" cy="1447800"/>
        </p:xfrm>
        <a:graphic>
          <a:graphicData uri="http://schemas.openxmlformats.org/drawingml/2006/table">
            <a:tbl>
              <a:tblPr>
                <a:tableStyleId>{5C22544A-7EE6-4342-B048-85BDC9FD1C3A}</a:tableStyleId>
              </a:tblPr>
              <a:tblGrid>
                <a:gridCol w="3514725"/>
                <a:gridCol w="1640205"/>
                <a:gridCol w="1640205"/>
                <a:gridCol w="1640205"/>
                <a:gridCol w="1640205"/>
                <a:gridCol w="1640205"/>
              </a:tblGrid>
              <a:tr h="180975">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Capillary Blood Collection Containers</a:t>
                      </a:r>
                    </a:p>
                  </a:txBody>
                  <a:tcPr marL="85725" marR="38100" marT="19050" marB="19050" anchor="ctr">
                    <a:solidFill>
                      <a:srgbClr val="E0E8EF"/>
                    </a:solidFill>
                  </a:tcPr>
                </a:tc>
                <a:tc>
                  <a:txBody>
                    <a:bodyPr wrap="none"/>
                    <a:lstStyle/>
                    <a:p>
                      <a:pPr algn="l"/>
                      <a:r>
                        <a:rPr sz="900" b="1">
                          <a:solidFill>
                            <a:srgbClr val="0B2E4A"/>
                          </a:solidFill>
                          <a:latin typeface="Calibri"/>
                        </a:rPr>
                        <a:t>Blood Collection Lancets</a:t>
                      </a:r>
                    </a:p>
                  </a:txBody>
                  <a:tcPr marL="85725" marR="38100" marT="19050" marB="19050" anchor="ctr">
                    <a:solidFill>
                      <a:srgbClr val="E0E8EF"/>
                    </a:solidFill>
                  </a:tcPr>
                </a:tc>
                <a:tc>
                  <a:txBody>
                    <a:bodyPr wrap="none"/>
                    <a:lstStyle/>
                    <a:p>
                      <a:pPr algn="l"/>
                      <a:r>
                        <a:rPr sz="900" b="1">
                          <a:solidFill>
                            <a:srgbClr val="0B2E4A"/>
                          </a:solidFill>
                          <a:latin typeface="Calibri"/>
                        </a:rPr>
                        <a:t>Integrated Capillary Blood Collection Devices</a:t>
                      </a:r>
                    </a:p>
                  </a:txBody>
                  <a:tcPr marL="85725" marR="38100" marT="19050" marB="19050" anchor="ctr">
                    <a:solidFill>
                      <a:srgbClr val="E0E8EF"/>
                    </a:solidFill>
                  </a:tcPr>
                </a:tc>
                <a:tc>
                  <a:txBody>
                    <a:bodyPr wrap="none"/>
                    <a:lstStyle/>
                    <a:p>
                      <a:pPr algn="l"/>
                      <a:r>
                        <a:rPr sz="900" b="1">
                          <a:solidFill>
                            <a:srgbClr val="0B2E4A"/>
                          </a:solidFill>
                          <a:latin typeface="Calibri"/>
                        </a:rPr>
                        <a:t>Dried Blood Spot Collection Products</a:t>
                      </a:r>
                    </a:p>
                  </a:txBody>
                  <a:tcPr marL="85725" marR="38100" marT="19050" marB="19050" anchor="ctr">
                    <a:solidFill>
                      <a:srgbClr val="E0E8EF"/>
                    </a:solidFill>
                  </a:tcPr>
                </a:tc>
                <a:tc>
                  <a:txBody>
                    <a:bodyPr wrap="none"/>
                    <a:lstStyle/>
                    <a:p>
                      <a:pPr algn="l"/>
                      <a:r>
                        <a:rPr sz="900" b="1">
                          <a:solidFill>
                            <a:srgbClr val="0B2E4A"/>
                          </a:solidFill>
                          <a:latin typeface="Calibri"/>
                        </a:rPr>
                        <a:t>Weighted Avg</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820,162.43–836,731.37</a:t>
                      </a:r>
                    </a:p>
                  </a:txBody>
                  <a:tcPr marL="85725" marR="38100" marT="19050" marB="19050" anchor="ctr">
                    <a:solidFill>
                      <a:srgbClr val="FFFFFF"/>
                    </a:solidFill>
                  </a:tcPr>
                </a:tc>
                <a:tc>
                  <a:txBody>
                    <a:bodyPr wrap="none"/>
                    <a:lstStyle/>
                    <a:p>
                      <a:pPr algn="l"/>
                      <a:r>
                        <a:rPr sz="900" b="0">
                          <a:solidFill>
                            <a:srgbClr val="2E2E2E"/>
                          </a:solidFill>
                          <a:latin typeface="Calibri"/>
                        </a:rPr>
                        <a:t>820,517.41–837,093.52</a:t>
                      </a:r>
                    </a:p>
                  </a:txBody>
                  <a:tcPr marL="85725" marR="38100" marT="19050" marB="19050" anchor="ctr">
                    <a:solidFill>
                      <a:srgbClr val="FFFFFF"/>
                    </a:solidFill>
                  </a:tcPr>
                </a:tc>
                <a:tc>
                  <a:txBody>
                    <a:bodyPr wrap="none"/>
                    <a:lstStyle/>
                    <a:p>
                      <a:pPr algn="l"/>
                      <a:r>
                        <a:rPr sz="900" b="0">
                          <a:solidFill>
                            <a:srgbClr val="2E2E2E"/>
                          </a:solidFill>
                          <a:latin typeface="Calibri"/>
                        </a:rPr>
                        <a:t>818,876.67–835,419.63</a:t>
                      </a:r>
                    </a:p>
                  </a:txBody>
                  <a:tcPr marL="85725" marR="38100" marT="19050" marB="19050" anchor="ctr">
                    <a:solidFill>
                      <a:srgbClr val="FFFFFF"/>
                    </a:solidFill>
                  </a:tcPr>
                </a:tc>
                <a:tc>
                  <a:txBody>
                    <a:bodyPr wrap="none"/>
                    <a:lstStyle/>
                    <a:p>
                      <a:pPr algn="l"/>
                      <a:r>
                        <a:rPr sz="900" b="0">
                          <a:solidFill>
                            <a:srgbClr val="2E2E2E"/>
                          </a:solidFill>
                          <a:latin typeface="Calibri"/>
                        </a:rPr>
                        <a:t>819,525.87–836,081.95</a:t>
                      </a:r>
                    </a:p>
                  </a:txBody>
                  <a:tcPr marL="85725" marR="38100" marT="19050" marB="19050" anchor="ctr">
                    <a:solidFill>
                      <a:srgbClr val="FFFFFF"/>
                    </a:solidFill>
                  </a:tcPr>
                </a:tc>
                <a:tc>
                  <a:txBody>
                    <a:bodyPr wrap="none"/>
                    <a:lstStyle/>
                    <a:p>
                      <a:pPr algn="l"/>
                      <a:r>
                        <a:rPr sz="900" b="0">
                          <a:solidFill>
                            <a:srgbClr val="2E2E2E"/>
                          </a:solidFill>
                          <a:latin typeface="Calibri"/>
                        </a:rPr>
                        <a:t>828,430.65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767,033.91–782,529.55</a:t>
                      </a:r>
                    </a:p>
                  </a:txBody>
                  <a:tcPr marL="85725" marR="38100" marT="19050" marB="19050" anchor="ctr">
                    <a:solidFill>
                      <a:srgbClr val="F5F8FA"/>
                    </a:solidFill>
                  </a:tcPr>
                </a:tc>
                <a:tc>
                  <a:txBody>
                    <a:bodyPr wrap="none"/>
                    <a:lstStyle/>
                    <a:p>
                      <a:pPr algn="l"/>
                      <a:r>
                        <a:rPr sz="900" b="0">
                          <a:solidFill>
                            <a:srgbClr val="2E2E2E"/>
                          </a:solidFill>
                          <a:latin typeface="Calibri"/>
                        </a:rPr>
                        <a:t>768,481.65–784,006.54</a:t>
                      </a:r>
                    </a:p>
                  </a:txBody>
                  <a:tcPr marL="85725" marR="38100" marT="19050" marB="19050" anchor="ctr">
                    <a:solidFill>
                      <a:srgbClr val="F5F8FA"/>
                    </a:solidFill>
                  </a:tcPr>
                </a:tc>
                <a:tc>
                  <a:txBody>
                    <a:bodyPr wrap="none"/>
                    <a:lstStyle/>
                    <a:p>
                      <a:pPr algn="l"/>
                      <a:r>
                        <a:rPr sz="900" b="0">
                          <a:solidFill>
                            <a:srgbClr val="2E2E2E"/>
                          </a:solidFill>
                          <a:latin typeface="Calibri"/>
                        </a:rPr>
                        <a:t>767,024.75–782,520.20</a:t>
                      </a:r>
                    </a:p>
                  </a:txBody>
                  <a:tcPr marL="85725" marR="38100" marT="19050" marB="19050" anchor="ctr">
                    <a:solidFill>
                      <a:srgbClr val="F5F8FA"/>
                    </a:solidFill>
                  </a:tcPr>
                </a:tc>
                <a:tc>
                  <a:txBody>
                    <a:bodyPr wrap="none"/>
                    <a:lstStyle/>
                    <a:p>
                      <a:pPr algn="l"/>
                      <a:r>
                        <a:rPr sz="900" b="0">
                          <a:solidFill>
                            <a:srgbClr val="2E2E2E"/>
                          </a:solidFill>
                          <a:latin typeface="Calibri"/>
                        </a:rPr>
                        <a:t>767,817.25–783,328.71</a:t>
                      </a:r>
                    </a:p>
                  </a:txBody>
                  <a:tcPr marL="85725" marR="38100" marT="19050" marB="19050" anchor="ctr">
                    <a:solidFill>
                      <a:srgbClr val="F5F8FA"/>
                    </a:solidFill>
                  </a:tcPr>
                </a:tc>
                <a:tc>
                  <a:txBody>
                    <a:bodyPr wrap="none"/>
                    <a:lstStyle/>
                    <a:p>
                      <a:pPr algn="l"/>
                      <a:r>
                        <a:rPr sz="900" b="0">
                          <a:solidFill>
                            <a:srgbClr val="2E2E2E"/>
                          </a:solidFill>
                          <a:latin typeface="Calibri"/>
                        </a:rPr>
                        <a:t>775,378.01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908,928.27–927,290.46</a:t>
                      </a:r>
                    </a:p>
                  </a:txBody>
                  <a:tcPr marL="85725" marR="38100" marT="19050" marB="19050" anchor="ctr">
                    <a:solidFill>
                      <a:srgbClr val="FFFFFF"/>
                    </a:solidFill>
                  </a:tcPr>
                </a:tc>
                <a:tc>
                  <a:txBody>
                    <a:bodyPr wrap="none"/>
                    <a:lstStyle/>
                    <a:p>
                      <a:pPr algn="l"/>
                      <a:r>
                        <a:rPr sz="900" b="0">
                          <a:solidFill>
                            <a:srgbClr val="2E2E2E"/>
                          </a:solidFill>
                          <a:latin typeface="Calibri"/>
                        </a:rPr>
                        <a:t>908,842.61–927,203.06</a:t>
                      </a:r>
                    </a:p>
                  </a:txBody>
                  <a:tcPr marL="85725" marR="38100" marT="19050" marB="19050" anchor="ctr">
                    <a:solidFill>
                      <a:srgbClr val="FFFFFF"/>
                    </a:solidFill>
                  </a:tcPr>
                </a:tc>
                <a:tc>
                  <a:txBody>
                    <a:bodyPr wrap="none"/>
                    <a:lstStyle/>
                    <a:p>
                      <a:pPr algn="l"/>
                      <a:r>
                        <a:rPr sz="900" b="0">
                          <a:solidFill>
                            <a:srgbClr val="2E2E2E"/>
                          </a:solidFill>
                          <a:latin typeface="Calibri"/>
                        </a:rPr>
                        <a:t>908,446.65–926,799.10</a:t>
                      </a:r>
                    </a:p>
                  </a:txBody>
                  <a:tcPr marL="85725" marR="38100" marT="19050" marB="19050" anchor="ctr">
                    <a:solidFill>
                      <a:srgbClr val="FFFFFF"/>
                    </a:solidFill>
                  </a:tcPr>
                </a:tc>
                <a:tc>
                  <a:txBody>
                    <a:bodyPr wrap="none"/>
                    <a:lstStyle/>
                    <a:p>
                      <a:pPr algn="l"/>
                      <a:r>
                        <a:rPr sz="900" b="0">
                          <a:solidFill>
                            <a:srgbClr val="2E2E2E"/>
                          </a:solidFill>
                          <a:latin typeface="Calibri"/>
                        </a:rPr>
                        <a:t>908,984.92–927,348.25</a:t>
                      </a:r>
                    </a:p>
                  </a:txBody>
                  <a:tcPr marL="85725" marR="38100" marT="19050" marB="19050" anchor="ctr">
                    <a:solidFill>
                      <a:srgbClr val="FFFFFF"/>
                    </a:solidFill>
                  </a:tcPr>
                </a:tc>
                <a:tc>
                  <a:txBody>
                    <a:bodyPr wrap="none"/>
                    <a:lstStyle/>
                    <a:p>
                      <a:pPr algn="l"/>
                      <a:r>
                        <a:rPr sz="900" b="0">
                          <a:solidFill>
                            <a:srgbClr val="2E2E2E"/>
                          </a:solidFill>
                          <a:latin typeface="Calibri"/>
                        </a:rPr>
                        <a:t>918,038.83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Eastern Europe</a:t>
                      </a:r>
                    </a:p>
                  </a:txBody>
                  <a:tcPr marL="85725" marR="38100" marT="19050" marB="19050" anchor="ctr">
                    <a:solidFill>
                      <a:srgbClr val="F5F8FA"/>
                    </a:solidFill>
                  </a:tcPr>
                </a:tc>
                <a:tc>
                  <a:txBody>
                    <a:bodyPr wrap="none"/>
                    <a:lstStyle/>
                    <a:p>
                      <a:pPr algn="l"/>
                      <a:r>
                        <a:rPr sz="900" b="0">
                          <a:solidFill>
                            <a:srgbClr val="2E2E2E"/>
                          </a:solidFill>
                          <a:latin typeface="Calibri"/>
                        </a:rPr>
                        <a:t>756,996.13–772,288.99</a:t>
                      </a:r>
                    </a:p>
                  </a:txBody>
                  <a:tcPr marL="85725" marR="38100" marT="19050" marB="19050" anchor="ctr">
                    <a:solidFill>
                      <a:srgbClr val="F5F8FA"/>
                    </a:solidFill>
                  </a:tcPr>
                </a:tc>
                <a:tc>
                  <a:txBody>
                    <a:bodyPr wrap="none"/>
                    <a:lstStyle/>
                    <a:p>
                      <a:pPr algn="l"/>
                      <a:r>
                        <a:rPr sz="900" b="0">
                          <a:solidFill>
                            <a:srgbClr val="2E2E2E"/>
                          </a:solidFill>
                          <a:latin typeface="Calibri"/>
                        </a:rPr>
                        <a:t>755,738.44–771,005.89</a:t>
                      </a:r>
                    </a:p>
                  </a:txBody>
                  <a:tcPr marL="85725" marR="38100" marT="19050" marB="19050" anchor="ctr">
                    <a:solidFill>
                      <a:srgbClr val="F5F8FA"/>
                    </a:solidFill>
                  </a:tcPr>
                </a:tc>
                <a:tc>
                  <a:txBody>
                    <a:bodyPr wrap="none"/>
                    <a:lstStyle/>
                    <a:p>
                      <a:pPr algn="l"/>
                      <a:r>
                        <a:rPr sz="900" b="0">
                          <a:solidFill>
                            <a:srgbClr val="2E2E2E"/>
                          </a:solidFill>
                          <a:latin typeface="Calibri"/>
                        </a:rPr>
                        <a:t>756,726.52–772,013.92</a:t>
                      </a:r>
                    </a:p>
                  </a:txBody>
                  <a:tcPr marL="85725" marR="38100" marT="19050" marB="19050" anchor="ctr">
                    <a:solidFill>
                      <a:srgbClr val="F5F8FA"/>
                    </a:solidFill>
                  </a:tcPr>
                </a:tc>
                <a:tc>
                  <a:txBody>
                    <a:bodyPr wrap="none"/>
                    <a:lstStyle/>
                    <a:p>
                      <a:pPr algn="l"/>
                      <a:r>
                        <a:rPr sz="900" b="0">
                          <a:solidFill>
                            <a:srgbClr val="2E2E2E"/>
                          </a:solidFill>
                          <a:latin typeface="Calibri"/>
                        </a:rPr>
                        <a:t>756,022.47–771,295.66</a:t>
                      </a:r>
                    </a:p>
                  </a:txBody>
                  <a:tcPr marL="85725" marR="38100" marT="19050" marB="19050" anchor="ctr">
                    <a:solidFill>
                      <a:srgbClr val="F5F8FA"/>
                    </a:solidFill>
                  </a:tcPr>
                </a:tc>
                <a:tc>
                  <a:txBody>
                    <a:bodyPr wrap="none"/>
                    <a:lstStyle/>
                    <a:p>
                      <a:pPr algn="l"/>
                      <a:r>
                        <a:rPr sz="900" b="0">
                          <a:solidFill>
                            <a:srgbClr val="2E2E2E"/>
                          </a:solidFill>
                          <a:latin typeface="Calibri"/>
                        </a:rPr>
                        <a:t>764,059.05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FFFFF"/>
                    </a:solidFill>
                  </a:tcPr>
                </a:tc>
                <a:tc>
                  <a:txBody>
                    <a:bodyPr wrap="none"/>
                    <a:lstStyle/>
                    <a:p>
                      <a:pPr algn="l"/>
                      <a:r>
                        <a:rPr sz="900" b="0">
                          <a:solidFill>
                            <a:srgbClr val="2E2E2E"/>
                          </a:solidFill>
                          <a:latin typeface="Calibri"/>
                        </a:rPr>
                        <a:t>739,112.13–754,043.69</a:t>
                      </a:r>
                    </a:p>
                  </a:txBody>
                  <a:tcPr marL="85725" marR="38100" marT="19050" marB="19050" anchor="ctr">
                    <a:solidFill>
                      <a:srgbClr val="FFFFFF"/>
                    </a:solidFill>
                  </a:tcPr>
                </a:tc>
                <a:tc>
                  <a:txBody>
                    <a:bodyPr wrap="none"/>
                    <a:lstStyle/>
                    <a:p>
                      <a:pPr algn="l"/>
                      <a:r>
                        <a:rPr sz="900" b="0">
                          <a:solidFill>
                            <a:srgbClr val="2E2E2E"/>
                          </a:solidFill>
                          <a:latin typeface="Calibri"/>
                        </a:rPr>
                        <a:t>738,538.13–753,458.09</a:t>
                      </a:r>
                    </a:p>
                  </a:txBody>
                  <a:tcPr marL="85725" marR="38100" marT="19050" marB="19050" anchor="ctr">
                    <a:solidFill>
                      <a:srgbClr val="FFFFFF"/>
                    </a:solidFill>
                  </a:tcPr>
                </a:tc>
                <a:tc>
                  <a:txBody>
                    <a:bodyPr wrap="none"/>
                    <a:lstStyle/>
                    <a:p>
                      <a:pPr algn="l"/>
                      <a:r>
                        <a:rPr sz="900" b="0">
                          <a:solidFill>
                            <a:srgbClr val="2E2E2E"/>
                          </a:solidFill>
                          <a:latin typeface="Calibri"/>
                        </a:rPr>
                        <a:t>742,770.01–757,775.46</a:t>
                      </a:r>
                    </a:p>
                  </a:txBody>
                  <a:tcPr marL="85725" marR="38100" marT="19050" marB="19050" anchor="ctr">
                    <a:solidFill>
                      <a:srgbClr val="FFFFFF"/>
                    </a:solidFill>
                  </a:tcPr>
                </a:tc>
                <a:tc>
                  <a:txBody>
                    <a:bodyPr wrap="none"/>
                    <a:lstStyle/>
                    <a:p>
                      <a:pPr algn="l"/>
                      <a:r>
                        <a:rPr sz="900" b="0">
                          <a:solidFill>
                            <a:srgbClr val="2E2E2E"/>
                          </a:solidFill>
                          <a:latin typeface="Calibri"/>
                        </a:rPr>
                        <a:t>738,379.09–753,295.84</a:t>
                      </a:r>
                    </a:p>
                  </a:txBody>
                  <a:tcPr marL="85725" marR="38100" marT="19050" marB="19050" anchor="ctr">
                    <a:solidFill>
                      <a:srgbClr val="FFFFFF"/>
                    </a:solidFill>
                  </a:tcPr>
                </a:tc>
                <a:tc>
                  <a:txBody>
                    <a:bodyPr wrap="none"/>
                    <a:lstStyle/>
                    <a:p>
                      <a:pPr algn="l"/>
                      <a:r>
                        <a:rPr sz="900" b="0">
                          <a:solidFill>
                            <a:srgbClr val="2E2E2E"/>
                          </a:solidFill>
                          <a:latin typeface="Calibri"/>
                        </a:rPr>
                        <a:t>746,629.00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900" b="0">
                          <a:solidFill>
                            <a:srgbClr val="2E2E2E"/>
                          </a:solidFill>
                          <a:latin typeface="Calibri"/>
                        </a:rPr>
                        <a:t>709,511.42–723,844.98</a:t>
                      </a:r>
                    </a:p>
                  </a:txBody>
                  <a:tcPr marL="85725" marR="38100" marT="19050" marB="19050" anchor="ctr">
                    <a:solidFill>
                      <a:srgbClr val="F5F8FA"/>
                    </a:solidFill>
                  </a:tcPr>
                </a:tc>
                <a:tc>
                  <a:txBody>
                    <a:bodyPr wrap="none"/>
                    <a:lstStyle/>
                    <a:p>
                      <a:pPr algn="l"/>
                      <a:r>
                        <a:rPr sz="900" b="0">
                          <a:solidFill>
                            <a:srgbClr val="2E2E2E"/>
                          </a:solidFill>
                          <a:latin typeface="Calibri"/>
                        </a:rPr>
                        <a:t>711,234.98–725,603.36</a:t>
                      </a:r>
                    </a:p>
                  </a:txBody>
                  <a:tcPr marL="85725" marR="38100" marT="19050" marB="19050" anchor="ctr">
                    <a:solidFill>
                      <a:srgbClr val="F5F8FA"/>
                    </a:solidFill>
                  </a:tcPr>
                </a:tc>
                <a:tc>
                  <a:txBody>
                    <a:bodyPr wrap="none"/>
                    <a:lstStyle/>
                    <a:p>
                      <a:pPr algn="l"/>
                      <a:r>
                        <a:rPr sz="900" b="0">
                          <a:solidFill>
                            <a:srgbClr val="2E2E2E"/>
                          </a:solidFill>
                          <a:latin typeface="Calibri"/>
                        </a:rPr>
                        <a:t>712,545.72–726,940.58</a:t>
                      </a:r>
                    </a:p>
                  </a:txBody>
                  <a:tcPr marL="85725" marR="38100" marT="19050" marB="19050" anchor="ctr">
                    <a:solidFill>
                      <a:srgbClr val="F5F8FA"/>
                    </a:solidFill>
                  </a:tcPr>
                </a:tc>
                <a:tc>
                  <a:txBody>
                    <a:bodyPr wrap="none"/>
                    <a:lstStyle/>
                    <a:p>
                      <a:pPr algn="l"/>
                      <a:r>
                        <a:rPr sz="900" b="0">
                          <a:solidFill>
                            <a:srgbClr val="2E2E2E"/>
                          </a:solidFill>
                          <a:latin typeface="Calibri"/>
                        </a:rPr>
                        <a:t>710,452.72–724,805.30</a:t>
                      </a:r>
                    </a:p>
                  </a:txBody>
                  <a:tcPr marL="85725" marR="38100" marT="19050" marB="19050" anchor="ctr">
                    <a:solidFill>
                      <a:srgbClr val="F5F8FA"/>
                    </a:solidFill>
                  </a:tcPr>
                </a:tc>
                <a:tc>
                  <a:txBody>
                    <a:bodyPr wrap="none"/>
                    <a:lstStyle/>
                    <a:p>
                      <a:pPr algn="l"/>
                      <a:r>
                        <a:rPr sz="900" b="0">
                          <a:solidFill>
                            <a:srgbClr val="2E2E2E"/>
                          </a:solidFill>
                          <a:latin typeface="Calibri"/>
                        </a:rPr>
                        <a:t>717,681.04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900" b="0">
                          <a:solidFill>
                            <a:srgbClr val="2E2E2E"/>
                          </a:solidFill>
                          <a:latin typeface="Calibri"/>
                        </a:rPr>
                        <a:t>795,609.81–811,682.74</a:t>
                      </a:r>
                    </a:p>
                  </a:txBody>
                  <a:tcPr marL="85725" marR="38100" marT="19050" marB="19050" anchor="ctr">
                    <a:solidFill>
                      <a:srgbClr val="FFFFFF"/>
                    </a:solidFill>
                  </a:tcPr>
                </a:tc>
                <a:tc>
                  <a:txBody>
                    <a:bodyPr wrap="none"/>
                    <a:lstStyle/>
                    <a:p>
                      <a:pPr algn="l"/>
                      <a:r>
                        <a:rPr sz="900" b="0">
                          <a:solidFill>
                            <a:srgbClr val="2E2E2E"/>
                          </a:solidFill>
                          <a:latin typeface="Calibri"/>
                        </a:rPr>
                        <a:t>793,970.09–810,009.89</a:t>
                      </a:r>
                    </a:p>
                  </a:txBody>
                  <a:tcPr marL="85725" marR="38100" marT="19050" marB="19050" anchor="ctr">
                    <a:solidFill>
                      <a:srgbClr val="FFFFFF"/>
                    </a:solidFill>
                  </a:tcPr>
                </a:tc>
                <a:tc>
                  <a:txBody>
                    <a:bodyPr wrap="none"/>
                    <a:lstStyle/>
                    <a:p>
                      <a:pPr algn="l"/>
                      <a:r>
                        <a:rPr sz="900" b="0">
                          <a:solidFill>
                            <a:srgbClr val="2E2E2E"/>
                          </a:solidFill>
                          <a:latin typeface="Calibri"/>
                        </a:rPr>
                        <a:t>792,948.17–808,967.32</a:t>
                      </a:r>
                    </a:p>
                  </a:txBody>
                  <a:tcPr marL="85725" marR="38100" marT="19050" marB="19050" anchor="ctr">
                    <a:solidFill>
                      <a:srgbClr val="FFFFFF"/>
                    </a:solidFill>
                  </a:tcPr>
                </a:tc>
                <a:tc>
                  <a:txBody>
                    <a:bodyPr wrap="none"/>
                    <a:lstStyle/>
                    <a:p>
                      <a:pPr algn="l"/>
                      <a:r>
                        <a:rPr sz="900" b="0">
                          <a:solidFill>
                            <a:srgbClr val="2E2E2E"/>
                          </a:solidFill>
                          <a:latin typeface="Calibri"/>
                        </a:rPr>
                        <a:t>793,588.36–809,620.45</a:t>
                      </a:r>
                    </a:p>
                  </a:txBody>
                  <a:tcPr marL="85725" marR="38100" marT="19050" marB="19050" anchor="ctr">
                    <a:solidFill>
                      <a:srgbClr val="FFFFFF"/>
                    </a:solidFill>
                  </a:tcPr>
                </a:tc>
                <a:tc>
                  <a:txBody>
                    <a:bodyPr wrap="none"/>
                    <a:lstStyle/>
                    <a:p>
                      <a:pPr algn="l"/>
                      <a:r>
                        <a:rPr sz="900" b="0">
                          <a:solidFill>
                            <a:srgbClr val="2E2E2E"/>
                          </a:solidFill>
                          <a:latin typeface="Calibri"/>
                        </a:rPr>
                        <a:t>802,625.59</a:t>
                      </a:r>
                    </a:p>
                  </a:txBody>
                  <a:tcPr marL="85725" marR="38100" marT="19050" marB="19050" anchor="ctr">
                    <a:solidFill>
                      <a:srgbClr val="FFFFFF"/>
                    </a:solidFill>
                  </a:tcPr>
                </a:tc>
              </a:tr>
            </a:tbl>
          </a:graphicData>
        </a:graphic>
      </p:graphicFrame>
      <p:sp>
        <p:nvSpPr>
          <p:cNvPr id="15" name="TextBox 14"/>
          <p:cNvSpPr txBox="1"/>
          <p:nvPr/>
        </p:nvSpPr>
        <p:spPr>
          <a:xfrm>
            <a:off x="219075" y="48482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5143500"/>
            <a:ext cx="11906250" cy="1504950"/>
          </a:xfrm>
          <a:prstGeom prst="roundRect">
            <a:avLst>
              <a:gd name="adj" fmla="val 506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5229225"/>
            <a:ext cx="11639550" cy="209550"/>
          </a:xfrm>
          <a:prstGeom prst="rect">
            <a:avLst/>
          </a:prstGeom>
          <a:noFill/>
        </p:spPr>
        <p:txBody>
          <a:bodyPr wrap="square" lIns="0" rIns="19050" tIns="9525" bIns="9525">
            <a:spAutoFit/>
          </a:bodyPr>
          <a:lstStyle/>
          <a:p>
            <a:pPr algn="l"/>
            <a:r>
              <a:rPr sz="1300" b="1">
                <a:solidFill>
                  <a:srgbClr val="0B2E4A"/>
                </a:solidFill>
                <a:latin typeface="Calibri"/>
              </a:rPr>
              <a:t>Benchmarking Insights</a:t>
            </a:r>
          </a:p>
        </p:txBody>
      </p:sp>
      <p:sp>
        <p:nvSpPr>
          <p:cNvPr id="18" name="Rectangle 17"/>
          <p:cNvSpPr/>
          <p:nvPr/>
        </p:nvSpPr>
        <p:spPr>
          <a:xfrm>
            <a:off x="276225" y="54673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553075"/>
            <a:ext cx="11639550" cy="101917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On a weighted-average basis 'Western Europe' is the highest-priced region (~918,038.83 US$/Units) and 'South Asia Pacific' the most competitive (~717,681.04 US$/Units).</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Price ranges are benchmarked per product type type at 2026, derived as Value ÷ Volume with a ±1% observed trading band.</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Cross-region price dispersion of ~1.28× reflects differences in mix, logistics and channel structure.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Benchmarks support price-corridor setting and margin-defence decisions across geographies.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Price Forecast &amp; Dynamics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Price forecast by sub-segment, 2026–2036, with the factors and dynamics shaping the trajectory</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Forward price trajectory to 2036 by product type type and the structural factors shaping it (US$/Units).</a:t>
            </a:r>
          </a:p>
        </p:txBody>
      </p:sp>
      <p:sp>
        <p:nvSpPr>
          <p:cNvPr id="12" name="Rounded Rectangle 11"/>
          <p:cNvSpPr/>
          <p:nvPr/>
        </p:nvSpPr>
        <p:spPr>
          <a:xfrm>
            <a:off x="142875" y="1181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3825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Price Forecast to 2036 by Product Type (US$/Units)</a:t>
            </a:r>
          </a:p>
        </p:txBody>
      </p:sp>
      <p:graphicFrame>
        <p:nvGraphicFramePr>
          <p:cNvPr id="14" name="Table 13"/>
          <p:cNvGraphicFramePr>
            <a:graphicFrameLocks noGrp="1"/>
          </p:cNvGraphicFramePr>
          <p:nvPr/>
        </p:nvGraphicFramePr>
        <p:xfrm>
          <a:off x="238125" y="1466850"/>
          <a:ext cx="11715753" cy="904875"/>
        </p:xfrm>
        <a:graphic>
          <a:graphicData uri="http://schemas.openxmlformats.org/drawingml/2006/table">
            <a:tbl>
              <a:tblPr>
                <a:tableStyleId>{5C22544A-7EE6-4342-B048-85BDC9FD1C3A}</a:tableStyleId>
              </a:tblPr>
              <a:tblGrid>
                <a:gridCol w="3514725"/>
                <a:gridCol w="1366838"/>
                <a:gridCol w="1366838"/>
                <a:gridCol w="1366838"/>
                <a:gridCol w="1366838"/>
                <a:gridCol w="1366838"/>
                <a:gridCol w="1366838"/>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2026</a:t>
                      </a:r>
                    </a:p>
                  </a:txBody>
                  <a:tcPr marL="85725" marR="38100" marT="19050" marB="19050" anchor="ctr">
                    <a:solidFill>
                      <a:srgbClr val="E0E8EF"/>
                    </a:solidFill>
                  </a:tcPr>
                </a:tc>
                <a:tc>
                  <a:txBody>
                    <a:bodyPr wrap="none"/>
                    <a:lstStyle/>
                    <a:p>
                      <a:pPr algn="l"/>
                      <a:r>
                        <a:rPr sz="900" b="1">
                          <a:solidFill>
                            <a:srgbClr val="0B2E4A"/>
                          </a:solidFill>
                          <a:latin typeface="Calibri"/>
                        </a:rPr>
                        <a:t>2028</a:t>
                      </a:r>
                    </a:p>
                  </a:txBody>
                  <a:tcPr marL="85725" marR="38100" marT="19050" marB="19050" anchor="ctr">
                    <a:solidFill>
                      <a:srgbClr val="E0E8EF"/>
                    </a:solidFill>
                  </a:tcPr>
                </a:tc>
                <a:tc>
                  <a:txBody>
                    <a:bodyPr wrap="none"/>
                    <a:lstStyle/>
                    <a:p>
                      <a:pPr algn="l"/>
                      <a:r>
                        <a:rPr sz="900" b="1">
                          <a:solidFill>
                            <a:srgbClr val="0B2E4A"/>
                          </a:solidFill>
                          <a:latin typeface="Calibri"/>
                        </a:rPr>
                        <a:t>2030</a:t>
                      </a:r>
                    </a:p>
                  </a:txBody>
                  <a:tcPr marL="85725" marR="38100" marT="19050" marB="19050" anchor="ctr">
                    <a:solidFill>
                      <a:srgbClr val="E0E8EF"/>
                    </a:solidFill>
                  </a:tcPr>
                </a:tc>
                <a:tc>
                  <a:txBody>
                    <a:bodyPr wrap="none"/>
                    <a:lstStyle/>
                    <a:p>
                      <a:pPr algn="l"/>
                      <a:r>
                        <a:rPr sz="900" b="1">
                          <a:solidFill>
                            <a:srgbClr val="0B2E4A"/>
                          </a:solidFill>
                          <a:latin typeface="Calibri"/>
                        </a:rPr>
                        <a:t>2032</a:t>
                      </a:r>
                    </a:p>
                  </a:txBody>
                  <a:tcPr marL="85725" marR="38100" marT="19050" marB="19050" anchor="ctr">
                    <a:solidFill>
                      <a:srgbClr val="E0E8EF"/>
                    </a:solidFill>
                  </a:tcPr>
                </a:tc>
                <a:tc>
                  <a:txBody>
                    <a:bodyPr wrap="none"/>
                    <a:lstStyle/>
                    <a:p>
                      <a:pPr algn="l"/>
                      <a:r>
                        <a:rPr sz="900" b="1">
                          <a:solidFill>
                            <a:srgbClr val="0B2E4A"/>
                          </a:solidFill>
                          <a:latin typeface="Calibri"/>
                        </a:rPr>
                        <a:t>2034</a:t>
                      </a:r>
                    </a:p>
                  </a:txBody>
                  <a:tcPr marL="85725" marR="38100" marT="19050" marB="19050" anchor="ctr">
                    <a:solidFill>
                      <a:srgbClr val="E0E8EF"/>
                    </a:solidFill>
                  </a:tcPr>
                </a:tc>
                <a:tc>
                  <a:txBody>
                    <a:bodyPr wrap="none"/>
                    <a:lstStyle/>
                    <a:p>
                      <a:pPr algn="l"/>
                      <a:r>
                        <a:rPr sz="9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a:t>
                      </a:r>
                    </a:p>
                  </a:txBody>
                  <a:tcPr marL="85725" marR="38100" marT="19050" marB="19050" anchor="ctr">
                    <a:solidFill>
                      <a:srgbClr val="FFFFFF"/>
                    </a:solidFill>
                  </a:tcPr>
                </a:tc>
                <a:tc>
                  <a:txBody>
                    <a:bodyPr wrap="none"/>
                    <a:lstStyle/>
                    <a:p>
                      <a:pPr algn="l"/>
                      <a:r>
                        <a:rPr sz="900" b="0">
                          <a:solidFill>
                            <a:srgbClr val="2E2E2E"/>
                          </a:solidFill>
                          <a:latin typeface="Calibri"/>
                        </a:rPr>
                        <a:t>817,821.19</a:t>
                      </a:r>
                    </a:p>
                  </a:txBody>
                  <a:tcPr marL="85725" marR="38100" marT="19050" marB="19050" anchor="ctr">
                    <a:solidFill>
                      <a:srgbClr val="FFFFFF"/>
                    </a:solidFill>
                  </a:tcPr>
                </a:tc>
                <a:tc>
                  <a:txBody>
                    <a:bodyPr wrap="none"/>
                    <a:lstStyle/>
                    <a:p>
                      <a:pPr algn="l"/>
                      <a:r>
                        <a:rPr sz="900" b="0">
                          <a:solidFill>
                            <a:srgbClr val="2E2E2E"/>
                          </a:solidFill>
                          <a:latin typeface="Calibri"/>
                        </a:rPr>
                        <a:t>816,808.27</a:t>
                      </a:r>
                    </a:p>
                  </a:txBody>
                  <a:tcPr marL="85725" marR="38100" marT="19050" marB="19050" anchor="ctr">
                    <a:solidFill>
                      <a:srgbClr val="FFFFFF"/>
                    </a:solidFill>
                  </a:tcPr>
                </a:tc>
                <a:tc>
                  <a:txBody>
                    <a:bodyPr wrap="none"/>
                    <a:lstStyle/>
                    <a:p>
                      <a:pPr algn="l"/>
                      <a:r>
                        <a:rPr sz="900" b="0">
                          <a:solidFill>
                            <a:srgbClr val="2E2E2E"/>
                          </a:solidFill>
                          <a:latin typeface="Calibri"/>
                        </a:rPr>
                        <a:t>822,608.12</a:t>
                      </a:r>
                    </a:p>
                  </a:txBody>
                  <a:tcPr marL="85725" marR="38100" marT="19050" marB="19050" anchor="ctr">
                    <a:solidFill>
                      <a:srgbClr val="FFFFFF"/>
                    </a:solidFill>
                  </a:tcPr>
                </a:tc>
                <a:tc>
                  <a:txBody>
                    <a:bodyPr wrap="none"/>
                    <a:lstStyle/>
                    <a:p>
                      <a:pPr algn="l"/>
                      <a:r>
                        <a:rPr sz="900" b="0">
                          <a:solidFill>
                            <a:srgbClr val="2E2E2E"/>
                          </a:solidFill>
                          <a:latin typeface="Calibri"/>
                        </a:rPr>
                        <a:t>836,204.11</a:t>
                      </a:r>
                    </a:p>
                  </a:txBody>
                  <a:tcPr marL="85725" marR="38100" marT="19050" marB="19050" anchor="ctr">
                    <a:solidFill>
                      <a:srgbClr val="FFFFFF"/>
                    </a:solidFill>
                  </a:tcPr>
                </a:tc>
                <a:tc>
                  <a:txBody>
                    <a:bodyPr wrap="none"/>
                    <a:lstStyle/>
                    <a:p>
                      <a:pPr algn="l"/>
                      <a:r>
                        <a:rPr sz="900" b="0">
                          <a:solidFill>
                            <a:srgbClr val="2E2E2E"/>
                          </a:solidFill>
                          <a:latin typeface="Calibri"/>
                        </a:rPr>
                        <a:t>857,100.27</a:t>
                      </a:r>
                    </a:p>
                  </a:txBody>
                  <a:tcPr marL="85725" marR="38100" marT="19050" marB="19050" anchor="ctr">
                    <a:solidFill>
                      <a:srgbClr val="FFFFFF"/>
                    </a:solidFill>
                  </a:tcPr>
                </a:tc>
                <a:tc>
                  <a:txBody>
                    <a:bodyPr wrap="none"/>
                    <a:lstStyle/>
                    <a:p>
                      <a:pPr algn="l"/>
                      <a:r>
                        <a:rPr sz="900" b="0">
                          <a:solidFill>
                            <a:srgbClr val="2E2E2E"/>
                          </a:solidFill>
                          <a:latin typeface="Calibri"/>
                        </a:rPr>
                        <a:t>886,198.67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816,096.99</a:t>
                      </a:r>
                    </a:p>
                  </a:txBody>
                  <a:tcPr marL="85725" marR="38100" marT="19050" marB="19050" anchor="ctr">
                    <a:solidFill>
                      <a:srgbClr val="F5F8FA"/>
                    </a:solidFill>
                  </a:tcPr>
                </a:tc>
                <a:tc>
                  <a:txBody>
                    <a:bodyPr wrap="none"/>
                    <a:lstStyle/>
                    <a:p>
                      <a:pPr algn="l"/>
                      <a:r>
                        <a:rPr sz="900" b="0">
                          <a:solidFill>
                            <a:srgbClr val="2E2E2E"/>
                          </a:solidFill>
                          <a:latin typeface="Calibri"/>
                        </a:rPr>
                        <a:t>815,651.45</a:t>
                      </a:r>
                    </a:p>
                  </a:txBody>
                  <a:tcPr marL="85725" marR="38100" marT="19050" marB="19050" anchor="ctr">
                    <a:solidFill>
                      <a:srgbClr val="F5F8FA"/>
                    </a:solidFill>
                  </a:tcPr>
                </a:tc>
                <a:tc>
                  <a:txBody>
                    <a:bodyPr wrap="none"/>
                    <a:lstStyle/>
                    <a:p>
                      <a:pPr algn="l"/>
                      <a:r>
                        <a:rPr sz="900" b="0">
                          <a:solidFill>
                            <a:srgbClr val="2E2E2E"/>
                          </a:solidFill>
                          <a:latin typeface="Calibri"/>
                        </a:rPr>
                        <a:t>822,019.41</a:t>
                      </a:r>
                    </a:p>
                  </a:txBody>
                  <a:tcPr marL="85725" marR="38100" marT="19050" marB="19050" anchor="ctr">
                    <a:solidFill>
                      <a:srgbClr val="F5F8FA"/>
                    </a:solidFill>
                  </a:tcPr>
                </a:tc>
                <a:tc>
                  <a:txBody>
                    <a:bodyPr wrap="none"/>
                    <a:lstStyle/>
                    <a:p>
                      <a:pPr algn="l"/>
                      <a:r>
                        <a:rPr sz="900" b="0">
                          <a:solidFill>
                            <a:srgbClr val="2E2E2E"/>
                          </a:solidFill>
                          <a:latin typeface="Calibri"/>
                        </a:rPr>
                        <a:t>836,017.03</a:t>
                      </a:r>
                    </a:p>
                  </a:txBody>
                  <a:tcPr marL="85725" marR="38100" marT="19050" marB="19050" anchor="ctr">
                    <a:solidFill>
                      <a:srgbClr val="F5F8FA"/>
                    </a:solidFill>
                  </a:tcPr>
                </a:tc>
                <a:tc>
                  <a:txBody>
                    <a:bodyPr wrap="none"/>
                    <a:lstStyle/>
                    <a:p>
                      <a:pPr algn="l"/>
                      <a:r>
                        <a:rPr sz="900" b="0">
                          <a:solidFill>
                            <a:srgbClr val="2E2E2E"/>
                          </a:solidFill>
                          <a:latin typeface="Calibri"/>
                        </a:rPr>
                        <a:t>857,267.38</a:t>
                      </a:r>
                    </a:p>
                  </a:txBody>
                  <a:tcPr marL="85725" marR="38100" marT="19050" marB="19050" anchor="ctr">
                    <a:solidFill>
                      <a:srgbClr val="F5F8FA"/>
                    </a:solidFill>
                  </a:tcPr>
                </a:tc>
                <a:tc>
                  <a:txBody>
                    <a:bodyPr wrap="none"/>
                    <a:lstStyle/>
                    <a:p>
                      <a:pPr algn="l"/>
                      <a:r>
                        <a:rPr sz="900" b="0">
                          <a:solidFill>
                            <a:srgbClr val="2E2E2E"/>
                          </a:solidFill>
                          <a:latin typeface="Calibri"/>
                        </a:rPr>
                        <a:t>886,559.80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a:t>
                      </a:r>
                    </a:p>
                  </a:txBody>
                  <a:tcPr marL="85725" marR="38100" marT="19050" marB="19050" anchor="ctr">
                    <a:solidFill>
                      <a:srgbClr val="FFFFFF"/>
                    </a:solidFill>
                  </a:tcPr>
                </a:tc>
                <a:tc>
                  <a:txBody>
                    <a:bodyPr wrap="none"/>
                    <a:lstStyle/>
                    <a:p>
                      <a:pPr algn="l"/>
                      <a:r>
                        <a:rPr sz="900" b="0">
                          <a:solidFill>
                            <a:srgbClr val="2E2E2E"/>
                          </a:solidFill>
                          <a:latin typeface="Calibri"/>
                        </a:rPr>
                        <a:t>816,622.00</a:t>
                      </a:r>
                    </a:p>
                  </a:txBody>
                  <a:tcPr marL="85725" marR="38100" marT="19050" marB="19050" anchor="ctr">
                    <a:solidFill>
                      <a:srgbClr val="FFFFFF"/>
                    </a:solidFill>
                  </a:tcPr>
                </a:tc>
                <a:tc>
                  <a:txBody>
                    <a:bodyPr wrap="none"/>
                    <a:lstStyle/>
                    <a:p>
                      <a:pPr algn="l"/>
                      <a:r>
                        <a:rPr sz="900" b="0">
                          <a:solidFill>
                            <a:srgbClr val="2E2E2E"/>
                          </a:solidFill>
                          <a:latin typeface="Calibri"/>
                        </a:rPr>
                        <a:t>815,568.04</a:t>
                      </a:r>
                    </a:p>
                  </a:txBody>
                  <a:tcPr marL="85725" marR="38100" marT="19050" marB="19050" anchor="ctr">
                    <a:solidFill>
                      <a:srgbClr val="FFFFFF"/>
                    </a:solidFill>
                  </a:tcPr>
                </a:tc>
                <a:tc>
                  <a:txBody>
                    <a:bodyPr wrap="none"/>
                    <a:lstStyle/>
                    <a:p>
                      <a:pPr algn="l"/>
                      <a:r>
                        <a:rPr sz="900" b="0">
                          <a:solidFill>
                            <a:srgbClr val="2E2E2E"/>
                          </a:solidFill>
                          <a:latin typeface="Calibri"/>
                        </a:rPr>
                        <a:t>821,331.47</a:t>
                      </a:r>
                    </a:p>
                  </a:txBody>
                  <a:tcPr marL="85725" marR="38100" marT="19050" marB="19050" anchor="ctr">
                    <a:solidFill>
                      <a:srgbClr val="FFFFFF"/>
                    </a:solidFill>
                  </a:tcPr>
                </a:tc>
                <a:tc>
                  <a:txBody>
                    <a:bodyPr wrap="none"/>
                    <a:lstStyle/>
                    <a:p>
                      <a:pPr algn="l"/>
                      <a:r>
                        <a:rPr sz="900" b="0">
                          <a:solidFill>
                            <a:srgbClr val="2E2E2E"/>
                          </a:solidFill>
                          <a:latin typeface="Calibri"/>
                        </a:rPr>
                        <a:t>834,530.66</a:t>
                      </a:r>
                    </a:p>
                  </a:txBody>
                  <a:tcPr marL="85725" marR="38100" marT="19050" marB="19050" anchor="ctr">
                    <a:solidFill>
                      <a:srgbClr val="FFFFFF"/>
                    </a:solidFill>
                  </a:tcPr>
                </a:tc>
                <a:tc>
                  <a:txBody>
                    <a:bodyPr wrap="none"/>
                    <a:lstStyle/>
                    <a:p>
                      <a:pPr algn="l"/>
                      <a:r>
                        <a:rPr sz="900" b="0">
                          <a:solidFill>
                            <a:srgbClr val="2E2E2E"/>
                          </a:solidFill>
                          <a:latin typeface="Calibri"/>
                        </a:rPr>
                        <a:t>855,365.61</a:t>
                      </a:r>
                    </a:p>
                  </a:txBody>
                  <a:tcPr marL="85725" marR="38100" marT="19050" marB="19050" anchor="ctr">
                    <a:solidFill>
                      <a:srgbClr val="FFFFFF"/>
                    </a:solidFill>
                  </a:tcPr>
                </a:tc>
                <a:tc>
                  <a:txBody>
                    <a:bodyPr wrap="none"/>
                    <a:lstStyle/>
                    <a:p>
                      <a:pPr algn="l"/>
                      <a:r>
                        <a:rPr sz="900" b="0">
                          <a:solidFill>
                            <a:srgbClr val="2E2E2E"/>
                          </a:solidFill>
                          <a:latin typeface="Calibri"/>
                        </a:rPr>
                        <a:t>884,888.03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a:t>
                      </a:r>
                    </a:p>
                  </a:txBody>
                  <a:tcPr marL="85725" marR="38100" marT="19050" marB="19050" anchor="ctr">
                    <a:solidFill>
                      <a:srgbClr val="F5F8FA"/>
                    </a:solidFill>
                  </a:tcPr>
                </a:tc>
                <a:tc>
                  <a:txBody>
                    <a:bodyPr wrap="none"/>
                    <a:lstStyle/>
                    <a:p>
                      <a:pPr algn="l"/>
                      <a:r>
                        <a:rPr sz="900" b="0">
                          <a:solidFill>
                            <a:srgbClr val="2E2E2E"/>
                          </a:solidFill>
                          <a:latin typeface="Calibri"/>
                        </a:rPr>
                        <a:t>817,052.51</a:t>
                      </a:r>
                    </a:p>
                  </a:txBody>
                  <a:tcPr marL="85725" marR="38100" marT="19050" marB="19050" anchor="ctr">
                    <a:solidFill>
                      <a:srgbClr val="F5F8FA"/>
                    </a:solidFill>
                  </a:tcPr>
                </a:tc>
                <a:tc>
                  <a:txBody>
                    <a:bodyPr wrap="none"/>
                    <a:lstStyle/>
                    <a:p>
                      <a:pPr algn="l"/>
                      <a:r>
                        <a:rPr sz="900" b="0">
                          <a:solidFill>
                            <a:srgbClr val="2E2E2E"/>
                          </a:solidFill>
                          <a:latin typeface="Calibri"/>
                        </a:rPr>
                        <a:t>815,915.31</a:t>
                      </a:r>
                    </a:p>
                  </a:txBody>
                  <a:tcPr marL="85725" marR="38100" marT="19050" marB="19050" anchor="ctr">
                    <a:solidFill>
                      <a:srgbClr val="F5F8FA"/>
                    </a:solidFill>
                  </a:tcPr>
                </a:tc>
                <a:tc>
                  <a:txBody>
                    <a:bodyPr wrap="none"/>
                    <a:lstStyle/>
                    <a:p>
                      <a:pPr algn="l"/>
                      <a:r>
                        <a:rPr sz="900" b="0">
                          <a:solidFill>
                            <a:srgbClr val="2E2E2E"/>
                          </a:solidFill>
                          <a:latin typeface="Calibri"/>
                        </a:rPr>
                        <a:t>822,082.71</a:t>
                      </a:r>
                    </a:p>
                  </a:txBody>
                  <a:tcPr marL="85725" marR="38100" marT="19050" marB="19050" anchor="ctr">
                    <a:solidFill>
                      <a:srgbClr val="F5F8FA"/>
                    </a:solidFill>
                  </a:tcPr>
                </a:tc>
                <a:tc>
                  <a:txBody>
                    <a:bodyPr wrap="none"/>
                    <a:lstStyle/>
                    <a:p>
                      <a:pPr algn="l"/>
                      <a:r>
                        <a:rPr sz="900" b="0">
                          <a:solidFill>
                            <a:srgbClr val="2E2E2E"/>
                          </a:solidFill>
                          <a:latin typeface="Calibri"/>
                        </a:rPr>
                        <a:t>836,034.63</a:t>
                      </a:r>
                    </a:p>
                  </a:txBody>
                  <a:tcPr marL="85725" marR="38100" marT="19050" marB="19050" anchor="ctr">
                    <a:solidFill>
                      <a:srgbClr val="F5F8FA"/>
                    </a:solidFill>
                  </a:tcPr>
                </a:tc>
                <a:tc>
                  <a:txBody>
                    <a:bodyPr wrap="none"/>
                    <a:lstStyle/>
                    <a:p>
                      <a:pPr algn="l"/>
                      <a:r>
                        <a:rPr sz="900" b="0">
                          <a:solidFill>
                            <a:srgbClr val="2E2E2E"/>
                          </a:solidFill>
                          <a:latin typeface="Calibri"/>
                        </a:rPr>
                        <a:t>857,301.34</a:t>
                      </a:r>
                    </a:p>
                  </a:txBody>
                  <a:tcPr marL="85725" marR="38100" marT="19050" marB="19050" anchor="ctr">
                    <a:solidFill>
                      <a:srgbClr val="F5F8FA"/>
                    </a:solidFill>
                  </a:tcPr>
                </a:tc>
                <a:tc>
                  <a:txBody>
                    <a:bodyPr wrap="none"/>
                    <a:lstStyle/>
                    <a:p>
                      <a:pPr algn="l"/>
                      <a:r>
                        <a:rPr sz="900" b="0">
                          <a:solidFill>
                            <a:srgbClr val="2E2E2E"/>
                          </a:solidFill>
                          <a:latin typeface="Calibri"/>
                        </a:rPr>
                        <a:t>887,166.58</a:t>
                      </a:r>
                    </a:p>
                  </a:txBody>
                  <a:tcPr marL="85725" marR="38100" marT="19050" marB="19050" anchor="ctr">
                    <a:solidFill>
                      <a:srgbClr val="F5F8FA"/>
                    </a:solidFill>
                  </a:tcPr>
                </a:tc>
              </a:tr>
            </a:tbl>
          </a:graphicData>
        </a:graphic>
      </p:graphicFrame>
      <p:sp>
        <p:nvSpPr>
          <p:cNvPr id="15" name="TextBox 14"/>
          <p:cNvSpPr txBox="1"/>
          <p:nvPr/>
        </p:nvSpPr>
        <p:spPr>
          <a:xfrm>
            <a:off x="219075" y="309562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352800"/>
            <a:ext cx="5905500" cy="3295650"/>
          </a:xfrm>
          <a:prstGeom prst="roundRect">
            <a:avLst>
              <a:gd name="adj" fmla="val 23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Factors Impacting Pricing</a:t>
            </a:r>
          </a:p>
        </p:txBody>
      </p:sp>
      <p:graphicFrame>
        <p:nvGraphicFramePr>
          <p:cNvPr id="18" name="Table 17"/>
          <p:cNvGraphicFramePr>
            <a:graphicFrameLocks noGrp="1"/>
          </p:cNvGraphicFramePr>
          <p:nvPr/>
        </p:nvGraphicFramePr>
        <p:xfrm>
          <a:off x="238125" y="3638550"/>
          <a:ext cx="5715000" cy="1990725"/>
        </p:xfrm>
        <a:graphic>
          <a:graphicData uri="http://schemas.openxmlformats.org/drawingml/2006/table">
            <a:tbl>
              <a:tblPr>
                <a:tableStyleId>{5C22544A-7EE6-4342-B048-85BDC9FD1C3A}</a:tableStyleId>
              </a:tblPr>
              <a:tblGrid>
                <a:gridCol w="1714500"/>
                <a:gridCol w="2000250"/>
                <a:gridCol w="2000250"/>
              </a:tblGrid>
              <a:tr h="180975">
                <a:tc>
                  <a:txBody>
                    <a:bodyPr wrap="none"/>
                    <a:lstStyle/>
                    <a:p>
                      <a:pPr algn="l"/>
                      <a:r>
                        <a:rPr sz="900" b="1">
                          <a:solidFill>
                            <a:srgbClr val="0B2E4A"/>
                          </a:solidFill>
                          <a:latin typeface="Calibri"/>
                        </a:rPr>
                        <a:t>Pricing Factor</a:t>
                      </a:r>
                    </a:p>
                  </a:txBody>
                  <a:tcPr marL="85725" marR="38100" marT="19050" marB="19050" anchor="ctr">
                    <a:solidFill>
                      <a:srgbClr val="E0E8EF"/>
                    </a:solidFill>
                  </a:tcPr>
                </a:tc>
                <a:tc>
                  <a:txBody>
                    <a:bodyPr wrap="none"/>
                    <a:lstStyle/>
                    <a:p>
                      <a:pPr algn="l"/>
                      <a:r>
                        <a:rPr sz="900" b="1">
                          <a:solidFill>
                            <a:srgbClr val="0B2E4A"/>
                          </a:solidFill>
                          <a:latin typeface="Calibri"/>
                        </a:rPr>
                        <a:t>Direction</a:t>
                      </a:r>
                    </a:p>
                  </a:txBody>
                  <a:tcPr marL="85725" marR="38100" marT="19050" marB="19050" anchor="ctr">
                    <a:solidFill>
                      <a:srgbClr val="E0E8EF"/>
                    </a:solidFill>
                  </a:tcPr>
                </a:tc>
                <a:tc>
                  <a:txBody>
                    <a:bodyPr wrap="none"/>
                    <a:lstStyle/>
                    <a:p>
                      <a:pPr algn="l"/>
                      <a:r>
                        <a:rPr sz="900" b="1">
                          <a:solidFill>
                            <a:srgbClr val="0B2E4A"/>
                          </a:solidFill>
                          <a:latin typeface="Calibri"/>
                        </a:rPr>
                        <a:t>Impact (H/M/L)</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Input Cost</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Labor &amp; Production Costs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Technology &amp; Innovation</a:t>
                      </a:r>
                    </a:p>
                  </a:txBody>
                  <a:tcPr marL="85725" marR="38100" marT="19050" marB="19050" anchor="ctr">
                    <a:solidFill>
                      <a:srgbClr val="FFFFFF"/>
                    </a:solidFill>
                  </a:tcPr>
                </a:tc>
                <a:tc>
                  <a:txBody>
                    <a:bodyPr wrap="none"/>
                    <a:lstStyle/>
                    <a:p>
                      <a:pPr algn="l"/>
                      <a:r>
                        <a:rPr sz="900" b="1">
                          <a:solidFill>
                            <a:srgbClr val="E44D3A"/>
                          </a:solidFill>
                          <a:latin typeface="Calibri"/>
                        </a:rPr>
                        <a:t>▼ Downward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Supply Chain &amp; Logistics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Medium</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Demand &amp; Market Conditions</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High</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Competitive Landscape</a:t>
                      </a:r>
                    </a:p>
                  </a:txBody>
                  <a:tcPr marL="85725" marR="38100" marT="19050" marB="19050" anchor="ctr">
                    <a:solidFill>
                      <a:srgbClr val="F5F8FA"/>
                    </a:solidFill>
                  </a:tcPr>
                </a:tc>
                <a:tc>
                  <a:txBody>
                    <a:bodyPr wrap="none"/>
                    <a:lstStyle/>
                    <a:p>
                      <a:pPr algn="l"/>
                      <a:r>
                        <a:rPr sz="900" b="1">
                          <a:solidFill>
                            <a:srgbClr val="E44D3A"/>
                          </a:solidFill>
                          <a:latin typeface="Calibri"/>
                        </a:rPr>
                        <a:t>▼ Downward</a:t>
                      </a:r>
                    </a:p>
                  </a:txBody>
                  <a:tcPr marL="85725" marR="38100" marT="19050" marB="19050" anchor="ctr">
                    <a:solidFill>
                      <a:srgbClr val="F5F8FA"/>
                    </a:solidFill>
                  </a:tcPr>
                </a:tc>
                <a:tc>
                  <a:txBody>
                    <a:bodyPr wrap="none"/>
                    <a:lstStyle/>
                    <a:p>
                      <a:pPr algn="l"/>
                      <a:r>
                        <a:rPr sz="900" b="0">
                          <a:solidFill>
                            <a:srgbClr val="2E2E2E"/>
                          </a:solidFill>
                          <a:latin typeface="Calibri"/>
                        </a:rPr>
                        <a:t>High</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Regulatory &amp; Compliance Costs</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Currency &amp; Trade Dynamics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Brand &amp; Value Perception</a:t>
                      </a:r>
                    </a:p>
                  </a:txBody>
                  <a:tcPr marL="85725" marR="38100" marT="19050" marB="19050" anchor="ctr">
                    <a:solidFill>
                      <a:srgbClr val="FFFFFF"/>
                    </a:solidFill>
                  </a:tcPr>
                </a:tc>
                <a:tc>
                  <a:txBody>
                    <a:bodyPr wrap="none"/>
                    <a:lstStyle/>
                    <a:p>
                      <a:pPr algn="l"/>
                      <a:r>
                        <a:rPr sz="900" b="1">
                          <a:solidFill>
                            <a:srgbClr val="2E7D32"/>
                          </a:solidFill>
                          <a:latin typeface="Calibri"/>
                        </a:rPr>
                        <a:t>▲ Upward</a:t>
                      </a:r>
                    </a:p>
                  </a:txBody>
                  <a:tcPr marL="85725" marR="38100" marT="19050" marB="19050" anchor="ctr">
                    <a:solidFill>
                      <a:srgbClr val="FFFFFF"/>
                    </a:solidFill>
                  </a:tcPr>
                </a:tc>
                <a:tc>
                  <a:txBody>
                    <a:bodyPr wrap="none"/>
                    <a:lstStyle/>
                    <a:p>
                      <a:pPr algn="l"/>
                      <a:r>
                        <a:rPr sz="900" b="0">
                          <a:solidFill>
                            <a:srgbClr val="2E2E2E"/>
                          </a:solidFill>
                          <a:latin typeface="Calibri"/>
                        </a:rPr>
                        <a:t>Medium</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Aftermarket &amp; Service Costs</a:t>
                      </a:r>
                    </a:p>
                  </a:txBody>
                  <a:tcPr marL="85725" marR="38100" marT="19050" marB="19050" anchor="ctr">
                    <a:solidFill>
                      <a:srgbClr val="F5F8FA"/>
                    </a:solidFill>
                  </a:tcPr>
                </a:tc>
                <a:tc>
                  <a:txBody>
                    <a:bodyPr wrap="none"/>
                    <a:lstStyle/>
                    <a:p>
                      <a:pPr algn="l"/>
                      <a:r>
                        <a:rPr sz="900" b="1">
                          <a:solidFill>
                            <a:srgbClr val="2E7D32"/>
                          </a:solidFill>
                          <a:latin typeface="Calibri"/>
                        </a:rPr>
                        <a:t>▲ Upward</a:t>
                      </a:r>
                    </a:p>
                  </a:txBody>
                  <a:tcPr marL="85725" marR="38100" marT="19050" marB="19050" anchor="ctr">
                    <a:solidFill>
                      <a:srgbClr val="F5F8FA"/>
                    </a:solidFill>
                  </a:tcPr>
                </a:tc>
                <a:tc>
                  <a:txBody>
                    <a:bodyPr wrap="none"/>
                    <a:lstStyle/>
                    <a:p>
                      <a:pPr algn="l"/>
                      <a:r>
                        <a:rPr sz="900" b="0">
                          <a:solidFill>
                            <a:srgbClr val="2E2E2E"/>
                          </a:solidFill>
                          <a:latin typeface="Calibri"/>
                        </a:rPr>
                        <a:t>Low</a:t>
                      </a:r>
                    </a:p>
                  </a:txBody>
                  <a:tcPr marL="85725" marR="38100" marT="19050" marB="19050" anchor="ctr">
                    <a:solidFill>
                      <a:srgbClr val="F5F8FA"/>
                    </a:solidFill>
                  </a:tcPr>
                </a:tc>
              </a:tr>
            </a:tbl>
          </a:graphicData>
        </a:graphic>
      </p:graphicFrame>
      <p:sp>
        <p:nvSpPr>
          <p:cNvPr id="19" name="TextBox 18"/>
          <p:cNvSpPr txBox="1"/>
          <p:nvPr/>
        </p:nvSpPr>
        <p:spPr>
          <a:xfrm>
            <a:off x="219075" y="6505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ounded Rectangle 19"/>
          <p:cNvSpPr/>
          <p:nvPr/>
        </p:nvSpPr>
        <p:spPr>
          <a:xfrm>
            <a:off x="6200775" y="3352800"/>
            <a:ext cx="5848350" cy="3295650"/>
          </a:xfrm>
          <a:prstGeom prst="roundRect">
            <a:avLst>
              <a:gd name="adj" fmla="val 231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4125" y="3438525"/>
            <a:ext cx="5581650" cy="209550"/>
          </a:xfrm>
          <a:prstGeom prst="rect">
            <a:avLst/>
          </a:prstGeom>
          <a:noFill/>
        </p:spPr>
        <p:txBody>
          <a:bodyPr wrap="square" lIns="0" rIns="19050" tIns="9525" bIns="9525">
            <a:spAutoFit/>
          </a:bodyPr>
          <a:lstStyle/>
          <a:p>
            <a:pPr algn="l"/>
            <a:r>
              <a:rPr sz="1300" b="1">
                <a:solidFill>
                  <a:srgbClr val="0B2E4A"/>
                </a:solidFill>
                <a:latin typeface="Calibri"/>
              </a:rPr>
              <a:t>Pricing Dynamics &amp; Outlook</a:t>
            </a:r>
          </a:p>
        </p:txBody>
      </p:sp>
      <p:sp>
        <p:nvSpPr>
          <p:cNvPr id="22" name="Rectangle 21"/>
          <p:cNvSpPr/>
          <p:nvPr/>
        </p:nvSpPr>
        <p:spPr>
          <a:xfrm>
            <a:off x="6334125" y="36766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4125" y="3762375"/>
            <a:ext cx="5581650" cy="28098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Average product type price is projected to rise from ~816,898.17 to ~886,203.27 US$/Units by 2036 a +0.8%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'Blood Collection Lancets' shows the strongest forecast price appreciation (+8.6%) over the horizon.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Upward pressure is led by input cost and demand &amp; market conditions; efficiency and competitive intensity work the other way.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Net outlook: modest, structural price appreciation mix and geography will determine realised pricing.</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Competitor Pricing Strategies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how leading players position price: tier, price position versus peers and strategy focus</a:t>
            </a:r>
          </a:p>
        </p:txBody>
      </p:sp>
      <p:sp>
        <p:nvSpPr>
          <p:cNvPr id="11" name="Rounded Rectangle 10"/>
          <p:cNvSpPr/>
          <p:nvPr/>
        </p:nvSpPr>
        <p:spPr>
          <a:xfrm>
            <a:off x="142875" y="857250"/>
            <a:ext cx="769620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Competitor pricing strategies how leading players position price and the levers they use to sustain it.</a:t>
            </a:r>
          </a:p>
        </p:txBody>
      </p:sp>
      <p:sp>
        <p:nvSpPr>
          <p:cNvPr id="12" name="Rounded Rectangle 11"/>
          <p:cNvSpPr/>
          <p:nvPr/>
        </p:nvSpPr>
        <p:spPr>
          <a:xfrm>
            <a:off x="142875" y="1181100"/>
            <a:ext cx="7696200" cy="4095750"/>
          </a:xfrm>
          <a:prstGeom prst="roundRect">
            <a:avLst>
              <a:gd name="adj" fmla="val 18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219075" y="1257300"/>
          <a:ext cx="7543800" cy="1266825"/>
        </p:xfrm>
        <a:graphic>
          <a:graphicData uri="http://schemas.openxmlformats.org/drawingml/2006/table">
            <a:tbl>
              <a:tblPr>
                <a:tableStyleId>{5C22544A-7EE6-4342-B048-85BDC9FD1C3A}</a:tableStyleId>
              </a:tblPr>
              <a:tblGrid>
                <a:gridCol w="2263140"/>
                <a:gridCol w="1320165"/>
                <a:gridCol w="1320165"/>
                <a:gridCol w="1320165"/>
                <a:gridCol w="1320165"/>
              </a:tblGrid>
              <a:tr h="180975">
                <a:tc>
                  <a:txBody>
                    <a:bodyPr wrap="none"/>
                    <a:lstStyle/>
                    <a:p>
                      <a:pPr algn="l"/>
                      <a:r>
                        <a:rPr sz="900" b="1">
                          <a:solidFill>
                            <a:srgbClr val="0B2E4A"/>
                          </a:solidFill>
                          <a:latin typeface="Calibri"/>
                        </a:rPr>
                        <a:t>Company</a:t>
                      </a:r>
                    </a:p>
                  </a:txBody>
                  <a:tcPr marL="85725" marR="38100" marT="19050" marB="19050" anchor="ctr">
                    <a:solidFill>
                      <a:srgbClr val="E0E8EF"/>
                    </a:solidFill>
                  </a:tcPr>
                </a:tc>
                <a:tc>
                  <a:txBody>
                    <a:bodyPr wrap="none"/>
                    <a:lstStyle/>
                    <a:p>
                      <a:pPr algn="l"/>
                      <a:r>
                        <a:rPr sz="900" b="1">
                          <a:solidFill>
                            <a:srgbClr val="0B2E4A"/>
                          </a:solidFill>
                          <a:latin typeface="Calibri"/>
                        </a:rPr>
                        <a:t>Tier</a:t>
                      </a:r>
                    </a:p>
                  </a:txBody>
                  <a:tcPr marL="85725" marR="38100" marT="19050" marB="19050" anchor="ctr">
                    <a:solidFill>
                      <a:srgbClr val="E0E8EF"/>
                    </a:solidFill>
                  </a:tcPr>
                </a:tc>
                <a:tc>
                  <a:txBody>
                    <a:bodyPr wrap="none"/>
                    <a:lstStyle/>
                    <a:p>
                      <a:pPr algn="l"/>
                      <a:r>
                        <a:rPr sz="900" b="1">
                          <a:solidFill>
                            <a:srgbClr val="0B2E4A"/>
                          </a:solidFill>
                          <a:latin typeface="Calibri"/>
                        </a:rPr>
                        <a:t>Price Position</a:t>
                      </a:r>
                    </a:p>
                  </a:txBody>
                  <a:tcPr marL="85725" marR="38100" marT="19050" marB="19050" anchor="ctr">
                    <a:solidFill>
                      <a:srgbClr val="E0E8EF"/>
                    </a:solidFill>
                  </a:tcPr>
                </a:tc>
                <a:tc>
                  <a:txBody>
                    <a:bodyPr wrap="none"/>
                    <a:lstStyle/>
                    <a:p>
                      <a:pPr algn="l"/>
                      <a:r>
                        <a:rPr sz="900" b="1">
                          <a:solidFill>
                            <a:srgbClr val="0B2E4A"/>
                          </a:solidFill>
                          <a:latin typeface="Calibri"/>
                        </a:rPr>
                        <a:t>ASP vs Peers</a:t>
                      </a:r>
                    </a:p>
                  </a:txBody>
                  <a:tcPr marL="85725" marR="38100" marT="19050" marB="19050" anchor="ctr">
                    <a:solidFill>
                      <a:srgbClr val="E0E8EF"/>
                    </a:solidFill>
                  </a:tcPr>
                </a:tc>
                <a:tc>
                  <a:txBody>
                    <a:bodyPr wrap="none"/>
                    <a:lstStyle/>
                    <a:p>
                      <a:pPr algn="l"/>
                      <a:r>
                        <a:rPr sz="900" b="1">
                          <a:solidFill>
                            <a:srgbClr val="0B2E4A"/>
                          </a:solidFill>
                          <a:latin typeface="Calibri"/>
                        </a:rPr>
                        <a:t>Strategy Focus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Company A</a:t>
                      </a:r>
                    </a:p>
                  </a:txBody>
                  <a:tcPr marL="85725" marR="38100" marT="19050" marB="19050" anchor="ctr">
                    <a:solidFill>
                      <a:srgbClr val="FFFFFF"/>
                    </a:solidFill>
                  </a:tcPr>
                </a:tc>
                <a:tc>
                  <a:txBody>
                    <a:bodyPr wrap="none"/>
                    <a:lstStyle/>
                    <a:p>
                      <a:pPr algn="l"/>
                      <a:r>
                        <a:rPr sz="900" b="0">
                          <a:solidFill>
                            <a:srgbClr val="2E2E2E"/>
                          </a:solidFill>
                          <a:latin typeface="Calibri"/>
                        </a:rPr>
                        <a:t>Tier 1</a:t>
                      </a:r>
                    </a:p>
                  </a:txBody>
                  <a:tcPr marL="85725" marR="38100" marT="19050" marB="19050" anchor="ctr">
                    <a:solidFill>
                      <a:srgbClr val="FFFFFF"/>
                    </a:solidFill>
                  </a:tcPr>
                </a:tc>
                <a:tc>
                  <a:txBody>
                    <a:bodyPr wrap="none"/>
                    <a:lstStyle/>
                    <a:p>
                      <a:pPr algn="l"/>
                      <a:r>
                        <a:rPr sz="900" b="0">
                          <a:solidFill>
                            <a:srgbClr val="2E2E2E"/>
                          </a:solidFill>
                          <a:latin typeface="Calibri"/>
                        </a:rPr>
                        <a:t>Premium</a:t>
                      </a:r>
                    </a:p>
                  </a:txBody>
                  <a:tcPr marL="85725" marR="38100" marT="19050" marB="19050" anchor="ctr">
                    <a:solidFill>
                      <a:srgbClr val="FFFFFF"/>
                    </a:solidFill>
                  </a:tcPr>
                </a:tc>
                <a:tc>
                  <a:txBody>
                    <a:bodyPr wrap="none"/>
                    <a:lstStyle/>
                    <a:p>
                      <a:pPr algn="l"/>
                      <a:r>
                        <a:rPr sz="900" b="0">
                          <a:solidFill>
                            <a:srgbClr val="2E2E2E"/>
                          </a:solidFill>
                          <a:latin typeface="Calibri"/>
                        </a:rPr>
                        <a:t>+6%</a:t>
                      </a:r>
                    </a:p>
                  </a:txBody>
                  <a:tcPr marL="85725" marR="38100" marT="19050" marB="19050" anchor="ctr">
                    <a:solidFill>
                      <a:srgbClr val="FFFFFF"/>
                    </a:solidFill>
                  </a:tcPr>
                </a:tc>
                <a:tc>
                  <a:txBody>
                    <a:bodyPr wrap="none"/>
                    <a:lstStyle/>
                    <a:p>
                      <a:pPr algn="l"/>
                      <a:r>
                        <a:rPr sz="900" b="0">
                          <a:solidFill>
                            <a:srgbClr val="2E2E2E"/>
                          </a:solidFill>
                          <a:latin typeface="Calibri"/>
                        </a:rPr>
                        <a:t>Premium, brand-led pricing</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B</a:t>
                      </a:r>
                    </a:p>
                  </a:txBody>
                  <a:tcPr marL="85725" marR="38100" marT="19050" marB="19050" anchor="ctr">
                    <a:solidFill>
                      <a:srgbClr val="F5F8FA"/>
                    </a:solidFill>
                  </a:tcPr>
                </a:tc>
                <a:tc>
                  <a:txBody>
                    <a:bodyPr wrap="none"/>
                    <a:lstStyle/>
                    <a:p>
                      <a:pPr algn="l"/>
                      <a:r>
                        <a:rPr sz="900" b="0">
                          <a:solidFill>
                            <a:srgbClr val="2E2E2E"/>
                          </a:solidFill>
                          <a:latin typeface="Calibri"/>
                        </a:rPr>
                        <a:t>Tier 1</a:t>
                      </a:r>
                    </a:p>
                  </a:txBody>
                  <a:tcPr marL="85725" marR="38100" marT="19050" marB="19050" anchor="ctr">
                    <a:solidFill>
                      <a:srgbClr val="F5F8FA"/>
                    </a:solidFill>
                  </a:tcPr>
                </a:tc>
                <a:tc>
                  <a:txBody>
                    <a:bodyPr wrap="none"/>
                    <a:lstStyle/>
                    <a:p>
                      <a:pPr algn="l"/>
                      <a:r>
                        <a:rPr sz="900" b="0">
                          <a:solidFill>
                            <a:srgbClr val="2E2E2E"/>
                          </a:solidFill>
                          <a:latin typeface="Calibri"/>
                        </a:rPr>
                        <a:t>Premium</a:t>
                      </a:r>
                    </a:p>
                  </a:txBody>
                  <a:tcPr marL="85725" marR="38100" marT="19050" marB="19050" anchor="ctr">
                    <a:solidFill>
                      <a:srgbClr val="F5F8FA"/>
                    </a:solidFill>
                  </a:tcPr>
                </a:tc>
                <a:tc>
                  <a:txBody>
                    <a:bodyPr wrap="none"/>
                    <a:lstStyle/>
                    <a:p>
                      <a:pPr algn="l"/>
                      <a:r>
                        <a:rPr sz="900" b="0">
                          <a:solidFill>
                            <a:srgbClr val="2E2E2E"/>
                          </a:solidFill>
                          <a:latin typeface="Calibri"/>
                        </a:rPr>
                        <a:t>+5%</a:t>
                      </a:r>
                    </a:p>
                  </a:txBody>
                  <a:tcPr marL="85725" marR="38100" marT="19050" marB="19050" anchor="ctr">
                    <a:solidFill>
                      <a:srgbClr val="F5F8FA"/>
                    </a:solidFill>
                  </a:tcPr>
                </a:tc>
                <a:tc>
                  <a:txBody>
                    <a:bodyPr wrap="none"/>
                    <a:lstStyle/>
                    <a:p>
                      <a:pPr algn="l"/>
                      <a:r>
                        <a:rPr sz="900" b="0">
                          <a:solidFill>
                            <a:srgbClr val="2E2E2E"/>
                          </a:solidFill>
                          <a:latin typeface="Calibri"/>
                        </a:rPr>
                        <a:t>Value-based premium pricing</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C</a:t>
                      </a:r>
                    </a:p>
                  </a:txBody>
                  <a:tcPr marL="85725" marR="38100" marT="19050" marB="19050" anchor="ctr">
                    <a:solidFill>
                      <a:srgbClr val="FFFFFF"/>
                    </a:solidFill>
                  </a:tcPr>
                </a:tc>
                <a:tc>
                  <a:txBody>
                    <a:bodyPr wrap="none"/>
                    <a:lstStyle/>
                    <a:p>
                      <a:pPr algn="l"/>
                      <a:r>
                        <a:rPr sz="900" b="0">
                          <a:solidFill>
                            <a:srgbClr val="2E2E2E"/>
                          </a:solidFill>
                          <a:latin typeface="Calibri"/>
                        </a:rPr>
                        <a:t>Tier 1</a:t>
                      </a:r>
                    </a:p>
                  </a:txBody>
                  <a:tcPr marL="85725" marR="38100" marT="19050" marB="19050" anchor="ctr">
                    <a:solidFill>
                      <a:srgbClr val="FFFFFF"/>
                    </a:solidFill>
                  </a:tcPr>
                </a:tc>
                <a:tc>
                  <a:txBody>
                    <a:bodyPr wrap="none"/>
                    <a:lstStyle/>
                    <a:p>
                      <a:pPr algn="l"/>
                      <a:r>
                        <a:rPr sz="900" b="0">
                          <a:solidFill>
                            <a:srgbClr val="2E2E2E"/>
                          </a:solidFill>
                          <a:latin typeface="Calibri"/>
                        </a:rPr>
                        <a:t>Premium</a:t>
                      </a:r>
                    </a:p>
                  </a:txBody>
                  <a:tcPr marL="85725" marR="38100" marT="19050" marB="19050" anchor="ctr">
                    <a:solidFill>
                      <a:srgbClr val="FFFFFF"/>
                    </a:solidFill>
                  </a:tcPr>
                </a:tc>
                <a:tc>
                  <a:txBody>
                    <a:bodyPr wrap="none"/>
                    <a:lstStyle/>
                    <a:p>
                      <a:pPr algn="l"/>
                      <a:r>
                        <a:rPr sz="900" b="0">
                          <a:solidFill>
                            <a:srgbClr val="2E2E2E"/>
                          </a:solidFill>
                          <a:latin typeface="Calibri"/>
                        </a:rPr>
                        <a:t>+4%</a:t>
                      </a:r>
                    </a:p>
                  </a:txBody>
                  <a:tcPr marL="85725" marR="38100" marT="19050" marB="19050" anchor="ctr">
                    <a:solidFill>
                      <a:srgbClr val="FFFFFF"/>
                    </a:solidFill>
                  </a:tcPr>
                </a:tc>
                <a:tc>
                  <a:txBody>
                    <a:bodyPr wrap="none"/>
                    <a:lstStyle/>
                    <a:p>
                      <a:pPr algn="l"/>
                      <a:r>
                        <a:rPr sz="900" b="0">
                          <a:solidFill>
                            <a:srgbClr val="2E2E2E"/>
                          </a:solidFill>
                          <a:latin typeface="Calibri"/>
                        </a:rPr>
                        <a:t>Innovation-led price leadership</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D</a:t>
                      </a:r>
                    </a:p>
                  </a:txBody>
                  <a:tcPr marL="85725" marR="38100" marT="19050" marB="19050" anchor="ctr">
                    <a:solidFill>
                      <a:srgbClr val="F5F8FA"/>
                    </a:solidFill>
                  </a:tcPr>
                </a:tc>
                <a:tc>
                  <a:txBody>
                    <a:bodyPr wrap="none"/>
                    <a:lstStyle/>
                    <a:p>
                      <a:pPr algn="l"/>
                      <a:r>
                        <a:rPr sz="900" b="0">
                          <a:solidFill>
                            <a:srgbClr val="2E2E2E"/>
                          </a:solidFill>
                          <a:latin typeface="Calibri"/>
                        </a:rPr>
                        <a:t>Tier 1</a:t>
                      </a:r>
                    </a:p>
                  </a:txBody>
                  <a:tcPr marL="85725" marR="38100" marT="19050" marB="19050" anchor="ctr">
                    <a:solidFill>
                      <a:srgbClr val="F5F8FA"/>
                    </a:solidFill>
                  </a:tcPr>
                </a:tc>
                <a:tc>
                  <a:txBody>
                    <a:bodyPr wrap="none"/>
                    <a:lstStyle/>
                    <a:p>
                      <a:pPr algn="l"/>
                      <a:r>
                        <a:rPr sz="900" b="0">
                          <a:solidFill>
                            <a:srgbClr val="2E2E2E"/>
                          </a:solidFill>
                          <a:latin typeface="Calibri"/>
                        </a:rPr>
                        <a:t>Parity</a:t>
                      </a:r>
                    </a:p>
                  </a:txBody>
                  <a:tcPr marL="85725" marR="38100" marT="19050" marB="19050" anchor="ctr">
                    <a:solidFill>
                      <a:srgbClr val="F5F8FA"/>
                    </a:solidFill>
                  </a:tcPr>
                </a:tc>
                <a:tc>
                  <a:txBody>
                    <a:bodyPr wrap="none"/>
                    <a:lstStyle/>
                    <a:p>
                      <a:pPr algn="l"/>
                      <a:r>
                        <a:rPr sz="900" b="0">
                          <a:solidFill>
                            <a:srgbClr val="2E2E2E"/>
                          </a:solidFill>
                          <a:latin typeface="Calibri"/>
                        </a:rPr>
                        <a:t>+3%</a:t>
                      </a:r>
                    </a:p>
                  </a:txBody>
                  <a:tcPr marL="85725" marR="38100" marT="19050" marB="19050" anchor="ctr">
                    <a:solidFill>
                      <a:srgbClr val="F5F8FA"/>
                    </a:solidFill>
                  </a:tcPr>
                </a:tc>
                <a:tc>
                  <a:txBody>
                    <a:bodyPr wrap="none"/>
                    <a:lstStyle/>
                    <a:p>
                      <a:pPr algn="l"/>
                      <a:r>
                        <a:rPr sz="900" b="0">
                          <a:solidFill>
                            <a:srgbClr val="2E2E2E"/>
                          </a:solidFill>
                          <a:latin typeface="Calibri"/>
                        </a:rPr>
                        <a:t>Parity pricing with mix upsell</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E</a:t>
                      </a:r>
                    </a:p>
                  </a:txBody>
                  <a:tcPr marL="85725" marR="38100" marT="19050" marB="19050" anchor="ctr">
                    <a:solidFill>
                      <a:srgbClr val="FFFFFF"/>
                    </a:solidFill>
                  </a:tcPr>
                </a:tc>
                <a:tc>
                  <a:txBody>
                    <a:bodyPr wrap="none"/>
                    <a:lstStyle/>
                    <a:p>
                      <a:pPr algn="l"/>
                      <a:r>
                        <a:rPr sz="900" b="0">
                          <a:solidFill>
                            <a:srgbClr val="2E2E2E"/>
                          </a:solidFill>
                          <a:latin typeface="Calibri"/>
                        </a:rPr>
                        <a:t>Tier 2</a:t>
                      </a:r>
                    </a:p>
                  </a:txBody>
                  <a:tcPr marL="85725" marR="38100" marT="19050" marB="19050" anchor="ctr">
                    <a:solidFill>
                      <a:srgbClr val="FFFFFF"/>
                    </a:solidFill>
                  </a:tcPr>
                </a:tc>
                <a:tc>
                  <a:txBody>
                    <a:bodyPr wrap="none"/>
                    <a:lstStyle/>
                    <a:p>
                      <a:pPr algn="l"/>
                      <a:r>
                        <a:rPr sz="900" b="0">
                          <a:solidFill>
                            <a:srgbClr val="2E2E2E"/>
                          </a:solidFill>
                          <a:latin typeface="Calibri"/>
                        </a:rPr>
                        <a:t>Parity</a:t>
                      </a:r>
                    </a:p>
                  </a:txBody>
                  <a:tcPr marL="85725" marR="38100" marT="19050" marB="19050" anchor="ctr">
                    <a:solidFill>
                      <a:srgbClr val="FFFFFF"/>
                    </a:solidFill>
                  </a:tcPr>
                </a:tc>
                <a:tc>
                  <a:txBody>
                    <a:bodyPr wrap="none"/>
                    <a:lstStyle/>
                    <a:p>
                      <a:pPr algn="l"/>
                      <a:r>
                        <a:rPr sz="900" b="0">
                          <a:solidFill>
                            <a:srgbClr val="2E2E2E"/>
                          </a:solidFill>
                          <a:latin typeface="Calibri"/>
                        </a:rPr>
                        <a:t>+2%</a:t>
                      </a:r>
                    </a:p>
                  </a:txBody>
                  <a:tcPr marL="85725" marR="38100" marT="19050" marB="19050" anchor="ctr">
                    <a:solidFill>
                      <a:srgbClr val="FFFFFF"/>
                    </a:solidFill>
                  </a:tcPr>
                </a:tc>
                <a:tc>
                  <a:txBody>
                    <a:bodyPr wrap="none"/>
                    <a:lstStyle/>
                    <a:p>
                      <a:pPr algn="l"/>
                      <a:r>
                        <a:rPr sz="900" b="0">
                          <a:solidFill>
                            <a:srgbClr val="2E2E2E"/>
                          </a:solidFill>
                          <a:latin typeface="Calibri"/>
                        </a:rPr>
                        <a:t>Penetration &amp; share-led pricing</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F</a:t>
                      </a:r>
                    </a:p>
                  </a:txBody>
                  <a:tcPr marL="85725" marR="38100" marT="19050" marB="19050" anchor="ctr">
                    <a:solidFill>
                      <a:srgbClr val="F5F8FA"/>
                    </a:solidFill>
                  </a:tcPr>
                </a:tc>
                <a:tc>
                  <a:txBody>
                    <a:bodyPr wrap="none"/>
                    <a:lstStyle/>
                    <a:p>
                      <a:pPr algn="l"/>
                      <a:r>
                        <a:rPr sz="900" b="0">
                          <a:solidFill>
                            <a:srgbClr val="2E2E2E"/>
                          </a:solidFill>
                          <a:latin typeface="Calibri"/>
                        </a:rPr>
                        <a:t>Tier 2</a:t>
                      </a:r>
                    </a:p>
                  </a:txBody>
                  <a:tcPr marL="85725" marR="38100" marT="19050" marB="19050" anchor="ctr">
                    <a:solidFill>
                      <a:srgbClr val="F5F8FA"/>
                    </a:solidFill>
                  </a:tcPr>
                </a:tc>
                <a:tc>
                  <a:txBody>
                    <a:bodyPr wrap="none"/>
                    <a:lstStyle/>
                    <a:p>
                      <a:pPr algn="l"/>
                      <a:r>
                        <a:rPr sz="900" b="0">
                          <a:solidFill>
                            <a:srgbClr val="2E2E2E"/>
                          </a:solidFill>
                          <a:latin typeface="Calibri"/>
                        </a:rPr>
                        <a:t>Parity</a:t>
                      </a:r>
                    </a:p>
                  </a:txBody>
                  <a:tcPr marL="85725" marR="38100" marT="19050" marB="19050" anchor="ctr">
                    <a:solidFill>
                      <a:srgbClr val="F5F8FA"/>
                    </a:solidFill>
                  </a:tcPr>
                </a:tc>
                <a:tc>
                  <a:txBody>
                    <a:bodyPr wrap="none"/>
                    <a:lstStyle/>
                    <a:p>
                      <a:pPr algn="l"/>
                      <a:r>
                        <a:rPr sz="900" b="0">
                          <a:solidFill>
                            <a:srgbClr val="2E2E2E"/>
                          </a:solidFill>
                          <a:latin typeface="Calibri"/>
                        </a:rPr>
                        <a:t>+1%</a:t>
                      </a:r>
                    </a:p>
                  </a:txBody>
                  <a:tcPr marL="85725" marR="38100" marT="19050" marB="19050" anchor="ctr">
                    <a:solidFill>
                      <a:srgbClr val="F5F8FA"/>
                    </a:solidFill>
                  </a:tcPr>
                </a:tc>
                <a:tc>
                  <a:txBody>
                    <a:bodyPr wrap="none"/>
                    <a:lstStyle/>
                    <a:p>
                      <a:pPr algn="l"/>
                      <a:r>
                        <a:rPr sz="900" b="0">
                          <a:solidFill>
                            <a:srgbClr val="2E2E2E"/>
                          </a:solidFill>
                          <a:latin typeface="Calibri"/>
                        </a:rPr>
                        <a:t>Competitive / discount-led pricing</a:t>
                      </a:r>
                    </a:p>
                  </a:txBody>
                  <a:tcPr marL="85725" marR="38100" marT="19050" marB="19050" anchor="ctr">
                    <a:solidFill>
                      <a:srgbClr val="F5F8FA"/>
                    </a:solidFill>
                  </a:tcPr>
                </a:tc>
              </a:tr>
            </a:tbl>
          </a:graphicData>
        </a:graphic>
      </p:graphicFrame>
      <p:sp>
        <p:nvSpPr>
          <p:cNvPr id="14" name="TextBox 13"/>
          <p:cNvSpPr txBox="1"/>
          <p:nvPr/>
        </p:nvSpPr>
        <p:spPr>
          <a:xfrm>
            <a:off x="219075" y="5133975"/>
            <a:ext cx="75438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5391150"/>
            <a:ext cx="7696200" cy="381000"/>
          </a:xfrm>
          <a:prstGeom prst="roundRect">
            <a:avLst>
              <a:gd name="adj" fmla="val 2000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Note: competitor figures are indicative derived from market modelling and expert validation, not company disclosures.</a:t>
            </a:r>
          </a:p>
        </p:txBody>
      </p:sp>
      <p:sp>
        <p:nvSpPr>
          <p:cNvPr id="16" name="Rounded Rectangle 15"/>
          <p:cNvSpPr/>
          <p:nvPr/>
        </p:nvSpPr>
        <p:spPr>
          <a:xfrm>
            <a:off x="7915275" y="1181100"/>
            <a:ext cx="4133850" cy="5467350"/>
          </a:xfrm>
          <a:prstGeom prst="roundRect">
            <a:avLst>
              <a:gd name="adj" fmla="val 184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8625" y="1266825"/>
            <a:ext cx="3867150" cy="209550"/>
          </a:xfrm>
          <a:prstGeom prst="rect">
            <a:avLst/>
          </a:prstGeom>
          <a:noFill/>
        </p:spPr>
        <p:txBody>
          <a:bodyPr wrap="square" lIns="0" rIns="19050" tIns="9525" bIns="9525">
            <a:spAutoFit/>
          </a:bodyPr>
          <a:lstStyle/>
          <a:p>
            <a:pPr algn="l"/>
            <a:r>
              <a:rPr sz="1300" b="1">
                <a:solidFill>
                  <a:srgbClr val="0B2E4A"/>
                </a:solidFill>
                <a:latin typeface="Calibri"/>
              </a:rPr>
              <a:t>Competitive Pricing Themes</a:t>
            </a:r>
          </a:p>
        </p:txBody>
      </p:sp>
      <p:sp>
        <p:nvSpPr>
          <p:cNvPr id="18" name="Rectangle 17"/>
          <p:cNvSpPr/>
          <p:nvPr/>
        </p:nvSpPr>
        <p:spPr>
          <a:xfrm>
            <a:off x="8048625" y="1504950"/>
            <a:ext cx="38671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8625" y="1590675"/>
            <a:ext cx="3867150" cy="49815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players anchor premium pricing, defending ASP through brand, product development and certification rather than discounting.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Mid-tier players price at or just below parity, using launches and expansion to win share in fast-growing segments.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Emerging players compete on value pricing, trading margin for access and volume in price-sensitive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Across tiers, R&amp;D investment and selective M&amp;A are the primary levers to move up the price ladder over time.</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Supply Chain Analysis</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Chain &amp; Stakeholder Mapping</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Operating Margin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Buyers Assessment</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Value Chain &amp; Stakeholder Mapping</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Mapping of the value chain stages, the stakeholders at each stage and the value added along the chain</a:t>
            </a:r>
          </a:p>
        </p:txBody>
      </p:sp>
      <p:sp>
        <p:nvSpPr>
          <p:cNvPr id="11" name="TextBox 10"/>
          <p:cNvSpPr txBox="1"/>
          <p:nvPr/>
        </p:nvSpPr>
        <p:spPr>
          <a:xfrm>
            <a:off x="285750" y="819150"/>
            <a:ext cx="10668000" cy="171450"/>
          </a:xfrm>
          <a:prstGeom prst="rect">
            <a:avLst/>
          </a:prstGeom>
          <a:noFill/>
        </p:spPr>
        <p:txBody>
          <a:bodyPr wrap="square" lIns="0" rIns="19050" tIns="0" bIns="0">
            <a:spAutoFit/>
          </a:bodyPr>
          <a:lstStyle/>
          <a:p>
            <a:pPr algn="l"/>
            <a:r>
              <a:rPr sz="950" b="0">
                <a:solidFill>
                  <a:srgbClr val="6C7A89"/>
                </a:solidFill>
                <a:latin typeface="Calibri"/>
              </a:rPr>
              <a:t>End-to-end value chain with the key stakeholders at each stage and their indicative contribution to value addition.</a:t>
            </a:r>
          </a:p>
        </p:txBody>
      </p:sp>
      <p:sp>
        <p:nvSpPr>
          <p:cNvPr id="12" name="Right Arrow 11"/>
          <p:cNvSpPr/>
          <p:nvPr/>
        </p:nvSpPr>
        <p:spPr>
          <a:xfrm>
            <a:off x="1885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4171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6457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8743950" y="1914525"/>
            <a:ext cx="1562100" cy="171450"/>
          </a:xfrm>
          <a:prstGeom prst="rightArrow">
            <a:avLst>
              <a:gd name="adj1" fmla="val 50000"/>
              <a:gd name="adj2" fmla="val 55000"/>
            </a:avLst>
          </a:prstGeom>
          <a:solidFill>
            <a:srgbClr val="CBD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9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Raw Material</a:t>
            </a:r>
          </a:p>
          <a:p>
            <a:pPr algn="ctr">
              <a:lnSpc>
                <a:spcPct val="100000"/>
              </a:lnSpc>
            </a:pPr>
            <a:r>
              <a:rPr sz="1100" b="1">
                <a:solidFill>
                  <a:srgbClr val="0B2E4A"/>
                </a:solidFill>
                <a:latin typeface="Calibri"/>
              </a:rPr>
              <a:t>Suppliers</a:t>
            </a:r>
          </a:p>
        </p:txBody>
      </p:sp>
      <p:sp>
        <p:nvSpPr>
          <p:cNvPr id="17" name="Oval 16"/>
          <p:cNvSpPr/>
          <p:nvPr/>
        </p:nvSpPr>
        <p:spPr>
          <a:xfrm>
            <a:off x="1076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23950" y="1600200"/>
            <a:ext cx="800100" cy="800100"/>
          </a:xfrm>
          <a:prstGeom prst="ellipse">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509712" y="1981200"/>
            <a:ext cx="28575" cy="1619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rot="19500000">
            <a:off x="1381125" y="1914525"/>
            <a:ext cx="142875" cy="8572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rot="2100000">
            <a:off x="1524000" y="1914525"/>
            <a:ext cx="142875" cy="85725"/>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52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5–10%</a:t>
            </a:r>
          </a:p>
        </p:txBody>
      </p:sp>
      <p:sp>
        <p:nvSpPr>
          <p:cNvPr id="23" name="Rounded Rectangle 22"/>
          <p:cNvSpPr/>
          <p:nvPr/>
        </p:nvSpPr>
        <p:spPr>
          <a:xfrm>
            <a:off x="457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838450"/>
            <a:ext cx="2133600" cy="47625"/>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2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Raw Material Suppliers</a:t>
            </a:r>
          </a:p>
        </p:txBody>
      </p:sp>
      <p:sp>
        <p:nvSpPr>
          <p:cNvPr id="26" name="TextBox 25"/>
          <p:cNvSpPr txBox="1"/>
          <p:nvPr/>
        </p:nvSpPr>
        <p:spPr>
          <a:xfrm>
            <a:off x="542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Growers and primary producers supply core inputs; some forward-integrate into small-scale processing.</a:t>
            </a:r>
          </a:p>
        </p:txBody>
      </p:sp>
      <p:sp>
        <p:nvSpPr>
          <p:cNvPr id="27" name="TextBox 26"/>
          <p:cNvSpPr txBox="1"/>
          <p:nvPr/>
        </p:nvSpPr>
        <p:spPr>
          <a:xfrm>
            <a:off x="2705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Manufacturers</a:t>
            </a:r>
          </a:p>
        </p:txBody>
      </p:sp>
      <p:sp>
        <p:nvSpPr>
          <p:cNvPr id="28" name="Oval 27"/>
          <p:cNvSpPr/>
          <p:nvPr/>
        </p:nvSpPr>
        <p:spPr>
          <a:xfrm>
            <a:off x="3362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09950" y="1600200"/>
            <a:ext cx="800100" cy="800100"/>
          </a:xfrm>
          <a:prstGeom prst="ellipse">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38550" y="1981200"/>
            <a:ext cx="342900" cy="1714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67125" y="1876425"/>
            <a:ext cx="66675" cy="1143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771900" y="1914525"/>
            <a:ext cx="66675" cy="76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76675" y="1885950"/>
            <a:ext cx="66675" cy="1047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438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20–40%</a:t>
            </a:r>
          </a:p>
        </p:txBody>
      </p:sp>
      <p:sp>
        <p:nvSpPr>
          <p:cNvPr id="35" name="Rounded Rectangle 34"/>
          <p:cNvSpPr/>
          <p:nvPr/>
        </p:nvSpPr>
        <p:spPr>
          <a:xfrm>
            <a:off x="2743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2838450"/>
            <a:ext cx="2133600" cy="47625"/>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28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Manufacturers / Processors</a:t>
            </a:r>
          </a:p>
        </p:txBody>
      </p:sp>
      <p:sp>
        <p:nvSpPr>
          <p:cNvPr id="38" name="TextBox 37"/>
          <p:cNvSpPr txBox="1"/>
          <p:nvPr/>
        </p:nvSpPr>
        <p:spPr>
          <a:xfrm>
            <a:off x="2828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Convert inputs into finished and semi-finished product the single largest value-addition stage.</a:t>
            </a:r>
          </a:p>
        </p:txBody>
      </p:sp>
      <p:sp>
        <p:nvSpPr>
          <p:cNvPr id="39" name="TextBox 38"/>
          <p:cNvSpPr txBox="1"/>
          <p:nvPr/>
        </p:nvSpPr>
        <p:spPr>
          <a:xfrm>
            <a:off x="4991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Distributors</a:t>
            </a:r>
          </a:p>
        </p:txBody>
      </p:sp>
      <p:sp>
        <p:nvSpPr>
          <p:cNvPr id="40" name="Oval 39"/>
          <p:cNvSpPr/>
          <p:nvPr/>
        </p:nvSpPr>
        <p:spPr>
          <a:xfrm>
            <a:off x="5648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695950" y="1600200"/>
            <a:ext cx="800100" cy="800100"/>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15025" y="1895475"/>
            <a:ext cx="209550" cy="1714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34100" y="1971675"/>
            <a:ext cx="123825" cy="952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972175" y="2047875"/>
            <a:ext cx="85725" cy="8572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53150" y="2047875"/>
            <a:ext cx="85725" cy="85725"/>
          </a:xfrm>
          <a:prstGeom prst="ellipse">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724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5–25%</a:t>
            </a:r>
          </a:p>
        </p:txBody>
      </p:sp>
      <p:sp>
        <p:nvSpPr>
          <p:cNvPr id="47" name="Rounded Rectangle 46"/>
          <p:cNvSpPr/>
          <p:nvPr/>
        </p:nvSpPr>
        <p:spPr>
          <a:xfrm>
            <a:off x="5029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2838450"/>
            <a:ext cx="2133600" cy="4762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14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Distributors &amp; Wholesalers</a:t>
            </a:r>
          </a:p>
        </p:txBody>
      </p:sp>
      <p:sp>
        <p:nvSpPr>
          <p:cNvPr id="50" name="TextBox 49"/>
          <p:cNvSpPr txBox="1"/>
          <p:nvPr/>
        </p:nvSpPr>
        <p:spPr>
          <a:xfrm>
            <a:off x="5114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Move product to market, hold inventory and provide logistics, reach and credit to downstream channels.</a:t>
            </a:r>
          </a:p>
        </p:txBody>
      </p:sp>
      <p:sp>
        <p:nvSpPr>
          <p:cNvPr id="51" name="TextBox 50"/>
          <p:cNvSpPr txBox="1"/>
          <p:nvPr/>
        </p:nvSpPr>
        <p:spPr>
          <a:xfrm>
            <a:off x="7277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Retailers</a:t>
            </a:r>
          </a:p>
        </p:txBody>
      </p:sp>
      <p:sp>
        <p:nvSpPr>
          <p:cNvPr id="52" name="Oval 51"/>
          <p:cNvSpPr/>
          <p:nvPr/>
        </p:nvSpPr>
        <p:spPr>
          <a:xfrm>
            <a:off x="7934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7981950" y="1600200"/>
            <a:ext cx="800100" cy="800100"/>
          </a:xfrm>
          <a:prstGeom prst="ellipse">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Isosceles Triangle 53"/>
          <p:cNvSpPr/>
          <p:nvPr/>
        </p:nvSpPr>
        <p:spPr>
          <a:xfrm>
            <a:off x="8201025" y="1857375"/>
            <a:ext cx="361950" cy="114300"/>
          </a:xfrm>
          <a:prstGeom prst="triangl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239125" y="1962150"/>
            <a:ext cx="285750" cy="190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343900" y="2038350"/>
            <a:ext cx="76200" cy="114300"/>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010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10–35%</a:t>
            </a:r>
          </a:p>
        </p:txBody>
      </p:sp>
      <p:sp>
        <p:nvSpPr>
          <p:cNvPr id="58" name="Rounded Rectangle 57"/>
          <p:cNvSpPr/>
          <p:nvPr/>
        </p:nvSpPr>
        <p:spPr>
          <a:xfrm>
            <a:off x="7315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15200" y="2838450"/>
            <a:ext cx="2133600" cy="47625"/>
          </a:xfrm>
          <a:prstGeom prst="rect">
            <a:avLst/>
          </a:prstGeom>
          <a:solidFill>
            <a:srgbClr val="6F3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00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Retailers &amp; Channels</a:t>
            </a:r>
          </a:p>
        </p:txBody>
      </p:sp>
      <p:sp>
        <p:nvSpPr>
          <p:cNvPr id="61" name="TextBox 60"/>
          <p:cNvSpPr txBox="1"/>
          <p:nvPr/>
        </p:nvSpPr>
        <p:spPr>
          <a:xfrm>
            <a:off x="7400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Sell to end customers across offline and online channels, capturing point-of-sale margin and brand visibility.</a:t>
            </a:r>
          </a:p>
        </p:txBody>
      </p:sp>
      <p:sp>
        <p:nvSpPr>
          <p:cNvPr id="62" name="TextBox 61"/>
          <p:cNvSpPr txBox="1"/>
          <p:nvPr/>
        </p:nvSpPr>
        <p:spPr>
          <a:xfrm>
            <a:off x="9563100" y="1123950"/>
            <a:ext cx="2209800" cy="361950"/>
          </a:xfrm>
          <a:prstGeom prst="rect">
            <a:avLst/>
          </a:prstGeom>
          <a:noFill/>
        </p:spPr>
        <p:txBody>
          <a:bodyPr wrap="square" lIns="28575" rIns="28575" tIns="9525" bIns="9525" anchor="b">
            <a:spAutoFit/>
          </a:bodyPr>
          <a:lstStyle/>
          <a:p>
            <a:pPr algn="ctr">
              <a:lnSpc>
                <a:spcPct val="100000"/>
              </a:lnSpc>
            </a:pPr>
            <a:r>
              <a:rPr sz="1100" b="1">
                <a:solidFill>
                  <a:srgbClr val="0B2E4A"/>
                </a:solidFill>
                <a:latin typeface="Calibri"/>
              </a:rPr>
              <a:t>End Users</a:t>
            </a:r>
          </a:p>
        </p:txBody>
      </p:sp>
      <p:sp>
        <p:nvSpPr>
          <p:cNvPr id="63" name="Oval 62"/>
          <p:cNvSpPr/>
          <p:nvPr/>
        </p:nvSpPr>
        <p:spPr>
          <a:xfrm>
            <a:off x="10220325" y="1552575"/>
            <a:ext cx="895350" cy="895350"/>
          </a:xfrm>
          <a:prstGeom prst="ellipse">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267950" y="1600200"/>
            <a:ext cx="800100" cy="800100"/>
          </a:xfrm>
          <a:prstGeom prst="ellipse">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0601325" y="1847850"/>
            <a:ext cx="133350" cy="1333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10544175" y="2009775"/>
            <a:ext cx="247650" cy="133350"/>
          </a:xfrm>
          <a:custGeom>
            <a:avLst/>
            <a:gdLst/>
            <a:ahLst/>
            <a:cxnLst/>
            <a:rect l="l" t="t" r="r" b="b"/>
            <a:pathLst>
              <a:path w="26" h="14">
                <a:moveTo>
                  <a:pt x="0" y="14"/>
                </a:moveTo>
                <a:lnTo>
                  <a:pt x="4" y="0"/>
                </a:lnTo>
                <a:lnTo>
                  <a:pt x="22" y="0"/>
                </a:lnTo>
                <a:lnTo>
                  <a:pt x="26" y="1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0296525" y="2514600"/>
            <a:ext cx="742950" cy="209550"/>
          </a:xfrm>
          <a:prstGeom prst="roundRect">
            <a:avLst>
              <a:gd name="adj" fmla="val 50000"/>
            </a:avLst>
          </a:prstGeom>
          <a:solidFill>
            <a:srgbClr val="F0E8F6"/>
          </a:solidFill>
          <a:ln w="9525">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950" b="1">
                <a:solidFill>
                  <a:srgbClr val="6F3CC2"/>
                </a:solidFill>
                <a:latin typeface="Calibri"/>
              </a:rPr>
              <a:t>▲ 10–20%</a:t>
            </a:r>
          </a:p>
        </p:txBody>
      </p:sp>
      <p:sp>
        <p:nvSpPr>
          <p:cNvPr id="68" name="Rounded Rectangle 67"/>
          <p:cNvSpPr/>
          <p:nvPr/>
        </p:nvSpPr>
        <p:spPr>
          <a:xfrm>
            <a:off x="9601200" y="2838450"/>
            <a:ext cx="2133600" cy="2381250"/>
          </a:xfrm>
          <a:prstGeom prst="roundRect">
            <a:avLst>
              <a:gd name="adj" fmla="val 3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601200" y="2838450"/>
            <a:ext cx="2133600" cy="47625"/>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86925" y="2952750"/>
            <a:ext cx="1962150" cy="400050"/>
          </a:xfrm>
          <a:prstGeom prst="rect">
            <a:avLst/>
          </a:prstGeom>
          <a:noFill/>
        </p:spPr>
        <p:txBody>
          <a:bodyPr wrap="square" lIns="28575" rIns="28575" tIns="9525" bIns="9525">
            <a:spAutoFit/>
          </a:bodyPr>
          <a:lstStyle/>
          <a:p>
            <a:pPr algn="l">
              <a:lnSpc>
                <a:spcPct val="105000"/>
              </a:lnSpc>
            </a:pPr>
            <a:r>
              <a:rPr sz="1150" b="1">
                <a:solidFill>
                  <a:srgbClr val="0B2E4A"/>
                </a:solidFill>
                <a:latin typeface="Calibri"/>
              </a:rPr>
              <a:t>End Users</a:t>
            </a:r>
          </a:p>
        </p:txBody>
      </p:sp>
      <p:sp>
        <p:nvSpPr>
          <p:cNvPr id="71" name="TextBox 70"/>
          <p:cNvSpPr txBox="1"/>
          <p:nvPr/>
        </p:nvSpPr>
        <p:spPr>
          <a:xfrm>
            <a:off x="9686925" y="3371850"/>
            <a:ext cx="1962150" cy="1752600"/>
          </a:xfrm>
          <a:prstGeom prst="rect">
            <a:avLst/>
          </a:prstGeom>
          <a:noFill/>
        </p:spPr>
        <p:txBody>
          <a:bodyPr wrap="square" lIns="28575" rIns="28575" tIns="9525" bIns="9525">
            <a:spAutoFit/>
          </a:bodyPr>
          <a:lstStyle/>
          <a:p>
            <a:pPr algn="l">
              <a:lnSpc>
                <a:spcPct val="122000"/>
              </a:lnSpc>
            </a:pPr>
            <a:r>
              <a:rPr sz="1000" b="0">
                <a:solidFill>
                  <a:srgbClr val="2E2E2E"/>
                </a:solidFill>
                <a:latin typeface="Calibri"/>
              </a:rPr>
              <a:t>Consumers and downstream industries; large end users sometimes backward-integrate to secure supply and cost.</a:t>
            </a:r>
          </a:p>
        </p:txBody>
      </p:sp>
      <p:sp>
        <p:nvSpPr>
          <p:cNvPr id="72" name="Rounded Rectangle 71"/>
          <p:cNvSpPr/>
          <p:nvPr/>
        </p:nvSpPr>
        <p:spPr>
          <a:xfrm>
            <a:off x="381000" y="5353050"/>
            <a:ext cx="11430000" cy="1352550"/>
          </a:xfrm>
          <a:prstGeom prst="roundRect">
            <a:avLst>
              <a:gd name="adj" fmla="val 563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4350" y="5438775"/>
            <a:ext cx="11163300" cy="209550"/>
          </a:xfrm>
          <a:prstGeom prst="rect">
            <a:avLst/>
          </a:prstGeom>
          <a:noFill/>
        </p:spPr>
        <p:txBody>
          <a:bodyPr wrap="square" lIns="0" rIns="19050" tIns="9525" bIns="9525">
            <a:spAutoFit/>
          </a:bodyPr>
          <a:lstStyle/>
          <a:p>
            <a:pPr algn="l"/>
            <a:r>
              <a:rPr sz="1300" b="1">
                <a:solidFill>
                  <a:srgbClr val="0B2E4A"/>
                </a:solidFill>
                <a:latin typeface="Calibri"/>
              </a:rPr>
              <a:t>Value-Added Read-out</a:t>
            </a:r>
          </a:p>
        </p:txBody>
      </p:sp>
      <p:sp>
        <p:nvSpPr>
          <p:cNvPr id="74" name="Rectangle 73"/>
          <p:cNvSpPr/>
          <p:nvPr/>
        </p:nvSpPr>
        <p:spPr>
          <a:xfrm>
            <a:off x="514350" y="5676900"/>
            <a:ext cx="111633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14350" y="5762625"/>
            <a:ext cx="11163300" cy="866775"/>
          </a:xfrm>
          <a:prstGeom prst="rect">
            <a:avLst/>
          </a:prstGeom>
          <a:noFill/>
        </p:spPr>
        <p:txBody>
          <a:bodyPr wrap="square" lIns="0" rIns="19050" tIns="9525" bIns="9525">
            <a:spAutoFit/>
          </a:bodyPr>
          <a:lstStyle/>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The Capillary Blood Collection Devices Market value chain runs from raw-material suppliers through manufacturers, distributors and retailers to end users.</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'Manufacturers / Processors' captures the largest value addition (20–40%), reflecting processing and scale advantages.</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Forward and backward integration is common some suppliers process, and some large end users produce their own input.</a:t>
            </a:r>
          </a:p>
          <a:p>
            <a:pPr algn="l">
              <a:lnSpc>
                <a:spcPct val="105000"/>
              </a:lnSpc>
              <a:spcBef>
                <a:spcPts val="0"/>
              </a:spcBef>
              <a:spcAft>
                <a:spcPts val="300"/>
              </a:spcAft>
            </a:pPr>
            <a:r>
              <a:rPr sz="855" b="0">
                <a:solidFill>
                  <a:srgbClr val="0E72AE"/>
                </a:solidFill>
                <a:latin typeface="Calibri"/>
              </a:rPr>
              <a:t>▪  </a:t>
            </a:r>
            <a:r>
              <a:rPr sz="950" b="0">
                <a:solidFill>
                  <a:srgbClr val="2E2E2E"/>
                </a:solidFill>
                <a:latin typeface="Calibri"/>
              </a:rPr>
              <a:t>Percentages show each stage's indicative share of value added along the chain.</a:t>
            </a:r>
          </a:p>
        </p:txBody>
      </p:sp>
      <p:sp>
        <p:nvSpPr>
          <p:cNvPr id="76" name="Rectangle 7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8" name="Rounded Rectangle 7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9" name="Rounded Rectangle 7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80" name="Rounded Rectangle 7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Industry-Wide Operating Margin Analysis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Operating margin by region and value chain node, highlighting where value concentrates along the chain</a:t>
            </a:r>
          </a:p>
        </p:txBody>
      </p:sp>
      <p:sp>
        <p:nvSpPr>
          <p:cNvPr id="11" name="Rounded Rectangle 10"/>
          <p:cNvSpPr/>
          <p:nvPr/>
        </p:nvSpPr>
        <p:spPr>
          <a:xfrm>
            <a:off x="142875" y="857250"/>
            <a:ext cx="11906250" cy="4000500"/>
          </a:xfrm>
          <a:prstGeom prst="roundRect">
            <a:avLst>
              <a:gd name="adj" fmla="val 1904"/>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Capillary Blood Collection Devices Market Operating Margin by Region &amp; Node</a:t>
            </a:r>
          </a:p>
        </p:txBody>
      </p:sp>
      <p:graphicFrame>
        <p:nvGraphicFramePr>
          <p:cNvPr id="13" name="Table 12"/>
          <p:cNvGraphicFramePr>
            <a:graphicFrameLocks noGrp="1"/>
          </p:cNvGraphicFramePr>
          <p:nvPr/>
        </p:nvGraphicFramePr>
        <p:xfrm>
          <a:off x="238125" y="1143000"/>
          <a:ext cx="11715749" cy="2352675"/>
        </p:xfrm>
        <a:graphic>
          <a:graphicData uri="http://schemas.openxmlformats.org/drawingml/2006/table">
            <a:tbl>
              <a:tblPr>
                <a:tableStyleId>{5C22544A-7EE6-4342-B048-85BDC9FD1C3A}</a:tableStyleId>
              </a:tblPr>
              <a:tblGrid>
                <a:gridCol w="3514725"/>
                <a:gridCol w="2050256"/>
                <a:gridCol w="2050256"/>
                <a:gridCol w="2050256"/>
                <a:gridCol w="2050256"/>
              </a:tblGrid>
              <a:tr h="180975">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Node of Supply Chain</a:t>
                      </a:r>
                    </a:p>
                  </a:txBody>
                  <a:tcPr marL="85725" marR="38100" marT="19050" marB="19050" anchor="ctr">
                    <a:solidFill>
                      <a:srgbClr val="E0E8EF"/>
                    </a:solidFill>
                  </a:tcPr>
                </a:tc>
                <a:tc>
                  <a:txBody>
                    <a:bodyPr wrap="none"/>
                    <a:lstStyle/>
                    <a:p>
                      <a:pPr algn="l"/>
                      <a:r>
                        <a:rPr sz="900" b="1">
                          <a:solidFill>
                            <a:srgbClr val="0B2E4A"/>
                          </a:solidFill>
                          <a:latin typeface="Calibri"/>
                        </a:rPr>
                        <a:t>Operating Margin</a:t>
                      </a:r>
                    </a:p>
                  </a:txBody>
                  <a:tcPr marL="85725" marR="38100" marT="19050" marB="19050" anchor="ctr">
                    <a:solidFill>
                      <a:srgbClr val="E0E8EF"/>
                    </a:solidFill>
                  </a:tcPr>
                </a:tc>
                <a:tc>
                  <a:txBody>
                    <a:bodyPr wrap="none"/>
                    <a:lstStyle/>
                    <a:p>
                      <a:pPr algn="l"/>
                      <a:r>
                        <a:rPr sz="900" b="1">
                          <a:solidFill>
                            <a:srgbClr val="0B2E4A"/>
                          </a:solidFill>
                          <a:latin typeface="Calibri"/>
                        </a:rPr>
                        <a:t>Comparison to Parent Market</a:t>
                      </a:r>
                    </a:p>
                  </a:txBody>
                  <a:tcPr marL="85725" marR="38100" marT="19050" marB="19050" anchor="ctr">
                    <a:solidFill>
                      <a:srgbClr val="E0E8EF"/>
                    </a:solidFill>
                  </a:tcPr>
                </a:tc>
                <a:tc>
                  <a:txBody>
                    <a:bodyPr wrap="none"/>
                    <a:lstStyle/>
                    <a:p>
                      <a:pPr algn="l"/>
                      <a:r>
                        <a:rPr sz="900" b="1">
                          <a:solidFill>
                            <a:srgbClr val="0B2E4A"/>
                          </a:solidFill>
                          <a:latin typeface="Calibri"/>
                        </a:rPr>
                        <a:t>Notes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10.0%</a:t>
                      </a:r>
                    </a:p>
                  </a:txBody>
                  <a:tcPr marL="85725" marR="38100" marT="19050" marB="19050" anchor="ctr">
                    <a:solidFill>
                      <a:srgbClr val="FFFFFF"/>
                    </a:solidFill>
                  </a:tcPr>
                </a:tc>
                <a:tc>
                  <a:txBody>
                    <a:bodyPr wrap="none"/>
                    <a:lstStyle/>
                    <a:p>
                      <a:pPr algn="l"/>
                      <a:r>
                        <a:rPr sz="900" b="0">
                          <a:solidFill>
                            <a:srgbClr val="2E2E2E"/>
                          </a:solidFill>
                          <a:latin typeface="Calibri"/>
                        </a:rPr>
                        <a:t>+830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19.7%</a:t>
                      </a:r>
                    </a:p>
                  </a:txBody>
                  <a:tcPr marL="85725" marR="38100" marT="19050" marB="19050" anchor="ctr">
                    <a:solidFill>
                      <a:srgbClr val="F5F8FA"/>
                    </a:solidFill>
                  </a:tcPr>
                </a:tc>
                <a:tc>
                  <a:txBody>
                    <a:bodyPr wrap="none"/>
                    <a:lstStyle/>
                    <a:p>
                      <a:pPr algn="l"/>
                      <a:r>
                        <a:rPr sz="900" b="0">
                          <a:solidFill>
                            <a:srgbClr val="2E2E2E"/>
                          </a:solidFill>
                          <a:latin typeface="Calibri"/>
                        </a:rPr>
                        <a:t>+1,738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9.8%</a:t>
                      </a:r>
                    </a:p>
                  </a:txBody>
                  <a:tcPr marL="85725" marR="38100" marT="19050" marB="19050" anchor="ctr">
                    <a:solidFill>
                      <a:srgbClr val="FFFFFF"/>
                    </a:solidFill>
                  </a:tcPr>
                </a:tc>
                <a:tc>
                  <a:txBody>
                    <a:bodyPr wrap="none"/>
                    <a:lstStyle/>
                    <a:p>
                      <a:pPr algn="l"/>
                      <a:r>
                        <a:rPr sz="900" b="0">
                          <a:solidFill>
                            <a:srgbClr val="2E2E2E"/>
                          </a:solidFill>
                          <a:latin typeface="Calibri"/>
                        </a:rPr>
                        <a:t>+692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12.3%</a:t>
                      </a:r>
                    </a:p>
                  </a:txBody>
                  <a:tcPr marL="85725" marR="38100" marT="19050" marB="19050" anchor="ctr">
                    <a:solidFill>
                      <a:srgbClr val="F5F8FA"/>
                    </a:solidFill>
                  </a:tcPr>
                </a:tc>
                <a:tc>
                  <a:txBody>
                    <a:bodyPr wrap="none"/>
                    <a:lstStyle/>
                    <a:p>
                      <a:pPr algn="l"/>
                      <a:r>
                        <a:rPr sz="900" b="0">
                          <a:solidFill>
                            <a:srgbClr val="2E2E2E"/>
                          </a:solidFill>
                          <a:latin typeface="Calibri"/>
                        </a:rPr>
                        <a:t>+878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11.6%</a:t>
                      </a:r>
                    </a:p>
                  </a:txBody>
                  <a:tcPr marL="85725" marR="38100" marT="19050" marB="19050" anchor="ctr">
                    <a:solidFill>
                      <a:srgbClr val="FFFFFF"/>
                    </a:solidFill>
                  </a:tcPr>
                </a:tc>
                <a:tc>
                  <a:txBody>
                    <a:bodyPr wrap="none"/>
                    <a:lstStyle/>
                    <a:p>
                      <a:pPr algn="l"/>
                      <a:r>
                        <a:rPr sz="900" b="0">
                          <a:solidFill>
                            <a:srgbClr val="2E2E2E"/>
                          </a:solidFill>
                          <a:latin typeface="Calibri"/>
                        </a:rPr>
                        <a:t>+950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19.9%</a:t>
                      </a:r>
                    </a:p>
                  </a:txBody>
                  <a:tcPr marL="85725" marR="38100" marT="19050" marB="19050" anchor="ctr">
                    <a:solidFill>
                      <a:srgbClr val="F5F8FA"/>
                    </a:solidFill>
                  </a:tcPr>
                </a:tc>
                <a:tc>
                  <a:txBody>
                    <a:bodyPr wrap="none"/>
                    <a:lstStyle/>
                    <a:p>
                      <a:pPr algn="l"/>
                      <a:r>
                        <a:rPr sz="900" b="0">
                          <a:solidFill>
                            <a:srgbClr val="2E2E2E"/>
                          </a:solidFill>
                          <a:latin typeface="Calibri"/>
                        </a:rPr>
                        <a:t>+1,722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0">
                          <a:solidFill>
                            <a:srgbClr val="2E2E2E"/>
                          </a:solidFill>
                          <a:latin typeface="Calibri"/>
                        </a:rPr>
                        <a:t>+521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10.6%</a:t>
                      </a:r>
                    </a:p>
                  </a:txBody>
                  <a:tcPr marL="85725" marR="38100" marT="19050" marB="19050" anchor="ctr">
                    <a:solidFill>
                      <a:srgbClr val="F5F8FA"/>
                    </a:solidFill>
                  </a:tcPr>
                </a:tc>
                <a:tc>
                  <a:txBody>
                    <a:bodyPr wrap="none"/>
                    <a:lstStyle/>
                    <a:p>
                      <a:pPr algn="l"/>
                      <a:r>
                        <a:rPr sz="900" b="0">
                          <a:solidFill>
                            <a:srgbClr val="2E2E2E"/>
                          </a:solidFill>
                          <a:latin typeface="Calibri"/>
                        </a:rPr>
                        <a:t>+676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Raw Material Suppliers</a:t>
                      </a:r>
                    </a:p>
                  </a:txBody>
                  <a:tcPr marL="85725" marR="38100" marT="19050" marB="19050" anchor="ctr">
                    <a:solidFill>
                      <a:srgbClr val="FFFFFF"/>
                    </a:solidFill>
                  </a:tcPr>
                </a:tc>
                <a:tc>
                  <a:txBody>
                    <a:bodyPr wrap="none"/>
                    <a:lstStyle/>
                    <a:p>
                      <a:pPr algn="l"/>
                      <a:r>
                        <a:rPr sz="900" b="0">
                          <a:solidFill>
                            <a:srgbClr val="2E2E2E"/>
                          </a:solidFill>
                          <a:latin typeface="Calibri"/>
                        </a:rPr>
                        <a:t>11.9%</a:t>
                      </a:r>
                    </a:p>
                  </a:txBody>
                  <a:tcPr marL="85725" marR="38100" marT="19050" marB="19050" anchor="ctr">
                    <a:solidFill>
                      <a:srgbClr val="FFFFFF"/>
                    </a:solidFill>
                  </a:tcPr>
                </a:tc>
                <a:tc>
                  <a:txBody>
                    <a:bodyPr wrap="none"/>
                    <a:lstStyle/>
                    <a:p>
                      <a:pPr algn="l"/>
                      <a:r>
                        <a:rPr sz="900" b="0">
                          <a:solidFill>
                            <a:srgbClr val="2E2E2E"/>
                          </a:solidFill>
                          <a:latin typeface="Calibri"/>
                        </a:rPr>
                        <a:t>+911 BPS</a:t>
                      </a:r>
                    </a:p>
                  </a:txBody>
                  <a:tcPr marL="85725" marR="38100" marT="19050" marB="19050" anchor="ctr">
                    <a:solidFill>
                      <a:srgbClr val="FFFFFF"/>
                    </a:solidFill>
                  </a:tcPr>
                </a:tc>
                <a:tc>
                  <a:txBody>
                    <a:bodyPr wrap="none"/>
                    <a:lstStyle/>
                    <a:p>
                      <a:pPr algn="l"/>
                      <a:r>
                        <a:rPr sz="900" b="0">
                          <a:solidFill>
                            <a:srgbClr val="2E2E2E"/>
                          </a:solidFill>
                          <a:latin typeface="Calibri"/>
                        </a:rPr>
                        <a:t>Commodity-linked</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Manufacturers</a:t>
                      </a:r>
                    </a:p>
                  </a:txBody>
                  <a:tcPr marL="85725" marR="38100" marT="19050" marB="19050" anchor="ctr">
                    <a:solidFill>
                      <a:srgbClr val="F5F8FA"/>
                    </a:solidFill>
                  </a:tcPr>
                </a:tc>
                <a:tc>
                  <a:txBody>
                    <a:bodyPr wrap="none"/>
                    <a:lstStyle/>
                    <a:p>
                      <a:pPr algn="l"/>
                      <a:r>
                        <a:rPr sz="900" b="0">
                          <a:solidFill>
                            <a:srgbClr val="2E2E2E"/>
                          </a:solidFill>
                          <a:latin typeface="Calibri"/>
                        </a:rPr>
                        <a:t>18.7%</a:t>
                      </a:r>
                    </a:p>
                  </a:txBody>
                  <a:tcPr marL="85725" marR="38100" marT="19050" marB="19050" anchor="ctr">
                    <a:solidFill>
                      <a:srgbClr val="F5F8FA"/>
                    </a:solidFill>
                  </a:tcPr>
                </a:tc>
                <a:tc>
                  <a:txBody>
                    <a:bodyPr wrap="none"/>
                    <a:lstStyle/>
                    <a:p>
                      <a:pPr algn="l"/>
                      <a:r>
                        <a:rPr sz="900" b="0">
                          <a:solidFill>
                            <a:srgbClr val="2E2E2E"/>
                          </a:solidFill>
                          <a:latin typeface="Calibri"/>
                        </a:rPr>
                        <a:t>+1,524 BPS</a:t>
                      </a:r>
                    </a:p>
                  </a:txBody>
                  <a:tcPr marL="85725" marR="38100" marT="19050" marB="19050" anchor="ctr">
                    <a:solidFill>
                      <a:srgbClr val="F5F8FA"/>
                    </a:solidFill>
                  </a:tcPr>
                </a:tc>
                <a:tc>
                  <a:txBody>
                    <a:bodyPr wrap="none"/>
                    <a:lstStyle/>
                    <a:p>
                      <a:pPr algn="l"/>
                      <a:r>
                        <a:rPr sz="900" b="0">
                          <a:solidFill>
                            <a:srgbClr val="2E2E2E"/>
                          </a:solidFill>
                          <a:latin typeface="Calibri"/>
                        </a:rPr>
                        <a:t>Highest margins (value-add +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
                      </a:r>
                    </a:p>
                  </a:txBody>
                  <a:tcPr marL="85725" marR="38100" marT="19050" marB="19050" anchor="ctr">
                    <a:solidFill>
                      <a:srgbClr val="FFFFFF"/>
                    </a:solidFill>
                  </a:tcPr>
                </a:tc>
                <a:tc>
                  <a:txBody>
                    <a:bodyPr wrap="none"/>
                    <a:lstStyle/>
                    <a:p>
                      <a:pPr algn="l"/>
                      <a:r>
                        <a:rPr sz="900" b="0">
                          <a:solidFill>
                            <a:srgbClr val="2E2E2E"/>
                          </a:solidFill>
                          <a:latin typeface="Calibri"/>
                        </a:rPr>
                        <a:t>Distributors</a:t>
                      </a:r>
                    </a:p>
                  </a:txBody>
                  <a:tcPr marL="85725" marR="38100" marT="19050" marB="19050" anchor="ctr">
                    <a:solidFill>
                      <a:srgbClr val="FFFFFF"/>
                    </a:solidFill>
                  </a:tcPr>
                </a:tc>
                <a:tc>
                  <a:txBody>
                    <a:bodyPr wrap="none"/>
                    <a:lstStyle/>
                    <a:p>
                      <a:pPr algn="l"/>
                      <a:r>
                        <a:rPr sz="900" b="0">
                          <a:solidFill>
                            <a:srgbClr val="2E2E2E"/>
                          </a:solidFill>
                          <a:latin typeface="Calibri"/>
                        </a:rPr>
                        <a:t>6.8%</a:t>
                      </a:r>
                    </a:p>
                  </a:txBody>
                  <a:tcPr marL="85725" marR="38100" marT="19050" marB="19050" anchor="ctr">
                    <a:solidFill>
                      <a:srgbClr val="FFFFFF"/>
                    </a:solidFill>
                  </a:tcPr>
                </a:tc>
                <a:tc>
                  <a:txBody>
                    <a:bodyPr wrap="none"/>
                    <a:lstStyle/>
                    <a:p>
                      <a:pPr algn="l"/>
                      <a:r>
                        <a:rPr sz="900" b="0">
                          <a:solidFill>
                            <a:srgbClr val="2E2E2E"/>
                          </a:solidFill>
                          <a:latin typeface="Calibri"/>
                        </a:rPr>
                        <a:t>+274 BPS</a:t>
                      </a:r>
                    </a:p>
                  </a:txBody>
                  <a:tcPr marL="85725" marR="38100" marT="19050" marB="19050" anchor="ctr">
                    <a:solidFill>
                      <a:srgbClr val="FFFFFF"/>
                    </a:solidFill>
                  </a:tcPr>
                </a:tc>
                <a:tc>
                  <a:txBody>
                    <a:bodyPr wrap="none"/>
                    <a:lstStyle/>
                    <a:p>
                      <a:pPr algn="l"/>
                      <a:r>
                        <a:rPr sz="900" b="0">
                          <a:solidFill>
                            <a:srgbClr val="2E2E2E"/>
                          </a:solidFill>
                          <a:latin typeface="Calibri"/>
                        </a:rPr>
                        <a:t>Volume-led, thin</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
                      </a:r>
                    </a:p>
                  </a:txBody>
                  <a:tcPr marL="85725" marR="38100" marT="19050" marB="19050" anchor="ctr">
                    <a:solidFill>
                      <a:srgbClr val="F5F8FA"/>
                    </a:solidFill>
                  </a:tcPr>
                </a:tc>
                <a:tc>
                  <a:txBody>
                    <a:bodyPr wrap="none"/>
                    <a:lstStyle/>
                    <a:p>
                      <a:pPr algn="l"/>
                      <a:r>
                        <a:rPr sz="900" b="0">
                          <a:solidFill>
                            <a:srgbClr val="2E2E2E"/>
                          </a:solidFill>
                          <a:latin typeface="Calibri"/>
                        </a:rPr>
                        <a:t>Retailers</a:t>
                      </a:r>
                    </a:p>
                  </a:txBody>
                  <a:tcPr marL="85725" marR="38100" marT="19050" marB="19050" anchor="ctr">
                    <a:solidFill>
                      <a:srgbClr val="F5F8FA"/>
                    </a:solidFill>
                  </a:tcPr>
                </a:tc>
                <a:tc>
                  <a:txBody>
                    <a:bodyPr wrap="none"/>
                    <a:lstStyle/>
                    <a:p>
                      <a:pPr algn="l"/>
                      <a:r>
                        <a:rPr sz="900" b="0">
                          <a:solidFill>
                            <a:srgbClr val="2E2E2E"/>
                          </a:solidFill>
                          <a:latin typeface="Calibri"/>
                        </a:rPr>
                        <a:t>10.0%</a:t>
                      </a:r>
                    </a:p>
                  </a:txBody>
                  <a:tcPr marL="85725" marR="38100" marT="19050" marB="19050" anchor="ctr">
                    <a:solidFill>
                      <a:srgbClr val="F5F8FA"/>
                    </a:solidFill>
                  </a:tcPr>
                </a:tc>
                <a:tc>
                  <a:txBody>
                    <a:bodyPr wrap="none"/>
                    <a:lstStyle/>
                    <a:p>
                      <a:pPr algn="l"/>
                      <a:r>
                        <a:rPr sz="900" b="0">
                          <a:solidFill>
                            <a:srgbClr val="2E2E2E"/>
                          </a:solidFill>
                          <a:latin typeface="Calibri"/>
                        </a:rPr>
                        <a:t>+537 BPS</a:t>
                      </a:r>
                    </a:p>
                  </a:txBody>
                  <a:tcPr marL="85725" marR="38100" marT="19050" marB="19050" anchor="ctr">
                    <a:solidFill>
                      <a:srgbClr val="F5F8FA"/>
                    </a:solidFill>
                  </a:tcPr>
                </a:tc>
                <a:tc>
                  <a:txBody>
                    <a:bodyPr wrap="none"/>
                    <a:lstStyle/>
                    <a:p>
                      <a:pPr algn="l"/>
                      <a:r>
                        <a:rPr sz="900" b="0">
                          <a:solidFill>
                            <a:srgbClr val="2E2E2E"/>
                          </a:solidFill>
                          <a:latin typeface="Calibri"/>
                        </a:rPr>
                        <a:t>Channel-dependent PoS margin</a:t>
                      </a:r>
                    </a:p>
                  </a:txBody>
                  <a:tcPr marL="85725" marR="38100" marT="19050" marB="19050" anchor="ctr">
                    <a:solidFill>
                      <a:srgbClr val="F5F8FA"/>
                    </a:solidFill>
                  </a:tcPr>
                </a:tc>
              </a:tr>
            </a:tbl>
          </a:graphicData>
        </a:graphic>
      </p:graphicFrame>
      <p:sp>
        <p:nvSpPr>
          <p:cNvPr id="14" name="TextBox 13"/>
          <p:cNvSpPr txBox="1"/>
          <p:nvPr/>
        </p:nvSpPr>
        <p:spPr>
          <a:xfrm>
            <a:off x="219075" y="47148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4991100"/>
            <a:ext cx="119062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5076825"/>
            <a:ext cx="11639550" cy="209550"/>
          </a:xfrm>
          <a:prstGeom prst="rect">
            <a:avLst/>
          </a:prstGeom>
          <a:noFill/>
        </p:spPr>
        <p:txBody>
          <a:bodyPr wrap="square" lIns="0" rIns="19050" tIns="9525" bIns="9525">
            <a:spAutoFit/>
          </a:bodyPr>
          <a:lstStyle/>
          <a:p>
            <a:pPr algn="l"/>
            <a:r>
              <a:rPr sz="1300" b="1">
                <a:solidFill>
                  <a:srgbClr val="0B2E4A"/>
                </a:solidFill>
                <a:latin typeface="Calibri"/>
              </a:rPr>
              <a:t>How to Read This</a:t>
            </a:r>
          </a:p>
        </p:txBody>
      </p:sp>
      <p:sp>
        <p:nvSpPr>
          <p:cNvPr id="17" name="Rectangle 16"/>
          <p:cNvSpPr/>
          <p:nvPr/>
        </p:nvSpPr>
        <p:spPr>
          <a:xfrm>
            <a:off x="276225" y="5314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400675"/>
            <a:ext cx="11639550" cy="12477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Node of Supply Chain: each major stage, from raw-material suppliers through to retailers.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Operating Margin: the indicative margin earned at each node, by region.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Comparison to Parent Market: margin versus the parent / associated market (e.g. the broader food or pharmaceutical value chain).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Margins are broken down by both region and node to surface where value concentrates along the chain.</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Buyers Assessment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Assessment of buyers and end users by volume, average price and revenue, highlighting purchasing power</a:t>
            </a:r>
          </a:p>
        </p:txBody>
      </p:sp>
      <p:sp>
        <p:nvSpPr>
          <p:cNvPr id="11" name="Rounded Rectangle 10"/>
          <p:cNvSpPr/>
          <p:nvPr/>
        </p:nvSpPr>
        <p:spPr>
          <a:xfrm>
            <a:off x="142875" y="857250"/>
            <a:ext cx="11906250" cy="4048125"/>
          </a:xfrm>
          <a:prstGeom prst="roundRect">
            <a:avLst>
              <a:gd name="adj" fmla="val 188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Capillary Blood Collection Devices Market Buyers / End-User Assessment</a:t>
            </a:r>
          </a:p>
        </p:txBody>
      </p:sp>
      <p:graphicFrame>
        <p:nvGraphicFramePr>
          <p:cNvPr id="13" name="Table 12"/>
          <p:cNvGraphicFramePr>
            <a:graphicFrameLocks noGrp="1"/>
          </p:cNvGraphicFramePr>
          <p:nvPr/>
        </p:nvGraphicFramePr>
        <p:xfrm>
          <a:off x="238125" y="1143000"/>
          <a:ext cx="11715754" cy="1990725"/>
        </p:xfrm>
        <a:graphic>
          <a:graphicData uri="http://schemas.openxmlformats.org/drawingml/2006/table">
            <a:tbl>
              <a:tblPr>
                <a:tableStyleId>{5C22544A-7EE6-4342-B048-85BDC9FD1C3A}</a:tableStyleId>
              </a:tblPr>
              <a:tblGrid>
                <a:gridCol w="2863850"/>
                <a:gridCol w="1106488"/>
                <a:gridCol w="1106488"/>
                <a:gridCol w="1106488"/>
                <a:gridCol w="1106488"/>
                <a:gridCol w="1106488"/>
                <a:gridCol w="1106488"/>
                <a:gridCol w="1106488"/>
                <a:gridCol w="1106488"/>
              </a:tblGrid>
              <a:tr h="180975">
                <a:tc>
                  <a:txBody>
                    <a:bodyPr wrap="none"/>
                    <a:lstStyle/>
                    <a:p>
                      <a:pPr algn="l"/>
                      <a:r>
                        <a:rPr sz="900" b="1">
                          <a:solidFill>
                            <a:srgbClr val="0B2E4A"/>
                          </a:solidFill>
                          <a:latin typeface="Calibri"/>
                        </a:rPr>
                        <a:t>Company</a:t>
                      </a:r>
                    </a:p>
                  </a:txBody>
                  <a:tcPr marL="85725" marR="38100" marT="19050" marB="19050" anchor="ctr">
                    <a:solidFill>
                      <a:srgbClr val="E0E8EF"/>
                    </a:solidFill>
                  </a:tcPr>
                </a:tc>
                <a:tc>
                  <a:txBody>
                    <a:bodyPr wrap="none"/>
                    <a:lstStyle/>
                    <a:p>
                      <a:pPr algn="l"/>
                      <a:r>
                        <a:rPr sz="900" b="1">
                          <a:solidFill>
                            <a:srgbClr val="0B2E4A"/>
                          </a:solidFill>
                          <a:latin typeface="Calibri"/>
                        </a:rPr>
                        <a:t>Country</a:t>
                      </a:r>
                    </a:p>
                  </a:txBody>
                  <a:tcPr marL="85725" marR="38100" marT="19050" marB="19050" anchor="ctr">
                    <a:solidFill>
                      <a:srgbClr val="E0E8EF"/>
                    </a:solidFill>
                  </a:tcPr>
                </a:tc>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Buyer Category</a:t>
                      </a:r>
                    </a:p>
                  </a:txBody>
                  <a:tcPr marL="85725" marR="38100" marT="19050" marB="19050" anchor="ctr">
                    <a:solidFill>
                      <a:srgbClr val="E0E8EF"/>
                    </a:solidFill>
                  </a:tcPr>
                </a:tc>
                <a:tc>
                  <a:txBody>
                    <a:bodyPr wrap="none"/>
                    <a:lstStyle/>
                    <a:p>
                      <a:pPr algn="l"/>
                      <a:r>
                        <a:rPr sz="900" b="1">
                          <a:solidFill>
                            <a:srgbClr val="0B2E4A"/>
                          </a:solidFill>
                          <a:latin typeface="Calibri"/>
                        </a:rPr>
                        <a:t>Buyer / End-User Type</a:t>
                      </a:r>
                    </a:p>
                  </a:txBody>
                  <a:tcPr marL="85725" marR="38100" marT="19050" marB="19050" anchor="ctr">
                    <a:solidFill>
                      <a:srgbClr val="E0E8EF"/>
                    </a:solidFill>
                  </a:tcPr>
                </a:tc>
                <a:tc>
                  <a:txBody>
                    <a:bodyPr wrap="none"/>
                    <a:lstStyle/>
                    <a:p>
                      <a:pPr algn="l"/>
                      <a:r>
                        <a:rPr sz="900" b="1">
                          <a:solidFill>
                            <a:srgbClr val="0B2E4A"/>
                          </a:solidFill>
                          <a:latin typeface="Calibri"/>
                        </a:rPr>
                        <a:t>Procurement Vol.</a:t>
                      </a:r>
                    </a:p>
                  </a:txBody>
                  <a:tcPr marL="85725" marR="38100" marT="19050" marB="19050" anchor="ctr">
                    <a:solidFill>
                      <a:srgbClr val="E0E8EF"/>
                    </a:solidFill>
                  </a:tcPr>
                </a:tc>
                <a:tc>
                  <a:txBody>
                    <a:bodyPr wrap="none"/>
                    <a:lstStyle/>
                    <a:p>
                      <a:pPr algn="l"/>
                      <a:r>
                        <a:rPr sz="900" b="1">
                          <a:solidFill>
                            <a:srgbClr val="0B2E4A"/>
                          </a:solidFill>
                          <a:latin typeface="Calibri"/>
                        </a:rPr>
                        <a:t>Avg Price (US$/Units)</a:t>
                      </a:r>
                    </a:p>
                  </a:txBody>
                  <a:tcPr marL="85725" marR="38100" marT="19050" marB="19050" anchor="ctr">
                    <a:solidFill>
                      <a:srgbClr val="E0E8EF"/>
                    </a:solidFill>
                  </a:tcPr>
                </a:tc>
                <a:tc>
                  <a:txBody>
                    <a:bodyPr wrap="none"/>
                    <a:lstStyle/>
                    <a:p>
                      <a:pPr algn="l"/>
                      <a:r>
                        <a:rPr sz="900" b="1">
                          <a:solidFill>
                            <a:srgbClr val="0B2E4A"/>
                          </a:solidFill>
                          <a:latin typeface="Calibri"/>
                        </a:rPr>
                        <a:t>Revenue (US$ Mn)</a:t>
                      </a:r>
                    </a:p>
                  </a:txBody>
                  <a:tcPr marL="85725" marR="38100" marT="19050" marB="19050" anchor="ctr">
                    <a:solidFill>
                      <a:srgbClr val="E0E8EF"/>
                    </a:solidFill>
                  </a:tcPr>
                </a:tc>
                <a:tc>
                  <a:txBody>
                    <a:bodyPr wrap="none"/>
                    <a:lstStyle/>
                    <a:p>
                      <a:pPr algn="l"/>
                      <a:r>
                        <a:rPr sz="900" b="1">
                          <a:solidFill>
                            <a:srgbClr val="0B2E4A"/>
                          </a:solidFill>
                          <a:latin typeface="Calibri"/>
                        </a:rPr>
                        <a:t>Key Selection Factor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Company 1</a:t>
                      </a:r>
                    </a:p>
                  </a:txBody>
                  <a:tcPr marL="85725" marR="38100" marT="19050" marB="19050" anchor="ctr">
                    <a:solidFill>
                      <a:srgbClr val="FFFFFF"/>
                    </a:solidFill>
                  </a:tcPr>
                </a:tc>
                <a:tc>
                  <a:txBody>
                    <a:bodyPr wrap="none"/>
                    <a:lstStyle/>
                    <a:p>
                      <a:pPr algn="l"/>
                      <a:r>
                        <a:rPr sz="900" b="0">
                          <a:solidFill>
                            <a:srgbClr val="2E2E2E"/>
                          </a:solidFill>
                          <a:latin typeface="Calibri"/>
                        </a:rPr>
                        <a:t>United States</a:t>
                      </a:r>
                    </a:p>
                  </a:txBody>
                  <a:tcPr marL="85725" marR="38100" marT="19050" marB="19050" anchor="ctr">
                    <a:solidFill>
                      <a:srgbClr val="FFFFFF"/>
                    </a:solidFill>
                  </a:tcPr>
                </a:tc>
                <a:tc>
                  <a:txBody>
                    <a:bodyPr wrap="none"/>
                    <a:lstStyle/>
                    <a:p>
                      <a:pPr algn="l"/>
                      <a:r>
                        <a:rPr sz="900" b="0">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164 Units</a:t>
                      </a:r>
                    </a:p>
                  </a:txBody>
                  <a:tcPr marL="85725" marR="38100" marT="19050" marB="19050" anchor="ctr">
                    <a:solidFill>
                      <a:srgbClr val="FFFFFF"/>
                    </a:solidFill>
                  </a:tcPr>
                </a:tc>
                <a:tc>
                  <a:txBody>
                    <a:bodyPr wrap="none"/>
                    <a:lstStyle/>
                    <a:p>
                      <a:pPr algn="l"/>
                      <a:r>
                        <a:rPr sz="900" b="0">
                          <a:solidFill>
                            <a:srgbClr val="2E2E2E"/>
                          </a:solidFill>
                          <a:latin typeface="Calibri"/>
                        </a:rPr>
                        <a:t>718,968</a:t>
                      </a:r>
                    </a:p>
                  </a:txBody>
                  <a:tcPr marL="85725" marR="38100" marT="19050" marB="19050" anchor="ctr">
                    <a:solidFill>
                      <a:srgbClr val="FFFFFF"/>
                    </a:solidFill>
                  </a:tcPr>
                </a:tc>
                <a:tc>
                  <a:txBody>
                    <a:bodyPr wrap="none"/>
                    <a:lstStyle/>
                    <a:p>
                      <a:pPr algn="l"/>
                      <a:r>
                        <a:rPr sz="900" b="0">
                          <a:solidFill>
                            <a:srgbClr val="2E2E2E"/>
                          </a:solidFill>
                          <a:latin typeface="Calibri"/>
                        </a:rPr>
                        <a:t>118,053,456</a:t>
                      </a:r>
                    </a:p>
                  </a:txBody>
                  <a:tcPr marL="85725" marR="38100" marT="19050" marB="19050" anchor="ctr">
                    <a:solidFill>
                      <a:srgbClr val="FFFFFF"/>
                    </a:solidFill>
                  </a:tcPr>
                </a:tc>
                <a:tc>
                  <a:txBody>
                    <a:bodyPr wrap="none"/>
                    <a:lstStyle/>
                    <a:p>
                      <a:pPr algn="l"/>
                      <a:r>
                        <a:rPr sz="900" b="0">
                          <a:solidFill>
                            <a:srgbClr val="2E2E2E"/>
                          </a:solidFill>
                          <a:latin typeface="Calibri"/>
                        </a:rPr>
                        <a:t>Price &amp; reliability</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2</a:t>
                      </a:r>
                    </a:p>
                  </a:txBody>
                  <a:tcPr marL="85725" marR="38100" marT="19050" marB="19050" anchor="ctr">
                    <a:solidFill>
                      <a:srgbClr val="F5F8FA"/>
                    </a:solidFill>
                  </a:tcPr>
                </a:tc>
                <a:tc>
                  <a:txBody>
                    <a:bodyPr wrap="none"/>
                    <a:lstStyle/>
                    <a:p>
                      <a:pPr algn="l"/>
                      <a:r>
                        <a:rPr sz="900" b="0">
                          <a:solidFill>
                            <a:srgbClr val="2E2E2E"/>
                          </a:solidFill>
                          <a:latin typeface="Calibri"/>
                        </a:rPr>
                        <a:t>Canada</a:t>
                      </a:r>
                    </a:p>
                  </a:txBody>
                  <a:tcPr marL="85725" marR="38100" marT="19050" marB="19050" anchor="ctr">
                    <a:solidFill>
                      <a:srgbClr val="F5F8FA"/>
                    </a:solidFill>
                  </a:tcPr>
                </a:tc>
                <a:tc>
                  <a:txBody>
                    <a:bodyPr wrap="none"/>
                    <a:lstStyle/>
                    <a:p>
                      <a:pPr algn="l"/>
                      <a:r>
                        <a:rPr sz="900" b="0">
                          <a:solidFill>
                            <a:srgbClr val="2E2E2E"/>
                          </a:solidFill>
                          <a:latin typeface="Calibri"/>
                        </a:rPr>
                        <a:t>North America</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148 Units</a:t>
                      </a:r>
                    </a:p>
                  </a:txBody>
                  <a:tcPr marL="85725" marR="38100" marT="19050" marB="19050" anchor="ctr">
                    <a:solidFill>
                      <a:srgbClr val="F5F8FA"/>
                    </a:solidFill>
                  </a:tcPr>
                </a:tc>
                <a:tc>
                  <a:txBody>
                    <a:bodyPr wrap="none"/>
                    <a:lstStyle/>
                    <a:p>
                      <a:pPr algn="l"/>
                      <a:r>
                        <a:rPr sz="900" b="0">
                          <a:solidFill>
                            <a:srgbClr val="2E2E2E"/>
                          </a:solidFill>
                          <a:latin typeface="Calibri"/>
                        </a:rPr>
                        <a:t>746,201</a:t>
                      </a:r>
                    </a:p>
                  </a:txBody>
                  <a:tcPr marL="85725" marR="38100" marT="19050" marB="19050" anchor="ctr">
                    <a:solidFill>
                      <a:srgbClr val="F5F8FA"/>
                    </a:solidFill>
                  </a:tcPr>
                </a:tc>
                <a:tc>
                  <a:txBody>
                    <a:bodyPr wrap="none"/>
                    <a:lstStyle/>
                    <a:p>
                      <a:pPr algn="l"/>
                      <a:r>
                        <a:rPr sz="900" b="0">
                          <a:solidFill>
                            <a:srgbClr val="2E2E2E"/>
                          </a:solidFill>
                          <a:latin typeface="Calibri"/>
                        </a:rPr>
                        <a:t>110,272,660</a:t>
                      </a:r>
                    </a:p>
                  </a:txBody>
                  <a:tcPr marL="85725" marR="38100" marT="19050" marB="19050" anchor="ctr">
                    <a:solidFill>
                      <a:srgbClr val="F5F8FA"/>
                    </a:solidFill>
                  </a:tcPr>
                </a:tc>
                <a:tc>
                  <a:txBody>
                    <a:bodyPr wrap="none"/>
                    <a:lstStyle/>
                    <a:p>
                      <a:pPr algn="l"/>
                      <a:r>
                        <a:rPr sz="900" b="0">
                          <a:solidFill>
                            <a:srgbClr val="2E2E2E"/>
                          </a:solidFill>
                          <a:latin typeface="Calibri"/>
                        </a:rPr>
                        <a:t>Quality &amp; compliance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3</a:t>
                      </a:r>
                    </a:p>
                  </a:txBody>
                  <a:tcPr marL="85725" marR="38100" marT="19050" marB="19050" anchor="ctr">
                    <a:solidFill>
                      <a:srgbClr val="FFFFFF"/>
                    </a:solidFill>
                  </a:tcPr>
                </a:tc>
                <a:tc>
                  <a:txBody>
                    <a:bodyPr wrap="none"/>
                    <a:lstStyle/>
                    <a:p>
                      <a:pPr algn="l"/>
                      <a:r>
                        <a:rPr sz="900" b="0">
                          <a:solidFill>
                            <a:srgbClr val="2E2E2E"/>
                          </a:solidFill>
                          <a:latin typeface="Calibri"/>
                        </a:rPr>
                        <a:t>Mexico</a:t>
                      </a:r>
                    </a:p>
                  </a:txBody>
                  <a:tcPr marL="85725" marR="38100" marT="19050" marB="19050" anchor="ctr">
                    <a:solidFill>
                      <a:srgbClr val="FFFFFF"/>
                    </a:solidFill>
                  </a:tcPr>
                </a:tc>
                <a:tc>
                  <a:txBody>
                    <a:bodyPr wrap="none"/>
                    <a:lstStyle/>
                    <a:p>
                      <a:pPr algn="l"/>
                      <a:r>
                        <a:rPr sz="900" b="0">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Retailer</a:t>
                      </a:r>
                    </a:p>
                  </a:txBody>
                  <a:tcPr marL="85725" marR="38100" marT="19050" marB="19050" anchor="ctr">
                    <a:solidFill>
                      <a:srgbClr val="FFFFFF"/>
                    </a:solidFill>
                  </a:tcPr>
                </a:tc>
                <a:tc>
                  <a:txBody>
                    <a:bodyPr wrap="none"/>
                    <a:lstStyle/>
                    <a:p>
                      <a:pPr algn="l"/>
                      <a:r>
                        <a:rPr sz="900" b="0">
                          <a:solidFill>
                            <a:srgbClr val="2E2E2E"/>
                          </a:solidFill>
                          <a:latin typeface="Calibri"/>
                        </a:rPr>
                        <a:t>B2C / Retail</a:t>
                      </a:r>
                    </a:p>
                  </a:txBody>
                  <a:tcPr marL="85725" marR="38100" marT="19050" marB="19050" anchor="ctr">
                    <a:solidFill>
                      <a:srgbClr val="FFFFFF"/>
                    </a:solidFill>
                  </a:tcPr>
                </a:tc>
                <a:tc>
                  <a:txBody>
                    <a:bodyPr wrap="none"/>
                    <a:lstStyle/>
                    <a:p>
                      <a:pPr algn="l"/>
                      <a:r>
                        <a:rPr sz="900" b="0">
                          <a:solidFill>
                            <a:srgbClr val="2E2E2E"/>
                          </a:solidFill>
                          <a:latin typeface="Calibri"/>
                        </a:rPr>
                        <a:t>131 Units</a:t>
                      </a:r>
                    </a:p>
                  </a:txBody>
                  <a:tcPr marL="85725" marR="38100" marT="19050" marB="19050" anchor="ctr">
                    <a:solidFill>
                      <a:srgbClr val="FFFFFF"/>
                    </a:solidFill>
                  </a:tcPr>
                </a:tc>
                <a:tc>
                  <a:txBody>
                    <a:bodyPr wrap="none"/>
                    <a:lstStyle/>
                    <a:p>
                      <a:pPr algn="l"/>
                      <a:r>
                        <a:rPr sz="900" b="0">
                          <a:solidFill>
                            <a:srgbClr val="2E2E2E"/>
                          </a:solidFill>
                          <a:latin typeface="Calibri"/>
                        </a:rPr>
                        <a:t>773,435</a:t>
                      </a:r>
                    </a:p>
                  </a:txBody>
                  <a:tcPr marL="85725" marR="38100" marT="19050" marB="19050" anchor="ctr">
                    <a:solidFill>
                      <a:srgbClr val="FFFFFF"/>
                    </a:solidFill>
                  </a:tcPr>
                </a:tc>
                <a:tc>
                  <a:txBody>
                    <a:bodyPr wrap="none"/>
                    <a:lstStyle/>
                    <a:p>
                      <a:pPr algn="l"/>
                      <a:r>
                        <a:rPr sz="900" b="0">
                          <a:solidFill>
                            <a:srgbClr val="2E2E2E"/>
                          </a:solidFill>
                          <a:latin typeface="Calibri"/>
                        </a:rPr>
                        <a:t>101,597,520</a:t>
                      </a:r>
                    </a:p>
                  </a:txBody>
                  <a:tcPr marL="85725" marR="38100" marT="19050" marB="19050" anchor="ctr">
                    <a:solidFill>
                      <a:srgbClr val="FFFFFF"/>
                    </a:solidFill>
                  </a:tcPr>
                </a:tc>
                <a:tc>
                  <a:txBody>
                    <a:bodyPr wrap="none"/>
                    <a:lstStyle/>
                    <a:p>
                      <a:pPr algn="l"/>
                      <a:r>
                        <a:rPr sz="900" b="0">
                          <a:solidFill>
                            <a:srgbClr val="2E2E2E"/>
                          </a:solidFill>
                          <a:latin typeface="Calibri"/>
                        </a:rPr>
                        <a:t>Lead time &amp; service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4</a:t>
                      </a:r>
                    </a:p>
                  </a:txBody>
                  <a:tcPr marL="85725" marR="38100" marT="19050" marB="19050" anchor="ctr">
                    <a:solidFill>
                      <a:srgbClr val="F5F8FA"/>
                    </a:solidFill>
                  </a:tcPr>
                </a:tc>
                <a:tc>
                  <a:txBody>
                    <a:bodyPr wrap="none"/>
                    <a:lstStyle/>
                    <a:p>
                      <a:pPr algn="l"/>
                      <a:r>
                        <a:rPr sz="900" b="0">
                          <a:solidFill>
                            <a:srgbClr val="2E2E2E"/>
                          </a:solidFill>
                          <a:latin typeface="Calibri"/>
                        </a:rPr>
                        <a:t>Brazil</a:t>
                      </a:r>
                    </a:p>
                  </a:txBody>
                  <a:tcPr marL="85725" marR="38100" marT="19050" marB="19050" anchor="ctr">
                    <a:solidFill>
                      <a:srgbClr val="F5F8FA"/>
                    </a:solidFill>
                  </a:tcPr>
                </a:tc>
                <a:tc>
                  <a:txBody>
                    <a:bodyPr wrap="none"/>
                    <a:lstStyle/>
                    <a:p>
                      <a:pPr algn="l"/>
                      <a:r>
                        <a:rPr sz="900" b="0">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Others</a:t>
                      </a:r>
                    </a:p>
                  </a:txBody>
                  <a:tcPr marL="85725" marR="38100" marT="19050" marB="19050" anchor="ctr">
                    <a:solidFill>
                      <a:srgbClr val="F5F8FA"/>
                    </a:solidFill>
                  </a:tcPr>
                </a:tc>
                <a:tc>
                  <a:txBody>
                    <a:bodyPr wrap="none"/>
                    <a:lstStyle/>
                    <a:p>
                      <a:pPr algn="l"/>
                      <a:r>
                        <a:rPr sz="900" b="0">
                          <a:solidFill>
                            <a:srgbClr val="2E2E2E"/>
                          </a:solidFill>
                          <a:latin typeface="Calibri"/>
                        </a:rPr>
                        <a:t>Contract / OEM</a:t>
                      </a:r>
                    </a:p>
                  </a:txBody>
                  <a:tcPr marL="85725" marR="38100" marT="19050" marB="19050" anchor="ctr">
                    <a:solidFill>
                      <a:srgbClr val="F5F8FA"/>
                    </a:solidFill>
                  </a:tcPr>
                </a:tc>
                <a:tc>
                  <a:txBody>
                    <a:bodyPr wrap="none"/>
                    <a:lstStyle/>
                    <a:p>
                      <a:pPr algn="l"/>
                      <a:r>
                        <a:rPr sz="900" b="0">
                          <a:solidFill>
                            <a:srgbClr val="2E2E2E"/>
                          </a:solidFill>
                          <a:latin typeface="Calibri"/>
                        </a:rPr>
                        <a:t>115 Units</a:t>
                      </a:r>
                    </a:p>
                  </a:txBody>
                  <a:tcPr marL="85725" marR="38100" marT="19050" marB="19050" anchor="ctr">
                    <a:solidFill>
                      <a:srgbClr val="F5F8FA"/>
                    </a:solidFill>
                  </a:tcPr>
                </a:tc>
                <a:tc>
                  <a:txBody>
                    <a:bodyPr wrap="none"/>
                    <a:lstStyle/>
                    <a:p>
                      <a:pPr algn="l"/>
                      <a:r>
                        <a:rPr sz="900" b="0">
                          <a:solidFill>
                            <a:srgbClr val="2E2E2E"/>
                          </a:solidFill>
                          <a:latin typeface="Calibri"/>
                        </a:rPr>
                        <a:t>800,668</a:t>
                      </a:r>
                    </a:p>
                  </a:txBody>
                  <a:tcPr marL="85725" marR="38100" marT="19050" marB="19050" anchor="ctr">
                    <a:solidFill>
                      <a:srgbClr val="F5F8FA"/>
                    </a:solidFill>
                  </a:tcPr>
                </a:tc>
                <a:tc>
                  <a:txBody>
                    <a:bodyPr wrap="none"/>
                    <a:lstStyle/>
                    <a:p>
                      <a:pPr algn="l"/>
                      <a:r>
                        <a:rPr sz="900" b="0">
                          <a:solidFill>
                            <a:srgbClr val="2E2E2E"/>
                          </a:solidFill>
                          <a:latin typeface="Calibri"/>
                        </a:rPr>
                        <a:t>92,028,035</a:t>
                      </a:r>
                    </a:p>
                  </a:txBody>
                  <a:tcPr marL="85725" marR="38100" marT="19050" marB="19050" anchor="ctr">
                    <a:solidFill>
                      <a:srgbClr val="F5F8FA"/>
                    </a:solidFill>
                  </a:tcPr>
                </a:tc>
                <a:tc>
                  <a:txBody>
                    <a:bodyPr wrap="none"/>
                    <a:lstStyle/>
                    <a:p>
                      <a:pPr algn="l"/>
                      <a:r>
                        <a:rPr sz="900" b="0">
                          <a:solidFill>
                            <a:srgbClr val="2E2E2E"/>
                          </a:solidFill>
                          <a:latin typeface="Calibri"/>
                        </a:rPr>
                        <a:t>Capacity &amp; scale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5</a:t>
                      </a:r>
                    </a:p>
                  </a:txBody>
                  <a:tcPr marL="85725" marR="38100" marT="19050" marB="19050" anchor="ctr">
                    <a:solidFill>
                      <a:srgbClr val="FFFFFF"/>
                    </a:solidFill>
                  </a:tcPr>
                </a:tc>
                <a:tc>
                  <a:txBody>
                    <a:bodyPr wrap="none"/>
                    <a:lstStyle/>
                    <a:p>
                      <a:pPr algn="l"/>
                      <a:r>
                        <a:rPr sz="900" b="0">
                          <a:solidFill>
                            <a:srgbClr val="2E2E2E"/>
                          </a:solidFill>
                          <a:latin typeface="Calibri"/>
                        </a:rPr>
                        <a:t>Chile</a:t>
                      </a:r>
                    </a:p>
                  </a:txBody>
                  <a:tcPr marL="85725" marR="38100" marT="19050" marB="19050" anchor="ctr">
                    <a:solidFill>
                      <a:srgbClr val="FFFFFF"/>
                    </a:solidFill>
                  </a:tcPr>
                </a:tc>
                <a:tc>
                  <a:txBody>
                    <a:bodyPr wrap="none"/>
                    <a:lstStyle/>
                    <a:p>
                      <a:pPr algn="l"/>
                      <a:r>
                        <a:rPr sz="900" b="0">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99 Units</a:t>
                      </a:r>
                    </a:p>
                  </a:txBody>
                  <a:tcPr marL="85725" marR="38100" marT="19050" marB="19050" anchor="ctr">
                    <a:solidFill>
                      <a:srgbClr val="FFFFFF"/>
                    </a:solidFill>
                  </a:tcPr>
                </a:tc>
                <a:tc>
                  <a:txBody>
                    <a:bodyPr wrap="none"/>
                    <a:lstStyle/>
                    <a:p>
                      <a:pPr algn="l"/>
                      <a:r>
                        <a:rPr sz="900" b="0">
                          <a:solidFill>
                            <a:srgbClr val="2E2E2E"/>
                          </a:solidFill>
                          <a:latin typeface="Calibri"/>
                        </a:rPr>
                        <a:t>827,902</a:t>
                      </a:r>
                    </a:p>
                  </a:txBody>
                  <a:tcPr marL="85725" marR="38100" marT="19050" marB="19050" anchor="ctr">
                    <a:solidFill>
                      <a:srgbClr val="FFFFFF"/>
                    </a:solidFill>
                  </a:tcPr>
                </a:tc>
                <a:tc>
                  <a:txBody>
                    <a:bodyPr wrap="none"/>
                    <a:lstStyle/>
                    <a:p>
                      <a:pPr algn="l"/>
                      <a:r>
                        <a:rPr sz="900" b="0">
                          <a:solidFill>
                            <a:srgbClr val="2E2E2E"/>
                          </a:solidFill>
                          <a:latin typeface="Calibri"/>
                        </a:rPr>
                        <a:t>81,564,206</a:t>
                      </a:r>
                    </a:p>
                  </a:txBody>
                  <a:tcPr marL="85725" marR="38100" marT="19050" marB="19050" anchor="ctr">
                    <a:solidFill>
                      <a:srgbClr val="FFFFFF"/>
                    </a:solidFill>
                  </a:tcPr>
                </a:tc>
                <a:tc>
                  <a:txBody>
                    <a:bodyPr wrap="none"/>
                    <a:lstStyle/>
                    <a:p>
                      <a:pPr algn="l"/>
                      <a:r>
                        <a:rPr sz="900" b="0">
                          <a:solidFill>
                            <a:srgbClr val="2E2E2E"/>
                          </a:solidFill>
                          <a:latin typeface="Calibri"/>
                        </a:rPr>
                        <a:t>Brand &amp; support</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6</a:t>
                      </a:r>
                    </a:p>
                  </a:txBody>
                  <a:tcPr marL="85725" marR="38100" marT="19050" marB="19050" anchor="ctr">
                    <a:solidFill>
                      <a:srgbClr val="F5F8FA"/>
                    </a:solidFill>
                  </a:tcPr>
                </a:tc>
                <a:tc>
                  <a:txBody>
                    <a:bodyPr wrap="none"/>
                    <a:lstStyle/>
                    <a:p>
                      <a:pPr algn="l"/>
                      <a:r>
                        <a:rPr sz="900" b="0">
                          <a:solidFill>
                            <a:srgbClr val="2E2E2E"/>
                          </a:solidFill>
                          <a:latin typeface="Calibri"/>
                        </a:rPr>
                        <a:t>Rest of LATAM</a:t>
                      </a:r>
                    </a:p>
                  </a:txBody>
                  <a:tcPr marL="85725" marR="38100" marT="19050" marB="19050" anchor="ctr">
                    <a:solidFill>
                      <a:srgbClr val="F5F8FA"/>
                    </a:solidFill>
                  </a:tcPr>
                </a:tc>
                <a:tc>
                  <a:txBody>
                    <a:bodyPr wrap="none"/>
                    <a:lstStyle/>
                    <a:p>
                      <a:pPr algn="l"/>
                      <a:r>
                        <a:rPr sz="900" b="0">
                          <a:solidFill>
                            <a:srgbClr val="2E2E2E"/>
                          </a:solidFill>
                          <a:latin typeface="Calibri"/>
                        </a:rPr>
                        <a:t>Latin America</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82 Units</a:t>
                      </a:r>
                    </a:p>
                  </a:txBody>
                  <a:tcPr marL="85725" marR="38100" marT="19050" marB="19050" anchor="ctr">
                    <a:solidFill>
                      <a:srgbClr val="F5F8FA"/>
                    </a:solidFill>
                  </a:tcPr>
                </a:tc>
                <a:tc>
                  <a:txBody>
                    <a:bodyPr wrap="none"/>
                    <a:lstStyle/>
                    <a:p>
                      <a:pPr algn="l"/>
                      <a:r>
                        <a:rPr sz="900" b="0">
                          <a:solidFill>
                            <a:srgbClr val="2E2E2E"/>
                          </a:solidFill>
                          <a:latin typeface="Calibri"/>
                        </a:rPr>
                        <a:t>855,136</a:t>
                      </a:r>
                    </a:p>
                  </a:txBody>
                  <a:tcPr marL="85725" marR="38100" marT="19050" marB="19050" anchor="ctr">
                    <a:solidFill>
                      <a:srgbClr val="F5F8FA"/>
                    </a:solidFill>
                  </a:tcPr>
                </a:tc>
                <a:tc>
                  <a:txBody>
                    <a:bodyPr wrap="none"/>
                    <a:lstStyle/>
                    <a:p>
                      <a:pPr algn="l"/>
                      <a:r>
                        <a:rPr sz="900" b="0">
                          <a:solidFill>
                            <a:srgbClr val="2E2E2E"/>
                          </a:solidFill>
                          <a:latin typeface="Calibri"/>
                        </a:rPr>
                        <a:t>70,206,033</a:t>
                      </a:r>
                    </a:p>
                  </a:txBody>
                  <a:tcPr marL="85725" marR="38100" marT="19050" marB="19050" anchor="ctr">
                    <a:solidFill>
                      <a:srgbClr val="F5F8FA"/>
                    </a:solidFill>
                  </a:tcPr>
                </a:tc>
                <a:tc>
                  <a:txBody>
                    <a:bodyPr wrap="none"/>
                    <a:lstStyle/>
                    <a:p>
                      <a:pPr algn="l"/>
                      <a:r>
                        <a:rPr sz="900" b="0">
                          <a:solidFill>
                            <a:srgbClr val="2E2E2E"/>
                          </a:solidFill>
                          <a:latin typeface="Calibri"/>
                        </a:rPr>
                        <a:t>Price &amp; reliability</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7</a:t>
                      </a:r>
                    </a:p>
                  </a:txBody>
                  <a:tcPr marL="85725" marR="38100" marT="19050" marB="19050" anchor="ctr">
                    <a:solidFill>
                      <a:srgbClr val="FFFFFF"/>
                    </a:solidFill>
                  </a:tcPr>
                </a:tc>
                <a:tc>
                  <a:txBody>
                    <a:bodyPr wrap="none"/>
                    <a:lstStyle/>
                    <a:p>
                      <a:pPr algn="l"/>
                      <a:r>
                        <a:rPr sz="900" b="0">
                          <a:solidFill>
                            <a:srgbClr val="2E2E2E"/>
                          </a:solidFill>
                          <a:latin typeface="Calibri"/>
                        </a:rPr>
                        <a:t>Germany</a:t>
                      </a:r>
                    </a:p>
                  </a:txBody>
                  <a:tcPr marL="85725" marR="38100" marT="19050" marB="19050" anchor="ctr">
                    <a:solidFill>
                      <a:srgbClr val="FFFFFF"/>
                    </a:solidFill>
                  </a:tcPr>
                </a:tc>
                <a:tc>
                  <a:txBody>
                    <a:bodyPr wrap="none"/>
                    <a:lstStyle/>
                    <a:p>
                      <a:pPr algn="l"/>
                      <a:r>
                        <a:rPr sz="900" b="0">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Retailer</a:t>
                      </a:r>
                    </a:p>
                  </a:txBody>
                  <a:tcPr marL="85725" marR="38100" marT="19050" marB="19050" anchor="ctr">
                    <a:solidFill>
                      <a:srgbClr val="FFFFFF"/>
                    </a:solidFill>
                  </a:tcPr>
                </a:tc>
                <a:tc>
                  <a:txBody>
                    <a:bodyPr wrap="none"/>
                    <a:lstStyle/>
                    <a:p>
                      <a:pPr algn="l"/>
                      <a:r>
                        <a:rPr sz="900" b="0">
                          <a:solidFill>
                            <a:srgbClr val="2E2E2E"/>
                          </a:solidFill>
                          <a:latin typeface="Calibri"/>
                        </a:rPr>
                        <a:t>B2C / Retail</a:t>
                      </a:r>
                    </a:p>
                  </a:txBody>
                  <a:tcPr marL="85725" marR="38100" marT="19050" marB="19050" anchor="ctr">
                    <a:solidFill>
                      <a:srgbClr val="FFFFFF"/>
                    </a:solidFill>
                  </a:tcPr>
                </a:tc>
                <a:tc>
                  <a:txBody>
                    <a:bodyPr wrap="none"/>
                    <a:lstStyle/>
                    <a:p>
                      <a:pPr algn="l"/>
                      <a:r>
                        <a:rPr sz="900" b="0">
                          <a:solidFill>
                            <a:srgbClr val="2E2E2E"/>
                          </a:solidFill>
                          <a:latin typeface="Calibri"/>
                        </a:rPr>
                        <a:t>66 Units</a:t>
                      </a:r>
                    </a:p>
                  </a:txBody>
                  <a:tcPr marL="85725" marR="38100" marT="19050" marB="19050" anchor="ctr">
                    <a:solidFill>
                      <a:srgbClr val="FFFFFF"/>
                    </a:solidFill>
                  </a:tcPr>
                </a:tc>
                <a:tc>
                  <a:txBody>
                    <a:bodyPr wrap="none"/>
                    <a:lstStyle/>
                    <a:p>
                      <a:pPr algn="l"/>
                      <a:r>
                        <a:rPr sz="900" b="0">
                          <a:solidFill>
                            <a:srgbClr val="2E2E2E"/>
                          </a:solidFill>
                          <a:latin typeface="Calibri"/>
                        </a:rPr>
                        <a:t>882,369</a:t>
                      </a:r>
                    </a:p>
                  </a:txBody>
                  <a:tcPr marL="85725" marR="38100" marT="19050" marB="19050" anchor="ctr">
                    <a:solidFill>
                      <a:srgbClr val="FFFFFF"/>
                    </a:solidFill>
                  </a:tcPr>
                </a:tc>
                <a:tc>
                  <a:txBody>
                    <a:bodyPr wrap="none"/>
                    <a:lstStyle/>
                    <a:p>
                      <a:pPr algn="l"/>
                      <a:r>
                        <a:rPr sz="900" b="0">
                          <a:solidFill>
                            <a:srgbClr val="2E2E2E"/>
                          </a:solidFill>
                          <a:latin typeface="Calibri"/>
                        </a:rPr>
                        <a:t>57,953,515</a:t>
                      </a:r>
                    </a:p>
                  </a:txBody>
                  <a:tcPr marL="85725" marR="38100" marT="19050" marB="19050" anchor="ctr">
                    <a:solidFill>
                      <a:srgbClr val="FFFFFF"/>
                    </a:solidFill>
                  </a:tcPr>
                </a:tc>
                <a:tc>
                  <a:txBody>
                    <a:bodyPr wrap="none"/>
                    <a:lstStyle/>
                    <a:p>
                      <a:pPr algn="l"/>
                      <a:r>
                        <a:rPr sz="900" b="0">
                          <a:solidFill>
                            <a:srgbClr val="2E2E2E"/>
                          </a:solidFill>
                          <a:latin typeface="Calibri"/>
                        </a:rPr>
                        <a:t>Quality &amp; compliance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8</a:t>
                      </a:r>
                    </a:p>
                  </a:txBody>
                  <a:tcPr marL="85725" marR="38100" marT="19050" marB="19050" anchor="ctr">
                    <a:solidFill>
                      <a:srgbClr val="F5F8FA"/>
                    </a:solidFill>
                  </a:tcPr>
                </a:tc>
                <a:tc>
                  <a:txBody>
                    <a:bodyPr wrap="none"/>
                    <a:lstStyle/>
                    <a:p>
                      <a:pPr algn="l"/>
                      <a:r>
                        <a:rPr sz="900" b="0">
                          <a:solidFill>
                            <a:srgbClr val="2E2E2E"/>
                          </a:solidFill>
                          <a:latin typeface="Calibri"/>
                        </a:rPr>
                        <a:t>United Kingdom</a:t>
                      </a:r>
                    </a:p>
                  </a:txBody>
                  <a:tcPr marL="85725" marR="38100" marT="19050" marB="19050" anchor="ctr">
                    <a:solidFill>
                      <a:srgbClr val="F5F8FA"/>
                    </a:solidFill>
                  </a:tcPr>
                </a:tc>
                <a:tc>
                  <a:txBody>
                    <a:bodyPr wrap="none"/>
                    <a:lstStyle/>
                    <a:p>
                      <a:pPr algn="l"/>
                      <a:r>
                        <a:rPr sz="900" b="0">
                          <a:solidFill>
                            <a:srgbClr val="2E2E2E"/>
                          </a:solidFill>
                          <a:latin typeface="Calibri"/>
                        </a:rPr>
                        <a:t>Western Europe</a:t>
                      </a:r>
                    </a:p>
                  </a:txBody>
                  <a:tcPr marL="85725" marR="38100" marT="19050" marB="19050" anchor="ctr">
                    <a:solidFill>
                      <a:srgbClr val="F5F8FA"/>
                    </a:solidFill>
                  </a:tcPr>
                </a:tc>
                <a:tc>
                  <a:txBody>
                    <a:bodyPr wrap="none"/>
                    <a:lstStyle/>
                    <a:p>
                      <a:pPr algn="l"/>
                      <a:r>
                        <a:rPr sz="900" b="0">
                          <a:solidFill>
                            <a:srgbClr val="2E2E2E"/>
                          </a:solidFill>
                          <a:latin typeface="Calibri"/>
                        </a:rPr>
                        <a:t>Others</a:t>
                      </a:r>
                    </a:p>
                  </a:txBody>
                  <a:tcPr marL="85725" marR="38100" marT="19050" marB="19050" anchor="ctr">
                    <a:solidFill>
                      <a:srgbClr val="F5F8FA"/>
                    </a:solidFill>
                  </a:tcPr>
                </a:tc>
                <a:tc>
                  <a:txBody>
                    <a:bodyPr wrap="none"/>
                    <a:lstStyle/>
                    <a:p>
                      <a:pPr algn="l"/>
                      <a:r>
                        <a:rPr sz="900" b="0">
                          <a:solidFill>
                            <a:srgbClr val="2E2E2E"/>
                          </a:solidFill>
                          <a:latin typeface="Calibri"/>
                        </a:rPr>
                        <a:t>Contract / OEM</a:t>
                      </a:r>
                    </a:p>
                  </a:txBody>
                  <a:tcPr marL="85725" marR="38100" marT="19050" marB="19050" anchor="ctr">
                    <a:solidFill>
                      <a:srgbClr val="F5F8FA"/>
                    </a:solidFill>
                  </a:tcPr>
                </a:tc>
                <a:tc>
                  <a:txBody>
                    <a:bodyPr wrap="none"/>
                    <a:lstStyle/>
                    <a:p>
                      <a:pPr algn="l"/>
                      <a:r>
                        <a:rPr sz="900" b="0">
                          <a:solidFill>
                            <a:srgbClr val="2E2E2E"/>
                          </a:solidFill>
                          <a:latin typeface="Calibri"/>
                        </a:rPr>
                        <a:t>49 Units</a:t>
                      </a:r>
                    </a:p>
                  </a:txBody>
                  <a:tcPr marL="85725" marR="38100" marT="19050" marB="19050" anchor="ctr">
                    <a:solidFill>
                      <a:srgbClr val="F5F8FA"/>
                    </a:solidFill>
                  </a:tcPr>
                </a:tc>
                <a:tc>
                  <a:txBody>
                    <a:bodyPr wrap="none"/>
                    <a:lstStyle/>
                    <a:p>
                      <a:pPr algn="l"/>
                      <a:r>
                        <a:rPr sz="900" b="0">
                          <a:solidFill>
                            <a:srgbClr val="2E2E2E"/>
                          </a:solidFill>
                          <a:latin typeface="Calibri"/>
                        </a:rPr>
                        <a:t>909,603</a:t>
                      </a:r>
                    </a:p>
                  </a:txBody>
                  <a:tcPr marL="85725" marR="38100" marT="19050" marB="19050" anchor="ctr">
                    <a:solidFill>
                      <a:srgbClr val="F5F8FA"/>
                    </a:solidFill>
                  </a:tcPr>
                </a:tc>
                <a:tc>
                  <a:txBody>
                    <a:bodyPr wrap="none"/>
                    <a:lstStyle/>
                    <a:p>
                      <a:pPr algn="l"/>
                      <a:r>
                        <a:rPr sz="900" b="0">
                          <a:solidFill>
                            <a:srgbClr val="2E2E2E"/>
                          </a:solidFill>
                          <a:latin typeface="Calibri"/>
                        </a:rPr>
                        <a:t>44,806,653</a:t>
                      </a:r>
                    </a:p>
                  </a:txBody>
                  <a:tcPr marL="85725" marR="38100" marT="19050" marB="19050" anchor="ctr">
                    <a:solidFill>
                      <a:srgbClr val="F5F8FA"/>
                    </a:solidFill>
                  </a:tcPr>
                </a:tc>
                <a:tc>
                  <a:txBody>
                    <a:bodyPr wrap="none"/>
                    <a:lstStyle/>
                    <a:p>
                      <a:pPr algn="l"/>
                      <a:r>
                        <a:rPr sz="900" b="0">
                          <a:solidFill>
                            <a:srgbClr val="2E2E2E"/>
                          </a:solidFill>
                          <a:latin typeface="Calibri"/>
                        </a:rPr>
                        <a:t>Lead time &amp; service</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Company 9</a:t>
                      </a:r>
                    </a:p>
                  </a:txBody>
                  <a:tcPr marL="85725" marR="38100" marT="19050" marB="19050" anchor="ctr">
                    <a:solidFill>
                      <a:srgbClr val="FFFFFF"/>
                    </a:solidFill>
                  </a:tcPr>
                </a:tc>
                <a:tc>
                  <a:txBody>
                    <a:bodyPr wrap="none"/>
                    <a:lstStyle/>
                    <a:p>
                      <a:pPr algn="l"/>
                      <a:r>
                        <a:rPr sz="900" b="0">
                          <a:solidFill>
                            <a:srgbClr val="2E2E2E"/>
                          </a:solidFill>
                          <a:latin typeface="Calibri"/>
                        </a:rPr>
                        <a:t>France</a:t>
                      </a:r>
                    </a:p>
                  </a:txBody>
                  <a:tcPr marL="85725" marR="38100" marT="19050" marB="19050" anchor="ctr">
                    <a:solidFill>
                      <a:srgbClr val="FFFFFF"/>
                    </a:solidFill>
                  </a:tcPr>
                </a:tc>
                <a:tc>
                  <a:txBody>
                    <a:bodyPr wrap="none"/>
                    <a:lstStyle/>
                    <a:p>
                      <a:pPr algn="l"/>
                      <a:r>
                        <a:rPr sz="900" b="0">
                          <a:solidFill>
                            <a:srgbClr val="2E2E2E"/>
                          </a:solidFill>
                          <a:latin typeface="Calibri"/>
                        </a:rPr>
                        <a:t>Western Europe</a:t>
                      </a:r>
                    </a:p>
                  </a:txBody>
                  <a:tcPr marL="85725" marR="38100" marT="19050" marB="19050" anchor="ctr">
                    <a:solidFill>
                      <a:srgbClr val="FFFFFF"/>
                    </a:solidFill>
                  </a:tcPr>
                </a:tc>
                <a:tc>
                  <a:txBody>
                    <a:bodyPr wrap="none"/>
                    <a:lstStyle/>
                    <a:p>
                      <a:pPr algn="l"/>
                      <a:r>
                        <a:rPr sz="900" b="0">
                          <a:solidFill>
                            <a:srgbClr val="2E2E2E"/>
                          </a:solidFill>
                          <a:latin typeface="Calibri"/>
                        </a:rPr>
                        <a:t>Manufacturer</a:t>
                      </a:r>
                    </a:p>
                  </a:txBody>
                  <a:tcPr marL="85725" marR="38100" marT="19050" marB="19050" anchor="ctr">
                    <a:solidFill>
                      <a:srgbClr val="FFFFFF"/>
                    </a:solidFill>
                  </a:tcPr>
                </a:tc>
                <a:tc>
                  <a:txBody>
                    <a:bodyPr wrap="none"/>
                    <a:lstStyle/>
                    <a:p>
                      <a:pPr algn="l"/>
                      <a:r>
                        <a:rPr sz="900" b="0">
                          <a:solidFill>
                            <a:srgbClr val="2E2E2E"/>
                          </a:solidFill>
                          <a:latin typeface="Calibri"/>
                        </a:rPr>
                        <a:t>B2B / Industrial</a:t>
                      </a:r>
                    </a:p>
                  </a:txBody>
                  <a:tcPr marL="85725" marR="38100" marT="19050" marB="19050" anchor="ctr">
                    <a:solidFill>
                      <a:srgbClr val="FFFFFF"/>
                    </a:solidFill>
                  </a:tcPr>
                </a:tc>
                <a:tc>
                  <a:txBody>
                    <a:bodyPr wrap="none"/>
                    <a:lstStyle/>
                    <a:p>
                      <a:pPr algn="l"/>
                      <a:r>
                        <a:rPr sz="900" b="0">
                          <a:solidFill>
                            <a:srgbClr val="2E2E2E"/>
                          </a:solidFill>
                          <a:latin typeface="Calibri"/>
                        </a:rPr>
                        <a:t>33 Units</a:t>
                      </a:r>
                    </a:p>
                  </a:txBody>
                  <a:tcPr marL="85725" marR="38100" marT="19050" marB="19050" anchor="ctr">
                    <a:solidFill>
                      <a:srgbClr val="FFFFFF"/>
                    </a:solidFill>
                  </a:tcPr>
                </a:tc>
                <a:tc>
                  <a:txBody>
                    <a:bodyPr wrap="none"/>
                    <a:lstStyle/>
                    <a:p>
                      <a:pPr algn="l"/>
                      <a:r>
                        <a:rPr sz="900" b="0">
                          <a:solidFill>
                            <a:srgbClr val="2E2E2E"/>
                          </a:solidFill>
                          <a:latin typeface="Calibri"/>
                        </a:rPr>
                        <a:t>936,836</a:t>
                      </a:r>
                    </a:p>
                  </a:txBody>
                  <a:tcPr marL="85725" marR="38100" marT="19050" marB="19050" anchor="ctr">
                    <a:solidFill>
                      <a:srgbClr val="FFFFFF"/>
                    </a:solidFill>
                  </a:tcPr>
                </a:tc>
                <a:tc>
                  <a:txBody>
                    <a:bodyPr wrap="none"/>
                    <a:lstStyle/>
                    <a:p>
                      <a:pPr algn="l"/>
                      <a:r>
                        <a:rPr sz="900" b="0">
                          <a:solidFill>
                            <a:srgbClr val="2E2E2E"/>
                          </a:solidFill>
                          <a:latin typeface="Calibri"/>
                        </a:rPr>
                        <a:t>30,765,446</a:t>
                      </a:r>
                    </a:p>
                  </a:txBody>
                  <a:tcPr marL="85725" marR="38100" marT="19050" marB="19050" anchor="ctr">
                    <a:solidFill>
                      <a:srgbClr val="FFFFFF"/>
                    </a:solidFill>
                  </a:tcPr>
                </a:tc>
                <a:tc>
                  <a:txBody>
                    <a:bodyPr wrap="none"/>
                    <a:lstStyle/>
                    <a:p>
                      <a:pPr algn="l"/>
                      <a:r>
                        <a:rPr sz="900" b="0">
                          <a:solidFill>
                            <a:srgbClr val="2E2E2E"/>
                          </a:solidFill>
                          <a:latin typeface="Calibri"/>
                        </a:rPr>
                        <a:t>Capacity &amp; scale</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Company 10</a:t>
                      </a:r>
                    </a:p>
                  </a:txBody>
                  <a:tcPr marL="85725" marR="38100" marT="19050" marB="19050" anchor="ctr">
                    <a:solidFill>
                      <a:srgbClr val="F5F8FA"/>
                    </a:solidFill>
                  </a:tcPr>
                </a:tc>
                <a:tc>
                  <a:txBody>
                    <a:bodyPr wrap="none"/>
                    <a:lstStyle/>
                    <a:p>
                      <a:pPr algn="l"/>
                      <a:r>
                        <a:rPr sz="900" b="0">
                          <a:solidFill>
                            <a:srgbClr val="2E2E2E"/>
                          </a:solidFill>
                          <a:latin typeface="Calibri"/>
                        </a:rPr>
                        <a:t>Italy</a:t>
                      </a:r>
                    </a:p>
                  </a:txBody>
                  <a:tcPr marL="85725" marR="38100" marT="19050" marB="19050" anchor="ctr">
                    <a:solidFill>
                      <a:srgbClr val="F5F8FA"/>
                    </a:solidFill>
                  </a:tcPr>
                </a:tc>
                <a:tc>
                  <a:txBody>
                    <a:bodyPr wrap="none"/>
                    <a:lstStyle/>
                    <a:p>
                      <a:pPr algn="l"/>
                      <a:r>
                        <a:rPr sz="900" b="0">
                          <a:solidFill>
                            <a:srgbClr val="2E2E2E"/>
                          </a:solidFill>
                          <a:latin typeface="Calibri"/>
                        </a:rPr>
                        <a:t>Western Europe</a:t>
                      </a:r>
                    </a:p>
                  </a:txBody>
                  <a:tcPr marL="85725" marR="38100" marT="19050" marB="19050" anchor="ctr">
                    <a:solidFill>
                      <a:srgbClr val="F5F8FA"/>
                    </a:solidFill>
                  </a:tcPr>
                </a:tc>
                <a:tc>
                  <a:txBody>
                    <a:bodyPr wrap="none"/>
                    <a:lstStyle/>
                    <a:p>
                      <a:pPr algn="l"/>
                      <a:r>
                        <a:rPr sz="900" b="0">
                          <a:solidFill>
                            <a:srgbClr val="2E2E2E"/>
                          </a:solidFill>
                          <a:latin typeface="Calibri"/>
                        </a:rPr>
                        <a:t>Distributor</a:t>
                      </a:r>
                    </a:p>
                  </a:txBody>
                  <a:tcPr marL="85725" marR="38100" marT="19050" marB="19050" anchor="ctr">
                    <a:solidFill>
                      <a:srgbClr val="F5F8FA"/>
                    </a:solidFill>
                  </a:tcPr>
                </a:tc>
                <a:tc>
                  <a:txBody>
                    <a:bodyPr wrap="none"/>
                    <a:lstStyle/>
                    <a:p>
                      <a:pPr algn="l"/>
                      <a:r>
                        <a:rPr sz="900" b="0">
                          <a:solidFill>
                            <a:srgbClr val="2E2E2E"/>
                          </a:solidFill>
                          <a:latin typeface="Calibri"/>
                        </a:rPr>
                        <a:t>B2B / Institutional</a:t>
                      </a:r>
                    </a:p>
                  </a:txBody>
                  <a:tcPr marL="85725" marR="38100" marT="19050" marB="19050" anchor="ctr">
                    <a:solidFill>
                      <a:srgbClr val="F5F8FA"/>
                    </a:solidFill>
                  </a:tcPr>
                </a:tc>
                <a:tc>
                  <a:txBody>
                    <a:bodyPr wrap="none"/>
                    <a:lstStyle/>
                    <a:p>
                      <a:pPr algn="l"/>
                      <a:r>
                        <a:rPr sz="900" b="0">
                          <a:solidFill>
                            <a:srgbClr val="2E2E2E"/>
                          </a:solidFill>
                          <a:latin typeface="Calibri"/>
                        </a:rPr>
                        <a:t>16 Units</a:t>
                      </a:r>
                    </a:p>
                  </a:txBody>
                  <a:tcPr marL="85725" marR="38100" marT="19050" marB="19050" anchor="ctr">
                    <a:solidFill>
                      <a:srgbClr val="F5F8FA"/>
                    </a:solidFill>
                  </a:tcPr>
                </a:tc>
                <a:tc>
                  <a:txBody>
                    <a:bodyPr wrap="none"/>
                    <a:lstStyle/>
                    <a:p>
                      <a:pPr algn="l"/>
                      <a:r>
                        <a:rPr sz="900" b="0">
                          <a:solidFill>
                            <a:srgbClr val="2E2E2E"/>
                          </a:solidFill>
                          <a:latin typeface="Calibri"/>
                        </a:rPr>
                        <a:t>964,070</a:t>
                      </a:r>
                    </a:p>
                  </a:txBody>
                  <a:tcPr marL="85725" marR="38100" marT="19050" marB="19050" anchor="ctr">
                    <a:solidFill>
                      <a:srgbClr val="F5F8FA"/>
                    </a:solidFill>
                  </a:tcPr>
                </a:tc>
                <a:tc>
                  <a:txBody>
                    <a:bodyPr wrap="none"/>
                    <a:lstStyle/>
                    <a:p>
                      <a:pPr algn="l"/>
                      <a:r>
                        <a:rPr sz="900" b="0">
                          <a:solidFill>
                            <a:srgbClr val="2E2E2E"/>
                          </a:solidFill>
                          <a:latin typeface="Calibri"/>
                        </a:rPr>
                        <a:t>15,829,895</a:t>
                      </a:r>
                    </a:p>
                  </a:txBody>
                  <a:tcPr marL="85725" marR="38100" marT="19050" marB="19050" anchor="ctr">
                    <a:solidFill>
                      <a:srgbClr val="F5F8FA"/>
                    </a:solidFill>
                  </a:tcPr>
                </a:tc>
                <a:tc>
                  <a:txBody>
                    <a:bodyPr wrap="none"/>
                    <a:lstStyle/>
                    <a:p>
                      <a:pPr algn="l"/>
                      <a:r>
                        <a:rPr sz="900" b="0">
                          <a:solidFill>
                            <a:srgbClr val="2E2E2E"/>
                          </a:solidFill>
                          <a:latin typeface="Calibri"/>
                        </a:rPr>
                        <a:t>Brand &amp; support</a:t>
                      </a:r>
                    </a:p>
                  </a:txBody>
                  <a:tcPr marL="85725" marR="38100" marT="19050" marB="19050" anchor="ctr">
                    <a:solidFill>
                      <a:srgbClr val="F5F8FA"/>
                    </a:solidFill>
                  </a:tcPr>
                </a:tc>
              </a:tr>
            </a:tbl>
          </a:graphicData>
        </a:graphic>
      </p:graphicFrame>
      <p:sp>
        <p:nvSpPr>
          <p:cNvPr id="14" name="TextBox 13"/>
          <p:cNvSpPr txBox="1"/>
          <p:nvPr/>
        </p:nvSpPr>
        <p:spPr>
          <a:xfrm>
            <a:off x="219075" y="47625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ounded Rectangle 14"/>
          <p:cNvSpPr/>
          <p:nvPr/>
        </p:nvSpPr>
        <p:spPr>
          <a:xfrm>
            <a:off x="142875" y="5038725"/>
            <a:ext cx="11906250" cy="1685925"/>
          </a:xfrm>
          <a:prstGeom prst="roundRect">
            <a:avLst>
              <a:gd name="adj" fmla="val 451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6225" y="5124450"/>
            <a:ext cx="11639550" cy="209550"/>
          </a:xfrm>
          <a:prstGeom prst="rect">
            <a:avLst/>
          </a:prstGeom>
          <a:noFill/>
        </p:spPr>
        <p:txBody>
          <a:bodyPr wrap="square" lIns="0" rIns="19050" tIns="9525" bIns="9525">
            <a:spAutoFit/>
          </a:bodyPr>
          <a:lstStyle/>
          <a:p>
            <a:pPr algn="l"/>
            <a:r>
              <a:rPr sz="1300" b="1">
                <a:solidFill>
                  <a:srgbClr val="0B2E4A"/>
                </a:solidFill>
                <a:latin typeface="Calibri"/>
              </a:rPr>
              <a:t>Notes</a:t>
            </a:r>
          </a:p>
        </p:txBody>
      </p:sp>
      <p:sp>
        <p:nvSpPr>
          <p:cNvPr id="17" name="Rectangle 16"/>
          <p:cNvSpPr/>
          <p:nvPr/>
        </p:nvSpPr>
        <p:spPr>
          <a:xfrm>
            <a:off x="276225" y="5362575"/>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5448300"/>
            <a:ext cx="11639550" cy="12001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This is a representative subset the full assessment lists 20–30 active participants (with brands, specifications, procurement strategies and SWOT). Note: value-chain economics are indicative derived from market modelling and expert validation, not company disclosures.</a:t>
            </a:r>
          </a:p>
        </p:txBody>
      </p:sp>
      <p:sp>
        <p:nvSpPr>
          <p:cNvPr id="19" name="Rectangle 18"/>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1" name="Rounded Rectangle 20">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2" name="Rounded Rectangle 21">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Overview</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Volume Overview</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Value Overview</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Key Segments (Value)</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Volume Overview (Units)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the United States market in volume: size, growth, YoY momentum and gap to the Global benchmark</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2025 MARKET SIZE (UNITS)</a:t>
            </a:r>
          </a:p>
          <a:p>
            <a:pPr algn="ctr"/>
            <a:r>
              <a:rPr sz="1500" b="1">
                <a:solidFill>
                  <a:srgbClr val="0E72AE"/>
                </a:solidFill>
                <a:latin typeface="Calibri"/>
              </a:rPr>
              <a:t>710.4</a:t>
            </a:r>
          </a:p>
          <a:p>
            <a:pPr algn="ctr"/>
            <a:r>
              <a:rPr sz="750" b="0">
                <a:solidFill>
                  <a:srgbClr val="6C7A89"/>
                </a:solidFill>
                <a:latin typeface="Calibri"/>
              </a:rPr>
              <a:t>estimate year</a:t>
            </a:r>
          </a:p>
        </p:txBody>
      </p:sp>
      <p:sp>
        <p:nvSpPr>
          <p:cNvPr id="13" name="Rounded Rectangle 12"/>
          <p:cNvSpPr/>
          <p:nvPr/>
        </p:nvSpPr>
        <p:spPr>
          <a:xfrm>
            <a:off x="31527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(UNITS)</a:t>
            </a:r>
          </a:p>
          <a:p>
            <a:pPr algn="ctr"/>
            <a:r>
              <a:rPr sz="1500" b="1">
                <a:solidFill>
                  <a:srgbClr val="0E72AE"/>
                </a:solidFill>
                <a:latin typeface="Calibri"/>
              </a:rPr>
              <a:t>1,542</a:t>
            </a:r>
          </a:p>
          <a:p>
            <a:pPr algn="ctr"/>
            <a:r>
              <a:rPr sz="750" b="0">
                <a:solidFill>
                  <a:srgbClr val="6C7A89"/>
                </a:solidFill>
                <a:latin typeface="Calibri"/>
              </a:rPr>
              <a:t>forecast horizon</a:t>
            </a:r>
          </a:p>
        </p:txBody>
      </p:sp>
      <p:sp>
        <p:nvSpPr>
          <p:cNvPr id="14" name="Rounded Rectangle 13"/>
          <p:cNvSpPr/>
          <p:nvPr/>
        </p:nvSpPr>
        <p:spPr>
          <a:xfrm>
            <a:off x="61626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H-CAGR (2021–2025)</a:t>
            </a:r>
          </a:p>
          <a:p>
            <a:pPr algn="ctr"/>
            <a:r>
              <a:rPr sz="1500" b="1">
                <a:solidFill>
                  <a:srgbClr val="0E72AE"/>
                </a:solidFill>
                <a:latin typeface="Calibri"/>
              </a:rPr>
              <a:t>7.5%</a:t>
            </a:r>
          </a:p>
        </p:txBody>
      </p:sp>
      <p:sp>
        <p:nvSpPr>
          <p:cNvPr id="15" name="Rounded Rectangle 14"/>
          <p:cNvSpPr/>
          <p:nvPr/>
        </p:nvSpPr>
        <p:spPr>
          <a:xfrm>
            <a:off x="91725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F-CAGR (2026–2036)</a:t>
            </a:r>
          </a:p>
          <a:p>
            <a:pPr algn="ctr"/>
            <a:r>
              <a:rPr sz="1500" b="1">
                <a:solidFill>
                  <a:srgbClr val="0E72AE"/>
                </a:solidFill>
                <a:latin typeface="Calibri"/>
              </a:rPr>
              <a:t>7.3%</a:t>
            </a:r>
          </a:p>
        </p:txBody>
      </p:sp>
      <p:sp>
        <p:nvSpPr>
          <p:cNvPr id="16" name="Rounded Rectangle 15"/>
          <p:cNvSpPr/>
          <p:nvPr/>
        </p:nvSpPr>
        <p:spPr>
          <a:xfrm>
            <a:off x="142875" y="1752600"/>
            <a:ext cx="463867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1809750"/>
            <a:ext cx="4448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&amp; YoY Growth</a:t>
            </a:r>
          </a:p>
        </p:txBody>
      </p:sp>
      <p:graphicFrame>
        <p:nvGraphicFramePr>
          <p:cNvPr id="18" name="Chart 17"/>
          <p:cNvGraphicFramePr>
            <a:graphicFrameLocks noGrp="1"/>
          </p:cNvGraphicFramePr>
          <p:nvPr/>
        </p:nvGraphicFramePr>
        <p:xfrm>
          <a:off x="238125" y="2038350"/>
          <a:ext cx="4448175" cy="1495425"/>
        </p:xfrm>
        <a:graphic>
          <a:graphicData uri="http://schemas.openxmlformats.org/drawingml/2006/chart">
            <c:chart xmlns:c="http://schemas.openxmlformats.org/drawingml/2006/chart" r:id="rId3"/>
          </a:graphicData>
        </a:graphic>
      </p:graphicFrame>
      <p:sp>
        <p:nvSpPr>
          <p:cNvPr id="19" name="Rounded Rectangle 18"/>
          <p:cNvSpPr/>
          <p:nvPr/>
        </p:nvSpPr>
        <p:spPr>
          <a:xfrm>
            <a:off x="4933950"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a:t>
            </a:r>
          </a:p>
        </p:txBody>
      </p:sp>
      <p:graphicFrame>
        <p:nvGraphicFramePr>
          <p:cNvPr id="21" name="Chart 20"/>
          <p:cNvGraphicFramePr>
            <a:graphicFrameLocks noGrp="1"/>
          </p:cNvGraphicFramePr>
          <p:nvPr/>
        </p:nvGraphicFramePr>
        <p:xfrm>
          <a:off x="5029200" y="2038350"/>
          <a:ext cx="3286125" cy="1495425"/>
        </p:xfrm>
        <a:graphic>
          <a:graphicData uri="http://schemas.openxmlformats.org/drawingml/2006/chart">
            <c:chart xmlns:c="http://schemas.openxmlformats.org/drawingml/2006/chart" r:id="rId4"/>
          </a:graphicData>
        </a:graphic>
      </p:graphicFrame>
      <p:sp>
        <p:nvSpPr>
          <p:cNvPr id="22" name="Rounded Rectangle 21"/>
          <p:cNvSpPr/>
          <p:nvPr/>
        </p:nvSpPr>
        <p:spPr>
          <a:xfrm>
            <a:off x="8562975"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8225"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Deviation from Regional Benchmark</a:t>
            </a:r>
          </a:p>
        </p:txBody>
      </p:sp>
      <p:sp>
        <p:nvSpPr>
          <p:cNvPr id="24" name="TextBox 23"/>
          <p:cNvSpPr txBox="1"/>
          <p:nvPr/>
        </p:nvSpPr>
        <p:spPr>
          <a:xfrm>
            <a:off x="8658225" y="2307526"/>
            <a:ext cx="3286125" cy="897255"/>
          </a:xfrm>
          <a:prstGeom prst="rect">
            <a:avLst/>
          </a:prstGeom>
          <a:noFill/>
        </p:spPr>
        <p:txBody>
          <a:bodyPr wrap="square" lIns="28575" rIns="28575" tIns="9525" bIns="9525">
            <a:spAutoFit/>
          </a:bodyPr>
          <a:lstStyle/>
          <a:p>
            <a:pPr algn="ctr"/>
            <a:r>
              <a:rPr sz="2400" b="1">
                <a:solidFill>
                  <a:srgbClr val="008189"/>
                </a:solidFill>
                <a:latin typeface="Calibri"/>
              </a:rPr>
              <a:t>+14 BPS</a:t>
            </a:r>
          </a:p>
          <a:p>
            <a:pPr algn="ctr"/>
            <a:r>
              <a:rPr sz="900" b="0">
                <a:solidFill>
                  <a:srgbClr val="6C7A89"/>
                </a:solidFill>
                <a:latin typeface="Calibri"/>
              </a:rPr>
              <a:t>vs North America benchmark</a:t>
            </a:r>
          </a:p>
          <a:p>
            <a:pPr algn="ctr"/>
            <a:r>
              <a:rPr sz="1000" b="1">
                <a:solidFill>
                  <a:srgbClr val="2E7D32"/>
                </a:solidFill>
                <a:latin typeface="Calibri"/>
              </a:rPr>
              <a:t>▲ above benchmark</a:t>
            </a:r>
          </a:p>
        </p:txBody>
      </p:sp>
      <p:sp>
        <p:nvSpPr>
          <p:cNvPr id="25" name="Rounded Rectangle 24"/>
          <p:cNvSpPr/>
          <p:nvPr/>
        </p:nvSpPr>
        <p:spPr>
          <a:xfrm>
            <a:off x="142875" y="3724275"/>
            <a:ext cx="46958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125" y="3781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(Units)</a:t>
            </a:r>
          </a:p>
        </p:txBody>
      </p:sp>
      <p:graphicFrame>
        <p:nvGraphicFramePr>
          <p:cNvPr id="27" name="Chart 26"/>
          <p:cNvGraphicFramePr>
            <a:graphicFrameLocks noGrp="1"/>
          </p:cNvGraphicFramePr>
          <p:nvPr/>
        </p:nvGraphicFramePr>
        <p:xfrm>
          <a:off x="238125" y="4010025"/>
          <a:ext cx="4505325" cy="1495425"/>
        </p:xfrm>
        <a:graphic>
          <a:graphicData uri="http://schemas.openxmlformats.org/drawingml/2006/chart">
            <c:chart xmlns:c="http://schemas.openxmlformats.org/drawingml/2006/chart" r:id="rId5"/>
          </a:graphicData>
        </a:graphic>
      </p:graphicFrame>
      <p:sp>
        <p:nvSpPr>
          <p:cNvPr id="28" name="Rounded Rectangle 27"/>
          <p:cNvSpPr/>
          <p:nvPr/>
        </p:nvSpPr>
        <p:spPr>
          <a:xfrm>
            <a:off x="4991100" y="3724275"/>
            <a:ext cx="704850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86350" y="3781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Market Share, 2026</a:t>
            </a:r>
          </a:p>
        </p:txBody>
      </p:sp>
      <p:graphicFrame>
        <p:nvGraphicFramePr>
          <p:cNvPr id="30" name="Chart 29"/>
          <p:cNvGraphicFramePr>
            <a:graphicFrameLocks noGrp="1"/>
          </p:cNvGraphicFramePr>
          <p:nvPr/>
        </p:nvGraphicFramePr>
        <p:xfrm>
          <a:off x="5086350" y="4010025"/>
          <a:ext cx="6858000" cy="1495425"/>
        </p:xfrm>
        <a:graphic>
          <a:graphicData uri="http://schemas.openxmlformats.org/drawingml/2006/chart">
            <c:chart xmlns:c="http://schemas.openxmlformats.org/drawingml/2006/chart" r:id="rId6"/>
          </a:graphicData>
        </a:graphic>
      </p:graphicFrame>
      <p:sp>
        <p:nvSpPr>
          <p:cNvPr id="31" name="Rounded Rectangle 30"/>
          <p:cNvSpPr/>
          <p:nvPr/>
        </p:nvSpPr>
        <p:spPr>
          <a:xfrm>
            <a:off x="142875" y="5695950"/>
            <a:ext cx="3943350"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United States's capillary blood collection devices market expands at 7.3% CAGR through 2036, outpacing the North America benchmark of 7.1% by 14 BPS.</a:t>
            </a:r>
          </a:p>
        </p:txBody>
      </p:sp>
      <p:sp>
        <p:nvSpPr>
          <p:cNvPr id="32" name="Rounded Rectangle 31"/>
          <p:cNvSpPr/>
          <p:nvPr/>
        </p:nvSpPr>
        <p:spPr>
          <a:xfrm>
            <a:off x="4238625"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United States holds 27.1% of the global and 84.8% of the North America capillary blood collection devices market in 2026; by 2036 those shares move to 27.7% and 85.9% respectively.</a:t>
            </a:r>
          </a:p>
        </p:txBody>
      </p:sp>
      <p:sp>
        <p:nvSpPr>
          <p:cNvPr id="33" name="Rounded Rectangle 32"/>
          <p:cNvSpPr/>
          <p:nvPr/>
        </p:nvSpPr>
        <p:spPr>
          <a:xfrm>
            <a:off x="8210550"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The forecast build-up adds 776.4 Units between 2026 and 2036 the United States market grows to 2.0× its 2026 size over the decade.</a:t>
            </a:r>
          </a:p>
        </p:txBody>
      </p:sp>
      <p:sp>
        <p:nvSpPr>
          <p:cNvPr id="34" name="Rectangle 3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6" name="Rounded Rectangle 35">
            <a:hlinkClick action="ppaction://hlinksldjump" r:id="rId8"/>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9"/>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8" name="Rounded Rectangle 37">
            <a:hlinkClick action="ppaction://hlinksldjump" r:id="rId10"/>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Value Overview (US$ Mn)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the United States market in value: size, growth, YoY momentum and gap to the Global benchmark</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2025 MARKET SIZE (US$ MN)</a:t>
            </a:r>
          </a:p>
          <a:p>
            <a:pPr algn="ctr"/>
            <a:r>
              <a:rPr sz="1500" b="1">
                <a:solidFill>
                  <a:srgbClr val="0E72AE"/>
                </a:solidFill>
                <a:latin typeface="Calibri"/>
              </a:rPr>
              <a:t>592.0</a:t>
            </a:r>
          </a:p>
          <a:p>
            <a:pPr algn="ctr"/>
            <a:r>
              <a:rPr sz="750" b="0">
                <a:solidFill>
                  <a:srgbClr val="6C7A89"/>
                </a:solidFill>
                <a:latin typeface="Calibri"/>
              </a:rPr>
              <a:t>estimate year</a:t>
            </a:r>
          </a:p>
        </p:txBody>
      </p:sp>
      <p:sp>
        <p:nvSpPr>
          <p:cNvPr id="13" name="Rounded Rectangle 12"/>
          <p:cNvSpPr/>
          <p:nvPr/>
        </p:nvSpPr>
        <p:spPr>
          <a:xfrm>
            <a:off x="31527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2036 MARKET SIZE (US$ MN)</a:t>
            </a:r>
          </a:p>
          <a:p>
            <a:pPr algn="ctr"/>
            <a:r>
              <a:rPr sz="1500" b="1">
                <a:solidFill>
                  <a:srgbClr val="0E72AE"/>
                </a:solidFill>
                <a:latin typeface="Calibri"/>
              </a:rPr>
              <a:t>1,398</a:t>
            </a:r>
          </a:p>
          <a:p>
            <a:pPr algn="ctr"/>
            <a:r>
              <a:rPr sz="750" b="0">
                <a:solidFill>
                  <a:srgbClr val="6C7A89"/>
                </a:solidFill>
                <a:latin typeface="Calibri"/>
              </a:rPr>
              <a:t>forecast horizon</a:t>
            </a:r>
          </a:p>
        </p:txBody>
      </p:sp>
      <p:sp>
        <p:nvSpPr>
          <p:cNvPr id="14" name="Rounded Rectangle 13"/>
          <p:cNvSpPr/>
          <p:nvPr/>
        </p:nvSpPr>
        <p:spPr>
          <a:xfrm>
            <a:off x="61626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H-CAGR (2021–2025)</a:t>
            </a:r>
          </a:p>
          <a:p>
            <a:pPr algn="ctr"/>
            <a:r>
              <a:rPr sz="1500" b="1">
                <a:solidFill>
                  <a:srgbClr val="0E72AE"/>
                </a:solidFill>
                <a:latin typeface="Calibri"/>
              </a:rPr>
              <a:t>6.5%</a:t>
            </a:r>
          </a:p>
        </p:txBody>
      </p:sp>
      <p:sp>
        <p:nvSpPr>
          <p:cNvPr id="15" name="Rounded Rectangle 14"/>
          <p:cNvSpPr/>
          <p:nvPr/>
        </p:nvSpPr>
        <p:spPr>
          <a:xfrm>
            <a:off x="9172575" y="857250"/>
            <a:ext cx="2857500" cy="76200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F-CAGR (2026–2036)</a:t>
            </a:r>
          </a:p>
          <a:p>
            <a:pPr algn="ctr"/>
            <a:r>
              <a:rPr sz="1500" b="1">
                <a:solidFill>
                  <a:srgbClr val="0E72AE"/>
                </a:solidFill>
                <a:latin typeface="Calibri"/>
              </a:rPr>
              <a:t>8.2%</a:t>
            </a:r>
          </a:p>
        </p:txBody>
      </p:sp>
      <p:sp>
        <p:nvSpPr>
          <p:cNvPr id="16" name="Rounded Rectangle 15"/>
          <p:cNvSpPr/>
          <p:nvPr/>
        </p:nvSpPr>
        <p:spPr>
          <a:xfrm>
            <a:off x="142875" y="1752600"/>
            <a:ext cx="463867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1809750"/>
            <a:ext cx="444817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&amp; YoY Growth</a:t>
            </a:r>
          </a:p>
        </p:txBody>
      </p:sp>
      <p:graphicFrame>
        <p:nvGraphicFramePr>
          <p:cNvPr id="18" name="Chart 17"/>
          <p:cNvGraphicFramePr>
            <a:graphicFrameLocks noGrp="1"/>
          </p:cNvGraphicFramePr>
          <p:nvPr/>
        </p:nvGraphicFramePr>
        <p:xfrm>
          <a:off x="238125" y="2038350"/>
          <a:ext cx="4448175" cy="1495425"/>
        </p:xfrm>
        <a:graphic>
          <a:graphicData uri="http://schemas.openxmlformats.org/drawingml/2006/chart">
            <c:chart xmlns:c="http://schemas.openxmlformats.org/drawingml/2006/chart" r:id="rId3"/>
          </a:graphicData>
        </a:graphic>
      </p:graphicFrame>
      <p:sp>
        <p:nvSpPr>
          <p:cNvPr id="19" name="Rounded Rectangle 18"/>
          <p:cNvSpPr/>
          <p:nvPr/>
        </p:nvSpPr>
        <p:spPr>
          <a:xfrm>
            <a:off x="4933950"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CAGR Comparison</a:t>
            </a:r>
          </a:p>
        </p:txBody>
      </p:sp>
      <p:graphicFrame>
        <p:nvGraphicFramePr>
          <p:cNvPr id="21" name="Chart 20"/>
          <p:cNvGraphicFramePr>
            <a:graphicFrameLocks noGrp="1"/>
          </p:cNvGraphicFramePr>
          <p:nvPr/>
        </p:nvGraphicFramePr>
        <p:xfrm>
          <a:off x="5029200" y="2038350"/>
          <a:ext cx="3286125" cy="1495425"/>
        </p:xfrm>
        <a:graphic>
          <a:graphicData uri="http://schemas.openxmlformats.org/drawingml/2006/chart">
            <c:chart xmlns:c="http://schemas.openxmlformats.org/drawingml/2006/chart" r:id="rId4"/>
          </a:graphicData>
        </a:graphic>
      </p:graphicFrame>
      <p:sp>
        <p:nvSpPr>
          <p:cNvPr id="22" name="Rounded Rectangle 21"/>
          <p:cNvSpPr/>
          <p:nvPr/>
        </p:nvSpPr>
        <p:spPr>
          <a:xfrm>
            <a:off x="8562975" y="1752600"/>
            <a:ext cx="34766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8225" y="1809750"/>
            <a:ext cx="32861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Deviation from Regional Benchmark</a:t>
            </a:r>
          </a:p>
        </p:txBody>
      </p:sp>
      <p:sp>
        <p:nvSpPr>
          <p:cNvPr id="24" name="TextBox 23"/>
          <p:cNvSpPr txBox="1"/>
          <p:nvPr/>
        </p:nvSpPr>
        <p:spPr>
          <a:xfrm>
            <a:off x="8658225" y="2307526"/>
            <a:ext cx="3286125" cy="897255"/>
          </a:xfrm>
          <a:prstGeom prst="rect">
            <a:avLst/>
          </a:prstGeom>
          <a:noFill/>
        </p:spPr>
        <p:txBody>
          <a:bodyPr wrap="square" lIns="28575" rIns="28575" tIns="9525" bIns="9525">
            <a:spAutoFit/>
          </a:bodyPr>
          <a:lstStyle/>
          <a:p>
            <a:pPr algn="ctr"/>
            <a:r>
              <a:rPr sz="2400" b="1">
                <a:solidFill>
                  <a:srgbClr val="008189"/>
                </a:solidFill>
                <a:latin typeface="Calibri"/>
              </a:rPr>
              <a:t>+15 BPS</a:t>
            </a:r>
          </a:p>
          <a:p>
            <a:pPr algn="ctr"/>
            <a:r>
              <a:rPr sz="900" b="0">
                <a:solidFill>
                  <a:srgbClr val="6C7A89"/>
                </a:solidFill>
                <a:latin typeface="Calibri"/>
              </a:rPr>
              <a:t>vs North America benchmark</a:t>
            </a:r>
          </a:p>
          <a:p>
            <a:pPr algn="ctr"/>
            <a:r>
              <a:rPr sz="1000" b="1">
                <a:solidFill>
                  <a:srgbClr val="2E7D32"/>
                </a:solidFill>
                <a:latin typeface="Calibri"/>
              </a:rPr>
              <a:t>▲ above benchmark</a:t>
            </a:r>
          </a:p>
        </p:txBody>
      </p:sp>
      <p:sp>
        <p:nvSpPr>
          <p:cNvPr id="25" name="Rounded Rectangle 24"/>
          <p:cNvSpPr/>
          <p:nvPr/>
        </p:nvSpPr>
        <p:spPr>
          <a:xfrm>
            <a:off x="142875" y="3724275"/>
            <a:ext cx="4695825"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125" y="3781425"/>
            <a:ext cx="45053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Forecast Build-up 2026–2036 (US$ Mn)</a:t>
            </a:r>
          </a:p>
        </p:txBody>
      </p:sp>
      <p:graphicFrame>
        <p:nvGraphicFramePr>
          <p:cNvPr id="27" name="Chart 26"/>
          <p:cNvGraphicFramePr>
            <a:graphicFrameLocks noGrp="1"/>
          </p:cNvGraphicFramePr>
          <p:nvPr/>
        </p:nvGraphicFramePr>
        <p:xfrm>
          <a:off x="238125" y="4010025"/>
          <a:ext cx="4505325" cy="1495425"/>
        </p:xfrm>
        <a:graphic>
          <a:graphicData uri="http://schemas.openxmlformats.org/drawingml/2006/chart">
            <c:chart xmlns:c="http://schemas.openxmlformats.org/drawingml/2006/chart" r:id="rId5"/>
          </a:graphicData>
        </a:graphic>
      </p:graphicFrame>
      <p:sp>
        <p:nvSpPr>
          <p:cNvPr id="28" name="Rounded Rectangle 27"/>
          <p:cNvSpPr/>
          <p:nvPr/>
        </p:nvSpPr>
        <p:spPr>
          <a:xfrm>
            <a:off x="4991100" y="3724275"/>
            <a:ext cx="7048500" cy="1838325"/>
          </a:xfrm>
          <a:prstGeom prst="roundRect">
            <a:avLst>
              <a:gd name="adj" fmla="val 414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86350" y="3781425"/>
            <a:ext cx="6858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Market Share, 2026</a:t>
            </a:r>
          </a:p>
        </p:txBody>
      </p:sp>
      <p:graphicFrame>
        <p:nvGraphicFramePr>
          <p:cNvPr id="30" name="Chart 29"/>
          <p:cNvGraphicFramePr>
            <a:graphicFrameLocks noGrp="1"/>
          </p:cNvGraphicFramePr>
          <p:nvPr/>
        </p:nvGraphicFramePr>
        <p:xfrm>
          <a:off x="5086350" y="4010025"/>
          <a:ext cx="6858000" cy="1495425"/>
        </p:xfrm>
        <a:graphic>
          <a:graphicData uri="http://schemas.openxmlformats.org/drawingml/2006/chart">
            <c:chart xmlns:c="http://schemas.openxmlformats.org/drawingml/2006/chart" r:id="rId6"/>
          </a:graphicData>
        </a:graphic>
      </p:graphicFrame>
      <p:sp>
        <p:nvSpPr>
          <p:cNvPr id="31" name="Rounded Rectangle 30"/>
          <p:cNvSpPr/>
          <p:nvPr/>
        </p:nvSpPr>
        <p:spPr>
          <a:xfrm>
            <a:off x="142875" y="5695950"/>
            <a:ext cx="3943350"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United States's capillary blood collection devices market expands at 8.2% CAGR through 2036, outpacing the North America benchmark of 8.0% by 15 BPS.</a:t>
            </a:r>
          </a:p>
        </p:txBody>
      </p:sp>
      <p:sp>
        <p:nvSpPr>
          <p:cNvPr id="32" name="Rounded Rectangle 31"/>
          <p:cNvSpPr/>
          <p:nvPr/>
        </p:nvSpPr>
        <p:spPr>
          <a:xfrm>
            <a:off x="4238625"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United States holds 27.6% of the global and 85.0% of the North America capillary blood collection devices market in 2026; by 2036 those shares move to 28.3% and 86.2% respectively.</a:t>
            </a:r>
          </a:p>
        </p:txBody>
      </p:sp>
      <p:sp>
        <p:nvSpPr>
          <p:cNvPr id="33" name="Rounded Rectangle 32"/>
          <p:cNvSpPr/>
          <p:nvPr/>
        </p:nvSpPr>
        <p:spPr>
          <a:xfrm>
            <a:off x="8210550" y="5695950"/>
            <a:ext cx="3819525" cy="1028700"/>
          </a:xfrm>
          <a:prstGeom prst="roundRect">
            <a:avLst>
              <a:gd name="adj" fmla="val 74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1050" b="0">
                <a:solidFill>
                  <a:srgbClr val="2E2E2E"/>
                </a:solidFill>
                <a:latin typeface="Calibri"/>
              </a:rPr>
              <a:t>The forecast build-up adds 761.9 US$ Mn between 2026 and 2036 the United States market grows to 2.2× its 2026 size over the decade.</a:t>
            </a:r>
          </a:p>
        </p:txBody>
      </p:sp>
      <p:sp>
        <p:nvSpPr>
          <p:cNvPr id="34" name="Rectangle 3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6" name="Rounded Rectangle 35">
            <a:hlinkClick action="ppaction://hlinksldjump" r:id="rId8"/>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7" name="Rounded Rectangle 36">
            <a:hlinkClick action="ppaction://hlinksldjump" r:id="rId9"/>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8" name="Rounded Rectangle 37">
            <a:hlinkClick action="ppaction://hlinksldjump" r:id="rId10"/>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Key Segments Overview, By Value (2026)</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United States's key segments by value, highlighting the leading sub-segment of every segmentation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Product Type  (US$ Mn)</a:t>
            </a:r>
          </a:p>
        </p:txBody>
      </p:sp>
      <p:graphicFrame>
        <p:nvGraphicFramePr>
          <p:cNvPr id="14" name="Chart 13"/>
          <p:cNvGraphicFramePr>
            <a:graphicFrameLocks noGrp="1"/>
          </p:cNvGraphicFramePr>
          <p:nvPr/>
        </p:nvGraphicFramePr>
        <p:xfrm>
          <a:off x="238125" y="1143000"/>
          <a:ext cx="2667000"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31527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80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Application  (US$ Mn)</a:t>
            </a:r>
          </a:p>
        </p:txBody>
      </p:sp>
      <p:graphicFrame>
        <p:nvGraphicFramePr>
          <p:cNvPr id="17" name="Chart 16"/>
          <p:cNvGraphicFramePr>
            <a:graphicFrameLocks noGrp="1"/>
          </p:cNvGraphicFramePr>
          <p:nvPr/>
        </p:nvGraphicFramePr>
        <p:xfrm>
          <a:off x="3248025" y="1143000"/>
          <a:ext cx="2667000" cy="2524125"/>
        </p:xfrm>
        <a:graphic>
          <a:graphicData uri="http://schemas.openxmlformats.org/drawingml/2006/chart">
            <c:chart xmlns:c="http://schemas.openxmlformats.org/drawingml/2006/chart" r:id="rId4"/>
          </a:graphicData>
        </a:graphic>
      </p:graphicFrame>
      <p:sp>
        <p:nvSpPr>
          <p:cNvPr id="18" name="Rounded Rectangle 17"/>
          <p:cNvSpPr/>
          <p:nvPr/>
        </p:nvSpPr>
        <p:spPr>
          <a:xfrm>
            <a:off x="61626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9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End User  (US$ Mn)</a:t>
            </a:r>
          </a:p>
        </p:txBody>
      </p:sp>
      <p:graphicFrame>
        <p:nvGraphicFramePr>
          <p:cNvPr id="20" name="Chart 19"/>
          <p:cNvGraphicFramePr>
            <a:graphicFrameLocks noGrp="1"/>
          </p:cNvGraphicFramePr>
          <p:nvPr/>
        </p:nvGraphicFramePr>
        <p:xfrm>
          <a:off x="6257925" y="1143000"/>
          <a:ext cx="2667000" cy="2524125"/>
        </p:xfrm>
        <a:graphic>
          <a:graphicData uri="http://schemas.openxmlformats.org/drawingml/2006/chart">
            <c:chart xmlns:c="http://schemas.openxmlformats.org/drawingml/2006/chart" r:id="rId5"/>
          </a:graphicData>
        </a:graphic>
      </p:graphicFrame>
      <p:sp>
        <p:nvSpPr>
          <p:cNvPr id="21" name="Rounded Rectangle 20"/>
          <p:cNvSpPr/>
          <p:nvPr/>
        </p:nvSpPr>
        <p:spPr>
          <a:xfrm>
            <a:off x="9172575" y="857250"/>
            <a:ext cx="2857500" cy="2867025"/>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7825" y="914400"/>
            <a:ext cx="2667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Specimen Collected  (US$ Mn)</a:t>
            </a:r>
          </a:p>
        </p:txBody>
      </p:sp>
      <p:graphicFrame>
        <p:nvGraphicFramePr>
          <p:cNvPr id="23" name="Chart 22"/>
          <p:cNvGraphicFramePr>
            <a:graphicFrameLocks noGrp="1"/>
          </p:cNvGraphicFramePr>
          <p:nvPr/>
        </p:nvGraphicFramePr>
        <p:xfrm>
          <a:off x="9267825" y="1143000"/>
          <a:ext cx="2667000" cy="2524125"/>
        </p:xfrm>
        <a:graphic>
          <a:graphicData uri="http://schemas.openxmlformats.org/drawingml/2006/chart">
            <c:chart xmlns:c="http://schemas.openxmlformats.org/drawingml/2006/chart" r:id="rId6"/>
          </a:graphicData>
        </a:graphic>
      </p:graphicFrame>
      <p:sp>
        <p:nvSpPr>
          <p:cNvPr id="24" name="Rounded Rectangle 23"/>
          <p:cNvSpPr/>
          <p:nvPr/>
        </p:nvSpPr>
        <p:spPr>
          <a:xfrm>
            <a:off x="142875" y="3857625"/>
            <a:ext cx="293370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8125" y="391477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Patient Group  (US$ Mn)</a:t>
            </a:r>
          </a:p>
        </p:txBody>
      </p:sp>
      <p:graphicFrame>
        <p:nvGraphicFramePr>
          <p:cNvPr id="26" name="Chart 25"/>
          <p:cNvGraphicFramePr>
            <a:graphicFrameLocks noGrp="1"/>
          </p:cNvGraphicFramePr>
          <p:nvPr/>
        </p:nvGraphicFramePr>
        <p:xfrm>
          <a:off x="238125" y="4143375"/>
          <a:ext cx="2743200" cy="2524125"/>
        </p:xfrm>
        <a:graphic>
          <a:graphicData uri="http://schemas.openxmlformats.org/drawingml/2006/chart">
            <c:chart xmlns:c="http://schemas.openxmlformats.org/drawingml/2006/chart" r:id="rId7"/>
          </a:graphicData>
        </a:graphic>
      </p:graphicFrame>
      <p:sp>
        <p:nvSpPr>
          <p:cNvPr id="27" name="Rounded Rectangle 26"/>
          <p:cNvSpPr/>
          <p:nvPr/>
        </p:nvSpPr>
        <p:spPr>
          <a:xfrm>
            <a:off x="3228975" y="3857625"/>
            <a:ext cx="293370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24225" y="3914775"/>
            <a:ext cx="27432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By Distribution Channel  (US$ Mn)</a:t>
            </a:r>
          </a:p>
        </p:txBody>
      </p:sp>
      <p:graphicFrame>
        <p:nvGraphicFramePr>
          <p:cNvPr id="29" name="Chart 28"/>
          <p:cNvGraphicFramePr>
            <a:graphicFrameLocks noGrp="1"/>
          </p:cNvGraphicFramePr>
          <p:nvPr/>
        </p:nvGraphicFramePr>
        <p:xfrm>
          <a:off x="3324225" y="4143375"/>
          <a:ext cx="2743200" cy="2524125"/>
        </p:xfrm>
        <a:graphic>
          <a:graphicData uri="http://schemas.openxmlformats.org/drawingml/2006/chart">
            <c:chart xmlns:c="http://schemas.openxmlformats.org/drawingml/2006/chart" r:id="rId8"/>
          </a:graphicData>
        </a:graphic>
      </p:graphicFrame>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10"/>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11"/>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12"/>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Key Segments Overview, By Value (2026)   ·   (continued 2/2)</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United States's key segments by value, highlighting the leading sub-segment of every segmentation</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6225" y="94297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  ·  2026 Total: 635.9 US$ Mn</a:t>
            </a:r>
          </a:p>
        </p:txBody>
      </p:sp>
      <p:sp>
        <p:nvSpPr>
          <p:cNvPr id="13" name="Rectangle 12"/>
          <p:cNvSpPr/>
          <p:nvPr/>
        </p:nvSpPr>
        <p:spPr>
          <a:xfrm>
            <a:off x="276225" y="118110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6225" y="1266825"/>
            <a:ext cx="11639550" cy="538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Product Type, 'Capillary Blood Collection Containers' leads at 298.0 US$ Mn (47% share), ahead of 'Blood Collection Lancets' (243.7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Application, 'Diabetes &amp; Glucose Testing' leads at 266.4 US$ Mn (42% share), ahead of 'Infectious Disease Testing' (91.4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End User, 'Hospitals &amp; Clinics' leads at 251.7 US$ Mn (40% share), ahead of 'Diagnostic Laboratories' (133.1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Specimen Collected, 'Whole Blood' leads at 333.1 US$ Mn (52% share), ahead of 'Plasma' (128.3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Patient Group, 'Adults' leads at 349.4 US$ Mn (55% share), ahead of 'Geriatric Patients' (160.9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By Distribution Channel, 'Medical Distributors &amp; Wholesalers' leads at 256.3 US$ Mn (40% share), ahead of 'Direct Sales' (181.9 US$ Mn).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Use the Country slicer in the top band to switch country the selection stays synced across every page of the report.</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Product Type</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14</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Product Type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Product Type: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Product Type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Product Type</a:t>
            </a:r>
          </a:p>
        </p:txBody>
      </p:sp>
      <p:graphicFrame>
        <p:nvGraphicFramePr>
          <p:cNvPr id="17" name="Table 16"/>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46.9%</a:t>
                      </a:r>
                    </a:p>
                  </a:txBody>
                  <a:tcPr marL="85725" marR="38100" marT="19050" marB="19050" anchor="ctr">
                    <a:solidFill>
                      <a:srgbClr val="FFFFFF"/>
                    </a:solidFill>
                  </a:tcPr>
                </a:tc>
                <a:tc>
                  <a:txBody>
                    <a:bodyPr wrap="none"/>
                    <a:lstStyle/>
                    <a:p>
                      <a:pPr algn="l"/>
                      <a:r>
                        <a:rPr sz="900" b="0">
                          <a:solidFill>
                            <a:srgbClr val="2E2E2E"/>
                          </a:solidFill>
                          <a:latin typeface="Calibri"/>
                        </a:rPr>
                        <a:t>42.8%</a:t>
                      </a:r>
                    </a:p>
                  </a:txBody>
                  <a:tcPr marL="85725" marR="38100" marT="19050" marB="19050" anchor="ctr">
                    <a:solidFill>
                      <a:srgbClr val="FFFFFF"/>
                    </a:solidFill>
                  </a:tcPr>
                </a:tc>
                <a:tc>
                  <a:txBody>
                    <a:bodyPr wrap="none"/>
                    <a:lstStyle/>
                    <a:p>
                      <a:pPr algn="l"/>
                      <a:r>
                        <a:rPr sz="900" b="1">
                          <a:solidFill>
                            <a:srgbClr val="E44D3A"/>
                          </a:solidFill>
                          <a:latin typeface="Calibri"/>
                        </a:rPr>
                        <a:t>-406</a:t>
                      </a:r>
                    </a:p>
                  </a:txBody>
                  <a:tcPr marL="85725" marR="38100" marT="19050" marB="19050" anchor="ctr">
                    <a:solidFill>
                      <a:srgbClr val="FFFFFF"/>
                    </a:solidFill>
                  </a:tcPr>
                </a:tc>
                <a:tc>
                  <a:txBody>
                    <a:bodyPr wrap="none"/>
                    <a:lstStyle/>
                    <a:p>
                      <a:pPr algn="l"/>
                      <a:r>
                        <a:rPr sz="900" b="0">
                          <a:solidFill>
                            <a:srgbClr val="2E2E2E"/>
                          </a:solidFill>
                          <a:latin typeface="Calibri"/>
                        </a:rPr>
                        <a:t>7.2%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38.3%</a:t>
                      </a:r>
                    </a:p>
                  </a:txBody>
                  <a:tcPr marL="85725" marR="38100" marT="19050" marB="19050" anchor="ctr">
                    <a:solidFill>
                      <a:srgbClr val="F5F8FA"/>
                    </a:solidFill>
                  </a:tcPr>
                </a:tc>
                <a:tc>
                  <a:txBody>
                    <a:bodyPr wrap="none"/>
                    <a:lstStyle/>
                    <a:p>
                      <a:pPr algn="l"/>
                      <a:r>
                        <a:rPr sz="900" b="0">
                          <a:solidFill>
                            <a:srgbClr val="2E2E2E"/>
                          </a:solidFill>
                          <a:latin typeface="Calibri"/>
                        </a:rPr>
                        <a:t>35.7%</a:t>
                      </a:r>
                    </a:p>
                  </a:txBody>
                  <a:tcPr marL="85725" marR="38100" marT="19050" marB="19050" anchor="ctr">
                    <a:solidFill>
                      <a:srgbClr val="F5F8FA"/>
                    </a:solidFill>
                  </a:tcPr>
                </a:tc>
                <a:tc>
                  <a:txBody>
                    <a:bodyPr wrap="none"/>
                    <a:lstStyle/>
                    <a:p>
                      <a:pPr algn="l"/>
                      <a:r>
                        <a:rPr sz="900" b="1">
                          <a:solidFill>
                            <a:srgbClr val="E44D3A"/>
                          </a:solidFill>
                          <a:latin typeface="Calibri"/>
                        </a:rPr>
                        <a:t>-258</a:t>
                      </a:r>
                    </a:p>
                  </a:txBody>
                  <a:tcPr marL="85725" marR="38100" marT="19050" marB="19050" anchor="ctr">
                    <a:solidFill>
                      <a:srgbClr val="F5F8FA"/>
                    </a:solidFill>
                  </a:tcPr>
                </a:tc>
                <a:tc>
                  <a:txBody>
                    <a:bodyPr wrap="none"/>
                    <a:lstStyle/>
                    <a:p>
                      <a:pPr algn="l"/>
                      <a:r>
                        <a:rPr sz="900" b="0">
                          <a:solidFill>
                            <a:srgbClr val="2E2E2E"/>
                          </a:solidFill>
                          <a:latin typeface="Calibri"/>
                        </a:rPr>
                        <a:t>7.4%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0">
                          <a:solidFill>
                            <a:srgbClr val="2E2E2E"/>
                          </a:solidFill>
                          <a:latin typeface="Calibri"/>
                        </a:rPr>
                        <a:t>12.8%</a:t>
                      </a:r>
                    </a:p>
                  </a:txBody>
                  <a:tcPr marL="85725" marR="38100" marT="19050" marB="19050" anchor="ctr">
                    <a:solidFill>
                      <a:srgbClr val="FFFFFF"/>
                    </a:solidFill>
                  </a:tcPr>
                </a:tc>
                <a:tc>
                  <a:txBody>
                    <a:bodyPr wrap="none"/>
                    <a:lstStyle/>
                    <a:p>
                      <a:pPr algn="l"/>
                      <a:r>
                        <a:rPr sz="900" b="1">
                          <a:solidFill>
                            <a:srgbClr val="008189"/>
                          </a:solidFill>
                          <a:latin typeface="Calibri"/>
                        </a:rPr>
                        <a:t>+432</a:t>
                      </a:r>
                    </a:p>
                  </a:txBody>
                  <a:tcPr marL="85725" marR="38100" marT="19050" marB="19050" anchor="ctr">
                    <a:solidFill>
                      <a:srgbClr val="FFFFFF"/>
                    </a:solidFill>
                  </a:tcPr>
                </a:tc>
                <a:tc>
                  <a:txBody>
                    <a:bodyPr wrap="none"/>
                    <a:lstStyle/>
                    <a:p>
                      <a:pPr algn="l"/>
                      <a:r>
                        <a:rPr sz="900" b="0">
                          <a:solidFill>
                            <a:srgbClr val="2E2E2E"/>
                          </a:solidFill>
                          <a:latin typeface="Calibri"/>
                        </a:rPr>
                        <a:t>12.7%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6.3%</a:t>
                      </a:r>
                    </a:p>
                  </a:txBody>
                  <a:tcPr marL="85725" marR="38100" marT="19050" marB="19050" anchor="ctr">
                    <a:solidFill>
                      <a:srgbClr val="F5F8FA"/>
                    </a:solidFill>
                  </a:tcPr>
                </a:tc>
                <a:tc>
                  <a:txBody>
                    <a:bodyPr wrap="none"/>
                    <a:lstStyle/>
                    <a:p>
                      <a:pPr algn="l"/>
                      <a:r>
                        <a:rPr sz="900" b="0">
                          <a:solidFill>
                            <a:srgbClr val="2E2E2E"/>
                          </a:solidFill>
                          <a:latin typeface="Calibri"/>
                        </a:rPr>
                        <a:t>8.6%</a:t>
                      </a:r>
                    </a:p>
                  </a:txBody>
                  <a:tcPr marL="85725" marR="38100" marT="19050" marB="19050" anchor="ctr">
                    <a:solidFill>
                      <a:srgbClr val="F5F8FA"/>
                    </a:solidFill>
                  </a:tcPr>
                </a:tc>
                <a:tc>
                  <a:txBody>
                    <a:bodyPr wrap="none"/>
                    <a:lstStyle/>
                    <a:p>
                      <a:pPr algn="l"/>
                      <a:r>
                        <a:rPr sz="900" b="1">
                          <a:solidFill>
                            <a:srgbClr val="008189"/>
                          </a:solidFill>
                          <a:latin typeface="Calibri"/>
                        </a:rPr>
                        <a:t>+232</a:t>
                      </a:r>
                    </a:p>
                  </a:txBody>
                  <a:tcPr marL="85725" marR="38100" marT="19050" marB="19050" anchor="ctr">
                    <a:solidFill>
                      <a:srgbClr val="F5F8FA"/>
                    </a:solidFill>
                  </a:tcPr>
                </a:tc>
                <a:tc>
                  <a:txBody>
                    <a:bodyPr wrap="none"/>
                    <a:lstStyle/>
                    <a:p>
                      <a:pPr algn="l"/>
                      <a:r>
                        <a:rPr sz="900" b="0">
                          <a:solidFill>
                            <a:srgbClr val="2E2E2E"/>
                          </a:solidFill>
                          <a:latin typeface="Calibri"/>
                        </a:rPr>
                        <a:t>11.6%</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Product Type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Product Type</a:t>
            </a:r>
          </a:p>
        </p:txBody>
      </p:sp>
      <p:graphicFrame>
        <p:nvGraphicFramePr>
          <p:cNvPr id="24" name="Table 23"/>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46.9%</a:t>
                      </a:r>
                    </a:p>
                  </a:txBody>
                  <a:tcPr marL="85725" marR="38100" marT="19050" marB="19050" anchor="ctr">
                    <a:solidFill>
                      <a:srgbClr val="FFFFFF"/>
                    </a:solidFill>
                  </a:tcPr>
                </a:tc>
                <a:tc>
                  <a:txBody>
                    <a:bodyPr wrap="none"/>
                    <a:lstStyle/>
                    <a:p>
                      <a:pPr algn="l"/>
                      <a:r>
                        <a:rPr sz="900" b="0">
                          <a:solidFill>
                            <a:srgbClr val="2E2E2E"/>
                          </a:solidFill>
                          <a:latin typeface="Calibri"/>
                        </a:rPr>
                        <a:t>43.0%</a:t>
                      </a:r>
                    </a:p>
                  </a:txBody>
                  <a:tcPr marL="85725" marR="38100" marT="19050" marB="19050" anchor="ctr">
                    <a:solidFill>
                      <a:srgbClr val="FFFFFF"/>
                    </a:solidFill>
                  </a:tcPr>
                </a:tc>
                <a:tc>
                  <a:txBody>
                    <a:bodyPr wrap="none"/>
                    <a:lstStyle/>
                    <a:p>
                      <a:pPr algn="l"/>
                      <a:r>
                        <a:rPr sz="900" b="1">
                          <a:solidFill>
                            <a:srgbClr val="E44D3A"/>
                          </a:solidFill>
                          <a:latin typeface="Calibri"/>
                        </a:rPr>
                        <a:t>-392</a:t>
                      </a:r>
                    </a:p>
                  </a:txBody>
                  <a:tcPr marL="85725" marR="38100" marT="19050" marB="19050" anchor="ctr">
                    <a:solidFill>
                      <a:srgbClr val="FFFFFF"/>
                    </a:solidFill>
                  </a:tcPr>
                </a:tc>
                <a:tc>
                  <a:txBody>
                    <a:bodyPr wrap="none"/>
                    <a:lstStyle/>
                    <a:p>
                      <a:pPr algn="l"/>
                      <a:r>
                        <a:rPr sz="900" b="0">
                          <a:solidFill>
                            <a:srgbClr val="2E2E2E"/>
                          </a:solidFill>
                          <a:latin typeface="Calibri"/>
                        </a:rPr>
                        <a:t>6.3%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38.3%</a:t>
                      </a:r>
                    </a:p>
                  </a:txBody>
                  <a:tcPr marL="85725" marR="38100" marT="19050" marB="19050" anchor="ctr">
                    <a:solidFill>
                      <a:srgbClr val="F5F8FA"/>
                    </a:solidFill>
                  </a:tcPr>
                </a:tc>
                <a:tc>
                  <a:txBody>
                    <a:bodyPr wrap="none"/>
                    <a:lstStyle/>
                    <a:p>
                      <a:pPr algn="l"/>
                      <a:r>
                        <a:rPr sz="900" b="0">
                          <a:solidFill>
                            <a:srgbClr val="2E2E2E"/>
                          </a:solidFill>
                          <a:latin typeface="Calibri"/>
                        </a:rPr>
                        <a:t>35.5%</a:t>
                      </a:r>
                    </a:p>
                  </a:txBody>
                  <a:tcPr marL="85725" marR="38100" marT="19050" marB="19050" anchor="ctr">
                    <a:solidFill>
                      <a:srgbClr val="F5F8FA"/>
                    </a:solidFill>
                  </a:tcPr>
                </a:tc>
                <a:tc>
                  <a:txBody>
                    <a:bodyPr wrap="none"/>
                    <a:lstStyle/>
                    <a:p>
                      <a:pPr algn="l"/>
                      <a:r>
                        <a:rPr sz="900" b="1">
                          <a:solidFill>
                            <a:srgbClr val="E44D3A"/>
                          </a:solidFill>
                          <a:latin typeface="Calibri"/>
                        </a:rPr>
                        <a:t>-281</a:t>
                      </a:r>
                    </a:p>
                  </a:txBody>
                  <a:tcPr marL="85725" marR="38100" marT="19050" marB="19050" anchor="ctr">
                    <a:solidFill>
                      <a:srgbClr val="F5F8FA"/>
                    </a:solidFill>
                  </a:tcPr>
                </a:tc>
                <a:tc>
                  <a:txBody>
                    <a:bodyPr wrap="none"/>
                    <a:lstStyle/>
                    <a:p>
                      <a:pPr algn="l"/>
                      <a:r>
                        <a:rPr sz="9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8.5%</a:t>
                      </a:r>
                    </a:p>
                  </a:txBody>
                  <a:tcPr marL="85725" marR="38100" marT="19050" marB="19050" anchor="ctr">
                    <a:solidFill>
                      <a:srgbClr val="FFFFFF"/>
                    </a:solidFill>
                  </a:tcPr>
                </a:tc>
                <a:tc>
                  <a:txBody>
                    <a:bodyPr wrap="none"/>
                    <a:lstStyle/>
                    <a:p>
                      <a:pPr algn="l"/>
                      <a:r>
                        <a:rPr sz="900" b="0">
                          <a:solidFill>
                            <a:srgbClr val="2E2E2E"/>
                          </a:solidFill>
                          <a:latin typeface="Calibri"/>
                        </a:rPr>
                        <a:t>12.9%</a:t>
                      </a:r>
                    </a:p>
                  </a:txBody>
                  <a:tcPr marL="85725" marR="38100" marT="19050" marB="19050" anchor="ctr">
                    <a:solidFill>
                      <a:srgbClr val="FFFFFF"/>
                    </a:solidFill>
                  </a:tcPr>
                </a:tc>
                <a:tc>
                  <a:txBody>
                    <a:bodyPr wrap="none"/>
                    <a:lstStyle/>
                    <a:p>
                      <a:pPr algn="l"/>
                      <a:r>
                        <a:rPr sz="900" b="1">
                          <a:solidFill>
                            <a:srgbClr val="008189"/>
                          </a:solidFill>
                          <a:latin typeface="Calibri"/>
                        </a:rPr>
                        <a:t>+440</a:t>
                      </a:r>
                    </a:p>
                  </a:txBody>
                  <a:tcPr marL="85725" marR="38100" marT="19050" marB="19050" anchor="ctr">
                    <a:solidFill>
                      <a:srgbClr val="FFFFFF"/>
                    </a:solidFill>
                  </a:tcPr>
                </a:tc>
                <a:tc>
                  <a:txBody>
                    <a:bodyPr wrap="none"/>
                    <a:lstStyle/>
                    <a:p>
                      <a:pPr algn="l"/>
                      <a:r>
                        <a:rPr sz="9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6.3%</a:t>
                      </a:r>
                    </a:p>
                  </a:txBody>
                  <a:tcPr marL="85725" marR="38100" marT="19050" marB="19050" anchor="ctr">
                    <a:solidFill>
                      <a:srgbClr val="F5F8FA"/>
                    </a:solidFill>
                  </a:tcPr>
                </a:tc>
                <a:tc>
                  <a:txBody>
                    <a:bodyPr wrap="none"/>
                    <a:lstStyle/>
                    <a:p>
                      <a:pPr algn="l"/>
                      <a:r>
                        <a:rPr sz="900" b="0">
                          <a:solidFill>
                            <a:srgbClr val="2E2E2E"/>
                          </a:solidFill>
                          <a:latin typeface="Calibri"/>
                        </a:rPr>
                        <a:t>8.6%</a:t>
                      </a:r>
                    </a:p>
                  </a:txBody>
                  <a:tcPr marL="85725" marR="38100" marT="19050" marB="19050" anchor="ctr">
                    <a:solidFill>
                      <a:srgbClr val="F5F8FA"/>
                    </a:solidFill>
                  </a:tcPr>
                </a:tc>
                <a:tc>
                  <a:txBody>
                    <a:bodyPr wrap="none"/>
                    <a:lstStyle/>
                    <a:p>
                      <a:pPr algn="l"/>
                      <a:r>
                        <a:rPr sz="900" b="1">
                          <a:solidFill>
                            <a:srgbClr val="008189"/>
                          </a:solidFill>
                          <a:latin typeface="Calibri"/>
                        </a:rPr>
                        <a:t>+232</a:t>
                      </a:r>
                    </a:p>
                  </a:txBody>
                  <a:tcPr marL="85725" marR="38100" marT="19050" marB="19050" anchor="ctr">
                    <a:solidFill>
                      <a:srgbClr val="F5F8FA"/>
                    </a:solidFill>
                  </a:tcPr>
                </a:tc>
                <a:tc>
                  <a:txBody>
                    <a:bodyPr wrap="none"/>
                    <a:lstStyle/>
                    <a:p>
                      <a:pPr algn="l"/>
                      <a:r>
                        <a:rPr sz="900" b="0">
                          <a:solidFill>
                            <a:srgbClr val="2E2E2E"/>
                          </a:solidFill>
                          <a:latin typeface="Calibri"/>
                        </a:rPr>
                        <a:t>10.7%</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Product Type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Product Type,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Product Type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0">
                          <a:solidFill>
                            <a:srgbClr val="2E2E2E"/>
                          </a:solidFill>
                          <a:latin typeface="Calibri"/>
                        </a:rPr>
                        <a:t>256.4</a:t>
                      </a:r>
                    </a:p>
                  </a:txBody>
                  <a:tcPr marL="85725" marR="38100" marT="19050" marB="19050" anchor="ctr">
                    <a:solidFill>
                      <a:srgbClr val="FFFFFF"/>
                    </a:solidFill>
                  </a:tcPr>
                </a:tc>
                <a:tc>
                  <a:txBody>
                    <a:bodyPr wrap="none"/>
                    <a:lstStyle/>
                    <a:p>
                      <a:pPr algn="l"/>
                      <a:r>
                        <a:rPr sz="800" b="0">
                          <a:solidFill>
                            <a:srgbClr val="2E2E2E"/>
                          </a:solidFill>
                          <a:latin typeface="Calibri"/>
                        </a:rPr>
                        <a:t>273.9</a:t>
                      </a:r>
                    </a:p>
                  </a:txBody>
                  <a:tcPr marL="85725" marR="38100" marT="19050" marB="19050" anchor="ctr">
                    <a:solidFill>
                      <a:srgbClr val="FFFFFF"/>
                    </a:solidFill>
                  </a:tcPr>
                </a:tc>
                <a:tc>
                  <a:txBody>
                    <a:bodyPr wrap="none"/>
                    <a:lstStyle/>
                    <a:p>
                      <a:pPr algn="l"/>
                      <a:r>
                        <a:rPr sz="800" b="0">
                          <a:solidFill>
                            <a:srgbClr val="2E2E2E"/>
                          </a:solidFill>
                          <a:latin typeface="Calibri"/>
                        </a:rPr>
                        <a:t>292.8</a:t>
                      </a:r>
                    </a:p>
                  </a:txBody>
                  <a:tcPr marL="85725" marR="38100" marT="19050" marB="19050" anchor="ctr">
                    <a:solidFill>
                      <a:srgbClr val="FFFFFF"/>
                    </a:solidFill>
                  </a:tcPr>
                </a:tc>
                <a:tc>
                  <a:txBody>
                    <a:bodyPr wrap="none"/>
                    <a:lstStyle/>
                    <a:p>
                      <a:pPr algn="l"/>
                      <a:r>
                        <a:rPr sz="800" b="0">
                          <a:solidFill>
                            <a:srgbClr val="2E2E2E"/>
                          </a:solidFill>
                          <a:latin typeface="Calibri"/>
                        </a:rPr>
                        <a:t>313.3</a:t>
                      </a:r>
                    </a:p>
                  </a:txBody>
                  <a:tcPr marL="85725" marR="38100" marT="19050" marB="19050" anchor="ctr">
                    <a:solidFill>
                      <a:srgbClr val="FFFFFF"/>
                    </a:solidFill>
                  </a:tcPr>
                </a:tc>
                <a:tc>
                  <a:txBody>
                    <a:bodyPr wrap="none"/>
                    <a:lstStyle/>
                    <a:p>
                      <a:pPr algn="l"/>
                      <a:r>
                        <a:rPr sz="800" b="0">
                          <a:solidFill>
                            <a:srgbClr val="2E2E2E"/>
                          </a:solidFill>
                          <a:latin typeface="Calibri"/>
                        </a:rPr>
                        <a:t>335.0</a:t>
                      </a:r>
                    </a:p>
                  </a:txBody>
                  <a:tcPr marL="85725" marR="38100" marT="19050" marB="19050" anchor="ctr">
                    <a:solidFill>
                      <a:srgbClr val="FFFFFF"/>
                    </a:solidFill>
                  </a:tcPr>
                </a:tc>
                <a:tc>
                  <a:txBody>
                    <a:bodyPr wrap="none"/>
                    <a:lstStyle/>
                    <a:p>
                      <a:pPr algn="l"/>
                      <a:r>
                        <a:rPr sz="800" b="0">
                          <a:solidFill>
                            <a:srgbClr val="2E2E2E"/>
                          </a:solidFill>
                          <a:latin typeface="Calibri"/>
                        </a:rPr>
                        <a:t>358.8</a:t>
                      </a:r>
                    </a:p>
                  </a:txBody>
                  <a:tcPr marL="85725" marR="38100" marT="19050" marB="19050" anchor="ctr">
                    <a:solidFill>
                      <a:srgbClr val="FFFFFF"/>
                    </a:solidFill>
                  </a:tcPr>
                </a:tc>
                <a:tc>
                  <a:txBody>
                    <a:bodyPr wrap="none"/>
                    <a:lstStyle/>
                    <a:p>
                      <a:pPr algn="l"/>
                      <a:r>
                        <a:rPr sz="800" b="0">
                          <a:solidFill>
                            <a:srgbClr val="2E2E2E"/>
                          </a:solidFill>
                          <a:latin typeface="Calibri"/>
                        </a:rPr>
                        <a:t>384.0</a:t>
                      </a:r>
                    </a:p>
                  </a:txBody>
                  <a:tcPr marL="85725" marR="38100" marT="19050" marB="19050" anchor="ctr">
                    <a:solidFill>
                      <a:srgbClr val="FFFFFF"/>
                    </a:solidFill>
                  </a:tcPr>
                </a:tc>
                <a:tc>
                  <a:txBody>
                    <a:bodyPr wrap="none"/>
                    <a:lstStyle/>
                    <a:p>
                      <a:pPr algn="l"/>
                      <a:r>
                        <a:rPr sz="800" b="0">
                          <a:solidFill>
                            <a:srgbClr val="2E2E2E"/>
                          </a:solidFill>
                          <a:latin typeface="Calibri"/>
                        </a:rPr>
                        <a:t>410.2</a:t>
                      </a:r>
                    </a:p>
                  </a:txBody>
                  <a:tcPr marL="85725" marR="38100" marT="19050" marB="19050" anchor="ctr">
                    <a:solidFill>
                      <a:srgbClr val="FFFFFF"/>
                    </a:solidFill>
                  </a:tcPr>
                </a:tc>
                <a:tc>
                  <a:txBody>
                    <a:bodyPr wrap="none"/>
                    <a:lstStyle/>
                    <a:p>
                      <a:pPr algn="l"/>
                      <a:r>
                        <a:rPr sz="800" b="0">
                          <a:solidFill>
                            <a:srgbClr val="2E2E2E"/>
                          </a:solidFill>
                          <a:latin typeface="Calibri"/>
                        </a:rPr>
                        <a:t>437.7</a:t>
                      </a:r>
                    </a:p>
                  </a:txBody>
                  <a:tcPr marL="85725" marR="38100" marT="19050" marB="19050" anchor="ctr">
                    <a:solidFill>
                      <a:srgbClr val="FFFFFF"/>
                    </a:solidFill>
                  </a:tcPr>
                </a:tc>
                <a:tc>
                  <a:txBody>
                    <a:bodyPr wrap="none"/>
                    <a:lstStyle/>
                    <a:p>
                      <a:pPr algn="l"/>
                      <a:r>
                        <a:rPr sz="800" b="0">
                          <a:solidFill>
                            <a:srgbClr val="2E2E2E"/>
                          </a:solidFill>
                          <a:latin typeface="Calibri"/>
                        </a:rPr>
                        <a:t>466.1</a:t>
                      </a:r>
                    </a:p>
                  </a:txBody>
                  <a:tcPr marL="85725" marR="38100" marT="19050" marB="19050" anchor="ctr">
                    <a:solidFill>
                      <a:srgbClr val="FFFFFF"/>
                    </a:solidFill>
                  </a:tcPr>
                </a:tc>
                <a:tc>
                  <a:txBody>
                    <a:bodyPr wrap="none"/>
                    <a:lstStyle/>
                    <a:p>
                      <a:pPr algn="l"/>
                      <a:r>
                        <a:rPr sz="800" b="0">
                          <a:solidFill>
                            <a:srgbClr val="2E2E2E"/>
                          </a:solidFill>
                          <a:latin typeface="Calibri"/>
                        </a:rPr>
                        <a:t>495.8</a:t>
                      </a:r>
                    </a:p>
                  </a:txBody>
                  <a:tcPr marL="85725" marR="38100" marT="19050" marB="19050" anchor="ctr">
                    <a:solidFill>
                      <a:srgbClr val="FFFFFF"/>
                    </a:solidFill>
                  </a:tcPr>
                </a:tc>
                <a:tc>
                  <a:txBody>
                    <a:bodyPr wrap="none"/>
                    <a:lstStyle/>
                    <a:p>
                      <a:pPr algn="l"/>
                      <a:r>
                        <a:rPr sz="800" b="0">
                          <a:solidFill>
                            <a:srgbClr val="2E2E2E"/>
                          </a:solidFill>
                          <a:latin typeface="Calibri"/>
                        </a:rPr>
                        <a:t>526.4</a:t>
                      </a:r>
                    </a:p>
                  </a:txBody>
                  <a:tcPr marL="85725" marR="38100" marT="19050" marB="19050" anchor="ctr">
                    <a:solidFill>
                      <a:srgbClr val="FFFFFF"/>
                    </a:solidFill>
                  </a:tcPr>
                </a:tc>
                <a:tc>
                  <a:txBody>
                    <a:bodyPr wrap="none"/>
                    <a:lstStyle/>
                    <a:p>
                      <a:pPr algn="l"/>
                      <a:r>
                        <a:rPr sz="800" b="0">
                          <a:solidFill>
                            <a:srgbClr val="2E2E2E"/>
                          </a:solidFill>
                          <a:latin typeface="Calibri"/>
                        </a:rPr>
                        <a:t>557.6</a:t>
                      </a:r>
                    </a:p>
                  </a:txBody>
                  <a:tcPr marL="85725" marR="38100" marT="19050" marB="19050" anchor="ctr">
                    <a:solidFill>
                      <a:srgbClr val="FFFFFF"/>
                    </a:solidFill>
                  </a:tcPr>
                </a:tc>
                <a:tc>
                  <a:txBody>
                    <a:bodyPr wrap="none"/>
                    <a:lstStyle/>
                    <a:p>
                      <a:pPr algn="l"/>
                      <a:r>
                        <a:rPr sz="800" b="0">
                          <a:solidFill>
                            <a:srgbClr val="2E2E2E"/>
                          </a:solidFill>
                          <a:latin typeface="Calibri"/>
                        </a:rPr>
                        <a:t>591.3</a:t>
                      </a:r>
                    </a:p>
                  </a:txBody>
                  <a:tcPr marL="85725" marR="38100" marT="19050" marB="19050" anchor="ctr">
                    <a:solidFill>
                      <a:srgbClr val="FFFFFF"/>
                    </a:solidFill>
                  </a:tcPr>
                </a:tc>
                <a:tc>
                  <a:txBody>
                    <a:bodyPr wrap="none"/>
                    <a:lstStyle/>
                    <a:p>
                      <a:pPr algn="l"/>
                      <a:r>
                        <a:rPr sz="800" b="0">
                          <a:solidFill>
                            <a:srgbClr val="2E2E2E"/>
                          </a:solidFill>
                          <a:latin typeface="Calibri"/>
                        </a:rPr>
                        <a:t>625.3</a:t>
                      </a:r>
                    </a:p>
                  </a:txBody>
                  <a:tcPr marL="85725" marR="38100" marT="19050" marB="19050" anchor="ctr">
                    <a:solidFill>
                      <a:srgbClr val="FFFFFF"/>
                    </a:solidFill>
                  </a:tcPr>
                </a:tc>
                <a:tc>
                  <a:txBody>
                    <a:bodyPr wrap="none"/>
                    <a:lstStyle/>
                    <a:p>
                      <a:pPr algn="l"/>
                      <a:r>
                        <a:rPr sz="800" b="0">
                          <a:solidFill>
                            <a:srgbClr val="2E2E2E"/>
                          </a:solidFill>
                          <a:latin typeface="Calibri"/>
                        </a:rPr>
                        <a:t>662.3</a:t>
                      </a:r>
                    </a:p>
                  </a:txBody>
                  <a:tcPr marL="85725" marR="38100" marT="19050" marB="19050" anchor="ctr">
                    <a:solidFill>
                      <a:srgbClr val="FFFFFF"/>
                    </a:solidFill>
                  </a:tcPr>
                </a:tc>
                <a:tc>
                  <a:txBody>
                    <a:bodyPr wrap="none"/>
                    <a:lstStyle/>
                    <a:p>
                      <a:pPr algn="l"/>
                      <a:r>
                        <a:rPr sz="800" b="0">
                          <a:solidFill>
                            <a:srgbClr val="2E2E2E"/>
                          </a:solidFill>
                          <a:latin typeface="Calibri"/>
                        </a:rPr>
                        <a:t>6.3%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0">
                          <a:solidFill>
                            <a:srgbClr val="2E2E2E"/>
                          </a:solidFill>
                          <a:latin typeface="Calibri"/>
                        </a:rPr>
                        <a:t>208.2</a:t>
                      </a:r>
                    </a:p>
                  </a:txBody>
                  <a:tcPr marL="85725" marR="38100" marT="19050" marB="19050" anchor="ctr">
                    <a:solidFill>
                      <a:srgbClr val="F5F8FA"/>
                    </a:solidFill>
                  </a:tcPr>
                </a:tc>
                <a:tc>
                  <a:txBody>
                    <a:bodyPr wrap="none"/>
                    <a:lstStyle/>
                    <a:p>
                      <a:pPr algn="l"/>
                      <a:r>
                        <a:rPr sz="800" b="0">
                          <a:solidFill>
                            <a:srgbClr val="2E2E2E"/>
                          </a:solidFill>
                          <a:latin typeface="Calibri"/>
                        </a:rPr>
                        <a:t>222.7</a:t>
                      </a:r>
                    </a:p>
                  </a:txBody>
                  <a:tcPr marL="85725" marR="38100" marT="19050" marB="19050" anchor="ctr">
                    <a:solidFill>
                      <a:srgbClr val="F5F8FA"/>
                    </a:solidFill>
                  </a:tcPr>
                </a:tc>
                <a:tc>
                  <a:txBody>
                    <a:bodyPr wrap="none"/>
                    <a:lstStyle/>
                    <a:p>
                      <a:pPr algn="l"/>
                      <a:r>
                        <a:rPr sz="800" b="0">
                          <a:solidFill>
                            <a:srgbClr val="2E2E2E"/>
                          </a:solidFill>
                          <a:latin typeface="Calibri"/>
                        </a:rPr>
                        <a:t>238.4</a:t>
                      </a:r>
                    </a:p>
                  </a:txBody>
                  <a:tcPr marL="85725" marR="38100" marT="19050" marB="19050" anchor="ctr">
                    <a:solidFill>
                      <a:srgbClr val="F5F8FA"/>
                    </a:solidFill>
                  </a:tcPr>
                </a:tc>
                <a:tc>
                  <a:txBody>
                    <a:bodyPr wrap="none"/>
                    <a:lstStyle/>
                    <a:p>
                      <a:pPr algn="l"/>
                      <a:r>
                        <a:rPr sz="800" b="0">
                          <a:solidFill>
                            <a:srgbClr val="2E2E2E"/>
                          </a:solidFill>
                          <a:latin typeface="Calibri"/>
                        </a:rPr>
                        <a:t>255.5</a:t>
                      </a:r>
                    </a:p>
                  </a:txBody>
                  <a:tcPr marL="85725" marR="38100" marT="19050" marB="19050" anchor="ctr">
                    <a:solidFill>
                      <a:srgbClr val="F5F8FA"/>
                    </a:solidFill>
                  </a:tcPr>
                </a:tc>
                <a:tc>
                  <a:txBody>
                    <a:bodyPr wrap="none"/>
                    <a:lstStyle/>
                    <a:p>
                      <a:pPr algn="l"/>
                      <a:r>
                        <a:rPr sz="800" b="0">
                          <a:solidFill>
                            <a:srgbClr val="2E2E2E"/>
                          </a:solidFill>
                          <a:latin typeface="Calibri"/>
                        </a:rPr>
                        <a:t>273.5</a:t>
                      </a:r>
                    </a:p>
                  </a:txBody>
                  <a:tcPr marL="85725" marR="38100" marT="19050" marB="19050" anchor="ctr">
                    <a:solidFill>
                      <a:srgbClr val="F5F8FA"/>
                    </a:solidFill>
                  </a:tcPr>
                </a:tc>
                <a:tc>
                  <a:txBody>
                    <a:bodyPr wrap="none"/>
                    <a:lstStyle/>
                    <a:p>
                      <a:pPr algn="l"/>
                      <a:r>
                        <a:rPr sz="800" b="0">
                          <a:solidFill>
                            <a:srgbClr val="2E2E2E"/>
                          </a:solidFill>
                          <a:latin typeface="Calibri"/>
                        </a:rPr>
                        <a:t>293.1</a:t>
                      </a:r>
                    </a:p>
                  </a:txBody>
                  <a:tcPr marL="85725" marR="38100" marT="19050" marB="19050" anchor="ctr">
                    <a:solidFill>
                      <a:srgbClr val="F5F8FA"/>
                    </a:solidFill>
                  </a:tcPr>
                </a:tc>
                <a:tc>
                  <a:txBody>
                    <a:bodyPr wrap="none"/>
                    <a:lstStyle/>
                    <a:p>
                      <a:pPr algn="l"/>
                      <a:r>
                        <a:rPr sz="800" b="0">
                          <a:solidFill>
                            <a:srgbClr val="2E2E2E"/>
                          </a:solidFill>
                          <a:latin typeface="Calibri"/>
                        </a:rPr>
                        <a:t>314.0</a:t>
                      </a:r>
                    </a:p>
                  </a:txBody>
                  <a:tcPr marL="85725" marR="38100" marT="19050" marB="19050" anchor="ctr">
                    <a:solidFill>
                      <a:srgbClr val="F5F8FA"/>
                    </a:solidFill>
                  </a:tcPr>
                </a:tc>
                <a:tc>
                  <a:txBody>
                    <a:bodyPr wrap="none"/>
                    <a:lstStyle/>
                    <a:p>
                      <a:pPr algn="l"/>
                      <a:r>
                        <a:rPr sz="800" b="0">
                          <a:solidFill>
                            <a:srgbClr val="2E2E2E"/>
                          </a:solidFill>
                          <a:latin typeface="Calibri"/>
                        </a:rPr>
                        <a:t>335.6</a:t>
                      </a:r>
                    </a:p>
                  </a:txBody>
                  <a:tcPr marL="85725" marR="38100" marT="19050" marB="19050" anchor="ctr">
                    <a:solidFill>
                      <a:srgbClr val="F5F8FA"/>
                    </a:solidFill>
                  </a:tcPr>
                </a:tc>
                <a:tc>
                  <a:txBody>
                    <a:bodyPr wrap="none"/>
                    <a:lstStyle/>
                    <a:p>
                      <a:pPr algn="l"/>
                      <a:r>
                        <a:rPr sz="800" b="0">
                          <a:solidFill>
                            <a:srgbClr val="2E2E2E"/>
                          </a:solidFill>
                          <a:latin typeface="Calibri"/>
                        </a:rPr>
                        <a:t>358.4</a:t>
                      </a:r>
                    </a:p>
                  </a:txBody>
                  <a:tcPr marL="85725" marR="38100" marT="19050" marB="19050" anchor="ctr">
                    <a:solidFill>
                      <a:srgbClr val="F5F8FA"/>
                    </a:solidFill>
                  </a:tcPr>
                </a:tc>
                <a:tc>
                  <a:txBody>
                    <a:bodyPr wrap="none"/>
                    <a:lstStyle/>
                    <a:p>
                      <a:pPr algn="l"/>
                      <a:r>
                        <a:rPr sz="800" b="0">
                          <a:solidFill>
                            <a:srgbClr val="2E2E2E"/>
                          </a:solidFill>
                          <a:latin typeface="Calibri"/>
                        </a:rPr>
                        <a:t>382.1</a:t>
                      </a:r>
                    </a:p>
                  </a:txBody>
                  <a:tcPr marL="85725" marR="38100" marT="19050" marB="19050" anchor="ctr">
                    <a:solidFill>
                      <a:srgbClr val="F5F8FA"/>
                    </a:solidFill>
                  </a:tcPr>
                </a:tc>
                <a:tc>
                  <a:txBody>
                    <a:bodyPr wrap="none"/>
                    <a:lstStyle/>
                    <a:p>
                      <a:pPr algn="l"/>
                      <a:r>
                        <a:rPr sz="800" b="0">
                          <a:solidFill>
                            <a:srgbClr val="2E2E2E"/>
                          </a:solidFill>
                          <a:latin typeface="Calibri"/>
                        </a:rPr>
                        <a:t>406.9</a:t>
                      </a:r>
                    </a:p>
                  </a:txBody>
                  <a:tcPr marL="85725" marR="38100" marT="19050" marB="19050" anchor="ctr">
                    <a:solidFill>
                      <a:srgbClr val="F5F8FA"/>
                    </a:solidFill>
                  </a:tcPr>
                </a:tc>
                <a:tc>
                  <a:txBody>
                    <a:bodyPr wrap="none"/>
                    <a:lstStyle/>
                    <a:p>
                      <a:pPr algn="l"/>
                      <a:r>
                        <a:rPr sz="800" b="0">
                          <a:solidFill>
                            <a:srgbClr val="2E2E2E"/>
                          </a:solidFill>
                          <a:latin typeface="Calibri"/>
                        </a:rPr>
                        <a:t>432.5</a:t>
                      </a:r>
                    </a:p>
                  </a:txBody>
                  <a:tcPr marL="85725" marR="38100" marT="19050" marB="19050" anchor="ctr">
                    <a:solidFill>
                      <a:srgbClr val="F5F8FA"/>
                    </a:solidFill>
                  </a:tcPr>
                </a:tc>
                <a:tc>
                  <a:txBody>
                    <a:bodyPr wrap="none"/>
                    <a:lstStyle/>
                    <a:p>
                      <a:pPr algn="l"/>
                      <a:r>
                        <a:rPr sz="800" b="0">
                          <a:solidFill>
                            <a:srgbClr val="2E2E2E"/>
                          </a:solidFill>
                          <a:latin typeface="Calibri"/>
                        </a:rPr>
                        <a:t>458.7</a:t>
                      </a:r>
                    </a:p>
                  </a:txBody>
                  <a:tcPr marL="85725" marR="38100" marT="19050" marB="19050" anchor="ctr">
                    <a:solidFill>
                      <a:srgbClr val="F5F8FA"/>
                    </a:solidFill>
                  </a:tcPr>
                </a:tc>
                <a:tc>
                  <a:txBody>
                    <a:bodyPr wrap="none"/>
                    <a:lstStyle/>
                    <a:p>
                      <a:pPr algn="l"/>
                      <a:r>
                        <a:rPr sz="800" b="0">
                          <a:solidFill>
                            <a:srgbClr val="2E2E2E"/>
                          </a:solidFill>
                          <a:latin typeface="Calibri"/>
                        </a:rPr>
                        <a:t>487.1</a:t>
                      </a:r>
                    </a:p>
                  </a:txBody>
                  <a:tcPr marL="85725" marR="38100" marT="19050" marB="19050" anchor="ctr">
                    <a:solidFill>
                      <a:srgbClr val="F5F8FA"/>
                    </a:solidFill>
                  </a:tcPr>
                </a:tc>
                <a:tc>
                  <a:txBody>
                    <a:bodyPr wrap="none"/>
                    <a:lstStyle/>
                    <a:p>
                      <a:pPr algn="l"/>
                      <a:r>
                        <a:rPr sz="800" b="0">
                          <a:solidFill>
                            <a:srgbClr val="2E2E2E"/>
                          </a:solidFill>
                          <a:latin typeface="Calibri"/>
                        </a:rPr>
                        <a:t>515.8</a:t>
                      </a:r>
                    </a:p>
                  </a:txBody>
                  <a:tcPr marL="85725" marR="38100" marT="19050" marB="19050" anchor="ctr">
                    <a:solidFill>
                      <a:srgbClr val="F5F8FA"/>
                    </a:solidFill>
                  </a:tcPr>
                </a:tc>
                <a:tc>
                  <a:txBody>
                    <a:bodyPr wrap="none"/>
                    <a:lstStyle/>
                    <a:p>
                      <a:pPr algn="l"/>
                      <a:r>
                        <a:rPr sz="800" b="0">
                          <a:solidFill>
                            <a:srgbClr val="2E2E2E"/>
                          </a:solidFill>
                          <a:latin typeface="Calibri"/>
                        </a:rPr>
                        <a:t>547.1</a:t>
                      </a:r>
                    </a:p>
                  </a:txBody>
                  <a:tcPr marL="85725" marR="38100" marT="19050" marB="19050" anchor="ctr">
                    <a:solidFill>
                      <a:srgbClr val="F5F8FA"/>
                    </a:solidFill>
                  </a:tcPr>
                </a:tc>
                <a:tc>
                  <a:txBody>
                    <a:bodyPr wrap="none"/>
                    <a:lstStyle/>
                    <a:p>
                      <a:pPr algn="l"/>
                      <a:r>
                        <a:rPr sz="800" b="0">
                          <a:solidFill>
                            <a:srgbClr val="2E2E2E"/>
                          </a:solidFill>
                          <a:latin typeface="Calibri"/>
                        </a:rPr>
                        <a:t>6.4%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0">
                          <a:solidFill>
                            <a:srgbClr val="2E2E2E"/>
                          </a:solidFill>
                          <a:latin typeface="Calibri"/>
                        </a:rPr>
                        <a:t>38.2</a:t>
                      </a:r>
                    </a:p>
                  </a:txBody>
                  <a:tcPr marL="85725" marR="38100" marT="19050" marB="19050" anchor="ctr">
                    <a:solidFill>
                      <a:srgbClr val="FFFFFF"/>
                    </a:solidFill>
                  </a:tcPr>
                </a:tc>
                <a:tc>
                  <a:txBody>
                    <a:bodyPr wrap="none"/>
                    <a:lstStyle/>
                    <a:p>
                      <a:pPr algn="l"/>
                      <a:r>
                        <a:rPr sz="800" b="0">
                          <a:solidFill>
                            <a:srgbClr val="2E2E2E"/>
                          </a:solidFill>
                          <a:latin typeface="Calibri"/>
                        </a:rPr>
                        <a:t>42.3</a:t>
                      </a:r>
                    </a:p>
                  </a:txBody>
                  <a:tcPr marL="85725" marR="38100" marT="19050" marB="19050" anchor="ctr">
                    <a:solidFill>
                      <a:srgbClr val="FFFFFF"/>
                    </a:solidFill>
                  </a:tcPr>
                </a:tc>
                <a:tc>
                  <a:txBody>
                    <a:bodyPr wrap="none"/>
                    <a:lstStyle/>
                    <a:p>
                      <a:pPr algn="l"/>
                      <a:r>
                        <a:rPr sz="800" b="0">
                          <a:solidFill>
                            <a:srgbClr val="2E2E2E"/>
                          </a:solidFill>
                          <a:latin typeface="Calibri"/>
                        </a:rPr>
                        <a:t>47.0</a:t>
                      </a:r>
                    </a:p>
                  </a:txBody>
                  <a:tcPr marL="85725" marR="38100" marT="19050" marB="19050" anchor="ctr">
                    <a:solidFill>
                      <a:srgbClr val="FFFFFF"/>
                    </a:solidFill>
                  </a:tcPr>
                </a:tc>
                <a:tc>
                  <a:txBody>
                    <a:bodyPr wrap="none"/>
                    <a:lstStyle/>
                    <a:p>
                      <a:pPr algn="l"/>
                      <a:r>
                        <a:rPr sz="800" b="0">
                          <a:solidFill>
                            <a:srgbClr val="2E2E2E"/>
                          </a:solidFill>
                          <a:latin typeface="Calibri"/>
                        </a:rPr>
                        <a:t>52.3</a:t>
                      </a:r>
                    </a:p>
                  </a:txBody>
                  <a:tcPr marL="85725" marR="38100" marT="19050" marB="19050" anchor="ctr">
                    <a:solidFill>
                      <a:srgbClr val="FFFFFF"/>
                    </a:solidFill>
                  </a:tcPr>
                </a:tc>
                <a:tc>
                  <a:txBody>
                    <a:bodyPr wrap="none"/>
                    <a:lstStyle/>
                    <a:p>
                      <a:pPr algn="l"/>
                      <a:r>
                        <a:rPr sz="800" b="0">
                          <a:solidFill>
                            <a:srgbClr val="2E2E2E"/>
                          </a:solidFill>
                          <a:latin typeface="Calibri"/>
                        </a:rPr>
                        <a:t>58.4</a:t>
                      </a:r>
                    </a:p>
                  </a:txBody>
                  <a:tcPr marL="85725" marR="38100" marT="19050" marB="19050" anchor="ctr">
                    <a:solidFill>
                      <a:srgbClr val="FFFFFF"/>
                    </a:solidFill>
                  </a:tcPr>
                </a:tc>
                <a:tc>
                  <a:txBody>
                    <a:bodyPr wrap="none"/>
                    <a:lstStyle/>
                    <a:p>
                      <a:pPr algn="l"/>
                      <a:r>
                        <a:rPr sz="800" b="0">
                          <a:solidFill>
                            <a:srgbClr val="2E2E2E"/>
                          </a:solidFill>
                          <a:latin typeface="Calibri"/>
                        </a:rPr>
                        <a:t>65.3</a:t>
                      </a:r>
                    </a:p>
                  </a:txBody>
                  <a:tcPr marL="85725" marR="38100" marT="19050" marB="19050" anchor="ctr">
                    <a:solidFill>
                      <a:srgbClr val="FFFFFF"/>
                    </a:solidFill>
                  </a:tcPr>
                </a:tc>
                <a:tc>
                  <a:txBody>
                    <a:bodyPr wrap="none"/>
                    <a:lstStyle/>
                    <a:p>
                      <a:pPr algn="l"/>
                      <a:r>
                        <a:rPr sz="800" b="0">
                          <a:solidFill>
                            <a:srgbClr val="2E2E2E"/>
                          </a:solidFill>
                          <a:latin typeface="Calibri"/>
                        </a:rPr>
                        <a:t>73.1</a:t>
                      </a:r>
                    </a:p>
                  </a:txBody>
                  <a:tcPr marL="85725" marR="38100" marT="19050" marB="19050" anchor="ctr">
                    <a:solidFill>
                      <a:srgbClr val="FFFFFF"/>
                    </a:solidFill>
                  </a:tcPr>
                </a:tc>
                <a:tc>
                  <a:txBody>
                    <a:bodyPr wrap="none"/>
                    <a:lstStyle/>
                    <a:p>
                      <a:pPr algn="l"/>
                      <a:r>
                        <a:rPr sz="800" b="0">
                          <a:solidFill>
                            <a:srgbClr val="2E2E2E"/>
                          </a:solidFill>
                          <a:latin typeface="Calibri"/>
                        </a:rPr>
                        <a:t>81.8</a:t>
                      </a:r>
                    </a:p>
                  </a:txBody>
                  <a:tcPr marL="85725" marR="38100" marT="19050" marB="19050" anchor="ctr">
                    <a:solidFill>
                      <a:srgbClr val="FFFFFF"/>
                    </a:solidFill>
                  </a:tcPr>
                </a:tc>
                <a:tc>
                  <a:txBody>
                    <a:bodyPr wrap="none"/>
                    <a:lstStyle/>
                    <a:p>
                      <a:pPr algn="l"/>
                      <a:r>
                        <a:rPr sz="800" b="0">
                          <a:solidFill>
                            <a:srgbClr val="2E2E2E"/>
                          </a:solidFill>
                          <a:latin typeface="Calibri"/>
                        </a:rPr>
                        <a:t>91.5</a:t>
                      </a:r>
                    </a:p>
                  </a:txBody>
                  <a:tcPr marL="85725" marR="38100" marT="19050" marB="19050" anchor="ctr">
                    <a:solidFill>
                      <a:srgbClr val="FFFFFF"/>
                    </a:solidFill>
                  </a:tcPr>
                </a:tc>
                <a:tc>
                  <a:txBody>
                    <a:bodyPr wrap="none"/>
                    <a:lstStyle/>
                    <a:p>
                      <a:pPr algn="l"/>
                      <a:r>
                        <a:rPr sz="800" b="0">
                          <a:solidFill>
                            <a:srgbClr val="2E2E2E"/>
                          </a:solidFill>
                          <a:latin typeface="Calibri"/>
                        </a:rPr>
                        <a:t>102.3</a:t>
                      </a:r>
                    </a:p>
                  </a:txBody>
                  <a:tcPr marL="85725" marR="38100" marT="19050" marB="19050" anchor="ctr">
                    <a:solidFill>
                      <a:srgbClr val="FFFFFF"/>
                    </a:solidFill>
                  </a:tcPr>
                </a:tc>
                <a:tc>
                  <a:txBody>
                    <a:bodyPr wrap="none"/>
                    <a:lstStyle/>
                    <a:p>
                      <a:pPr algn="l"/>
                      <a:r>
                        <a:rPr sz="800" b="0">
                          <a:solidFill>
                            <a:srgbClr val="2E2E2E"/>
                          </a:solidFill>
                          <a:latin typeface="Calibri"/>
                        </a:rPr>
                        <a:t>114.4</a:t>
                      </a:r>
                    </a:p>
                  </a:txBody>
                  <a:tcPr marL="85725" marR="38100" marT="19050" marB="19050" anchor="ctr">
                    <a:solidFill>
                      <a:srgbClr val="FFFFFF"/>
                    </a:solidFill>
                  </a:tcPr>
                </a:tc>
                <a:tc>
                  <a:txBody>
                    <a:bodyPr wrap="none"/>
                    <a:lstStyle/>
                    <a:p>
                      <a:pPr algn="l"/>
                      <a:r>
                        <a:rPr sz="800" b="0">
                          <a:solidFill>
                            <a:srgbClr val="2E2E2E"/>
                          </a:solidFill>
                          <a:latin typeface="Calibri"/>
                        </a:rPr>
                        <a:t>127.8</a:t>
                      </a:r>
                    </a:p>
                  </a:txBody>
                  <a:tcPr marL="85725" marR="38100" marT="19050" marB="19050" anchor="ctr">
                    <a:solidFill>
                      <a:srgbClr val="FFFFFF"/>
                    </a:solidFill>
                  </a:tcPr>
                </a:tc>
                <a:tc>
                  <a:txBody>
                    <a:bodyPr wrap="none"/>
                    <a:lstStyle/>
                    <a:p>
                      <a:pPr algn="l"/>
                      <a:r>
                        <a:rPr sz="800" b="0">
                          <a:solidFill>
                            <a:srgbClr val="2E2E2E"/>
                          </a:solidFill>
                          <a:latin typeface="Calibri"/>
                        </a:rPr>
                        <a:t>142.6</a:t>
                      </a:r>
                    </a:p>
                  </a:txBody>
                  <a:tcPr marL="85725" marR="38100" marT="19050" marB="19050" anchor="ctr">
                    <a:solidFill>
                      <a:srgbClr val="FFFFFF"/>
                    </a:solidFill>
                  </a:tcPr>
                </a:tc>
                <a:tc>
                  <a:txBody>
                    <a:bodyPr wrap="none"/>
                    <a:lstStyle/>
                    <a:p>
                      <a:pPr algn="l"/>
                      <a:r>
                        <a:rPr sz="800" b="0">
                          <a:solidFill>
                            <a:srgbClr val="2E2E2E"/>
                          </a:solidFill>
                          <a:latin typeface="Calibri"/>
                        </a:rPr>
                        <a:t>159.5</a:t>
                      </a:r>
                    </a:p>
                  </a:txBody>
                  <a:tcPr marL="85725" marR="38100" marT="19050" marB="19050" anchor="ctr">
                    <a:solidFill>
                      <a:srgbClr val="FFFFFF"/>
                    </a:solidFill>
                  </a:tcPr>
                </a:tc>
                <a:tc>
                  <a:txBody>
                    <a:bodyPr wrap="none"/>
                    <a:lstStyle/>
                    <a:p>
                      <a:pPr algn="l"/>
                      <a:r>
                        <a:rPr sz="800" b="0">
                          <a:solidFill>
                            <a:srgbClr val="2E2E2E"/>
                          </a:solidFill>
                          <a:latin typeface="Calibri"/>
                        </a:rPr>
                        <a:t>178.1</a:t>
                      </a:r>
                    </a:p>
                  </a:txBody>
                  <a:tcPr marL="85725" marR="38100" marT="19050" marB="19050" anchor="ctr">
                    <a:solidFill>
                      <a:srgbClr val="FFFFFF"/>
                    </a:solidFill>
                  </a:tcPr>
                </a:tc>
                <a:tc>
                  <a:txBody>
                    <a:bodyPr wrap="none"/>
                    <a:lstStyle/>
                    <a:p>
                      <a:pPr algn="l"/>
                      <a:r>
                        <a:rPr sz="800" b="0">
                          <a:solidFill>
                            <a:srgbClr val="2E2E2E"/>
                          </a:solidFill>
                          <a:latin typeface="Calibri"/>
                        </a:rPr>
                        <a:t>199.5</a:t>
                      </a:r>
                    </a:p>
                  </a:txBody>
                  <a:tcPr marL="85725" marR="38100" marT="19050" marB="19050" anchor="ctr">
                    <a:solidFill>
                      <a:srgbClr val="FFFFFF"/>
                    </a:solidFill>
                  </a:tcPr>
                </a:tc>
                <a:tc>
                  <a:txBody>
                    <a:bodyPr wrap="none"/>
                    <a:lstStyle/>
                    <a:p>
                      <a:pPr algn="l"/>
                      <a:r>
                        <a:rPr sz="800" b="0">
                          <a:solidFill>
                            <a:srgbClr val="2E2E2E"/>
                          </a:solidFill>
                          <a:latin typeface="Calibri"/>
                        </a:rPr>
                        <a:t>11.8%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0">
                          <a:solidFill>
                            <a:srgbClr val="2E2E2E"/>
                          </a:solidFill>
                          <a:latin typeface="Calibri"/>
                        </a:rPr>
                        <a:t>29.5</a:t>
                      </a:r>
                    </a:p>
                  </a:txBody>
                  <a:tcPr marL="85725" marR="38100" marT="19050" marB="19050" anchor="ctr">
                    <a:solidFill>
                      <a:srgbClr val="F5F8FA"/>
                    </a:solidFill>
                  </a:tcPr>
                </a:tc>
                <a:tc>
                  <a:txBody>
                    <a:bodyPr wrap="none"/>
                    <a:lstStyle/>
                    <a:p>
                      <a:pPr algn="l"/>
                      <a:r>
                        <a:rPr sz="800" b="0">
                          <a:solidFill>
                            <a:srgbClr val="2E2E2E"/>
                          </a:solidFill>
                          <a:latin typeface="Calibri"/>
                        </a:rPr>
                        <a:t>32.4</a:t>
                      </a:r>
                    </a:p>
                  </a:txBody>
                  <a:tcPr marL="85725" marR="38100" marT="19050" marB="19050" anchor="ctr">
                    <a:solidFill>
                      <a:srgbClr val="F5F8FA"/>
                    </a:solidFill>
                  </a:tcPr>
                </a:tc>
                <a:tc>
                  <a:txBody>
                    <a:bodyPr wrap="none"/>
                    <a:lstStyle/>
                    <a:p>
                      <a:pPr algn="l"/>
                      <a:r>
                        <a:rPr sz="800" b="0">
                          <a:solidFill>
                            <a:srgbClr val="2E2E2E"/>
                          </a:solidFill>
                          <a:latin typeface="Calibri"/>
                        </a:rPr>
                        <a:t>35.7</a:t>
                      </a:r>
                    </a:p>
                  </a:txBody>
                  <a:tcPr marL="85725" marR="38100" marT="19050" marB="19050" anchor="ctr">
                    <a:solidFill>
                      <a:srgbClr val="F5F8FA"/>
                    </a:solidFill>
                  </a:tcPr>
                </a:tc>
                <a:tc>
                  <a:txBody>
                    <a:bodyPr wrap="none"/>
                    <a:lstStyle/>
                    <a:p>
                      <a:pPr algn="l"/>
                      <a:r>
                        <a:rPr sz="800" b="0">
                          <a:solidFill>
                            <a:srgbClr val="2E2E2E"/>
                          </a:solidFill>
                          <a:latin typeface="Calibri"/>
                        </a:rPr>
                        <a:t>39.4</a:t>
                      </a:r>
                    </a:p>
                  </a:txBody>
                  <a:tcPr marL="85725" marR="38100" marT="19050" marB="19050" anchor="ctr">
                    <a:solidFill>
                      <a:srgbClr val="F5F8FA"/>
                    </a:solidFill>
                  </a:tcPr>
                </a:tc>
                <a:tc>
                  <a:txBody>
                    <a:bodyPr wrap="none"/>
                    <a:lstStyle/>
                    <a:p>
                      <a:pPr algn="l"/>
                      <a:r>
                        <a:rPr sz="800" b="0">
                          <a:solidFill>
                            <a:srgbClr val="2E2E2E"/>
                          </a:solidFill>
                          <a:latin typeface="Calibri"/>
                        </a:rPr>
                        <a:t>43.5</a:t>
                      </a:r>
                    </a:p>
                  </a:txBody>
                  <a:tcPr marL="85725" marR="38100" marT="19050" marB="19050" anchor="ctr">
                    <a:solidFill>
                      <a:srgbClr val="F5F8FA"/>
                    </a:solidFill>
                  </a:tcPr>
                </a:tc>
                <a:tc>
                  <a:txBody>
                    <a:bodyPr wrap="none"/>
                    <a:lstStyle/>
                    <a:p>
                      <a:pPr algn="l"/>
                      <a:r>
                        <a:rPr sz="800" b="0">
                          <a:solidFill>
                            <a:srgbClr val="2E2E2E"/>
                          </a:solidFill>
                          <a:latin typeface="Calibri"/>
                        </a:rPr>
                        <a:t>48.2</a:t>
                      </a:r>
                    </a:p>
                  </a:txBody>
                  <a:tcPr marL="85725" marR="38100" marT="19050" marB="19050" anchor="ctr">
                    <a:solidFill>
                      <a:srgbClr val="F5F8FA"/>
                    </a:solidFill>
                  </a:tcPr>
                </a:tc>
                <a:tc>
                  <a:txBody>
                    <a:bodyPr wrap="none"/>
                    <a:lstStyle/>
                    <a:p>
                      <a:pPr algn="l"/>
                      <a:r>
                        <a:rPr sz="800" b="0">
                          <a:solidFill>
                            <a:srgbClr val="2E2E2E"/>
                          </a:solidFill>
                          <a:latin typeface="Calibri"/>
                        </a:rPr>
                        <a:t>53.5</a:t>
                      </a:r>
                    </a:p>
                  </a:txBody>
                  <a:tcPr marL="85725" marR="38100" marT="19050" marB="19050" anchor="ctr">
                    <a:solidFill>
                      <a:srgbClr val="F5F8FA"/>
                    </a:solidFill>
                  </a:tcPr>
                </a:tc>
                <a:tc>
                  <a:txBody>
                    <a:bodyPr wrap="none"/>
                    <a:lstStyle/>
                    <a:p>
                      <a:pPr algn="l"/>
                      <a:r>
                        <a:rPr sz="800" b="0">
                          <a:solidFill>
                            <a:srgbClr val="2E2E2E"/>
                          </a:solidFill>
                          <a:latin typeface="Calibri"/>
                        </a:rPr>
                        <a:t>59.3</a:t>
                      </a:r>
                    </a:p>
                  </a:txBody>
                  <a:tcPr marL="85725" marR="38100" marT="19050" marB="19050" anchor="ctr">
                    <a:solidFill>
                      <a:srgbClr val="F5F8FA"/>
                    </a:solidFill>
                  </a:tcPr>
                </a:tc>
                <a:tc>
                  <a:txBody>
                    <a:bodyPr wrap="none"/>
                    <a:lstStyle/>
                    <a:p>
                      <a:pPr algn="l"/>
                      <a:r>
                        <a:rPr sz="800" b="0">
                          <a:solidFill>
                            <a:srgbClr val="2E2E2E"/>
                          </a:solidFill>
                          <a:latin typeface="Calibri"/>
                        </a:rPr>
                        <a:t>65.6</a:t>
                      </a:r>
                    </a:p>
                  </a:txBody>
                  <a:tcPr marL="85725" marR="38100" marT="19050" marB="19050" anchor="ctr">
                    <a:solidFill>
                      <a:srgbClr val="F5F8FA"/>
                    </a:solidFill>
                  </a:tcPr>
                </a:tc>
                <a:tc>
                  <a:txBody>
                    <a:bodyPr wrap="none"/>
                    <a:lstStyle/>
                    <a:p>
                      <a:pPr algn="l"/>
                      <a:r>
                        <a:rPr sz="800" b="0">
                          <a:solidFill>
                            <a:srgbClr val="2E2E2E"/>
                          </a:solidFill>
                          <a:latin typeface="Calibri"/>
                        </a:rPr>
                        <a:t>72.6</a:t>
                      </a:r>
                    </a:p>
                  </a:txBody>
                  <a:tcPr marL="85725" marR="38100" marT="19050" marB="19050" anchor="ctr">
                    <a:solidFill>
                      <a:srgbClr val="F5F8FA"/>
                    </a:solidFill>
                  </a:tcPr>
                </a:tc>
                <a:tc>
                  <a:txBody>
                    <a:bodyPr wrap="none"/>
                    <a:lstStyle/>
                    <a:p>
                      <a:pPr algn="l"/>
                      <a:r>
                        <a:rPr sz="800" b="0">
                          <a:solidFill>
                            <a:srgbClr val="2E2E2E"/>
                          </a:solidFill>
                          <a:latin typeface="Calibri"/>
                        </a:rPr>
                        <a:t>80.3</a:t>
                      </a:r>
                    </a:p>
                  </a:txBody>
                  <a:tcPr marL="85725" marR="38100" marT="19050" marB="19050" anchor="ctr">
                    <a:solidFill>
                      <a:srgbClr val="F5F8FA"/>
                    </a:solidFill>
                  </a:tcPr>
                </a:tc>
                <a:tc>
                  <a:txBody>
                    <a:bodyPr wrap="none"/>
                    <a:lstStyle/>
                    <a:p>
                      <a:pPr algn="l"/>
                      <a:r>
                        <a:rPr sz="800" b="0">
                          <a:solidFill>
                            <a:srgbClr val="2E2E2E"/>
                          </a:solidFill>
                          <a:latin typeface="Calibri"/>
                        </a:rPr>
                        <a:t>88.8</a:t>
                      </a:r>
                    </a:p>
                  </a:txBody>
                  <a:tcPr marL="85725" marR="38100" marT="19050" marB="19050" anchor="ctr">
                    <a:solidFill>
                      <a:srgbClr val="F5F8FA"/>
                    </a:solidFill>
                  </a:tcPr>
                </a:tc>
                <a:tc>
                  <a:txBody>
                    <a:bodyPr wrap="none"/>
                    <a:lstStyle/>
                    <a:p>
                      <a:pPr algn="l"/>
                      <a:r>
                        <a:rPr sz="800" b="0">
                          <a:solidFill>
                            <a:srgbClr val="2E2E2E"/>
                          </a:solidFill>
                          <a:latin typeface="Calibri"/>
                        </a:rPr>
                        <a:t>98.0</a:t>
                      </a:r>
                    </a:p>
                  </a:txBody>
                  <a:tcPr marL="85725" marR="38100" marT="19050" marB="19050" anchor="ctr">
                    <a:solidFill>
                      <a:srgbClr val="F5F8FA"/>
                    </a:solidFill>
                  </a:tcPr>
                </a:tc>
                <a:tc>
                  <a:txBody>
                    <a:bodyPr wrap="none"/>
                    <a:lstStyle/>
                    <a:p>
                      <a:pPr algn="l"/>
                      <a:r>
                        <a:rPr sz="800" b="0">
                          <a:solidFill>
                            <a:srgbClr val="2E2E2E"/>
                          </a:solidFill>
                          <a:latin typeface="Calibri"/>
                        </a:rPr>
                        <a:t>108.5</a:t>
                      </a:r>
                    </a:p>
                  </a:txBody>
                  <a:tcPr marL="85725" marR="38100" marT="19050" marB="19050" anchor="ctr">
                    <a:solidFill>
                      <a:srgbClr val="F5F8FA"/>
                    </a:solidFill>
                  </a:tcPr>
                </a:tc>
                <a:tc>
                  <a:txBody>
                    <a:bodyPr wrap="none"/>
                    <a:lstStyle/>
                    <a:p>
                      <a:pPr algn="l"/>
                      <a:r>
                        <a:rPr sz="800" b="0">
                          <a:solidFill>
                            <a:srgbClr val="2E2E2E"/>
                          </a:solidFill>
                          <a:latin typeface="Calibri"/>
                        </a:rPr>
                        <a:t>119.9</a:t>
                      </a:r>
                    </a:p>
                  </a:txBody>
                  <a:tcPr marL="85725" marR="38100" marT="19050" marB="19050" anchor="ctr">
                    <a:solidFill>
                      <a:srgbClr val="F5F8FA"/>
                    </a:solidFill>
                  </a:tcPr>
                </a:tc>
                <a:tc>
                  <a:txBody>
                    <a:bodyPr wrap="none"/>
                    <a:lstStyle/>
                    <a:p>
                      <a:pPr algn="l"/>
                      <a:r>
                        <a:rPr sz="800" b="0">
                          <a:solidFill>
                            <a:srgbClr val="2E2E2E"/>
                          </a:solidFill>
                          <a:latin typeface="Calibri"/>
                        </a:rPr>
                        <a:t>132.9</a:t>
                      </a:r>
                    </a:p>
                  </a:txBody>
                  <a:tcPr marL="85725" marR="38100" marT="19050" marB="19050" anchor="ctr">
                    <a:solidFill>
                      <a:srgbClr val="F5F8FA"/>
                    </a:solidFill>
                  </a:tcPr>
                </a:tc>
                <a:tc>
                  <a:txBody>
                    <a:bodyPr wrap="none"/>
                    <a:lstStyle/>
                    <a:p>
                      <a:pPr algn="l"/>
                      <a:r>
                        <a:rPr sz="800" b="0">
                          <a:solidFill>
                            <a:srgbClr val="2E2E2E"/>
                          </a:solidFill>
                          <a:latin typeface="Calibri"/>
                        </a:rPr>
                        <a:t>10.7%</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Product Type (US$ Mn)</a:t>
            </a:r>
          </a:p>
        </p:txBody>
      </p:sp>
      <p:graphicFrame>
        <p:nvGraphicFramePr>
          <p:cNvPr id="18" name="Table 17"/>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0">
                          <a:solidFill>
                            <a:srgbClr val="2E2E2E"/>
                          </a:solidFill>
                          <a:latin typeface="Calibri"/>
                        </a:rPr>
                        <a:t>222.1</a:t>
                      </a:r>
                    </a:p>
                  </a:txBody>
                  <a:tcPr marL="85725" marR="38100" marT="19050" marB="19050" anchor="ctr">
                    <a:solidFill>
                      <a:srgbClr val="FFFFFF"/>
                    </a:solidFill>
                  </a:tcPr>
                </a:tc>
                <a:tc>
                  <a:txBody>
                    <a:bodyPr wrap="none"/>
                    <a:lstStyle/>
                    <a:p>
                      <a:pPr algn="l"/>
                      <a:r>
                        <a:rPr sz="800" b="0">
                          <a:solidFill>
                            <a:srgbClr val="2E2E2E"/>
                          </a:solidFill>
                          <a:latin typeface="Calibri"/>
                        </a:rPr>
                        <a:t>234.0</a:t>
                      </a:r>
                    </a:p>
                  </a:txBody>
                  <a:tcPr marL="85725" marR="38100" marT="19050" marB="19050" anchor="ctr">
                    <a:solidFill>
                      <a:srgbClr val="FFFFFF"/>
                    </a:solidFill>
                  </a:tcPr>
                </a:tc>
                <a:tc>
                  <a:txBody>
                    <a:bodyPr wrap="none"/>
                    <a:lstStyle/>
                    <a:p>
                      <a:pPr algn="l"/>
                      <a:r>
                        <a:rPr sz="800" b="0">
                          <a:solidFill>
                            <a:srgbClr val="2E2E2E"/>
                          </a:solidFill>
                          <a:latin typeface="Calibri"/>
                        </a:rPr>
                        <a:t>247.3</a:t>
                      </a:r>
                    </a:p>
                  </a:txBody>
                  <a:tcPr marL="85725" marR="38100" marT="19050" marB="19050" anchor="ctr">
                    <a:solidFill>
                      <a:srgbClr val="FFFFFF"/>
                    </a:solidFill>
                  </a:tcPr>
                </a:tc>
                <a:tc>
                  <a:txBody>
                    <a:bodyPr wrap="none"/>
                    <a:lstStyle/>
                    <a:p>
                      <a:pPr algn="l"/>
                      <a:r>
                        <a:rPr sz="800" b="0">
                          <a:solidFill>
                            <a:srgbClr val="2E2E2E"/>
                          </a:solidFill>
                          <a:latin typeface="Calibri"/>
                        </a:rPr>
                        <a:t>262.7</a:t>
                      </a:r>
                    </a:p>
                  </a:txBody>
                  <a:tcPr marL="85725" marR="38100" marT="19050" marB="19050" anchor="ctr">
                    <a:solidFill>
                      <a:srgbClr val="FFFFFF"/>
                    </a:solidFill>
                  </a:tcPr>
                </a:tc>
                <a:tc>
                  <a:txBody>
                    <a:bodyPr wrap="none"/>
                    <a:lstStyle/>
                    <a:p>
                      <a:pPr algn="l"/>
                      <a:r>
                        <a:rPr sz="800" b="0">
                          <a:solidFill>
                            <a:srgbClr val="2E2E2E"/>
                          </a:solidFill>
                          <a:latin typeface="Calibri"/>
                        </a:rPr>
                        <a:t>279.2</a:t>
                      </a:r>
                    </a:p>
                  </a:txBody>
                  <a:tcPr marL="85725" marR="38100" marT="19050" marB="19050" anchor="ctr">
                    <a:solidFill>
                      <a:srgbClr val="FFFFFF"/>
                    </a:solidFill>
                  </a:tcPr>
                </a:tc>
                <a:tc>
                  <a:txBody>
                    <a:bodyPr wrap="none"/>
                    <a:lstStyle/>
                    <a:p>
                      <a:pPr algn="l"/>
                      <a:r>
                        <a:rPr sz="800" b="0">
                          <a:solidFill>
                            <a:srgbClr val="2E2E2E"/>
                          </a:solidFill>
                          <a:latin typeface="Calibri"/>
                        </a:rPr>
                        <a:t>298.0</a:t>
                      </a:r>
                    </a:p>
                  </a:txBody>
                  <a:tcPr marL="85725" marR="38100" marT="19050" marB="19050" anchor="ctr">
                    <a:solidFill>
                      <a:srgbClr val="FFFFFF"/>
                    </a:solidFill>
                  </a:tcPr>
                </a:tc>
                <a:tc>
                  <a:txBody>
                    <a:bodyPr wrap="none"/>
                    <a:lstStyle/>
                    <a:p>
                      <a:pPr algn="l"/>
                      <a:r>
                        <a:rPr sz="800" b="0">
                          <a:solidFill>
                            <a:srgbClr val="2E2E2E"/>
                          </a:solidFill>
                          <a:latin typeface="Calibri"/>
                        </a:rPr>
                        <a:t>318.6</a:t>
                      </a:r>
                    </a:p>
                  </a:txBody>
                  <a:tcPr marL="85725" marR="38100" marT="19050" marB="19050" anchor="ctr">
                    <a:solidFill>
                      <a:srgbClr val="FFFFFF"/>
                    </a:solidFill>
                  </a:tcPr>
                </a:tc>
                <a:tc>
                  <a:txBody>
                    <a:bodyPr wrap="none"/>
                    <a:lstStyle/>
                    <a:p>
                      <a:pPr algn="l"/>
                      <a:r>
                        <a:rPr sz="800" b="0">
                          <a:solidFill>
                            <a:srgbClr val="2E2E2E"/>
                          </a:solidFill>
                          <a:latin typeface="Calibri"/>
                        </a:rPr>
                        <a:t>340.7</a:t>
                      </a:r>
                    </a:p>
                  </a:txBody>
                  <a:tcPr marL="85725" marR="38100" marT="19050" marB="19050" anchor="ctr">
                    <a:solidFill>
                      <a:srgbClr val="FFFFFF"/>
                    </a:solidFill>
                  </a:tcPr>
                </a:tc>
                <a:tc>
                  <a:txBody>
                    <a:bodyPr wrap="none"/>
                    <a:lstStyle/>
                    <a:p>
                      <a:pPr algn="l"/>
                      <a:r>
                        <a:rPr sz="800" b="0">
                          <a:solidFill>
                            <a:srgbClr val="2E2E2E"/>
                          </a:solidFill>
                          <a:latin typeface="Calibri"/>
                        </a:rPr>
                        <a:t>364.6</a:t>
                      </a:r>
                    </a:p>
                  </a:txBody>
                  <a:tcPr marL="85725" marR="38100" marT="19050" marB="19050" anchor="ctr">
                    <a:solidFill>
                      <a:srgbClr val="FFFFFF"/>
                    </a:solidFill>
                  </a:tcPr>
                </a:tc>
                <a:tc>
                  <a:txBody>
                    <a:bodyPr wrap="none"/>
                    <a:lstStyle/>
                    <a:p>
                      <a:pPr algn="l"/>
                      <a:r>
                        <a:rPr sz="800" b="0">
                          <a:solidFill>
                            <a:srgbClr val="2E2E2E"/>
                          </a:solidFill>
                          <a:latin typeface="Calibri"/>
                        </a:rPr>
                        <a:t>390.5</a:t>
                      </a:r>
                    </a:p>
                  </a:txBody>
                  <a:tcPr marL="85725" marR="38100" marT="19050" marB="19050" anchor="ctr">
                    <a:solidFill>
                      <a:srgbClr val="FFFFFF"/>
                    </a:solidFill>
                  </a:tcPr>
                </a:tc>
                <a:tc>
                  <a:txBody>
                    <a:bodyPr wrap="none"/>
                    <a:lstStyle/>
                    <a:p>
                      <a:pPr algn="l"/>
                      <a:r>
                        <a:rPr sz="800" b="0">
                          <a:solidFill>
                            <a:srgbClr val="2E2E2E"/>
                          </a:solidFill>
                          <a:latin typeface="Calibri"/>
                        </a:rPr>
                        <a:t>418.5</a:t>
                      </a:r>
                    </a:p>
                  </a:txBody>
                  <a:tcPr marL="85725" marR="38100" marT="19050" marB="19050" anchor="ctr">
                    <a:solidFill>
                      <a:srgbClr val="FFFFFF"/>
                    </a:solidFill>
                  </a:tcPr>
                </a:tc>
                <a:tc>
                  <a:txBody>
                    <a:bodyPr wrap="none"/>
                    <a:lstStyle/>
                    <a:p>
                      <a:pPr algn="l"/>
                      <a:r>
                        <a:rPr sz="800" b="0">
                          <a:solidFill>
                            <a:srgbClr val="2E2E2E"/>
                          </a:solidFill>
                          <a:latin typeface="Calibri"/>
                        </a:rPr>
                        <a:t>448.6</a:t>
                      </a:r>
                    </a:p>
                  </a:txBody>
                  <a:tcPr marL="85725" marR="38100" marT="19050" marB="19050" anchor="ctr">
                    <a:solidFill>
                      <a:srgbClr val="FFFFFF"/>
                    </a:solidFill>
                  </a:tcPr>
                </a:tc>
                <a:tc>
                  <a:txBody>
                    <a:bodyPr wrap="none"/>
                    <a:lstStyle/>
                    <a:p>
                      <a:pPr algn="l"/>
                      <a:r>
                        <a:rPr sz="800" b="0">
                          <a:solidFill>
                            <a:srgbClr val="2E2E2E"/>
                          </a:solidFill>
                          <a:latin typeface="Calibri"/>
                        </a:rPr>
                        <a:t>480.6</a:t>
                      </a:r>
                    </a:p>
                  </a:txBody>
                  <a:tcPr marL="85725" marR="38100" marT="19050" marB="19050" anchor="ctr">
                    <a:solidFill>
                      <a:srgbClr val="FFFFFF"/>
                    </a:solidFill>
                  </a:tcPr>
                </a:tc>
                <a:tc>
                  <a:txBody>
                    <a:bodyPr wrap="none"/>
                    <a:lstStyle/>
                    <a:p>
                      <a:pPr algn="l"/>
                      <a:r>
                        <a:rPr sz="800" b="0">
                          <a:solidFill>
                            <a:srgbClr val="2E2E2E"/>
                          </a:solidFill>
                          <a:latin typeface="Calibri"/>
                        </a:rPr>
                        <a:t>516.6</a:t>
                      </a:r>
                    </a:p>
                  </a:txBody>
                  <a:tcPr marL="85725" marR="38100" marT="19050" marB="19050" anchor="ctr">
                    <a:solidFill>
                      <a:srgbClr val="FFFFFF"/>
                    </a:solidFill>
                  </a:tcPr>
                </a:tc>
                <a:tc>
                  <a:txBody>
                    <a:bodyPr wrap="none"/>
                    <a:lstStyle/>
                    <a:p>
                      <a:pPr algn="l"/>
                      <a:r>
                        <a:rPr sz="800" b="0">
                          <a:solidFill>
                            <a:srgbClr val="2E2E2E"/>
                          </a:solidFill>
                          <a:latin typeface="Calibri"/>
                        </a:rPr>
                        <a:t>554.9</a:t>
                      </a:r>
                    </a:p>
                  </a:txBody>
                  <a:tcPr marL="85725" marR="38100" marT="19050" marB="19050" anchor="ctr">
                    <a:solidFill>
                      <a:srgbClr val="FFFFFF"/>
                    </a:solidFill>
                  </a:tcPr>
                </a:tc>
                <a:tc>
                  <a:txBody>
                    <a:bodyPr wrap="none"/>
                    <a:lstStyle/>
                    <a:p>
                      <a:pPr algn="l"/>
                      <a:r>
                        <a:rPr sz="800" b="0">
                          <a:solidFill>
                            <a:srgbClr val="2E2E2E"/>
                          </a:solidFill>
                          <a:latin typeface="Calibri"/>
                        </a:rPr>
                        <a:t>598.4</a:t>
                      </a:r>
                    </a:p>
                  </a:txBody>
                  <a:tcPr marL="85725" marR="38100" marT="19050" marB="19050" anchor="ctr">
                    <a:solidFill>
                      <a:srgbClr val="FFFFFF"/>
                    </a:solidFill>
                  </a:tcPr>
                </a:tc>
                <a:tc>
                  <a:txBody>
                    <a:bodyPr wrap="none"/>
                    <a:lstStyle/>
                    <a:p>
                      <a:pPr algn="l"/>
                      <a:r>
                        <a:rPr sz="800" b="0">
                          <a:solidFill>
                            <a:srgbClr val="2E2E2E"/>
                          </a:solidFill>
                          <a:latin typeface="Calibri"/>
                        </a:rPr>
                        <a:t>7.2%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0">
                          <a:solidFill>
                            <a:srgbClr val="2E2E2E"/>
                          </a:solidFill>
                          <a:latin typeface="Calibri"/>
                        </a:rPr>
                        <a:t>179.8</a:t>
                      </a:r>
                    </a:p>
                  </a:txBody>
                  <a:tcPr marL="85725" marR="38100" marT="19050" marB="19050" anchor="ctr">
                    <a:solidFill>
                      <a:srgbClr val="F5F8FA"/>
                    </a:solidFill>
                  </a:tcPr>
                </a:tc>
                <a:tc>
                  <a:txBody>
                    <a:bodyPr wrap="none"/>
                    <a:lstStyle/>
                    <a:p>
                      <a:pPr algn="l"/>
                      <a:r>
                        <a:rPr sz="800" b="0">
                          <a:solidFill>
                            <a:srgbClr val="2E2E2E"/>
                          </a:solidFill>
                          <a:latin typeface="Calibri"/>
                        </a:rPr>
                        <a:t>189.8</a:t>
                      </a:r>
                    </a:p>
                  </a:txBody>
                  <a:tcPr marL="85725" marR="38100" marT="19050" marB="19050" anchor="ctr">
                    <a:solidFill>
                      <a:srgbClr val="F5F8FA"/>
                    </a:solidFill>
                  </a:tcPr>
                </a:tc>
                <a:tc>
                  <a:txBody>
                    <a:bodyPr wrap="none"/>
                    <a:lstStyle/>
                    <a:p>
                      <a:pPr algn="l"/>
                      <a:r>
                        <a:rPr sz="800" b="0">
                          <a:solidFill>
                            <a:srgbClr val="2E2E2E"/>
                          </a:solidFill>
                          <a:latin typeface="Calibri"/>
                        </a:rPr>
                        <a:t>200.9</a:t>
                      </a:r>
                    </a:p>
                  </a:txBody>
                  <a:tcPr marL="85725" marR="38100" marT="19050" marB="19050" anchor="ctr">
                    <a:solidFill>
                      <a:srgbClr val="F5F8FA"/>
                    </a:solidFill>
                  </a:tcPr>
                </a:tc>
                <a:tc>
                  <a:txBody>
                    <a:bodyPr wrap="none"/>
                    <a:lstStyle/>
                    <a:p>
                      <a:pPr algn="l"/>
                      <a:r>
                        <a:rPr sz="800" b="0">
                          <a:solidFill>
                            <a:srgbClr val="2E2E2E"/>
                          </a:solidFill>
                          <a:latin typeface="Calibri"/>
                        </a:rPr>
                        <a:t>213.8</a:t>
                      </a:r>
                    </a:p>
                  </a:txBody>
                  <a:tcPr marL="85725" marR="38100" marT="19050" marB="19050" anchor="ctr">
                    <a:solidFill>
                      <a:srgbClr val="F5F8FA"/>
                    </a:solidFill>
                  </a:tcPr>
                </a:tc>
                <a:tc>
                  <a:txBody>
                    <a:bodyPr wrap="none"/>
                    <a:lstStyle/>
                    <a:p>
                      <a:pPr algn="l"/>
                      <a:r>
                        <a:rPr sz="800" b="0">
                          <a:solidFill>
                            <a:srgbClr val="2E2E2E"/>
                          </a:solidFill>
                          <a:latin typeface="Calibri"/>
                        </a:rPr>
                        <a:t>227.9</a:t>
                      </a:r>
                    </a:p>
                  </a:txBody>
                  <a:tcPr marL="85725" marR="38100" marT="19050" marB="19050" anchor="ctr">
                    <a:solidFill>
                      <a:srgbClr val="F5F8FA"/>
                    </a:solidFill>
                  </a:tcPr>
                </a:tc>
                <a:tc>
                  <a:txBody>
                    <a:bodyPr wrap="none"/>
                    <a:lstStyle/>
                    <a:p>
                      <a:pPr algn="l"/>
                      <a:r>
                        <a:rPr sz="800" b="0">
                          <a:solidFill>
                            <a:srgbClr val="2E2E2E"/>
                          </a:solidFill>
                          <a:latin typeface="Calibri"/>
                        </a:rPr>
                        <a:t>243.7</a:t>
                      </a:r>
                    </a:p>
                  </a:txBody>
                  <a:tcPr marL="85725" marR="38100" marT="19050" marB="19050" anchor="ctr">
                    <a:solidFill>
                      <a:srgbClr val="F5F8FA"/>
                    </a:solidFill>
                  </a:tcPr>
                </a:tc>
                <a:tc>
                  <a:txBody>
                    <a:bodyPr wrap="none"/>
                    <a:lstStyle/>
                    <a:p>
                      <a:pPr algn="l"/>
                      <a:r>
                        <a:rPr sz="800" b="0">
                          <a:solidFill>
                            <a:srgbClr val="2E2E2E"/>
                          </a:solidFill>
                          <a:latin typeface="Calibri"/>
                        </a:rPr>
                        <a:t>260.9</a:t>
                      </a:r>
                    </a:p>
                  </a:txBody>
                  <a:tcPr marL="85725" marR="38100" marT="19050" marB="19050" anchor="ctr">
                    <a:solidFill>
                      <a:srgbClr val="F5F8FA"/>
                    </a:solidFill>
                  </a:tcPr>
                </a:tc>
                <a:tc>
                  <a:txBody>
                    <a:bodyPr wrap="none"/>
                    <a:lstStyle/>
                    <a:p>
                      <a:pPr algn="l"/>
                      <a:r>
                        <a:rPr sz="800" b="0">
                          <a:solidFill>
                            <a:srgbClr val="2E2E2E"/>
                          </a:solidFill>
                          <a:latin typeface="Calibri"/>
                        </a:rPr>
                        <a:t>279.5</a:t>
                      </a:r>
                    </a:p>
                  </a:txBody>
                  <a:tcPr marL="85725" marR="38100" marT="19050" marB="19050" anchor="ctr">
                    <a:solidFill>
                      <a:srgbClr val="F5F8FA"/>
                    </a:solidFill>
                  </a:tcPr>
                </a:tc>
                <a:tc>
                  <a:txBody>
                    <a:bodyPr wrap="none"/>
                    <a:lstStyle/>
                    <a:p>
                      <a:pPr algn="l"/>
                      <a:r>
                        <a:rPr sz="800" b="0">
                          <a:solidFill>
                            <a:srgbClr val="2E2E2E"/>
                          </a:solidFill>
                          <a:latin typeface="Calibri"/>
                        </a:rPr>
                        <a:t>299.7</a:t>
                      </a:r>
                    </a:p>
                  </a:txBody>
                  <a:tcPr marL="85725" marR="38100" marT="19050" marB="19050" anchor="ctr">
                    <a:solidFill>
                      <a:srgbClr val="F5F8FA"/>
                    </a:solidFill>
                  </a:tcPr>
                </a:tc>
                <a:tc>
                  <a:txBody>
                    <a:bodyPr wrap="none"/>
                    <a:lstStyle/>
                    <a:p>
                      <a:pPr algn="l"/>
                      <a:r>
                        <a:rPr sz="800" b="0">
                          <a:solidFill>
                            <a:srgbClr val="2E2E2E"/>
                          </a:solidFill>
                          <a:latin typeface="Calibri"/>
                        </a:rPr>
                        <a:t>321.6</a:t>
                      </a:r>
                    </a:p>
                  </a:txBody>
                  <a:tcPr marL="85725" marR="38100" marT="19050" marB="19050" anchor="ctr">
                    <a:solidFill>
                      <a:srgbClr val="F5F8FA"/>
                    </a:solidFill>
                  </a:tcPr>
                </a:tc>
                <a:tc>
                  <a:txBody>
                    <a:bodyPr wrap="none"/>
                    <a:lstStyle/>
                    <a:p>
                      <a:pPr algn="l"/>
                      <a:r>
                        <a:rPr sz="800" b="0">
                          <a:solidFill>
                            <a:srgbClr val="2E2E2E"/>
                          </a:solidFill>
                          <a:latin typeface="Calibri"/>
                        </a:rPr>
                        <a:t>345.3</a:t>
                      </a:r>
                    </a:p>
                  </a:txBody>
                  <a:tcPr marL="85725" marR="38100" marT="19050" marB="19050" anchor="ctr">
                    <a:solidFill>
                      <a:srgbClr val="F5F8FA"/>
                    </a:solidFill>
                  </a:tcPr>
                </a:tc>
                <a:tc>
                  <a:txBody>
                    <a:bodyPr wrap="none"/>
                    <a:lstStyle/>
                    <a:p>
                      <a:pPr algn="l"/>
                      <a:r>
                        <a:rPr sz="800" b="0">
                          <a:solidFill>
                            <a:srgbClr val="2E2E2E"/>
                          </a:solidFill>
                          <a:latin typeface="Calibri"/>
                        </a:rPr>
                        <a:t>371.0</a:t>
                      </a:r>
                    </a:p>
                  </a:txBody>
                  <a:tcPr marL="85725" marR="38100" marT="19050" marB="19050" anchor="ctr">
                    <a:solidFill>
                      <a:srgbClr val="F5F8FA"/>
                    </a:solidFill>
                  </a:tcPr>
                </a:tc>
                <a:tc>
                  <a:txBody>
                    <a:bodyPr wrap="none"/>
                    <a:lstStyle/>
                    <a:p>
                      <a:pPr algn="l"/>
                      <a:r>
                        <a:rPr sz="800" b="0">
                          <a:solidFill>
                            <a:srgbClr val="2E2E2E"/>
                          </a:solidFill>
                          <a:latin typeface="Calibri"/>
                        </a:rPr>
                        <a:t>398.4</a:t>
                      </a:r>
                    </a:p>
                  </a:txBody>
                  <a:tcPr marL="85725" marR="38100" marT="19050" marB="19050" anchor="ctr">
                    <a:solidFill>
                      <a:srgbClr val="F5F8FA"/>
                    </a:solidFill>
                  </a:tcPr>
                </a:tc>
                <a:tc>
                  <a:txBody>
                    <a:bodyPr wrap="none"/>
                    <a:lstStyle/>
                    <a:p>
                      <a:pPr algn="l"/>
                      <a:r>
                        <a:rPr sz="800" b="0">
                          <a:solidFill>
                            <a:srgbClr val="2E2E2E"/>
                          </a:solidFill>
                          <a:latin typeface="Calibri"/>
                        </a:rPr>
                        <a:t>429.3</a:t>
                      </a:r>
                    </a:p>
                  </a:txBody>
                  <a:tcPr marL="85725" marR="38100" marT="19050" marB="19050" anchor="ctr">
                    <a:solidFill>
                      <a:srgbClr val="F5F8FA"/>
                    </a:solidFill>
                  </a:tcPr>
                </a:tc>
                <a:tc>
                  <a:txBody>
                    <a:bodyPr wrap="none"/>
                    <a:lstStyle/>
                    <a:p>
                      <a:pPr algn="l"/>
                      <a:r>
                        <a:rPr sz="800" b="0">
                          <a:solidFill>
                            <a:srgbClr val="2E2E2E"/>
                          </a:solidFill>
                          <a:latin typeface="Calibri"/>
                        </a:rPr>
                        <a:t>462.3</a:t>
                      </a:r>
                    </a:p>
                  </a:txBody>
                  <a:tcPr marL="85725" marR="38100" marT="19050" marB="19050" anchor="ctr">
                    <a:solidFill>
                      <a:srgbClr val="F5F8FA"/>
                    </a:solidFill>
                  </a:tcPr>
                </a:tc>
                <a:tc>
                  <a:txBody>
                    <a:bodyPr wrap="none"/>
                    <a:lstStyle/>
                    <a:p>
                      <a:pPr algn="l"/>
                      <a:r>
                        <a:rPr sz="800" b="0">
                          <a:solidFill>
                            <a:srgbClr val="2E2E2E"/>
                          </a:solidFill>
                          <a:latin typeface="Calibri"/>
                        </a:rPr>
                        <a:t>499.6</a:t>
                      </a:r>
                    </a:p>
                  </a:txBody>
                  <a:tcPr marL="85725" marR="38100" marT="19050" marB="19050" anchor="ctr">
                    <a:solidFill>
                      <a:srgbClr val="F5F8FA"/>
                    </a:solidFill>
                  </a:tcPr>
                </a:tc>
                <a:tc>
                  <a:txBody>
                    <a:bodyPr wrap="none"/>
                    <a:lstStyle/>
                    <a:p>
                      <a:pPr algn="l"/>
                      <a:r>
                        <a:rPr sz="800" b="0">
                          <a:solidFill>
                            <a:srgbClr val="2E2E2E"/>
                          </a:solidFill>
                          <a:latin typeface="Calibri"/>
                        </a:rPr>
                        <a:t>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0">
                          <a:solidFill>
                            <a:srgbClr val="2E2E2E"/>
                          </a:solidFill>
                          <a:latin typeface="Calibri"/>
                        </a:rPr>
                        <a:t>33.2</a:t>
                      </a:r>
                    </a:p>
                  </a:txBody>
                  <a:tcPr marL="85725" marR="38100" marT="19050" marB="19050" anchor="ctr">
                    <a:solidFill>
                      <a:srgbClr val="FFFFFF"/>
                    </a:solidFill>
                  </a:tcPr>
                </a:tc>
                <a:tc>
                  <a:txBody>
                    <a:bodyPr wrap="none"/>
                    <a:lstStyle/>
                    <a:p>
                      <a:pPr algn="l"/>
                      <a:r>
                        <a:rPr sz="800" b="0">
                          <a:solidFill>
                            <a:srgbClr val="2E2E2E"/>
                          </a:solidFill>
                          <a:latin typeface="Calibri"/>
                        </a:rPr>
                        <a:t>36.2</a:t>
                      </a:r>
                    </a:p>
                  </a:txBody>
                  <a:tcPr marL="85725" marR="38100" marT="19050" marB="19050" anchor="ctr">
                    <a:solidFill>
                      <a:srgbClr val="FFFFFF"/>
                    </a:solidFill>
                  </a:tcPr>
                </a:tc>
                <a:tc>
                  <a:txBody>
                    <a:bodyPr wrap="none"/>
                    <a:lstStyle/>
                    <a:p>
                      <a:pPr algn="l"/>
                      <a:r>
                        <a:rPr sz="800" b="0">
                          <a:solidFill>
                            <a:srgbClr val="2E2E2E"/>
                          </a:solidFill>
                          <a:latin typeface="Calibri"/>
                        </a:rPr>
                        <a:t>39.8</a:t>
                      </a:r>
                    </a:p>
                  </a:txBody>
                  <a:tcPr marL="85725" marR="38100" marT="19050" marB="19050" anchor="ctr">
                    <a:solidFill>
                      <a:srgbClr val="FFFFFF"/>
                    </a:solidFill>
                  </a:tcPr>
                </a:tc>
                <a:tc>
                  <a:txBody>
                    <a:bodyPr wrap="none"/>
                    <a:lstStyle/>
                    <a:p>
                      <a:pPr algn="l"/>
                      <a:r>
                        <a:rPr sz="800" b="0">
                          <a:solidFill>
                            <a:srgbClr val="2E2E2E"/>
                          </a:solidFill>
                          <a:latin typeface="Calibri"/>
                        </a:rPr>
                        <a:t>43.9</a:t>
                      </a:r>
                    </a:p>
                  </a:txBody>
                  <a:tcPr marL="85725" marR="38100" marT="19050" marB="19050" anchor="ctr">
                    <a:solidFill>
                      <a:srgbClr val="FFFFFF"/>
                    </a:solidFill>
                  </a:tcPr>
                </a:tc>
                <a:tc>
                  <a:txBody>
                    <a:bodyPr wrap="none"/>
                    <a:lstStyle/>
                    <a:p>
                      <a:pPr algn="l"/>
                      <a:r>
                        <a:rPr sz="800" b="0">
                          <a:solidFill>
                            <a:srgbClr val="2E2E2E"/>
                          </a:solidFill>
                          <a:latin typeface="Calibri"/>
                        </a:rPr>
                        <a:t>48.7</a:t>
                      </a:r>
                    </a:p>
                  </a:txBody>
                  <a:tcPr marL="85725" marR="38100" marT="19050" marB="19050" anchor="ctr">
                    <a:solidFill>
                      <a:srgbClr val="FFFFFF"/>
                    </a:solidFill>
                  </a:tcPr>
                </a:tc>
                <a:tc>
                  <a:txBody>
                    <a:bodyPr wrap="none"/>
                    <a:lstStyle/>
                    <a:p>
                      <a:pPr algn="l"/>
                      <a:r>
                        <a:rPr sz="800" b="0">
                          <a:solidFill>
                            <a:srgbClr val="2E2E2E"/>
                          </a:solidFill>
                          <a:latin typeface="Calibri"/>
                        </a:rPr>
                        <a:t>54.2</a:t>
                      </a:r>
                    </a:p>
                  </a:txBody>
                  <a:tcPr marL="85725" marR="38100" marT="19050" marB="19050" anchor="ctr">
                    <a:solidFill>
                      <a:srgbClr val="FFFFFF"/>
                    </a:solidFill>
                  </a:tcPr>
                </a:tc>
                <a:tc>
                  <a:txBody>
                    <a:bodyPr wrap="none"/>
                    <a:lstStyle/>
                    <a:p>
                      <a:pPr algn="l"/>
                      <a:r>
                        <a:rPr sz="800" b="0">
                          <a:solidFill>
                            <a:srgbClr val="2E2E2E"/>
                          </a:solidFill>
                          <a:latin typeface="Calibri"/>
                        </a:rPr>
                        <a:t>60.5</a:t>
                      </a:r>
                    </a:p>
                  </a:txBody>
                  <a:tcPr marL="85725" marR="38100" marT="19050" marB="19050" anchor="ctr">
                    <a:solidFill>
                      <a:srgbClr val="FFFFFF"/>
                    </a:solidFill>
                  </a:tcPr>
                </a:tc>
                <a:tc>
                  <a:txBody>
                    <a:bodyPr wrap="none"/>
                    <a:lstStyle/>
                    <a:p>
                      <a:pPr algn="l"/>
                      <a:r>
                        <a:rPr sz="800" b="0">
                          <a:solidFill>
                            <a:srgbClr val="2E2E2E"/>
                          </a:solidFill>
                          <a:latin typeface="Calibri"/>
                        </a:rPr>
                        <a:t>67.7</a:t>
                      </a:r>
                    </a:p>
                  </a:txBody>
                  <a:tcPr marL="85725" marR="38100" marT="19050" marB="19050" anchor="ctr">
                    <a:solidFill>
                      <a:srgbClr val="FFFFFF"/>
                    </a:solidFill>
                  </a:tcPr>
                </a:tc>
                <a:tc>
                  <a:txBody>
                    <a:bodyPr wrap="none"/>
                    <a:lstStyle/>
                    <a:p>
                      <a:pPr algn="l"/>
                      <a:r>
                        <a:rPr sz="800" b="0">
                          <a:solidFill>
                            <a:srgbClr val="2E2E2E"/>
                          </a:solidFill>
                          <a:latin typeface="Calibri"/>
                        </a:rPr>
                        <a:t>75.9</a:t>
                      </a:r>
                    </a:p>
                  </a:txBody>
                  <a:tcPr marL="85725" marR="38100" marT="19050" marB="19050" anchor="ctr">
                    <a:solidFill>
                      <a:srgbClr val="FFFFFF"/>
                    </a:solidFill>
                  </a:tcPr>
                </a:tc>
                <a:tc>
                  <a:txBody>
                    <a:bodyPr wrap="none"/>
                    <a:lstStyle/>
                    <a:p>
                      <a:pPr algn="l"/>
                      <a:r>
                        <a:rPr sz="800" b="0">
                          <a:solidFill>
                            <a:srgbClr val="2E2E2E"/>
                          </a:solidFill>
                          <a:latin typeface="Calibri"/>
                        </a:rPr>
                        <a:t>85.3</a:t>
                      </a:r>
                    </a:p>
                  </a:txBody>
                  <a:tcPr marL="85725" marR="38100" marT="19050" marB="19050" anchor="ctr">
                    <a:solidFill>
                      <a:srgbClr val="FFFFFF"/>
                    </a:solidFill>
                  </a:tcPr>
                </a:tc>
                <a:tc>
                  <a:txBody>
                    <a:bodyPr wrap="none"/>
                    <a:lstStyle/>
                    <a:p>
                      <a:pPr algn="l"/>
                      <a:r>
                        <a:rPr sz="800" b="0">
                          <a:solidFill>
                            <a:srgbClr val="2E2E2E"/>
                          </a:solidFill>
                          <a:latin typeface="Calibri"/>
                        </a:rPr>
                        <a:t>95.9</a:t>
                      </a:r>
                    </a:p>
                  </a:txBody>
                  <a:tcPr marL="85725" marR="38100" marT="19050" marB="19050" anchor="ctr">
                    <a:solidFill>
                      <a:srgbClr val="FFFFFF"/>
                    </a:solidFill>
                  </a:tcPr>
                </a:tc>
                <a:tc>
                  <a:txBody>
                    <a:bodyPr wrap="none"/>
                    <a:lstStyle/>
                    <a:p>
                      <a:pPr algn="l"/>
                      <a:r>
                        <a:rPr sz="800" b="0">
                          <a:solidFill>
                            <a:srgbClr val="2E2E2E"/>
                          </a:solidFill>
                          <a:latin typeface="Calibri"/>
                        </a:rPr>
                        <a:t>108.1</a:t>
                      </a:r>
                    </a:p>
                  </a:txBody>
                  <a:tcPr marL="85725" marR="38100" marT="19050" marB="19050" anchor="ctr">
                    <a:solidFill>
                      <a:srgbClr val="FFFFFF"/>
                    </a:solidFill>
                  </a:tcPr>
                </a:tc>
                <a:tc>
                  <a:txBody>
                    <a:bodyPr wrap="none"/>
                    <a:lstStyle/>
                    <a:p>
                      <a:pPr algn="l"/>
                      <a:r>
                        <a:rPr sz="800" b="0">
                          <a:solidFill>
                            <a:srgbClr val="2E2E2E"/>
                          </a:solidFill>
                          <a:latin typeface="Calibri"/>
                        </a:rPr>
                        <a:t>122.0</a:t>
                      </a:r>
                    </a:p>
                  </a:txBody>
                  <a:tcPr marL="85725" marR="38100" marT="19050" marB="19050" anchor="ctr">
                    <a:solidFill>
                      <a:srgbClr val="FFFFFF"/>
                    </a:solidFill>
                  </a:tcPr>
                </a:tc>
                <a:tc>
                  <a:txBody>
                    <a:bodyPr wrap="none"/>
                    <a:lstStyle/>
                    <a:p>
                      <a:pPr algn="l"/>
                      <a:r>
                        <a:rPr sz="800" b="0">
                          <a:solidFill>
                            <a:srgbClr val="2E2E2E"/>
                          </a:solidFill>
                          <a:latin typeface="Calibri"/>
                        </a:rPr>
                        <a:t>138.4</a:t>
                      </a:r>
                    </a:p>
                  </a:txBody>
                  <a:tcPr marL="85725" marR="38100" marT="19050" marB="19050" anchor="ctr">
                    <a:solidFill>
                      <a:srgbClr val="FFFFFF"/>
                    </a:solidFill>
                  </a:tcPr>
                </a:tc>
                <a:tc>
                  <a:txBody>
                    <a:bodyPr wrap="none"/>
                    <a:lstStyle/>
                    <a:p>
                      <a:pPr algn="l"/>
                      <a:r>
                        <a:rPr sz="800" b="0">
                          <a:solidFill>
                            <a:srgbClr val="2E2E2E"/>
                          </a:solidFill>
                          <a:latin typeface="Calibri"/>
                        </a:rPr>
                        <a:t>157.2</a:t>
                      </a:r>
                    </a:p>
                  </a:txBody>
                  <a:tcPr marL="85725" marR="38100" marT="19050" marB="19050" anchor="ctr">
                    <a:solidFill>
                      <a:srgbClr val="FFFFFF"/>
                    </a:solidFill>
                  </a:tcPr>
                </a:tc>
                <a:tc>
                  <a:txBody>
                    <a:bodyPr wrap="none"/>
                    <a:lstStyle/>
                    <a:p>
                      <a:pPr algn="l"/>
                      <a:r>
                        <a:rPr sz="800" b="0">
                          <a:solidFill>
                            <a:srgbClr val="2E2E2E"/>
                          </a:solidFill>
                          <a:latin typeface="Calibri"/>
                        </a:rPr>
                        <a:t>179.5</a:t>
                      </a:r>
                    </a:p>
                  </a:txBody>
                  <a:tcPr marL="85725" marR="38100" marT="19050" marB="19050" anchor="ctr">
                    <a:solidFill>
                      <a:srgbClr val="FFFFFF"/>
                    </a:solidFill>
                  </a:tcPr>
                </a:tc>
                <a:tc>
                  <a:txBody>
                    <a:bodyPr wrap="none"/>
                    <a:lstStyle/>
                    <a:p>
                      <a:pPr algn="l"/>
                      <a:r>
                        <a:rPr sz="800" b="0">
                          <a:solidFill>
                            <a:srgbClr val="2E2E2E"/>
                          </a:solidFill>
                          <a:latin typeface="Calibri"/>
                        </a:rPr>
                        <a:t>12.7%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0">
                          <a:solidFill>
                            <a:srgbClr val="2E2E2E"/>
                          </a:solidFill>
                          <a:latin typeface="Calibri"/>
                        </a:rPr>
                        <a:t>25.6</a:t>
                      </a:r>
                    </a:p>
                  </a:txBody>
                  <a:tcPr marL="85725" marR="38100" marT="19050" marB="19050" anchor="ctr">
                    <a:solidFill>
                      <a:srgbClr val="F5F8FA"/>
                    </a:solidFill>
                  </a:tcPr>
                </a:tc>
                <a:tc>
                  <a:txBody>
                    <a:bodyPr wrap="none"/>
                    <a:lstStyle/>
                    <a:p>
                      <a:pPr algn="l"/>
                      <a:r>
                        <a:rPr sz="800" b="0">
                          <a:solidFill>
                            <a:srgbClr val="2E2E2E"/>
                          </a:solidFill>
                          <a:latin typeface="Calibri"/>
                        </a:rPr>
                        <a:t>27.7</a:t>
                      </a:r>
                    </a:p>
                  </a:txBody>
                  <a:tcPr marL="85725" marR="38100" marT="19050" marB="19050" anchor="ctr">
                    <a:solidFill>
                      <a:srgbClr val="F5F8FA"/>
                    </a:solidFill>
                  </a:tcPr>
                </a:tc>
                <a:tc>
                  <a:txBody>
                    <a:bodyPr wrap="none"/>
                    <a:lstStyle/>
                    <a:p>
                      <a:pPr algn="l"/>
                      <a:r>
                        <a:rPr sz="800" b="0">
                          <a:solidFill>
                            <a:srgbClr val="2E2E2E"/>
                          </a:solidFill>
                          <a:latin typeface="Calibri"/>
                        </a:rPr>
                        <a:t>30.2</a:t>
                      </a:r>
                    </a:p>
                  </a:txBody>
                  <a:tcPr marL="85725" marR="38100" marT="19050" marB="19050" anchor="ctr">
                    <a:solidFill>
                      <a:srgbClr val="F5F8FA"/>
                    </a:solidFill>
                  </a:tcPr>
                </a:tc>
                <a:tc>
                  <a:txBody>
                    <a:bodyPr wrap="none"/>
                    <a:lstStyle/>
                    <a:p>
                      <a:pPr algn="l"/>
                      <a:r>
                        <a:rPr sz="800" b="0">
                          <a:solidFill>
                            <a:srgbClr val="2E2E2E"/>
                          </a:solidFill>
                          <a:latin typeface="Calibri"/>
                        </a:rPr>
                        <a:t>33.0</a:t>
                      </a:r>
                    </a:p>
                  </a:txBody>
                  <a:tcPr marL="85725" marR="38100" marT="19050" marB="19050" anchor="ctr">
                    <a:solidFill>
                      <a:srgbClr val="F5F8FA"/>
                    </a:solidFill>
                  </a:tcPr>
                </a:tc>
                <a:tc>
                  <a:txBody>
                    <a:bodyPr wrap="none"/>
                    <a:lstStyle/>
                    <a:p>
                      <a:pPr algn="l"/>
                      <a:r>
                        <a:rPr sz="800" b="0">
                          <a:solidFill>
                            <a:srgbClr val="2E2E2E"/>
                          </a:solidFill>
                          <a:latin typeface="Calibri"/>
                        </a:rPr>
                        <a:t>36.2</a:t>
                      </a:r>
                    </a:p>
                  </a:txBody>
                  <a:tcPr marL="85725" marR="38100" marT="19050" marB="19050" anchor="ctr">
                    <a:solidFill>
                      <a:srgbClr val="F5F8FA"/>
                    </a:solidFill>
                  </a:tcPr>
                </a:tc>
                <a:tc>
                  <a:txBody>
                    <a:bodyPr wrap="none"/>
                    <a:lstStyle/>
                    <a:p>
                      <a:pPr algn="l"/>
                      <a:r>
                        <a:rPr sz="800" b="0">
                          <a:solidFill>
                            <a:srgbClr val="2E2E2E"/>
                          </a:solidFill>
                          <a:latin typeface="Calibri"/>
                        </a:rPr>
                        <a:t>40.0</a:t>
                      </a:r>
                    </a:p>
                  </a:txBody>
                  <a:tcPr marL="85725" marR="38100" marT="19050" marB="19050" anchor="ctr">
                    <a:solidFill>
                      <a:srgbClr val="F5F8FA"/>
                    </a:solidFill>
                  </a:tcPr>
                </a:tc>
                <a:tc>
                  <a:txBody>
                    <a:bodyPr wrap="none"/>
                    <a:lstStyle/>
                    <a:p>
                      <a:pPr algn="l"/>
                      <a:r>
                        <a:rPr sz="800" b="0">
                          <a:solidFill>
                            <a:srgbClr val="2E2E2E"/>
                          </a:solidFill>
                          <a:latin typeface="Calibri"/>
                        </a:rPr>
                        <a:t>44.3</a:t>
                      </a:r>
                    </a:p>
                  </a:txBody>
                  <a:tcPr marL="85725" marR="38100" marT="19050" marB="19050" anchor="ctr">
                    <a:solidFill>
                      <a:srgbClr val="F5F8FA"/>
                    </a:solidFill>
                  </a:tcPr>
                </a:tc>
                <a:tc>
                  <a:txBody>
                    <a:bodyPr wrap="none"/>
                    <a:lstStyle/>
                    <a:p>
                      <a:pPr algn="l"/>
                      <a:r>
                        <a:rPr sz="800" b="0">
                          <a:solidFill>
                            <a:srgbClr val="2E2E2E"/>
                          </a:solidFill>
                          <a:latin typeface="Calibri"/>
                        </a:rPr>
                        <a:t>49.1</a:t>
                      </a:r>
                    </a:p>
                  </a:txBody>
                  <a:tcPr marL="85725" marR="38100" marT="19050" marB="19050" anchor="ctr">
                    <a:solidFill>
                      <a:srgbClr val="F5F8FA"/>
                    </a:solidFill>
                  </a:tcPr>
                </a:tc>
                <a:tc>
                  <a:txBody>
                    <a:bodyPr wrap="none"/>
                    <a:lstStyle/>
                    <a:p>
                      <a:pPr algn="l"/>
                      <a:r>
                        <a:rPr sz="800" b="0">
                          <a:solidFill>
                            <a:srgbClr val="2E2E2E"/>
                          </a:solidFill>
                          <a:latin typeface="Calibri"/>
                        </a:rPr>
                        <a:t>54.6</a:t>
                      </a:r>
                    </a:p>
                  </a:txBody>
                  <a:tcPr marL="85725" marR="38100" marT="19050" marB="19050" anchor="ctr">
                    <a:solidFill>
                      <a:srgbClr val="F5F8FA"/>
                    </a:solidFill>
                  </a:tcPr>
                </a:tc>
                <a:tc>
                  <a:txBody>
                    <a:bodyPr wrap="none"/>
                    <a:lstStyle/>
                    <a:p>
                      <a:pPr algn="l"/>
                      <a:r>
                        <a:rPr sz="800" b="0">
                          <a:solidFill>
                            <a:srgbClr val="2E2E2E"/>
                          </a:solidFill>
                          <a:latin typeface="Calibri"/>
                        </a:rPr>
                        <a:t>60.8</a:t>
                      </a:r>
                    </a:p>
                  </a:txBody>
                  <a:tcPr marL="85725" marR="38100" marT="19050" marB="19050" anchor="ctr">
                    <a:solidFill>
                      <a:srgbClr val="F5F8FA"/>
                    </a:solidFill>
                  </a:tcPr>
                </a:tc>
                <a:tc>
                  <a:txBody>
                    <a:bodyPr wrap="none"/>
                    <a:lstStyle/>
                    <a:p>
                      <a:pPr algn="l"/>
                      <a:r>
                        <a:rPr sz="800" b="0">
                          <a:solidFill>
                            <a:srgbClr val="2E2E2E"/>
                          </a:solidFill>
                          <a:latin typeface="Calibri"/>
                        </a:rPr>
                        <a:t>67.7</a:t>
                      </a:r>
                    </a:p>
                  </a:txBody>
                  <a:tcPr marL="85725" marR="38100" marT="19050" marB="19050" anchor="ctr">
                    <a:solidFill>
                      <a:srgbClr val="F5F8FA"/>
                    </a:solidFill>
                  </a:tcPr>
                </a:tc>
                <a:tc>
                  <a:txBody>
                    <a:bodyPr wrap="none"/>
                    <a:lstStyle/>
                    <a:p>
                      <a:pPr algn="l"/>
                      <a:r>
                        <a:rPr sz="800" b="0">
                          <a:solidFill>
                            <a:srgbClr val="2E2E2E"/>
                          </a:solidFill>
                          <a:latin typeface="Calibri"/>
                        </a:rPr>
                        <a:t>75.6</a:t>
                      </a:r>
                    </a:p>
                  </a:txBody>
                  <a:tcPr marL="85725" marR="38100" marT="19050" marB="19050" anchor="ctr">
                    <a:solidFill>
                      <a:srgbClr val="F5F8FA"/>
                    </a:solidFill>
                  </a:tcPr>
                </a:tc>
                <a:tc>
                  <a:txBody>
                    <a:bodyPr wrap="none"/>
                    <a:lstStyle/>
                    <a:p>
                      <a:pPr algn="l"/>
                      <a:r>
                        <a:rPr sz="800" b="0">
                          <a:solidFill>
                            <a:srgbClr val="2E2E2E"/>
                          </a:solidFill>
                          <a:latin typeface="Calibri"/>
                        </a:rPr>
                        <a:t>84.5</a:t>
                      </a:r>
                    </a:p>
                  </a:txBody>
                  <a:tcPr marL="85725" marR="38100" marT="19050" marB="19050" anchor="ctr">
                    <a:solidFill>
                      <a:srgbClr val="F5F8FA"/>
                    </a:solidFill>
                  </a:tcPr>
                </a:tc>
                <a:tc>
                  <a:txBody>
                    <a:bodyPr wrap="none"/>
                    <a:lstStyle/>
                    <a:p>
                      <a:pPr algn="l"/>
                      <a:r>
                        <a:rPr sz="800" b="0">
                          <a:solidFill>
                            <a:srgbClr val="2E2E2E"/>
                          </a:solidFill>
                          <a:latin typeface="Calibri"/>
                        </a:rPr>
                        <a:t>94.8</a:t>
                      </a:r>
                    </a:p>
                  </a:txBody>
                  <a:tcPr marL="85725" marR="38100" marT="19050" marB="19050" anchor="ctr">
                    <a:solidFill>
                      <a:srgbClr val="F5F8FA"/>
                    </a:solidFill>
                  </a:tcPr>
                </a:tc>
                <a:tc>
                  <a:txBody>
                    <a:bodyPr wrap="none"/>
                    <a:lstStyle/>
                    <a:p>
                      <a:pPr algn="l"/>
                      <a:r>
                        <a:rPr sz="800" b="0">
                          <a:solidFill>
                            <a:srgbClr val="2E2E2E"/>
                          </a:solidFill>
                          <a:latin typeface="Calibri"/>
                        </a:rPr>
                        <a:t>106.5</a:t>
                      </a:r>
                    </a:p>
                  </a:txBody>
                  <a:tcPr marL="85725" marR="38100" marT="19050" marB="19050" anchor="ctr">
                    <a:solidFill>
                      <a:srgbClr val="F5F8FA"/>
                    </a:solidFill>
                  </a:tcPr>
                </a:tc>
                <a:tc>
                  <a:txBody>
                    <a:bodyPr wrap="none"/>
                    <a:lstStyle/>
                    <a:p>
                      <a:pPr algn="l"/>
                      <a:r>
                        <a:rPr sz="800" b="0">
                          <a:solidFill>
                            <a:srgbClr val="2E2E2E"/>
                          </a:solidFill>
                          <a:latin typeface="Calibri"/>
                        </a:rPr>
                        <a:t>120.3</a:t>
                      </a:r>
                    </a:p>
                  </a:txBody>
                  <a:tcPr marL="85725" marR="38100" marT="19050" marB="19050" anchor="ctr">
                    <a:solidFill>
                      <a:srgbClr val="F5F8FA"/>
                    </a:solidFill>
                  </a:tcPr>
                </a:tc>
                <a:tc>
                  <a:txBody>
                    <a:bodyPr wrap="none"/>
                    <a:lstStyle/>
                    <a:p>
                      <a:pPr algn="l"/>
                      <a:r>
                        <a:rPr sz="800" b="0">
                          <a:solidFill>
                            <a:srgbClr val="2E2E2E"/>
                          </a:solidFill>
                          <a:latin typeface="Calibri"/>
                        </a:rPr>
                        <a:t>11.6%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Product Type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Product Type,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1">
                          <a:solidFill>
                            <a:srgbClr val="2E7D32"/>
                          </a:solidFill>
                          <a:latin typeface="Calibri"/>
                        </a:rPr>
                        <a:t>▲ 10.7%</a:t>
                      </a:r>
                    </a:p>
                  </a:txBody>
                  <a:tcPr marL="85725" marR="38100" marT="19050" marB="19050" anchor="ctr">
                    <a:solidFill>
                      <a:srgbClr val="FFFFFF"/>
                    </a:solidFill>
                  </a:tcPr>
                </a:tc>
                <a:tc>
                  <a:txBody>
                    <a:bodyPr wrap="none"/>
                    <a:lstStyle/>
                    <a:p>
                      <a:pPr algn="l"/>
                      <a:r>
                        <a:rPr sz="800" b="1">
                          <a:solidFill>
                            <a:srgbClr val="2E7D32"/>
                          </a:solidFill>
                          <a:latin typeface="Calibri"/>
                        </a:rPr>
                        <a:t>▲ 11.1%</a:t>
                      </a:r>
                    </a:p>
                  </a:txBody>
                  <a:tcPr marL="85725" marR="38100" marT="19050" marB="19050" anchor="ctr">
                    <a:solidFill>
                      <a:srgbClr val="FFFFFF"/>
                    </a:solidFill>
                  </a:tcPr>
                </a:tc>
                <a:tc>
                  <a:txBody>
                    <a:bodyPr wrap="none"/>
                    <a:lstStyle/>
                    <a:p>
                      <a:pPr algn="l"/>
                      <a:r>
                        <a:rPr sz="800" b="1">
                          <a:solidFill>
                            <a:srgbClr val="2E7D32"/>
                          </a:solidFill>
                          <a:latin typeface="Calibri"/>
                        </a:rPr>
                        <a:t>▲ 11.4%</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11.8%</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11.6%</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12.0%</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1">
                          <a:solidFill>
                            <a:srgbClr val="2E7D32"/>
                          </a:solidFill>
                          <a:latin typeface="Calibri"/>
                        </a:rPr>
                        <a:t>▲ 10.0%</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10.3%</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10.4%</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Product Type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8" name="Table 17"/>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Product Type</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c>
                  <a:txBody>
                    <a:bodyPr wrap="none"/>
                    <a:lstStyle/>
                    <a:p>
                      <a:pPr algn="l"/>
                      <a:r>
                        <a:rPr sz="800" b="1">
                          <a:solidFill>
                            <a:srgbClr val="2E7D32"/>
                          </a:solidFill>
                          <a:latin typeface="Calibri"/>
                        </a:rPr>
                        <a:t>▲ 9.7%</a:t>
                      </a:r>
                    </a:p>
                  </a:txBody>
                  <a:tcPr marL="85725" marR="38100" marT="19050" marB="19050" anchor="ctr">
                    <a:solidFill>
                      <a:srgbClr val="FFFFFF"/>
                    </a:solidFill>
                  </a:tcPr>
                </a:tc>
                <a:tc>
                  <a:txBody>
                    <a:bodyPr wrap="none"/>
                    <a:lstStyle/>
                    <a:p>
                      <a:pPr algn="l"/>
                      <a:r>
                        <a:rPr sz="800" b="1">
                          <a:solidFill>
                            <a:srgbClr val="2E7D32"/>
                          </a:solidFill>
                          <a:latin typeface="Calibri"/>
                        </a:rPr>
                        <a:t>▲ 10.5%</a:t>
                      </a:r>
                    </a:p>
                  </a:txBody>
                  <a:tcPr marL="85725" marR="38100" marT="19050" marB="19050" anchor="ctr">
                    <a:solidFill>
                      <a:srgbClr val="FFFFFF"/>
                    </a:solidFill>
                  </a:tcPr>
                </a:tc>
                <a:tc>
                  <a:txBody>
                    <a:bodyPr wrap="none"/>
                    <a:lstStyle/>
                    <a:p>
                      <a:pPr algn="l"/>
                      <a:r>
                        <a:rPr sz="800" b="1">
                          <a:solidFill>
                            <a:srgbClr val="2E7D32"/>
                          </a:solidFill>
                          <a:latin typeface="Calibri"/>
                        </a:rPr>
                        <a:t>▲ 10.8%</a:t>
                      </a:r>
                    </a:p>
                  </a:txBody>
                  <a:tcPr marL="85725" marR="38100" marT="19050" marB="19050" anchor="ctr">
                    <a:solidFill>
                      <a:srgbClr val="FFFFFF"/>
                    </a:solidFill>
                  </a:tcPr>
                </a:tc>
                <a:tc>
                  <a:txBody>
                    <a:bodyPr wrap="none"/>
                    <a:lstStyle/>
                    <a:p>
                      <a:pPr algn="l"/>
                      <a:r>
                        <a:rPr sz="800" b="1">
                          <a:solidFill>
                            <a:srgbClr val="2E7D32"/>
                          </a:solidFill>
                          <a:latin typeface="Calibri"/>
                        </a:rPr>
                        <a:t>▲ 11.3%</a:t>
                      </a:r>
                    </a:p>
                  </a:txBody>
                  <a:tcPr marL="85725" marR="38100" marT="19050" marB="19050" anchor="ctr">
                    <a:solidFill>
                      <a:srgbClr val="FFFFFF"/>
                    </a:solidFill>
                  </a:tcPr>
                </a:tc>
                <a:tc>
                  <a:txBody>
                    <a:bodyPr wrap="none"/>
                    <a:lstStyle/>
                    <a:p>
                      <a:pPr algn="l"/>
                      <a:r>
                        <a:rPr sz="800" b="1">
                          <a:solidFill>
                            <a:srgbClr val="2E7D32"/>
                          </a:solidFill>
                          <a:latin typeface="Calibri"/>
                        </a:rPr>
                        <a:t>▲ 11.7%</a:t>
                      </a:r>
                    </a:p>
                  </a:txBody>
                  <a:tcPr marL="85725" marR="38100" marT="19050" marB="19050" anchor="ctr">
                    <a:solidFill>
                      <a:srgbClr val="FFFFFF"/>
                    </a:solidFill>
                  </a:tcPr>
                </a:tc>
                <a:tc>
                  <a:txBody>
                    <a:bodyPr wrap="none"/>
                    <a:lstStyle/>
                    <a:p>
                      <a:pPr algn="l"/>
                      <a:r>
                        <a:rPr sz="800" b="1">
                          <a:solidFill>
                            <a:srgbClr val="2E7D32"/>
                          </a:solidFill>
                          <a:latin typeface="Calibri"/>
                        </a:rPr>
                        <a:t>▲ 11.9%</a:t>
                      </a:r>
                    </a:p>
                  </a:txBody>
                  <a:tcPr marL="85725" marR="38100" marT="19050" marB="19050" anchor="ctr">
                    <a:solidFill>
                      <a:srgbClr val="FFFFFF"/>
                    </a:solidFill>
                  </a:tcPr>
                </a:tc>
                <a:tc>
                  <a:txBody>
                    <a:bodyPr wrap="none"/>
                    <a:lstStyle/>
                    <a:p>
                      <a:pPr algn="l"/>
                      <a:r>
                        <a:rPr sz="800" b="1">
                          <a:solidFill>
                            <a:srgbClr val="2E7D32"/>
                          </a:solidFill>
                          <a:latin typeface="Calibri"/>
                        </a:rPr>
                        <a:t>▲ 12.1%</a:t>
                      </a:r>
                    </a:p>
                  </a:txBody>
                  <a:tcPr marL="85725" marR="38100" marT="19050" marB="19050" anchor="ctr">
                    <a:solidFill>
                      <a:srgbClr val="FFFFFF"/>
                    </a:solidFill>
                  </a:tcPr>
                </a:tc>
                <a:tc>
                  <a:txBody>
                    <a:bodyPr wrap="none"/>
                    <a:lstStyle/>
                    <a:p>
                      <a:pPr algn="l"/>
                      <a:r>
                        <a:rPr sz="800" b="1">
                          <a:solidFill>
                            <a:srgbClr val="2E7D32"/>
                          </a:solidFill>
                          <a:latin typeface="Calibri"/>
                        </a:rPr>
                        <a:t>▲ 12.3%</a:t>
                      </a:r>
                    </a:p>
                  </a:txBody>
                  <a:tcPr marL="85725" marR="38100" marT="19050" marB="19050" anchor="ctr">
                    <a:solidFill>
                      <a:srgbClr val="FFFFFF"/>
                    </a:solidFill>
                  </a:tcPr>
                </a:tc>
                <a:tc>
                  <a:txBody>
                    <a:bodyPr wrap="none"/>
                    <a:lstStyle/>
                    <a:p>
                      <a:pPr algn="l"/>
                      <a:r>
                        <a:rPr sz="800" b="1">
                          <a:solidFill>
                            <a:srgbClr val="2E7D32"/>
                          </a:solidFill>
                          <a:latin typeface="Calibri"/>
                        </a:rPr>
                        <a:t>▲ 12.5%</a:t>
                      </a:r>
                    </a:p>
                  </a:txBody>
                  <a:tcPr marL="85725" marR="38100" marT="19050" marB="19050" anchor="ctr">
                    <a:solidFill>
                      <a:srgbClr val="FFFFFF"/>
                    </a:solidFill>
                  </a:tcPr>
                </a:tc>
                <a:tc>
                  <a:txBody>
                    <a:bodyPr wrap="none"/>
                    <a:lstStyle/>
                    <a:p>
                      <a:pPr algn="l"/>
                      <a:r>
                        <a:rPr sz="800" b="1">
                          <a:solidFill>
                            <a:srgbClr val="2E7D32"/>
                          </a:solidFill>
                          <a:latin typeface="Calibri"/>
                        </a:rPr>
                        <a:t>▲ 12.7%</a:t>
                      </a:r>
                    </a:p>
                  </a:txBody>
                  <a:tcPr marL="85725" marR="38100" marT="19050" marB="19050" anchor="ctr">
                    <a:solidFill>
                      <a:srgbClr val="FFFFFF"/>
                    </a:solidFill>
                  </a:tcPr>
                </a:tc>
                <a:tc>
                  <a:txBody>
                    <a:bodyPr wrap="none"/>
                    <a:lstStyle/>
                    <a:p>
                      <a:pPr algn="l"/>
                      <a:r>
                        <a:rPr sz="800" b="1">
                          <a:solidFill>
                            <a:srgbClr val="2E7D32"/>
                          </a:solidFill>
                          <a:latin typeface="Calibri"/>
                        </a:rPr>
                        <a:t>▲ 12.9%</a:t>
                      </a:r>
                    </a:p>
                  </a:txBody>
                  <a:tcPr marL="85725" marR="38100" marT="19050" marB="19050" anchor="ctr">
                    <a:solidFill>
                      <a:srgbClr val="FFFFFF"/>
                    </a:solidFill>
                  </a:tcPr>
                </a:tc>
                <a:tc>
                  <a:txBody>
                    <a:bodyPr wrap="none"/>
                    <a:lstStyle/>
                    <a:p>
                      <a:pPr algn="l"/>
                      <a:r>
                        <a:rPr sz="800" b="1">
                          <a:solidFill>
                            <a:srgbClr val="2E7D32"/>
                          </a:solidFill>
                          <a:latin typeface="Calibri"/>
                        </a:rPr>
                        <a:t>▲ 13.4%</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11.1%</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11.5%</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12.3%</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Application</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15</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Application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Application: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Application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Application</a:t>
            </a:r>
          </a:p>
        </p:txBody>
      </p:sp>
      <p:graphicFrame>
        <p:nvGraphicFramePr>
          <p:cNvPr id="17" name="Table 16"/>
          <p:cNvGraphicFramePr>
            <a:graphicFrameLocks noGrp="1"/>
          </p:cNvGraphicFramePr>
          <p:nvPr/>
        </p:nvGraphicFramePr>
        <p:xfrm>
          <a:off x="6267450" y="1143000"/>
          <a:ext cx="5686424" cy="16287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900" b="0">
                          <a:solidFill>
                            <a:srgbClr val="2E2E2E"/>
                          </a:solidFill>
                          <a:latin typeface="Calibri"/>
                        </a:rPr>
                        <a:t>41.9%</a:t>
                      </a:r>
                    </a:p>
                  </a:txBody>
                  <a:tcPr marL="85725" marR="38100" marT="19050" marB="19050" anchor="ctr">
                    <a:solidFill>
                      <a:srgbClr val="FFFFFF"/>
                    </a:solidFill>
                  </a:tcPr>
                </a:tc>
                <a:tc>
                  <a:txBody>
                    <a:bodyPr wrap="none"/>
                    <a:lstStyle/>
                    <a:p>
                      <a:pPr algn="l"/>
                      <a:r>
                        <a:rPr sz="900" b="0">
                          <a:solidFill>
                            <a:srgbClr val="2E2E2E"/>
                          </a:solidFill>
                          <a:latin typeface="Calibri"/>
                        </a:rPr>
                        <a:t>44.7%</a:t>
                      </a:r>
                    </a:p>
                  </a:txBody>
                  <a:tcPr marL="85725" marR="38100" marT="19050" marB="19050" anchor="ctr">
                    <a:solidFill>
                      <a:srgbClr val="FFFFFF"/>
                    </a:solidFill>
                  </a:tcPr>
                </a:tc>
                <a:tc>
                  <a:txBody>
                    <a:bodyPr wrap="none"/>
                    <a:lstStyle/>
                    <a:p>
                      <a:pPr algn="l"/>
                      <a:r>
                        <a:rPr sz="900" b="1">
                          <a:solidFill>
                            <a:srgbClr val="008189"/>
                          </a:solidFill>
                          <a:latin typeface="Calibri"/>
                        </a:rPr>
                        <a:t>+277</a:t>
                      </a:r>
                    </a:p>
                  </a:txBody>
                  <a:tcPr marL="85725" marR="38100" marT="19050" marB="19050" anchor="ctr">
                    <a:solidFill>
                      <a:srgbClr val="FFFFFF"/>
                    </a:solidFill>
                  </a:tcPr>
                </a:tc>
                <a:tc>
                  <a:txBody>
                    <a:bodyPr wrap="none"/>
                    <a:lstStyle/>
                    <a:p>
                      <a:pPr algn="l"/>
                      <a:r>
                        <a:rPr sz="900" b="0">
                          <a:solidFill>
                            <a:srgbClr val="2E2E2E"/>
                          </a:solidFill>
                          <a:latin typeface="Calibri"/>
                        </a:rPr>
                        <a:t>8.9%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900" b="0">
                          <a:solidFill>
                            <a:srgbClr val="2E2E2E"/>
                          </a:solidFill>
                          <a:latin typeface="Calibri"/>
                        </a:rPr>
                        <a:t>12.3%</a:t>
                      </a:r>
                    </a:p>
                  </a:txBody>
                  <a:tcPr marL="85725" marR="38100" marT="19050" marB="19050" anchor="ctr">
                    <a:solidFill>
                      <a:srgbClr val="F5F8FA"/>
                    </a:solidFill>
                  </a:tcPr>
                </a:tc>
                <a:tc>
                  <a:txBody>
                    <a:bodyPr wrap="none"/>
                    <a:lstStyle/>
                    <a:p>
                      <a:pPr algn="l"/>
                      <a:r>
                        <a:rPr sz="900" b="0">
                          <a:solidFill>
                            <a:srgbClr val="2E2E2E"/>
                          </a:solidFill>
                          <a:latin typeface="Calibri"/>
                        </a:rPr>
                        <a:t>11.2%</a:t>
                      </a:r>
                    </a:p>
                  </a:txBody>
                  <a:tcPr marL="85725" marR="38100" marT="19050" marB="19050" anchor="ctr">
                    <a:solidFill>
                      <a:srgbClr val="F5F8FA"/>
                    </a:solidFill>
                  </a:tcPr>
                </a:tc>
                <a:tc>
                  <a:txBody>
                    <a:bodyPr wrap="none"/>
                    <a:lstStyle/>
                    <a:p>
                      <a:pPr algn="l"/>
                      <a:r>
                        <a:rPr sz="900" b="1">
                          <a:solidFill>
                            <a:srgbClr val="E44D3A"/>
                          </a:solidFill>
                          <a:latin typeface="Calibri"/>
                        </a:rPr>
                        <a:t>-114</a:t>
                      </a:r>
                    </a:p>
                  </a:txBody>
                  <a:tcPr marL="85725" marR="38100" marT="19050" marB="19050" anchor="ctr">
                    <a:solidFill>
                      <a:srgbClr val="F5F8FA"/>
                    </a:solidFill>
                  </a:tcPr>
                </a:tc>
                <a:tc>
                  <a:txBody>
                    <a:bodyPr wrap="none"/>
                    <a:lstStyle/>
                    <a:p>
                      <a:pPr algn="l"/>
                      <a:r>
                        <a:rPr sz="9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6.9%</a:t>
                      </a:r>
                    </a:p>
                  </a:txBody>
                  <a:tcPr marL="85725" marR="38100" marT="19050" marB="19050" anchor="ctr">
                    <a:solidFill>
                      <a:srgbClr val="FFFFFF"/>
                    </a:solidFill>
                  </a:tcPr>
                </a:tc>
                <a:tc>
                  <a:txBody>
                    <a:bodyPr wrap="none"/>
                    <a:lstStyle/>
                    <a:p>
                      <a:pPr algn="l"/>
                      <a:r>
                        <a:rPr sz="900" b="1">
                          <a:solidFill>
                            <a:srgbClr val="E44D3A"/>
                          </a:solidFill>
                          <a:latin typeface="Calibri"/>
                        </a:rPr>
                        <a:t>-541</a:t>
                      </a:r>
                    </a:p>
                  </a:txBody>
                  <a:tcPr marL="85725" marR="38100" marT="19050" marB="19050" anchor="ctr">
                    <a:solidFill>
                      <a:srgbClr val="FFFFFF"/>
                    </a:solidFill>
                  </a:tcPr>
                </a:tc>
                <a:tc>
                  <a:txBody>
                    <a:bodyPr wrap="none"/>
                    <a:lstStyle/>
                    <a:p>
                      <a:pPr algn="l"/>
                      <a:r>
                        <a:rPr sz="900" b="0">
                          <a:solidFill>
                            <a:srgbClr val="2E2E2E"/>
                          </a:solidFill>
                          <a:latin typeface="Calibri"/>
                        </a:rPr>
                        <a:t>2.1%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900" b="0">
                          <a:solidFill>
                            <a:srgbClr val="2E2E2E"/>
                          </a:solidFill>
                          <a:latin typeface="Calibri"/>
                        </a:rPr>
                        <a:t>14.4%</a:t>
                      </a:r>
                    </a:p>
                  </a:txBody>
                  <a:tcPr marL="85725" marR="38100" marT="19050" marB="19050" anchor="ctr">
                    <a:solidFill>
                      <a:srgbClr val="F5F8FA"/>
                    </a:solidFill>
                  </a:tcPr>
                </a:tc>
                <a:tc>
                  <a:txBody>
                    <a:bodyPr wrap="none"/>
                    <a:lstStyle/>
                    <a:p>
                      <a:pPr algn="l"/>
                      <a:r>
                        <a:rPr sz="900" b="0">
                          <a:solidFill>
                            <a:srgbClr val="2E2E2E"/>
                          </a:solidFill>
                          <a:latin typeface="Calibri"/>
                        </a:rPr>
                        <a:t>13.4%</a:t>
                      </a:r>
                    </a:p>
                  </a:txBody>
                  <a:tcPr marL="85725" marR="38100" marT="19050" marB="19050" anchor="ctr">
                    <a:solidFill>
                      <a:srgbClr val="F5F8FA"/>
                    </a:solidFill>
                  </a:tcPr>
                </a:tc>
                <a:tc>
                  <a:txBody>
                    <a:bodyPr wrap="none"/>
                    <a:lstStyle/>
                    <a:p>
                      <a:pPr algn="l"/>
                      <a:r>
                        <a:rPr sz="900" b="1">
                          <a:solidFill>
                            <a:srgbClr val="E44D3A"/>
                          </a:solidFill>
                          <a:latin typeface="Calibri"/>
                        </a:rPr>
                        <a:t>-94</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900" b="0">
                          <a:solidFill>
                            <a:srgbClr val="2E2E2E"/>
                          </a:solidFill>
                          <a:latin typeface="Calibri"/>
                        </a:rPr>
                        <a:t>6.4%</a:t>
                      </a:r>
                    </a:p>
                  </a:txBody>
                  <a:tcPr marL="85725" marR="38100" marT="19050" marB="19050" anchor="ctr">
                    <a:solidFill>
                      <a:srgbClr val="FFFFFF"/>
                    </a:solidFill>
                  </a:tcPr>
                </a:tc>
                <a:tc>
                  <a:txBody>
                    <a:bodyPr wrap="none"/>
                    <a:lstStyle/>
                    <a:p>
                      <a:pPr algn="l"/>
                      <a:r>
                        <a:rPr sz="900" b="0">
                          <a:solidFill>
                            <a:srgbClr val="2E2E2E"/>
                          </a:solidFill>
                          <a:latin typeface="Calibri"/>
                        </a:rPr>
                        <a:t>12.1%</a:t>
                      </a:r>
                    </a:p>
                  </a:txBody>
                  <a:tcPr marL="85725" marR="38100" marT="19050" marB="19050" anchor="ctr">
                    <a:solidFill>
                      <a:srgbClr val="FFFFFF"/>
                    </a:solidFill>
                  </a:tcPr>
                </a:tc>
                <a:tc>
                  <a:txBody>
                    <a:bodyPr wrap="none"/>
                    <a:lstStyle/>
                    <a:p>
                      <a:pPr algn="l"/>
                      <a:r>
                        <a:rPr sz="900" b="1">
                          <a:solidFill>
                            <a:srgbClr val="008189"/>
                          </a:solidFill>
                          <a:latin typeface="Calibri"/>
                        </a:rPr>
                        <a:t>+564</a:t>
                      </a:r>
                    </a:p>
                  </a:txBody>
                  <a:tcPr marL="85725" marR="38100" marT="19050" marB="19050" anchor="ctr">
                    <a:solidFill>
                      <a:srgbClr val="FFFFFF"/>
                    </a:solidFill>
                  </a:tcPr>
                </a:tc>
                <a:tc>
                  <a:txBody>
                    <a:bodyPr wrap="none"/>
                    <a:lstStyle/>
                    <a:p>
                      <a:pPr algn="l"/>
                      <a:r>
                        <a:rPr sz="900" b="0">
                          <a:solidFill>
                            <a:srgbClr val="2E2E2E"/>
                          </a:solidFill>
                          <a:latin typeface="Calibri"/>
                        </a:rPr>
                        <a:t>15.2%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900" b="0">
                          <a:solidFill>
                            <a:srgbClr val="2E2E2E"/>
                          </a:solidFill>
                          <a:latin typeface="Calibri"/>
                        </a:rPr>
                        <a:t>3.1%</a:t>
                      </a:r>
                    </a:p>
                  </a:txBody>
                  <a:tcPr marL="85725" marR="38100" marT="19050" marB="19050" anchor="ctr">
                    <a:solidFill>
                      <a:srgbClr val="F5F8FA"/>
                    </a:solidFill>
                  </a:tcPr>
                </a:tc>
                <a:tc>
                  <a:txBody>
                    <a:bodyPr wrap="none"/>
                    <a:lstStyle/>
                    <a:p>
                      <a:pPr algn="l"/>
                      <a:r>
                        <a:rPr sz="900" b="0">
                          <a:solidFill>
                            <a:srgbClr val="2E2E2E"/>
                          </a:solidFill>
                          <a:latin typeface="Calibri"/>
                        </a:rPr>
                        <a:t>3.3%</a:t>
                      </a:r>
                    </a:p>
                  </a:txBody>
                  <a:tcPr marL="85725" marR="38100" marT="19050" marB="19050" anchor="ctr">
                    <a:solidFill>
                      <a:srgbClr val="F5F8FA"/>
                    </a:solidFill>
                  </a:tcPr>
                </a:tc>
                <a:tc>
                  <a:txBody>
                    <a:bodyPr wrap="none"/>
                    <a:lstStyle/>
                    <a:p>
                      <a:pPr algn="l"/>
                      <a:r>
                        <a:rPr sz="900" b="1">
                          <a:solidFill>
                            <a:srgbClr val="008189"/>
                          </a:solidFill>
                          <a:latin typeface="Calibri"/>
                        </a:rPr>
                        <a:t>+19</a:t>
                      </a:r>
                    </a:p>
                  </a:txBody>
                  <a:tcPr marL="85725" marR="38100" marT="19050" marB="19050" anchor="ctr">
                    <a:solidFill>
                      <a:srgbClr val="F5F8FA"/>
                    </a:solidFill>
                  </a:tcPr>
                </a:tc>
                <a:tc>
                  <a:txBody>
                    <a:bodyPr wrap="none"/>
                    <a:lstStyle/>
                    <a:p>
                      <a:pPr algn="l"/>
                      <a:r>
                        <a:rPr sz="900" b="0">
                          <a:solidFill>
                            <a:srgbClr val="2E2E2E"/>
                          </a:solidFill>
                          <a:latin typeface="Calibri"/>
                        </a:rPr>
                        <a:t>8.8%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c>
                  <a:txBody>
                    <a:bodyPr wrap="none"/>
                    <a:lstStyle/>
                    <a:p>
                      <a:pPr algn="l"/>
                      <a:r>
                        <a:rPr sz="900" b="0">
                          <a:solidFill>
                            <a:srgbClr val="2E2E2E"/>
                          </a:solidFill>
                          <a:latin typeface="Calibri"/>
                        </a:rPr>
                        <a:t>7.2%</a:t>
                      </a:r>
                    </a:p>
                  </a:txBody>
                  <a:tcPr marL="85725" marR="38100" marT="19050" marB="19050" anchor="ctr">
                    <a:solidFill>
                      <a:srgbClr val="FFFFFF"/>
                    </a:solidFill>
                  </a:tcPr>
                </a:tc>
                <a:tc>
                  <a:txBody>
                    <a:bodyPr wrap="none"/>
                    <a:lstStyle/>
                    <a:p>
                      <a:pPr algn="l"/>
                      <a:r>
                        <a:rPr sz="900" b="1">
                          <a:solidFill>
                            <a:srgbClr val="E44D3A"/>
                          </a:solidFill>
                          <a:latin typeface="Calibri"/>
                        </a:rPr>
                        <a:t>-43</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900" b="0">
                          <a:solidFill>
                            <a:srgbClr val="2E2E2E"/>
                          </a:solidFill>
                          <a:latin typeface="Calibri"/>
                        </a:rPr>
                        <a:t>1.9%</a:t>
                      </a:r>
                    </a:p>
                  </a:txBody>
                  <a:tcPr marL="85725" marR="38100" marT="19050" marB="19050" anchor="ctr">
                    <a:solidFill>
                      <a:srgbClr val="F5F8FA"/>
                    </a:solidFill>
                  </a:tcPr>
                </a:tc>
                <a:tc>
                  <a:txBody>
                    <a:bodyPr wrap="none"/>
                    <a:lstStyle/>
                    <a:p>
                      <a:pPr algn="l"/>
                      <a:r>
                        <a:rPr sz="900" b="0">
                          <a:solidFill>
                            <a:srgbClr val="2E2E2E"/>
                          </a:solidFill>
                          <a:latin typeface="Calibri"/>
                        </a:rPr>
                        <a:t>1.2%</a:t>
                      </a:r>
                    </a:p>
                  </a:txBody>
                  <a:tcPr marL="85725" marR="38100" marT="19050" marB="19050" anchor="ctr">
                    <a:solidFill>
                      <a:srgbClr val="F5F8FA"/>
                    </a:solidFill>
                  </a:tcPr>
                </a:tc>
                <a:tc>
                  <a:txBody>
                    <a:bodyPr wrap="none"/>
                    <a:lstStyle/>
                    <a:p>
                      <a:pPr algn="l"/>
                      <a:r>
                        <a:rPr sz="900" b="1">
                          <a:solidFill>
                            <a:srgbClr val="E44D3A"/>
                          </a:solidFill>
                          <a:latin typeface="Calibri"/>
                        </a:rPr>
                        <a:t>-68</a:t>
                      </a:r>
                    </a:p>
                  </a:txBody>
                  <a:tcPr marL="85725" marR="38100" marT="19050" marB="19050" anchor="ctr">
                    <a:solidFill>
                      <a:srgbClr val="F5F8FA"/>
                    </a:solidFill>
                  </a:tcPr>
                </a:tc>
                <a:tc>
                  <a:txBody>
                    <a:bodyPr wrap="none"/>
                    <a:lstStyle/>
                    <a:p>
                      <a:pPr algn="l"/>
                      <a:r>
                        <a:rPr sz="900" b="0">
                          <a:solidFill>
                            <a:srgbClr val="2E2E2E"/>
                          </a:solidFill>
                          <a:latin typeface="Calibri"/>
                        </a:rPr>
                        <a:t>3.5%</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Application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Application</a:t>
            </a:r>
          </a:p>
        </p:txBody>
      </p:sp>
      <p:graphicFrame>
        <p:nvGraphicFramePr>
          <p:cNvPr id="24" name="Table 23"/>
          <p:cNvGraphicFramePr>
            <a:graphicFrameLocks noGrp="1"/>
          </p:cNvGraphicFramePr>
          <p:nvPr/>
        </p:nvGraphicFramePr>
        <p:xfrm>
          <a:off x="6267450" y="4143375"/>
          <a:ext cx="5686424" cy="16287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Application</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900" b="0">
                          <a:solidFill>
                            <a:srgbClr val="2E2E2E"/>
                          </a:solidFill>
                          <a:latin typeface="Calibri"/>
                        </a:rPr>
                        <a:t>41.9%</a:t>
                      </a:r>
                    </a:p>
                  </a:txBody>
                  <a:tcPr marL="85725" marR="38100" marT="19050" marB="19050" anchor="ctr">
                    <a:solidFill>
                      <a:srgbClr val="FFFFFF"/>
                    </a:solidFill>
                  </a:tcPr>
                </a:tc>
                <a:tc>
                  <a:txBody>
                    <a:bodyPr wrap="none"/>
                    <a:lstStyle/>
                    <a:p>
                      <a:pPr algn="l"/>
                      <a:r>
                        <a:rPr sz="900" b="0">
                          <a:solidFill>
                            <a:srgbClr val="2E2E2E"/>
                          </a:solidFill>
                          <a:latin typeface="Calibri"/>
                        </a:rPr>
                        <a:t>44.7%</a:t>
                      </a:r>
                    </a:p>
                  </a:txBody>
                  <a:tcPr marL="85725" marR="38100" marT="19050" marB="19050" anchor="ctr">
                    <a:solidFill>
                      <a:srgbClr val="FFFFFF"/>
                    </a:solidFill>
                  </a:tcPr>
                </a:tc>
                <a:tc>
                  <a:txBody>
                    <a:bodyPr wrap="none"/>
                    <a:lstStyle/>
                    <a:p>
                      <a:pPr algn="l"/>
                      <a:r>
                        <a:rPr sz="900" b="1">
                          <a:solidFill>
                            <a:srgbClr val="008189"/>
                          </a:solidFill>
                          <a:latin typeface="Calibri"/>
                        </a:rPr>
                        <a:t>+277</a:t>
                      </a:r>
                    </a:p>
                  </a:txBody>
                  <a:tcPr marL="85725" marR="38100" marT="19050" marB="19050" anchor="ctr">
                    <a:solidFill>
                      <a:srgbClr val="FFFFFF"/>
                    </a:solidFill>
                  </a:tcPr>
                </a:tc>
                <a:tc>
                  <a:txBody>
                    <a:bodyPr wrap="none"/>
                    <a:lstStyle/>
                    <a:p>
                      <a:pPr algn="l"/>
                      <a:r>
                        <a:rPr sz="900" b="0">
                          <a:solidFill>
                            <a:srgbClr val="2E2E2E"/>
                          </a:solidFill>
                          <a:latin typeface="Calibri"/>
                        </a:rPr>
                        <a:t>7.9%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900" b="0">
                          <a:solidFill>
                            <a:srgbClr val="2E2E2E"/>
                          </a:solidFill>
                          <a:latin typeface="Calibri"/>
                        </a:rPr>
                        <a:t>12.3%</a:t>
                      </a:r>
                    </a:p>
                  </a:txBody>
                  <a:tcPr marL="85725" marR="38100" marT="19050" marB="19050" anchor="ctr">
                    <a:solidFill>
                      <a:srgbClr val="F5F8FA"/>
                    </a:solidFill>
                  </a:tcPr>
                </a:tc>
                <a:tc>
                  <a:txBody>
                    <a:bodyPr wrap="none"/>
                    <a:lstStyle/>
                    <a:p>
                      <a:pPr algn="l"/>
                      <a:r>
                        <a:rPr sz="900" b="0">
                          <a:solidFill>
                            <a:srgbClr val="2E2E2E"/>
                          </a:solidFill>
                          <a:latin typeface="Calibri"/>
                        </a:rPr>
                        <a:t>11.2%</a:t>
                      </a:r>
                    </a:p>
                  </a:txBody>
                  <a:tcPr marL="85725" marR="38100" marT="19050" marB="19050" anchor="ctr">
                    <a:solidFill>
                      <a:srgbClr val="F5F8FA"/>
                    </a:solidFill>
                  </a:tcPr>
                </a:tc>
                <a:tc>
                  <a:txBody>
                    <a:bodyPr wrap="none"/>
                    <a:lstStyle/>
                    <a:p>
                      <a:pPr algn="l"/>
                      <a:r>
                        <a:rPr sz="900" b="1">
                          <a:solidFill>
                            <a:srgbClr val="E44D3A"/>
                          </a:solidFill>
                          <a:latin typeface="Calibri"/>
                        </a:rPr>
                        <a:t>-114</a:t>
                      </a:r>
                    </a:p>
                  </a:txBody>
                  <a:tcPr marL="85725" marR="38100" marT="19050" marB="19050" anchor="ctr">
                    <a:solidFill>
                      <a:srgbClr val="F5F8FA"/>
                    </a:solidFill>
                  </a:tcPr>
                </a:tc>
                <a:tc>
                  <a:txBody>
                    <a:bodyPr wrap="none"/>
                    <a:lstStyle/>
                    <a:p>
                      <a:pPr algn="l"/>
                      <a:r>
                        <a:rPr sz="900" b="0">
                          <a:solidFill>
                            <a:srgbClr val="2E2E2E"/>
                          </a:solidFill>
                          <a:latin typeface="Calibri"/>
                        </a:rPr>
                        <a:t>6.2%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6.9%</a:t>
                      </a:r>
                    </a:p>
                  </a:txBody>
                  <a:tcPr marL="85725" marR="38100" marT="19050" marB="19050" anchor="ctr">
                    <a:solidFill>
                      <a:srgbClr val="FFFFFF"/>
                    </a:solidFill>
                  </a:tcPr>
                </a:tc>
                <a:tc>
                  <a:txBody>
                    <a:bodyPr wrap="none"/>
                    <a:lstStyle/>
                    <a:p>
                      <a:pPr algn="l"/>
                      <a:r>
                        <a:rPr sz="900" b="1">
                          <a:solidFill>
                            <a:srgbClr val="E44D3A"/>
                          </a:solidFill>
                          <a:latin typeface="Calibri"/>
                        </a:rPr>
                        <a:t>-541</a:t>
                      </a:r>
                    </a:p>
                  </a:txBody>
                  <a:tcPr marL="85725" marR="38100" marT="19050" marB="19050" anchor="ctr">
                    <a:solidFill>
                      <a:srgbClr val="FFFFFF"/>
                    </a:solidFill>
                  </a:tcPr>
                </a:tc>
                <a:tc>
                  <a:txBody>
                    <a:bodyPr wrap="none"/>
                    <a:lstStyle/>
                    <a:p>
                      <a:pPr algn="l"/>
                      <a:r>
                        <a:rPr sz="900" b="0">
                          <a:solidFill>
                            <a:srgbClr val="2E2E2E"/>
                          </a:solidFill>
                          <a:latin typeface="Calibri"/>
                        </a:rPr>
                        <a:t>1.2%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900" b="0">
                          <a:solidFill>
                            <a:srgbClr val="2E2E2E"/>
                          </a:solidFill>
                          <a:latin typeface="Calibri"/>
                        </a:rPr>
                        <a:t>14.4%</a:t>
                      </a:r>
                    </a:p>
                  </a:txBody>
                  <a:tcPr marL="85725" marR="38100" marT="19050" marB="19050" anchor="ctr">
                    <a:solidFill>
                      <a:srgbClr val="F5F8FA"/>
                    </a:solidFill>
                  </a:tcPr>
                </a:tc>
                <a:tc>
                  <a:txBody>
                    <a:bodyPr wrap="none"/>
                    <a:lstStyle/>
                    <a:p>
                      <a:pPr algn="l"/>
                      <a:r>
                        <a:rPr sz="900" b="0">
                          <a:solidFill>
                            <a:srgbClr val="2E2E2E"/>
                          </a:solidFill>
                          <a:latin typeface="Calibri"/>
                        </a:rPr>
                        <a:t>13.4%</a:t>
                      </a:r>
                    </a:p>
                  </a:txBody>
                  <a:tcPr marL="85725" marR="38100" marT="19050" marB="19050" anchor="ctr">
                    <a:solidFill>
                      <a:srgbClr val="F5F8FA"/>
                    </a:solidFill>
                  </a:tcPr>
                </a:tc>
                <a:tc>
                  <a:txBody>
                    <a:bodyPr wrap="none"/>
                    <a:lstStyle/>
                    <a:p>
                      <a:pPr algn="l"/>
                      <a:r>
                        <a:rPr sz="900" b="1">
                          <a:solidFill>
                            <a:srgbClr val="E44D3A"/>
                          </a:solidFill>
                          <a:latin typeface="Calibri"/>
                        </a:rPr>
                        <a:t>-94</a:t>
                      </a:r>
                    </a:p>
                  </a:txBody>
                  <a:tcPr marL="85725" marR="38100" marT="19050" marB="19050" anchor="ctr">
                    <a:solidFill>
                      <a:srgbClr val="F5F8FA"/>
                    </a:solidFill>
                  </a:tcPr>
                </a:tc>
                <a:tc>
                  <a:txBody>
                    <a:bodyPr wrap="none"/>
                    <a:lstStyle/>
                    <a:p>
                      <a:pPr algn="l"/>
                      <a:r>
                        <a:rPr sz="900" b="0">
                          <a:solidFill>
                            <a:srgbClr val="2E2E2E"/>
                          </a:solidFill>
                          <a:latin typeface="Calibri"/>
                        </a:rPr>
                        <a:t>6.5%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900" b="0">
                          <a:solidFill>
                            <a:srgbClr val="2E2E2E"/>
                          </a:solidFill>
                          <a:latin typeface="Calibri"/>
                        </a:rPr>
                        <a:t>6.4%</a:t>
                      </a:r>
                    </a:p>
                  </a:txBody>
                  <a:tcPr marL="85725" marR="38100" marT="19050" marB="19050" anchor="ctr">
                    <a:solidFill>
                      <a:srgbClr val="FFFFFF"/>
                    </a:solidFill>
                  </a:tcPr>
                </a:tc>
                <a:tc>
                  <a:txBody>
                    <a:bodyPr wrap="none"/>
                    <a:lstStyle/>
                    <a:p>
                      <a:pPr algn="l"/>
                      <a:r>
                        <a:rPr sz="900" b="0">
                          <a:solidFill>
                            <a:srgbClr val="2E2E2E"/>
                          </a:solidFill>
                          <a:latin typeface="Calibri"/>
                        </a:rPr>
                        <a:t>12.1%</a:t>
                      </a:r>
                    </a:p>
                  </a:txBody>
                  <a:tcPr marL="85725" marR="38100" marT="19050" marB="19050" anchor="ctr">
                    <a:solidFill>
                      <a:srgbClr val="FFFFFF"/>
                    </a:solidFill>
                  </a:tcPr>
                </a:tc>
                <a:tc>
                  <a:txBody>
                    <a:bodyPr wrap="none"/>
                    <a:lstStyle/>
                    <a:p>
                      <a:pPr algn="l"/>
                      <a:r>
                        <a:rPr sz="900" b="1">
                          <a:solidFill>
                            <a:srgbClr val="008189"/>
                          </a:solidFill>
                          <a:latin typeface="Calibri"/>
                        </a:rPr>
                        <a:t>+564</a:t>
                      </a:r>
                    </a:p>
                  </a:txBody>
                  <a:tcPr marL="85725" marR="38100" marT="19050" marB="19050" anchor="ctr">
                    <a:solidFill>
                      <a:srgbClr val="FFFFFF"/>
                    </a:solidFill>
                  </a:tcPr>
                </a:tc>
                <a:tc>
                  <a:txBody>
                    <a:bodyPr wrap="none"/>
                    <a:lstStyle/>
                    <a:p>
                      <a:pPr algn="l"/>
                      <a:r>
                        <a:rPr sz="900" b="0">
                          <a:solidFill>
                            <a:srgbClr val="2E2E2E"/>
                          </a:solidFill>
                          <a:latin typeface="Calibri"/>
                        </a:rPr>
                        <a:t>14.2%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900" b="0">
                          <a:solidFill>
                            <a:srgbClr val="2E2E2E"/>
                          </a:solidFill>
                          <a:latin typeface="Calibri"/>
                        </a:rPr>
                        <a:t>3.1%</a:t>
                      </a:r>
                    </a:p>
                  </a:txBody>
                  <a:tcPr marL="85725" marR="38100" marT="19050" marB="19050" anchor="ctr">
                    <a:solidFill>
                      <a:srgbClr val="F5F8FA"/>
                    </a:solidFill>
                  </a:tcPr>
                </a:tc>
                <a:tc>
                  <a:txBody>
                    <a:bodyPr wrap="none"/>
                    <a:lstStyle/>
                    <a:p>
                      <a:pPr algn="l"/>
                      <a:r>
                        <a:rPr sz="900" b="0">
                          <a:solidFill>
                            <a:srgbClr val="2E2E2E"/>
                          </a:solidFill>
                          <a:latin typeface="Calibri"/>
                        </a:rPr>
                        <a:t>3.3%</a:t>
                      </a:r>
                    </a:p>
                  </a:txBody>
                  <a:tcPr marL="85725" marR="38100" marT="19050" marB="19050" anchor="ctr">
                    <a:solidFill>
                      <a:srgbClr val="F5F8FA"/>
                    </a:solidFill>
                  </a:tcPr>
                </a:tc>
                <a:tc>
                  <a:txBody>
                    <a:bodyPr wrap="none"/>
                    <a:lstStyle/>
                    <a:p>
                      <a:pPr algn="l"/>
                      <a:r>
                        <a:rPr sz="900" b="1">
                          <a:solidFill>
                            <a:srgbClr val="008189"/>
                          </a:solidFill>
                          <a:latin typeface="Calibri"/>
                        </a:rPr>
                        <a:t>+19</a:t>
                      </a:r>
                    </a:p>
                  </a:txBody>
                  <a:tcPr marL="85725" marR="38100" marT="19050" marB="19050" anchor="ctr">
                    <a:solidFill>
                      <a:srgbClr val="F5F8FA"/>
                    </a:solidFill>
                  </a:tcPr>
                </a:tc>
                <a:tc>
                  <a:txBody>
                    <a:bodyPr wrap="none"/>
                    <a:lstStyle/>
                    <a:p>
                      <a:pPr algn="l"/>
                      <a:r>
                        <a:rPr sz="900" b="0">
                          <a:solidFill>
                            <a:srgbClr val="2E2E2E"/>
                          </a:solidFill>
                          <a:latin typeface="Calibri"/>
                        </a:rPr>
                        <a:t>7.9%</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c>
                  <a:txBody>
                    <a:bodyPr wrap="none"/>
                    <a:lstStyle/>
                    <a:p>
                      <a:pPr algn="l"/>
                      <a:r>
                        <a:rPr sz="900" b="0">
                          <a:solidFill>
                            <a:srgbClr val="2E2E2E"/>
                          </a:solidFill>
                          <a:latin typeface="Calibri"/>
                        </a:rPr>
                        <a:t>7.2%</a:t>
                      </a:r>
                    </a:p>
                  </a:txBody>
                  <a:tcPr marL="85725" marR="38100" marT="19050" marB="19050" anchor="ctr">
                    <a:solidFill>
                      <a:srgbClr val="FFFFFF"/>
                    </a:solidFill>
                  </a:tcPr>
                </a:tc>
                <a:tc>
                  <a:txBody>
                    <a:bodyPr wrap="none"/>
                    <a:lstStyle/>
                    <a:p>
                      <a:pPr algn="l"/>
                      <a:r>
                        <a:rPr sz="900" b="1">
                          <a:solidFill>
                            <a:srgbClr val="E44D3A"/>
                          </a:solidFill>
                          <a:latin typeface="Calibri"/>
                        </a:rPr>
                        <a:t>-43</a:t>
                      </a:r>
                    </a:p>
                  </a:txBody>
                  <a:tcPr marL="85725" marR="38100" marT="19050" marB="19050" anchor="ctr">
                    <a:solidFill>
                      <a:srgbClr val="FFFFFF"/>
                    </a:solidFill>
                  </a:tcPr>
                </a:tc>
                <a:tc>
                  <a:txBody>
                    <a:bodyPr wrap="none"/>
                    <a:lstStyle/>
                    <a:p>
                      <a:pPr algn="l"/>
                      <a:r>
                        <a:rPr sz="900" b="0">
                          <a:solidFill>
                            <a:srgbClr val="2E2E2E"/>
                          </a:solidFill>
                          <a:latin typeface="Calibri"/>
                        </a:rPr>
                        <a:t>6.6%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900" b="0">
                          <a:solidFill>
                            <a:srgbClr val="2E2E2E"/>
                          </a:solidFill>
                          <a:latin typeface="Calibri"/>
                        </a:rPr>
                        <a:t>1.9%</a:t>
                      </a:r>
                    </a:p>
                  </a:txBody>
                  <a:tcPr marL="85725" marR="38100" marT="19050" marB="19050" anchor="ctr">
                    <a:solidFill>
                      <a:srgbClr val="F5F8FA"/>
                    </a:solidFill>
                  </a:tcPr>
                </a:tc>
                <a:tc>
                  <a:txBody>
                    <a:bodyPr wrap="none"/>
                    <a:lstStyle/>
                    <a:p>
                      <a:pPr algn="l"/>
                      <a:r>
                        <a:rPr sz="900" b="0">
                          <a:solidFill>
                            <a:srgbClr val="2E2E2E"/>
                          </a:solidFill>
                          <a:latin typeface="Calibri"/>
                        </a:rPr>
                        <a:t>1.2%</a:t>
                      </a:r>
                    </a:p>
                  </a:txBody>
                  <a:tcPr marL="85725" marR="38100" marT="19050" marB="19050" anchor="ctr">
                    <a:solidFill>
                      <a:srgbClr val="F5F8FA"/>
                    </a:solidFill>
                  </a:tcPr>
                </a:tc>
                <a:tc>
                  <a:txBody>
                    <a:bodyPr wrap="none"/>
                    <a:lstStyle/>
                    <a:p>
                      <a:pPr algn="l"/>
                      <a:r>
                        <a:rPr sz="900" b="1">
                          <a:solidFill>
                            <a:srgbClr val="E44D3A"/>
                          </a:solidFill>
                          <a:latin typeface="Calibri"/>
                        </a:rPr>
                        <a:t>-68</a:t>
                      </a:r>
                    </a:p>
                  </a:txBody>
                  <a:tcPr marL="85725" marR="38100" marT="19050" marB="19050" anchor="ctr">
                    <a:solidFill>
                      <a:srgbClr val="F5F8FA"/>
                    </a:solidFill>
                  </a:tcPr>
                </a:tc>
                <a:tc>
                  <a:txBody>
                    <a:bodyPr wrap="none"/>
                    <a:lstStyle/>
                    <a:p>
                      <a:pPr algn="l"/>
                      <a:r>
                        <a:rPr sz="900" b="0">
                          <a:solidFill>
                            <a:srgbClr val="2E2E2E"/>
                          </a:solidFill>
                          <a:latin typeface="Calibri"/>
                        </a:rPr>
                        <a:t>2.6%</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Application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Application,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Application (Units)</a:t>
            </a:r>
          </a:p>
        </p:txBody>
      </p:sp>
      <p:graphicFrame>
        <p:nvGraphicFramePr>
          <p:cNvPr id="14" name="Table 13"/>
          <p:cNvGraphicFramePr>
            <a:graphicFrameLocks noGrp="1"/>
          </p:cNvGraphicFramePr>
          <p:nvPr/>
        </p:nvGraphicFramePr>
        <p:xfrm>
          <a:off x="238125" y="1143000"/>
          <a:ext cx="11715752" cy="18097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0">
                          <a:solidFill>
                            <a:srgbClr val="2E2E2E"/>
                          </a:solidFill>
                          <a:latin typeface="Calibri"/>
                        </a:rPr>
                        <a:t>206.2</a:t>
                      </a:r>
                    </a:p>
                  </a:txBody>
                  <a:tcPr marL="85725" marR="38100" marT="19050" marB="19050" anchor="ctr">
                    <a:solidFill>
                      <a:srgbClr val="FFFFFF"/>
                    </a:solidFill>
                  </a:tcPr>
                </a:tc>
                <a:tc>
                  <a:txBody>
                    <a:bodyPr wrap="none"/>
                    <a:lstStyle/>
                    <a:p>
                      <a:pPr algn="l"/>
                      <a:r>
                        <a:rPr sz="800" b="0">
                          <a:solidFill>
                            <a:srgbClr val="2E2E2E"/>
                          </a:solidFill>
                          <a:latin typeface="Calibri"/>
                        </a:rPr>
                        <a:t>225.5</a:t>
                      </a:r>
                    </a:p>
                  </a:txBody>
                  <a:tcPr marL="85725" marR="38100" marT="19050" marB="19050" anchor="ctr">
                    <a:solidFill>
                      <a:srgbClr val="FFFFFF"/>
                    </a:solidFill>
                  </a:tcPr>
                </a:tc>
                <a:tc>
                  <a:txBody>
                    <a:bodyPr wrap="none"/>
                    <a:lstStyle/>
                    <a:p>
                      <a:pPr algn="l"/>
                      <a:r>
                        <a:rPr sz="800" b="0">
                          <a:solidFill>
                            <a:srgbClr val="2E2E2E"/>
                          </a:solidFill>
                          <a:latin typeface="Calibri"/>
                        </a:rPr>
                        <a:t>246.5</a:t>
                      </a:r>
                    </a:p>
                  </a:txBody>
                  <a:tcPr marL="85725" marR="38100" marT="19050" marB="19050" anchor="ctr">
                    <a:solidFill>
                      <a:srgbClr val="FFFFFF"/>
                    </a:solidFill>
                  </a:tcPr>
                </a:tc>
                <a:tc>
                  <a:txBody>
                    <a:bodyPr wrap="none"/>
                    <a:lstStyle/>
                    <a:p>
                      <a:pPr algn="l"/>
                      <a:r>
                        <a:rPr sz="800" b="0">
                          <a:solidFill>
                            <a:srgbClr val="2E2E2E"/>
                          </a:solidFill>
                          <a:latin typeface="Calibri"/>
                        </a:rPr>
                        <a:t>269.4</a:t>
                      </a:r>
                    </a:p>
                  </a:txBody>
                  <a:tcPr marL="85725" marR="38100" marT="19050" marB="19050" anchor="ctr">
                    <a:solidFill>
                      <a:srgbClr val="FFFFFF"/>
                    </a:solidFill>
                  </a:tcPr>
                </a:tc>
                <a:tc>
                  <a:txBody>
                    <a:bodyPr wrap="none"/>
                    <a:lstStyle/>
                    <a:p>
                      <a:pPr algn="l"/>
                      <a:r>
                        <a:rPr sz="800" b="0">
                          <a:solidFill>
                            <a:srgbClr val="2E2E2E"/>
                          </a:solidFill>
                          <a:latin typeface="Calibri"/>
                        </a:rPr>
                        <a:t>294.0</a:t>
                      </a:r>
                    </a:p>
                  </a:txBody>
                  <a:tcPr marL="85725" marR="38100" marT="19050" marB="19050" anchor="ctr">
                    <a:solidFill>
                      <a:srgbClr val="FFFFFF"/>
                    </a:solidFill>
                  </a:tcPr>
                </a:tc>
                <a:tc>
                  <a:txBody>
                    <a:bodyPr wrap="none"/>
                    <a:lstStyle/>
                    <a:p>
                      <a:pPr algn="l"/>
                      <a:r>
                        <a:rPr sz="800" b="0">
                          <a:solidFill>
                            <a:srgbClr val="2E2E2E"/>
                          </a:solidFill>
                          <a:latin typeface="Calibri"/>
                        </a:rPr>
                        <a:t>320.6</a:t>
                      </a:r>
                    </a:p>
                  </a:txBody>
                  <a:tcPr marL="85725" marR="38100" marT="19050" marB="19050" anchor="ctr">
                    <a:solidFill>
                      <a:srgbClr val="FFFFFF"/>
                    </a:solidFill>
                  </a:tcPr>
                </a:tc>
                <a:tc>
                  <a:txBody>
                    <a:bodyPr wrap="none"/>
                    <a:lstStyle/>
                    <a:p>
                      <a:pPr algn="l"/>
                      <a:r>
                        <a:rPr sz="800" b="0">
                          <a:solidFill>
                            <a:srgbClr val="2E2E2E"/>
                          </a:solidFill>
                          <a:latin typeface="Calibri"/>
                        </a:rPr>
                        <a:t>349.2</a:t>
                      </a:r>
                    </a:p>
                  </a:txBody>
                  <a:tcPr marL="85725" marR="38100" marT="19050" marB="19050" anchor="ctr">
                    <a:solidFill>
                      <a:srgbClr val="FFFFFF"/>
                    </a:solidFill>
                  </a:tcPr>
                </a:tc>
                <a:tc>
                  <a:txBody>
                    <a:bodyPr wrap="none"/>
                    <a:lstStyle/>
                    <a:p>
                      <a:pPr algn="l"/>
                      <a:r>
                        <a:rPr sz="800" b="0">
                          <a:solidFill>
                            <a:srgbClr val="2E2E2E"/>
                          </a:solidFill>
                          <a:latin typeface="Calibri"/>
                        </a:rPr>
                        <a:t>379.3</a:t>
                      </a:r>
                    </a:p>
                  </a:txBody>
                  <a:tcPr marL="85725" marR="38100" marT="19050" marB="19050" anchor="ctr">
                    <a:solidFill>
                      <a:srgbClr val="FFFFFF"/>
                    </a:solidFill>
                  </a:tcPr>
                </a:tc>
                <a:tc>
                  <a:txBody>
                    <a:bodyPr wrap="none"/>
                    <a:lstStyle/>
                    <a:p>
                      <a:pPr algn="l"/>
                      <a:r>
                        <a:rPr sz="800" b="0">
                          <a:solidFill>
                            <a:srgbClr val="2E2E2E"/>
                          </a:solidFill>
                          <a:latin typeface="Calibri"/>
                        </a:rPr>
                        <a:t>411.3</a:t>
                      </a:r>
                    </a:p>
                  </a:txBody>
                  <a:tcPr marL="85725" marR="38100" marT="19050" marB="19050" anchor="ctr">
                    <a:solidFill>
                      <a:srgbClr val="FFFFFF"/>
                    </a:solidFill>
                  </a:tcPr>
                </a:tc>
                <a:tc>
                  <a:txBody>
                    <a:bodyPr wrap="none"/>
                    <a:lstStyle/>
                    <a:p>
                      <a:pPr algn="l"/>
                      <a:r>
                        <a:rPr sz="800" b="0">
                          <a:solidFill>
                            <a:srgbClr val="2E2E2E"/>
                          </a:solidFill>
                          <a:latin typeface="Calibri"/>
                        </a:rPr>
                        <a:t>445.0</a:t>
                      </a:r>
                    </a:p>
                  </a:txBody>
                  <a:tcPr marL="85725" marR="38100" marT="19050" marB="19050" anchor="ctr">
                    <a:solidFill>
                      <a:srgbClr val="FFFFFF"/>
                    </a:solidFill>
                  </a:tcPr>
                </a:tc>
                <a:tc>
                  <a:txBody>
                    <a:bodyPr wrap="none"/>
                    <a:lstStyle/>
                    <a:p>
                      <a:pPr algn="l"/>
                      <a:r>
                        <a:rPr sz="800" b="0">
                          <a:solidFill>
                            <a:srgbClr val="2E2E2E"/>
                          </a:solidFill>
                          <a:latin typeface="Calibri"/>
                        </a:rPr>
                        <a:t>480.5</a:t>
                      </a:r>
                    </a:p>
                  </a:txBody>
                  <a:tcPr marL="85725" marR="38100" marT="19050" marB="19050" anchor="ctr">
                    <a:solidFill>
                      <a:srgbClr val="FFFFFF"/>
                    </a:solidFill>
                  </a:tcPr>
                </a:tc>
                <a:tc>
                  <a:txBody>
                    <a:bodyPr wrap="none"/>
                    <a:lstStyle/>
                    <a:p>
                      <a:pPr algn="l"/>
                      <a:r>
                        <a:rPr sz="800" b="0">
                          <a:solidFill>
                            <a:srgbClr val="2E2E2E"/>
                          </a:solidFill>
                          <a:latin typeface="Calibri"/>
                        </a:rPr>
                        <a:t>517.8</a:t>
                      </a:r>
                    </a:p>
                  </a:txBody>
                  <a:tcPr marL="85725" marR="38100" marT="19050" marB="19050" anchor="ctr">
                    <a:solidFill>
                      <a:srgbClr val="FFFFFF"/>
                    </a:solidFill>
                  </a:tcPr>
                </a:tc>
                <a:tc>
                  <a:txBody>
                    <a:bodyPr wrap="none"/>
                    <a:lstStyle/>
                    <a:p>
                      <a:pPr algn="l"/>
                      <a:r>
                        <a:rPr sz="800" b="0">
                          <a:solidFill>
                            <a:srgbClr val="2E2E2E"/>
                          </a:solidFill>
                          <a:latin typeface="Calibri"/>
                        </a:rPr>
                        <a:t>556.4</a:t>
                      </a:r>
                    </a:p>
                  </a:txBody>
                  <a:tcPr marL="85725" marR="38100" marT="19050" marB="19050" anchor="ctr">
                    <a:solidFill>
                      <a:srgbClr val="FFFFFF"/>
                    </a:solidFill>
                  </a:tcPr>
                </a:tc>
                <a:tc>
                  <a:txBody>
                    <a:bodyPr wrap="none"/>
                    <a:lstStyle/>
                    <a:p>
                      <a:pPr algn="l"/>
                      <a:r>
                        <a:rPr sz="800" b="0">
                          <a:solidFill>
                            <a:srgbClr val="2E2E2E"/>
                          </a:solidFill>
                          <a:latin typeface="Calibri"/>
                        </a:rPr>
                        <a:t>598.4</a:t>
                      </a:r>
                    </a:p>
                  </a:txBody>
                  <a:tcPr marL="85725" marR="38100" marT="19050" marB="19050" anchor="ctr">
                    <a:solidFill>
                      <a:srgbClr val="FFFFFF"/>
                    </a:solidFill>
                  </a:tcPr>
                </a:tc>
                <a:tc>
                  <a:txBody>
                    <a:bodyPr wrap="none"/>
                    <a:lstStyle/>
                    <a:p>
                      <a:pPr algn="l"/>
                      <a:r>
                        <a:rPr sz="800" b="0">
                          <a:solidFill>
                            <a:srgbClr val="2E2E2E"/>
                          </a:solidFill>
                          <a:latin typeface="Calibri"/>
                        </a:rPr>
                        <a:t>641.4</a:t>
                      </a:r>
                    </a:p>
                  </a:txBody>
                  <a:tcPr marL="85725" marR="38100" marT="19050" marB="19050" anchor="ctr">
                    <a:solidFill>
                      <a:srgbClr val="FFFFFF"/>
                    </a:solidFill>
                  </a:tcPr>
                </a:tc>
                <a:tc>
                  <a:txBody>
                    <a:bodyPr wrap="none"/>
                    <a:lstStyle/>
                    <a:p>
                      <a:pPr algn="l"/>
                      <a:r>
                        <a:rPr sz="800" b="0">
                          <a:solidFill>
                            <a:srgbClr val="2E2E2E"/>
                          </a:solidFill>
                          <a:latin typeface="Calibri"/>
                        </a:rPr>
                        <a:t>688.5</a:t>
                      </a:r>
                    </a:p>
                  </a:txBody>
                  <a:tcPr marL="85725" marR="38100" marT="19050" marB="19050" anchor="ctr">
                    <a:solidFill>
                      <a:srgbClr val="FFFFFF"/>
                    </a:solidFill>
                  </a:tcPr>
                </a:tc>
                <a:tc>
                  <a:txBody>
                    <a:bodyPr wrap="none"/>
                    <a:lstStyle/>
                    <a:p>
                      <a:pPr algn="l"/>
                      <a:r>
                        <a:rPr sz="800" b="0">
                          <a:solidFill>
                            <a:srgbClr val="2E2E2E"/>
                          </a:solidFill>
                          <a:latin typeface="Calibri"/>
                        </a:rPr>
                        <a:t>7.9%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0">
                          <a:solidFill>
                            <a:srgbClr val="2E2E2E"/>
                          </a:solidFill>
                          <a:latin typeface="Calibri"/>
                        </a:rPr>
                        <a:t>67.0</a:t>
                      </a:r>
                    </a:p>
                  </a:txBody>
                  <a:tcPr marL="85725" marR="38100" marT="19050" marB="19050" anchor="ctr">
                    <a:solidFill>
                      <a:srgbClr val="F5F8FA"/>
                    </a:solidFill>
                  </a:tcPr>
                </a:tc>
                <a:tc>
                  <a:txBody>
                    <a:bodyPr wrap="none"/>
                    <a:lstStyle/>
                    <a:p>
                      <a:pPr algn="l"/>
                      <a:r>
                        <a:rPr sz="800" b="0">
                          <a:solidFill>
                            <a:srgbClr val="2E2E2E"/>
                          </a:solidFill>
                          <a:latin typeface="Calibri"/>
                        </a:rPr>
                        <a:t>71.7</a:t>
                      </a:r>
                    </a:p>
                  </a:txBody>
                  <a:tcPr marL="85725" marR="38100" marT="19050" marB="19050" anchor="ctr">
                    <a:solidFill>
                      <a:srgbClr val="F5F8FA"/>
                    </a:solidFill>
                  </a:tcPr>
                </a:tc>
                <a:tc>
                  <a:txBody>
                    <a:bodyPr wrap="none"/>
                    <a:lstStyle/>
                    <a:p>
                      <a:pPr algn="l"/>
                      <a:r>
                        <a:rPr sz="800" b="0">
                          <a:solidFill>
                            <a:srgbClr val="2E2E2E"/>
                          </a:solidFill>
                          <a:latin typeface="Calibri"/>
                        </a:rPr>
                        <a:t>76.8</a:t>
                      </a:r>
                    </a:p>
                  </a:txBody>
                  <a:tcPr marL="85725" marR="38100" marT="19050" marB="19050" anchor="ctr">
                    <a:solidFill>
                      <a:srgbClr val="F5F8FA"/>
                    </a:solidFill>
                  </a:tcPr>
                </a:tc>
                <a:tc>
                  <a:txBody>
                    <a:bodyPr wrap="none"/>
                    <a:lstStyle/>
                    <a:p>
                      <a:pPr algn="l"/>
                      <a:r>
                        <a:rPr sz="800" b="0">
                          <a:solidFill>
                            <a:srgbClr val="2E2E2E"/>
                          </a:solidFill>
                          <a:latin typeface="Calibri"/>
                        </a:rPr>
                        <a:t>82.3</a:t>
                      </a:r>
                    </a:p>
                  </a:txBody>
                  <a:tcPr marL="85725" marR="38100" marT="19050" marB="19050" anchor="ctr">
                    <a:solidFill>
                      <a:srgbClr val="F5F8FA"/>
                    </a:solidFill>
                  </a:tcPr>
                </a:tc>
                <a:tc>
                  <a:txBody>
                    <a:bodyPr wrap="none"/>
                    <a:lstStyle/>
                    <a:p>
                      <a:pPr algn="l"/>
                      <a:r>
                        <a:rPr sz="800" b="0">
                          <a:solidFill>
                            <a:srgbClr val="2E2E2E"/>
                          </a:solidFill>
                          <a:latin typeface="Calibri"/>
                        </a:rPr>
                        <a:t>88.2</a:t>
                      </a:r>
                    </a:p>
                  </a:txBody>
                  <a:tcPr marL="85725" marR="38100" marT="19050" marB="19050" anchor="ctr">
                    <a:solidFill>
                      <a:srgbClr val="F5F8FA"/>
                    </a:solidFill>
                  </a:tcPr>
                </a:tc>
                <a:tc>
                  <a:txBody>
                    <a:bodyPr wrap="none"/>
                    <a:lstStyle/>
                    <a:p>
                      <a:pPr algn="l"/>
                      <a:r>
                        <a:rPr sz="800" b="0">
                          <a:solidFill>
                            <a:srgbClr val="2E2E2E"/>
                          </a:solidFill>
                          <a:latin typeface="Calibri"/>
                        </a:rPr>
                        <a:t>94.4</a:t>
                      </a:r>
                    </a:p>
                  </a:txBody>
                  <a:tcPr marL="85725" marR="38100" marT="19050" marB="19050" anchor="ctr">
                    <a:solidFill>
                      <a:srgbClr val="F5F8FA"/>
                    </a:solidFill>
                  </a:tcPr>
                </a:tc>
                <a:tc>
                  <a:txBody>
                    <a:bodyPr wrap="none"/>
                    <a:lstStyle/>
                    <a:p>
                      <a:pPr algn="l"/>
                      <a:r>
                        <a:rPr sz="800" b="0">
                          <a:solidFill>
                            <a:srgbClr val="2E2E2E"/>
                          </a:solidFill>
                          <a:latin typeface="Calibri"/>
                        </a:rPr>
                        <a:t>100.9</a:t>
                      </a:r>
                    </a:p>
                  </a:txBody>
                  <a:tcPr marL="85725" marR="38100" marT="19050" marB="19050" anchor="ctr">
                    <a:solidFill>
                      <a:srgbClr val="F5F8FA"/>
                    </a:solidFill>
                  </a:tcPr>
                </a:tc>
                <a:tc>
                  <a:txBody>
                    <a:bodyPr wrap="none"/>
                    <a:lstStyle/>
                    <a:p>
                      <a:pPr algn="l"/>
                      <a:r>
                        <a:rPr sz="800" b="0">
                          <a:solidFill>
                            <a:srgbClr val="2E2E2E"/>
                          </a:solidFill>
                          <a:latin typeface="Calibri"/>
                        </a:rPr>
                        <a:t>107.7</a:t>
                      </a:r>
                    </a:p>
                  </a:txBody>
                  <a:tcPr marL="85725" marR="38100" marT="19050" marB="19050" anchor="ctr">
                    <a:solidFill>
                      <a:srgbClr val="F5F8FA"/>
                    </a:solidFill>
                  </a:tcPr>
                </a:tc>
                <a:tc>
                  <a:txBody>
                    <a:bodyPr wrap="none"/>
                    <a:lstStyle/>
                    <a:p>
                      <a:pPr algn="l"/>
                      <a:r>
                        <a:rPr sz="800" b="0">
                          <a:solidFill>
                            <a:srgbClr val="2E2E2E"/>
                          </a:solidFill>
                          <a:latin typeface="Calibri"/>
                        </a:rPr>
                        <a:t>114.8</a:t>
                      </a:r>
                    </a:p>
                  </a:txBody>
                  <a:tcPr marL="85725" marR="38100" marT="19050" marB="19050" anchor="ctr">
                    <a:solidFill>
                      <a:srgbClr val="F5F8FA"/>
                    </a:solidFill>
                  </a:tcPr>
                </a:tc>
                <a:tc>
                  <a:txBody>
                    <a:bodyPr wrap="none"/>
                    <a:lstStyle/>
                    <a:p>
                      <a:pPr algn="l"/>
                      <a:r>
                        <a:rPr sz="800" b="0">
                          <a:solidFill>
                            <a:srgbClr val="2E2E2E"/>
                          </a:solidFill>
                          <a:latin typeface="Calibri"/>
                        </a:rPr>
                        <a:t>122.1</a:t>
                      </a:r>
                    </a:p>
                  </a:txBody>
                  <a:tcPr marL="85725" marR="38100" marT="19050" marB="19050" anchor="ctr">
                    <a:solidFill>
                      <a:srgbClr val="F5F8FA"/>
                    </a:solidFill>
                  </a:tcPr>
                </a:tc>
                <a:tc>
                  <a:txBody>
                    <a:bodyPr wrap="none"/>
                    <a:lstStyle/>
                    <a:p>
                      <a:pPr algn="l"/>
                      <a:r>
                        <a:rPr sz="800" b="0">
                          <a:solidFill>
                            <a:srgbClr val="2E2E2E"/>
                          </a:solidFill>
                          <a:latin typeface="Calibri"/>
                        </a:rPr>
                        <a:t>129.8</a:t>
                      </a:r>
                    </a:p>
                  </a:txBody>
                  <a:tcPr marL="85725" marR="38100" marT="19050" marB="19050" anchor="ctr">
                    <a:solidFill>
                      <a:srgbClr val="F5F8FA"/>
                    </a:solidFill>
                  </a:tcPr>
                </a:tc>
                <a:tc>
                  <a:txBody>
                    <a:bodyPr wrap="none"/>
                    <a:lstStyle/>
                    <a:p>
                      <a:pPr algn="l"/>
                      <a:r>
                        <a:rPr sz="800" b="0">
                          <a:solidFill>
                            <a:srgbClr val="2E2E2E"/>
                          </a:solidFill>
                          <a:latin typeface="Calibri"/>
                        </a:rPr>
                        <a:t>137.6</a:t>
                      </a:r>
                    </a:p>
                  </a:txBody>
                  <a:tcPr marL="85725" marR="38100" marT="19050" marB="19050" anchor="ctr">
                    <a:solidFill>
                      <a:srgbClr val="F5F8FA"/>
                    </a:solidFill>
                  </a:tcPr>
                </a:tc>
                <a:tc>
                  <a:txBody>
                    <a:bodyPr wrap="none"/>
                    <a:lstStyle/>
                    <a:p>
                      <a:pPr algn="l"/>
                      <a:r>
                        <a:rPr sz="800" b="0">
                          <a:solidFill>
                            <a:srgbClr val="2E2E2E"/>
                          </a:solidFill>
                          <a:latin typeface="Calibri"/>
                        </a:rPr>
                        <a:t>145.6</a:t>
                      </a:r>
                    </a:p>
                  </a:txBody>
                  <a:tcPr marL="85725" marR="38100" marT="19050" marB="19050" anchor="ctr">
                    <a:solidFill>
                      <a:srgbClr val="F5F8FA"/>
                    </a:solidFill>
                  </a:tcPr>
                </a:tc>
                <a:tc>
                  <a:txBody>
                    <a:bodyPr wrap="none"/>
                    <a:lstStyle/>
                    <a:p>
                      <a:pPr algn="l"/>
                      <a:r>
                        <a:rPr sz="800" b="0">
                          <a:solidFill>
                            <a:srgbClr val="2E2E2E"/>
                          </a:solidFill>
                          <a:latin typeface="Calibri"/>
                        </a:rPr>
                        <a:t>154.3</a:t>
                      </a:r>
                    </a:p>
                  </a:txBody>
                  <a:tcPr marL="85725" marR="38100" marT="19050" marB="19050" anchor="ctr">
                    <a:solidFill>
                      <a:srgbClr val="F5F8FA"/>
                    </a:solidFill>
                  </a:tcPr>
                </a:tc>
                <a:tc>
                  <a:txBody>
                    <a:bodyPr wrap="none"/>
                    <a:lstStyle/>
                    <a:p>
                      <a:pPr algn="l"/>
                      <a:r>
                        <a:rPr sz="800" b="0">
                          <a:solidFill>
                            <a:srgbClr val="2E2E2E"/>
                          </a:solidFill>
                          <a:latin typeface="Calibri"/>
                        </a:rPr>
                        <a:t>163.0</a:t>
                      </a:r>
                    </a:p>
                  </a:txBody>
                  <a:tcPr marL="85725" marR="38100" marT="19050" marB="19050" anchor="ctr">
                    <a:solidFill>
                      <a:srgbClr val="F5F8FA"/>
                    </a:solidFill>
                  </a:tcPr>
                </a:tc>
                <a:tc>
                  <a:txBody>
                    <a:bodyPr wrap="none"/>
                    <a:lstStyle/>
                    <a:p>
                      <a:pPr algn="l"/>
                      <a:r>
                        <a:rPr sz="800" b="0">
                          <a:solidFill>
                            <a:srgbClr val="2E2E2E"/>
                          </a:solidFill>
                          <a:latin typeface="Calibri"/>
                        </a:rPr>
                        <a:t>172.5</a:t>
                      </a:r>
                    </a:p>
                  </a:txBody>
                  <a:tcPr marL="85725" marR="38100" marT="19050" marB="19050" anchor="ctr">
                    <a:solidFill>
                      <a:srgbClr val="F5F8FA"/>
                    </a:solidFill>
                  </a:tcPr>
                </a:tc>
                <a:tc>
                  <a:txBody>
                    <a:bodyPr wrap="none"/>
                    <a:lstStyle/>
                    <a:p>
                      <a:pPr algn="l"/>
                      <a:r>
                        <a:rPr sz="800" b="0">
                          <a:solidFill>
                            <a:srgbClr val="2E2E2E"/>
                          </a:solidFill>
                          <a:latin typeface="Calibri"/>
                        </a:rPr>
                        <a:t>6.2%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0">
                          <a:solidFill>
                            <a:srgbClr val="2E2E2E"/>
                          </a:solidFill>
                          <a:latin typeface="Calibri"/>
                        </a:rPr>
                        <a:t>87.9</a:t>
                      </a:r>
                    </a:p>
                  </a:txBody>
                  <a:tcPr marL="85725" marR="38100" marT="19050" marB="19050" anchor="ctr">
                    <a:solidFill>
                      <a:srgbClr val="FFFFFF"/>
                    </a:solidFill>
                  </a:tcPr>
                </a:tc>
                <a:tc>
                  <a:txBody>
                    <a:bodyPr wrap="none"/>
                    <a:lstStyle/>
                    <a:p>
                      <a:pPr algn="l"/>
                      <a:r>
                        <a:rPr sz="800" b="0">
                          <a:solidFill>
                            <a:srgbClr val="2E2E2E"/>
                          </a:solidFill>
                          <a:latin typeface="Calibri"/>
                        </a:rPr>
                        <a:t>89.0</a:t>
                      </a:r>
                    </a:p>
                  </a:txBody>
                  <a:tcPr marL="85725" marR="38100" marT="19050" marB="19050" anchor="ctr">
                    <a:solidFill>
                      <a:srgbClr val="FFFFFF"/>
                    </a:solidFill>
                  </a:tcPr>
                </a:tc>
                <a:tc>
                  <a:txBody>
                    <a:bodyPr wrap="none"/>
                    <a:lstStyle/>
                    <a:p>
                      <a:pPr algn="l"/>
                      <a:r>
                        <a:rPr sz="800" b="0">
                          <a:solidFill>
                            <a:srgbClr val="2E2E2E"/>
                          </a:solidFill>
                          <a:latin typeface="Calibri"/>
                        </a:rPr>
                        <a:t>90.2</a:t>
                      </a:r>
                    </a:p>
                  </a:txBody>
                  <a:tcPr marL="85725" marR="38100" marT="19050" marB="19050" anchor="ctr">
                    <a:solidFill>
                      <a:srgbClr val="FFFFFF"/>
                    </a:solidFill>
                  </a:tcPr>
                </a:tc>
                <a:tc>
                  <a:txBody>
                    <a:bodyPr wrap="none"/>
                    <a:lstStyle/>
                    <a:p>
                      <a:pPr algn="l"/>
                      <a:r>
                        <a:rPr sz="800" b="0">
                          <a:solidFill>
                            <a:srgbClr val="2E2E2E"/>
                          </a:solidFill>
                          <a:latin typeface="Calibri"/>
                        </a:rPr>
                        <a:t>91.3</a:t>
                      </a:r>
                    </a:p>
                  </a:txBody>
                  <a:tcPr marL="85725" marR="38100" marT="19050" marB="19050" anchor="ctr">
                    <a:solidFill>
                      <a:srgbClr val="FFFFFF"/>
                    </a:solidFill>
                  </a:tcPr>
                </a:tc>
                <a:tc>
                  <a:txBody>
                    <a:bodyPr wrap="none"/>
                    <a:lstStyle/>
                    <a:p>
                      <a:pPr algn="l"/>
                      <a:r>
                        <a:rPr sz="800" b="0">
                          <a:solidFill>
                            <a:srgbClr val="2E2E2E"/>
                          </a:solidFill>
                          <a:latin typeface="Calibri"/>
                        </a:rPr>
                        <a:t>92.4</a:t>
                      </a:r>
                    </a:p>
                  </a:txBody>
                  <a:tcPr marL="85725" marR="38100" marT="19050" marB="19050" anchor="ctr">
                    <a:solidFill>
                      <a:srgbClr val="FFFFFF"/>
                    </a:solidFill>
                  </a:tcPr>
                </a:tc>
                <a:tc>
                  <a:txBody>
                    <a:bodyPr wrap="none"/>
                    <a:lstStyle/>
                    <a:p>
                      <a:pPr algn="l"/>
                      <a:r>
                        <a:rPr sz="800" b="0">
                          <a:solidFill>
                            <a:srgbClr val="2E2E2E"/>
                          </a:solidFill>
                          <a:latin typeface="Calibri"/>
                        </a:rPr>
                        <a:t>94.5</a:t>
                      </a:r>
                    </a:p>
                  </a:txBody>
                  <a:tcPr marL="85725" marR="38100" marT="19050" marB="19050" anchor="ctr">
                    <a:solidFill>
                      <a:srgbClr val="FFFFFF"/>
                    </a:solidFill>
                  </a:tcPr>
                </a:tc>
                <a:tc>
                  <a:txBody>
                    <a:bodyPr wrap="none"/>
                    <a:lstStyle/>
                    <a:p>
                      <a:pPr algn="l"/>
                      <a:r>
                        <a:rPr sz="800" b="0">
                          <a:solidFill>
                            <a:srgbClr val="2E2E2E"/>
                          </a:solidFill>
                          <a:latin typeface="Calibri"/>
                        </a:rPr>
                        <a:t>96.5</a:t>
                      </a:r>
                    </a:p>
                  </a:txBody>
                  <a:tcPr marL="85725" marR="38100" marT="19050" marB="19050" anchor="ctr">
                    <a:solidFill>
                      <a:srgbClr val="FFFFFF"/>
                    </a:solidFill>
                  </a:tcPr>
                </a:tc>
                <a:tc>
                  <a:txBody>
                    <a:bodyPr wrap="none"/>
                    <a:lstStyle/>
                    <a:p>
                      <a:pPr algn="l"/>
                      <a:r>
                        <a:rPr sz="800" b="0">
                          <a:solidFill>
                            <a:srgbClr val="2E2E2E"/>
                          </a:solidFill>
                          <a:latin typeface="Calibri"/>
                        </a:rPr>
                        <a:t>98.3</a:t>
                      </a:r>
                    </a:p>
                  </a:txBody>
                  <a:tcPr marL="85725" marR="38100" marT="19050" marB="19050" anchor="ctr">
                    <a:solidFill>
                      <a:srgbClr val="FFFFFF"/>
                    </a:solidFill>
                  </a:tcPr>
                </a:tc>
                <a:tc>
                  <a:txBody>
                    <a:bodyPr wrap="none"/>
                    <a:lstStyle/>
                    <a:p>
                      <a:pPr algn="l"/>
                      <a:r>
                        <a:rPr sz="800" b="0">
                          <a:solidFill>
                            <a:srgbClr val="2E2E2E"/>
                          </a:solidFill>
                          <a:latin typeface="Calibri"/>
                        </a:rPr>
                        <a:t>100.0</a:t>
                      </a:r>
                    </a:p>
                  </a:txBody>
                  <a:tcPr marL="85725" marR="38100" marT="19050" marB="19050" anchor="ctr">
                    <a:solidFill>
                      <a:srgbClr val="FFFFFF"/>
                    </a:solidFill>
                  </a:tcPr>
                </a:tc>
                <a:tc>
                  <a:txBody>
                    <a:bodyPr wrap="none"/>
                    <a:lstStyle/>
                    <a:p>
                      <a:pPr algn="l"/>
                      <a:r>
                        <a:rPr sz="800" b="0">
                          <a:solidFill>
                            <a:srgbClr val="2E2E2E"/>
                          </a:solidFill>
                          <a:latin typeface="Calibri"/>
                        </a:rPr>
                        <a:t>101.5</a:t>
                      </a:r>
                    </a:p>
                  </a:txBody>
                  <a:tcPr marL="85725" marR="38100" marT="19050" marB="19050" anchor="ctr">
                    <a:solidFill>
                      <a:srgbClr val="FFFFFF"/>
                    </a:solidFill>
                  </a:tcPr>
                </a:tc>
                <a:tc>
                  <a:txBody>
                    <a:bodyPr wrap="none"/>
                    <a:lstStyle/>
                    <a:p>
                      <a:pPr algn="l"/>
                      <a:r>
                        <a:rPr sz="800" b="0">
                          <a:solidFill>
                            <a:srgbClr val="2E2E2E"/>
                          </a:solidFill>
                          <a:latin typeface="Calibri"/>
                        </a:rPr>
                        <a:t>102.8</a:t>
                      </a:r>
                    </a:p>
                  </a:txBody>
                  <a:tcPr marL="85725" marR="38100" marT="19050" marB="19050" anchor="ctr">
                    <a:solidFill>
                      <a:srgbClr val="FFFFFF"/>
                    </a:solidFill>
                  </a:tcPr>
                </a:tc>
                <a:tc>
                  <a:txBody>
                    <a:bodyPr wrap="none"/>
                    <a:lstStyle/>
                    <a:p>
                      <a:pPr algn="l"/>
                      <a:r>
                        <a:rPr sz="800" b="0">
                          <a:solidFill>
                            <a:srgbClr val="2E2E2E"/>
                          </a:solidFill>
                          <a:latin typeface="Calibri"/>
                        </a:rPr>
                        <a:t>103.9</a:t>
                      </a:r>
                    </a:p>
                  </a:txBody>
                  <a:tcPr marL="85725" marR="38100" marT="19050" marB="19050" anchor="ctr">
                    <a:solidFill>
                      <a:srgbClr val="FFFFFF"/>
                    </a:solidFill>
                  </a:tcPr>
                </a:tc>
                <a:tc>
                  <a:txBody>
                    <a:bodyPr wrap="none"/>
                    <a:lstStyle/>
                    <a:p>
                      <a:pPr algn="l"/>
                      <a:r>
                        <a:rPr sz="800" b="0">
                          <a:solidFill>
                            <a:srgbClr val="2E2E2E"/>
                          </a:solidFill>
                          <a:latin typeface="Calibri"/>
                        </a:rPr>
                        <a:t>104.7</a:t>
                      </a:r>
                    </a:p>
                  </a:txBody>
                  <a:tcPr marL="85725" marR="38100" marT="19050" marB="19050" anchor="ctr">
                    <a:solidFill>
                      <a:srgbClr val="FFFFFF"/>
                    </a:solidFill>
                  </a:tcPr>
                </a:tc>
                <a:tc>
                  <a:txBody>
                    <a:bodyPr wrap="none"/>
                    <a:lstStyle/>
                    <a:p>
                      <a:pPr algn="l"/>
                      <a:r>
                        <a:rPr sz="800" b="0">
                          <a:solidFill>
                            <a:srgbClr val="2E2E2E"/>
                          </a:solidFill>
                          <a:latin typeface="Calibri"/>
                        </a:rPr>
                        <a:t>105.6</a:t>
                      </a:r>
                    </a:p>
                  </a:txBody>
                  <a:tcPr marL="85725" marR="38100" marT="19050" marB="19050" anchor="ctr">
                    <a:solidFill>
                      <a:srgbClr val="FFFFFF"/>
                    </a:solidFill>
                  </a:tcPr>
                </a:tc>
                <a:tc>
                  <a:txBody>
                    <a:bodyPr wrap="none"/>
                    <a:lstStyle/>
                    <a:p>
                      <a:pPr algn="l"/>
                      <a:r>
                        <a:rPr sz="800" b="0">
                          <a:solidFill>
                            <a:srgbClr val="2E2E2E"/>
                          </a:solidFill>
                          <a:latin typeface="Calibri"/>
                        </a:rPr>
                        <a:t>106.1</a:t>
                      </a:r>
                    </a:p>
                  </a:txBody>
                  <a:tcPr marL="85725" marR="38100" marT="19050" marB="19050" anchor="ctr">
                    <a:solidFill>
                      <a:srgbClr val="FFFFFF"/>
                    </a:solidFill>
                  </a:tcPr>
                </a:tc>
                <a:tc>
                  <a:txBody>
                    <a:bodyPr wrap="none"/>
                    <a:lstStyle/>
                    <a:p>
                      <a:pPr algn="l"/>
                      <a:r>
                        <a:rPr sz="800" b="0">
                          <a:solidFill>
                            <a:srgbClr val="2E2E2E"/>
                          </a:solidFill>
                          <a:latin typeface="Calibri"/>
                        </a:rPr>
                        <a:t>106.9</a:t>
                      </a:r>
                    </a:p>
                  </a:txBody>
                  <a:tcPr marL="85725" marR="38100" marT="19050" marB="19050" anchor="ctr">
                    <a:solidFill>
                      <a:srgbClr val="FFFFFF"/>
                    </a:solidFill>
                  </a:tcPr>
                </a:tc>
                <a:tc>
                  <a:txBody>
                    <a:bodyPr wrap="none"/>
                    <a:lstStyle/>
                    <a:p>
                      <a:pPr algn="l"/>
                      <a:r>
                        <a:rPr sz="800" b="0">
                          <a:solidFill>
                            <a:srgbClr val="2E2E2E"/>
                          </a:solidFill>
                          <a:latin typeface="Calibri"/>
                        </a:rPr>
                        <a:t>1.2%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0">
                          <a:solidFill>
                            <a:srgbClr val="2E2E2E"/>
                          </a:solidFill>
                          <a:latin typeface="Calibri"/>
                        </a:rPr>
                        <a:t>78.1</a:t>
                      </a:r>
                    </a:p>
                  </a:txBody>
                  <a:tcPr marL="85725" marR="38100" marT="19050" marB="19050" anchor="ctr">
                    <a:solidFill>
                      <a:srgbClr val="F5F8FA"/>
                    </a:solidFill>
                  </a:tcPr>
                </a:tc>
                <a:tc>
                  <a:txBody>
                    <a:bodyPr wrap="none"/>
                    <a:lstStyle/>
                    <a:p>
                      <a:pPr algn="l"/>
                      <a:r>
                        <a:rPr sz="800" b="0">
                          <a:solidFill>
                            <a:srgbClr val="2E2E2E"/>
                          </a:solidFill>
                          <a:latin typeface="Calibri"/>
                        </a:rPr>
                        <a:t>83.5</a:t>
                      </a:r>
                    </a:p>
                  </a:txBody>
                  <a:tcPr marL="85725" marR="38100" marT="19050" marB="19050" anchor="ctr">
                    <a:solidFill>
                      <a:srgbClr val="F5F8FA"/>
                    </a:solidFill>
                  </a:tcPr>
                </a:tc>
                <a:tc>
                  <a:txBody>
                    <a:bodyPr wrap="none"/>
                    <a:lstStyle/>
                    <a:p>
                      <a:pPr algn="l"/>
                      <a:r>
                        <a:rPr sz="800" b="0">
                          <a:solidFill>
                            <a:srgbClr val="2E2E2E"/>
                          </a:solidFill>
                          <a:latin typeface="Calibri"/>
                        </a:rPr>
                        <a:t>89.4</a:t>
                      </a:r>
                    </a:p>
                  </a:txBody>
                  <a:tcPr marL="85725" marR="38100" marT="19050" marB="19050" anchor="ctr">
                    <a:solidFill>
                      <a:srgbClr val="F5F8FA"/>
                    </a:solidFill>
                  </a:tcPr>
                </a:tc>
                <a:tc>
                  <a:txBody>
                    <a:bodyPr wrap="none"/>
                    <a:lstStyle/>
                    <a:p>
                      <a:pPr algn="l"/>
                      <a:r>
                        <a:rPr sz="800" b="0">
                          <a:solidFill>
                            <a:srgbClr val="2E2E2E"/>
                          </a:solidFill>
                          <a:latin typeface="Calibri"/>
                        </a:rPr>
                        <a:t>95.9</a:t>
                      </a:r>
                    </a:p>
                  </a:txBody>
                  <a:tcPr marL="85725" marR="38100" marT="19050" marB="19050" anchor="ctr">
                    <a:solidFill>
                      <a:srgbClr val="F5F8FA"/>
                    </a:solidFill>
                  </a:tcPr>
                </a:tc>
                <a:tc>
                  <a:txBody>
                    <a:bodyPr wrap="none"/>
                    <a:lstStyle/>
                    <a:p>
                      <a:pPr algn="l"/>
                      <a:r>
                        <a:rPr sz="800" b="0">
                          <a:solidFill>
                            <a:srgbClr val="2E2E2E"/>
                          </a:solidFill>
                          <a:latin typeface="Calibri"/>
                        </a:rPr>
                        <a:t>102.8</a:t>
                      </a:r>
                    </a:p>
                  </a:txBody>
                  <a:tcPr marL="85725" marR="38100" marT="19050" marB="19050" anchor="ctr">
                    <a:solidFill>
                      <a:srgbClr val="F5F8FA"/>
                    </a:solidFill>
                  </a:tcPr>
                </a:tc>
                <a:tc>
                  <a:txBody>
                    <a:bodyPr wrap="none"/>
                    <a:lstStyle/>
                    <a:p>
                      <a:pPr algn="l"/>
                      <a:r>
                        <a:rPr sz="800" b="0">
                          <a:solidFill>
                            <a:srgbClr val="2E2E2E"/>
                          </a:solidFill>
                          <a:latin typeface="Calibri"/>
                        </a:rPr>
                        <a:t>110.1</a:t>
                      </a:r>
                    </a:p>
                  </a:txBody>
                  <a:tcPr marL="85725" marR="38100" marT="19050" marB="19050" anchor="ctr">
                    <a:solidFill>
                      <a:srgbClr val="F5F8FA"/>
                    </a:solidFill>
                  </a:tcPr>
                </a:tc>
                <a:tc>
                  <a:txBody>
                    <a:bodyPr wrap="none"/>
                    <a:lstStyle/>
                    <a:p>
                      <a:pPr algn="l"/>
                      <a:r>
                        <a:rPr sz="800" b="0">
                          <a:solidFill>
                            <a:srgbClr val="2E2E2E"/>
                          </a:solidFill>
                          <a:latin typeface="Calibri"/>
                        </a:rPr>
                        <a:t>117.8</a:t>
                      </a:r>
                    </a:p>
                  </a:txBody>
                  <a:tcPr marL="85725" marR="38100" marT="19050" marB="19050" anchor="ctr">
                    <a:solidFill>
                      <a:srgbClr val="F5F8FA"/>
                    </a:solidFill>
                  </a:tcPr>
                </a:tc>
                <a:tc>
                  <a:txBody>
                    <a:bodyPr wrap="none"/>
                    <a:lstStyle/>
                    <a:p>
                      <a:pPr algn="l"/>
                      <a:r>
                        <a:rPr sz="800" b="0">
                          <a:solidFill>
                            <a:srgbClr val="2E2E2E"/>
                          </a:solidFill>
                          <a:latin typeface="Calibri"/>
                        </a:rPr>
                        <a:t>125.9</a:t>
                      </a:r>
                    </a:p>
                  </a:txBody>
                  <a:tcPr marL="85725" marR="38100" marT="19050" marB="19050" anchor="ctr">
                    <a:solidFill>
                      <a:srgbClr val="F5F8FA"/>
                    </a:solidFill>
                  </a:tcPr>
                </a:tc>
                <a:tc>
                  <a:txBody>
                    <a:bodyPr wrap="none"/>
                    <a:lstStyle/>
                    <a:p>
                      <a:pPr algn="l"/>
                      <a:r>
                        <a:rPr sz="800" b="0">
                          <a:solidFill>
                            <a:srgbClr val="2E2E2E"/>
                          </a:solidFill>
                          <a:latin typeface="Calibri"/>
                        </a:rPr>
                        <a:t>134.4</a:t>
                      </a:r>
                    </a:p>
                  </a:txBody>
                  <a:tcPr marL="85725" marR="38100" marT="19050" marB="19050" anchor="ctr">
                    <a:solidFill>
                      <a:srgbClr val="F5F8FA"/>
                    </a:solidFill>
                  </a:tcPr>
                </a:tc>
                <a:tc>
                  <a:txBody>
                    <a:bodyPr wrap="none"/>
                    <a:lstStyle/>
                    <a:p>
                      <a:pPr algn="l"/>
                      <a:r>
                        <a:rPr sz="800" b="0">
                          <a:solidFill>
                            <a:srgbClr val="2E2E2E"/>
                          </a:solidFill>
                          <a:latin typeface="Calibri"/>
                        </a:rPr>
                        <a:t>143.4</a:t>
                      </a:r>
                    </a:p>
                  </a:txBody>
                  <a:tcPr marL="85725" marR="38100" marT="19050" marB="19050" anchor="ctr">
                    <a:solidFill>
                      <a:srgbClr val="F5F8FA"/>
                    </a:solidFill>
                  </a:tcPr>
                </a:tc>
                <a:tc>
                  <a:txBody>
                    <a:bodyPr wrap="none"/>
                    <a:lstStyle/>
                    <a:p>
                      <a:pPr algn="l"/>
                      <a:r>
                        <a:rPr sz="800" b="0">
                          <a:solidFill>
                            <a:srgbClr val="2E2E2E"/>
                          </a:solidFill>
                          <a:latin typeface="Calibri"/>
                        </a:rPr>
                        <a:t>152.7</a:t>
                      </a:r>
                    </a:p>
                  </a:txBody>
                  <a:tcPr marL="85725" marR="38100" marT="19050" marB="19050" anchor="ctr">
                    <a:solidFill>
                      <a:srgbClr val="F5F8FA"/>
                    </a:solidFill>
                  </a:tcPr>
                </a:tc>
                <a:tc>
                  <a:txBody>
                    <a:bodyPr wrap="none"/>
                    <a:lstStyle/>
                    <a:p>
                      <a:pPr algn="l"/>
                      <a:r>
                        <a:rPr sz="800" b="0">
                          <a:solidFill>
                            <a:srgbClr val="2E2E2E"/>
                          </a:solidFill>
                          <a:latin typeface="Calibri"/>
                        </a:rPr>
                        <a:t>162.5</a:t>
                      </a:r>
                    </a:p>
                  </a:txBody>
                  <a:tcPr marL="85725" marR="38100" marT="19050" marB="19050" anchor="ctr">
                    <a:solidFill>
                      <a:srgbClr val="F5F8FA"/>
                    </a:solidFill>
                  </a:tcPr>
                </a:tc>
                <a:tc>
                  <a:txBody>
                    <a:bodyPr wrap="none"/>
                    <a:lstStyle/>
                    <a:p>
                      <a:pPr algn="l"/>
                      <a:r>
                        <a:rPr sz="800" b="0">
                          <a:solidFill>
                            <a:srgbClr val="2E2E2E"/>
                          </a:solidFill>
                          <a:latin typeface="Calibri"/>
                        </a:rPr>
                        <a:t>172.6</a:t>
                      </a:r>
                    </a:p>
                  </a:txBody>
                  <a:tcPr marL="85725" marR="38100" marT="19050" marB="19050" anchor="ctr">
                    <a:solidFill>
                      <a:srgbClr val="F5F8FA"/>
                    </a:solidFill>
                  </a:tcPr>
                </a:tc>
                <a:tc>
                  <a:txBody>
                    <a:bodyPr wrap="none"/>
                    <a:lstStyle/>
                    <a:p>
                      <a:pPr algn="l"/>
                      <a:r>
                        <a:rPr sz="800" b="0">
                          <a:solidFill>
                            <a:srgbClr val="2E2E2E"/>
                          </a:solidFill>
                          <a:latin typeface="Calibri"/>
                        </a:rPr>
                        <a:t>183.6</a:t>
                      </a:r>
                    </a:p>
                  </a:txBody>
                  <a:tcPr marL="85725" marR="38100" marT="19050" marB="19050" anchor="ctr">
                    <a:solidFill>
                      <a:srgbClr val="F5F8FA"/>
                    </a:solidFill>
                  </a:tcPr>
                </a:tc>
                <a:tc>
                  <a:txBody>
                    <a:bodyPr wrap="none"/>
                    <a:lstStyle/>
                    <a:p>
                      <a:pPr algn="l"/>
                      <a:r>
                        <a:rPr sz="800" b="0">
                          <a:solidFill>
                            <a:srgbClr val="2E2E2E"/>
                          </a:solidFill>
                          <a:latin typeface="Calibri"/>
                        </a:rPr>
                        <a:t>194.8</a:t>
                      </a:r>
                    </a:p>
                  </a:txBody>
                  <a:tcPr marL="85725" marR="38100" marT="19050" marB="19050" anchor="ctr">
                    <a:solidFill>
                      <a:srgbClr val="F5F8FA"/>
                    </a:solidFill>
                  </a:tcPr>
                </a:tc>
                <a:tc>
                  <a:txBody>
                    <a:bodyPr wrap="none"/>
                    <a:lstStyle/>
                    <a:p>
                      <a:pPr algn="l"/>
                      <a:r>
                        <a:rPr sz="800" b="0">
                          <a:solidFill>
                            <a:srgbClr val="2E2E2E"/>
                          </a:solidFill>
                          <a:latin typeface="Calibri"/>
                        </a:rPr>
                        <a:t>207.3</a:t>
                      </a:r>
                    </a:p>
                  </a:txBody>
                  <a:tcPr marL="85725" marR="38100" marT="19050" marB="19050" anchor="ctr">
                    <a:solidFill>
                      <a:srgbClr val="F5F8FA"/>
                    </a:solidFill>
                  </a:tcPr>
                </a:tc>
                <a:tc>
                  <a:txBody>
                    <a:bodyPr wrap="none"/>
                    <a:lstStyle/>
                    <a:p>
                      <a:pPr algn="l"/>
                      <a:r>
                        <a:rPr sz="800" b="0">
                          <a:solidFill>
                            <a:srgbClr val="2E2E2E"/>
                          </a:solidFill>
                          <a:latin typeface="Calibri"/>
                        </a:rPr>
                        <a:t>6.5%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0">
                          <a:solidFill>
                            <a:srgbClr val="2E2E2E"/>
                          </a:solidFill>
                          <a:latin typeface="Calibri"/>
                        </a:rPr>
                        <a:t>24.5</a:t>
                      </a:r>
                    </a:p>
                  </a:txBody>
                  <a:tcPr marL="85725" marR="38100" marT="19050" marB="19050" anchor="ctr">
                    <a:solidFill>
                      <a:srgbClr val="FFFFFF"/>
                    </a:solidFill>
                  </a:tcPr>
                </a:tc>
                <a:tc>
                  <a:txBody>
                    <a:bodyPr wrap="none"/>
                    <a:lstStyle/>
                    <a:p>
                      <a:pPr algn="l"/>
                      <a:r>
                        <a:rPr sz="800" b="0">
                          <a:solidFill>
                            <a:srgbClr val="2E2E2E"/>
                          </a:solidFill>
                          <a:latin typeface="Calibri"/>
                        </a:rPr>
                        <a:t>28.2</a:t>
                      </a:r>
                    </a:p>
                  </a:txBody>
                  <a:tcPr marL="85725" marR="38100" marT="19050" marB="19050" anchor="ctr">
                    <a:solidFill>
                      <a:srgbClr val="FFFFFF"/>
                    </a:solidFill>
                  </a:tcPr>
                </a:tc>
                <a:tc>
                  <a:txBody>
                    <a:bodyPr wrap="none"/>
                    <a:lstStyle/>
                    <a:p>
                      <a:pPr algn="l"/>
                      <a:r>
                        <a:rPr sz="800" b="0">
                          <a:solidFill>
                            <a:srgbClr val="2E2E2E"/>
                          </a:solidFill>
                          <a:latin typeface="Calibri"/>
                        </a:rPr>
                        <a:t>32.4</a:t>
                      </a:r>
                    </a:p>
                  </a:txBody>
                  <a:tcPr marL="85725" marR="38100" marT="19050" marB="19050" anchor="ctr">
                    <a:solidFill>
                      <a:srgbClr val="FFFFFF"/>
                    </a:solidFill>
                  </a:tcPr>
                </a:tc>
                <a:tc>
                  <a:txBody>
                    <a:bodyPr wrap="none"/>
                    <a:lstStyle/>
                    <a:p>
                      <a:pPr algn="l"/>
                      <a:r>
                        <a:rPr sz="800" b="0">
                          <a:solidFill>
                            <a:srgbClr val="2E2E2E"/>
                          </a:solidFill>
                          <a:latin typeface="Calibri"/>
                        </a:rPr>
                        <a:t>37.3</a:t>
                      </a:r>
                    </a:p>
                  </a:txBody>
                  <a:tcPr marL="85725" marR="38100" marT="19050" marB="19050" anchor="ctr">
                    <a:solidFill>
                      <a:srgbClr val="FFFFFF"/>
                    </a:solidFill>
                  </a:tcPr>
                </a:tc>
                <a:tc>
                  <a:txBody>
                    <a:bodyPr wrap="none"/>
                    <a:lstStyle/>
                    <a:p>
                      <a:pPr algn="l"/>
                      <a:r>
                        <a:rPr sz="800" b="0">
                          <a:solidFill>
                            <a:srgbClr val="2E2E2E"/>
                          </a:solidFill>
                          <a:latin typeface="Calibri"/>
                        </a:rPr>
                        <a:t>42.9</a:t>
                      </a:r>
                    </a:p>
                  </a:txBody>
                  <a:tcPr marL="85725" marR="38100" marT="19050" marB="19050" anchor="ctr">
                    <a:solidFill>
                      <a:srgbClr val="FFFFFF"/>
                    </a:solidFill>
                  </a:tcPr>
                </a:tc>
                <a:tc>
                  <a:txBody>
                    <a:bodyPr wrap="none"/>
                    <a:lstStyle/>
                    <a:p>
                      <a:pPr algn="l"/>
                      <a:r>
                        <a:rPr sz="800" b="0">
                          <a:solidFill>
                            <a:srgbClr val="2E2E2E"/>
                          </a:solidFill>
                          <a:latin typeface="Calibri"/>
                        </a:rPr>
                        <a:t>49.4</a:t>
                      </a:r>
                    </a:p>
                  </a:txBody>
                  <a:tcPr marL="85725" marR="38100" marT="19050" marB="19050" anchor="ctr">
                    <a:solidFill>
                      <a:srgbClr val="FFFFFF"/>
                    </a:solidFill>
                  </a:tcPr>
                </a:tc>
                <a:tc>
                  <a:txBody>
                    <a:bodyPr wrap="none"/>
                    <a:lstStyle/>
                    <a:p>
                      <a:pPr algn="l"/>
                      <a:r>
                        <a:rPr sz="800" b="0">
                          <a:solidFill>
                            <a:srgbClr val="2E2E2E"/>
                          </a:solidFill>
                          <a:latin typeface="Calibri"/>
                        </a:rPr>
                        <a:t>56.8</a:t>
                      </a:r>
                    </a:p>
                  </a:txBody>
                  <a:tcPr marL="85725" marR="38100" marT="19050" marB="19050" anchor="ctr">
                    <a:solidFill>
                      <a:srgbClr val="FFFFFF"/>
                    </a:solidFill>
                  </a:tcPr>
                </a:tc>
                <a:tc>
                  <a:txBody>
                    <a:bodyPr wrap="none"/>
                    <a:lstStyle/>
                    <a:p>
                      <a:pPr algn="l"/>
                      <a:r>
                        <a:rPr sz="800" b="0">
                          <a:solidFill>
                            <a:srgbClr val="2E2E2E"/>
                          </a:solidFill>
                          <a:latin typeface="Calibri"/>
                        </a:rPr>
                        <a:t>65.1</a:t>
                      </a:r>
                    </a:p>
                  </a:txBody>
                  <a:tcPr marL="85725" marR="38100" marT="19050" marB="19050" anchor="ctr">
                    <a:solidFill>
                      <a:srgbClr val="FFFFFF"/>
                    </a:solidFill>
                  </a:tcPr>
                </a:tc>
                <a:tc>
                  <a:txBody>
                    <a:bodyPr wrap="none"/>
                    <a:lstStyle/>
                    <a:p>
                      <a:pPr algn="l"/>
                      <a:r>
                        <a:rPr sz="800" b="0">
                          <a:solidFill>
                            <a:srgbClr val="2E2E2E"/>
                          </a:solidFill>
                          <a:latin typeface="Calibri"/>
                        </a:rPr>
                        <a:t>74.6</a:t>
                      </a:r>
                    </a:p>
                  </a:txBody>
                  <a:tcPr marL="85725" marR="38100" marT="19050" marB="19050" anchor="ctr">
                    <a:solidFill>
                      <a:srgbClr val="FFFFFF"/>
                    </a:solidFill>
                  </a:tcPr>
                </a:tc>
                <a:tc>
                  <a:txBody>
                    <a:bodyPr wrap="none"/>
                    <a:lstStyle/>
                    <a:p>
                      <a:pPr algn="l"/>
                      <a:r>
                        <a:rPr sz="800" b="0">
                          <a:solidFill>
                            <a:srgbClr val="2E2E2E"/>
                          </a:solidFill>
                          <a:latin typeface="Calibri"/>
                        </a:rPr>
                        <a:t>85.4</a:t>
                      </a:r>
                    </a:p>
                  </a:txBody>
                  <a:tcPr marL="85725" marR="38100" marT="19050" marB="19050" anchor="ctr">
                    <a:solidFill>
                      <a:srgbClr val="FFFFFF"/>
                    </a:solidFill>
                  </a:tcPr>
                </a:tc>
                <a:tc>
                  <a:txBody>
                    <a:bodyPr wrap="none"/>
                    <a:lstStyle/>
                    <a:p>
                      <a:pPr algn="l"/>
                      <a:r>
                        <a:rPr sz="800" b="0">
                          <a:solidFill>
                            <a:srgbClr val="2E2E2E"/>
                          </a:solidFill>
                          <a:latin typeface="Calibri"/>
                        </a:rPr>
                        <a:t>97.5</a:t>
                      </a:r>
                    </a:p>
                  </a:txBody>
                  <a:tcPr marL="85725" marR="38100" marT="19050" marB="19050" anchor="ctr">
                    <a:solidFill>
                      <a:srgbClr val="FFFFFF"/>
                    </a:solidFill>
                  </a:tcPr>
                </a:tc>
                <a:tc>
                  <a:txBody>
                    <a:bodyPr wrap="none"/>
                    <a:lstStyle/>
                    <a:p>
                      <a:pPr algn="l"/>
                      <a:r>
                        <a:rPr sz="800" b="0">
                          <a:solidFill>
                            <a:srgbClr val="2E2E2E"/>
                          </a:solidFill>
                          <a:latin typeface="Calibri"/>
                        </a:rPr>
                        <a:t>111.2</a:t>
                      </a:r>
                    </a:p>
                  </a:txBody>
                  <a:tcPr marL="85725" marR="38100" marT="19050" marB="19050" anchor="ctr">
                    <a:solidFill>
                      <a:srgbClr val="FFFFFF"/>
                    </a:solidFill>
                  </a:tcPr>
                </a:tc>
                <a:tc>
                  <a:txBody>
                    <a:bodyPr wrap="none"/>
                    <a:lstStyle/>
                    <a:p>
                      <a:pPr algn="l"/>
                      <a:r>
                        <a:rPr sz="800" b="0">
                          <a:solidFill>
                            <a:srgbClr val="2E2E2E"/>
                          </a:solidFill>
                          <a:latin typeface="Calibri"/>
                        </a:rPr>
                        <a:t>126.5</a:t>
                      </a:r>
                    </a:p>
                  </a:txBody>
                  <a:tcPr marL="85725" marR="38100" marT="19050" marB="19050" anchor="ctr">
                    <a:solidFill>
                      <a:srgbClr val="FFFFFF"/>
                    </a:solidFill>
                  </a:tcPr>
                </a:tc>
                <a:tc>
                  <a:txBody>
                    <a:bodyPr wrap="none"/>
                    <a:lstStyle/>
                    <a:p>
                      <a:pPr algn="l"/>
                      <a:r>
                        <a:rPr sz="800" b="0">
                          <a:solidFill>
                            <a:srgbClr val="2E2E2E"/>
                          </a:solidFill>
                          <a:latin typeface="Calibri"/>
                        </a:rPr>
                        <a:t>144.2</a:t>
                      </a:r>
                    </a:p>
                  </a:txBody>
                  <a:tcPr marL="85725" marR="38100" marT="19050" marB="19050" anchor="ctr">
                    <a:solidFill>
                      <a:srgbClr val="FFFFFF"/>
                    </a:solidFill>
                  </a:tcPr>
                </a:tc>
                <a:tc>
                  <a:txBody>
                    <a:bodyPr wrap="none"/>
                    <a:lstStyle/>
                    <a:p>
                      <a:pPr algn="l"/>
                      <a:r>
                        <a:rPr sz="800" b="0">
                          <a:solidFill>
                            <a:srgbClr val="2E2E2E"/>
                          </a:solidFill>
                          <a:latin typeface="Calibri"/>
                        </a:rPr>
                        <a:t>163.8</a:t>
                      </a:r>
                    </a:p>
                  </a:txBody>
                  <a:tcPr marL="85725" marR="38100" marT="19050" marB="19050" anchor="ctr">
                    <a:solidFill>
                      <a:srgbClr val="FFFFFF"/>
                    </a:solidFill>
                  </a:tcPr>
                </a:tc>
                <a:tc>
                  <a:txBody>
                    <a:bodyPr wrap="none"/>
                    <a:lstStyle/>
                    <a:p>
                      <a:pPr algn="l"/>
                      <a:r>
                        <a:rPr sz="800" b="0">
                          <a:solidFill>
                            <a:srgbClr val="2E2E2E"/>
                          </a:solidFill>
                          <a:latin typeface="Calibri"/>
                        </a:rPr>
                        <a:t>186.5</a:t>
                      </a:r>
                    </a:p>
                  </a:txBody>
                  <a:tcPr marL="85725" marR="38100" marT="19050" marB="19050" anchor="ctr">
                    <a:solidFill>
                      <a:srgbClr val="FFFFFF"/>
                    </a:solidFill>
                  </a:tcPr>
                </a:tc>
                <a:tc>
                  <a:txBody>
                    <a:bodyPr wrap="none"/>
                    <a:lstStyle/>
                    <a:p>
                      <a:pPr algn="l"/>
                      <a:r>
                        <a:rPr sz="800" b="0">
                          <a:solidFill>
                            <a:srgbClr val="2E2E2E"/>
                          </a:solidFill>
                          <a:latin typeface="Calibri"/>
                        </a:rPr>
                        <a:t>14.2%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0">
                          <a:solidFill>
                            <a:srgbClr val="2E2E2E"/>
                          </a:solidFill>
                          <a:latin typeface="Calibri"/>
                        </a:rPr>
                        <a:t>15.3</a:t>
                      </a:r>
                    </a:p>
                  </a:txBody>
                  <a:tcPr marL="85725" marR="38100" marT="19050" marB="19050" anchor="ctr">
                    <a:solidFill>
                      <a:srgbClr val="F5F8FA"/>
                    </a:solidFill>
                  </a:tcPr>
                </a:tc>
                <a:tc>
                  <a:txBody>
                    <a:bodyPr wrap="none"/>
                    <a:lstStyle/>
                    <a:p>
                      <a:pPr algn="l"/>
                      <a:r>
                        <a:rPr sz="800" b="0">
                          <a:solidFill>
                            <a:srgbClr val="2E2E2E"/>
                          </a:solidFill>
                          <a:latin typeface="Calibri"/>
                        </a:rPr>
                        <a:t>16.7</a:t>
                      </a:r>
                    </a:p>
                  </a:txBody>
                  <a:tcPr marL="85725" marR="38100" marT="19050" marB="19050" anchor="ctr">
                    <a:solidFill>
                      <a:srgbClr val="F5F8FA"/>
                    </a:solidFill>
                  </a:tcPr>
                </a:tc>
                <a:tc>
                  <a:txBody>
                    <a:bodyPr wrap="none"/>
                    <a:lstStyle/>
                    <a:p>
                      <a:pPr algn="l"/>
                      <a:r>
                        <a:rPr sz="800" b="0">
                          <a:solidFill>
                            <a:srgbClr val="2E2E2E"/>
                          </a:solidFill>
                          <a:latin typeface="Calibri"/>
                        </a:rPr>
                        <a:t>18.3</a:t>
                      </a:r>
                    </a:p>
                  </a:txBody>
                  <a:tcPr marL="85725" marR="38100" marT="19050" marB="19050" anchor="ctr">
                    <a:solidFill>
                      <a:srgbClr val="F5F8FA"/>
                    </a:solidFill>
                  </a:tcPr>
                </a:tc>
                <a:tc>
                  <a:txBody>
                    <a:bodyPr wrap="none"/>
                    <a:lstStyle/>
                    <a:p>
                      <a:pPr algn="l"/>
                      <a:r>
                        <a:rPr sz="800" b="0">
                          <a:solidFill>
                            <a:srgbClr val="2E2E2E"/>
                          </a:solidFill>
                          <a:latin typeface="Calibri"/>
                        </a:rPr>
                        <a:t>19.9</a:t>
                      </a:r>
                    </a:p>
                  </a:txBody>
                  <a:tcPr marL="85725" marR="38100" marT="19050" marB="19050" anchor="ctr">
                    <a:solidFill>
                      <a:srgbClr val="F5F8FA"/>
                    </a:solidFill>
                  </a:tcPr>
                </a:tc>
                <a:tc>
                  <a:txBody>
                    <a:bodyPr wrap="none"/>
                    <a:lstStyle/>
                    <a:p>
                      <a:pPr algn="l"/>
                      <a:r>
                        <a:rPr sz="800" b="0">
                          <a:solidFill>
                            <a:srgbClr val="2E2E2E"/>
                          </a:solidFill>
                          <a:latin typeface="Calibri"/>
                        </a:rPr>
                        <a:t>21.7</a:t>
                      </a:r>
                    </a:p>
                  </a:txBody>
                  <a:tcPr marL="85725" marR="38100" marT="19050" marB="19050" anchor="ctr">
                    <a:solidFill>
                      <a:srgbClr val="F5F8FA"/>
                    </a:solidFill>
                  </a:tcPr>
                </a:tc>
                <a:tc>
                  <a:txBody>
                    <a:bodyPr wrap="none"/>
                    <a:lstStyle/>
                    <a:p>
                      <a:pPr algn="l"/>
                      <a:r>
                        <a:rPr sz="800" b="0">
                          <a:solidFill>
                            <a:srgbClr val="2E2E2E"/>
                          </a:solidFill>
                          <a:latin typeface="Calibri"/>
                        </a:rPr>
                        <a:t>23.7</a:t>
                      </a:r>
                    </a:p>
                  </a:txBody>
                  <a:tcPr marL="85725" marR="38100" marT="19050" marB="19050" anchor="ctr">
                    <a:solidFill>
                      <a:srgbClr val="F5F8FA"/>
                    </a:solidFill>
                  </a:tcPr>
                </a:tc>
                <a:tc>
                  <a:txBody>
                    <a:bodyPr wrap="none"/>
                    <a:lstStyle/>
                    <a:p>
                      <a:pPr algn="l"/>
                      <a:r>
                        <a:rPr sz="800" b="0">
                          <a:solidFill>
                            <a:srgbClr val="2E2E2E"/>
                          </a:solidFill>
                          <a:latin typeface="Calibri"/>
                        </a:rPr>
                        <a:t>25.8</a:t>
                      </a:r>
                    </a:p>
                  </a:txBody>
                  <a:tcPr marL="85725" marR="38100" marT="19050" marB="19050" anchor="ctr">
                    <a:solidFill>
                      <a:srgbClr val="F5F8FA"/>
                    </a:solidFill>
                  </a:tcPr>
                </a:tc>
                <a:tc>
                  <a:txBody>
                    <a:bodyPr wrap="none"/>
                    <a:lstStyle/>
                    <a:p>
                      <a:pPr algn="l"/>
                      <a:r>
                        <a:rPr sz="800" b="0">
                          <a:solidFill>
                            <a:srgbClr val="2E2E2E"/>
                          </a:solidFill>
                          <a:latin typeface="Calibri"/>
                        </a:rPr>
                        <a:t>27.9</a:t>
                      </a:r>
                    </a:p>
                  </a:txBody>
                  <a:tcPr marL="85725" marR="38100" marT="19050" marB="19050" anchor="ctr">
                    <a:solidFill>
                      <a:srgbClr val="F5F8FA"/>
                    </a:solidFill>
                  </a:tcPr>
                </a:tc>
                <a:tc>
                  <a:txBody>
                    <a:bodyPr wrap="none"/>
                    <a:lstStyle/>
                    <a:p>
                      <a:pPr algn="l"/>
                      <a:r>
                        <a:rPr sz="800" b="0">
                          <a:solidFill>
                            <a:srgbClr val="2E2E2E"/>
                          </a:solidFill>
                          <a:latin typeface="Calibri"/>
                        </a:rPr>
                        <a:t>30.3</a:t>
                      </a:r>
                    </a:p>
                  </a:txBody>
                  <a:tcPr marL="85725" marR="38100" marT="19050" marB="19050" anchor="ctr">
                    <a:solidFill>
                      <a:srgbClr val="F5F8FA"/>
                    </a:solidFill>
                  </a:tcPr>
                </a:tc>
                <a:tc>
                  <a:txBody>
                    <a:bodyPr wrap="none"/>
                    <a:lstStyle/>
                    <a:p>
                      <a:pPr algn="l"/>
                      <a:r>
                        <a:rPr sz="800" b="0">
                          <a:solidFill>
                            <a:srgbClr val="2E2E2E"/>
                          </a:solidFill>
                          <a:latin typeface="Calibri"/>
                        </a:rPr>
                        <a:t>32.7</a:t>
                      </a:r>
                    </a:p>
                  </a:txBody>
                  <a:tcPr marL="85725" marR="38100" marT="19050" marB="19050" anchor="ctr">
                    <a:solidFill>
                      <a:srgbClr val="F5F8FA"/>
                    </a:solidFill>
                  </a:tcPr>
                </a:tc>
                <a:tc>
                  <a:txBody>
                    <a:bodyPr wrap="none"/>
                    <a:lstStyle/>
                    <a:p>
                      <a:pPr algn="l"/>
                      <a:r>
                        <a:rPr sz="800" b="0">
                          <a:solidFill>
                            <a:srgbClr val="2E2E2E"/>
                          </a:solidFill>
                          <a:latin typeface="Calibri"/>
                        </a:rPr>
                        <a:t>35.3</a:t>
                      </a:r>
                    </a:p>
                  </a:txBody>
                  <a:tcPr marL="85725" marR="38100" marT="19050" marB="19050" anchor="ctr">
                    <a:solidFill>
                      <a:srgbClr val="F5F8FA"/>
                    </a:solidFill>
                  </a:tcPr>
                </a:tc>
                <a:tc>
                  <a:txBody>
                    <a:bodyPr wrap="none"/>
                    <a:lstStyle/>
                    <a:p>
                      <a:pPr algn="l"/>
                      <a:r>
                        <a:rPr sz="800" b="0">
                          <a:solidFill>
                            <a:srgbClr val="2E2E2E"/>
                          </a:solidFill>
                          <a:latin typeface="Calibri"/>
                        </a:rPr>
                        <a:t>38.1</a:t>
                      </a:r>
                    </a:p>
                  </a:txBody>
                  <a:tcPr marL="85725" marR="38100" marT="19050" marB="19050" anchor="ctr">
                    <a:solidFill>
                      <a:srgbClr val="F5F8FA"/>
                    </a:solidFill>
                  </a:tcPr>
                </a:tc>
                <a:tc>
                  <a:txBody>
                    <a:bodyPr wrap="none"/>
                    <a:lstStyle/>
                    <a:p>
                      <a:pPr algn="l"/>
                      <a:r>
                        <a:rPr sz="800" b="0">
                          <a:solidFill>
                            <a:srgbClr val="2E2E2E"/>
                          </a:solidFill>
                          <a:latin typeface="Calibri"/>
                        </a:rPr>
                        <a:t>40.9</a:t>
                      </a:r>
                    </a:p>
                  </a:txBody>
                  <a:tcPr marL="85725" marR="38100" marT="19050" marB="19050" anchor="ctr">
                    <a:solidFill>
                      <a:srgbClr val="F5F8FA"/>
                    </a:solidFill>
                  </a:tcPr>
                </a:tc>
                <a:tc>
                  <a:txBody>
                    <a:bodyPr wrap="none"/>
                    <a:lstStyle/>
                    <a:p>
                      <a:pPr algn="l"/>
                      <a:r>
                        <a:rPr sz="800" b="0">
                          <a:solidFill>
                            <a:srgbClr val="2E2E2E"/>
                          </a:solidFill>
                          <a:latin typeface="Calibri"/>
                        </a:rPr>
                        <a:t>44.0</a:t>
                      </a:r>
                    </a:p>
                  </a:txBody>
                  <a:tcPr marL="85725" marR="38100" marT="19050" marB="19050" anchor="ctr">
                    <a:solidFill>
                      <a:srgbClr val="F5F8FA"/>
                    </a:solidFill>
                  </a:tcPr>
                </a:tc>
                <a:tc>
                  <a:txBody>
                    <a:bodyPr wrap="none"/>
                    <a:lstStyle/>
                    <a:p>
                      <a:pPr algn="l"/>
                      <a:r>
                        <a:rPr sz="800" b="0">
                          <a:solidFill>
                            <a:srgbClr val="2E2E2E"/>
                          </a:solidFill>
                          <a:latin typeface="Calibri"/>
                        </a:rPr>
                        <a:t>47.1</a:t>
                      </a:r>
                    </a:p>
                  </a:txBody>
                  <a:tcPr marL="85725" marR="38100" marT="19050" marB="19050" anchor="ctr">
                    <a:solidFill>
                      <a:srgbClr val="F5F8FA"/>
                    </a:solidFill>
                  </a:tcPr>
                </a:tc>
                <a:tc>
                  <a:txBody>
                    <a:bodyPr wrap="none"/>
                    <a:lstStyle/>
                    <a:p>
                      <a:pPr algn="l"/>
                      <a:r>
                        <a:rPr sz="800" b="0">
                          <a:solidFill>
                            <a:srgbClr val="2E2E2E"/>
                          </a:solidFill>
                          <a:latin typeface="Calibri"/>
                        </a:rPr>
                        <a:t>50.6</a:t>
                      </a:r>
                    </a:p>
                  </a:txBody>
                  <a:tcPr marL="85725" marR="38100" marT="19050" marB="19050" anchor="ctr">
                    <a:solidFill>
                      <a:srgbClr val="F5F8FA"/>
                    </a:solidFill>
                  </a:tcPr>
                </a:tc>
                <a:tc>
                  <a:txBody>
                    <a:bodyPr wrap="none"/>
                    <a:lstStyle/>
                    <a:p>
                      <a:pPr algn="l"/>
                      <a:r>
                        <a:rPr sz="800" b="0">
                          <a:solidFill>
                            <a:srgbClr val="2E2E2E"/>
                          </a:solidFill>
                          <a:latin typeface="Calibri"/>
                        </a:rPr>
                        <a:t>7.9%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0">
                          <a:solidFill>
                            <a:srgbClr val="2E2E2E"/>
                          </a:solidFill>
                          <a:latin typeface="Calibri"/>
                        </a:rPr>
                        <a:t>40.9</a:t>
                      </a:r>
                    </a:p>
                  </a:txBody>
                  <a:tcPr marL="85725" marR="38100" marT="19050" marB="19050" anchor="ctr">
                    <a:solidFill>
                      <a:srgbClr val="FFFFFF"/>
                    </a:solidFill>
                  </a:tcPr>
                </a:tc>
                <a:tc>
                  <a:txBody>
                    <a:bodyPr wrap="none"/>
                    <a:lstStyle/>
                    <a:p>
                      <a:pPr algn="l"/>
                      <a:r>
                        <a:rPr sz="800" b="0">
                          <a:solidFill>
                            <a:srgbClr val="2E2E2E"/>
                          </a:solidFill>
                          <a:latin typeface="Calibri"/>
                        </a:rPr>
                        <a:t>43.9</a:t>
                      </a:r>
                    </a:p>
                  </a:txBody>
                  <a:tcPr marL="85725" marR="38100" marT="19050" marB="19050" anchor="ctr">
                    <a:solidFill>
                      <a:srgbClr val="FFFFFF"/>
                    </a:solidFill>
                  </a:tcPr>
                </a:tc>
                <a:tc>
                  <a:txBody>
                    <a:bodyPr wrap="none"/>
                    <a:lstStyle/>
                    <a:p>
                      <a:pPr algn="l"/>
                      <a:r>
                        <a:rPr sz="800" b="0">
                          <a:solidFill>
                            <a:srgbClr val="2E2E2E"/>
                          </a:solidFill>
                          <a:latin typeface="Calibri"/>
                        </a:rPr>
                        <a:t>47.1</a:t>
                      </a:r>
                    </a:p>
                  </a:txBody>
                  <a:tcPr marL="85725" marR="38100" marT="19050" marB="19050" anchor="ctr">
                    <a:solidFill>
                      <a:srgbClr val="FFFFFF"/>
                    </a:solidFill>
                  </a:tcPr>
                </a:tc>
                <a:tc>
                  <a:txBody>
                    <a:bodyPr wrap="none"/>
                    <a:lstStyle/>
                    <a:p>
                      <a:pPr algn="l"/>
                      <a:r>
                        <a:rPr sz="800" b="0">
                          <a:solidFill>
                            <a:srgbClr val="2E2E2E"/>
                          </a:solidFill>
                          <a:latin typeface="Calibri"/>
                        </a:rPr>
                        <a:t>50.6</a:t>
                      </a:r>
                    </a:p>
                  </a:txBody>
                  <a:tcPr marL="85725" marR="38100" marT="19050" marB="19050" anchor="ctr">
                    <a:solidFill>
                      <a:srgbClr val="FFFFFF"/>
                    </a:solidFill>
                  </a:tcPr>
                </a:tc>
                <a:tc>
                  <a:txBody>
                    <a:bodyPr wrap="none"/>
                    <a:lstStyle/>
                    <a:p>
                      <a:pPr algn="l"/>
                      <a:r>
                        <a:rPr sz="800" b="0">
                          <a:solidFill>
                            <a:srgbClr val="2E2E2E"/>
                          </a:solidFill>
                          <a:latin typeface="Calibri"/>
                        </a:rPr>
                        <a:t>54.4</a:t>
                      </a:r>
                    </a:p>
                  </a:txBody>
                  <a:tcPr marL="85725" marR="38100" marT="19050" marB="19050" anchor="ctr">
                    <a:solidFill>
                      <a:srgbClr val="FFFFFF"/>
                    </a:solidFill>
                  </a:tcPr>
                </a:tc>
                <a:tc>
                  <a:txBody>
                    <a:bodyPr wrap="none"/>
                    <a:lstStyle/>
                    <a:p>
                      <a:pPr algn="l"/>
                      <a:r>
                        <a:rPr sz="800" b="0">
                          <a:solidFill>
                            <a:srgbClr val="2E2E2E"/>
                          </a:solidFill>
                          <a:latin typeface="Calibri"/>
                        </a:rPr>
                        <a:t>58.4</a:t>
                      </a:r>
                    </a:p>
                  </a:txBody>
                  <a:tcPr marL="85725" marR="38100" marT="19050" marB="19050" anchor="ctr">
                    <a:solidFill>
                      <a:srgbClr val="FFFFFF"/>
                    </a:solidFill>
                  </a:tcPr>
                </a:tc>
                <a:tc>
                  <a:txBody>
                    <a:bodyPr wrap="none"/>
                    <a:lstStyle/>
                    <a:p>
                      <a:pPr algn="l"/>
                      <a:r>
                        <a:rPr sz="800" b="0">
                          <a:solidFill>
                            <a:srgbClr val="2E2E2E"/>
                          </a:solidFill>
                          <a:latin typeface="Calibri"/>
                        </a:rPr>
                        <a:t>62.7</a:t>
                      </a:r>
                    </a:p>
                  </a:txBody>
                  <a:tcPr marL="85725" marR="38100" marT="19050" marB="19050" anchor="ctr">
                    <a:solidFill>
                      <a:srgbClr val="FFFFFF"/>
                    </a:solidFill>
                  </a:tcPr>
                </a:tc>
                <a:tc>
                  <a:txBody>
                    <a:bodyPr wrap="none"/>
                    <a:lstStyle/>
                    <a:p>
                      <a:pPr algn="l"/>
                      <a:r>
                        <a:rPr sz="800" b="0">
                          <a:solidFill>
                            <a:srgbClr val="2E2E2E"/>
                          </a:solidFill>
                          <a:latin typeface="Calibri"/>
                        </a:rPr>
                        <a:t>67.1</a:t>
                      </a:r>
                    </a:p>
                  </a:txBody>
                  <a:tcPr marL="85725" marR="38100" marT="19050" marB="19050" anchor="ctr">
                    <a:solidFill>
                      <a:srgbClr val="FFFFFF"/>
                    </a:solidFill>
                  </a:tcPr>
                </a:tc>
                <a:tc>
                  <a:txBody>
                    <a:bodyPr wrap="none"/>
                    <a:lstStyle/>
                    <a:p>
                      <a:pPr algn="l"/>
                      <a:r>
                        <a:rPr sz="800" b="0">
                          <a:solidFill>
                            <a:srgbClr val="2E2E2E"/>
                          </a:solidFill>
                          <a:latin typeface="Calibri"/>
                        </a:rPr>
                        <a:t>71.8</a:t>
                      </a:r>
                    </a:p>
                  </a:txBody>
                  <a:tcPr marL="85725" marR="38100" marT="19050" marB="19050" anchor="ctr">
                    <a:solidFill>
                      <a:srgbClr val="FFFFFF"/>
                    </a:solidFill>
                  </a:tcPr>
                </a:tc>
                <a:tc>
                  <a:txBody>
                    <a:bodyPr wrap="none"/>
                    <a:lstStyle/>
                    <a:p>
                      <a:pPr algn="l"/>
                      <a:r>
                        <a:rPr sz="800" b="0">
                          <a:solidFill>
                            <a:srgbClr val="2E2E2E"/>
                          </a:solidFill>
                          <a:latin typeface="Calibri"/>
                        </a:rPr>
                        <a:t>76.7</a:t>
                      </a:r>
                    </a:p>
                  </a:txBody>
                  <a:tcPr marL="85725" marR="38100" marT="19050" marB="19050" anchor="ctr">
                    <a:solidFill>
                      <a:srgbClr val="FFFFFF"/>
                    </a:solidFill>
                  </a:tcPr>
                </a:tc>
                <a:tc>
                  <a:txBody>
                    <a:bodyPr wrap="none"/>
                    <a:lstStyle/>
                    <a:p>
                      <a:pPr algn="l"/>
                      <a:r>
                        <a:rPr sz="800" b="0">
                          <a:solidFill>
                            <a:srgbClr val="2E2E2E"/>
                          </a:solidFill>
                          <a:latin typeface="Calibri"/>
                        </a:rPr>
                        <a:t>81.8</a:t>
                      </a:r>
                    </a:p>
                  </a:txBody>
                  <a:tcPr marL="85725" marR="38100" marT="19050" marB="19050" anchor="ctr">
                    <a:solidFill>
                      <a:srgbClr val="FFFFFF"/>
                    </a:solidFill>
                  </a:tcPr>
                </a:tc>
                <a:tc>
                  <a:txBody>
                    <a:bodyPr wrap="none"/>
                    <a:lstStyle/>
                    <a:p>
                      <a:pPr algn="l"/>
                      <a:r>
                        <a:rPr sz="800" b="0">
                          <a:solidFill>
                            <a:srgbClr val="2E2E2E"/>
                          </a:solidFill>
                          <a:latin typeface="Calibri"/>
                        </a:rPr>
                        <a:t>87.1</a:t>
                      </a:r>
                    </a:p>
                  </a:txBody>
                  <a:tcPr marL="85725" marR="38100" marT="19050" marB="19050" anchor="ctr">
                    <a:solidFill>
                      <a:srgbClr val="FFFFFF"/>
                    </a:solidFill>
                  </a:tcPr>
                </a:tc>
                <a:tc>
                  <a:txBody>
                    <a:bodyPr wrap="none"/>
                    <a:lstStyle/>
                    <a:p>
                      <a:pPr algn="l"/>
                      <a:r>
                        <a:rPr sz="800" b="0">
                          <a:solidFill>
                            <a:srgbClr val="2E2E2E"/>
                          </a:solidFill>
                          <a:latin typeface="Calibri"/>
                        </a:rPr>
                        <a:t>92.5</a:t>
                      </a:r>
                    </a:p>
                  </a:txBody>
                  <a:tcPr marL="85725" marR="38100" marT="19050" marB="19050" anchor="ctr">
                    <a:solidFill>
                      <a:srgbClr val="FFFFFF"/>
                    </a:solidFill>
                  </a:tcPr>
                </a:tc>
                <a:tc>
                  <a:txBody>
                    <a:bodyPr wrap="none"/>
                    <a:lstStyle/>
                    <a:p>
                      <a:pPr algn="l"/>
                      <a:r>
                        <a:rPr sz="800" b="0">
                          <a:solidFill>
                            <a:srgbClr val="2E2E2E"/>
                          </a:solidFill>
                          <a:latin typeface="Calibri"/>
                        </a:rPr>
                        <a:t>98.4</a:t>
                      </a:r>
                    </a:p>
                  </a:txBody>
                  <a:tcPr marL="85725" marR="38100" marT="19050" marB="19050" anchor="ctr">
                    <a:solidFill>
                      <a:srgbClr val="FFFFFF"/>
                    </a:solidFill>
                  </a:tcPr>
                </a:tc>
                <a:tc>
                  <a:txBody>
                    <a:bodyPr wrap="none"/>
                    <a:lstStyle/>
                    <a:p>
                      <a:pPr algn="l"/>
                      <a:r>
                        <a:rPr sz="800" b="0">
                          <a:solidFill>
                            <a:srgbClr val="2E2E2E"/>
                          </a:solidFill>
                          <a:latin typeface="Calibri"/>
                        </a:rPr>
                        <a:t>104.4</a:t>
                      </a:r>
                    </a:p>
                  </a:txBody>
                  <a:tcPr marL="85725" marR="38100" marT="19050" marB="19050" anchor="ctr">
                    <a:solidFill>
                      <a:srgbClr val="FFFFFF"/>
                    </a:solidFill>
                  </a:tcPr>
                </a:tc>
                <a:tc>
                  <a:txBody>
                    <a:bodyPr wrap="none"/>
                    <a:lstStyle/>
                    <a:p>
                      <a:pPr algn="l"/>
                      <a:r>
                        <a:rPr sz="800" b="0">
                          <a:solidFill>
                            <a:srgbClr val="2E2E2E"/>
                          </a:solidFill>
                          <a:latin typeface="Calibri"/>
                        </a:rPr>
                        <a:t>111.0</a:t>
                      </a:r>
                    </a:p>
                  </a:txBody>
                  <a:tcPr marL="85725" marR="38100" marT="19050" marB="19050" anchor="ctr">
                    <a:solidFill>
                      <a:srgbClr val="FFFFFF"/>
                    </a:solidFill>
                  </a:tcPr>
                </a:tc>
                <a:tc>
                  <a:txBody>
                    <a:bodyPr wrap="none"/>
                    <a:lstStyle/>
                    <a:p>
                      <a:pPr algn="l"/>
                      <a:r>
                        <a:rPr sz="800" b="0">
                          <a:solidFill>
                            <a:srgbClr val="2E2E2E"/>
                          </a:solidFill>
                          <a:latin typeface="Calibri"/>
                        </a:rPr>
                        <a:t>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0">
                          <a:solidFill>
                            <a:srgbClr val="2E2E2E"/>
                          </a:solidFill>
                          <a:latin typeface="Calibri"/>
                        </a:rPr>
                        <a:t>12.4</a:t>
                      </a:r>
                    </a:p>
                  </a:txBody>
                  <a:tcPr marL="85725" marR="38100" marT="19050" marB="19050" anchor="ctr">
                    <a:solidFill>
                      <a:srgbClr val="F5F8FA"/>
                    </a:solidFill>
                  </a:tcPr>
                </a:tc>
                <a:tc>
                  <a:txBody>
                    <a:bodyPr wrap="none"/>
                    <a:lstStyle/>
                    <a:p>
                      <a:pPr algn="l"/>
                      <a:r>
                        <a:rPr sz="800" b="0">
                          <a:solidFill>
                            <a:srgbClr val="2E2E2E"/>
                          </a:solidFill>
                          <a:latin typeface="Calibri"/>
                        </a:rPr>
                        <a:t>12.8</a:t>
                      </a:r>
                    </a:p>
                  </a:txBody>
                  <a:tcPr marL="85725" marR="38100" marT="19050" marB="19050" anchor="ctr">
                    <a:solidFill>
                      <a:srgbClr val="F5F8FA"/>
                    </a:solidFill>
                  </a:tcPr>
                </a:tc>
                <a:tc>
                  <a:txBody>
                    <a:bodyPr wrap="none"/>
                    <a:lstStyle/>
                    <a:p>
                      <a:pPr algn="l"/>
                      <a:r>
                        <a:rPr sz="800" b="0">
                          <a:solidFill>
                            <a:srgbClr val="2E2E2E"/>
                          </a:solidFill>
                          <a:latin typeface="Calibri"/>
                        </a:rPr>
                        <a:t>13.2</a:t>
                      </a:r>
                    </a:p>
                  </a:txBody>
                  <a:tcPr marL="85725" marR="38100" marT="19050" marB="19050" anchor="ctr">
                    <a:solidFill>
                      <a:srgbClr val="F5F8FA"/>
                    </a:solidFill>
                  </a:tcPr>
                </a:tc>
                <a:tc>
                  <a:txBody>
                    <a:bodyPr wrap="none"/>
                    <a:lstStyle/>
                    <a:p>
                      <a:pPr algn="l"/>
                      <a:r>
                        <a:rPr sz="800" b="0">
                          <a:solidFill>
                            <a:srgbClr val="2E2E2E"/>
                          </a:solidFill>
                          <a:latin typeface="Calibri"/>
                        </a:rPr>
                        <a:t>13.6</a:t>
                      </a:r>
                    </a:p>
                  </a:txBody>
                  <a:tcPr marL="85725" marR="38100" marT="19050" marB="19050" anchor="ctr">
                    <a:solidFill>
                      <a:srgbClr val="F5F8FA"/>
                    </a:solidFill>
                  </a:tcPr>
                </a:tc>
                <a:tc>
                  <a:txBody>
                    <a:bodyPr wrap="none"/>
                    <a:lstStyle/>
                    <a:p>
                      <a:pPr algn="l"/>
                      <a:r>
                        <a:rPr sz="800" b="0">
                          <a:solidFill>
                            <a:srgbClr val="2E2E2E"/>
                          </a:solidFill>
                          <a:latin typeface="Calibri"/>
                        </a:rPr>
                        <a:t>14.0</a:t>
                      </a:r>
                    </a:p>
                  </a:txBody>
                  <a:tcPr marL="85725" marR="38100" marT="19050" marB="19050" anchor="ctr">
                    <a:solidFill>
                      <a:srgbClr val="F5F8FA"/>
                    </a:solidFill>
                  </a:tcPr>
                </a:tc>
                <a:tc>
                  <a:txBody>
                    <a:bodyPr wrap="none"/>
                    <a:lstStyle/>
                    <a:p>
                      <a:pPr algn="l"/>
                      <a:r>
                        <a:rPr sz="800" b="0">
                          <a:solidFill>
                            <a:srgbClr val="2E2E2E"/>
                          </a:solidFill>
                          <a:latin typeface="Calibri"/>
                        </a:rPr>
                        <a:t>14.5</a:t>
                      </a:r>
                    </a:p>
                  </a:txBody>
                  <a:tcPr marL="85725" marR="38100" marT="19050" marB="19050" anchor="ctr">
                    <a:solidFill>
                      <a:srgbClr val="F5F8FA"/>
                    </a:solidFill>
                  </a:tcPr>
                </a:tc>
                <a:tc>
                  <a:txBody>
                    <a:bodyPr wrap="none"/>
                    <a:lstStyle/>
                    <a:p>
                      <a:pPr algn="l"/>
                      <a:r>
                        <a:rPr sz="800" b="0">
                          <a:solidFill>
                            <a:srgbClr val="2E2E2E"/>
                          </a:solidFill>
                          <a:latin typeface="Calibri"/>
                        </a:rPr>
                        <a:t>15.0</a:t>
                      </a:r>
                    </a:p>
                  </a:txBody>
                  <a:tcPr marL="85725" marR="38100" marT="19050" marB="19050" anchor="ctr">
                    <a:solidFill>
                      <a:srgbClr val="F5F8FA"/>
                    </a:solidFill>
                  </a:tcPr>
                </a:tc>
                <a:tc>
                  <a:txBody>
                    <a:bodyPr wrap="none"/>
                    <a:lstStyle/>
                    <a:p>
                      <a:pPr algn="l"/>
                      <a:r>
                        <a:rPr sz="800" b="0">
                          <a:solidFill>
                            <a:srgbClr val="2E2E2E"/>
                          </a:solidFill>
                          <a:latin typeface="Calibri"/>
                        </a:rPr>
                        <a:t>15.5</a:t>
                      </a:r>
                    </a:p>
                  </a:txBody>
                  <a:tcPr marL="85725" marR="38100" marT="19050" marB="19050" anchor="ctr">
                    <a:solidFill>
                      <a:srgbClr val="F5F8FA"/>
                    </a:solidFill>
                  </a:tcPr>
                </a:tc>
                <a:tc>
                  <a:txBody>
                    <a:bodyPr wrap="none"/>
                    <a:lstStyle/>
                    <a:p>
                      <a:pPr algn="l"/>
                      <a:r>
                        <a:rPr sz="800" b="0">
                          <a:solidFill>
                            <a:srgbClr val="2E2E2E"/>
                          </a:solidFill>
                          <a:latin typeface="Calibri"/>
                        </a:rPr>
                        <a:t>16.0</a:t>
                      </a:r>
                    </a:p>
                  </a:txBody>
                  <a:tcPr marL="85725" marR="38100" marT="19050" marB="19050" anchor="ctr">
                    <a:solidFill>
                      <a:srgbClr val="F5F8FA"/>
                    </a:solidFill>
                  </a:tcPr>
                </a:tc>
                <a:tc>
                  <a:txBody>
                    <a:bodyPr wrap="none"/>
                    <a:lstStyle/>
                    <a:p>
                      <a:pPr algn="l"/>
                      <a:r>
                        <a:rPr sz="800" b="0">
                          <a:solidFill>
                            <a:srgbClr val="2E2E2E"/>
                          </a:solidFill>
                          <a:latin typeface="Calibri"/>
                        </a:rPr>
                        <a:t>16.4</a:t>
                      </a:r>
                    </a:p>
                  </a:txBody>
                  <a:tcPr marL="85725" marR="38100" marT="19050" marB="19050" anchor="ctr">
                    <a:solidFill>
                      <a:srgbClr val="F5F8FA"/>
                    </a:solidFill>
                  </a:tcPr>
                </a:tc>
                <a:tc>
                  <a:txBody>
                    <a:bodyPr wrap="none"/>
                    <a:lstStyle/>
                    <a:p>
                      <a:pPr algn="l"/>
                      <a:r>
                        <a:rPr sz="800" b="0">
                          <a:solidFill>
                            <a:srgbClr val="2E2E2E"/>
                          </a:solidFill>
                          <a:latin typeface="Calibri"/>
                        </a:rPr>
                        <a:t>16.9</a:t>
                      </a:r>
                    </a:p>
                  </a:txBody>
                  <a:tcPr marL="85725" marR="38100" marT="19050" marB="19050" anchor="ctr">
                    <a:solidFill>
                      <a:srgbClr val="F5F8FA"/>
                    </a:solidFill>
                  </a:tcPr>
                </a:tc>
                <a:tc>
                  <a:txBody>
                    <a:bodyPr wrap="none"/>
                    <a:lstStyle/>
                    <a:p>
                      <a:pPr algn="l"/>
                      <a:r>
                        <a:rPr sz="800" b="0">
                          <a:solidFill>
                            <a:srgbClr val="2E2E2E"/>
                          </a:solidFill>
                          <a:latin typeface="Calibri"/>
                        </a:rPr>
                        <a:t>17.3</a:t>
                      </a:r>
                    </a:p>
                  </a:txBody>
                  <a:tcPr marL="85725" marR="38100" marT="19050" marB="19050" anchor="ctr">
                    <a:solidFill>
                      <a:srgbClr val="F5F8FA"/>
                    </a:solidFill>
                  </a:tcPr>
                </a:tc>
                <a:tc>
                  <a:txBody>
                    <a:bodyPr wrap="none"/>
                    <a:lstStyle/>
                    <a:p>
                      <a:pPr algn="l"/>
                      <a:r>
                        <a:rPr sz="800" b="0">
                          <a:solidFill>
                            <a:srgbClr val="2E2E2E"/>
                          </a:solidFill>
                          <a:latin typeface="Calibri"/>
                        </a:rPr>
                        <a:t>17.7</a:t>
                      </a:r>
                    </a:p>
                  </a:txBody>
                  <a:tcPr marL="85725" marR="38100" marT="19050" marB="19050" anchor="ctr">
                    <a:solidFill>
                      <a:srgbClr val="F5F8FA"/>
                    </a:solidFill>
                  </a:tcPr>
                </a:tc>
                <a:tc>
                  <a:txBody>
                    <a:bodyPr wrap="none"/>
                    <a:lstStyle/>
                    <a:p>
                      <a:pPr algn="l"/>
                      <a:r>
                        <a:rPr sz="800" b="0">
                          <a:solidFill>
                            <a:srgbClr val="2E2E2E"/>
                          </a:solidFill>
                          <a:latin typeface="Calibri"/>
                        </a:rPr>
                        <a:t>18.1</a:t>
                      </a:r>
                    </a:p>
                  </a:txBody>
                  <a:tcPr marL="85725" marR="38100" marT="19050" marB="19050" anchor="ctr">
                    <a:solidFill>
                      <a:srgbClr val="F5F8FA"/>
                    </a:solidFill>
                  </a:tcPr>
                </a:tc>
                <a:tc>
                  <a:txBody>
                    <a:bodyPr wrap="none"/>
                    <a:lstStyle/>
                    <a:p>
                      <a:pPr algn="l"/>
                      <a:r>
                        <a:rPr sz="800" b="0">
                          <a:solidFill>
                            <a:srgbClr val="2E2E2E"/>
                          </a:solidFill>
                          <a:latin typeface="Calibri"/>
                        </a:rPr>
                        <a:t>18.4</a:t>
                      </a:r>
                    </a:p>
                  </a:txBody>
                  <a:tcPr marL="85725" marR="38100" marT="19050" marB="19050" anchor="ctr">
                    <a:solidFill>
                      <a:srgbClr val="F5F8FA"/>
                    </a:solidFill>
                  </a:tcPr>
                </a:tc>
                <a:tc>
                  <a:txBody>
                    <a:bodyPr wrap="none"/>
                    <a:lstStyle/>
                    <a:p>
                      <a:pPr algn="l"/>
                      <a:r>
                        <a:rPr sz="800" b="0">
                          <a:solidFill>
                            <a:srgbClr val="2E2E2E"/>
                          </a:solidFill>
                          <a:latin typeface="Calibri"/>
                        </a:rPr>
                        <a:t>18.8</a:t>
                      </a:r>
                    </a:p>
                  </a:txBody>
                  <a:tcPr marL="85725" marR="38100" marT="19050" marB="19050" anchor="ctr">
                    <a:solidFill>
                      <a:srgbClr val="F5F8FA"/>
                    </a:solidFill>
                  </a:tcPr>
                </a:tc>
                <a:tc>
                  <a:txBody>
                    <a:bodyPr wrap="none"/>
                    <a:lstStyle/>
                    <a:p>
                      <a:pPr algn="l"/>
                      <a:r>
                        <a:rPr sz="800" b="0">
                          <a:solidFill>
                            <a:srgbClr val="2E2E2E"/>
                          </a:solidFill>
                          <a:latin typeface="Calibri"/>
                        </a:rPr>
                        <a:t>2.6%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ectangle 1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8" name="Rounded Rectangle 1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Application   ·   (continued 2/2)</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Application, 2021–2036</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Application (US$ Mn)</a:t>
            </a:r>
          </a:p>
        </p:txBody>
      </p:sp>
      <p:graphicFrame>
        <p:nvGraphicFramePr>
          <p:cNvPr id="13" name="Table 12"/>
          <p:cNvGraphicFramePr>
            <a:graphicFrameLocks noGrp="1"/>
          </p:cNvGraphicFramePr>
          <p:nvPr/>
        </p:nvGraphicFramePr>
        <p:xfrm>
          <a:off x="238125" y="1143000"/>
          <a:ext cx="11715752" cy="18097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0">
                          <a:solidFill>
                            <a:srgbClr val="2E2E2E"/>
                          </a:solidFill>
                          <a:latin typeface="Calibri"/>
                        </a:rPr>
                        <a:t>178.5</a:t>
                      </a:r>
                    </a:p>
                  </a:txBody>
                  <a:tcPr marL="85725" marR="38100" marT="19050" marB="19050" anchor="ctr">
                    <a:solidFill>
                      <a:srgbClr val="FFFFFF"/>
                    </a:solidFill>
                  </a:tcPr>
                </a:tc>
                <a:tc>
                  <a:txBody>
                    <a:bodyPr wrap="none"/>
                    <a:lstStyle/>
                    <a:p>
                      <a:pPr algn="l"/>
                      <a:r>
                        <a:rPr sz="800" b="0">
                          <a:solidFill>
                            <a:srgbClr val="2E2E2E"/>
                          </a:solidFill>
                          <a:latin typeface="Calibri"/>
                        </a:rPr>
                        <a:t>192.5</a:t>
                      </a:r>
                    </a:p>
                  </a:txBody>
                  <a:tcPr marL="85725" marR="38100" marT="19050" marB="19050" anchor="ctr">
                    <a:solidFill>
                      <a:srgbClr val="FFFFFF"/>
                    </a:solidFill>
                  </a:tcPr>
                </a:tc>
                <a:tc>
                  <a:txBody>
                    <a:bodyPr wrap="none"/>
                    <a:lstStyle/>
                    <a:p>
                      <a:pPr algn="l"/>
                      <a:r>
                        <a:rPr sz="800" b="0">
                          <a:solidFill>
                            <a:srgbClr val="2E2E2E"/>
                          </a:solidFill>
                          <a:latin typeface="Calibri"/>
                        </a:rPr>
                        <a:t>208.0</a:t>
                      </a:r>
                    </a:p>
                  </a:txBody>
                  <a:tcPr marL="85725" marR="38100" marT="19050" marB="19050" anchor="ctr">
                    <a:solidFill>
                      <a:srgbClr val="FFFFFF"/>
                    </a:solidFill>
                  </a:tcPr>
                </a:tc>
                <a:tc>
                  <a:txBody>
                    <a:bodyPr wrap="none"/>
                    <a:lstStyle/>
                    <a:p>
                      <a:pPr algn="l"/>
                      <a:r>
                        <a:rPr sz="800" b="0">
                          <a:solidFill>
                            <a:srgbClr val="2E2E2E"/>
                          </a:solidFill>
                          <a:latin typeface="Calibri"/>
                        </a:rPr>
                        <a:t>225.8</a:t>
                      </a:r>
                    </a:p>
                  </a:txBody>
                  <a:tcPr marL="85725" marR="38100" marT="19050" marB="19050" anchor="ctr">
                    <a:solidFill>
                      <a:srgbClr val="FFFFFF"/>
                    </a:solidFill>
                  </a:tcPr>
                </a:tc>
                <a:tc>
                  <a:txBody>
                    <a:bodyPr wrap="none"/>
                    <a:lstStyle/>
                    <a:p>
                      <a:pPr algn="l"/>
                      <a:r>
                        <a:rPr sz="800" b="0">
                          <a:solidFill>
                            <a:srgbClr val="2E2E2E"/>
                          </a:solidFill>
                          <a:latin typeface="Calibri"/>
                        </a:rPr>
                        <a:t>245.0</a:t>
                      </a:r>
                    </a:p>
                  </a:txBody>
                  <a:tcPr marL="85725" marR="38100" marT="19050" marB="19050" anchor="ctr">
                    <a:solidFill>
                      <a:srgbClr val="FFFFFF"/>
                    </a:solidFill>
                  </a:tcPr>
                </a:tc>
                <a:tc>
                  <a:txBody>
                    <a:bodyPr wrap="none"/>
                    <a:lstStyle/>
                    <a:p>
                      <a:pPr algn="l"/>
                      <a:r>
                        <a:rPr sz="800" b="0">
                          <a:solidFill>
                            <a:srgbClr val="2E2E2E"/>
                          </a:solidFill>
                          <a:latin typeface="Calibri"/>
                        </a:rPr>
                        <a:t>266.4</a:t>
                      </a:r>
                    </a:p>
                  </a:txBody>
                  <a:tcPr marL="85725" marR="38100" marT="19050" marB="19050" anchor="ctr">
                    <a:solidFill>
                      <a:srgbClr val="FFFFFF"/>
                    </a:solidFill>
                  </a:tcPr>
                </a:tc>
                <a:tc>
                  <a:txBody>
                    <a:bodyPr wrap="none"/>
                    <a:lstStyle/>
                    <a:p>
                      <a:pPr algn="l"/>
                      <a:r>
                        <a:rPr sz="800" b="0">
                          <a:solidFill>
                            <a:srgbClr val="2E2E2E"/>
                          </a:solidFill>
                          <a:latin typeface="Calibri"/>
                        </a:rPr>
                        <a:t>289.8</a:t>
                      </a:r>
                    </a:p>
                  </a:txBody>
                  <a:tcPr marL="85725" marR="38100" marT="19050" marB="19050" anchor="ctr">
                    <a:solidFill>
                      <a:srgbClr val="FFFFFF"/>
                    </a:solidFill>
                  </a:tcPr>
                </a:tc>
                <a:tc>
                  <a:txBody>
                    <a:bodyPr wrap="none"/>
                    <a:lstStyle/>
                    <a:p>
                      <a:pPr algn="l"/>
                      <a:r>
                        <a:rPr sz="800" b="0">
                          <a:solidFill>
                            <a:srgbClr val="2E2E2E"/>
                          </a:solidFill>
                          <a:latin typeface="Calibri"/>
                        </a:rPr>
                        <a:t>315.2</a:t>
                      </a:r>
                    </a:p>
                  </a:txBody>
                  <a:tcPr marL="85725" marR="38100" marT="19050" marB="19050" anchor="ctr">
                    <a:solidFill>
                      <a:srgbClr val="FFFFFF"/>
                    </a:solidFill>
                  </a:tcPr>
                </a:tc>
                <a:tc>
                  <a:txBody>
                    <a:bodyPr wrap="none"/>
                    <a:lstStyle/>
                    <a:p>
                      <a:pPr algn="l"/>
                      <a:r>
                        <a:rPr sz="800" b="0">
                          <a:solidFill>
                            <a:srgbClr val="2E2E2E"/>
                          </a:solidFill>
                          <a:latin typeface="Calibri"/>
                        </a:rPr>
                        <a:t>343.0</a:t>
                      </a:r>
                    </a:p>
                  </a:txBody>
                  <a:tcPr marL="85725" marR="38100" marT="19050" marB="19050" anchor="ctr">
                    <a:solidFill>
                      <a:srgbClr val="FFFFFF"/>
                    </a:solidFill>
                  </a:tcPr>
                </a:tc>
                <a:tc>
                  <a:txBody>
                    <a:bodyPr wrap="none"/>
                    <a:lstStyle/>
                    <a:p>
                      <a:pPr algn="l"/>
                      <a:r>
                        <a:rPr sz="800" b="0">
                          <a:solidFill>
                            <a:srgbClr val="2E2E2E"/>
                          </a:solidFill>
                          <a:latin typeface="Calibri"/>
                        </a:rPr>
                        <a:t>373.2</a:t>
                      </a:r>
                    </a:p>
                  </a:txBody>
                  <a:tcPr marL="85725" marR="38100" marT="19050" marB="19050" anchor="ctr">
                    <a:solidFill>
                      <a:srgbClr val="FFFFFF"/>
                    </a:solidFill>
                  </a:tcPr>
                </a:tc>
                <a:tc>
                  <a:txBody>
                    <a:bodyPr wrap="none"/>
                    <a:lstStyle/>
                    <a:p>
                      <a:pPr algn="l"/>
                      <a:r>
                        <a:rPr sz="800" b="0">
                          <a:solidFill>
                            <a:srgbClr val="2E2E2E"/>
                          </a:solidFill>
                          <a:latin typeface="Calibri"/>
                        </a:rPr>
                        <a:t>406.1</a:t>
                      </a:r>
                    </a:p>
                  </a:txBody>
                  <a:tcPr marL="85725" marR="38100" marT="19050" marB="19050" anchor="ctr">
                    <a:solidFill>
                      <a:srgbClr val="FFFFFF"/>
                    </a:solidFill>
                  </a:tcPr>
                </a:tc>
                <a:tc>
                  <a:txBody>
                    <a:bodyPr wrap="none"/>
                    <a:lstStyle/>
                    <a:p>
                      <a:pPr algn="l"/>
                      <a:r>
                        <a:rPr sz="800" b="0">
                          <a:solidFill>
                            <a:srgbClr val="2E2E2E"/>
                          </a:solidFill>
                          <a:latin typeface="Calibri"/>
                        </a:rPr>
                        <a:t>442.0</a:t>
                      </a:r>
                    </a:p>
                  </a:txBody>
                  <a:tcPr marL="85725" marR="38100" marT="19050" marB="19050" anchor="ctr">
                    <a:solidFill>
                      <a:srgbClr val="FFFFFF"/>
                    </a:solidFill>
                  </a:tcPr>
                </a:tc>
                <a:tc>
                  <a:txBody>
                    <a:bodyPr wrap="none"/>
                    <a:lstStyle/>
                    <a:p>
                      <a:pPr algn="l"/>
                      <a:r>
                        <a:rPr sz="800" b="0">
                          <a:solidFill>
                            <a:srgbClr val="2E2E2E"/>
                          </a:solidFill>
                          <a:latin typeface="Calibri"/>
                        </a:rPr>
                        <a:t>480.6</a:t>
                      </a:r>
                    </a:p>
                  </a:txBody>
                  <a:tcPr marL="85725" marR="38100" marT="19050" marB="19050" anchor="ctr">
                    <a:solidFill>
                      <a:srgbClr val="FFFFFF"/>
                    </a:solidFill>
                  </a:tcPr>
                </a:tc>
                <a:tc>
                  <a:txBody>
                    <a:bodyPr wrap="none"/>
                    <a:lstStyle/>
                    <a:p>
                      <a:pPr algn="l"/>
                      <a:r>
                        <a:rPr sz="800" b="0">
                          <a:solidFill>
                            <a:srgbClr val="2E2E2E"/>
                          </a:solidFill>
                          <a:latin typeface="Calibri"/>
                        </a:rPr>
                        <a:t>524.0</a:t>
                      </a:r>
                    </a:p>
                  </a:txBody>
                  <a:tcPr marL="85725" marR="38100" marT="19050" marB="19050" anchor="ctr">
                    <a:solidFill>
                      <a:srgbClr val="FFFFFF"/>
                    </a:solidFill>
                  </a:tcPr>
                </a:tc>
                <a:tc>
                  <a:txBody>
                    <a:bodyPr wrap="none"/>
                    <a:lstStyle/>
                    <a:p>
                      <a:pPr algn="l"/>
                      <a:r>
                        <a:rPr sz="800" b="0">
                          <a:solidFill>
                            <a:srgbClr val="2E2E2E"/>
                          </a:solidFill>
                          <a:latin typeface="Calibri"/>
                        </a:rPr>
                        <a:t>570.9</a:t>
                      </a:r>
                    </a:p>
                  </a:txBody>
                  <a:tcPr marL="85725" marR="38100" marT="19050" marB="19050" anchor="ctr">
                    <a:solidFill>
                      <a:srgbClr val="FFFFFF"/>
                    </a:solidFill>
                  </a:tcPr>
                </a:tc>
                <a:tc>
                  <a:txBody>
                    <a:bodyPr wrap="none"/>
                    <a:lstStyle/>
                    <a:p>
                      <a:pPr algn="l"/>
                      <a:r>
                        <a:rPr sz="800" b="0">
                          <a:solidFill>
                            <a:srgbClr val="2E2E2E"/>
                          </a:solidFill>
                          <a:latin typeface="Calibri"/>
                        </a:rPr>
                        <a:t>624.2</a:t>
                      </a:r>
                    </a:p>
                  </a:txBody>
                  <a:tcPr marL="85725" marR="38100" marT="19050" marB="19050" anchor="ctr">
                    <a:solidFill>
                      <a:srgbClr val="FFFFFF"/>
                    </a:solidFill>
                  </a:tcPr>
                </a:tc>
                <a:tc>
                  <a:txBody>
                    <a:bodyPr wrap="none"/>
                    <a:lstStyle/>
                    <a:p>
                      <a:pPr algn="l"/>
                      <a:r>
                        <a:rPr sz="800" b="0">
                          <a:solidFill>
                            <a:srgbClr val="2E2E2E"/>
                          </a:solidFill>
                          <a:latin typeface="Calibri"/>
                        </a:rPr>
                        <a:t>8.9%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0">
                          <a:solidFill>
                            <a:srgbClr val="2E2E2E"/>
                          </a:solidFill>
                          <a:latin typeface="Calibri"/>
                        </a:rPr>
                        <a:t>58.0</a:t>
                      </a:r>
                    </a:p>
                  </a:txBody>
                  <a:tcPr marL="85725" marR="38100" marT="19050" marB="19050" anchor="ctr">
                    <a:solidFill>
                      <a:srgbClr val="F5F8FA"/>
                    </a:solidFill>
                  </a:tcPr>
                </a:tc>
                <a:tc>
                  <a:txBody>
                    <a:bodyPr wrap="none"/>
                    <a:lstStyle/>
                    <a:p>
                      <a:pPr algn="l"/>
                      <a:r>
                        <a:rPr sz="800" b="0">
                          <a:solidFill>
                            <a:srgbClr val="2E2E2E"/>
                          </a:solidFill>
                          <a:latin typeface="Calibri"/>
                        </a:rPr>
                        <a:t>61.2</a:t>
                      </a:r>
                    </a:p>
                  </a:txBody>
                  <a:tcPr marL="85725" marR="38100" marT="19050" marB="19050" anchor="ctr">
                    <a:solidFill>
                      <a:srgbClr val="F5F8FA"/>
                    </a:solidFill>
                  </a:tcPr>
                </a:tc>
                <a:tc>
                  <a:txBody>
                    <a:bodyPr wrap="none"/>
                    <a:lstStyle/>
                    <a:p>
                      <a:pPr algn="l"/>
                      <a:r>
                        <a:rPr sz="800" b="0">
                          <a:solidFill>
                            <a:srgbClr val="2E2E2E"/>
                          </a:solidFill>
                          <a:latin typeface="Calibri"/>
                        </a:rPr>
                        <a:t>64.8</a:t>
                      </a:r>
                    </a:p>
                  </a:txBody>
                  <a:tcPr marL="85725" marR="38100" marT="19050" marB="19050" anchor="ctr">
                    <a:solidFill>
                      <a:srgbClr val="F5F8FA"/>
                    </a:solidFill>
                  </a:tcPr>
                </a:tc>
                <a:tc>
                  <a:txBody>
                    <a:bodyPr wrap="none"/>
                    <a:lstStyle/>
                    <a:p>
                      <a:pPr algn="l"/>
                      <a:r>
                        <a:rPr sz="800" b="0">
                          <a:solidFill>
                            <a:srgbClr val="2E2E2E"/>
                          </a:solidFill>
                          <a:latin typeface="Calibri"/>
                        </a:rPr>
                        <a:t>69.0</a:t>
                      </a:r>
                    </a:p>
                  </a:txBody>
                  <a:tcPr marL="85725" marR="38100" marT="19050" marB="19050" anchor="ctr">
                    <a:solidFill>
                      <a:srgbClr val="F5F8FA"/>
                    </a:solidFill>
                  </a:tcPr>
                </a:tc>
                <a:tc>
                  <a:txBody>
                    <a:bodyPr wrap="none"/>
                    <a:lstStyle/>
                    <a:p>
                      <a:pPr algn="l"/>
                      <a:r>
                        <a:rPr sz="800" b="0">
                          <a:solidFill>
                            <a:srgbClr val="2E2E2E"/>
                          </a:solidFill>
                          <a:latin typeface="Calibri"/>
                        </a:rPr>
                        <a:t>73.5</a:t>
                      </a:r>
                    </a:p>
                  </a:txBody>
                  <a:tcPr marL="85725" marR="38100" marT="19050" marB="19050" anchor="ctr">
                    <a:solidFill>
                      <a:srgbClr val="F5F8FA"/>
                    </a:solidFill>
                  </a:tcPr>
                </a:tc>
                <a:tc>
                  <a:txBody>
                    <a:bodyPr wrap="none"/>
                    <a:lstStyle/>
                    <a:p>
                      <a:pPr algn="l"/>
                      <a:r>
                        <a:rPr sz="800" b="0">
                          <a:solidFill>
                            <a:srgbClr val="2E2E2E"/>
                          </a:solidFill>
                          <a:latin typeface="Calibri"/>
                        </a:rPr>
                        <a:t>78.4</a:t>
                      </a:r>
                    </a:p>
                  </a:txBody>
                  <a:tcPr marL="85725" marR="38100" marT="19050" marB="19050" anchor="ctr">
                    <a:solidFill>
                      <a:srgbClr val="F5F8FA"/>
                    </a:solidFill>
                  </a:tcPr>
                </a:tc>
                <a:tc>
                  <a:txBody>
                    <a:bodyPr wrap="none"/>
                    <a:lstStyle/>
                    <a:p>
                      <a:pPr algn="l"/>
                      <a:r>
                        <a:rPr sz="800" b="0">
                          <a:solidFill>
                            <a:srgbClr val="2E2E2E"/>
                          </a:solidFill>
                          <a:latin typeface="Calibri"/>
                        </a:rPr>
                        <a:t>83.8</a:t>
                      </a:r>
                    </a:p>
                  </a:txBody>
                  <a:tcPr marL="85725" marR="38100" marT="19050" marB="19050" anchor="ctr">
                    <a:solidFill>
                      <a:srgbClr val="F5F8FA"/>
                    </a:solidFill>
                  </a:tcPr>
                </a:tc>
                <a:tc>
                  <a:txBody>
                    <a:bodyPr wrap="none"/>
                    <a:lstStyle/>
                    <a:p>
                      <a:pPr algn="l"/>
                      <a:r>
                        <a:rPr sz="800" b="0">
                          <a:solidFill>
                            <a:srgbClr val="2E2E2E"/>
                          </a:solidFill>
                          <a:latin typeface="Calibri"/>
                        </a:rPr>
                        <a:t>89.5</a:t>
                      </a:r>
                    </a:p>
                  </a:txBody>
                  <a:tcPr marL="85725" marR="38100" marT="19050" marB="19050" anchor="ctr">
                    <a:solidFill>
                      <a:srgbClr val="F5F8FA"/>
                    </a:solidFill>
                  </a:tcPr>
                </a:tc>
                <a:tc>
                  <a:txBody>
                    <a:bodyPr wrap="none"/>
                    <a:lstStyle/>
                    <a:p>
                      <a:pPr algn="l"/>
                      <a:r>
                        <a:rPr sz="800" b="0">
                          <a:solidFill>
                            <a:srgbClr val="2E2E2E"/>
                          </a:solidFill>
                          <a:latin typeface="Calibri"/>
                        </a:rPr>
                        <a:t>95.7</a:t>
                      </a:r>
                    </a:p>
                  </a:txBody>
                  <a:tcPr marL="85725" marR="38100" marT="19050" marB="19050" anchor="ctr">
                    <a:solidFill>
                      <a:srgbClr val="F5F8FA"/>
                    </a:solidFill>
                  </a:tcPr>
                </a:tc>
                <a:tc>
                  <a:txBody>
                    <a:bodyPr wrap="none"/>
                    <a:lstStyle/>
                    <a:p>
                      <a:pPr algn="l"/>
                      <a:r>
                        <a:rPr sz="800" b="0">
                          <a:solidFill>
                            <a:srgbClr val="2E2E2E"/>
                          </a:solidFill>
                          <a:latin typeface="Calibri"/>
                        </a:rPr>
                        <a:t>102.4</a:t>
                      </a:r>
                    </a:p>
                  </a:txBody>
                  <a:tcPr marL="85725" marR="38100" marT="19050" marB="19050" anchor="ctr">
                    <a:solidFill>
                      <a:srgbClr val="F5F8FA"/>
                    </a:solidFill>
                  </a:tcPr>
                </a:tc>
                <a:tc>
                  <a:txBody>
                    <a:bodyPr wrap="none"/>
                    <a:lstStyle/>
                    <a:p>
                      <a:pPr algn="l"/>
                      <a:r>
                        <a:rPr sz="800" b="0">
                          <a:solidFill>
                            <a:srgbClr val="2E2E2E"/>
                          </a:solidFill>
                          <a:latin typeface="Calibri"/>
                        </a:rPr>
                        <a:t>109.7</a:t>
                      </a:r>
                    </a:p>
                  </a:txBody>
                  <a:tcPr marL="85725" marR="38100" marT="19050" marB="19050" anchor="ctr">
                    <a:solidFill>
                      <a:srgbClr val="F5F8FA"/>
                    </a:solidFill>
                  </a:tcPr>
                </a:tc>
                <a:tc>
                  <a:txBody>
                    <a:bodyPr wrap="none"/>
                    <a:lstStyle/>
                    <a:p>
                      <a:pPr algn="l"/>
                      <a:r>
                        <a:rPr sz="800" b="0">
                          <a:solidFill>
                            <a:srgbClr val="2E2E2E"/>
                          </a:solidFill>
                          <a:latin typeface="Calibri"/>
                        </a:rPr>
                        <a:t>117.5</a:t>
                      </a:r>
                    </a:p>
                  </a:txBody>
                  <a:tcPr marL="85725" marR="38100" marT="19050" marB="19050" anchor="ctr">
                    <a:solidFill>
                      <a:srgbClr val="F5F8FA"/>
                    </a:solidFill>
                  </a:tcPr>
                </a:tc>
                <a:tc>
                  <a:txBody>
                    <a:bodyPr wrap="none"/>
                    <a:lstStyle/>
                    <a:p>
                      <a:pPr algn="l"/>
                      <a:r>
                        <a:rPr sz="800" b="0">
                          <a:solidFill>
                            <a:srgbClr val="2E2E2E"/>
                          </a:solidFill>
                          <a:latin typeface="Calibri"/>
                        </a:rPr>
                        <a:t>125.8</a:t>
                      </a:r>
                    </a:p>
                  </a:txBody>
                  <a:tcPr marL="85725" marR="38100" marT="19050" marB="19050" anchor="ctr">
                    <a:solidFill>
                      <a:srgbClr val="F5F8FA"/>
                    </a:solidFill>
                  </a:tcPr>
                </a:tc>
                <a:tc>
                  <a:txBody>
                    <a:bodyPr wrap="none"/>
                    <a:lstStyle/>
                    <a:p>
                      <a:pPr algn="l"/>
                      <a:r>
                        <a:rPr sz="800" b="0">
                          <a:solidFill>
                            <a:srgbClr val="2E2E2E"/>
                          </a:solidFill>
                          <a:latin typeface="Calibri"/>
                        </a:rPr>
                        <a:t>135.1</a:t>
                      </a:r>
                    </a:p>
                  </a:txBody>
                  <a:tcPr marL="85725" marR="38100" marT="19050" marB="19050" anchor="ctr">
                    <a:solidFill>
                      <a:srgbClr val="F5F8FA"/>
                    </a:solidFill>
                  </a:tcPr>
                </a:tc>
                <a:tc>
                  <a:txBody>
                    <a:bodyPr wrap="none"/>
                    <a:lstStyle/>
                    <a:p>
                      <a:pPr algn="l"/>
                      <a:r>
                        <a:rPr sz="800" b="0">
                          <a:solidFill>
                            <a:srgbClr val="2E2E2E"/>
                          </a:solidFill>
                          <a:latin typeface="Calibri"/>
                        </a:rPr>
                        <a:t>145.1</a:t>
                      </a:r>
                    </a:p>
                  </a:txBody>
                  <a:tcPr marL="85725" marR="38100" marT="19050" marB="19050" anchor="ctr">
                    <a:solidFill>
                      <a:srgbClr val="F5F8FA"/>
                    </a:solidFill>
                  </a:tcPr>
                </a:tc>
                <a:tc>
                  <a:txBody>
                    <a:bodyPr wrap="none"/>
                    <a:lstStyle/>
                    <a:p>
                      <a:pPr algn="l"/>
                      <a:r>
                        <a:rPr sz="800" b="0">
                          <a:solidFill>
                            <a:srgbClr val="2E2E2E"/>
                          </a:solidFill>
                          <a:latin typeface="Calibri"/>
                        </a:rPr>
                        <a:t>156.4</a:t>
                      </a:r>
                    </a:p>
                  </a:txBody>
                  <a:tcPr marL="85725" marR="38100" marT="19050" marB="19050" anchor="ctr">
                    <a:solidFill>
                      <a:srgbClr val="F5F8FA"/>
                    </a:solidFill>
                  </a:tcPr>
                </a:tc>
                <a:tc>
                  <a:txBody>
                    <a:bodyPr wrap="none"/>
                    <a:lstStyle/>
                    <a:p>
                      <a:pPr algn="l"/>
                      <a:r>
                        <a:rPr sz="800" b="0">
                          <a:solidFill>
                            <a:srgbClr val="2E2E2E"/>
                          </a:solidFill>
                          <a:latin typeface="Calibri"/>
                        </a:rPr>
                        <a:t>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0">
                          <a:solidFill>
                            <a:srgbClr val="2E2E2E"/>
                          </a:solidFill>
                          <a:latin typeface="Calibri"/>
                        </a:rPr>
                        <a:t>76.1</a:t>
                      </a:r>
                    </a:p>
                  </a:txBody>
                  <a:tcPr marL="85725" marR="38100" marT="19050" marB="19050" anchor="ctr">
                    <a:solidFill>
                      <a:srgbClr val="FFFFFF"/>
                    </a:solidFill>
                  </a:tcPr>
                </a:tc>
                <a:tc>
                  <a:txBody>
                    <a:bodyPr wrap="none"/>
                    <a:lstStyle/>
                    <a:p>
                      <a:pPr algn="l"/>
                      <a:r>
                        <a:rPr sz="800" b="0">
                          <a:solidFill>
                            <a:srgbClr val="2E2E2E"/>
                          </a:solidFill>
                          <a:latin typeface="Calibri"/>
                        </a:rPr>
                        <a:t>76.0</a:t>
                      </a:r>
                    </a:p>
                  </a:txBody>
                  <a:tcPr marL="85725" marR="38100" marT="19050" marB="19050" anchor="ctr">
                    <a:solidFill>
                      <a:srgbClr val="FFFFFF"/>
                    </a:solidFill>
                  </a:tcPr>
                </a:tc>
                <a:tc>
                  <a:txBody>
                    <a:bodyPr wrap="none"/>
                    <a:lstStyle/>
                    <a:p>
                      <a:pPr algn="l"/>
                      <a:r>
                        <a:rPr sz="800" b="0">
                          <a:solidFill>
                            <a:srgbClr val="2E2E2E"/>
                          </a:solidFill>
                          <a:latin typeface="Calibri"/>
                        </a:rPr>
                        <a:t>76.1</a:t>
                      </a:r>
                    </a:p>
                  </a:txBody>
                  <a:tcPr marL="85725" marR="38100" marT="19050" marB="19050" anchor="ctr">
                    <a:solidFill>
                      <a:srgbClr val="FFFFFF"/>
                    </a:solidFill>
                  </a:tcPr>
                </a:tc>
                <a:tc>
                  <a:txBody>
                    <a:bodyPr wrap="none"/>
                    <a:lstStyle/>
                    <a:p>
                      <a:pPr algn="l"/>
                      <a:r>
                        <a:rPr sz="800" b="0">
                          <a:solidFill>
                            <a:srgbClr val="2E2E2E"/>
                          </a:solidFill>
                          <a:latin typeface="Calibri"/>
                        </a:rPr>
                        <a:t>76.5</a:t>
                      </a:r>
                    </a:p>
                  </a:txBody>
                  <a:tcPr marL="85725" marR="38100" marT="19050" marB="19050" anchor="ctr">
                    <a:solidFill>
                      <a:srgbClr val="FFFFFF"/>
                    </a:solidFill>
                  </a:tcPr>
                </a:tc>
                <a:tc>
                  <a:txBody>
                    <a:bodyPr wrap="none"/>
                    <a:lstStyle/>
                    <a:p>
                      <a:pPr algn="l"/>
                      <a:r>
                        <a:rPr sz="800" b="0">
                          <a:solidFill>
                            <a:srgbClr val="2E2E2E"/>
                          </a:solidFill>
                          <a:latin typeface="Calibri"/>
                        </a:rPr>
                        <a:t>77.0</a:t>
                      </a:r>
                    </a:p>
                  </a:txBody>
                  <a:tcPr marL="85725" marR="38100" marT="19050" marB="19050" anchor="ctr">
                    <a:solidFill>
                      <a:srgbClr val="FFFFFF"/>
                    </a:solidFill>
                  </a:tcPr>
                </a:tc>
                <a:tc>
                  <a:txBody>
                    <a:bodyPr wrap="none"/>
                    <a:lstStyle/>
                    <a:p>
                      <a:pPr algn="l"/>
                      <a:r>
                        <a:rPr sz="800" b="0">
                          <a:solidFill>
                            <a:srgbClr val="2E2E2E"/>
                          </a:solidFill>
                          <a:latin typeface="Calibri"/>
                        </a:rPr>
                        <a:t>78.5</a:t>
                      </a:r>
                    </a:p>
                  </a:txBody>
                  <a:tcPr marL="85725" marR="38100" marT="19050" marB="19050" anchor="ctr">
                    <a:solidFill>
                      <a:srgbClr val="FFFFFF"/>
                    </a:solidFill>
                  </a:tcPr>
                </a:tc>
                <a:tc>
                  <a:txBody>
                    <a:bodyPr wrap="none"/>
                    <a:lstStyle/>
                    <a:p>
                      <a:pPr algn="l"/>
                      <a:r>
                        <a:rPr sz="800" b="0">
                          <a:solidFill>
                            <a:srgbClr val="2E2E2E"/>
                          </a:solidFill>
                          <a:latin typeface="Calibri"/>
                        </a:rPr>
                        <a:t>80.1</a:t>
                      </a:r>
                    </a:p>
                  </a:txBody>
                  <a:tcPr marL="85725" marR="38100" marT="19050" marB="19050" anchor="ctr">
                    <a:solidFill>
                      <a:srgbClr val="FFFFFF"/>
                    </a:solidFill>
                  </a:tcPr>
                </a:tc>
                <a:tc>
                  <a:txBody>
                    <a:bodyPr wrap="none"/>
                    <a:lstStyle/>
                    <a:p>
                      <a:pPr algn="l"/>
                      <a:r>
                        <a:rPr sz="800" b="0">
                          <a:solidFill>
                            <a:srgbClr val="2E2E2E"/>
                          </a:solidFill>
                          <a:latin typeface="Calibri"/>
                        </a:rPr>
                        <a:t>81.7</a:t>
                      </a:r>
                    </a:p>
                  </a:txBody>
                  <a:tcPr marL="85725" marR="38100" marT="19050" marB="19050" anchor="ctr">
                    <a:solidFill>
                      <a:srgbClr val="FFFFFF"/>
                    </a:solidFill>
                  </a:tcPr>
                </a:tc>
                <a:tc>
                  <a:txBody>
                    <a:bodyPr wrap="none"/>
                    <a:lstStyle/>
                    <a:p>
                      <a:pPr algn="l"/>
                      <a:r>
                        <a:rPr sz="800" b="0">
                          <a:solidFill>
                            <a:srgbClr val="2E2E2E"/>
                          </a:solidFill>
                          <a:latin typeface="Calibri"/>
                        </a:rPr>
                        <a:t>83.4</a:t>
                      </a:r>
                    </a:p>
                  </a:txBody>
                  <a:tcPr marL="85725" marR="38100" marT="19050" marB="19050" anchor="ctr">
                    <a:solidFill>
                      <a:srgbClr val="FFFFFF"/>
                    </a:solidFill>
                  </a:tcPr>
                </a:tc>
                <a:tc>
                  <a:txBody>
                    <a:bodyPr wrap="none"/>
                    <a:lstStyle/>
                    <a:p>
                      <a:pPr algn="l"/>
                      <a:r>
                        <a:rPr sz="800" b="0">
                          <a:solidFill>
                            <a:srgbClr val="2E2E2E"/>
                          </a:solidFill>
                          <a:latin typeface="Calibri"/>
                        </a:rPr>
                        <a:t>85.1</a:t>
                      </a:r>
                    </a:p>
                  </a:txBody>
                  <a:tcPr marL="85725" marR="38100" marT="19050" marB="19050" anchor="ctr">
                    <a:solidFill>
                      <a:srgbClr val="FFFFFF"/>
                    </a:solidFill>
                  </a:tcPr>
                </a:tc>
                <a:tc>
                  <a:txBody>
                    <a:bodyPr wrap="none"/>
                    <a:lstStyle/>
                    <a:p>
                      <a:pPr algn="l"/>
                      <a:r>
                        <a:rPr sz="800" b="0">
                          <a:solidFill>
                            <a:srgbClr val="2E2E2E"/>
                          </a:solidFill>
                          <a:latin typeface="Calibri"/>
                        </a:rPr>
                        <a:t>86.9</a:t>
                      </a:r>
                    </a:p>
                  </a:txBody>
                  <a:tcPr marL="85725" marR="38100" marT="19050" marB="19050" anchor="ctr">
                    <a:solidFill>
                      <a:srgbClr val="FFFFFF"/>
                    </a:solidFill>
                  </a:tcPr>
                </a:tc>
                <a:tc>
                  <a:txBody>
                    <a:bodyPr wrap="none"/>
                    <a:lstStyle/>
                    <a:p>
                      <a:pPr algn="l"/>
                      <a:r>
                        <a:rPr sz="800" b="0">
                          <a:solidFill>
                            <a:srgbClr val="2E2E2E"/>
                          </a:solidFill>
                          <a:latin typeface="Calibri"/>
                        </a:rPr>
                        <a:t>88.7</a:t>
                      </a:r>
                    </a:p>
                  </a:txBody>
                  <a:tcPr marL="85725" marR="38100" marT="19050" marB="19050" anchor="ctr">
                    <a:solidFill>
                      <a:srgbClr val="FFFFFF"/>
                    </a:solidFill>
                  </a:tcPr>
                </a:tc>
                <a:tc>
                  <a:txBody>
                    <a:bodyPr wrap="none"/>
                    <a:lstStyle/>
                    <a:p>
                      <a:pPr algn="l"/>
                      <a:r>
                        <a:rPr sz="800" b="0">
                          <a:solidFill>
                            <a:srgbClr val="2E2E2E"/>
                          </a:solidFill>
                          <a:latin typeface="Calibri"/>
                        </a:rPr>
                        <a:t>90.4</a:t>
                      </a:r>
                    </a:p>
                  </a:txBody>
                  <a:tcPr marL="85725" marR="38100" marT="19050" marB="19050" anchor="ctr">
                    <a:solidFill>
                      <a:srgbClr val="FFFFFF"/>
                    </a:solidFill>
                  </a:tcPr>
                </a:tc>
                <a:tc>
                  <a:txBody>
                    <a:bodyPr wrap="none"/>
                    <a:lstStyle/>
                    <a:p>
                      <a:pPr algn="l"/>
                      <a:r>
                        <a:rPr sz="800" b="0">
                          <a:solidFill>
                            <a:srgbClr val="2E2E2E"/>
                          </a:solidFill>
                          <a:latin typeface="Calibri"/>
                        </a:rPr>
                        <a:t>92.5</a:t>
                      </a:r>
                    </a:p>
                  </a:txBody>
                  <a:tcPr marL="85725" marR="38100" marT="19050" marB="19050" anchor="ctr">
                    <a:solidFill>
                      <a:srgbClr val="FFFFFF"/>
                    </a:solidFill>
                  </a:tcPr>
                </a:tc>
                <a:tc>
                  <a:txBody>
                    <a:bodyPr wrap="none"/>
                    <a:lstStyle/>
                    <a:p>
                      <a:pPr algn="l"/>
                      <a:r>
                        <a:rPr sz="800" b="0">
                          <a:solidFill>
                            <a:srgbClr val="2E2E2E"/>
                          </a:solidFill>
                          <a:latin typeface="Calibri"/>
                        </a:rPr>
                        <a:t>94.5</a:t>
                      </a:r>
                    </a:p>
                  </a:txBody>
                  <a:tcPr marL="85725" marR="38100" marT="19050" marB="19050" anchor="ctr">
                    <a:solidFill>
                      <a:srgbClr val="FFFFFF"/>
                    </a:solidFill>
                  </a:tcPr>
                </a:tc>
                <a:tc>
                  <a:txBody>
                    <a:bodyPr wrap="none"/>
                    <a:lstStyle/>
                    <a:p>
                      <a:pPr algn="l"/>
                      <a:r>
                        <a:rPr sz="800" b="0">
                          <a:solidFill>
                            <a:srgbClr val="2E2E2E"/>
                          </a:solidFill>
                          <a:latin typeface="Calibri"/>
                        </a:rPr>
                        <a:t>96.9</a:t>
                      </a:r>
                    </a:p>
                  </a:txBody>
                  <a:tcPr marL="85725" marR="38100" marT="19050" marB="19050" anchor="ctr">
                    <a:solidFill>
                      <a:srgbClr val="FFFFFF"/>
                    </a:solidFill>
                  </a:tcPr>
                </a:tc>
                <a:tc>
                  <a:txBody>
                    <a:bodyPr wrap="none"/>
                    <a:lstStyle/>
                    <a:p>
                      <a:pPr algn="l"/>
                      <a:r>
                        <a:rPr sz="800" b="0">
                          <a:solidFill>
                            <a:srgbClr val="2E2E2E"/>
                          </a:solidFill>
                          <a:latin typeface="Calibri"/>
                        </a:rPr>
                        <a:t>2.1%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0">
                          <a:solidFill>
                            <a:srgbClr val="2E2E2E"/>
                          </a:solidFill>
                          <a:latin typeface="Calibri"/>
                        </a:rPr>
                        <a:t>67.6</a:t>
                      </a:r>
                    </a:p>
                  </a:txBody>
                  <a:tcPr marL="85725" marR="38100" marT="19050" marB="19050" anchor="ctr">
                    <a:solidFill>
                      <a:srgbClr val="F5F8FA"/>
                    </a:solidFill>
                  </a:tcPr>
                </a:tc>
                <a:tc>
                  <a:txBody>
                    <a:bodyPr wrap="none"/>
                    <a:lstStyle/>
                    <a:p>
                      <a:pPr algn="l"/>
                      <a:r>
                        <a:rPr sz="800" b="0">
                          <a:solidFill>
                            <a:srgbClr val="2E2E2E"/>
                          </a:solidFill>
                          <a:latin typeface="Calibri"/>
                        </a:rPr>
                        <a:t>71.3</a:t>
                      </a:r>
                    </a:p>
                  </a:txBody>
                  <a:tcPr marL="85725" marR="38100" marT="19050" marB="19050" anchor="ctr">
                    <a:solidFill>
                      <a:srgbClr val="F5F8FA"/>
                    </a:solidFill>
                  </a:tcPr>
                </a:tc>
                <a:tc>
                  <a:txBody>
                    <a:bodyPr wrap="none"/>
                    <a:lstStyle/>
                    <a:p>
                      <a:pPr algn="l"/>
                      <a:r>
                        <a:rPr sz="800" b="0">
                          <a:solidFill>
                            <a:srgbClr val="2E2E2E"/>
                          </a:solidFill>
                          <a:latin typeface="Calibri"/>
                        </a:rPr>
                        <a:t>75.5</a:t>
                      </a:r>
                    </a:p>
                  </a:txBody>
                  <a:tcPr marL="85725" marR="38100" marT="19050" marB="19050" anchor="ctr">
                    <a:solidFill>
                      <a:srgbClr val="F5F8FA"/>
                    </a:solidFill>
                  </a:tcPr>
                </a:tc>
                <a:tc>
                  <a:txBody>
                    <a:bodyPr wrap="none"/>
                    <a:lstStyle/>
                    <a:p>
                      <a:pPr algn="l"/>
                      <a:r>
                        <a:rPr sz="800" b="0">
                          <a:solidFill>
                            <a:srgbClr val="2E2E2E"/>
                          </a:solidFill>
                          <a:latin typeface="Calibri"/>
                        </a:rPr>
                        <a:t>80.4</a:t>
                      </a:r>
                    </a:p>
                  </a:txBody>
                  <a:tcPr marL="85725" marR="38100" marT="19050" marB="19050" anchor="ctr">
                    <a:solidFill>
                      <a:srgbClr val="F5F8FA"/>
                    </a:solidFill>
                  </a:tcPr>
                </a:tc>
                <a:tc>
                  <a:txBody>
                    <a:bodyPr wrap="none"/>
                    <a:lstStyle/>
                    <a:p>
                      <a:pPr algn="l"/>
                      <a:r>
                        <a:rPr sz="800" b="0">
                          <a:solidFill>
                            <a:srgbClr val="2E2E2E"/>
                          </a:solidFill>
                          <a:latin typeface="Calibri"/>
                        </a:rPr>
                        <a:t>85.7</a:t>
                      </a:r>
                    </a:p>
                  </a:txBody>
                  <a:tcPr marL="85725" marR="38100" marT="19050" marB="19050" anchor="ctr">
                    <a:solidFill>
                      <a:srgbClr val="F5F8FA"/>
                    </a:solidFill>
                  </a:tcPr>
                </a:tc>
                <a:tc>
                  <a:txBody>
                    <a:bodyPr wrap="none"/>
                    <a:lstStyle/>
                    <a:p>
                      <a:pPr algn="l"/>
                      <a:r>
                        <a:rPr sz="800" b="0">
                          <a:solidFill>
                            <a:srgbClr val="2E2E2E"/>
                          </a:solidFill>
                          <a:latin typeface="Calibri"/>
                        </a:rPr>
                        <a:t>91.4</a:t>
                      </a:r>
                    </a:p>
                  </a:txBody>
                  <a:tcPr marL="85725" marR="38100" marT="19050" marB="19050" anchor="ctr">
                    <a:solidFill>
                      <a:srgbClr val="F5F8FA"/>
                    </a:solidFill>
                  </a:tcPr>
                </a:tc>
                <a:tc>
                  <a:txBody>
                    <a:bodyPr wrap="none"/>
                    <a:lstStyle/>
                    <a:p>
                      <a:pPr algn="l"/>
                      <a:r>
                        <a:rPr sz="800" b="0">
                          <a:solidFill>
                            <a:srgbClr val="2E2E2E"/>
                          </a:solidFill>
                          <a:latin typeface="Calibri"/>
                        </a:rPr>
                        <a:t>97.8</a:t>
                      </a:r>
                    </a:p>
                  </a:txBody>
                  <a:tcPr marL="85725" marR="38100" marT="19050" marB="19050" anchor="ctr">
                    <a:solidFill>
                      <a:srgbClr val="F5F8FA"/>
                    </a:solidFill>
                  </a:tcPr>
                </a:tc>
                <a:tc>
                  <a:txBody>
                    <a:bodyPr wrap="none"/>
                    <a:lstStyle/>
                    <a:p>
                      <a:pPr algn="l"/>
                      <a:r>
                        <a:rPr sz="800" b="0">
                          <a:solidFill>
                            <a:srgbClr val="2E2E2E"/>
                          </a:solidFill>
                          <a:latin typeface="Calibri"/>
                        </a:rPr>
                        <a:t>104.6</a:t>
                      </a:r>
                    </a:p>
                  </a:txBody>
                  <a:tcPr marL="85725" marR="38100" marT="19050" marB="19050" anchor="ctr">
                    <a:solidFill>
                      <a:srgbClr val="F5F8FA"/>
                    </a:solidFill>
                  </a:tcPr>
                </a:tc>
                <a:tc>
                  <a:txBody>
                    <a:bodyPr wrap="none"/>
                    <a:lstStyle/>
                    <a:p>
                      <a:pPr algn="l"/>
                      <a:r>
                        <a:rPr sz="800" b="0">
                          <a:solidFill>
                            <a:srgbClr val="2E2E2E"/>
                          </a:solidFill>
                          <a:latin typeface="Calibri"/>
                        </a:rPr>
                        <a:t>112.1</a:t>
                      </a:r>
                    </a:p>
                  </a:txBody>
                  <a:tcPr marL="85725" marR="38100" marT="19050" marB="19050" anchor="ctr">
                    <a:solidFill>
                      <a:srgbClr val="F5F8FA"/>
                    </a:solidFill>
                  </a:tcPr>
                </a:tc>
                <a:tc>
                  <a:txBody>
                    <a:bodyPr wrap="none"/>
                    <a:lstStyle/>
                    <a:p>
                      <a:pPr algn="l"/>
                      <a:r>
                        <a:rPr sz="800" b="0">
                          <a:solidFill>
                            <a:srgbClr val="2E2E2E"/>
                          </a:solidFill>
                          <a:latin typeface="Calibri"/>
                        </a:rPr>
                        <a:t>120.2</a:t>
                      </a:r>
                    </a:p>
                  </a:txBody>
                  <a:tcPr marL="85725" marR="38100" marT="19050" marB="19050" anchor="ctr">
                    <a:solidFill>
                      <a:srgbClr val="F5F8FA"/>
                    </a:solidFill>
                  </a:tcPr>
                </a:tc>
                <a:tc>
                  <a:txBody>
                    <a:bodyPr wrap="none"/>
                    <a:lstStyle/>
                    <a:p>
                      <a:pPr algn="l"/>
                      <a:r>
                        <a:rPr sz="800" b="0">
                          <a:solidFill>
                            <a:srgbClr val="2E2E2E"/>
                          </a:solidFill>
                          <a:latin typeface="Calibri"/>
                        </a:rPr>
                        <a:t>129.1</a:t>
                      </a:r>
                    </a:p>
                  </a:txBody>
                  <a:tcPr marL="85725" marR="38100" marT="19050" marB="19050" anchor="ctr">
                    <a:solidFill>
                      <a:srgbClr val="F5F8FA"/>
                    </a:solidFill>
                  </a:tcPr>
                </a:tc>
                <a:tc>
                  <a:txBody>
                    <a:bodyPr wrap="none"/>
                    <a:lstStyle/>
                    <a:p>
                      <a:pPr algn="l"/>
                      <a:r>
                        <a:rPr sz="800" b="0">
                          <a:solidFill>
                            <a:srgbClr val="2E2E2E"/>
                          </a:solidFill>
                          <a:latin typeface="Calibri"/>
                        </a:rPr>
                        <a:t>138.7</a:t>
                      </a:r>
                    </a:p>
                  </a:txBody>
                  <a:tcPr marL="85725" marR="38100" marT="19050" marB="19050" anchor="ctr">
                    <a:solidFill>
                      <a:srgbClr val="F5F8FA"/>
                    </a:solidFill>
                  </a:tcPr>
                </a:tc>
                <a:tc>
                  <a:txBody>
                    <a:bodyPr wrap="none"/>
                    <a:lstStyle/>
                    <a:p>
                      <a:pPr algn="l"/>
                      <a:r>
                        <a:rPr sz="800" b="0">
                          <a:solidFill>
                            <a:srgbClr val="2E2E2E"/>
                          </a:solidFill>
                          <a:latin typeface="Calibri"/>
                        </a:rPr>
                        <a:t>149.1</a:t>
                      </a:r>
                    </a:p>
                  </a:txBody>
                  <a:tcPr marL="85725" marR="38100" marT="19050" marB="19050" anchor="ctr">
                    <a:solidFill>
                      <a:srgbClr val="F5F8FA"/>
                    </a:solidFill>
                  </a:tcPr>
                </a:tc>
                <a:tc>
                  <a:txBody>
                    <a:bodyPr wrap="none"/>
                    <a:lstStyle/>
                    <a:p>
                      <a:pPr algn="l"/>
                      <a:r>
                        <a:rPr sz="800" b="0">
                          <a:solidFill>
                            <a:srgbClr val="2E2E2E"/>
                          </a:solidFill>
                          <a:latin typeface="Calibri"/>
                        </a:rPr>
                        <a:t>160.8</a:t>
                      </a:r>
                    </a:p>
                  </a:txBody>
                  <a:tcPr marL="85725" marR="38100" marT="19050" marB="19050" anchor="ctr">
                    <a:solidFill>
                      <a:srgbClr val="F5F8FA"/>
                    </a:solidFill>
                  </a:tcPr>
                </a:tc>
                <a:tc>
                  <a:txBody>
                    <a:bodyPr wrap="none"/>
                    <a:lstStyle/>
                    <a:p>
                      <a:pPr algn="l"/>
                      <a:r>
                        <a:rPr sz="800" b="0">
                          <a:solidFill>
                            <a:srgbClr val="2E2E2E"/>
                          </a:solidFill>
                          <a:latin typeface="Calibri"/>
                        </a:rPr>
                        <a:t>173.4</a:t>
                      </a:r>
                    </a:p>
                  </a:txBody>
                  <a:tcPr marL="85725" marR="38100" marT="19050" marB="19050" anchor="ctr">
                    <a:solidFill>
                      <a:srgbClr val="F5F8FA"/>
                    </a:solidFill>
                  </a:tcPr>
                </a:tc>
                <a:tc>
                  <a:txBody>
                    <a:bodyPr wrap="none"/>
                    <a:lstStyle/>
                    <a:p>
                      <a:pPr algn="l"/>
                      <a:r>
                        <a:rPr sz="800" b="0">
                          <a:solidFill>
                            <a:srgbClr val="2E2E2E"/>
                          </a:solidFill>
                          <a:latin typeface="Calibri"/>
                        </a:rPr>
                        <a:t>187.9</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0">
                          <a:solidFill>
                            <a:srgbClr val="2E2E2E"/>
                          </a:solidFill>
                          <a:latin typeface="Calibri"/>
                        </a:rPr>
                        <a:t>21.2</a:t>
                      </a:r>
                    </a:p>
                  </a:txBody>
                  <a:tcPr marL="85725" marR="38100" marT="19050" marB="19050" anchor="ctr">
                    <a:solidFill>
                      <a:srgbClr val="FFFFFF"/>
                    </a:solidFill>
                  </a:tcPr>
                </a:tc>
                <a:tc>
                  <a:txBody>
                    <a:bodyPr wrap="none"/>
                    <a:lstStyle/>
                    <a:p>
                      <a:pPr algn="l"/>
                      <a:r>
                        <a:rPr sz="800" b="0">
                          <a:solidFill>
                            <a:srgbClr val="2E2E2E"/>
                          </a:solidFill>
                          <a:latin typeface="Calibri"/>
                        </a:rPr>
                        <a:t>24.1</a:t>
                      </a:r>
                    </a:p>
                  </a:txBody>
                  <a:tcPr marL="85725" marR="38100" marT="19050" marB="19050" anchor="ctr">
                    <a:solidFill>
                      <a:srgbClr val="FFFFFF"/>
                    </a:solidFill>
                  </a:tcPr>
                </a:tc>
                <a:tc>
                  <a:txBody>
                    <a:bodyPr wrap="none"/>
                    <a:lstStyle/>
                    <a:p>
                      <a:pPr algn="l"/>
                      <a:r>
                        <a:rPr sz="800" b="0">
                          <a:solidFill>
                            <a:srgbClr val="2E2E2E"/>
                          </a:solidFill>
                          <a:latin typeface="Calibri"/>
                        </a:rPr>
                        <a:t>27.4</a:t>
                      </a:r>
                    </a:p>
                  </a:txBody>
                  <a:tcPr marL="85725" marR="38100" marT="19050" marB="19050" anchor="ctr">
                    <a:solidFill>
                      <a:srgbClr val="FFFFFF"/>
                    </a:solidFill>
                  </a:tcPr>
                </a:tc>
                <a:tc>
                  <a:txBody>
                    <a:bodyPr wrap="none"/>
                    <a:lstStyle/>
                    <a:p>
                      <a:pPr algn="l"/>
                      <a:r>
                        <a:rPr sz="800" b="0">
                          <a:solidFill>
                            <a:srgbClr val="2E2E2E"/>
                          </a:solidFill>
                          <a:latin typeface="Calibri"/>
                        </a:rPr>
                        <a:t>31.3</a:t>
                      </a:r>
                    </a:p>
                  </a:txBody>
                  <a:tcPr marL="85725" marR="38100" marT="19050" marB="19050" anchor="ctr">
                    <a:solidFill>
                      <a:srgbClr val="FFFFFF"/>
                    </a:solidFill>
                  </a:tcPr>
                </a:tc>
                <a:tc>
                  <a:txBody>
                    <a:bodyPr wrap="none"/>
                    <a:lstStyle/>
                    <a:p>
                      <a:pPr algn="l"/>
                      <a:r>
                        <a:rPr sz="800" b="0">
                          <a:solidFill>
                            <a:srgbClr val="2E2E2E"/>
                          </a:solidFill>
                          <a:latin typeface="Calibri"/>
                        </a:rPr>
                        <a:t>35.8</a:t>
                      </a:r>
                    </a:p>
                  </a:txBody>
                  <a:tcPr marL="85725" marR="38100" marT="19050" marB="19050" anchor="ctr">
                    <a:solidFill>
                      <a:srgbClr val="FFFFFF"/>
                    </a:solidFill>
                  </a:tcPr>
                </a:tc>
                <a:tc>
                  <a:txBody>
                    <a:bodyPr wrap="none"/>
                    <a:lstStyle/>
                    <a:p>
                      <a:pPr algn="l"/>
                      <a:r>
                        <a:rPr sz="800" b="0">
                          <a:solidFill>
                            <a:srgbClr val="2E2E2E"/>
                          </a:solidFill>
                          <a:latin typeface="Calibri"/>
                        </a:rPr>
                        <a:t>41.0</a:t>
                      </a:r>
                    </a:p>
                  </a:txBody>
                  <a:tcPr marL="85725" marR="38100" marT="19050" marB="19050" anchor="ctr">
                    <a:solidFill>
                      <a:srgbClr val="FFFFFF"/>
                    </a:solidFill>
                  </a:tcPr>
                </a:tc>
                <a:tc>
                  <a:txBody>
                    <a:bodyPr wrap="none"/>
                    <a:lstStyle/>
                    <a:p>
                      <a:pPr algn="l"/>
                      <a:r>
                        <a:rPr sz="800" b="0">
                          <a:solidFill>
                            <a:srgbClr val="2E2E2E"/>
                          </a:solidFill>
                          <a:latin typeface="Calibri"/>
                        </a:rPr>
                        <a:t>47.1</a:t>
                      </a:r>
                    </a:p>
                  </a:txBody>
                  <a:tcPr marL="85725" marR="38100" marT="19050" marB="19050" anchor="ctr">
                    <a:solidFill>
                      <a:srgbClr val="FFFFFF"/>
                    </a:solidFill>
                  </a:tcPr>
                </a:tc>
                <a:tc>
                  <a:txBody>
                    <a:bodyPr wrap="none"/>
                    <a:lstStyle/>
                    <a:p>
                      <a:pPr algn="l"/>
                      <a:r>
                        <a:rPr sz="800" b="0">
                          <a:solidFill>
                            <a:srgbClr val="2E2E2E"/>
                          </a:solidFill>
                          <a:latin typeface="Calibri"/>
                        </a:rPr>
                        <a:t>54.1</a:t>
                      </a:r>
                    </a:p>
                  </a:txBody>
                  <a:tcPr marL="85725" marR="38100" marT="19050" marB="19050" anchor="ctr">
                    <a:solidFill>
                      <a:srgbClr val="FFFFFF"/>
                    </a:solidFill>
                  </a:tcPr>
                </a:tc>
                <a:tc>
                  <a:txBody>
                    <a:bodyPr wrap="none"/>
                    <a:lstStyle/>
                    <a:p>
                      <a:pPr algn="l"/>
                      <a:r>
                        <a:rPr sz="800" b="0">
                          <a:solidFill>
                            <a:srgbClr val="2E2E2E"/>
                          </a:solidFill>
                          <a:latin typeface="Calibri"/>
                        </a:rPr>
                        <a:t>62.2</a:t>
                      </a:r>
                    </a:p>
                  </a:txBody>
                  <a:tcPr marL="85725" marR="38100" marT="19050" marB="19050" anchor="ctr">
                    <a:solidFill>
                      <a:srgbClr val="FFFFFF"/>
                    </a:solidFill>
                  </a:tcPr>
                </a:tc>
                <a:tc>
                  <a:txBody>
                    <a:bodyPr wrap="none"/>
                    <a:lstStyle/>
                    <a:p>
                      <a:pPr algn="l"/>
                      <a:r>
                        <a:rPr sz="800" b="0">
                          <a:solidFill>
                            <a:srgbClr val="2E2E2E"/>
                          </a:solidFill>
                          <a:latin typeface="Calibri"/>
                        </a:rPr>
                        <a:t>71.6</a:t>
                      </a:r>
                    </a:p>
                  </a:txBody>
                  <a:tcPr marL="85725" marR="38100" marT="19050" marB="19050" anchor="ctr">
                    <a:solidFill>
                      <a:srgbClr val="FFFFFF"/>
                    </a:solidFill>
                  </a:tcPr>
                </a:tc>
                <a:tc>
                  <a:txBody>
                    <a:bodyPr wrap="none"/>
                    <a:lstStyle/>
                    <a:p>
                      <a:pPr algn="l"/>
                      <a:r>
                        <a:rPr sz="800" b="0">
                          <a:solidFill>
                            <a:srgbClr val="2E2E2E"/>
                          </a:solidFill>
                          <a:latin typeface="Calibri"/>
                        </a:rPr>
                        <a:t>82.4</a:t>
                      </a:r>
                    </a:p>
                  </a:txBody>
                  <a:tcPr marL="85725" marR="38100" marT="19050" marB="19050" anchor="ctr">
                    <a:solidFill>
                      <a:srgbClr val="FFFFFF"/>
                    </a:solidFill>
                  </a:tcPr>
                </a:tc>
                <a:tc>
                  <a:txBody>
                    <a:bodyPr wrap="none"/>
                    <a:lstStyle/>
                    <a:p>
                      <a:pPr algn="l"/>
                      <a:r>
                        <a:rPr sz="800" b="0">
                          <a:solidFill>
                            <a:srgbClr val="2E2E2E"/>
                          </a:solidFill>
                          <a:latin typeface="Calibri"/>
                        </a:rPr>
                        <a:t>94.9</a:t>
                      </a:r>
                    </a:p>
                  </a:txBody>
                  <a:tcPr marL="85725" marR="38100" marT="19050" marB="19050" anchor="ctr">
                    <a:solidFill>
                      <a:srgbClr val="FFFFFF"/>
                    </a:solidFill>
                  </a:tcPr>
                </a:tc>
                <a:tc>
                  <a:txBody>
                    <a:bodyPr wrap="none"/>
                    <a:lstStyle/>
                    <a:p>
                      <a:pPr algn="l"/>
                      <a:r>
                        <a:rPr sz="800" b="0">
                          <a:solidFill>
                            <a:srgbClr val="2E2E2E"/>
                          </a:solidFill>
                          <a:latin typeface="Calibri"/>
                        </a:rPr>
                        <a:t>109.3</a:t>
                      </a:r>
                    </a:p>
                  </a:txBody>
                  <a:tcPr marL="85725" marR="38100" marT="19050" marB="19050" anchor="ctr">
                    <a:solidFill>
                      <a:srgbClr val="FFFFFF"/>
                    </a:solidFill>
                  </a:tcPr>
                </a:tc>
                <a:tc>
                  <a:txBody>
                    <a:bodyPr wrap="none"/>
                    <a:lstStyle/>
                    <a:p>
                      <a:pPr algn="l"/>
                      <a:r>
                        <a:rPr sz="800" b="0">
                          <a:solidFill>
                            <a:srgbClr val="2E2E2E"/>
                          </a:solidFill>
                          <a:latin typeface="Calibri"/>
                        </a:rPr>
                        <a:t>126.3</a:t>
                      </a:r>
                    </a:p>
                  </a:txBody>
                  <a:tcPr marL="85725" marR="38100" marT="19050" marB="19050" anchor="ctr">
                    <a:solidFill>
                      <a:srgbClr val="FFFFFF"/>
                    </a:solidFill>
                  </a:tcPr>
                </a:tc>
                <a:tc>
                  <a:txBody>
                    <a:bodyPr wrap="none"/>
                    <a:lstStyle/>
                    <a:p>
                      <a:pPr algn="l"/>
                      <a:r>
                        <a:rPr sz="800" b="0">
                          <a:solidFill>
                            <a:srgbClr val="2E2E2E"/>
                          </a:solidFill>
                          <a:latin typeface="Calibri"/>
                        </a:rPr>
                        <a:t>145.8</a:t>
                      </a:r>
                    </a:p>
                  </a:txBody>
                  <a:tcPr marL="85725" marR="38100" marT="19050" marB="19050" anchor="ctr">
                    <a:solidFill>
                      <a:srgbClr val="FFFFFF"/>
                    </a:solidFill>
                  </a:tcPr>
                </a:tc>
                <a:tc>
                  <a:txBody>
                    <a:bodyPr wrap="none"/>
                    <a:lstStyle/>
                    <a:p>
                      <a:pPr algn="l"/>
                      <a:r>
                        <a:rPr sz="800" b="0">
                          <a:solidFill>
                            <a:srgbClr val="2E2E2E"/>
                          </a:solidFill>
                          <a:latin typeface="Calibri"/>
                        </a:rPr>
                        <a:t>169.0</a:t>
                      </a:r>
                    </a:p>
                  </a:txBody>
                  <a:tcPr marL="85725" marR="38100" marT="19050" marB="19050" anchor="ctr">
                    <a:solidFill>
                      <a:srgbClr val="FFFFFF"/>
                    </a:solidFill>
                  </a:tcPr>
                </a:tc>
                <a:tc>
                  <a:txBody>
                    <a:bodyPr wrap="none"/>
                    <a:lstStyle/>
                    <a:p>
                      <a:pPr algn="l"/>
                      <a:r>
                        <a:rPr sz="800" b="0">
                          <a:solidFill>
                            <a:srgbClr val="2E2E2E"/>
                          </a:solidFill>
                          <a:latin typeface="Calibri"/>
                        </a:rPr>
                        <a:t>15.2%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c>
                  <a:txBody>
                    <a:bodyPr wrap="none"/>
                    <a:lstStyle/>
                    <a:p>
                      <a:pPr algn="l"/>
                      <a:r>
                        <a:rPr sz="800" b="0">
                          <a:solidFill>
                            <a:srgbClr val="2E2E2E"/>
                          </a:solidFill>
                          <a:latin typeface="Calibri"/>
                        </a:rPr>
                        <a:t>14.3</a:t>
                      </a:r>
                    </a:p>
                  </a:txBody>
                  <a:tcPr marL="85725" marR="38100" marT="19050" marB="19050" anchor="ctr">
                    <a:solidFill>
                      <a:srgbClr val="F5F8FA"/>
                    </a:solidFill>
                  </a:tcPr>
                </a:tc>
                <a:tc>
                  <a:txBody>
                    <a:bodyPr wrap="none"/>
                    <a:lstStyle/>
                    <a:p>
                      <a:pPr algn="l"/>
                      <a:r>
                        <a:rPr sz="800" b="0">
                          <a:solidFill>
                            <a:srgbClr val="2E2E2E"/>
                          </a:solidFill>
                          <a:latin typeface="Calibri"/>
                        </a:rPr>
                        <a:t>15.4</a:t>
                      </a:r>
                    </a:p>
                  </a:txBody>
                  <a:tcPr marL="85725" marR="38100" marT="19050" marB="19050" anchor="ctr">
                    <a:solidFill>
                      <a:srgbClr val="F5F8FA"/>
                    </a:solidFill>
                  </a:tcPr>
                </a:tc>
                <a:tc>
                  <a:txBody>
                    <a:bodyPr wrap="none"/>
                    <a:lstStyle/>
                    <a:p>
                      <a:pPr algn="l"/>
                      <a:r>
                        <a:rPr sz="800" b="0">
                          <a:solidFill>
                            <a:srgbClr val="2E2E2E"/>
                          </a:solidFill>
                          <a:latin typeface="Calibri"/>
                        </a:rPr>
                        <a:t>16.7</a:t>
                      </a:r>
                    </a:p>
                  </a:txBody>
                  <a:tcPr marL="85725" marR="38100" marT="19050" marB="19050" anchor="ctr">
                    <a:solidFill>
                      <a:srgbClr val="F5F8FA"/>
                    </a:solidFill>
                  </a:tcPr>
                </a:tc>
                <a:tc>
                  <a:txBody>
                    <a:bodyPr wrap="none"/>
                    <a:lstStyle/>
                    <a:p>
                      <a:pPr algn="l"/>
                      <a:r>
                        <a:rPr sz="800" b="0">
                          <a:solidFill>
                            <a:srgbClr val="2E2E2E"/>
                          </a:solidFill>
                          <a:latin typeface="Calibri"/>
                        </a:rPr>
                        <a:t>18.1</a:t>
                      </a:r>
                    </a:p>
                  </a:txBody>
                  <a:tcPr marL="85725" marR="38100" marT="19050" marB="19050" anchor="ctr">
                    <a:solidFill>
                      <a:srgbClr val="F5F8FA"/>
                    </a:solidFill>
                  </a:tcPr>
                </a:tc>
                <a:tc>
                  <a:txBody>
                    <a:bodyPr wrap="none"/>
                    <a:lstStyle/>
                    <a:p>
                      <a:pPr algn="l"/>
                      <a:r>
                        <a:rPr sz="800" b="0">
                          <a:solidFill>
                            <a:srgbClr val="2E2E2E"/>
                          </a:solidFill>
                          <a:latin typeface="Calibri"/>
                        </a:rPr>
                        <a:t>19.7</a:t>
                      </a:r>
                    </a:p>
                  </a:txBody>
                  <a:tcPr marL="85725" marR="38100" marT="19050" marB="19050" anchor="ctr">
                    <a:solidFill>
                      <a:srgbClr val="F5F8FA"/>
                    </a:solidFill>
                  </a:tcPr>
                </a:tc>
                <a:tc>
                  <a:txBody>
                    <a:bodyPr wrap="none"/>
                    <a:lstStyle/>
                    <a:p>
                      <a:pPr algn="l"/>
                      <a:r>
                        <a:rPr sz="800" b="0">
                          <a:solidFill>
                            <a:srgbClr val="2E2E2E"/>
                          </a:solidFill>
                          <a:latin typeface="Calibri"/>
                        </a:rPr>
                        <a:t>21.4</a:t>
                      </a:r>
                    </a:p>
                  </a:txBody>
                  <a:tcPr marL="85725" marR="38100" marT="19050" marB="19050" anchor="ctr">
                    <a:solidFill>
                      <a:srgbClr val="F5F8FA"/>
                    </a:solidFill>
                  </a:tcPr>
                </a:tc>
                <a:tc>
                  <a:txBody>
                    <a:bodyPr wrap="none"/>
                    <a:lstStyle/>
                    <a:p>
                      <a:pPr algn="l"/>
                      <a:r>
                        <a:rPr sz="800" b="0">
                          <a:solidFill>
                            <a:srgbClr val="2E2E2E"/>
                          </a:solidFill>
                          <a:latin typeface="Calibri"/>
                        </a:rPr>
                        <a:t>23.2</a:t>
                      </a:r>
                    </a:p>
                  </a:txBody>
                  <a:tcPr marL="85725" marR="38100" marT="19050" marB="19050" anchor="ctr">
                    <a:solidFill>
                      <a:srgbClr val="F5F8FA"/>
                    </a:solidFill>
                  </a:tcPr>
                </a:tc>
                <a:tc>
                  <a:txBody>
                    <a:bodyPr wrap="none"/>
                    <a:lstStyle/>
                    <a:p>
                      <a:pPr algn="l"/>
                      <a:r>
                        <a:rPr sz="800" b="0">
                          <a:solidFill>
                            <a:srgbClr val="2E2E2E"/>
                          </a:solidFill>
                          <a:latin typeface="Calibri"/>
                        </a:rPr>
                        <a:t>25.3</a:t>
                      </a:r>
                    </a:p>
                  </a:txBody>
                  <a:tcPr marL="85725" marR="38100" marT="19050" marB="19050" anchor="ctr">
                    <a:solidFill>
                      <a:srgbClr val="F5F8FA"/>
                    </a:solidFill>
                  </a:tcPr>
                </a:tc>
                <a:tc>
                  <a:txBody>
                    <a:bodyPr wrap="none"/>
                    <a:lstStyle/>
                    <a:p>
                      <a:pPr algn="l"/>
                      <a:r>
                        <a:rPr sz="800" b="0">
                          <a:solidFill>
                            <a:srgbClr val="2E2E2E"/>
                          </a:solidFill>
                          <a:latin typeface="Calibri"/>
                        </a:rPr>
                        <a:t>27.5</a:t>
                      </a:r>
                    </a:p>
                  </a:txBody>
                  <a:tcPr marL="85725" marR="38100" marT="19050" marB="19050" anchor="ctr">
                    <a:solidFill>
                      <a:srgbClr val="F5F8FA"/>
                    </a:solidFill>
                  </a:tcPr>
                </a:tc>
                <a:tc>
                  <a:txBody>
                    <a:bodyPr wrap="none"/>
                    <a:lstStyle/>
                    <a:p>
                      <a:pPr algn="l"/>
                      <a:r>
                        <a:rPr sz="800" b="0">
                          <a:solidFill>
                            <a:srgbClr val="2E2E2E"/>
                          </a:solidFill>
                          <a:latin typeface="Calibri"/>
                        </a:rPr>
                        <a:t>29.9</a:t>
                      </a:r>
                    </a:p>
                  </a:txBody>
                  <a:tcPr marL="85725" marR="38100" marT="19050" marB="19050" anchor="ctr">
                    <a:solidFill>
                      <a:srgbClr val="F5F8FA"/>
                    </a:solidFill>
                  </a:tcPr>
                </a:tc>
                <a:tc>
                  <a:txBody>
                    <a:bodyPr wrap="none"/>
                    <a:lstStyle/>
                    <a:p>
                      <a:pPr algn="l"/>
                      <a:r>
                        <a:rPr sz="800" b="0">
                          <a:solidFill>
                            <a:srgbClr val="2E2E2E"/>
                          </a:solidFill>
                          <a:latin typeface="Calibri"/>
                        </a:rPr>
                        <a:t>32.5</a:t>
                      </a:r>
                    </a:p>
                  </a:txBody>
                  <a:tcPr marL="85725" marR="38100" marT="19050" marB="19050" anchor="ctr">
                    <a:solidFill>
                      <a:srgbClr val="F5F8FA"/>
                    </a:solidFill>
                  </a:tcPr>
                </a:tc>
                <a:tc>
                  <a:txBody>
                    <a:bodyPr wrap="none"/>
                    <a:lstStyle/>
                    <a:p>
                      <a:pPr algn="l"/>
                      <a:r>
                        <a:rPr sz="800" b="0">
                          <a:solidFill>
                            <a:srgbClr val="2E2E2E"/>
                          </a:solidFill>
                          <a:latin typeface="Calibri"/>
                        </a:rPr>
                        <a:t>35.3</a:t>
                      </a:r>
                    </a:p>
                  </a:txBody>
                  <a:tcPr marL="85725" marR="38100" marT="19050" marB="19050" anchor="ctr">
                    <a:solidFill>
                      <a:srgbClr val="F5F8FA"/>
                    </a:solidFill>
                  </a:tcPr>
                </a:tc>
                <a:tc>
                  <a:txBody>
                    <a:bodyPr wrap="none"/>
                    <a:lstStyle/>
                    <a:p>
                      <a:pPr algn="l"/>
                      <a:r>
                        <a:rPr sz="800" b="0">
                          <a:solidFill>
                            <a:srgbClr val="2E2E2E"/>
                          </a:solidFill>
                          <a:latin typeface="Calibri"/>
                        </a:rPr>
                        <a:t>38.5</a:t>
                      </a:r>
                    </a:p>
                  </a:txBody>
                  <a:tcPr marL="85725" marR="38100" marT="19050" marB="19050" anchor="ctr">
                    <a:solidFill>
                      <a:srgbClr val="F5F8FA"/>
                    </a:solidFill>
                  </a:tcPr>
                </a:tc>
                <a:tc>
                  <a:txBody>
                    <a:bodyPr wrap="none"/>
                    <a:lstStyle/>
                    <a:p>
                      <a:pPr algn="l"/>
                      <a:r>
                        <a:rPr sz="800" b="0">
                          <a:solidFill>
                            <a:srgbClr val="2E2E2E"/>
                          </a:solidFill>
                          <a:latin typeface="Calibri"/>
                        </a:rPr>
                        <a:t>41.9</a:t>
                      </a:r>
                    </a:p>
                  </a:txBody>
                  <a:tcPr marL="85725" marR="38100" marT="19050" marB="19050" anchor="ctr">
                    <a:solidFill>
                      <a:srgbClr val="F5F8FA"/>
                    </a:solidFill>
                  </a:tcPr>
                </a:tc>
                <a:tc>
                  <a:txBody>
                    <a:bodyPr wrap="none"/>
                    <a:lstStyle/>
                    <a:p>
                      <a:pPr algn="l"/>
                      <a:r>
                        <a:rPr sz="800" b="0">
                          <a:solidFill>
                            <a:srgbClr val="2E2E2E"/>
                          </a:solidFill>
                          <a:latin typeface="Calibri"/>
                        </a:rPr>
                        <a:t>45.8</a:t>
                      </a:r>
                    </a:p>
                  </a:txBody>
                  <a:tcPr marL="85725" marR="38100" marT="19050" marB="19050" anchor="ctr">
                    <a:solidFill>
                      <a:srgbClr val="F5F8FA"/>
                    </a:solidFill>
                  </a:tcPr>
                </a:tc>
                <a:tc>
                  <a:txBody>
                    <a:bodyPr wrap="none"/>
                    <a:lstStyle/>
                    <a:p>
                      <a:pPr algn="l"/>
                      <a:r>
                        <a:rPr sz="800" b="0">
                          <a:solidFill>
                            <a:srgbClr val="2E2E2E"/>
                          </a:solidFill>
                          <a:latin typeface="Calibri"/>
                        </a:rPr>
                        <a:t>8.8%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0">
                          <a:solidFill>
                            <a:srgbClr val="2E2E2E"/>
                          </a:solidFill>
                          <a:latin typeface="Calibri"/>
                        </a:rPr>
                        <a:t>35.4</a:t>
                      </a:r>
                    </a:p>
                  </a:txBody>
                  <a:tcPr marL="85725" marR="38100" marT="19050" marB="19050" anchor="ctr">
                    <a:solidFill>
                      <a:srgbClr val="FFFFFF"/>
                    </a:solidFill>
                  </a:tcPr>
                </a:tc>
                <a:tc>
                  <a:txBody>
                    <a:bodyPr wrap="none"/>
                    <a:lstStyle/>
                    <a:p>
                      <a:pPr algn="l"/>
                      <a:r>
                        <a:rPr sz="800" b="0">
                          <a:solidFill>
                            <a:srgbClr val="2E2E2E"/>
                          </a:solidFill>
                          <a:latin typeface="Calibri"/>
                        </a:rPr>
                        <a:t>37.4</a:t>
                      </a:r>
                    </a:p>
                  </a:txBody>
                  <a:tcPr marL="85725" marR="38100" marT="19050" marB="19050" anchor="ctr">
                    <a:solidFill>
                      <a:srgbClr val="FFFFFF"/>
                    </a:solidFill>
                  </a:tcPr>
                </a:tc>
                <a:tc>
                  <a:txBody>
                    <a:bodyPr wrap="none"/>
                    <a:lstStyle/>
                    <a:p>
                      <a:pPr algn="l"/>
                      <a:r>
                        <a:rPr sz="800" b="0">
                          <a:solidFill>
                            <a:srgbClr val="2E2E2E"/>
                          </a:solidFill>
                          <a:latin typeface="Calibri"/>
                        </a:rPr>
                        <a:t>39.8</a:t>
                      </a:r>
                    </a:p>
                  </a:txBody>
                  <a:tcPr marL="85725" marR="38100" marT="19050" marB="19050" anchor="ctr">
                    <a:solidFill>
                      <a:srgbClr val="FFFFFF"/>
                    </a:solidFill>
                  </a:tcPr>
                </a:tc>
                <a:tc>
                  <a:txBody>
                    <a:bodyPr wrap="none"/>
                    <a:lstStyle/>
                    <a:p>
                      <a:pPr algn="l"/>
                      <a:r>
                        <a:rPr sz="800" b="0">
                          <a:solidFill>
                            <a:srgbClr val="2E2E2E"/>
                          </a:solidFill>
                          <a:latin typeface="Calibri"/>
                        </a:rPr>
                        <a:t>42.4</a:t>
                      </a:r>
                    </a:p>
                  </a:txBody>
                  <a:tcPr marL="85725" marR="38100" marT="19050" marB="19050" anchor="ctr">
                    <a:solidFill>
                      <a:srgbClr val="FFFFFF"/>
                    </a:solidFill>
                  </a:tcPr>
                </a:tc>
                <a:tc>
                  <a:txBody>
                    <a:bodyPr wrap="none"/>
                    <a:lstStyle/>
                    <a:p>
                      <a:pPr algn="l"/>
                      <a:r>
                        <a:rPr sz="800" b="0">
                          <a:solidFill>
                            <a:srgbClr val="2E2E2E"/>
                          </a:solidFill>
                          <a:latin typeface="Calibri"/>
                        </a:rPr>
                        <a:t>45.3</a:t>
                      </a:r>
                    </a:p>
                  </a:txBody>
                  <a:tcPr marL="85725" marR="38100" marT="19050" marB="19050" anchor="ctr">
                    <a:solidFill>
                      <a:srgbClr val="FFFFFF"/>
                    </a:solidFill>
                  </a:tcPr>
                </a:tc>
                <a:tc>
                  <a:txBody>
                    <a:bodyPr wrap="none"/>
                    <a:lstStyle/>
                    <a:p>
                      <a:pPr algn="l"/>
                      <a:r>
                        <a:rPr sz="800" b="0">
                          <a:solidFill>
                            <a:srgbClr val="2E2E2E"/>
                          </a:solidFill>
                          <a:latin typeface="Calibri"/>
                        </a:rPr>
                        <a:t>48.5</a:t>
                      </a:r>
                    </a:p>
                  </a:txBody>
                  <a:tcPr marL="85725" marR="38100" marT="19050" marB="19050" anchor="ctr">
                    <a:solidFill>
                      <a:srgbClr val="FFFFFF"/>
                    </a:solidFill>
                  </a:tcPr>
                </a:tc>
                <a:tc>
                  <a:txBody>
                    <a:bodyPr wrap="none"/>
                    <a:lstStyle/>
                    <a:p>
                      <a:pPr algn="l"/>
                      <a:r>
                        <a:rPr sz="800" b="0">
                          <a:solidFill>
                            <a:srgbClr val="2E2E2E"/>
                          </a:solidFill>
                          <a:latin typeface="Calibri"/>
                        </a:rPr>
                        <a:t>52.0</a:t>
                      </a:r>
                    </a:p>
                  </a:txBody>
                  <a:tcPr marL="85725" marR="38100" marT="19050" marB="19050" anchor="ctr">
                    <a:solidFill>
                      <a:srgbClr val="FFFFFF"/>
                    </a:solidFill>
                  </a:tcPr>
                </a:tc>
                <a:tc>
                  <a:txBody>
                    <a:bodyPr wrap="none"/>
                    <a:lstStyle/>
                    <a:p>
                      <a:pPr algn="l"/>
                      <a:r>
                        <a:rPr sz="800" b="0">
                          <a:solidFill>
                            <a:srgbClr val="2E2E2E"/>
                          </a:solidFill>
                          <a:latin typeface="Calibri"/>
                        </a:rPr>
                        <a:t>55.8</a:t>
                      </a:r>
                    </a:p>
                  </a:txBody>
                  <a:tcPr marL="85725" marR="38100" marT="19050" marB="19050" anchor="ctr">
                    <a:solidFill>
                      <a:srgbClr val="FFFFFF"/>
                    </a:solidFill>
                  </a:tcPr>
                </a:tc>
                <a:tc>
                  <a:txBody>
                    <a:bodyPr wrap="none"/>
                    <a:lstStyle/>
                    <a:p>
                      <a:pPr algn="l"/>
                      <a:r>
                        <a:rPr sz="800" b="0">
                          <a:solidFill>
                            <a:srgbClr val="2E2E2E"/>
                          </a:solidFill>
                          <a:latin typeface="Calibri"/>
                        </a:rPr>
                        <a:t>59.9</a:t>
                      </a:r>
                    </a:p>
                  </a:txBody>
                  <a:tcPr marL="85725" marR="38100" marT="19050" marB="19050" anchor="ctr">
                    <a:solidFill>
                      <a:srgbClr val="FFFFFF"/>
                    </a:solidFill>
                  </a:tcPr>
                </a:tc>
                <a:tc>
                  <a:txBody>
                    <a:bodyPr wrap="none"/>
                    <a:lstStyle/>
                    <a:p>
                      <a:pPr algn="l"/>
                      <a:r>
                        <a:rPr sz="800" b="0">
                          <a:solidFill>
                            <a:srgbClr val="2E2E2E"/>
                          </a:solidFill>
                          <a:latin typeface="Calibri"/>
                        </a:rPr>
                        <a:t>64.3</a:t>
                      </a:r>
                    </a:p>
                  </a:txBody>
                  <a:tcPr marL="85725" marR="38100" marT="19050" marB="19050" anchor="ctr">
                    <a:solidFill>
                      <a:srgbClr val="FFFFFF"/>
                    </a:solidFill>
                  </a:tcPr>
                </a:tc>
                <a:tc>
                  <a:txBody>
                    <a:bodyPr wrap="none"/>
                    <a:lstStyle/>
                    <a:p>
                      <a:pPr algn="l"/>
                      <a:r>
                        <a:rPr sz="800" b="0">
                          <a:solidFill>
                            <a:srgbClr val="2E2E2E"/>
                          </a:solidFill>
                          <a:latin typeface="Calibri"/>
                        </a:rPr>
                        <a:t>69.1</a:t>
                      </a:r>
                    </a:p>
                  </a:txBody>
                  <a:tcPr marL="85725" marR="38100" marT="19050" marB="19050" anchor="ctr">
                    <a:solidFill>
                      <a:srgbClr val="FFFFFF"/>
                    </a:solidFill>
                  </a:tcPr>
                </a:tc>
                <a:tc>
                  <a:txBody>
                    <a:bodyPr wrap="none"/>
                    <a:lstStyle/>
                    <a:p>
                      <a:pPr algn="l"/>
                      <a:r>
                        <a:rPr sz="800" b="0">
                          <a:solidFill>
                            <a:srgbClr val="2E2E2E"/>
                          </a:solidFill>
                          <a:latin typeface="Calibri"/>
                        </a:rPr>
                        <a:t>74.3</a:t>
                      </a:r>
                    </a:p>
                  </a:txBody>
                  <a:tcPr marL="85725" marR="38100" marT="19050" marB="19050" anchor="ctr">
                    <a:solidFill>
                      <a:srgbClr val="FFFFFF"/>
                    </a:solidFill>
                  </a:tcPr>
                </a:tc>
                <a:tc>
                  <a:txBody>
                    <a:bodyPr wrap="none"/>
                    <a:lstStyle/>
                    <a:p>
                      <a:pPr algn="l"/>
                      <a:r>
                        <a:rPr sz="800" b="0">
                          <a:solidFill>
                            <a:srgbClr val="2E2E2E"/>
                          </a:solidFill>
                          <a:latin typeface="Calibri"/>
                        </a:rPr>
                        <a:t>79.9</a:t>
                      </a:r>
                    </a:p>
                  </a:txBody>
                  <a:tcPr marL="85725" marR="38100" marT="19050" marB="19050" anchor="ctr">
                    <a:solidFill>
                      <a:srgbClr val="FFFFFF"/>
                    </a:solidFill>
                  </a:tcPr>
                </a:tc>
                <a:tc>
                  <a:txBody>
                    <a:bodyPr wrap="none"/>
                    <a:lstStyle/>
                    <a:p>
                      <a:pPr algn="l"/>
                      <a:r>
                        <a:rPr sz="800" b="0">
                          <a:solidFill>
                            <a:srgbClr val="2E2E2E"/>
                          </a:solidFill>
                          <a:latin typeface="Calibri"/>
                        </a:rPr>
                        <a:t>86.2</a:t>
                      </a:r>
                    </a:p>
                  </a:txBody>
                  <a:tcPr marL="85725" marR="38100" marT="19050" marB="19050" anchor="ctr">
                    <a:solidFill>
                      <a:srgbClr val="FFFFFF"/>
                    </a:solidFill>
                  </a:tcPr>
                </a:tc>
                <a:tc>
                  <a:txBody>
                    <a:bodyPr wrap="none"/>
                    <a:lstStyle/>
                    <a:p>
                      <a:pPr algn="l"/>
                      <a:r>
                        <a:rPr sz="800" b="0">
                          <a:solidFill>
                            <a:srgbClr val="2E2E2E"/>
                          </a:solidFill>
                          <a:latin typeface="Calibri"/>
                        </a:rPr>
                        <a:t>92.9</a:t>
                      </a:r>
                    </a:p>
                  </a:txBody>
                  <a:tcPr marL="85725" marR="38100" marT="19050" marB="19050" anchor="ctr">
                    <a:solidFill>
                      <a:srgbClr val="FFFFFF"/>
                    </a:solidFill>
                  </a:tcPr>
                </a:tc>
                <a:tc>
                  <a:txBody>
                    <a:bodyPr wrap="none"/>
                    <a:lstStyle/>
                    <a:p>
                      <a:pPr algn="l"/>
                      <a:r>
                        <a:rPr sz="800" b="0">
                          <a:solidFill>
                            <a:srgbClr val="2E2E2E"/>
                          </a:solidFill>
                          <a:latin typeface="Calibri"/>
                        </a:rPr>
                        <a:t>100.6</a:t>
                      </a:r>
                    </a:p>
                  </a:txBody>
                  <a:tcPr marL="85725" marR="38100" marT="19050" marB="19050" anchor="ctr">
                    <a:solidFill>
                      <a:srgbClr val="FFFFFF"/>
                    </a:solidFill>
                  </a:tcPr>
                </a:tc>
                <a:tc>
                  <a:txBody>
                    <a:bodyPr wrap="none"/>
                    <a:lstStyle/>
                    <a:p>
                      <a:pPr algn="l"/>
                      <a:r>
                        <a:rPr sz="800" b="0">
                          <a:solidFill>
                            <a:srgbClr val="2E2E2E"/>
                          </a:solidFill>
                          <a:latin typeface="Calibri"/>
                        </a:rPr>
                        <a:t>7.6%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0">
                          <a:solidFill>
                            <a:srgbClr val="2E2E2E"/>
                          </a:solidFill>
                          <a:latin typeface="Calibri"/>
                        </a:rPr>
                        <a:t>10.7</a:t>
                      </a:r>
                    </a:p>
                  </a:txBody>
                  <a:tcPr marL="85725" marR="38100" marT="19050" marB="19050" anchor="ctr">
                    <a:solidFill>
                      <a:srgbClr val="F5F8FA"/>
                    </a:solidFill>
                  </a:tcPr>
                </a:tc>
                <a:tc>
                  <a:txBody>
                    <a:bodyPr wrap="none"/>
                    <a:lstStyle/>
                    <a:p>
                      <a:pPr algn="l"/>
                      <a:r>
                        <a:rPr sz="800" b="0">
                          <a:solidFill>
                            <a:srgbClr val="2E2E2E"/>
                          </a:solidFill>
                          <a:latin typeface="Calibri"/>
                        </a:rPr>
                        <a:t>10.9</a:t>
                      </a:r>
                    </a:p>
                  </a:txBody>
                  <a:tcPr marL="85725" marR="38100" marT="19050" marB="19050" anchor="ctr">
                    <a:solidFill>
                      <a:srgbClr val="F5F8FA"/>
                    </a:solidFill>
                  </a:tcPr>
                </a:tc>
                <a:tc>
                  <a:txBody>
                    <a:bodyPr wrap="none"/>
                    <a:lstStyle/>
                    <a:p>
                      <a:pPr algn="l"/>
                      <a:r>
                        <a:rPr sz="800" b="0">
                          <a:solidFill>
                            <a:srgbClr val="2E2E2E"/>
                          </a:solidFill>
                          <a:latin typeface="Calibri"/>
                        </a:rPr>
                        <a:t>11.1</a:t>
                      </a:r>
                    </a:p>
                  </a:txBody>
                  <a:tcPr marL="85725" marR="38100" marT="19050" marB="19050" anchor="ctr">
                    <a:solidFill>
                      <a:srgbClr val="F5F8FA"/>
                    </a:solidFill>
                  </a:tcPr>
                </a:tc>
                <a:tc>
                  <a:txBody>
                    <a:bodyPr wrap="none"/>
                    <a:lstStyle/>
                    <a:p>
                      <a:pPr algn="l"/>
                      <a:r>
                        <a:rPr sz="800" b="0">
                          <a:solidFill>
                            <a:srgbClr val="2E2E2E"/>
                          </a:solidFill>
                          <a:latin typeface="Calibri"/>
                        </a:rPr>
                        <a:t>11.4</a:t>
                      </a:r>
                    </a:p>
                  </a:txBody>
                  <a:tcPr marL="85725" marR="38100" marT="19050" marB="19050" anchor="ctr">
                    <a:solidFill>
                      <a:srgbClr val="F5F8FA"/>
                    </a:solidFill>
                  </a:tcPr>
                </a:tc>
                <a:tc>
                  <a:txBody>
                    <a:bodyPr wrap="none"/>
                    <a:lstStyle/>
                    <a:p>
                      <a:pPr algn="l"/>
                      <a:r>
                        <a:rPr sz="800" b="0">
                          <a:solidFill>
                            <a:srgbClr val="2E2E2E"/>
                          </a:solidFill>
                          <a:latin typeface="Calibri"/>
                        </a:rPr>
                        <a:t>11.7</a:t>
                      </a:r>
                    </a:p>
                  </a:txBody>
                  <a:tcPr marL="85725" marR="38100" marT="19050" marB="19050" anchor="ctr">
                    <a:solidFill>
                      <a:srgbClr val="F5F8FA"/>
                    </a:solidFill>
                  </a:tcPr>
                </a:tc>
                <a:tc>
                  <a:txBody>
                    <a:bodyPr wrap="none"/>
                    <a:lstStyle/>
                    <a:p>
                      <a:pPr algn="l"/>
                      <a:r>
                        <a:rPr sz="800" b="0">
                          <a:solidFill>
                            <a:srgbClr val="2E2E2E"/>
                          </a:solidFill>
                          <a:latin typeface="Calibri"/>
                        </a:rPr>
                        <a:t>12.0</a:t>
                      </a:r>
                    </a:p>
                  </a:txBody>
                  <a:tcPr marL="85725" marR="38100" marT="19050" marB="19050" anchor="ctr">
                    <a:solidFill>
                      <a:srgbClr val="F5F8FA"/>
                    </a:solidFill>
                  </a:tcPr>
                </a:tc>
                <a:tc>
                  <a:txBody>
                    <a:bodyPr wrap="none"/>
                    <a:lstStyle/>
                    <a:p>
                      <a:pPr algn="l"/>
                      <a:r>
                        <a:rPr sz="800" b="0">
                          <a:solidFill>
                            <a:srgbClr val="2E2E2E"/>
                          </a:solidFill>
                          <a:latin typeface="Calibri"/>
                        </a:rPr>
                        <a:t>12.5</a:t>
                      </a:r>
                    </a:p>
                  </a:txBody>
                  <a:tcPr marL="85725" marR="38100" marT="19050" marB="19050" anchor="ctr">
                    <a:solidFill>
                      <a:srgbClr val="F5F8FA"/>
                    </a:solidFill>
                  </a:tcPr>
                </a:tc>
                <a:tc>
                  <a:txBody>
                    <a:bodyPr wrap="none"/>
                    <a:lstStyle/>
                    <a:p>
                      <a:pPr algn="l"/>
                      <a:r>
                        <a:rPr sz="800" b="0">
                          <a:solidFill>
                            <a:srgbClr val="2E2E2E"/>
                          </a:solidFill>
                          <a:latin typeface="Calibri"/>
                        </a:rPr>
                        <a:t>12.9</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c>
                  <a:txBody>
                    <a:bodyPr wrap="none"/>
                    <a:lstStyle/>
                    <a:p>
                      <a:pPr algn="l"/>
                      <a:r>
                        <a:rPr sz="800" b="0">
                          <a:solidFill>
                            <a:srgbClr val="2E2E2E"/>
                          </a:solidFill>
                          <a:latin typeface="Calibri"/>
                        </a:rPr>
                        <a:t>13.8</a:t>
                      </a:r>
                    </a:p>
                  </a:txBody>
                  <a:tcPr marL="85725" marR="38100" marT="19050" marB="19050" anchor="ctr">
                    <a:solidFill>
                      <a:srgbClr val="F5F8FA"/>
                    </a:solidFill>
                  </a:tcPr>
                </a:tc>
                <a:tc>
                  <a:txBody>
                    <a:bodyPr wrap="none"/>
                    <a:lstStyle/>
                    <a:p>
                      <a:pPr algn="l"/>
                      <a:r>
                        <a:rPr sz="800" b="0">
                          <a:solidFill>
                            <a:srgbClr val="2E2E2E"/>
                          </a:solidFill>
                          <a:latin typeface="Calibri"/>
                        </a:rPr>
                        <a:t>14.3</a:t>
                      </a:r>
                    </a:p>
                  </a:txBody>
                  <a:tcPr marL="85725" marR="38100" marT="19050" marB="19050" anchor="ctr">
                    <a:solidFill>
                      <a:srgbClr val="F5F8FA"/>
                    </a:solidFill>
                  </a:tcPr>
                </a:tc>
                <a:tc>
                  <a:txBody>
                    <a:bodyPr wrap="none"/>
                    <a:lstStyle/>
                    <a:p>
                      <a:pPr algn="l"/>
                      <a:r>
                        <a:rPr sz="800" b="0">
                          <a:solidFill>
                            <a:srgbClr val="2E2E2E"/>
                          </a:solidFill>
                          <a:latin typeface="Calibri"/>
                        </a:rPr>
                        <a:t>14.8</a:t>
                      </a:r>
                    </a:p>
                  </a:txBody>
                  <a:tcPr marL="85725" marR="38100" marT="19050" marB="19050" anchor="ctr">
                    <a:solidFill>
                      <a:srgbClr val="F5F8FA"/>
                    </a:solidFill>
                  </a:tcPr>
                </a:tc>
                <a:tc>
                  <a:txBody>
                    <a:bodyPr wrap="none"/>
                    <a:lstStyle/>
                    <a:p>
                      <a:pPr algn="l"/>
                      <a:r>
                        <a:rPr sz="800" b="0">
                          <a:solidFill>
                            <a:srgbClr val="2E2E2E"/>
                          </a:solidFill>
                          <a:latin typeface="Calibri"/>
                        </a:rPr>
                        <a:t>15.3</a:t>
                      </a:r>
                    </a:p>
                  </a:txBody>
                  <a:tcPr marL="85725" marR="38100" marT="19050" marB="19050" anchor="ctr">
                    <a:solidFill>
                      <a:srgbClr val="F5F8FA"/>
                    </a:solidFill>
                  </a:tcPr>
                </a:tc>
                <a:tc>
                  <a:txBody>
                    <a:bodyPr wrap="none"/>
                    <a:lstStyle/>
                    <a:p>
                      <a:pPr algn="l"/>
                      <a:r>
                        <a:rPr sz="800" b="0">
                          <a:solidFill>
                            <a:srgbClr val="2E2E2E"/>
                          </a:solidFill>
                          <a:latin typeface="Calibri"/>
                        </a:rPr>
                        <a:t>15.8</a:t>
                      </a:r>
                    </a:p>
                  </a:txBody>
                  <a:tcPr marL="85725" marR="38100" marT="19050" marB="19050" anchor="ctr">
                    <a:solidFill>
                      <a:srgbClr val="F5F8FA"/>
                    </a:solidFill>
                  </a:tcPr>
                </a:tc>
                <a:tc>
                  <a:txBody>
                    <a:bodyPr wrap="none"/>
                    <a:lstStyle/>
                    <a:p>
                      <a:pPr algn="l"/>
                      <a:r>
                        <a:rPr sz="800" b="0">
                          <a:solidFill>
                            <a:srgbClr val="2E2E2E"/>
                          </a:solidFill>
                          <a:latin typeface="Calibri"/>
                        </a:rPr>
                        <a:t>16.4</a:t>
                      </a:r>
                    </a:p>
                  </a:txBody>
                  <a:tcPr marL="85725" marR="38100" marT="19050" marB="19050" anchor="ctr">
                    <a:solidFill>
                      <a:srgbClr val="F5F8FA"/>
                    </a:solidFill>
                  </a:tcPr>
                </a:tc>
                <a:tc>
                  <a:txBody>
                    <a:bodyPr wrap="none"/>
                    <a:lstStyle/>
                    <a:p>
                      <a:pPr algn="l"/>
                      <a:r>
                        <a:rPr sz="800" b="0">
                          <a:solidFill>
                            <a:srgbClr val="2E2E2E"/>
                          </a:solidFill>
                          <a:latin typeface="Calibri"/>
                        </a:rPr>
                        <a:t>17.0</a:t>
                      </a:r>
                    </a:p>
                  </a:txBody>
                  <a:tcPr marL="85725" marR="38100" marT="19050" marB="19050" anchor="ctr">
                    <a:solidFill>
                      <a:srgbClr val="F5F8FA"/>
                    </a:solidFill>
                  </a:tcPr>
                </a:tc>
                <a:tc>
                  <a:txBody>
                    <a:bodyPr wrap="none"/>
                    <a:lstStyle/>
                    <a:p>
                      <a:pPr algn="l"/>
                      <a:r>
                        <a:rPr sz="800" b="0">
                          <a:solidFill>
                            <a:srgbClr val="2E2E2E"/>
                          </a:solidFill>
                          <a:latin typeface="Calibri"/>
                        </a:rPr>
                        <a:t>3.5%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Application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Application,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6287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c>
                  <a:txBody>
                    <a:bodyPr wrap="none"/>
                    <a:lstStyle/>
                    <a:p>
                      <a:pPr algn="l"/>
                      <a:r>
                        <a:rPr sz="800" b="1">
                          <a:solidFill>
                            <a:srgbClr val="2E7D32"/>
                          </a:solidFill>
                          <a:latin typeface="Calibri"/>
                        </a:rPr>
                        <a:t>▲ 9.1%</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8.6%</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1">
                          <a:solidFill>
                            <a:srgbClr val="A86F00"/>
                          </a:solidFill>
                          <a:latin typeface="Calibri"/>
                        </a:rPr>
                        <a:t>▶ 1.3%</a:t>
                      </a:r>
                    </a:p>
                  </a:txBody>
                  <a:tcPr marL="85725" marR="38100" marT="19050" marB="19050" anchor="ctr">
                    <a:solidFill>
                      <a:srgbClr val="FFFFFF"/>
                    </a:solidFill>
                  </a:tcPr>
                </a:tc>
                <a:tc>
                  <a:txBody>
                    <a:bodyPr wrap="none"/>
                    <a:lstStyle/>
                    <a:p>
                      <a:pPr algn="l"/>
                      <a:r>
                        <a:rPr sz="800" b="1">
                          <a:solidFill>
                            <a:srgbClr val="A86F00"/>
                          </a:solidFill>
                          <a:latin typeface="Calibri"/>
                        </a:rPr>
                        <a:t>▶ 1.3%</a:t>
                      </a:r>
                    </a:p>
                  </a:txBody>
                  <a:tcPr marL="85725" marR="38100" marT="19050" marB="19050" anchor="ctr">
                    <a:solidFill>
                      <a:srgbClr val="FFFFFF"/>
                    </a:solidFill>
                  </a:tcPr>
                </a:tc>
                <a:tc>
                  <a:txBody>
                    <a:bodyPr wrap="none"/>
                    <a:lstStyle/>
                    <a:p>
                      <a:pPr algn="l"/>
                      <a:r>
                        <a:rPr sz="800" b="1">
                          <a:solidFill>
                            <a:srgbClr val="A86F00"/>
                          </a:solidFill>
                          <a:latin typeface="Calibri"/>
                        </a:rPr>
                        <a:t>▶ 1.3%</a:t>
                      </a:r>
                    </a:p>
                  </a:txBody>
                  <a:tcPr marL="85725" marR="38100" marT="19050" marB="19050" anchor="ctr">
                    <a:solidFill>
                      <a:srgbClr val="FFFFFF"/>
                    </a:solidFill>
                  </a:tcPr>
                </a:tc>
                <a:tc>
                  <a:txBody>
                    <a:bodyPr wrap="none"/>
                    <a:lstStyle/>
                    <a:p>
                      <a:pPr algn="l"/>
                      <a:r>
                        <a:rPr sz="800" b="1">
                          <a:solidFill>
                            <a:srgbClr val="A86F00"/>
                          </a:solidFill>
                          <a:latin typeface="Calibri"/>
                        </a:rPr>
                        <a:t>▶ 1.1%</a:t>
                      </a:r>
                    </a:p>
                  </a:txBody>
                  <a:tcPr marL="85725" marR="38100" marT="19050" marB="19050" anchor="ctr">
                    <a:solidFill>
                      <a:srgbClr val="FFFFFF"/>
                    </a:solidFill>
                  </a:tcPr>
                </a:tc>
                <a:tc>
                  <a:txBody>
                    <a:bodyPr wrap="none"/>
                    <a:lstStyle/>
                    <a:p>
                      <a:pPr algn="l"/>
                      <a:r>
                        <a:rPr sz="800" b="1">
                          <a:solidFill>
                            <a:srgbClr val="A86F00"/>
                          </a:solidFill>
                          <a:latin typeface="Calibri"/>
                        </a:rPr>
                        <a:t>▶ 2.3%</a:t>
                      </a:r>
                    </a:p>
                  </a:txBody>
                  <a:tcPr marL="85725" marR="38100" marT="19050" marB="19050" anchor="ctr">
                    <a:solidFill>
                      <a:srgbClr val="FFFFFF"/>
                    </a:solidFill>
                  </a:tcPr>
                </a:tc>
                <a:tc>
                  <a:txBody>
                    <a:bodyPr wrap="none"/>
                    <a:lstStyle/>
                    <a:p>
                      <a:pPr algn="l"/>
                      <a:r>
                        <a:rPr sz="800" b="1">
                          <a:solidFill>
                            <a:srgbClr val="A86F00"/>
                          </a:solidFill>
                          <a:latin typeface="Calibri"/>
                        </a:rPr>
                        <a:t>▶ 2.1%</a:t>
                      </a:r>
                    </a:p>
                  </a:txBody>
                  <a:tcPr marL="85725" marR="38100" marT="19050" marB="19050" anchor="ctr">
                    <a:solidFill>
                      <a:srgbClr val="FFFFFF"/>
                    </a:solidFill>
                  </a:tcPr>
                </a:tc>
                <a:tc>
                  <a:txBody>
                    <a:bodyPr wrap="none"/>
                    <a:lstStyle/>
                    <a:p>
                      <a:pPr algn="l"/>
                      <a:r>
                        <a:rPr sz="800" b="1">
                          <a:solidFill>
                            <a:srgbClr val="A86F00"/>
                          </a:solidFill>
                          <a:latin typeface="Calibri"/>
                        </a:rPr>
                        <a:t>▶ 1.9%</a:t>
                      </a:r>
                    </a:p>
                  </a:txBody>
                  <a:tcPr marL="85725" marR="38100" marT="19050" marB="19050" anchor="ctr">
                    <a:solidFill>
                      <a:srgbClr val="FFFFFF"/>
                    </a:solidFill>
                  </a:tcPr>
                </a:tc>
                <a:tc>
                  <a:txBody>
                    <a:bodyPr wrap="none"/>
                    <a:lstStyle/>
                    <a:p>
                      <a:pPr algn="l"/>
                      <a:r>
                        <a:rPr sz="800" b="1">
                          <a:solidFill>
                            <a:srgbClr val="A86F00"/>
                          </a:solidFill>
                          <a:latin typeface="Calibri"/>
                        </a:rPr>
                        <a:t>▶ 1.7%</a:t>
                      </a:r>
                    </a:p>
                  </a:txBody>
                  <a:tcPr marL="85725" marR="38100" marT="19050" marB="19050" anchor="ctr">
                    <a:solidFill>
                      <a:srgbClr val="FFFFFF"/>
                    </a:solidFill>
                  </a:tcPr>
                </a:tc>
                <a:tc>
                  <a:txBody>
                    <a:bodyPr wrap="none"/>
                    <a:lstStyle/>
                    <a:p>
                      <a:pPr algn="l"/>
                      <a:r>
                        <a:rPr sz="800" b="1">
                          <a:solidFill>
                            <a:srgbClr val="A86F00"/>
                          </a:solidFill>
                          <a:latin typeface="Calibri"/>
                        </a:rPr>
                        <a:t>▶ 1.5%</a:t>
                      </a:r>
                    </a:p>
                  </a:txBody>
                  <a:tcPr marL="85725" marR="38100" marT="19050" marB="19050" anchor="ctr">
                    <a:solidFill>
                      <a:srgbClr val="FFFFFF"/>
                    </a:solidFill>
                  </a:tcPr>
                </a:tc>
                <a:tc>
                  <a:txBody>
                    <a:bodyPr wrap="none"/>
                    <a:lstStyle/>
                    <a:p>
                      <a:pPr algn="l"/>
                      <a:r>
                        <a:rPr sz="800" b="1">
                          <a:solidFill>
                            <a:srgbClr val="A86F00"/>
                          </a:solidFill>
                          <a:latin typeface="Calibri"/>
                        </a:rPr>
                        <a:t>▶ 1.3%</a:t>
                      </a:r>
                    </a:p>
                  </a:txBody>
                  <a:tcPr marL="85725" marR="38100" marT="19050" marB="19050" anchor="ctr">
                    <a:solidFill>
                      <a:srgbClr val="FFFFFF"/>
                    </a:solidFill>
                  </a:tcPr>
                </a:tc>
                <a:tc>
                  <a:txBody>
                    <a:bodyPr wrap="none"/>
                    <a:lstStyle/>
                    <a:p>
                      <a:pPr algn="l"/>
                      <a:r>
                        <a:rPr sz="800" b="1">
                          <a:solidFill>
                            <a:srgbClr val="A86F00"/>
                          </a:solidFill>
                          <a:latin typeface="Calibri"/>
                        </a:rPr>
                        <a:t>▶ 1.1%</a:t>
                      </a:r>
                    </a:p>
                  </a:txBody>
                  <a:tcPr marL="85725" marR="38100" marT="19050" marB="19050" anchor="ctr">
                    <a:solidFill>
                      <a:srgbClr val="FFFFFF"/>
                    </a:solidFill>
                  </a:tcPr>
                </a:tc>
                <a:tc>
                  <a:txBody>
                    <a:bodyPr wrap="none"/>
                    <a:lstStyle/>
                    <a:p>
                      <a:pPr algn="l"/>
                      <a:r>
                        <a:rPr sz="800" b="1">
                          <a:solidFill>
                            <a:srgbClr val="A86F00"/>
                          </a:solidFill>
                          <a:latin typeface="Calibri"/>
                        </a:rPr>
                        <a:t>▶ 0.8%</a:t>
                      </a:r>
                    </a:p>
                  </a:txBody>
                  <a:tcPr marL="85725" marR="38100" marT="19050" marB="19050" anchor="ctr">
                    <a:solidFill>
                      <a:srgbClr val="FFFFFF"/>
                    </a:solidFill>
                  </a:tcPr>
                </a:tc>
                <a:tc>
                  <a:txBody>
                    <a:bodyPr wrap="none"/>
                    <a:lstStyle/>
                    <a:p>
                      <a:pPr algn="l"/>
                      <a:r>
                        <a:rPr sz="800" b="1">
                          <a:solidFill>
                            <a:srgbClr val="A86F00"/>
                          </a:solidFill>
                          <a:latin typeface="Calibri"/>
                        </a:rPr>
                        <a:t>▶ 0.9%</a:t>
                      </a:r>
                    </a:p>
                  </a:txBody>
                  <a:tcPr marL="85725" marR="38100" marT="19050" marB="19050" anchor="ctr">
                    <a:solidFill>
                      <a:srgbClr val="FFFFFF"/>
                    </a:solidFill>
                  </a:tcPr>
                </a:tc>
                <a:tc>
                  <a:txBody>
                    <a:bodyPr wrap="none"/>
                    <a:lstStyle/>
                    <a:p>
                      <a:pPr algn="l"/>
                      <a:r>
                        <a:rPr sz="800" b="1">
                          <a:solidFill>
                            <a:srgbClr val="A86F00"/>
                          </a:solidFill>
                          <a:latin typeface="Calibri"/>
                        </a:rPr>
                        <a:t>▶ 0.5%</a:t>
                      </a:r>
                    </a:p>
                  </a:txBody>
                  <a:tcPr marL="85725" marR="38100" marT="19050" marB="19050" anchor="ctr">
                    <a:solidFill>
                      <a:srgbClr val="FFFFFF"/>
                    </a:solidFill>
                  </a:tcPr>
                </a:tc>
                <a:tc>
                  <a:txBody>
                    <a:bodyPr wrap="none"/>
                    <a:lstStyle/>
                    <a:p>
                      <a:pPr algn="l"/>
                      <a:r>
                        <a:rPr sz="800" b="1">
                          <a:solidFill>
                            <a:srgbClr val="A86F00"/>
                          </a:solidFill>
                          <a:latin typeface="Calibri"/>
                        </a:rPr>
                        <a:t>▶ 0.7%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1">
                          <a:solidFill>
                            <a:srgbClr val="2E7D32"/>
                          </a:solidFill>
                          <a:latin typeface="Calibri"/>
                        </a:rPr>
                        <a:t>▲ 14.9%</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14.6%</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14.2%</a:t>
                      </a:r>
                    </a:p>
                  </a:txBody>
                  <a:tcPr marL="85725" marR="38100" marT="19050" marB="19050" anchor="ctr">
                    <a:solidFill>
                      <a:srgbClr val="FFFFFF"/>
                    </a:solidFill>
                  </a:tcPr>
                </a:tc>
                <a:tc>
                  <a:txBody>
                    <a:bodyPr wrap="none"/>
                    <a:lstStyle/>
                    <a:p>
                      <a:pPr algn="l"/>
                      <a:r>
                        <a:rPr sz="800" b="1">
                          <a:solidFill>
                            <a:srgbClr val="2E7D32"/>
                          </a:solidFill>
                          <a:latin typeface="Calibri"/>
                        </a:rPr>
                        <a:t>▲ 14.0%</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c>
                  <a:txBody>
                    <a:bodyPr wrap="none"/>
                    <a:lstStyle/>
                    <a:p>
                      <a:pPr algn="l"/>
                      <a:r>
                        <a:rPr sz="800" b="1">
                          <a:solidFill>
                            <a:srgbClr val="2E7D32"/>
                          </a:solidFill>
                          <a:latin typeface="Calibri"/>
                        </a:rPr>
                        <a:t>▲ 13.9%</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13.8%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c>
                  <a:txBody>
                    <a:bodyPr wrap="none"/>
                    <a:lstStyle/>
                    <a:p>
                      <a:pPr algn="l"/>
                      <a:r>
                        <a:rPr sz="800" b="1">
                          <a:solidFill>
                            <a:srgbClr val="A86F00"/>
                          </a:solidFill>
                          <a:latin typeface="Calibri"/>
                        </a:rPr>
                        <a:t>▶ 2.9%</a:t>
                      </a:r>
                    </a:p>
                  </a:txBody>
                  <a:tcPr marL="85725" marR="38100" marT="19050" marB="19050" anchor="ctr">
                    <a:solidFill>
                      <a:srgbClr val="F5F8FA"/>
                    </a:solidFill>
                  </a:tcPr>
                </a:tc>
                <a:tc>
                  <a:txBody>
                    <a:bodyPr wrap="none"/>
                    <a:lstStyle/>
                    <a:p>
                      <a:pPr algn="l"/>
                      <a:r>
                        <a:rPr sz="800" b="1">
                          <a:solidFill>
                            <a:srgbClr val="A86F00"/>
                          </a:solidFill>
                          <a:latin typeface="Calibri"/>
                        </a:rPr>
                        <a:t>▶ 3.7%</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3.3%</a:t>
                      </a:r>
                    </a:p>
                  </a:txBody>
                  <a:tcPr marL="85725" marR="38100" marT="19050" marB="19050" anchor="ctr">
                    <a:solidFill>
                      <a:srgbClr val="F5F8FA"/>
                    </a:solidFill>
                  </a:tcPr>
                </a:tc>
                <a:tc>
                  <a:txBody>
                    <a:bodyPr wrap="none"/>
                    <a:lstStyle/>
                    <a:p>
                      <a:pPr algn="l"/>
                      <a:r>
                        <a:rPr sz="800" b="1">
                          <a:solidFill>
                            <a:srgbClr val="A86F00"/>
                          </a:solidFill>
                          <a:latin typeface="Calibri"/>
                        </a:rPr>
                        <a:t>▶ 3.1%</a:t>
                      </a:r>
                    </a:p>
                  </a:txBody>
                  <a:tcPr marL="85725" marR="38100" marT="19050" marB="19050" anchor="ctr">
                    <a:solidFill>
                      <a:srgbClr val="F5F8FA"/>
                    </a:solidFill>
                  </a:tcPr>
                </a:tc>
                <a:tc>
                  <a:txBody>
                    <a:bodyPr wrap="none"/>
                    <a:lstStyle/>
                    <a:p>
                      <a:pPr algn="l"/>
                      <a:r>
                        <a:rPr sz="800" b="1">
                          <a:solidFill>
                            <a:srgbClr val="A86F00"/>
                          </a:solidFill>
                          <a:latin typeface="Calibri"/>
                        </a:rPr>
                        <a:t>▶ 2.9%</a:t>
                      </a:r>
                    </a:p>
                  </a:txBody>
                  <a:tcPr marL="85725" marR="38100" marT="19050" marB="19050" anchor="ctr">
                    <a:solidFill>
                      <a:srgbClr val="F5F8FA"/>
                    </a:solidFill>
                  </a:tcPr>
                </a:tc>
                <a:tc>
                  <a:txBody>
                    <a:bodyPr wrap="none"/>
                    <a:lstStyle/>
                    <a:p>
                      <a:pPr algn="l"/>
                      <a:r>
                        <a:rPr sz="800" b="1">
                          <a:solidFill>
                            <a:srgbClr val="A86F00"/>
                          </a:solidFill>
                          <a:latin typeface="Calibri"/>
                        </a:rPr>
                        <a:t>▶ 2.7%</a:t>
                      </a:r>
                    </a:p>
                  </a:txBody>
                  <a:tcPr marL="85725" marR="38100" marT="19050" marB="19050" anchor="ctr">
                    <a:solidFill>
                      <a:srgbClr val="F5F8FA"/>
                    </a:solidFill>
                  </a:tcPr>
                </a:tc>
                <a:tc>
                  <a:txBody>
                    <a:bodyPr wrap="none"/>
                    <a:lstStyle/>
                    <a:p>
                      <a:pPr algn="l"/>
                      <a:r>
                        <a:rPr sz="800" b="1">
                          <a:solidFill>
                            <a:srgbClr val="A86F00"/>
                          </a:solidFill>
                          <a:latin typeface="Calibri"/>
                        </a:rPr>
                        <a:t>▶ 2.4%</a:t>
                      </a:r>
                    </a:p>
                  </a:txBody>
                  <a:tcPr marL="85725" marR="38100" marT="19050" marB="19050" anchor="ctr">
                    <a:solidFill>
                      <a:srgbClr val="F5F8FA"/>
                    </a:solidFill>
                  </a:tcPr>
                </a:tc>
                <a:tc>
                  <a:txBody>
                    <a:bodyPr wrap="none"/>
                    <a:lstStyle/>
                    <a:p>
                      <a:pPr algn="l"/>
                      <a:r>
                        <a:rPr sz="800" b="1">
                          <a:solidFill>
                            <a:srgbClr val="A86F00"/>
                          </a:solidFill>
                          <a:latin typeface="Calibri"/>
                        </a:rPr>
                        <a:t>▶ 2.1%</a:t>
                      </a:r>
                    </a:p>
                  </a:txBody>
                  <a:tcPr marL="85725" marR="38100" marT="19050" marB="19050" anchor="ctr">
                    <a:solidFill>
                      <a:srgbClr val="F5F8FA"/>
                    </a:solidFill>
                  </a:tcPr>
                </a:tc>
                <a:tc>
                  <a:txBody>
                    <a:bodyPr wrap="none"/>
                    <a:lstStyle/>
                    <a:p>
                      <a:pPr algn="l"/>
                      <a:r>
                        <a:rPr sz="800" b="1">
                          <a:solidFill>
                            <a:srgbClr val="A86F00"/>
                          </a:solidFill>
                          <a:latin typeface="Calibri"/>
                        </a:rPr>
                        <a:t>▶ 2.2%</a:t>
                      </a:r>
                    </a:p>
                  </a:txBody>
                  <a:tcPr marL="85725" marR="38100" marT="19050" marB="19050" anchor="ctr">
                    <a:solidFill>
                      <a:srgbClr val="F5F8FA"/>
                    </a:solidFill>
                  </a:tcPr>
                </a:tc>
                <a:tc>
                  <a:txBody>
                    <a:bodyPr wrap="none"/>
                    <a:lstStyle/>
                    <a:p>
                      <a:pPr algn="l"/>
                      <a:r>
                        <a:rPr sz="800" b="1">
                          <a:solidFill>
                            <a:srgbClr val="A86F00"/>
                          </a:solidFill>
                          <a:latin typeface="Calibri"/>
                        </a:rPr>
                        <a:t>▶ 1.9%</a:t>
                      </a:r>
                    </a:p>
                  </a:txBody>
                  <a:tcPr marL="85725" marR="38100" marT="19050" marB="19050" anchor="ctr">
                    <a:solidFill>
                      <a:srgbClr val="F5F8FA"/>
                    </a:solidFill>
                  </a:tcPr>
                </a:tc>
                <a:tc>
                  <a:txBody>
                    <a:bodyPr wrap="none"/>
                    <a:lstStyle/>
                    <a:p>
                      <a:pPr algn="l"/>
                      <a:r>
                        <a:rPr sz="800" b="1">
                          <a:solidFill>
                            <a:srgbClr val="A86F00"/>
                          </a:solidFill>
                          <a:latin typeface="Calibri"/>
                        </a:rPr>
                        <a:t>▶ 2.0%</a:t>
                      </a:r>
                    </a:p>
                  </a:txBody>
                  <a:tcPr marL="85725" marR="38100" marT="19050" marB="19050" anchor="ctr">
                    <a:solidFill>
                      <a:srgbClr val="F5F8FA"/>
                    </a:solidFill>
                  </a:tcPr>
                </a:tc>
              </a:tr>
            </a:tbl>
          </a:graphicData>
        </a:graphic>
      </p:graphicFrame>
      <p:sp>
        <p:nvSpPr>
          <p:cNvPr id="15" name="TextBox 14"/>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ectangle 1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8" name="Rounded Rectangle 17">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0" name="Rounded Rectangle 19">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Application   ·   (continued 2/2)</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Application, highlighting acceleration and slowdown</a:t>
            </a:r>
          </a:p>
        </p:txBody>
      </p:sp>
      <p:sp>
        <p:nvSpPr>
          <p:cNvPr id="11" name="Rounded Rectangle 10"/>
          <p:cNvSpPr/>
          <p:nvPr/>
        </p:nvSpPr>
        <p:spPr>
          <a:xfrm>
            <a:off x="142875" y="857250"/>
            <a:ext cx="11906250" cy="5867400"/>
          </a:xfrm>
          <a:prstGeom prst="roundRect">
            <a:avLst>
              <a:gd name="adj" fmla="val 12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Application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3" name="Table 12"/>
          <p:cNvGraphicFramePr>
            <a:graphicFrameLocks noGrp="1"/>
          </p:cNvGraphicFramePr>
          <p:nvPr/>
        </p:nvGraphicFramePr>
        <p:xfrm>
          <a:off x="238125" y="1143000"/>
          <a:ext cx="11715750" cy="16287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Application</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Diabetes &amp; Glucose Testing</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8.8%</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9.3%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Newborn Screening</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6.4%</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Hematology Testing</a:t>
                      </a:r>
                    </a:p>
                  </a:txBody>
                  <a:tcPr marL="85725" marR="38100" marT="19050" marB="19050" anchor="ctr">
                    <a:solidFill>
                      <a:srgbClr val="FFFFFF"/>
                    </a:solidFill>
                  </a:tcPr>
                </a:tc>
                <a:tc>
                  <a:txBody>
                    <a:bodyPr wrap="none"/>
                    <a:lstStyle/>
                    <a:p>
                      <a:pPr algn="l"/>
                      <a:r>
                        <a:rPr sz="800" b="1">
                          <a:solidFill>
                            <a:srgbClr val="E44D3A"/>
                          </a:solidFill>
                          <a:latin typeface="Calibri"/>
                        </a:rPr>
                        <a:t>▼ -0.1%</a:t>
                      </a:r>
                    </a:p>
                  </a:txBody>
                  <a:tcPr marL="85725" marR="38100" marT="19050" marB="19050" anchor="ctr">
                    <a:solidFill>
                      <a:srgbClr val="FFFFFF"/>
                    </a:solidFill>
                  </a:tcPr>
                </a:tc>
                <a:tc>
                  <a:txBody>
                    <a:bodyPr wrap="none"/>
                    <a:lstStyle/>
                    <a:p>
                      <a:pPr algn="l"/>
                      <a:r>
                        <a:rPr sz="800" b="1">
                          <a:solidFill>
                            <a:srgbClr val="A86F00"/>
                          </a:solidFill>
                          <a:latin typeface="Calibri"/>
                        </a:rPr>
                        <a:t>▶ 0.1%</a:t>
                      </a:r>
                    </a:p>
                  </a:txBody>
                  <a:tcPr marL="85725" marR="38100" marT="19050" marB="19050" anchor="ctr">
                    <a:solidFill>
                      <a:srgbClr val="FFFFFF"/>
                    </a:solidFill>
                  </a:tcPr>
                </a:tc>
                <a:tc>
                  <a:txBody>
                    <a:bodyPr wrap="none"/>
                    <a:lstStyle/>
                    <a:p>
                      <a:pPr algn="l"/>
                      <a:r>
                        <a:rPr sz="800" b="1">
                          <a:solidFill>
                            <a:srgbClr val="A86F00"/>
                          </a:solidFill>
                          <a:latin typeface="Calibri"/>
                        </a:rPr>
                        <a:t>▶ 0.6%</a:t>
                      </a:r>
                    </a:p>
                  </a:txBody>
                  <a:tcPr marL="85725" marR="38100" marT="19050" marB="19050" anchor="ctr">
                    <a:solidFill>
                      <a:srgbClr val="FFFFFF"/>
                    </a:solidFill>
                  </a:tcPr>
                </a:tc>
                <a:tc>
                  <a:txBody>
                    <a:bodyPr wrap="none"/>
                    <a:lstStyle/>
                    <a:p>
                      <a:pPr algn="l"/>
                      <a:r>
                        <a:rPr sz="800" b="1">
                          <a:solidFill>
                            <a:srgbClr val="A86F00"/>
                          </a:solidFill>
                          <a:latin typeface="Calibri"/>
                        </a:rPr>
                        <a:t>▶ 0.6%</a:t>
                      </a:r>
                    </a:p>
                  </a:txBody>
                  <a:tcPr marL="85725" marR="38100" marT="19050" marB="19050" anchor="ctr">
                    <a:solidFill>
                      <a:srgbClr val="FFFFFF"/>
                    </a:solidFill>
                  </a:tcPr>
                </a:tc>
                <a:tc>
                  <a:txBody>
                    <a:bodyPr wrap="none"/>
                    <a:lstStyle/>
                    <a:p>
                      <a:pPr algn="l"/>
                      <a:r>
                        <a:rPr sz="800" b="1">
                          <a:solidFill>
                            <a:srgbClr val="A86F00"/>
                          </a:solidFill>
                          <a:latin typeface="Calibri"/>
                        </a:rPr>
                        <a:t>▶ 2.0%</a:t>
                      </a:r>
                    </a:p>
                  </a:txBody>
                  <a:tcPr marL="85725" marR="38100" marT="19050" marB="19050" anchor="ctr">
                    <a:solidFill>
                      <a:srgbClr val="FFFFFF"/>
                    </a:solidFill>
                  </a:tcPr>
                </a:tc>
                <a:tc>
                  <a:txBody>
                    <a:bodyPr wrap="none"/>
                    <a:lstStyle/>
                    <a:p>
                      <a:pPr algn="l"/>
                      <a:r>
                        <a:rPr sz="800" b="1">
                          <a:solidFill>
                            <a:srgbClr val="A86F00"/>
                          </a:solidFill>
                          <a:latin typeface="Calibri"/>
                        </a:rPr>
                        <a:t>▶ 2.0%</a:t>
                      </a:r>
                    </a:p>
                  </a:txBody>
                  <a:tcPr marL="85725" marR="38100" marT="19050" marB="19050" anchor="ctr">
                    <a:solidFill>
                      <a:srgbClr val="FFFFFF"/>
                    </a:solidFill>
                  </a:tcPr>
                </a:tc>
                <a:tc>
                  <a:txBody>
                    <a:bodyPr wrap="none"/>
                    <a:lstStyle/>
                    <a:p>
                      <a:pPr algn="l"/>
                      <a:r>
                        <a:rPr sz="800" b="1">
                          <a:solidFill>
                            <a:srgbClr val="A86F00"/>
                          </a:solidFill>
                          <a:latin typeface="Calibri"/>
                        </a:rPr>
                        <a:t>▶ 2.0%</a:t>
                      </a:r>
                    </a:p>
                  </a:txBody>
                  <a:tcPr marL="85725" marR="38100" marT="19050" marB="19050" anchor="ctr">
                    <a:solidFill>
                      <a:srgbClr val="FFFFFF"/>
                    </a:solidFill>
                  </a:tcPr>
                </a:tc>
                <a:tc>
                  <a:txBody>
                    <a:bodyPr wrap="none"/>
                    <a:lstStyle/>
                    <a:p>
                      <a:pPr algn="l"/>
                      <a:r>
                        <a:rPr sz="800" b="1">
                          <a:solidFill>
                            <a:srgbClr val="A86F00"/>
                          </a:solidFill>
                          <a:latin typeface="Calibri"/>
                        </a:rPr>
                        <a:t>▶ 2.1%</a:t>
                      </a:r>
                    </a:p>
                  </a:txBody>
                  <a:tcPr marL="85725" marR="38100" marT="19050" marB="19050" anchor="ctr">
                    <a:solidFill>
                      <a:srgbClr val="FFFFFF"/>
                    </a:solidFill>
                  </a:tcPr>
                </a:tc>
                <a:tc>
                  <a:txBody>
                    <a:bodyPr wrap="none"/>
                    <a:lstStyle/>
                    <a:p>
                      <a:pPr algn="l"/>
                      <a:r>
                        <a:rPr sz="800" b="1">
                          <a:solidFill>
                            <a:srgbClr val="A86F00"/>
                          </a:solidFill>
                          <a:latin typeface="Calibri"/>
                        </a:rPr>
                        <a:t>▶ 2.1%</a:t>
                      </a:r>
                    </a:p>
                  </a:txBody>
                  <a:tcPr marL="85725" marR="38100" marT="19050" marB="19050" anchor="ctr">
                    <a:solidFill>
                      <a:srgbClr val="FFFFFF"/>
                    </a:solidFill>
                  </a:tcPr>
                </a:tc>
                <a:tc>
                  <a:txBody>
                    <a:bodyPr wrap="none"/>
                    <a:lstStyle/>
                    <a:p>
                      <a:pPr algn="l"/>
                      <a:r>
                        <a:rPr sz="800" b="1">
                          <a:solidFill>
                            <a:srgbClr val="A86F00"/>
                          </a:solidFill>
                          <a:latin typeface="Calibri"/>
                        </a:rPr>
                        <a:t>▶ 2.1%</a:t>
                      </a:r>
                    </a:p>
                  </a:txBody>
                  <a:tcPr marL="85725" marR="38100" marT="19050" marB="19050" anchor="ctr">
                    <a:solidFill>
                      <a:srgbClr val="FFFFFF"/>
                    </a:solidFill>
                  </a:tcPr>
                </a:tc>
                <a:tc>
                  <a:txBody>
                    <a:bodyPr wrap="none"/>
                    <a:lstStyle/>
                    <a:p>
                      <a:pPr algn="l"/>
                      <a:r>
                        <a:rPr sz="800" b="1">
                          <a:solidFill>
                            <a:srgbClr val="A86F00"/>
                          </a:solidFill>
                          <a:latin typeface="Calibri"/>
                        </a:rPr>
                        <a:t>▶ 2.1%</a:t>
                      </a:r>
                    </a:p>
                  </a:txBody>
                  <a:tcPr marL="85725" marR="38100" marT="19050" marB="19050" anchor="ctr">
                    <a:solidFill>
                      <a:srgbClr val="FFFFFF"/>
                    </a:solidFill>
                  </a:tcPr>
                </a:tc>
                <a:tc>
                  <a:txBody>
                    <a:bodyPr wrap="none"/>
                    <a:lstStyle/>
                    <a:p>
                      <a:pPr algn="l"/>
                      <a:r>
                        <a:rPr sz="800" b="1">
                          <a:solidFill>
                            <a:srgbClr val="A86F00"/>
                          </a:solidFill>
                          <a:latin typeface="Calibri"/>
                        </a:rPr>
                        <a:t>▶ 2.0%</a:t>
                      </a:r>
                    </a:p>
                  </a:txBody>
                  <a:tcPr marL="85725" marR="38100" marT="19050" marB="19050" anchor="ctr">
                    <a:solidFill>
                      <a:srgbClr val="FFFFFF"/>
                    </a:solidFill>
                  </a:tcPr>
                </a:tc>
                <a:tc>
                  <a:txBody>
                    <a:bodyPr wrap="none"/>
                    <a:lstStyle/>
                    <a:p>
                      <a:pPr algn="l"/>
                      <a:r>
                        <a:rPr sz="800" b="1">
                          <a:solidFill>
                            <a:srgbClr val="A86F00"/>
                          </a:solidFill>
                          <a:latin typeface="Calibri"/>
                        </a:rPr>
                        <a:t>▶ 2.3%</a:t>
                      </a:r>
                    </a:p>
                  </a:txBody>
                  <a:tcPr marL="85725" marR="38100" marT="19050" marB="19050" anchor="ctr">
                    <a:solidFill>
                      <a:srgbClr val="FFFFFF"/>
                    </a:solidFill>
                  </a:tcPr>
                </a:tc>
                <a:tc>
                  <a:txBody>
                    <a:bodyPr wrap="none"/>
                    <a:lstStyle/>
                    <a:p>
                      <a:pPr algn="l"/>
                      <a:r>
                        <a:rPr sz="800" b="1">
                          <a:solidFill>
                            <a:srgbClr val="A86F00"/>
                          </a:solidFill>
                          <a:latin typeface="Calibri"/>
                        </a:rPr>
                        <a:t>▶ 2.2%</a:t>
                      </a:r>
                    </a:p>
                  </a:txBody>
                  <a:tcPr marL="85725" marR="38100" marT="19050" marB="19050" anchor="ctr">
                    <a:solidFill>
                      <a:srgbClr val="FFFFFF"/>
                    </a:solidFill>
                  </a:tcPr>
                </a:tc>
                <a:tc>
                  <a:txBody>
                    <a:bodyPr wrap="none"/>
                    <a:lstStyle/>
                    <a:p>
                      <a:pPr algn="l"/>
                      <a:r>
                        <a:rPr sz="800" b="1">
                          <a:solidFill>
                            <a:srgbClr val="A86F00"/>
                          </a:solidFill>
                          <a:latin typeface="Calibri"/>
                        </a:rPr>
                        <a:t>▶ 2.5%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Infectious Disease Testing</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5.8%</a:t>
                      </a:r>
                    </a:p>
                  </a:txBody>
                  <a:tcPr marL="85725" marR="38100" marT="19050" marB="19050" anchor="ctr">
                    <a:solidFill>
                      <a:srgbClr val="F5F8FA"/>
                    </a:solidFill>
                  </a:tcPr>
                </a:tc>
                <a:tc>
                  <a:txBody>
                    <a:bodyPr wrap="none"/>
                    <a:lstStyle/>
                    <a:p>
                      <a:pPr algn="l"/>
                      <a:r>
                        <a:rPr sz="800" b="1">
                          <a:solidFill>
                            <a:srgbClr val="A86F00"/>
                          </a:solidFill>
                          <a:latin typeface="Calibri"/>
                        </a:rPr>
                        <a:t>▶ 6.5%</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7.1%</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7.4%</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8.3%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Genetic &amp; Molecular Testing</a:t>
                      </a:r>
                    </a:p>
                  </a:txBody>
                  <a:tcPr marL="85725" marR="38100" marT="19050" marB="19050" anchor="ctr">
                    <a:solidFill>
                      <a:srgbClr val="FFFFFF"/>
                    </a:solidFill>
                  </a:tcPr>
                </a:tc>
                <a:tc>
                  <a:txBody>
                    <a:bodyPr wrap="none"/>
                    <a:lstStyle/>
                    <a:p>
                      <a:pPr algn="l"/>
                      <a:r>
                        <a:rPr sz="800" b="1">
                          <a:solidFill>
                            <a:srgbClr val="2E7D32"/>
                          </a:solidFill>
                          <a:latin typeface="Calibri"/>
                        </a:rPr>
                        <a:t>▲ 13.3%</a:t>
                      </a:r>
                    </a:p>
                  </a:txBody>
                  <a:tcPr marL="85725" marR="38100" marT="19050" marB="19050" anchor="ctr">
                    <a:solidFill>
                      <a:srgbClr val="FFFFFF"/>
                    </a:solidFill>
                  </a:tcPr>
                </a:tc>
                <a:tc>
                  <a:txBody>
                    <a:bodyPr wrap="none"/>
                    <a:lstStyle/>
                    <a:p>
                      <a:pPr algn="l"/>
                      <a:r>
                        <a:rPr sz="800" b="1">
                          <a:solidFill>
                            <a:srgbClr val="2E7D32"/>
                          </a:solidFill>
                          <a:latin typeface="Calibri"/>
                        </a:rPr>
                        <a:t>▲ 13.6%</a:t>
                      </a:r>
                    </a:p>
                  </a:txBody>
                  <a:tcPr marL="85725" marR="38100" marT="19050" marB="19050" anchor="ctr">
                    <a:solidFill>
                      <a:srgbClr val="FFFFFF"/>
                    </a:solidFill>
                  </a:tcPr>
                </a:tc>
                <a:tc>
                  <a:txBody>
                    <a:bodyPr wrap="none"/>
                    <a:lstStyle/>
                    <a:p>
                      <a:pPr algn="l"/>
                      <a:r>
                        <a:rPr sz="800" b="1">
                          <a:solidFill>
                            <a:srgbClr val="2E7D32"/>
                          </a:solidFill>
                          <a:latin typeface="Calibri"/>
                        </a:rPr>
                        <a:t>▲ 14.3%</a:t>
                      </a:r>
                    </a:p>
                  </a:txBody>
                  <a:tcPr marL="85725" marR="38100" marT="19050" marB="19050" anchor="ctr">
                    <a:solidFill>
                      <a:srgbClr val="FFFFFF"/>
                    </a:solidFill>
                  </a:tcPr>
                </a:tc>
                <a:tc>
                  <a:txBody>
                    <a:bodyPr wrap="none"/>
                    <a:lstStyle/>
                    <a:p>
                      <a:pPr algn="l"/>
                      <a:r>
                        <a:rPr sz="800" b="1">
                          <a:solidFill>
                            <a:srgbClr val="2E7D32"/>
                          </a:solidFill>
                          <a:latin typeface="Calibri"/>
                        </a:rPr>
                        <a:t>▲ 14.4%</a:t>
                      </a:r>
                    </a:p>
                  </a:txBody>
                  <a:tcPr marL="85725" marR="38100" marT="19050" marB="19050" anchor="ctr">
                    <a:solidFill>
                      <a:srgbClr val="FFFFFF"/>
                    </a:solidFill>
                  </a:tcPr>
                </a:tc>
                <a:tc>
                  <a:txBody>
                    <a:bodyPr wrap="none"/>
                    <a:lstStyle/>
                    <a:p>
                      <a:pPr algn="l"/>
                      <a:r>
                        <a:rPr sz="800" b="1">
                          <a:solidFill>
                            <a:srgbClr val="2E7D32"/>
                          </a:solidFill>
                          <a:latin typeface="Calibri"/>
                        </a:rPr>
                        <a:t>▲ 14.7%</a:t>
                      </a:r>
                    </a:p>
                  </a:txBody>
                  <a:tcPr marL="85725" marR="38100" marT="19050" marB="19050" anchor="ctr">
                    <a:solidFill>
                      <a:srgbClr val="FFFFFF"/>
                    </a:solidFill>
                  </a:tcPr>
                </a:tc>
                <a:tc>
                  <a:txBody>
                    <a:bodyPr wrap="none"/>
                    <a:lstStyle/>
                    <a:p>
                      <a:pPr algn="l"/>
                      <a:r>
                        <a:rPr sz="800" b="1">
                          <a:solidFill>
                            <a:srgbClr val="2E7D32"/>
                          </a:solidFill>
                          <a:latin typeface="Calibri"/>
                        </a:rPr>
                        <a:t>▲ 14.9%</a:t>
                      </a:r>
                    </a:p>
                  </a:txBody>
                  <a:tcPr marL="85725" marR="38100" marT="19050" marB="19050" anchor="ctr">
                    <a:solidFill>
                      <a:srgbClr val="FFFFFF"/>
                    </a:solidFill>
                  </a:tcPr>
                </a:tc>
                <a:tc>
                  <a:txBody>
                    <a:bodyPr wrap="none"/>
                    <a:lstStyle/>
                    <a:p>
                      <a:pPr algn="l"/>
                      <a:r>
                        <a:rPr sz="800" b="1">
                          <a:solidFill>
                            <a:srgbClr val="2E7D32"/>
                          </a:solidFill>
                          <a:latin typeface="Calibri"/>
                        </a:rPr>
                        <a:t>▲ 14.9%</a:t>
                      </a:r>
                    </a:p>
                  </a:txBody>
                  <a:tcPr marL="85725" marR="38100" marT="19050" marB="19050" anchor="ctr">
                    <a:solidFill>
                      <a:srgbClr val="FFFFFF"/>
                    </a:solidFill>
                  </a:tcPr>
                </a:tc>
                <a:tc>
                  <a:txBody>
                    <a:bodyPr wrap="none"/>
                    <a:lstStyle/>
                    <a:p>
                      <a:pPr algn="l"/>
                      <a:r>
                        <a:rPr sz="800" b="1">
                          <a:solidFill>
                            <a:srgbClr val="2E7D32"/>
                          </a:solidFill>
                          <a:latin typeface="Calibri"/>
                        </a:rPr>
                        <a:t>▲ 15.0%</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15.2%</a:t>
                      </a:r>
                    </a:p>
                  </a:txBody>
                  <a:tcPr marL="85725" marR="38100" marT="19050" marB="19050" anchor="ctr">
                    <a:solidFill>
                      <a:srgbClr val="FFFFFF"/>
                    </a:solidFill>
                  </a:tcPr>
                </a:tc>
                <a:tc>
                  <a:txBody>
                    <a:bodyPr wrap="none"/>
                    <a:lstStyle/>
                    <a:p>
                      <a:pPr algn="l"/>
                      <a:r>
                        <a:rPr sz="800" b="1">
                          <a:solidFill>
                            <a:srgbClr val="2E7D32"/>
                          </a:solidFill>
                          <a:latin typeface="Calibri"/>
                        </a:rPr>
                        <a:t>▲ 15.1%</a:t>
                      </a:r>
                    </a:p>
                  </a:txBody>
                  <a:tcPr marL="85725" marR="38100" marT="19050" marB="19050" anchor="ctr">
                    <a:solidFill>
                      <a:srgbClr val="FFFFFF"/>
                    </a:solidFill>
                  </a:tcPr>
                </a:tc>
                <a:tc>
                  <a:txBody>
                    <a:bodyPr wrap="none"/>
                    <a:lstStyle/>
                    <a:p>
                      <a:pPr algn="l"/>
                      <a:r>
                        <a:rPr sz="800" b="1">
                          <a:solidFill>
                            <a:srgbClr val="2E7D32"/>
                          </a:solidFill>
                          <a:latin typeface="Calibri"/>
                        </a:rPr>
                        <a:t>▲ 15.5%</a:t>
                      </a:r>
                    </a:p>
                  </a:txBody>
                  <a:tcPr marL="85725" marR="38100" marT="19050" marB="19050" anchor="ctr">
                    <a:solidFill>
                      <a:srgbClr val="FFFFFF"/>
                    </a:solidFill>
                  </a:tcPr>
                </a:tc>
                <a:tc>
                  <a:txBody>
                    <a:bodyPr wrap="none"/>
                    <a:lstStyle/>
                    <a:p>
                      <a:pPr algn="l"/>
                      <a:r>
                        <a:rPr sz="800" b="1">
                          <a:solidFill>
                            <a:srgbClr val="2E7D32"/>
                          </a:solidFill>
                          <a:latin typeface="Calibri"/>
                        </a:rPr>
                        <a:t>▲ 15.5%</a:t>
                      </a:r>
                    </a:p>
                  </a:txBody>
                  <a:tcPr marL="85725" marR="38100" marT="19050" marB="19050" anchor="ctr">
                    <a:solidFill>
                      <a:srgbClr val="FFFFFF"/>
                    </a:solidFill>
                  </a:tcPr>
                </a:tc>
                <a:tc>
                  <a:txBody>
                    <a:bodyPr wrap="none"/>
                    <a:lstStyle/>
                    <a:p>
                      <a:pPr algn="l"/>
                      <a:r>
                        <a:rPr sz="800" b="1">
                          <a:solidFill>
                            <a:srgbClr val="2E7D32"/>
                          </a:solidFill>
                          <a:latin typeface="Calibri"/>
                        </a:rPr>
                        <a:t>▲ 15.9%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Therapeutic Drug Monitoring</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Metabolic &amp; Biochemical Testing</a:t>
                      </a:r>
                    </a:p>
                  </a:txBody>
                  <a:tcPr marL="85725" marR="38100" marT="19050" marB="19050" anchor="ctr">
                    <a:solidFill>
                      <a:srgbClr val="FFFFFF"/>
                    </a:solidFill>
                  </a:tcPr>
                </a:tc>
                <a:tc>
                  <a:txBody>
                    <a:bodyPr wrap="none"/>
                    <a:lstStyle/>
                    <a:p>
                      <a:pPr algn="l"/>
                      <a:r>
                        <a:rPr sz="800" b="1">
                          <a:solidFill>
                            <a:srgbClr val="2E7D32"/>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7.9%</a:t>
                      </a:r>
                    </a:p>
                  </a:txBody>
                  <a:tcPr marL="85725" marR="38100" marT="19050" marB="19050" anchor="ctr">
                    <a:solidFill>
                      <a:srgbClr val="FFFFFF"/>
                    </a:solidFill>
                  </a:tcPr>
                </a:tc>
                <a:tc>
                  <a:txBody>
                    <a:bodyPr wrap="none"/>
                    <a:lstStyle/>
                    <a:p>
                      <a:pPr algn="l"/>
                      <a:r>
                        <a:rPr sz="800" b="1">
                          <a:solidFill>
                            <a:srgbClr val="A86F00"/>
                          </a:solidFill>
                          <a:latin typeface="Calibri"/>
                        </a:rPr>
                        <a:t>▶ 7.8%</a:t>
                      </a:r>
                    </a:p>
                  </a:txBody>
                  <a:tcPr marL="85725" marR="38100" marT="19050" marB="19050" anchor="ctr">
                    <a:solidFill>
                      <a:srgbClr val="FFFFFF"/>
                    </a:solidFill>
                  </a:tcPr>
                </a:tc>
                <a:tc>
                  <a:txBody>
                    <a:bodyPr wrap="none"/>
                    <a:lstStyle/>
                    <a:p>
                      <a:pPr algn="l"/>
                      <a:r>
                        <a:rPr sz="800" b="1">
                          <a:solidFill>
                            <a:srgbClr val="A86F00"/>
                          </a:solidFill>
                          <a:latin typeface="Calibri"/>
                        </a:rPr>
                        <a:t>▶ 8.2%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Other Diagnostic Applications</a:t>
                      </a:r>
                    </a:p>
                  </a:txBody>
                  <a:tcPr marL="85725" marR="38100" marT="19050" marB="19050" anchor="ctr">
                    <a:solidFill>
                      <a:srgbClr val="F5F8FA"/>
                    </a:solidFill>
                  </a:tcPr>
                </a:tc>
                <a:tc>
                  <a:txBody>
                    <a:bodyPr wrap="none"/>
                    <a:lstStyle/>
                    <a:p>
                      <a:pPr algn="l"/>
                      <a:r>
                        <a:rPr sz="800" b="1">
                          <a:solidFill>
                            <a:srgbClr val="A86F00"/>
                          </a:solidFill>
                          <a:latin typeface="Calibri"/>
                        </a:rPr>
                        <a:t>▶ 1.7%</a:t>
                      </a:r>
                    </a:p>
                  </a:txBody>
                  <a:tcPr marL="85725" marR="38100" marT="19050" marB="19050" anchor="ctr">
                    <a:solidFill>
                      <a:srgbClr val="F5F8FA"/>
                    </a:solidFill>
                  </a:tcPr>
                </a:tc>
                <a:tc>
                  <a:txBody>
                    <a:bodyPr wrap="none"/>
                    <a:lstStyle/>
                    <a:p>
                      <a:pPr algn="l"/>
                      <a:r>
                        <a:rPr sz="800" b="1">
                          <a:solidFill>
                            <a:srgbClr val="A86F00"/>
                          </a:solidFill>
                          <a:latin typeface="Calibri"/>
                        </a:rPr>
                        <a:t>▶ 1.9%</a:t>
                      </a:r>
                    </a:p>
                  </a:txBody>
                  <a:tcPr marL="85725" marR="38100" marT="19050" marB="19050" anchor="ctr">
                    <a:solidFill>
                      <a:srgbClr val="F5F8FA"/>
                    </a:solidFill>
                  </a:tcPr>
                </a:tc>
                <a:tc>
                  <a:txBody>
                    <a:bodyPr wrap="none"/>
                    <a:lstStyle/>
                    <a:p>
                      <a:pPr algn="l"/>
                      <a:r>
                        <a:rPr sz="800" b="1">
                          <a:solidFill>
                            <a:srgbClr val="A86F00"/>
                          </a:solidFill>
                          <a:latin typeface="Calibri"/>
                        </a:rPr>
                        <a:t>▶ 2.3%</a:t>
                      </a:r>
                    </a:p>
                  </a:txBody>
                  <a:tcPr marL="85725" marR="38100" marT="19050" marB="19050" anchor="ctr">
                    <a:solidFill>
                      <a:srgbClr val="F5F8FA"/>
                    </a:solidFill>
                  </a:tcPr>
                </a:tc>
                <a:tc>
                  <a:txBody>
                    <a:bodyPr wrap="none"/>
                    <a:lstStyle/>
                    <a:p>
                      <a:pPr algn="l"/>
                      <a:r>
                        <a:rPr sz="800" b="1">
                          <a:solidFill>
                            <a:srgbClr val="A86F00"/>
                          </a:solidFill>
                          <a:latin typeface="Calibri"/>
                        </a:rPr>
                        <a:t>▶ 2.3%</a:t>
                      </a:r>
                    </a:p>
                  </a:txBody>
                  <a:tcPr marL="85725" marR="38100" marT="19050" marB="19050" anchor="ctr">
                    <a:solidFill>
                      <a:srgbClr val="F5F8FA"/>
                    </a:solidFill>
                  </a:tcPr>
                </a:tc>
                <a:tc>
                  <a:txBody>
                    <a:bodyPr wrap="none"/>
                    <a:lstStyle/>
                    <a:p>
                      <a:pPr algn="l"/>
                      <a:r>
                        <a:rPr sz="800" b="1">
                          <a:solidFill>
                            <a:srgbClr val="A86F00"/>
                          </a:solidFill>
                          <a:latin typeface="Calibri"/>
                        </a:rPr>
                        <a:t>▶ 3.3%</a:t>
                      </a:r>
                    </a:p>
                  </a:txBody>
                  <a:tcPr marL="85725" marR="38100" marT="19050" marB="19050" anchor="ctr">
                    <a:solidFill>
                      <a:srgbClr val="F5F8FA"/>
                    </a:solidFill>
                  </a:tcPr>
                </a:tc>
                <a:tc>
                  <a:txBody>
                    <a:bodyPr wrap="none"/>
                    <a:lstStyle/>
                    <a:p>
                      <a:pPr algn="l"/>
                      <a:r>
                        <a:rPr sz="800" b="1">
                          <a:solidFill>
                            <a:srgbClr val="A86F00"/>
                          </a:solidFill>
                          <a:latin typeface="Calibri"/>
                        </a:rPr>
                        <a:t>▶ 3.4%</a:t>
                      </a:r>
                    </a:p>
                  </a:txBody>
                  <a:tcPr marL="85725" marR="38100" marT="19050" marB="19050" anchor="ctr">
                    <a:solidFill>
                      <a:srgbClr val="F5F8FA"/>
                    </a:solidFill>
                  </a:tcPr>
                </a:tc>
                <a:tc>
                  <a:txBody>
                    <a:bodyPr wrap="none"/>
                    <a:lstStyle/>
                    <a:p>
                      <a:pPr algn="l"/>
                      <a:r>
                        <a:rPr sz="800" b="1">
                          <a:solidFill>
                            <a:srgbClr val="A86F00"/>
                          </a:solidFill>
                          <a:latin typeface="Calibri"/>
                        </a:rPr>
                        <a:t>▶ 3.4%</a:t>
                      </a:r>
                    </a:p>
                  </a:txBody>
                  <a:tcPr marL="85725" marR="38100" marT="19050" marB="19050" anchor="ctr">
                    <a:solidFill>
                      <a:srgbClr val="F5F8FA"/>
                    </a:solidFill>
                  </a:tcPr>
                </a:tc>
                <a:tc>
                  <a:txBody>
                    <a:bodyPr wrap="none"/>
                    <a:lstStyle/>
                    <a:p>
                      <a:pPr algn="l"/>
                      <a:r>
                        <a:rPr sz="800" b="1">
                          <a:solidFill>
                            <a:srgbClr val="A86F00"/>
                          </a:solidFill>
                          <a:latin typeface="Calibri"/>
                        </a:rPr>
                        <a:t>▶ 3.4%</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3.5%</a:t>
                      </a:r>
                    </a:p>
                  </a:txBody>
                  <a:tcPr marL="85725" marR="38100" marT="19050" marB="19050" anchor="ctr">
                    <a:solidFill>
                      <a:srgbClr val="F5F8FA"/>
                    </a:solidFill>
                  </a:tcPr>
                </a:tc>
                <a:tc>
                  <a:txBody>
                    <a:bodyPr wrap="none"/>
                    <a:lstStyle/>
                    <a:p>
                      <a:pPr algn="l"/>
                      <a:r>
                        <a:rPr sz="800" b="1">
                          <a:solidFill>
                            <a:srgbClr val="A86F00"/>
                          </a:solidFill>
                          <a:latin typeface="Calibri"/>
                        </a:rPr>
                        <a:t>▶ 3.4%</a:t>
                      </a:r>
                    </a:p>
                  </a:txBody>
                  <a:tcPr marL="85725" marR="38100" marT="19050" marB="19050" anchor="ctr">
                    <a:solidFill>
                      <a:srgbClr val="F5F8FA"/>
                    </a:solidFill>
                  </a:tcPr>
                </a:tc>
                <a:tc>
                  <a:txBody>
                    <a:bodyPr wrap="none"/>
                    <a:lstStyle/>
                    <a:p>
                      <a:pPr algn="l"/>
                      <a:r>
                        <a:rPr sz="800" b="1">
                          <a:solidFill>
                            <a:srgbClr val="A86F00"/>
                          </a:solidFill>
                          <a:latin typeface="Calibri"/>
                        </a:rPr>
                        <a:t>▶ 3.7%</a:t>
                      </a:r>
                    </a:p>
                  </a:txBody>
                  <a:tcPr marL="85725" marR="38100" marT="19050" marB="19050" anchor="ctr">
                    <a:solidFill>
                      <a:srgbClr val="F5F8FA"/>
                    </a:solidFill>
                  </a:tcPr>
                </a:tc>
                <a:tc>
                  <a:txBody>
                    <a:bodyPr wrap="none"/>
                    <a:lstStyle/>
                    <a:p>
                      <a:pPr algn="l"/>
                      <a:r>
                        <a:rPr sz="800" b="1">
                          <a:solidFill>
                            <a:srgbClr val="A86F00"/>
                          </a:solidFill>
                          <a:latin typeface="Calibri"/>
                        </a:rPr>
                        <a:t>▶ 3.6%</a:t>
                      </a:r>
                    </a:p>
                  </a:txBody>
                  <a:tcPr marL="85725" marR="38100" marT="19050" marB="19050" anchor="ctr">
                    <a:solidFill>
                      <a:srgbClr val="F5F8FA"/>
                    </a:solidFill>
                  </a:tcPr>
                </a:tc>
                <a:tc>
                  <a:txBody>
                    <a:bodyPr wrap="none"/>
                    <a:lstStyle/>
                    <a:p>
                      <a:pPr algn="l"/>
                      <a:r>
                        <a:rPr sz="800" b="1">
                          <a:solidFill>
                            <a:srgbClr val="A86F00"/>
                          </a:solidFill>
                          <a:latin typeface="Calibri"/>
                        </a:rPr>
                        <a:t>▶ 3.9%</a:t>
                      </a:r>
                    </a:p>
                  </a:txBody>
                  <a:tcPr marL="85725" marR="38100" marT="19050" marB="19050" anchor="ctr">
                    <a:solidFill>
                      <a:srgbClr val="F5F8FA"/>
                    </a:solidFill>
                  </a:tcPr>
                </a:tc>
              </a:tr>
            </a:tbl>
          </a:graphicData>
        </a:graphic>
      </p:graphicFrame>
      <p:sp>
        <p:nvSpPr>
          <p:cNvPr id="14" name="TextBox 13"/>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5" name="Rectangle 1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 name="Rounded Rectangle 1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8" name="Rounded Rectangle 1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9" name="Rounded Rectangle 1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End User</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16</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End User</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End User: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End User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End User</a:t>
            </a:r>
          </a:p>
        </p:txBody>
      </p:sp>
      <p:graphicFrame>
        <p:nvGraphicFramePr>
          <p:cNvPr id="17" name="Table 16"/>
          <p:cNvGraphicFramePr>
            <a:graphicFrameLocks noGrp="1"/>
          </p:cNvGraphicFramePr>
          <p:nvPr/>
        </p:nvGraphicFramePr>
        <p:xfrm>
          <a:off x="6267450" y="1143000"/>
          <a:ext cx="5686424" cy="126682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End User</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900" b="0">
                          <a:solidFill>
                            <a:srgbClr val="2E2E2E"/>
                          </a:solidFill>
                          <a:latin typeface="Calibri"/>
                        </a:rPr>
                        <a:t>39.6%</a:t>
                      </a:r>
                    </a:p>
                  </a:txBody>
                  <a:tcPr marL="85725" marR="38100" marT="19050" marB="19050" anchor="ctr">
                    <a:solidFill>
                      <a:srgbClr val="FFFFFF"/>
                    </a:solidFill>
                  </a:tcPr>
                </a:tc>
                <a:tc>
                  <a:txBody>
                    <a:bodyPr wrap="none"/>
                    <a:lstStyle/>
                    <a:p>
                      <a:pPr algn="l"/>
                      <a:r>
                        <a:rPr sz="900" b="0">
                          <a:solidFill>
                            <a:srgbClr val="2E2E2E"/>
                          </a:solidFill>
                          <a:latin typeface="Calibri"/>
                        </a:rPr>
                        <a:t>37.8%</a:t>
                      </a:r>
                    </a:p>
                  </a:txBody>
                  <a:tcPr marL="85725" marR="38100" marT="19050" marB="19050" anchor="ctr">
                    <a:solidFill>
                      <a:srgbClr val="FFFFFF"/>
                    </a:solidFill>
                  </a:tcPr>
                </a:tc>
                <a:tc>
                  <a:txBody>
                    <a:bodyPr wrap="none"/>
                    <a:lstStyle/>
                    <a:p>
                      <a:pPr algn="l"/>
                      <a:r>
                        <a:rPr sz="900" b="1">
                          <a:solidFill>
                            <a:srgbClr val="E44D3A"/>
                          </a:solidFill>
                          <a:latin typeface="Calibri"/>
                        </a:rPr>
                        <a:t>-180</a:t>
                      </a:r>
                    </a:p>
                  </a:txBody>
                  <a:tcPr marL="85725" marR="38100" marT="19050" marB="19050" anchor="ctr">
                    <a:solidFill>
                      <a:srgbClr val="FFFFFF"/>
                    </a:solidFill>
                  </a:tcPr>
                </a:tc>
                <a:tc>
                  <a:txBody>
                    <a:bodyPr wrap="none"/>
                    <a:lstStyle/>
                    <a:p>
                      <a:pPr algn="l"/>
                      <a:r>
                        <a:rPr sz="9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900" b="0">
                          <a:solidFill>
                            <a:srgbClr val="2E2E2E"/>
                          </a:solidFill>
                          <a:latin typeface="Calibri"/>
                        </a:rPr>
                        <a:t>20.9%</a:t>
                      </a:r>
                    </a:p>
                  </a:txBody>
                  <a:tcPr marL="85725" marR="38100" marT="19050" marB="19050" anchor="ctr">
                    <a:solidFill>
                      <a:srgbClr val="F5F8FA"/>
                    </a:solidFill>
                  </a:tcPr>
                </a:tc>
                <a:tc>
                  <a:txBody>
                    <a:bodyPr wrap="none"/>
                    <a:lstStyle/>
                    <a:p>
                      <a:pPr algn="l"/>
                      <a:r>
                        <a:rPr sz="900" b="0">
                          <a:solidFill>
                            <a:srgbClr val="2E2E2E"/>
                          </a:solidFill>
                          <a:latin typeface="Calibri"/>
                        </a:rPr>
                        <a:t>21.5%</a:t>
                      </a:r>
                    </a:p>
                  </a:txBody>
                  <a:tcPr marL="85725" marR="38100" marT="19050" marB="19050" anchor="ctr">
                    <a:solidFill>
                      <a:srgbClr val="F5F8FA"/>
                    </a:solidFill>
                  </a:tcPr>
                </a:tc>
                <a:tc>
                  <a:txBody>
                    <a:bodyPr wrap="none"/>
                    <a:lstStyle/>
                    <a:p>
                      <a:pPr algn="l"/>
                      <a:r>
                        <a:rPr sz="900" b="1">
                          <a:solidFill>
                            <a:srgbClr val="008189"/>
                          </a:solidFill>
                          <a:latin typeface="Calibri"/>
                        </a:rPr>
                        <a:t>+58</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900" b="0">
                          <a:solidFill>
                            <a:srgbClr val="2E2E2E"/>
                          </a:solidFill>
                          <a:latin typeface="Calibri"/>
                        </a:rPr>
                        <a:t>14.2%</a:t>
                      </a:r>
                    </a:p>
                  </a:txBody>
                  <a:tcPr marL="85725" marR="38100" marT="19050" marB="19050" anchor="ctr">
                    <a:solidFill>
                      <a:srgbClr val="FFFFFF"/>
                    </a:solidFill>
                  </a:tcPr>
                </a:tc>
                <a:tc>
                  <a:txBody>
                    <a:bodyPr wrap="none"/>
                    <a:lstStyle/>
                    <a:p>
                      <a:pPr algn="l"/>
                      <a:r>
                        <a:rPr sz="900" b="0">
                          <a:solidFill>
                            <a:srgbClr val="2E2E2E"/>
                          </a:solidFill>
                          <a:latin typeface="Calibri"/>
                        </a:rPr>
                        <a:t>13.5%</a:t>
                      </a:r>
                    </a:p>
                  </a:txBody>
                  <a:tcPr marL="85725" marR="38100" marT="19050" marB="19050" anchor="ctr">
                    <a:solidFill>
                      <a:srgbClr val="FFFFFF"/>
                    </a:solidFill>
                  </a:tcPr>
                </a:tc>
                <a:tc>
                  <a:txBody>
                    <a:bodyPr wrap="none"/>
                    <a:lstStyle/>
                    <a:p>
                      <a:pPr algn="l"/>
                      <a:r>
                        <a:rPr sz="900" b="1">
                          <a:solidFill>
                            <a:srgbClr val="E44D3A"/>
                          </a:solidFill>
                          <a:latin typeface="Calibri"/>
                        </a:rPr>
                        <a:t>-71</a:t>
                      </a:r>
                    </a:p>
                  </a:txBody>
                  <a:tcPr marL="85725" marR="38100" marT="19050" marB="19050" anchor="ctr">
                    <a:solidFill>
                      <a:srgbClr val="FFFFFF"/>
                    </a:solidFill>
                  </a:tcPr>
                </a:tc>
                <a:tc>
                  <a:txBody>
                    <a:bodyPr wrap="none"/>
                    <a:lstStyle/>
                    <a:p>
                      <a:pPr algn="l"/>
                      <a:r>
                        <a:rPr sz="900" b="0">
                          <a:solidFill>
                            <a:srgbClr val="2E2E2E"/>
                          </a:solidFill>
                          <a:latin typeface="Calibri"/>
                        </a:rPr>
                        <a:t>7.6%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900" b="0">
                          <a:solidFill>
                            <a:srgbClr val="2E2E2E"/>
                          </a:solidFill>
                          <a:latin typeface="Calibri"/>
                        </a:rPr>
                        <a:t>16.2%</a:t>
                      </a:r>
                    </a:p>
                  </a:txBody>
                  <a:tcPr marL="85725" marR="38100" marT="19050" marB="19050" anchor="ctr">
                    <a:solidFill>
                      <a:srgbClr val="F5F8FA"/>
                    </a:solidFill>
                  </a:tcPr>
                </a:tc>
                <a:tc>
                  <a:txBody>
                    <a:bodyPr wrap="none"/>
                    <a:lstStyle/>
                    <a:p>
                      <a:pPr algn="l"/>
                      <a:r>
                        <a:rPr sz="900" b="0">
                          <a:solidFill>
                            <a:srgbClr val="2E2E2E"/>
                          </a:solidFill>
                          <a:latin typeface="Calibri"/>
                        </a:rPr>
                        <a:t>18.0%</a:t>
                      </a:r>
                    </a:p>
                  </a:txBody>
                  <a:tcPr marL="85725" marR="38100" marT="19050" marB="19050" anchor="ctr">
                    <a:solidFill>
                      <a:srgbClr val="F5F8FA"/>
                    </a:solidFill>
                  </a:tcPr>
                </a:tc>
                <a:tc>
                  <a:txBody>
                    <a:bodyPr wrap="none"/>
                    <a:lstStyle/>
                    <a:p>
                      <a:pPr algn="l"/>
                      <a:r>
                        <a:rPr sz="900" b="1">
                          <a:solidFill>
                            <a:srgbClr val="008189"/>
                          </a:solidFill>
                          <a:latin typeface="Calibri"/>
                        </a:rPr>
                        <a:t>+185</a:t>
                      </a:r>
                    </a:p>
                  </a:txBody>
                  <a:tcPr marL="85725" marR="38100" marT="19050" marB="19050" anchor="ctr">
                    <a:solidFill>
                      <a:srgbClr val="F5F8FA"/>
                    </a:solidFill>
                  </a:tcPr>
                </a:tc>
                <a:tc>
                  <a:txBody>
                    <a:bodyPr wrap="none"/>
                    <a:lstStyle/>
                    <a:p>
                      <a:pPr algn="l"/>
                      <a:r>
                        <a:rPr sz="900" b="0">
                          <a:solidFill>
                            <a:srgbClr val="2E2E2E"/>
                          </a:solidFill>
                          <a:latin typeface="Calibri"/>
                        </a:rPr>
                        <a:t>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900" b="0">
                          <a:solidFill>
                            <a:srgbClr val="2E2E2E"/>
                          </a:solidFill>
                          <a:latin typeface="Calibri"/>
                        </a:rPr>
                        <a:t>3.0%</a:t>
                      </a:r>
                    </a:p>
                  </a:txBody>
                  <a:tcPr marL="85725" marR="38100" marT="19050" marB="19050" anchor="ctr">
                    <a:solidFill>
                      <a:srgbClr val="FFFFFF"/>
                    </a:solidFill>
                  </a:tcPr>
                </a:tc>
                <a:tc>
                  <a:txBody>
                    <a:bodyPr wrap="none"/>
                    <a:lstStyle/>
                    <a:p>
                      <a:pPr algn="l"/>
                      <a:r>
                        <a:rPr sz="900" b="0">
                          <a:solidFill>
                            <a:srgbClr val="2E2E2E"/>
                          </a:solidFill>
                          <a:latin typeface="Calibri"/>
                        </a:rPr>
                        <a:t>3.2%</a:t>
                      </a:r>
                    </a:p>
                  </a:txBody>
                  <a:tcPr marL="85725" marR="38100" marT="19050" marB="19050" anchor="ctr">
                    <a:solidFill>
                      <a:srgbClr val="FFFFFF"/>
                    </a:solidFill>
                  </a:tcPr>
                </a:tc>
                <a:tc>
                  <a:txBody>
                    <a:bodyPr wrap="none"/>
                    <a:lstStyle/>
                    <a:p>
                      <a:pPr algn="l"/>
                      <a:r>
                        <a:rPr sz="900" b="1">
                          <a:solidFill>
                            <a:srgbClr val="008189"/>
                          </a:solidFill>
                          <a:latin typeface="Calibri"/>
                        </a:rPr>
                        <a:t>+14</a:t>
                      </a:r>
                    </a:p>
                  </a:txBody>
                  <a:tcPr marL="85725" marR="38100" marT="19050" marB="19050" anchor="ctr">
                    <a:solidFill>
                      <a:srgbClr val="FFFFFF"/>
                    </a:solidFill>
                  </a:tcPr>
                </a:tc>
                <a:tc>
                  <a:txBody>
                    <a:bodyPr wrap="none"/>
                    <a:lstStyle/>
                    <a:p>
                      <a:pPr algn="l"/>
                      <a:r>
                        <a:rPr sz="9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900" b="0">
                          <a:solidFill>
                            <a:srgbClr val="2E2E2E"/>
                          </a:solidFill>
                          <a:latin typeface="Calibri"/>
                        </a:rPr>
                        <a:t>6.1%</a:t>
                      </a:r>
                    </a:p>
                  </a:txBody>
                  <a:tcPr marL="85725" marR="38100" marT="19050" marB="19050" anchor="ctr">
                    <a:solidFill>
                      <a:srgbClr val="F5F8FA"/>
                    </a:solidFill>
                  </a:tcPr>
                </a:tc>
                <a:tc>
                  <a:txBody>
                    <a:bodyPr wrap="none"/>
                    <a:lstStyle/>
                    <a:p>
                      <a:pPr algn="l"/>
                      <a:r>
                        <a:rPr sz="900" b="0">
                          <a:solidFill>
                            <a:srgbClr val="2E2E2E"/>
                          </a:solidFill>
                          <a:latin typeface="Calibri"/>
                        </a:rPr>
                        <a:t>6.0%</a:t>
                      </a:r>
                    </a:p>
                  </a:txBody>
                  <a:tcPr marL="85725" marR="38100" marT="19050" marB="19050" anchor="ctr">
                    <a:solidFill>
                      <a:srgbClr val="F5F8FA"/>
                    </a:solidFill>
                  </a:tcPr>
                </a:tc>
                <a:tc>
                  <a:txBody>
                    <a:bodyPr wrap="none"/>
                    <a:lstStyle/>
                    <a:p>
                      <a:pPr algn="l"/>
                      <a:r>
                        <a:rPr sz="900" b="1">
                          <a:solidFill>
                            <a:srgbClr val="E44D3A"/>
                          </a:solidFill>
                          <a:latin typeface="Calibri"/>
                        </a:rPr>
                        <a:t>-6</a:t>
                      </a:r>
                    </a:p>
                  </a:txBody>
                  <a:tcPr marL="85725" marR="38100" marT="19050" marB="19050" anchor="ctr">
                    <a:solidFill>
                      <a:srgbClr val="F5F8FA"/>
                    </a:solidFill>
                  </a:tcPr>
                </a:tc>
                <a:tc>
                  <a:txBody>
                    <a:bodyPr wrap="none"/>
                    <a:lstStyle/>
                    <a:p>
                      <a:pPr algn="l"/>
                      <a:r>
                        <a:rPr sz="900" b="0">
                          <a:solidFill>
                            <a:srgbClr val="2E2E2E"/>
                          </a:solidFill>
                          <a:latin typeface="Calibri"/>
                        </a:rPr>
                        <a:t>8.1%</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End User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End User</a:t>
            </a:r>
          </a:p>
        </p:txBody>
      </p:sp>
      <p:graphicFrame>
        <p:nvGraphicFramePr>
          <p:cNvPr id="24" name="Table 23"/>
          <p:cNvGraphicFramePr>
            <a:graphicFrameLocks noGrp="1"/>
          </p:cNvGraphicFramePr>
          <p:nvPr/>
        </p:nvGraphicFramePr>
        <p:xfrm>
          <a:off x="6267450" y="4143375"/>
          <a:ext cx="5686424" cy="126682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End User</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900" b="0">
                          <a:solidFill>
                            <a:srgbClr val="2E2E2E"/>
                          </a:solidFill>
                          <a:latin typeface="Calibri"/>
                        </a:rPr>
                        <a:t>39.6%</a:t>
                      </a:r>
                    </a:p>
                  </a:txBody>
                  <a:tcPr marL="85725" marR="38100" marT="19050" marB="19050" anchor="ctr">
                    <a:solidFill>
                      <a:srgbClr val="FFFFFF"/>
                    </a:solidFill>
                  </a:tcPr>
                </a:tc>
                <a:tc>
                  <a:txBody>
                    <a:bodyPr wrap="none"/>
                    <a:lstStyle/>
                    <a:p>
                      <a:pPr algn="l"/>
                      <a:r>
                        <a:rPr sz="900" b="0">
                          <a:solidFill>
                            <a:srgbClr val="2E2E2E"/>
                          </a:solidFill>
                          <a:latin typeface="Calibri"/>
                        </a:rPr>
                        <a:t>37.8%</a:t>
                      </a:r>
                    </a:p>
                  </a:txBody>
                  <a:tcPr marL="85725" marR="38100" marT="19050" marB="19050" anchor="ctr">
                    <a:solidFill>
                      <a:srgbClr val="FFFFFF"/>
                    </a:solidFill>
                  </a:tcPr>
                </a:tc>
                <a:tc>
                  <a:txBody>
                    <a:bodyPr wrap="none"/>
                    <a:lstStyle/>
                    <a:p>
                      <a:pPr algn="l"/>
                      <a:r>
                        <a:rPr sz="900" b="1">
                          <a:solidFill>
                            <a:srgbClr val="E44D3A"/>
                          </a:solidFill>
                          <a:latin typeface="Calibri"/>
                        </a:rPr>
                        <a:t>-180</a:t>
                      </a:r>
                    </a:p>
                  </a:txBody>
                  <a:tcPr marL="85725" marR="38100" marT="19050" marB="19050" anchor="ctr">
                    <a:solidFill>
                      <a:srgbClr val="FFFFFF"/>
                    </a:solidFill>
                  </a:tcPr>
                </a:tc>
                <a:tc>
                  <a:txBody>
                    <a:bodyPr wrap="none"/>
                    <a:lstStyle/>
                    <a:p>
                      <a:pPr algn="l"/>
                      <a:r>
                        <a:rPr sz="9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900" b="0">
                          <a:solidFill>
                            <a:srgbClr val="2E2E2E"/>
                          </a:solidFill>
                          <a:latin typeface="Calibri"/>
                        </a:rPr>
                        <a:t>20.9%</a:t>
                      </a:r>
                    </a:p>
                  </a:txBody>
                  <a:tcPr marL="85725" marR="38100" marT="19050" marB="19050" anchor="ctr">
                    <a:solidFill>
                      <a:srgbClr val="F5F8FA"/>
                    </a:solidFill>
                  </a:tcPr>
                </a:tc>
                <a:tc>
                  <a:txBody>
                    <a:bodyPr wrap="none"/>
                    <a:lstStyle/>
                    <a:p>
                      <a:pPr algn="l"/>
                      <a:r>
                        <a:rPr sz="900" b="0">
                          <a:solidFill>
                            <a:srgbClr val="2E2E2E"/>
                          </a:solidFill>
                          <a:latin typeface="Calibri"/>
                        </a:rPr>
                        <a:t>21.5%</a:t>
                      </a:r>
                    </a:p>
                  </a:txBody>
                  <a:tcPr marL="85725" marR="38100" marT="19050" marB="19050" anchor="ctr">
                    <a:solidFill>
                      <a:srgbClr val="F5F8FA"/>
                    </a:solidFill>
                  </a:tcPr>
                </a:tc>
                <a:tc>
                  <a:txBody>
                    <a:bodyPr wrap="none"/>
                    <a:lstStyle/>
                    <a:p>
                      <a:pPr algn="l"/>
                      <a:r>
                        <a:rPr sz="900" b="1">
                          <a:solidFill>
                            <a:srgbClr val="008189"/>
                          </a:solidFill>
                          <a:latin typeface="Calibri"/>
                        </a:rPr>
                        <a:t>+58</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900" b="0">
                          <a:solidFill>
                            <a:srgbClr val="2E2E2E"/>
                          </a:solidFill>
                          <a:latin typeface="Calibri"/>
                        </a:rPr>
                        <a:t>14.2%</a:t>
                      </a:r>
                    </a:p>
                  </a:txBody>
                  <a:tcPr marL="85725" marR="38100" marT="19050" marB="19050" anchor="ctr">
                    <a:solidFill>
                      <a:srgbClr val="FFFFFF"/>
                    </a:solidFill>
                  </a:tcPr>
                </a:tc>
                <a:tc>
                  <a:txBody>
                    <a:bodyPr wrap="none"/>
                    <a:lstStyle/>
                    <a:p>
                      <a:pPr algn="l"/>
                      <a:r>
                        <a:rPr sz="900" b="0">
                          <a:solidFill>
                            <a:srgbClr val="2E2E2E"/>
                          </a:solidFill>
                          <a:latin typeface="Calibri"/>
                        </a:rPr>
                        <a:t>13.5%</a:t>
                      </a:r>
                    </a:p>
                  </a:txBody>
                  <a:tcPr marL="85725" marR="38100" marT="19050" marB="19050" anchor="ctr">
                    <a:solidFill>
                      <a:srgbClr val="FFFFFF"/>
                    </a:solidFill>
                  </a:tcPr>
                </a:tc>
                <a:tc>
                  <a:txBody>
                    <a:bodyPr wrap="none"/>
                    <a:lstStyle/>
                    <a:p>
                      <a:pPr algn="l"/>
                      <a:r>
                        <a:rPr sz="900" b="1">
                          <a:solidFill>
                            <a:srgbClr val="E44D3A"/>
                          </a:solidFill>
                          <a:latin typeface="Calibri"/>
                        </a:rPr>
                        <a:t>-71</a:t>
                      </a:r>
                    </a:p>
                  </a:txBody>
                  <a:tcPr marL="85725" marR="38100" marT="19050" marB="19050" anchor="ctr">
                    <a:solidFill>
                      <a:srgbClr val="FFFFFF"/>
                    </a:solidFill>
                  </a:tcPr>
                </a:tc>
                <a:tc>
                  <a:txBody>
                    <a:bodyPr wrap="none"/>
                    <a:lstStyle/>
                    <a:p>
                      <a:pPr algn="l"/>
                      <a:r>
                        <a:rPr sz="900" b="0">
                          <a:solidFill>
                            <a:srgbClr val="2E2E2E"/>
                          </a:solidFill>
                          <a:latin typeface="Calibri"/>
                        </a:rPr>
                        <a:t>6.7%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900" b="0">
                          <a:solidFill>
                            <a:srgbClr val="2E2E2E"/>
                          </a:solidFill>
                          <a:latin typeface="Calibri"/>
                        </a:rPr>
                        <a:t>16.2%</a:t>
                      </a:r>
                    </a:p>
                  </a:txBody>
                  <a:tcPr marL="85725" marR="38100" marT="19050" marB="19050" anchor="ctr">
                    <a:solidFill>
                      <a:srgbClr val="F5F8FA"/>
                    </a:solidFill>
                  </a:tcPr>
                </a:tc>
                <a:tc>
                  <a:txBody>
                    <a:bodyPr wrap="none"/>
                    <a:lstStyle/>
                    <a:p>
                      <a:pPr algn="l"/>
                      <a:r>
                        <a:rPr sz="900" b="0">
                          <a:solidFill>
                            <a:srgbClr val="2E2E2E"/>
                          </a:solidFill>
                          <a:latin typeface="Calibri"/>
                        </a:rPr>
                        <a:t>18.0%</a:t>
                      </a:r>
                    </a:p>
                  </a:txBody>
                  <a:tcPr marL="85725" marR="38100" marT="19050" marB="19050" anchor="ctr">
                    <a:solidFill>
                      <a:srgbClr val="F5F8FA"/>
                    </a:solidFill>
                  </a:tcPr>
                </a:tc>
                <a:tc>
                  <a:txBody>
                    <a:bodyPr wrap="none"/>
                    <a:lstStyle/>
                    <a:p>
                      <a:pPr algn="l"/>
                      <a:r>
                        <a:rPr sz="900" b="1">
                          <a:solidFill>
                            <a:srgbClr val="008189"/>
                          </a:solidFill>
                          <a:latin typeface="Calibri"/>
                        </a:rPr>
                        <a:t>+185</a:t>
                      </a:r>
                    </a:p>
                  </a:txBody>
                  <a:tcPr marL="85725" marR="38100" marT="19050" marB="19050" anchor="ctr">
                    <a:solidFill>
                      <a:srgbClr val="F5F8FA"/>
                    </a:solidFill>
                  </a:tcPr>
                </a:tc>
                <a:tc>
                  <a:txBody>
                    <a:bodyPr wrap="none"/>
                    <a:lstStyle/>
                    <a:p>
                      <a:pPr algn="l"/>
                      <a:r>
                        <a:rPr sz="9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900" b="0">
                          <a:solidFill>
                            <a:srgbClr val="2E2E2E"/>
                          </a:solidFill>
                          <a:latin typeface="Calibri"/>
                        </a:rPr>
                        <a:t>3.0%</a:t>
                      </a:r>
                    </a:p>
                  </a:txBody>
                  <a:tcPr marL="85725" marR="38100" marT="19050" marB="19050" anchor="ctr">
                    <a:solidFill>
                      <a:srgbClr val="FFFFFF"/>
                    </a:solidFill>
                  </a:tcPr>
                </a:tc>
                <a:tc>
                  <a:txBody>
                    <a:bodyPr wrap="none"/>
                    <a:lstStyle/>
                    <a:p>
                      <a:pPr algn="l"/>
                      <a:r>
                        <a:rPr sz="900" b="0">
                          <a:solidFill>
                            <a:srgbClr val="2E2E2E"/>
                          </a:solidFill>
                          <a:latin typeface="Calibri"/>
                        </a:rPr>
                        <a:t>3.2%</a:t>
                      </a:r>
                    </a:p>
                  </a:txBody>
                  <a:tcPr marL="85725" marR="38100" marT="19050" marB="19050" anchor="ctr">
                    <a:solidFill>
                      <a:srgbClr val="FFFFFF"/>
                    </a:solidFill>
                  </a:tcPr>
                </a:tc>
                <a:tc>
                  <a:txBody>
                    <a:bodyPr wrap="none"/>
                    <a:lstStyle/>
                    <a:p>
                      <a:pPr algn="l"/>
                      <a:r>
                        <a:rPr sz="900" b="1">
                          <a:solidFill>
                            <a:srgbClr val="008189"/>
                          </a:solidFill>
                          <a:latin typeface="Calibri"/>
                        </a:rPr>
                        <a:t>+14</a:t>
                      </a:r>
                    </a:p>
                  </a:txBody>
                  <a:tcPr marL="85725" marR="38100" marT="19050" marB="19050" anchor="ctr">
                    <a:solidFill>
                      <a:srgbClr val="FFFFFF"/>
                    </a:solidFill>
                  </a:tcPr>
                </a:tc>
                <a:tc>
                  <a:txBody>
                    <a:bodyPr wrap="none"/>
                    <a:lstStyle/>
                    <a:p>
                      <a:pPr algn="l"/>
                      <a:r>
                        <a:rPr sz="900" b="0">
                          <a:solidFill>
                            <a:srgbClr val="2E2E2E"/>
                          </a:solidFill>
                          <a:latin typeface="Calibri"/>
                        </a:rPr>
                        <a:t>7.8%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900" b="0">
                          <a:solidFill>
                            <a:srgbClr val="2E2E2E"/>
                          </a:solidFill>
                          <a:latin typeface="Calibri"/>
                        </a:rPr>
                        <a:t>6.1%</a:t>
                      </a:r>
                    </a:p>
                  </a:txBody>
                  <a:tcPr marL="85725" marR="38100" marT="19050" marB="19050" anchor="ctr">
                    <a:solidFill>
                      <a:srgbClr val="F5F8FA"/>
                    </a:solidFill>
                  </a:tcPr>
                </a:tc>
                <a:tc>
                  <a:txBody>
                    <a:bodyPr wrap="none"/>
                    <a:lstStyle/>
                    <a:p>
                      <a:pPr algn="l"/>
                      <a:r>
                        <a:rPr sz="900" b="0">
                          <a:solidFill>
                            <a:srgbClr val="2E2E2E"/>
                          </a:solidFill>
                          <a:latin typeface="Calibri"/>
                        </a:rPr>
                        <a:t>6.0%</a:t>
                      </a:r>
                    </a:p>
                  </a:txBody>
                  <a:tcPr marL="85725" marR="38100" marT="19050" marB="19050" anchor="ctr">
                    <a:solidFill>
                      <a:srgbClr val="F5F8FA"/>
                    </a:solidFill>
                  </a:tcPr>
                </a:tc>
                <a:tc>
                  <a:txBody>
                    <a:bodyPr wrap="none"/>
                    <a:lstStyle/>
                    <a:p>
                      <a:pPr algn="l"/>
                      <a:r>
                        <a:rPr sz="900" b="1">
                          <a:solidFill>
                            <a:srgbClr val="E44D3A"/>
                          </a:solidFill>
                          <a:latin typeface="Calibri"/>
                        </a:rPr>
                        <a:t>-6</a:t>
                      </a:r>
                    </a:p>
                  </a:txBody>
                  <a:tcPr marL="85725" marR="38100" marT="19050" marB="19050" anchor="ctr">
                    <a:solidFill>
                      <a:srgbClr val="F5F8FA"/>
                    </a:solidFill>
                  </a:tcPr>
                </a:tc>
                <a:tc>
                  <a:txBody>
                    <a:bodyPr wrap="none"/>
                    <a:lstStyle/>
                    <a:p>
                      <a:pPr algn="l"/>
                      <a:r>
                        <a:rPr sz="900" b="0">
                          <a:solidFill>
                            <a:srgbClr val="2E2E2E"/>
                          </a:solidFill>
                          <a:latin typeface="Calibri"/>
                        </a:rPr>
                        <a:t>7.1%</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End User</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End User,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End User (Units)</a:t>
            </a:r>
          </a:p>
        </p:txBody>
      </p:sp>
      <p:graphicFrame>
        <p:nvGraphicFramePr>
          <p:cNvPr id="14" name="Table 13"/>
          <p:cNvGraphicFramePr>
            <a:graphicFrameLocks noGrp="1"/>
          </p:cNvGraphicFramePr>
          <p:nvPr/>
        </p:nvGraphicFramePr>
        <p:xfrm>
          <a:off x="238125" y="1143000"/>
          <a:ext cx="11715752" cy="14478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0">
                          <a:solidFill>
                            <a:srgbClr val="2E2E2E"/>
                          </a:solidFill>
                          <a:latin typeface="Calibri"/>
                        </a:rPr>
                        <a:t>214.9</a:t>
                      </a:r>
                    </a:p>
                  </a:txBody>
                  <a:tcPr marL="85725" marR="38100" marT="19050" marB="19050" anchor="ctr">
                    <a:solidFill>
                      <a:srgbClr val="FFFFFF"/>
                    </a:solidFill>
                  </a:tcPr>
                </a:tc>
                <a:tc>
                  <a:txBody>
                    <a:bodyPr wrap="none"/>
                    <a:lstStyle/>
                    <a:p>
                      <a:pPr algn="l"/>
                      <a:r>
                        <a:rPr sz="800" b="0">
                          <a:solidFill>
                            <a:srgbClr val="2E2E2E"/>
                          </a:solidFill>
                          <a:latin typeface="Calibri"/>
                        </a:rPr>
                        <a:t>229.7</a:t>
                      </a:r>
                    </a:p>
                  </a:txBody>
                  <a:tcPr marL="85725" marR="38100" marT="19050" marB="19050" anchor="ctr">
                    <a:solidFill>
                      <a:srgbClr val="FFFFFF"/>
                    </a:solidFill>
                  </a:tcPr>
                </a:tc>
                <a:tc>
                  <a:txBody>
                    <a:bodyPr wrap="none"/>
                    <a:lstStyle/>
                    <a:p>
                      <a:pPr algn="l"/>
                      <a:r>
                        <a:rPr sz="800" b="0">
                          <a:solidFill>
                            <a:srgbClr val="2E2E2E"/>
                          </a:solidFill>
                          <a:latin typeface="Calibri"/>
                        </a:rPr>
                        <a:t>245.9</a:t>
                      </a:r>
                    </a:p>
                  </a:txBody>
                  <a:tcPr marL="85725" marR="38100" marT="19050" marB="19050" anchor="ctr">
                    <a:solidFill>
                      <a:srgbClr val="FFFFFF"/>
                    </a:solidFill>
                  </a:tcPr>
                </a:tc>
                <a:tc>
                  <a:txBody>
                    <a:bodyPr wrap="none"/>
                    <a:lstStyle/>
                    <a:p>
                      <a:pPr algn="l"/>
                      <a:r>
                        <a:rPr sz="800" b="0">
                          <a:solidFill>
                            <a:srgbClr val="2E2E2E"/>
                          </a:solidFill>
                          <a:latin typeface="Calibri"/>
                        </a:rPr>
                        <a:t>263.6</a:t>
                      </a:r>
                    </a:p>
                  </a:txBody>
                  <a:tcPr marL="85725" marR="38100" marT="19050" marB="19050" anchor="ctr">
                    <a:solidFill>
                      <a:srgbClr val="FFFFFF"/>
                    </a:solidFill>
                  </a:tcPr>
                </a:tc>
                <a:tc>
                  <a:txBody>
                    <a:bodyPr wrap="none"/>
                    <a:lstStyle/>
                    <a:p>
                      <a:pPr algn="l"/>
                      <a:r>
                        <a:rPr sz="800" b="0">
                          <a:solidFill>
                            <a:srgbClr val="2E2E2E"/>
                          </a:solidFill>
                          <a:latin typeface="Calibri"/>
                        </a:rPr>
                        <a:t>282.3</a:t>
                      </a:r>
                    </a:p>
                  </a:txBody>
                  <a:tcPr marL="85725" marR="38100" marT="19050" marB="19050" anchor="ctr">
                    <a:solidFill>
                      <a:srgbClr val="FFFFFF"/>
                    </a:solidFill>
                  </a:tcPr>
                </a:tc>
                <a:tc>
                  <a:txBody>
                    <a:bodyPr wrap="none"/>
                    <a:lstStyle/>
                    <a:p>
                      <a:pPr algn="l"/>
                      <a:r>
                        <a:rPr sz="800" b="0">
                          <a:solidFill>
                            <a:srgbClr val="2E2E2E"/>
                          </a:solidFill>
                          <a:latin typeface="Calibri"/>
                        </a:rPr>
                        <a:t>302.9</a:t>
                      </a:r>
                    </a:p>
                  </a:txBody>
                  <a:tcPr marL="85725" marR="38100" marT="19050" marB="19050" anchor="ctr">
                    <a:solidFill>
                      <a:srgbClr val="FFFFFF"/>
                    </a:solidFill>
                  </a:tcPr>
                </a:tc>
                <a:tc>
                  <a:txBody>
                    <a:bodyPr wrap="none"/>
                    <a:lstStyle/>
                    <a:p>
                      <a:pPr algn="l"/>
                      <a:r>
                        <a:rPr sz="800" b="0">
                          <a:solidFill>
                            <a:srgbClr val="2E2E2E"/>
                          </a:solidFill>
                          <a:latin typeface="Calibri"/>
                        </a:rPr>
                        <a:t>324.9</a:t>
                      </a:r>
                    </a:p>
                  </a:txBody>
                  <a:tcPr marL="85725" marR="38100" marT="19050" marB="19050" anchor="ctr">
                    <a:solidFill>
                      <a:srgbClr val="FFFFFF"/>
                    </a:solidFill>
                  </a:tcPr>
                </a:tc>
                <a:tc>
                  <a:txBody>
                    <a:bodyPr wrap="none"/>
                    <a:lstStyle/>
                    <a:p>
                      <a:pPr algn="l"/>
                      <a:r>
                        <a:rPr sz="800" b="0">
                          <a:solidFill>
                            <a:srgbClr val="2E2E2E"/>
                          </a:solidFill>
                          <a:latin typeface="Calibri"/>
                        </a:rPr>
                        <a:t>348.0</a:t>
                      </a:r>
                    </a:p>
                  </a:txBody>
                  <a:tcPr marL="85725" marR="38100" marT="19050" marB="19050" anchor="ctr">
                    <a:solidFill>
                      <a:srgbClr val="FFFFFF"/>
                    </a:solidFill>
                  </a:tcPr>
                </a:tc>
                <a:tc>
                  <a:txBody>
                    <a:bodyPr wrap="none"/>
                    <a:lstStyle/>
                    <a:p>
                      <a:pPr algn="l"/>
                      <a:r>
                        <a:rPr sz="800" b="0">
                          <a:solidFill>
                            <a:srgbClr val="2E2E2E"/>
                          </a:solidFill>
                          <a:latin typeface="Calibri"/>
                        </a:rPr>
                        <a:t>372.4</a:t>
                      </a:r>
                    </a:p>
                  </a:txBody>
                  <a:tcPr marL="85725" marR="38100" marT="19050" marB="19050" anchor="ctr">
                    <a:solidFill>
                      <a:srgbClr val="FFFFFF"/>
                    </a:solidFill>
                  </a:tcPr>
                </a:tc>
                <a:tc>
                  <a:txBody>
                    <a:bodyPr wrap="none"/>
                    <a:lstStyle/>
                    <a:p>
                      <a:pPr algn="l"/>
                      <a:r>
                        <a:rPr sz="800" b="0">
                          <a:solidFill>
                            <a:srgbClr val="2E2E2E"/>
                          </a:solidFill>
                          <a:latin typeface="Calibri"/>
                        </a:rPr>
                        <a:t>398.0</a:t>
                      </a:r>
                    </a:p>
                  </a:txBody>
                  <a:tcPr marL="85725" marR="38100" marT="19050" marB="19050" anchor="ctr">
                    <a:solidFill>
                      <a:srgbClr val="FFFFFF"/>
                    </a:solidFill>
                  </a:tcPr>
                </a:tc>
                <a:tc>
                  <a:txBody>
                    <a:bodyPr wrap="none"/>
                    <a:lstStyle/>
                    <a:p>
                      <a:pPr algn="l"/>
                      <a:r>
                        <a:rPr sz="800" b="0">
                          <a:solidFill>
                            <a:srgbClr val="2E2E2E"/>
                          </a:solidFill>
                          <a:latin typeface="Calibri"/>
                        </a:rPr>
                        <a:t>424.9</a:t>
                      </a:r>
                    </a:p>
                  </a:txBody>
                  <a:tcPr marL="85725" marR="38100" marT="19050" marB="19050" anchor="ctr">
                    <a:solidFill>
                      <a:srgbClr val="FFFFFF"/>
                    </a:solidFill>
                  </a:tcPr>
                </a:tc>
                <a:tc>
                  <a:txBody>
                    <a:bodyPr wrap="none"/>
                    <a:lstStyle/>
                    <a:p>
                      <a:pPr algn="l"/>
                      <a:r>
                        <a:rPr sz="800" b="0">
                          <a:solidFill>
                            <a:srgbClr val="2E2E2E"/>
                          </a:solidFill>
                          <a:latin typeface="Calibri"/>
                        </a:rPr>
                        <a:t>453.0</a:t>
                      </a:r>
                    </a:p>
                  </a:txBody>
                  <a:tcPr marL="85725" marR="38100" marT="19050" marB="19050" anchor="ctr">
                    <a:solidFill>
                      <a:srgbClr val="FFFFFF"/>
                    </a:solidFill>
                  </a:tcPr>
                </a:tc>
                <a:tc>
                  <a:txBody>
                    <a:bodyPr wrap="none"/>
                    <a:lstStyle/>
                    <a:p>
                      <a:pPr algn="l"/>
                      <a:r>
                        <a:rPr sz="800" b="0">
                          <a:solidFill>
                            <a:srgbClr val="2E2E2E"/>
                          </a:solidFill>
                          <a:latin typeface="Calibri"/>
                        </a:rPr>
                        <a:t>482.0</a:t>
                      </a:r>
                    </a:p>
                  </a:txBody>
                  <a:tcPr marL="85725" marR="38100" marT="19050" marB="19050" anchor="ctr">
                    <a:solidFill>
                      <a:srgbClr val="FFFFFF"/>
                    </a:solidFill>
                  </a:tcPr>
                </a:tc>
                <a:tc>
                  <a:txBody>
                    <a:bodyPr wrap="none"/>
                    <a:lstStyle/>
                    <a:p>
                      <a:pPr algn="l"/>
                      <a:r>
                        <a:rPr sz="800" b="0">
                          <a:solidFill>
                            <a:srgbClr val="2E2E2E"/>
                          </a:solidFill>
                          <a:latin typeface="Calibri"/>
                        </a:rPr>
                        <a:t>513.9</a:t>
                      </a:r>
                    </a:p>
                  </a:txBody>
                  <a:tcPr marL="85725" marR="38100" marT="19050" marB="19050" anchor="ctr">
                    <a:solidFill>
                      <a:srgbClr val="FFFFFF"/>
                    </a:solidFill>
                  </a:tcPr>
                </a:tc>
                <a:tc>
                  <a:txBody>
                    <a:bodyPr wrap="none"/>
                    <a:lstStyle/>
                    <a:p>
                      <a:pPr algn="l"/>
                      <a:r>
                        <a:rPr sz="800" b="0">
                          <a:solidFill>
                            <a:srgbClr val="2E2E2E"/>
                          </a:solidFill>
                          <a:latin typeface="Calibri"/>
                        </a:rPr>
                        <a:t>546.4</a:t>
                      </a:r>
                    </a:p>
                  </a:txBody>
                  <a:tcPr marL="85725" marR="38100" marT="19050" marB="19050" anchor="ctr">
                    <a:solidFill>
                      <a:srgbClr val="FFFFFF"/>
                    </a:solidFill>
                  </a:tcPr>
                </a:tc>
                <a:tc>
                  <a:txBody>
                    <a:bodyPr wrap="none"/>
                    <a:lstStyle/>
                    <a:p>
                      <a:pPr algn="l"/>
                      <a:r>
                        <a:rPr sz="800" b="0">
                          <a:solidFill>
                            <a:srgbClr val="2E2E2E"/>
                          </a:solidFill>
                          <a:latin typeface="Calibri"/>
                        </a:rPr>
                        <a:t>582.4</a:t>
                      </a:r>
                    </a:p>
                  </a:txBody>
                  <a:tcPr marL="85725" marR="38100" marT="19050" marB="19050" anchor="ctr">
                    <a:solidFill>
                      <a:srgbClr val="FFFFFF"/>
                    </a:solidFill>
                  </a:tcPr>
                </a:tc>
                <a:tc>
                  <a:txBody>
                    <a:bodyPr wrap="none"/>
                    <a:lstStyle/>
                    <a:p>
                      <a:pPr algn="l"/>
                      <a:r>
                        <a:rPr sz="8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0">
                          <a:solidFill>
                            <a:srgbClr val="2E2E2E"/>
                          </a:solidFill>
                          <a:latin typeface="Calibri"/>
                        </a:rPr>
                        <a:t>108.1</a:t>
                      </a:r>
                    </a:p>
                  </a:txBody>
                  <a:tcPr marL="85725" marR="38100" marT="19050" marB="19050" anchor="ctr">
                    <a:solidFill>
                      <a:srgbClr val="F5F8FA"/>
                    </a:solidFill>
                  </a:tcPr>
                </a:tc>
                <a:tc>
                  <a:txBody>
                    <a:bodyPr wrap="none"/>
                    <a:lstStyle/>
                    <a:p>
                      <a:pPr algn="l"/>
                      <a:r>
                        <a:rPr sz="800" b="0">
                          <a:solidFill>
                            <a:srgbClr val="2E2E2E"/>
                          </a:solidFill>
                          <a:latin typeface="Calibri"/>
                        </a:rPr>
                        <a:t>116.8</a:t>
                      </a:r>
                    </a:p>
                  </a:txBody>
                  <a:tcPr marL="85725" marR="38100" marT="19050" marB="19050" anchor="ctr">
                    <a:solidFill>
                      <a:srgbClr val="F5F8FA"/>
                    </a:solidFill>
                  </a:tcPr>
                </a:tc>
                <a:tc>
                  <a:txBody>
                    <a:bodyPr wrap="none"/>
                    <a:lstStyle/>
                    <a:p>
                      <a:pPr algn="l"/>
                      <a:r>
                        <a:rPr sz="800" b="0">
                          <a:solidFill>
                            <a:srgbClr val="2E2E2E"/>
                          </a:solidFill>
                          <a:latin typeface="Calibri"/>
                        </a:rPr>
                        <a:t>126.4</a:t>
                      </a:r>
                    </a:p>
                  </a:txBody>
                  <a:tcPr marL="85725" marR="38100" marT="19050" marB="19050" anchor="ctr">
                    <a:solidFill>
                      <a:srgbClr val="F5F8FA"/>
                    </a:solidFill>
                  </a:tcPr>
                </a:tc>
                <a:tc>
                  <a:txBody>
                    <a:bodyPr wrap="none"/>
                    <a:lstStyle/>
                    <a:p>
                      <a:pPr algn="l"/>
                      <a:r>
                        <a:rPr sz="800" b="0">
                          <a:solidFill>
                            <a:srgbClr val="2E2E2E"/>
                          </a:solidFill>
                          <a:latin typeface="Calibri"/>
                        </a:rPr>
                        <a:t>136.8</a:t>
                      </a:r>
                    </a:p>
                  </a:txBody>
                  <a:tcPr marL="85725" marR="38100" marT="19050" marB="19050" anchor="ctr">
                    <a:solidFill>
                      <a:srgbClr val="F5F8FA"/>
                    </a:solidFill>
                  </a:tcPr>
                </a:tc>
                <a:tc>
                  <a:txBody>
                    <a:bodyPr wrap="none"/>
                    <a:lstStyle/>
                    <a:p>
                      <a:pPr algn="l"/>
                      <a:r>
                        <a:rPr sz="800" b="0">
                          <a:solidFill>
                            <a:srgbClr val="2E2E2E"/>
                          </a:solidFill>
                          <a:latin typeface="Calibri"/>
                        </a:rPr>
                        <a:t>148.0</a:t>
                      </a:r>
                    </a:p>
                  </a:txBody>
                  <a:tcPr marL="85725" marR="38100" marT="19050" marB="19050" anchor="ctr">
                    <a:solidFill>
                      <a:srgbClr val="F5F8FA"/>
                    </a:solidFill>
                  </a:tcPr>
                </a:tc>
                <a:tc>
                  <a:txBody>
                    <a:bodyPr wrap="none"/>
                    <a:lstStyle/>
                    <a:p>
                      <a:pPr algn="l"/>
                      <a:r>
                        <a:rPr sz="800" b="0">
                          <a:solidFill>
                            <a:srgbClr val="2E2E2E"/>
                          </a:solidFill>
                          <a:latin typeface="Calibri"/>
                        </a:rPr>
                        <a:t>160.3</a:t>
                      </a:r>
                    </a:p>
                  </a:txBody>
                  <a:tcPr marL="85725" marR="38100" marT="19050" marB="19050" anchor="ctr">
                    <a:solidFill>
                      <a:srgbClr val="F5F8FA"/>
                    </a:solidFill>
                  </a:tcPr>
                </a:tc>
                <a:tc>
                  <a:txBody>
                    <a:bodyPr wrap="none"/>
                    <a:lstStyle/>
                    <a:p>
                      <a:pPr algn="l"/>
                      <a:r>
                        <a:rPr sz="800" b="0">
                          <a:solidFill>
                            <a:srgbClr val="2E2E2E"/>
                          </a:solidFill>
                          <a:latin typeface="Calibri"/>
                        </a:rPr>
                        <a:t>173.4</a:t>
                      </a:r>
                    </a:p>
                  </a:txBody>
                  <a:tcPr marL="85725" marR="38100" marT="19050" marB="19050" anchor="ctr">
                    <a:solidFill>
                      <a:srgbClr val="F5F8FA"/>
                    </a:solidFill>
                  </a:tcPr>
                </a:tc>
                <a:tc>
                  <a:txBody>
                    <a:bodyPr wrap="none"/>
                    <a:lstStyle/>
                    <a:p>
                      <a:pPr algn="l"/>
                      <a:r>
                        <a:rPr sz="800" b="0">
                          <a:solidFill>
                            <a:srgbClr val="2E2E2E"/>
                          </a:solidFill>
                          <a:latin typeface="Calibri"/>
                        </a:rPr>
                        <a:t>187.3</a:t>
                      </a:r>
                    </a:p>
                  </a:txBody>
                  <a:tcPr marL="85725" marR="38100" marT="19050" marB="19050" anchor="ctr">
                    <a:solidFill>
                      <a:srgbClr val="F5F8FA"/>
                    </a:solidFill>
                  </a:tcPr>
                </a:tc>
                <a:tc>
                  <a:txBody>
                    <a:bodyPr wrap="none"/>
                    <a:lstStyle/>
                    <a:p>
                      <a:pPr algn="l"/>
                      <a:r>
                        <a:rPr sz="800" b="0">
                          <a:solidFill>
                            <a:srgbClr val="2E2E2E"/>
                          </a:solidFill>
                          <a:latin typeface="Calibri"/>
                        </a:rPr>
                        <a:t>202.1</a:t>
                      </a:r>
                    </a:p>
                  </a:txBody>
                  <a:tcPr marL="85725" marR="38100" marT="19050" marB="19050" anchor="ctr">
                    <a:solidFill>
                      <a:srgbClr val="F5F8FA"/>
                    </a:solidFill>
                  </a:tcPr>
                </a:tc>
                <a:tc>
                  <a:txBody>
                    <a:bodyPr wrap="none"/>
                    <a:lstStyle/>
                    <a:p>
                      <a:pPr algn="l"/>
                      <a:r>
                        <a:rPr sz="800" b="0">
                          <a:solidFill>
                            <a:srgbClr val="2E2E2E"/>
                          </a:solidFill>
                          <a:latin typeface="Calibri"/>
                        </a:rPr>
                        <a:t>217.7</a:t>
                      </a:r>
                    </a:p>
                  </a:txBody>
                  <a:tcPr marL="85725" marR="38100" marT="19050" marB="19050" anchor="ctr">
                    <a:solidFill>
                      <a:srgbClr val="F5F8FA"/>
                    </a:solidFill>
                  </a:tcPr>
                </a:tc>
                <a:tc>
                  <a:txBody>
                    <a:bodyPr wrap="none"/>
                    <a:lstStyle/>
                    <a:p>
                      <a:pPr algn="l"/>
                      <a:r>
                        <a:rPr sz="800" b="0">
                          <a:solidFill>
                            <a:srgbClr val="2E2E2E"/>
                          </a:solidFill>
                          <a:latin typeface="Calibri"/>
                        </a:rPr>
                        <a:t>234.1</a:t>
                      </a:r>
                    </a:p>
                  </a:txBody>
                  <a:tcPr marL="85725" marR="38100" marT="19050" marB="19050" anchor="ctr">
                    <a:solidFill>
                      <a:srgbClr val="F5F8FA"/>
                    </a:solidFill>
                  </a:tcPr>
                </a:tc>
                <a:tc>
                  <a:txBody>
                    <a:bodyPr wrap="none"/>
                    <a:lstStyle/>
                    <a:p>
                      <a:pPr algn="l"/>
                      <a:r>
                        <a:rPr sz="800" b="0">
                          <a:solidFill>
                            <a:srgbClr val="2E2E2E"/>
                          </a:solidFill>
                          <a:latin typeface="Calibri"/>
                        </a:rPr>
                        <a:t>251.4</a:t>
                      </a:r>
                    </a:p>
                  </a:txBody>
                  <a:tcPr marL="85725" marR="38100" marT="19050" marB="19050" anchor="ctr">
                    <a:solidFill>
                      <a:srgbClr val="F5F8FA"/>
                    </a:solidFill>
                  </a:tcPr>
                </a:tc>
                <a:tc>
                  <a:txBody>
                    <a:bodyPr wrap="none"/>
                    <a:lstStyle/>
                    <a:p>
                      <a:pPr algn="l"/>
                      <a:r>
                        <a:rPr sz="800" b="0">
                          <a:solidFill>
                            <a:srgbClr val="2E2E2E"/>
                          </a:solidFill>
                          <a:latin typeface="Calibri"/>
                        </a:rPr>
                        <a:t>269.4</a:t>
                      </a:r>
                    </a:p>
                  </a:txBody>
                  <a:tcPr marL="85725" marR="38100" marT="19050" marB="19050" anchor="ctr">
                    <a:solidFill>
                      <a:srgbClr val="F5F8FA"/>
                    </a:solidFill>
                  </a:tcPr>
                </a:tc>
                <a:tc>
                  <a:txBody>
                    <a:bodyPr wrap="none"/>
                    <a:lstStyle/>
                    <a:p>
                      <a:pPr algn="l"/>
                      <a:r>
                        <a:rPr sz="800" b="0">
                          <a:solidFill>
                            <a:srgbClr val="2E2E2E"/>
                          </a:solidFill>
                          <a:latin typeface="Calibri"/>
                        </a:rPr>
                        <a:t>289.1</a:t>
                      </a:r>
                    </a:p>
                  </a:txBody>
                  <a:tcPr marL="85725" marR="38100" marT="19050" marB="19050" anchor="ctr">
                    <a:solidFill>
                      <a:srgbClr val="F5F8FA"/>
                    </a:solidFill>
                  </a:tcPr>
                </a:tc>
                <a:tc>
                  <a:txBody>
                    <a:bodyPr wrap="none"/>
                    <a:lstStyle/>
                    <a:p>
                      <a:pPr algn="l"/>
                      <a:r>
                        <a:rPr sz="800" b="0">
                          <a:solidFill>
                            <a:srgbClr val="2E2E2E"/>
                          </a:solidFill>
                          <a:latin typeface="Calibri"/>
                        </a:rPr>
                        <a:t>309.4</a:t>
                      </a:r>
                    </a:p>
                  </a:txBody>
                  <a:tcPr marL="85725" marR="38100" marT="19050" marB="19050" anchor="ctr">
                    <a:solidFill>
                      <a:srgbClr val="F5F8FA"/>
                    </a:solidFill>
                  </a:tcPr>
                </a:tc>
                <a:tc>
                  <a:txBody>
                    <a:bodyPr wrap="none"/>
                    <a:lstStyle/>
                    <a:p>
                      <a:pPr algn="l"/>
                      <a:r>
                        <a:rPr sz="800" b="0">
                          <a:solidFill>
                            <a:srgbClr val="2E2E2E"/>
                          </a:solidFill>
                          <a:latin typeface="Calibri"/>
                        </a:rPr>
                        <a:t>331.7</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0">
                          <a:solidFill>
                            <a:srgbClr val="2E2E2E"/>
                          </a:solidFill>
                          <a:latin typeface="Calibri"/>
                        </a:rPr>
                        <a:t>76.8</a:t>
                      </a:r>
                    </a:p>
                  </a:txBody>
                  <a:tcPr marL="85725" marR="38100" marT="19050" marB="19050" anchor="ctr">
                    <a:solidFill>
                      <a:srgbClr val="FFFFFF"/>
                    </a:solidFill>
                  </a:tcPr>
                </a:tc>
                <a:tc>
                  <a:txBody>
                    <a:bodyPr wrap="none"/>
                    <a:lstStyle/>
                    <a:p>
                      <a:pPr algn="l"/>
                      <a:r>
                        <a:rPr sz="800" b="0">
                          <a:solidFill>
                            <a:srgbClr val="2E2E2E"/>
                          </a:solidFill>
                          <a:latin typeface="Calibri"/>
                        </a:rPr>
                        <a:t>82.3</a:t>
                      </a:r>
                    </a:p>
                  </a:txBody>
                  <a:tcPr marL="85725" marR="38100" marT="19050" marB="19050" anchor="ctr">
                    <a:solidFill>
                      <a:srgbClr val="FFFFFF"/>
                    </a:solidFill>
                  </a:tcPr>
                </a:tc>
                <a:tc>
                  <a:txBody>
                    <a:bodyPr wrap="none"/>
                    <a:lstStyle/>
                    <a:p>
                      <a:pPr algn="l"/>
                      <a:r>
                        <a:rPr sz="800" b="0">
                          <a:solidFill>
                            <a:srgbClr val="2E2E2E"/>
                          </a:solidFill>
                          <a:latin typeface="Calibri"/>
                        </a:rPr>
                        <a:t>88.3</a:t>
                      </a:r>
                    </a:p>
                  </a:txBody>
                  <a:tcPr marL="85725" marR="38100" marT="19050" marB="19050" anchor="ctr">
                    <a:solidFill>
                      <a:srgbClr val="FFFFFF"/>
                    </a:solidFill>
                  </a:tcPr>
                </a:tc>
                <a:tc>
                  <a:txBody>
                    <a:bodyPr wrap="none"/>
                    <a:lstStyle/>
                    <a:p>
                      <a:pPr algn="l"/>
                      <a:r>
                        <a:rPr sz="800" b="0">
                          <a:solidFill>
                            <a:srgbClr val="2E2E2E"/>
                          </a:solidFill>
                          <a:latin typeface="Calibri"/>
                        </a:rPr>
                        <a:t>94.7</a:t>
                      </a:r>
                    </a:p>
                  </a:txBody>
                  <a:tcPr marL="85725" marR="38100" marT="19050" marB="19050" anchor="ctr">
                    <a:solidFill>
                      <a:srgbClr val="FFFFFF"/>
                    </a:solidFill>
                  </a:tcPr>
                </a:tc>
                <a:tc>
                  <a:txBody>
                    <a:bodyPr wrap="none"/>
                    <a:lstStyle/>
                    <a:p>
                      <a:pPr algn="l"/>
                      <a:r>
                        <a:rPr sz="800" b="0">
                          <a:solidFill>
                            <a:srgbClr val="2E2E2E"/>
                          </a:solidFill>
                          <a:latin typeface="Calibri"/>
                        </a:rPr>
                        <a:t>101.6</a:t>
                      </a:r>
                    </a:p>
                  </a:txBody>
                  <a:tcPr marL="85725" marR="38100" marT="19050" marB="19050" anchor="ctr">
                    <a:solidFill>
                      <a:srgbClr val="FFFFFF"/>
                    </a:solidFill>
                  </a:tcPr>
                </a:tc>
                <a:tc>
                  <a:txBody>
                    <a:bodyPr wrap="none"/>
                    <a:lstStyle/>
                    <a:p>
                      <a:pPr algn="l"/>
                      <a:r>
                        <a:rPr sz="800" b="0">
                          <a:solidFill>
                            <a:srgbClr val="2E2E2E"/>
                          </a:solidFill>
                          <a:latin typeface="Calibri"/>
                        </a:rPr>
                        <a:t>109.1</a:t>
                      </a:r>
                    </a:p>
                  </a:txBody>
                  <a:tcPr marL="85725" marR="38100" marT="19050" marB="19050" anchor="ctr">
                    <a:solidFill>
                      <a:srgbClr val="FFFFFF"/>
                    </a:solidFill>
                  </a:tcPr>
                </a:tc>
                <a:tc>
                  <a:txBody>
                    <a:bodyPr wrap="none"/>
                    <a:lstStyle/>
                    <a:p>
                      <a:pPr algn="l"/>
                      <a:r>
                        <a:rPr sz="800" b="0">
                          <a:solidFill>
                            <a:srgbClr val="2E2E2E"/>
                          </a:solidFill>
                          <a:latin typeface="Calibri"/>
                        </a:rPr>
                        <a:t>117.1</a:t>
                      </a:r>
                    </a:p>
                  </a:txBody>
                  <a:tcPr marL="85725" marR="38100" marT="19050" marB="19050" anchor="ctr">
                    <a:solidFill>
                      <a:srgbClr val="FFFFFF"/>
                    </a:solidFill>
                  </a:tcPr>
                </a:tc>
                <a:tc>
                  <a:txBody>
                    <a:bodyPr wrap="none"/>
                    <a:lstStyle/>
                    <a:p>
                      <a:pPr algn="l"/>
                      <a:r>
                        <a:rPr sz="800" b="0">
                          <a:solidFill>
                            <a:srgbClr val="2E2E2E"/>
                          </a:solidFill>
                          <a:latin typeface="Calibri"/>
                        </a:rPr>
                        <a:t>125.4</a:t>
                      </a:r>
                    </a:p>
                  </a:txBody>
                  <a:tcPr marL="85725" marR="38100" marT="19050" marB="19050" anchor="ctr">
                    <a:solidFill>
                      <a:srgbClr val="FFFFFF"/>
                    </a:solidFill>
                  </a:tcPr>
                </a:tc>
                <a:tc>
                  <a:txBody>
                    <a:bodyPr wrap="none"/>
                    <a:lstStyle/>
                    <a:p>
                      <a:pPr algn="l"/>
                      <a:r>
                        <a:rPr sz="800" b="0">
                          <a:solidFill>
                            <a:srgbClr val="2E2E2E"/>
                          </a:solidFill>
                          <a:latin typeface="Calibri"/>
                        </a:rPr>
                        <a:t>134.2</a:t>
                      </a:r>
                    </a:p>
                  </a:txBody>
                  <a:tcPr marL="85725" marR="38100" marT="19050" marB="19050" anchor="ctr">
                    <a:solidFill>
                      <a:srgbClr val="FFFFFF"/>
                    </a:solidFill>
                  </a:tcPr>
                </a:tc>
                <a:tc>
                  <a:txBody>
                    <a:bodyPr wrap="none"/>
                    <a:lstStyle/>
                    <a:p>
                      <a:pPr algn="l"/>
                      <a:r>
                        <a:rPr sz="800" b="0">
                          <a:solidFill>
                            <a:srgbClr val="2E2E2E"/>
                          </a:solidFill>
                          <a:latin typeface="Calibri"/>
                        </a:rPr>
                        <a:t>143.4</a:t>
                      </a:r>
                    </a:p>
                  </a:txBody>
                  <a:tcPr marL="85725" marR="38100" marT="19050" marB="19050" anchor="ctr">
                    <a:solidFill>
                      <a:srgbClr val="FFFFFF"/>
                    </a:solidFill>
                  </a:tcPr>
                </a:tc>
                <a:tc>
                  <a:txBody>
                    <a:bodyPr wrap="none"/>
                    <a:lstStyle/>
                    <a:p>
                      <a:pPr algn="l"/>
                      <a:r>
                        <a:rPr sz="800" b="0">
                          <a:solidFill>
                            <a:srgbClr val="2E2E2E"/>
                          </a:solidFill>
                          <a:latin typeface="Calibri"/>
                        </a:rPr>
                        <a:t>153.0</a:t>
                      </a:r>
                    </a:p>
                  </a:txBody>
                  <a:tcPr marL="85725" marR="38100" marT="19050" marB="19050" anchor="ctr">
                    <a:solidFill>
                      <a:srgbClr val="FFFFFF"/>
                    </a:solidFill>
                  </a:tcPr>
                </a:tc>
                <a:tc>
                  <a:txBody>
                    <a:bodyPr wrap="none"/>
                    <a:lstStyle/>
                    <a:p>
                      <a:pPr algn="l"/>
                      <a:r>
                        <a:rPr sz="800" b="0">
                          <a:solidFill>
                            <a:srgbClr val="2E2E2E"/>
                          </a:solidFill>
                          <a:latin typeface="Calibri"/>
                        </a:rPr>
                        <a:t>163.1</a:t>
                      </a:r>
                    </a:p>
                  </a:txBody>
                  <a:tcPr marL="85725" marR="38100" marT="19050" marB="19050" anchor="ctr">
                    <a:solidFill>
                      <a:srgbClr val="FFFFFF"/>
                    </a:solidFill>
                  </a:tcPr>
                </a:tc>
                <a:tc>
                  <a:txBody>
                    <a:bodyPr wrap="none"/>
                    <a:lstStyle/>
                    <a:p>
                      <a:pPr algn="l"/>
                      <a:r>
                        <a:rPr sz="800" b="0">
                          <a:solidFill>
                            <a:srgbClr val="2E2E2E"/>
                          </a:solidFill>
                          <a:latin typeface="Calibri"/>
                        </a:rPr>
                        <a:t>173.4</a:t>
                      </a:r>
                    </a:p>
                  </a:txBody>
                  <a:tcPr marL="85725" marR="38100" marT="19050" marB="19050" anchor="ctr">
                    <a:solidFill>
                      <a:srgbClr val="FFFFFF"/>
                    </a:solidFill>
                  </a:tcPr>
                </a:tc>
                <a:tc>
                  <a:txBody>
                    <a:bodyPr wrap="none"/>
                    <a:lstStyle/>
                    <a:p>
                      <a:pPr algn="l"/>
                      <a:r>
                        <a:rPr sz="800" b="0">
                          <a:solidFill>
                            <a:srgbClr val="2E2E2E"/>
                          </a:solidFill>
                          <a:latin typeface="Calibri"/>
                        </a:rPr>
                        <a:t>184.7</a:t>
                      </a:r>
                    </a:p>
                  </a:txBody>
                  <a:tcPr marL="85725" marR="38100" marT="19050" marB="19050" anchor="ctr">
                    <a:solidFill>
                      <a:srgbClr val="FFFFFF"/>
                    </a:solidFill>
                  </a:tcPr>
                </a:tc>
                <a:tc>
                  <a:txBody>
                    <a:bodyPr wrap="none"/>
                    <a:lstStyle/>
                    <a:p>
                      <a:pPr algn="l"/>
                      <a:r>
                        <a:rPr sz="800" b="0">
                          <a:solidFill>
                            <a:srgbClr val="2E2E2E"/>
                          </a:solidFill>
                          <a:latin typeface="Calibri"/>
                        </a:rPr>
                        <a:t>196.2</a:t>
                      </a:r>
                    </a:p>
                  </a:txBody>
                  <a:tcPr marL="85725" marR="38100" marT="19050" marB="19050" anchor="ctr">
                    <a:solidFill>
                      <a:srgbClr val="FFFFFF"/>
                    </a:solidFill>
                  </a:tcPr>
                </a:tc>
                <a:tc>
                  <a:txBody>
                    <a:bodyPr wrap="none"/>
                    <a:lstStyle/>
                    <a:p>
                      <a:pPr algn="l"/>
                      <a:r>
                        <a:rPr sz="800" b="0">
                          <a:solidFill>
                            <a:srgbClr val="2E2E2E"/>
                          </a:solidFill>
                          <a:latin typeface="Calibri"/>
                        </a:rPr>
                        <a:t>208.8</a:t>
                      </a:r>
                    </a:p>
                  </a:txBody>
                  <a:tcPr marL="85725" marR="38100" marT="19050" marB="19050" anchor="ctr">
                    <a:solidFill>
                      <a:srgbClr val="FFFFFF"/>
                    </a:solidFill>
                  </a:tcPr>
                </a:tc>
                <a:tc>
                  <a:txBody>
                    <a:bodyPr wrap="none"/>
                    <a:lstStyle/>
                    <a:p>
                      <a:pPr algn="l"/>
                      <a:r>
                        <a:rPr sz="800" b="0">
                          <a:solidFill>
                            <a:srgbClr val="2E2E2E"/>
                          </a:solidFill>
                          <a:latin typeface="Calibri"/>
                        </a:rPr>
                        <a:t>6.7%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0">
                          <a:solidFill>
                            <a:srgbClr val="2E2E2E"/>
                          </a:solidFill>
                          <a:latin typeface="Calibri"/>
                        </a:rPr>
                        <a:t>86.1</a:t>
                      </a:r>
                    </a:p>
                  </a:txBody>
                  <a:tcPr marL="85725" marR="38100" marT="19050" marB="19050" anchor="ctr">
                    <a:solidFill>
                      <a:srgbClr val="F5F8FA"/>
                    </a:solidFill>
                  </a:tcPr>
                </a:tc>
                <a:tc>
                  <a:txBody>
                    <a:bodyPr wrap="none"/>
                    <a:lstStyle/>
                    <a:p>
                      <a:pPr algn="l"/>
                      <a:r>
                        <a:rPr sz="800" b="0">
                          <a:solidFill>
                            <a:srgbClr val="2E2E2E"/>
                          </a:solidFill>
                          <a:latin typeface="Calibri"/>
                        </a:rPr>
                        <a:t>92.0</a:t>
                      </a:r>
                    </a:p>
                  </a:txBody>
                  <a:tcPr marL="85725" marR="38100" marT="19050" marB="19050" anchor="ctr">
                    <a:solidFill>
                      <a:srgbClr val="F5F8FA"/>
                    </a:solidFill>
                  </a:tcPr>
                </a:tc>
                <a:tc>
                  <a:txBody>
                    <a:bodyPr wrap="none"/>
                    <a:lstStyle/>
                    <a:p>
                      <a:pPr algn="l"/>
                      <a:r>
                        <a:rPr sz="800" b="0">
                          <a:solidFill>
                            <a:srgbClr val="2E2E2E"/>
                          </a:solidFill>
                          <a:latin typeface="Calibri"/>
                        </a:rPr>
                        <a:t>98.7</a:t>
                      </a:r>
                    </a:p>
                  </a:txBody>
                  <a:tcPr marL="85725" marR="38100" marT="19050" marB="19050" anchor="ctr">
                    <a:solidFill>
                      <a:srgbClr val="F5F8FA"/>
                    </a:solidFill>
                  </a:tcPr>
                </a:tc>
                <a:tc>
                  <a:txBody>
                    <a:bodyPr wrap="none"/>
                    <a:lstStyle/>
                    <a:p>
                      <a:pPr algn="l"/>
                      <a:r>
                        <a:rPr sz="800" b="0">
                          <a:solidFill>
                            <a:srgbClr val="2E2E2E"/>
                          </a:solidFill>
                          <a:latin typeface="Calibri"/>
                        </a:rPr>
                        <a:t>106.1</a:t>
                      </a:r>
                    </a:p>
                  </a:txBody>
                  <a:tcPr marL="85725" marR="38100" marT="19050" marB="19050" anchor="ctr">
                    <a:solidFill>
                      <a:srgbClr val="F5F8FA"/>
                    </a:solidFill>
                  </a:tcPr>
                </a:tc>
                <a:tc>
                  <a:txBody>
                    <a:bodyPr wrap="none"/>
                    <a:lstStyle/>
                    <a:p>
                      <a:pPr algn="l"/>
                      <a:r>
                        <a:rPr sz="800" b="0">
                          <a:solidFill>
                            <a:srgbClr val="2E2E2E"/>
                          </a:solidFill>
                          <a:latin typeface="Calibri"/>
                        </a:rPr>
                        <a:t>114.2</a:t>
                      </a:r>
                    </a:p>
                  </a:txBody>
                  <a:tcPr marL="85725" marR="38100" marT="19050" marB="19050" anchor="ctr">
                    <a:solidFill>
                      <a:srgbClr val="F5F8FA"/>
                    </a:solidFill>
                  </a:tcPr>
                </a:tc>
                <a:tc>
                  <a:txBody>
                    <a:bodyPr wrap="none"/>
                    <a:lstStyle/>
                    <a:p>
                      <a:pPr algn="l"/>
                      <a:r>
                        <a:rPr sz="800" b="0">
                          <a:solidFill>
                            <a:srgbClr val="2E2E2E"/>
                          </a:solidFill>
                          <a:latin typeface="Calibri"/>
                        </a:rPr>
                        <a:t>123.7</a:t>
                      </a:r>
                    </a:p>
                  </a:txBody>
                  <a:tcPr marL="85725" marR="38100" marT="19050" marB="19050" anchor="ctr">
                    <a:solidFill>
                      <a:srgbClr val="F5F8FA"/>
                    </a:solidFill>
                  </a:tcPr>
                </a:tc>
                <a:tc>
                  <a:txBody>
                    <a:bodyPr wrap="none"/>
                    <a:lstStyle/>
                    <a:p>
                      <a:pPr algn="l"/>
                      <a:r>
                        <a:rPr sz="800" b="0">
                          <a:solidFill>
                            <a:srgbClr val="2E2E2E"/>
                          </a:solidFill>
                          <a:latin typeface="Calibri"/>
                        </a:rPr>
                        <a:t>134.1</a:t>
                      </a:r>
                    </a:p>
                  </a:txBody>
                  <a:tcPr marL="85725" marR="38100" marT="19050" marB="19050" anchor="ctr">
                    <a:solidFill>
                      <a:srgbClr val="F5F8FA"/>
                    </a:solidFill>
                  </a:tcPr>
                </a:tc>
                <a:tc>
                  <a:txBody>
                    <a:bodyPr wrap="none"/>
                    <a:lstStyle/>
                    <a:p>
                      <a:pPr algn="l"/>
                      <a:r>
                        <a:rPr sz="800" b="0">
                          <a:solidFill>
                            <a:srgbClr val="2E2E2E"/>
                          </a:solidFill>
                          <a:latin typeface="Calibri"/>
                        </a:rPr>
                        <a:t>145.3</a:t>
                      </a:r>
                    </a:p>
                  </a:txBody>
                  <a:tcPr marL="85725" marR="38100" marT="19050" marB="19050" anchor="ctr">
                    <a:solidFill>
                      <a:srgbClr val="F5F8FA"/>
                    </a:solidFill>
                  </a:tcPr>
                </a:tc>
                <a:tc>
                  <a:txBody>
                    <a:bodyPr wrap="none"/>
                    <a:lstStyle/>
                    <a:p>
                      <a:pPr algn="l"/>
                      <a:r>
                        <a:rPr sz="800" b="0">
                          <a:solidFill>
                            <a:srgbClr val="2E2E2E"/>
                          </a:solidFill>
                          <a:latin typeface="Calibri"/>
                        </a:rPr>
                        <a:t>157.4</a:t>
                      </a:r>
                    </a:p>
                  </a:txBody>
                  <a:tcPr marL="85725" marR="38100" marT="19050" marB="19050" anchor="ctr">
                    <a:solidFill>
                      <a:srgbClr val="F5F8FA"/>
                    </a:solidFill>
                  </a:tcPr>
                </a:tc>
                <a:tc>
                  <a:txBody>
                    <a:bodyPr wrap="none"/>
                    <a:lstStyle/>
                    <a:p>
                      <a:pPr algn="l"/>
                      <a:r>
                        <a:rPr sz="800" b="0">
                          <a:solidFill>
                            <a:srgbClr val="2E2E2E"/>
                          </a:solidFill>
                          <a:latin typeface="Calibri"/>
                        </a:rPr>
                        <a:t>170.6</a:t>
                      </a:r>
                    </a:p>
                  </a:txBody>
                  <a:tcPr marL="85725" marR="38100" marT="19050" marB="19050" anchor="ctr">
                    <a:solidFill>
                      <a:srgbClr val="F5F8FA"/>
                    </a:solidFill>
                  </a:tcPr>
                </a:tc>
                <a:tc>
                  <a:txBody>
                    <a:bodyPr wrap="none"/>
                    <a:lstStyle/>
                    <a:p>
                      <a:pPr algn="l"/>
                      <a:r>
                        <a:rPr sz="800" b="0">
                          <a:solidFill>
                            <a:srgbClr val="2E2E2E"/>
                          </a:solidFill>
                          <a:latin typeface="Calibri"/>
                        </a:rPr>
                        <a:t>184.8</a:t>
                      </a:r>
                    </a:p>
                  </a:txBody>
                  <a:tcPr marL="85725" marR="38100" marT="19050" marB="19050" anchor="ctr">
                    <a:solidFill>
                      <a:srgbClr val="F5F8FA"/>
                    </a:solidFill>
                  </a:tcPr>
                </a:tc>
                <a:tc>
                  <a:txBody>
                    <a:bodyPr wrap="none"/>
                    <a:lstStyle/>
                    <a:p>
                      <a:pPr algn="l"/>
                      <a:r>
                        <a:rPr sz="800" b="0">
                          <a:solidFill>
                            <a:srgbClr val="2E2E2E"/>
                          </a:solidFill>
                          <a:latin typeface="Calibri"/>
                        </a:rPr>
                        <a:t>200.2</a:t>
                      </a:r>
                    </a:p>
                  </a:txBody>
                  <a:tcPr marL="85725" marR="38100" marT="19050" marB="19050" anchor="ctr">
                    <a:solidFill>
                      <a:srgbClr val="F5F8FA"/>
                    </a:solidFill>
                  </a:tcPr>
                </a:tc>
                <a:tc>
                  <a:txBody>
                    <a:bodyPr wrap="none"/>
                    <a:lstStyle/>
                    <a:p>
                      <a:pPr algn="l"/>
                      <a:r>
                        <a:rPr sz="800" b="0">
                          <a:solidFill>
                            <a:srgbClr val="2E2E2E"/>
                          </a:solidFill>
                          <a:latin typeface="Calibri"/>
                        </a:rPr>
                        <a:t>216.7</a:t>
                      </a:r>
                    </a:p>
                  </a:txBody>
                  <a:tcPr marL="85725" marR="38100" marT="19050" marB="19050" anchor="ctr">
                    <a:solidFill>
                      <a:srgbClr val="F5F8FA"/>
                    </a:solidFill>
                  </a:tcPr>
                </a:tc>
                <a:tc>
                  <a:txBody>
                    <a:bodyPr wrap="none"/>
                    <a:lstStyle/>
                    <a:p>
                      <a:pPr algn="l"/>
                      <a:r>
                        <a:rPr sz="800" b="0">
                          <a:solidFill>
                            <a:srgbClr val="2E2E2E"/>
                          </a:solidFill>
                          <a:latin typeface="Calibri"/>
                        </a:rPr>
                        <a:t>235.3</a:t>
                      </a:r>
                    </a:p>
                  </a:txBody>
                  <a:tcPr marL="85725" marR="38100" marT="19050" marB="19050" anchor="ctr">
                    <a:solidFill>
                      <a:srgbClr val="F5F8FA"/>
                    </a:solidFill>
                  </a:tcPr>
                </a:tc>
                <a:tc>
                  <a:txBody>
                    <a:bodyPr wrap="none"/>
                    <a:lstStyle/>
                    <a:p>
                      <a:pPr algn="l"/>
                      <a:r>
                        <a:rPr sz="800" b="0">
                          <a:solidFill>
                            <a:srgbClr val="2E2E2E"/>
                          </a:solidFill>
                          <a:latin typeface="Calibri"/>
                        </a:rPr>
                        <a:t>255.2</a:t>
                      </a:r>
                    </a:p>
                  </a:txBody>
                  <a:tcPr marL="85725" marR="38100" marT="19050" marB="19050" anchor="ctr">
                    <a:solidFill>
                      <a:srgbClr val="F5F8FA"/>
                    </a:solidFill>
                  </a:tcPr>
                </a:tc>
                <a:tc>
                  <a:txBody>
                    <a:bodyPr wrap="none"/>
                    <a:lstStyle/>
                    <a:p>
                      <a:pPr algn="l"/>
                      <a:r>
                        <a:rPr sz="800" b="0">
                          <a:solidFill>
                            <a:srgbClr val="2E2E2E"/>
                          </a:solidFill>
                          <a:latin typeface="Calibri"/>
                        </a:rPr>
                        <a:t>277.8</a:t>
                      </a:r>
                    </a:p>
                  </a:txBody>
                  <a:tcPr marL="85725" marR="38100" marT="19050" marB="19050" anchor="ctr">
                    <a:solidFill>
                      <a:srgbClr val="F5F8FA"/>
                    </a:solidFill>
                  </a:tcPr>
                </a:tc>
                <a:tc>
                  <a:txBody>
                    <a:bodyPr wrap="none"/>
                    <a:lstStyle/>
                    <a:p>
                      <a:pPr algn="l"/>
                      <a:r>
                        <a:rPr sz="8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0">
                          <a:solidFill>
                            <a:srgbClr val="2E2E2E"/>
                          </a:solidFill>
                          <a:latin typeface="Calibri"/>
                        </a:rPr>
                        <a:t>14.5</a:t>
                      </a:r>
                    </a:p>
                  </a:txBody>
                  <a:tcPr marL="85725" marR="38100" marT="19050" marB="19050" anchor="ctr">
                    <a:solidFill>
                      <a:srgbClr val="FFFFFF"/>
                    </a:solidFill>
                  </a:tcPr>
                </a:tc>
                <a:tc>
                  <a:txBody>
                    <a:bodyPr wrap="none"/>
                    <a:lstStyle/>
                    <a:p>
                      <a:pPr algn="l"/>
                      <a:r>
                        <a:rPr sz="800" b="0">
                          <a:solidFill>
                            <a:srgbClr val="2E2E2E"/>
                          </a:solidFill>
                          <a:latin typeface="Calibri"/>
                        </a:rPr>
                        <a:t>15.9</a:t>
                      </a:r>
                    </a:p>
                  </a:txBody>
                  <a:tcPr marL="85725" marR="38100" marT="19050" marB="19050" anchor="ctr">
                    <a:solidFill>
                      <a:srgbClr val="FFFFFF"/>
                    </a:solidFill>
                  </a:tcPr>
                </a:tc>
                <a:tc>
                  <a:txBody>
                    <a:bodyPr wrap="none"/>
                    <a:lstStyle/>
                    <a:p>
                      <a:pPr algn="l"/>
                      <a:r>
                        <a:rPr sz="800" b="0">
                          <a:solidFill>
                            <a:srgbClr val="2E2E2E"/>
                          </a:solidFill>
                          <a:latin typeface="Calibri"/>
                        </a:rPr>
                        <a:t>17.5</a:t>
                      </a:r>
                    </a:p>
                  </a:txBody>
                  <a:tcPr marL="85725" marR="38100" marT="19050" marB="19050" anchor="ctr">
                    <a:solidFill>
                      <a:srgbClr val="FFFFFF"/>
                    </a:solidFill>
                  </a:tcPr>
                </a:tc>
                <a:tc>
                  <a:txBody>
                    <a:bodyPr wrap="none"/>
                    <a:lstStyle/>
                    <a:p>
                      <a:pPr algn="l"/>
                      <a:r>
                        <a:rPr sz="800" b="0">
                          <a:solidFill>
                            <a:srgbClr val="2E2E2E"/>
                          </a:solidFill>
                          <a:latin typeface="Calibri"/>
                        </a:rPr>
                        <a:t>19.3</a:t>
                      </a:r>
                    </a:p>
                  </a:txBody>
                  <a:tcPr marL="85725" marR="38100" marT="19050" marB="19050" anchor="ctr">
                    <a:solidFill>
                      <a:srgbClr val="FFFFFF"/>
                    </a:solidFill>
                  </a:tcPr>
                </a:tc>
                <a:tc>
                  <a:txBody>
                    <a:bodyPr wrap="none"/>
                    <a:lstStyle/>
                    <a:p>
                      <a:pPr algn="l"/>
                      <a:r>
                        <a:rPr sz="800" b="0">
                          <a:solidFill>
                            <a:srgbClr val="2E2E2E"/>
                          </a:solidFill>
                          <a:latin typeface="Calibri"/>
                        </a:rPr>
                        <a:t>21.3</a:t>
                      </a:r>
                    </a:p>
                  </a:txBody>
                  <a:tcPr marL="85725" marR="38100" marT="19050" marB="19050" anchor="ctr">
                    <a:solidFill>
                      <a:srgbClr val="FFFFFF"/>
                    </a:solidFill>
                  </a:tcPr>
                </a:tc>
                <a:tc>
                  <a:txBody>
                    <a:bodyPr wrap="none"/>
                    <a:lstStyle/>
                    <a:p>
                      <a:pPr algn="l"/>
                      <a:r>
                        <a:rPr sz="800" b="0">
                          <a:solidFill>
                            <a:srgbClr val="2E2E2E"/>
                          </a:solidFill>
                          <a:latin typeface="Calibri"/>
                        </a:rPr>
                        <a:t>23.1</a:t>
                      </a:r>
                    </a:p>
                  </a:txBody>
                  <a:tcPr marL="85725" marR="38100" marT="19050" marB="19050" anchor="ctr">
                    <a:solidFill>
                      <a:srgbClr val="FFFFFF"/>
                    </a:solidFill>
                  </a:tcPr>
                </a:tc>
                <a:tc>
                  <a:txBody>
                    <a:bodyPr wrap="none"/>
                    <a:lstStyle/>
                    <a:p>
                      <a:pPr algn="l"/>
                      <a:r>
                        <a:rPr sz="800" b="0">
                          <a:solidFill>
                            <a:srgbClr val="2E2E2E"/>
                          </a:solidFill>
                          <a:latin typeface="Calibri"/>
                        </a:rPr>
                        <a:t>25.1</a:t>
                      </a:r>
                    </a:p>
                  </a:txBody>
                  <a:tcPr marL="85725" marR="38100" marT="19050" marB="19050" anchor="ctr">
                    <a:solidFill>
                      <a:srgbClr val="FFFFFF"/>
                    </a:solidFill>
                  </a:tcPr>
                </a:tc>
                <a:tc>
                  <a:txBody>
                    <a:bodyPr wrap="none"/>
                    <a:lstStyle/>
                    <a:p>
                      <a:pPr algn="l"/>
                      <a:r>
                        <a:rPr sz="800" b="0">
                          <a:solidFill>
                            <a:srgbClr val="2E2E2E"/>
                          </a:solidFill>
                          <a:latin typeface="Calibri"/>
                        </a:rPr>
                        <a:t>27.1</a:t>
                      </a:r>
                    </a:p>
                  </a:txBody>
                  <a:tcPr marL="85725" marR="38100" marT="19050" marB="19050" anchor="ctr">
                    <a:solidFill>
                      <a:srgbClr val="FFFFFF"/>
                    </a:solidFill>
                  </a:tcPr>
                </a:tc>
                <a:tc>
                  <a:txBody>
                    <a:bodyPr wrap="none"/>
                    <a:lstStyle/>
                    <a:p>
                      <a:pPr algn="l"/>
                      <a:r>
                        <a:rPr sz="800" b="0">
                          <a:solidFill>
                            <a:srgbClr val="2E2E2E"/>
                          </a:solidFill>
                          <a:latin typeface="Calibri"/>
                        </a:rPr>
                        <a:t>29.3</a:t>
                      </a:r>
                    </a:p>
                  </a:txBody>
                  <a:tcPr marL="85725" marR="38100" marT="19050" marB="19050" anchor="ctr">
                    <a:solidFill>
                      <a:srgbClr val="FFFFFF"/>
                    </a:solidFill>
                  </a:tcPr>
                </a:tc>
                <a:tc>
                  <a:txBody>
                    <a:bodyPr wrap="none"/>
                    <a:lstStyle/>
                    <a:p>
                      <a:pPr algn="l"/>
                      <a:r>
                        <a:rPr sz="800" b="0">
                          <a:solidFill>
                            <a:srgbClr val="2E2E2E"/>
                          </a:solidFill>
                          <a:latin typeface="Calibri"/>
                        </a:rPr>
                        <a:t>31.6</a:t>
                      </a:r>
                    </a:p>
                  </a:txBody>
                  <a:tcPr marL="85725" marR="38100" marT="19050" marB="19050" anchor="ctr">
                    <a:solidFill>
                      <a:srgbClr val="FFFFFF"/>
                    </a:solidFill>
                  </a:tcPr>
                </a:tc>
                <a:tc>
                  <a:txBody>
                    <a:bodyPr wrap="none"/>
                    <a:lstStyle/>
                    <a:p>
                      <a:pPr algn="l"/>
                      <a:r>
                        <a:rPr sz="800" b="0">
                          <a:solidFill>
                            <a:srgbClr val="2E2E2E"/>
                          </a:solidFill>
                          <a:latin typeface="Calibri"/>
                        </a:rPr>
                        <a:t>34.1</a:t>
                      </a:r>
                    </a:p>
                  </a:txBody>
                  <a:tcPr marL="85725" marR="38100" marT="19050" marB="19050" anchor="ctr">
                    <a:solidFill>
                      <a:srgbClr val="FFFFFF"/>
                    </a:solidFill>
                  </a:tcPr>
                </a:tc>
                <a:tc>
                  <a:txBody>
                    <a:bodyPr wrap="none"/>
                    <a:lstStyle/>
                    <a:p>
                      <a:pPr algn="l"/>
                      <a:r>
                        <a:rPr sz="800" b="0">
                          <a:solidFill>
                            <a:srgbClr val="2E2E2E"/>
                          </a:solidFill>
                          <a:latin typeface="Calibri"/>
                        </a:rPr>
                        <a:t>36.7</a:t>
                      </a:r>
                    </a:p>
                  </a:txBody>
                  <a:tcPr marL="85725" marR="38100" marT="19050" marB="19050" anchor="ctr">
                    <a:solidFill>
                      <a:srgbClr val="FFFFFF"/>
                    </a:solidFill>
                  </a:tcPr>
                </a:tc>
                <a:tc>
                  <a:txBody>
                    <a:bodyPr wrap="none"/>
                    <a:lstStyle/>
                    <a:p>
                      <a:pPr algn="l"/>
                      <a:r>
                        <a:rPr sz="800" b="0">
                          <a:solidFill>
                            <a:srgbClr val="2E2E2E"/>
                          </a:solidFill>
                          <a:latin typeface="Calibri"/>
                        </a:rPr>
                        <a:t>39.4</a:t>
                      </a:r>
                    </a:p>
                  </a:txBody>
                  <a:tcPr marL="85725" marR="38100" marT="19050" marB="19050" anchor="ctr">
                    <a:solidFill>
                      <a:srgbClr val="FFFFFF"/>
                    </a:solidFill>
                  </a:tcPr>
                </a:tc>
                <a:tc>
                  <a:txBody>
                    <a:bodyPr wrap="none"/>
                    <a:lstStyle/>
                    <a:p>
                      <a:pPr algn="l"/>
                      <a:r>
                        <a:rPr sz="800" b="0">
                          <a:solidFill>
                            <a:srgbClr val="2E2E2E"/>
                          </a:solidFill>
                          <a:latin typeface="Calibri"/>
                        </a:rPr>
                        <a:t>42.4</a:t>
                      </a:r>
                    </a:p>
                  </a:txBody>
                  <a:tcPr marL="85725" marR="38100" marT="19050" marB="19050" anchor="ctr">
                    <a:solidFill>
                      <a:srgbClr val="FFFFFF"/>
                    </a:solidFill>
                  </a:tcPr>
                </a:tc>
                <a:tc>
                  <a:txBody>
                    <a:bodyPr wrap="none"/>
                    <a:lstStyle/>
                    <a:p>
                      <a:pPr algn="l"/>
                      <a:r>
                        <a:rPr sz="800" b="0">
                          <a:solidFill>
                            <a:srgbClr val="2E2E2E"/>
                          </a:solidFill>
                          <a:latin typeface="Calibri"/>
                        </a:rPr>
                        <a:t>45.4</a:t>
                      </a:r>
                    </a:p>
                  </a:txBody>
                  <a:tcPr marL="85725" marR="38100" marT="19050" marB="19050" anchor="ctr">
                    <a:solidFill>
                      <a:srgbClr val="FFFFFF"/>
                    </a:solidFill>
                  </a:tcPr>
                </a:tc>
                <a:tc>
                  <a:txBody>
                    <a:bodyPr wrap="none"/>
                    <a:lstStyle/>
                    <a:p>
                      <a:pPr algn="l"/>
                      <a:r>
                        <a:rPr sz="800" b="0">
                          <a:solidFill>
                            <a:srgbClr val="2E2E2E"/>
                          </a:solidFill>
                          <a:latin typeface="Calibri"/>
                        </a:rPr>
                        <a:t>48.8</a:t>
                      </a:r>
                    </a:p>
                  </a:txBody>
                  <a:tcPr marL="85725" marR="38100" marT="19050" marB="19050" anchor="ctr">
                    <a:solidFill>
                      <a:srgbClr val="FFFFFF"/>
                    </a:solidFill>
                  </a:tcPr>
                </a:tc>
                <a:tc>
                  <a:txBody>
                    <a:bodyPr wrap="none"/>
                    <a:lstStyle/>
                    <a:p>
                      <a:pPr algn="l"/>
                      <a:r>
                        <a:rPr sz="800" b="0">
                          <a:solidFill>
                            <a:srgbClr val="2E2E2E"/>
                          </a:solidFill>
                          <a:latin typeface="Calibri"/>
                        </a:rPr>
                        <a:t>7.8%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0">
                          <a:solidFill>
                            <a:srgbClr val="2E2E2E"/>
                          </a:solidFill>
                          <a:latin typeface="Calibri"/>
                        </a:rPr>
                        <a:t>32.0</a:t>
                      </a:r>
                    </a:p>
                  </a:txBody>
                  <a:tcPr marL="85725" marR="38100" marT="19050" marB="19050" anchor="ctr">
                    <a:solidFill>
                      <a:srgbClr val="F5F8FA"/>
                    </a:solidFill>
                  </a:tcPr>
                </a:tc>
                <a:tc>
                  <a:txBody>
                    <a:bodyPr wrap="none"/>
                    <a:lstStyle/>
                    <a:p>
                      <a:pPr algn="l"/>
                      <a:r>
                        <a:rPr sz="800" b="0">
                          <a:solidFill>
                            <a:srgbClr val="2E2E2E"/>
                          </a:solidFill>
                          <a:latin typeface="Calibri"/>
                        </a:rPr>
                        <a:t>34.4</a:t>
                      </a:r>
                    </a:p>
                  </a:txBody>
                  <a:tcPr marL="85725" marR="38100" marT="19050" marB="19050" anchor="ctr">
                    <a:solidFill>
                      <a:srgbClr val="F5F8FA"/>
                    </a:solidFill>
                  </a:tcPr>
                </a:tc>
                <a:tc>
                  <a:txBody>
                    <a:bodyPr wrap="none"/>
                    <a:lstStyle/>
                    <a:p>
                      <a:pPr algn="l"/>
                      <a:r>
                        <a:rPr sz="800" b="0">
                          <a:solidFill>
                            <a:srgbClr val="2E2E2E"/>
                          </a:solidFill>
                          <a:latin typeface="Calibri"/>
                        </a:rPr>
                        <a:t>37.1</a:t>
                      </a:r>
                    </a:p>
                  </a:txBody>
                  <a:tcPr marL="85725" marR="38100" marT="19050" marB="19050" anchor="ctr">
                    <a:solidFill>
                      <a:srgbClr val="F5F8FA"/>
                    </a:solidFill>
                  </a:tcPr>
                </a:tc>
                <a:tc>
                  <a:txBody>
                    <a:bodyPr wrap="none"/>
                    <a:lstStyle/>
                    <a:p>
                      <a:pPr algn="l"/>
                      <a:r>
                        <a:rPr sz="800" b="0">
                          <a:solidFill>
                            <a:srgbClr val="2E2E2E"/>
                          </a:solidFill>
                          <a:latin typeface="Calibri"/>
                        </a:rPr>
                        <a:t>40.0</a:t>
                      </a:r>
                    </a:p>
                  </a:txBody>
                  <a:tcPr marL="85725" marR="38100" marT="19050" marB="19050" anchor="ctr">
                    <a:solidFill>
                      <a:srgbClr val="F5F8FA"/>
                    </a:solidFill>
                  </a:tcPr>
                </a:tc>
                <a:tc>
                  <a:txBody>
                    <a:bodyPr wrap="none"/>
                    <a:lstStyle/>
                    <a:p>
                      <a:pPr algn="l"/>
                      <a:r>
                        <a:rPr sz="800" b="0">
                          <a:solidFill>
                            <a:srgbClr val="2E2E2E"/>
                          </a:solidFill>
                          <a:latin typeface="Calibri"/>
                        </a:rPr>
                        <a:t>43.0</a:t>
                      </a:r>
                    </a:p>
                  </a:txBody>
                  <a:tcPr marL="85725" marR="38100" marT="19050" marB="19050" anchor="ctr">
                    <a:solidFill>
                      <a:srgbClr val="F5F8FA"/>
                    </a:solidFill>
                  </a:tcPr>
                </a:tc>
                <a:tc>
                  <a:txBody>
                    <a:bodyPr wrap="none"/>
                    <a:lstStyle/>
                    <a:p>
                      <a:pPr algn="l"/>
                      <a:r>
                        <a:rPr sz="800" b="0">
                          <a:solidFill>
                            <a:srgbClr val="2E2E2E"/>
                          </a:solidFill>
                          <a:latin typeface="Calibri"/>
                        </a:rPr>
                        <a:t>46.4</a:t>
                      </a:r>
                    </a:p>
                  </a:txBody>
                  <a:tcPr marL="85725" marR="38100" marT="19050" marB="19050" anchor="ctr">
                    <a:solidFill>
                      <a:srgbClr val="F5F8FA"/>
                    </a:solidFill>
                  </a:tcPr>
                </a:tc>
                <a:tc>
                  <a:txBody>
                    <a:bodyPr wrap="none"/>
                    <a:lstStyle/>
                    <a:p>
                      <a:pPr algn="l"/>
                      <a:r>
                        <a:rPr sz="800" b="0">
                          <a:solidFill>
                            <a:srgbClr val="2E2E2E"/>
                          </a:solidFill>
                          <a:latin typeface="Calibri"/>
                        </a:rPr>
                        <a:t>50.0</a:t>
                      </a:r>
                    </a:p>
                  </a:txBody>
                  <a:tcPr marL="85725" marR="38100" marT="19050" marB="19050" anchor="ctr">
                    <a:solidFill>
                      <a:srgbClr val="F5F8FA"/>
                    </a:solidFill>
                  </a:tcPr>
                </a:tc>
                <a:tc>
                  <a:txBody>
                    <a:bodyPr wrap="none"/>
                    <a:lstStyle/>
                    <a:p>
                      <a:pPr algn="l"/>
                      <a:r>
                        <a:rPr sz="800" b="0">
                          <a:solidFill>
                            <a:srgbClr val="2E2E2E"/>
                          </a:solidFill>
                          <a:latin typeface="Calibri"/>
                        </a:rPr>
                        <a:t>53.7</a:t>
                      </a:r>
                    </a:p>
                  </a:txBody>
                  <a:tcPr marL="85725" marR="38100" marT="19050" marB="19050" anchor="ctr">
                    <a:solidFill>
                      <a:srgbClr val="F5F8FA"/>
                    </a:solidFill>
                  </a:tcPr>
                </a:tc>
                <a:tc>
                  <a:txBody>
                    <a:bodyPr wrap="none"/>
                    <a:lstStyle/>
                    <a:p>
                      <a:pPr algn="l"/>
                      <a:r>
                        <a:rPr sz="800" b="0">
                          <a:solidFill>
                            <a:srgbClr val="2E2E2E"/>
                          </a:solidFill>
                          <a:latin typeface="Calibri"/>
                        </a:rPr>
                        <a:t>57.7</a:t>
                      </a:r>
                    </a:p>
                  </a:txBody>
                  <a:tcPr marL="85725" marR="38100" marT="19050" marB="19050" anchor="ctr">
                    <a:solidFill>
                      <a:srgbClr val="F5F8FA"/>
                    </a:solidFill>
                  </a:tcPr>
                </a:tc>
                <a:tc>
                  <a:txBody>
                    <a:bodyPr wrap="none"/>
                    <a:lstStyle/>
                    <a:p>
                      <a:pPr algn="l"/>
                      <a:r>
                        <a:rPr sz="800" b="0">
                          <a:solidFill>
                            <a:srgbClr val="2E2E2E"/>
                          </a:solidFill>
                          <a:latin typeface="Calibri"/>
                        </a:rPr>
                        <a:t>61.9</a:t>
                      </a:r>
                    </a:p>
                  </a:txBody>
                  <a:tcPr marL="85725" marR="38100" marT="19050" marB="19050" anchor="ctr">
                    <a:solidFill>
                      <a:srgbClr val="F5F8FA"/>
                    </a:solidFill>
                  </a:tcPr>
                </a:tc>
                <a:tc>
                  <a:txBody>
                    <a:bodyPr wrap="none"/>
                    <a:lstStyle/>
                    <a:p>
                      <a:pPr algn="l"/>
                      <a:r>
                        <a:rPr sz="800" b="0">
                          <a:solidFill>
                            <a:srgbClr val="2E2E2E"/>
                          </a:solidFill>
                          <a:latin typeface="Calibri"/>
                        </a:rPr>
                        <a:t>66.4</a:t>
                      </a:r>
                    </a:p>
                  </a:txBody>
                  <a:tcPr marL="85725" marR="38100" marT="19050" marB="19050" anchor="ctr">
                    <a:solidFill>
                      <a:srgbClr val="F5F8FA"/>
                    </a:solidFill>
                  </a:tcPr>
                </a:tc>
                <a:tc>
                  <a:txBody>
                    <a:bodyPr wrap="none"/>
                    <a:lstStyle/>
                    <a:p>
                      <a:pPr algn="l"/>
                      <a:r>
                        <a:rPr sz="800" b="0">
                          <a:solidFill>
                            <a:srgbClr val="2E2E2E"/>
                          </a:solidFill>
                          <a:latin typeface="Calibri"/>
                        </a:rPr>
                        <a:t>71.0</a:t>
                      </a:r>
                    </a:p>
                  </a:txBody>
                  <a:tcPr marL="85725" marR="38100" marT="19050" marB="19050" anchor="ctr">
                    <a:solidFill>
                      <a:srgbClr val="F5F8FA"/>
                    </a:solidFill>
                  </a:tcPr>
                </a:tc>
                <a:tc>
                  <a:txBody>
                    <a:bodyPr wrap="none"/>
                    <a:lstStyle/>
                    <a:p>
                      <a:pPr algn="l"/>
                      <a:r>
                        <a:rPr sz="800" b="0">
                          <a:solidFill>
                            <a:srgbClr val="2E2E2E"/>
                          </a:solidFill>
                          <a:latin typeface="Calibri"/>
                        </a:rPr>
                        <a:t>75.8</a:t>
                      </a:r>
                    </a:p>
                  </a:txBody>
                  <a:tcPr marL="85725" marR="38100" marT="19050" marB="19050" anchor="ctr">
                    <a:solidFill>
                      <a:srgbClr val="F5F8FA"/>
                    </a:solidFill>
                  </a:tcPr>
                </a:tc>
                <a:tc>
                  <a:txBody>
                    <a:bodyPr wrap="none"/>
                    <a:lstStyle/>
                    <a:p>
                      <a:pPr algn="l"/>
                      <a:r>
                        <a:rPr sz="800" b="0">
                          <a:solidFill>
                            <a:srgbClr val="2E2E2E"/>
                          </a:solidFill>
                          <a:latin typeface="Calibri"/>
                        </a:rPr>
                        <a:t>81.1</a:t>
                      </a:r>
                    </a:p>
                  </a:txBody>
                  <a:tcPr marL="85725" marR="38100" marT="19050" marB="19050" anchor="ctr">
                    <a:solidFill>
                      <a:srgbClr val="F5F8FA"/>
                    </a:solidFill>
                  </a:tcPr>
                </a:tc>
                <a:tc>
                  <a:txBody>
                    <a:bodyPr wrap="none"/>
                    <a:lstStyle/>
                    <a:p>
                      <a:pPr algn="l"/>
                      <a:r>
                        <a:rPr sz="800" b="0">
                          <a:solidFill>
                            <a:srgbClr val="2E2E2E"/>
                          </a:solidFill>
                          <a:latin typeface="Calibri"/>
                        </a:rPr>
                        <a:t>86.5</a:t>
                      </a:r>
                    </a:p>
                  </a:txBody>
                  <a:tcPr marL="85725" marR="38100" marT="19050" marB="19050" anchor="ctr">
                    <a:solidFill>
                      <a:srgbClr val="F5F8FA"/>
                    </a:solidFill>
                  </a:tcPr>
                </a:tc>
                <a:tc>
                  <a:txBody>
                    <a:bodyPr wrap="none"/>
                    <a:lstStyle/>
                    <a:p>
                      <a:pPr algn="l"/>
                      <a:r>
                        <a:rPr sz="800" b="0">
                          <a:solidFill>
                            <a:srgbClr val="2E2E2E"/>
                          </a:solidFill>
                          <a:latin typeface="Calibri"/>
                        </a:rPr>
                        <a:t>92.4</a:t>
                      </a:r>
                    </a:p>
                  </a:txBody>
                  <a:tcPr marL="85725" marR="38100" marT="19050" marB="19050" anchor="ctr">
                    <a:solidFill>
                      <a:srgbClr val="F5F8FA"/>
                    </a:solidFill>
                  </a:tcPr>
                </a:tc>
                <a:tc>
                  <a:txBody>
                    <a:bodyPr wrap="none"/>
                    <a:lstStyle/>
                    <a:p>
                      <a:pPr algn="l"/>
                      <a:r>
                        <a:rPr sz="800" b="0">
                          <a:solidFill>
                            <a:srgbClr val="2E2E2E"/>
                          </a:solidFill>
                          <a:latin typeface="Calibri"/>
                        </a:rPr>
                        <a:t>7.1%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End User (US$ Mn)</a:t>
            </a:r>
          </a:p>
        </p:txBody>
      </p:sp>
      <p:graphicFrame>
        <p:nvGraphicFramePr>
          <p:cNvPr id="18" name="Table 17"/>
          <p:cNvGraphicFramePr>
            <a:graphicFrameLocks noGrp="1"/>
          </p:cNvGraphicFramePr>
          <p:nvPr/>
        </p:nvGraphicFramePr>
        <p:xfrm>
          <a:off x="238125" y="4143375"/>
          <a:ext cx="11715752" cy="144780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0">
                          <a:solidFill>
                            <a:srgbClr val="2E2E2E"/>
                          </a:solidFill>
                          <a:latin typeface="Calibri"/>
                        </a:rPr>
                        <a:t>185.9</a:t>
                      </a:r>
                    </a:p>
                  </a:txBody>
                  <a:tcPr marL="85725" marR="38100" marT="19050" marB="19050" anchor="ctr">
                    <a:solidFill>
                      <a:srgbClr val="FFFFFF"/>
                    </a:solidFill>
                  </a:tcPr>
                </a:tc>
                <a:tc>
                  <a:txBody>
                    <a:bodyPr wrap="none"/>
                    <a:lstStyle/>
                    <a:p>
                      <a:pPr algn="l"/>
                      <a:r>
                        <a:rPr sz="800" b="0">
                          <a:solidFill>
                            <a:srgbClr val="2E2E2E"/>
                          </a:solidFill>
                          <a:latin typeface="Calibri"/>
                        </a:rPr>
                        <a:t>196.2</a:t>
                      </a:r>
                    </a:p>
                  </a:txBody>
                  <a:tcPr marL="85725" marR="38100" marT="19050" marB="19050" anchor="ctr">
                    <a:solidFill>
                      <a:srgbClr val="FFFFFF"/>
                    </a:solidFill>
                  </a:tcPr>
                </a:tc>
                <a:tc>
                  <a:txBody>
                    <a:bodyPr wrap="none"/>
                    <a:lstStyle/>
                    <a:p>
                      <a:pPr algn="l"/>
                      <a:r>
                        <a:rPr sz="800" b="0">
                          <a:solidFill>
                            <a:srgbClr val="2E2E2E"/>
                          </a:solidFill>
                          <a:latin typeface="Calibri"/>
                        </a:rPr>
                        <a:t>207.6</a:t>
                      </a:r>
                    </a:p>
                  </a:txBody>
                  <a:tcPr marL="85725" marR="38100" marT="19050" marB="19050" anchor="ctr">
                    <a:solidFill>
                      <a:srgbClr val="FFFFFF"/>
                    </a:solidFill>
                  </a:tcPr>
                </a:tc>
                <a:tc>
                  <a:txBody>
                    <a:bodyPr wrap="none"/>
                    <a:lstStyle/>
                    <a:p>
                      <a:pPr algn="l"/>
                      <a:r>
                        <a:rPr sz="800" b="0">
                          <a:solidFill>
                            <a:srgbClr val="2E2E2E"/>
                          </a:solidFill>
                          <a:latin typeface="Calibri"/>
                        </a:rPr>
                        <a:t>220.9</a:t>
                      </a:r>
                    </a:p>
                  </a:txBody>
                  <a:tcPr marL="85725" marR="38100" marT="19050" marB="19050" anchor="ctr">
                    <a:solidFill>
                      <a:srgbClr val="FFFFFF"/>
                    </a:solidFill>
                  </a:tcPr>
                </a:tc>
                <a:tc>
                  <a:txBody>
                    <a:bodyPr wrap="none"/>
                    <a:lstStyle/>
                    <a:p>
                      <a:pPr algn="l"/>
                      <a:r>
                        <a:rPr sz="800" b="0">
                          <a:solidFill>
                            <a:srgbClr val="2E2E2E"/>
                          </a:solidFill>
                          <a:latin typeface="Calibri"/>
                        </a:rPr>
                        <a:t>235.3</a:t>
                      </a:r>
                    </a:p>
                  </a:txBody>
                  <a:tcPr marL="85725" marR="38100" marT="19050" marB="19050" anchor="ctr">
                    <a:solidFill>
                      <a:srgbClr val="FFFFFF"/>
                    </a:solidFill>
                  </a:tcPr>
                </a:tc>
                <a:tc>
                  <a:txBody>
                    <a:bodyPr wrap="none"/>
                    <a:lstStyle/>
                    <a:p>
                      <a:pPr algn="l"/>
                      <a:r>
                        <a:rPr sz="800" b="0">
                          <a:solidFill>
                            <a:srgbClr val="2E2E2E"/>
                          </a:solidFill>
                          <a:latin typeface="Calibri"/>
                        </a:rPr>
                        <a:t>251.7</a:t>
                      </a:r>
                    </a:p>
                  </a:txBody>
                  <a:tcPr marL="85725" marR="38100" marT="19050" marB="19050" anchor="ctr">
                    <a:solidFill>
                      <a:srgbClr val="FFFFFF"/>
                    </a:solidFill>
                  </a:tcPr>
                </a:tc>
                <a:tc>
                  <a:txBody>
                    <a:bodyPr wrap="none"/>
                    <a:lstStyle/>
                    <a:p>
                      <a:pPr algn="l"/>
                      <a:r>
                        <a:rPr sz="800" b="0">
                          <a:solidFill>
                            <a:srgbClr val="2E2E2E"/>
                          </a:solidFill>
                          <a:latin typeface="Calibri"/>
                        </a:rPr>
                        <a:t>269.7</a:t>
                      </a:r>
                    </a:p>
                  </a:txBody>
                  <a:tcPr marL="85725" marR="38100" marT="19050" marB="19050" anchor="ctr">
                    <a:solidFill>
                      <a:srgbClr val="FFFFFF"/>
                    </a:solidFill>
                  </a:tcPr>
                </a:tc>
                <a:tc>
                  <a:txBody>
                    <a:bodyPr wrap="none"/>
                    <a:lstStyle/>
                    <a:p>
                      <a:pPr algn="l"/>
                      <a:r>
                        <a:rPr sz="800" b="0">
                          <a:solidFill>
                            <a:srgbClr val="2E2E2E"/>
                          </a:solidFill>
                          <a:latin typeface="Calibri"/>
                        </a:rPr>
                        <a:t>289.2</a:t>
                      </a:r>
                    </a:p>
                  </a:txBody>
                  <a:tcPr marL="85725" marR="38100" marT="19050" marB="19050" anchor="ctr">
                    <a:solidFill>
                      <a:srgbClr val="FFFFFF"/>
                    </a:solidFill>
                  </a:tcPr>
                </a:tc>
                <a:tc>
                  <a:txBody>
                    <a:bodyPr wrap="none"/>
                    <a:lstStyle/>
                    <a:p>
                      <a:pPr algn="l"/>
                      <a:r>
                        <a:rPr sz="800" b="0">
                          <a:solidFill>
                            <a:srgbClr val="2E2E2E"/>
                          </a:solidFill>
                          <a:latin typeface="Calibri"/>
                        </a:rPr>
                        <a:t>310.5</a:t>
                      </a:r>
                    </a:p>
                  </a:txBody>
                  <a:tcPr marL="85725" marR="38100" marT="19050" marB="19050" anchor="ctr">
                    <a:solidFill>
                      <a:srgbClr val="FFFFFF"/>
                    </a:solidFill>
                  </a:tcPr>
                </a:tc>
                <a:tc>
                  <a:txBody>
                    <a:bodyPr wrap="none"/>
                    <a:lstStyle/>
                    <a:p>
                      <a:pPr algn="l"/>
                      <a:r>
                        <a:rPr sz="800" b="0">
                          <a:solidFill>
                            <a:srgbClr val="2E2E2E"/>
                          </a:solidFill>
                          <a:latin typeface="Calibri"/>
                        </a:rPr>
                        <a:t>333.8</a:t>
                      </a:r>
                    </a:p>
                  </a:txBody>
                  <a:tcPr marL="85725" marR="38100" marT="19050" marB="19050" anchor="ctr">
                    <a:solidFill>
                      <a:srgbClr val="FFFFFF"/>
                    </a:solidFill>
                  </a:tcPr>
                </a:tc>
                <a:tc>
                  <a:txBody>
                    <a:bodyPr wrap="none"/>
                    <a:lstStyle/>
                    <a:p>
                      <a:pPr algn="l"/>
                      <a:r>
                        <a:rPr sz="800" b="0">
                          <a:solidFill>
                            <a:srgbClr val="2E2E2E"/>
                          </a:solidFill>
                          <a:latin typeface="Calibri"/>
                        </a:rPr>
                        <a:t>359.1</a:t>
                      </a:r>
                    </a:p>
                  </a:txBody>
                  <a:tcPr marL="85725" marR="38100" marT="19050" marB="19050" anchor="ctr">
                    <a:solidFill>
                      <a:srgbClr val="FFFFFF"/>
                    </a:solidFill>
                  </a:tcPr>
                </a:tc>
                <a:tc>
                  <a:txBody>
                    <a:bodyPr wrap="none"/>
                    <a:lstStyle/>
                    <a:p>
                      <a:pPr algn="l"/>
                      <a:r>
                        <a:rPr sz="800" b="0">
                          <a:solidFill>
                            <a:srgbClr val="2E2E2E"/>
                          </a:solidFill>
                          <a:latin typeface="Calibri"/>
                        </a:rPr>
                        <a:t>386.7</a:t>
                      </a:r>
                    </a:p>
                  </a:txBody>
                  <a:tcPr marL="85725" marR="38100" marT="19050" marB="19050" anchor="ctr">
                    <a:solidFill>
                      <a:srgbClr val="FFFFFF"/>
                    </a:solidFill>
                  </a:tcPr>
                </a:tc>
                <a:tc>
                  <a:txBody>
                    <a:bodyPr wrap="none"/>
                    <a:lstStyle/>
                    <a:p>
                      <a:pPr algn="l"/>
                      <a:r>
                        <a:rPr sz="800" b="0">
                          <a:solidFill>
                            <a:srgbClr val="2E2E2E"/>
                          </a:solidFill>
                          <a:latin typeface="Calibri"/>
                        </a:rPr>
                        <a:t>416.4</a:t>
                      </a:r>
                    </a:p>
                  </a:txBody>
                  <a:tcPr marL="85725" marR="38100" marT="19050" marB="19050" anchor="ctr">
                    <a:solidFill>
                      <a:srgbClr val="FFFFFF"/>
                    </a:solidFill>
                  </a:tcPr>
                </a:tc>
                <a:tc>
                  <a:txBody>
                    <a:bodyPr wrap="none"/>
                    <a:lstStyle/>
                    <a:p>
                      <a:pPr algn="l"/>
                      <a:r>
                        <a:rPr sz="800" b="0">
                          <a:solidFill>
                            <a:srgbClr val="2E2E2E"/>
                          </a:solidFill>
                          <a:latin typeface="Calibri"/>
                        </a:rPr>
                        <a:t>450.0</a:t>
                      </a:r>
                    </a:p>
                  </a:txBody>
                  <a:tcPr marL="85725" marR="38100" marT="19050" marB="19050" anchor="ctr">
                    <a:solidFill>
                      <a:srgbClr val="FFFFFF"/>
                    </a:solidFill>
                  </a:tcPr>
                </a:tc>
                <a:tc>
                  <a:txBody>
                    <a:bodyPr wrap="none"/>
                    <a:lstStyle/>
                    <a:p>
                      <a:pPr algn="l"/>
                      <a:r>
                        <a:rPr sz="800" b="0">
                          <a:solidFill>
                            <a:srgbClr val="2E2E2E"/>
                          </a:solidFill>
                          <a:latin typeface="Calibri"/>
                        </a:rPr>
                        <a:t>486.4</a:t>
                      </a:r>
                    </a:p>
                  </a:txBody>
                  <a:tcPr marL="85725" marR="38100" marT="19050" marB="19050" anchor="ctr">
                    <a:solidFill>
                      <a:srgbClr val="FFFFFF"/>
                    </a:solidFill>
                  </a:tcPr>
                </a:tc>
                <a:tc>
                  <a:txBody>
                    <a:bodyPr wrap="none"/>
                    <a:lstStyle/>
                    <a:p>
                      <a:pPr algn="l"/>
                      <a:r>
                        <a:rPr sz="800" b="0">
                          <a:solidFill>
                            <a:srgbClr val="2E2E2E"/>
                          </a:solidFill>
                          <a:latin typeface="Calibri"/>
                        </a:rPr>
                        <a:t>528.0</a:t>
                      </a:r>
                    </a:p>
                  </a:txBody>
                  <a:tcPr marL="85725" marR="38100" marT="19050" marB="19050" anchor="ctr">
                    <a:solidFill>
                      <a:srgbClr val="FFFFFF"/>
                    </a:solidFill>
                  </a:tcPr>
                </a:tc>
                <a:tc>
                  <a:txBody>
                    <a:bodyPr wrap="none"/>
                    <a:lstStyle/>
                    <a:p>
                      <a:pPr algn="l"/>
                      <a:r>
                        <a:rPr sz="8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0">
                          <a:solidFill>
                            <a:srgbClr val="2E2E2E"/>
                          </a:solidFill>
                          <a:latin typeface="Calibri"/>
                        </a:rPr>
                        <a:t>93.5</a:t>
                      </a:r>
                    </a:p>
                  </a:txBody>
                  <a:tcPr marL="85725" marR="38100" marT="19050" marB="19050" anchor="ctr">
                    <a:solidFill>
                      <a:srgbClr val="F5F8FA"/>
                    </a:solidFill>
                  </a:tcPr>
                </a:tc>
                <a:tc>
                  <a:txBody>
                    <a:bodyPr wrap="none"/>
                    <a:lstStyle/>
                    <a:p>
                      <a:pPr algn="l"/>
                      <a:r>
                        <a:rPr sz="800" b="0">
                          <a:solidFill>
                            <a:srgbClr val="2E2E2E"/>
                          </a:solidFill>
                          <a:latin typeface="Calibri"/>
                        </a:rPr>
                        <a:t>99.8</a:t>
                      </a:r>
                    </a:p>
                  </a:txBody>
                  <a:tcPr marL="85725" marR="38100" marT="19050" marB="19050" anchor="ctr">
                    <a:solidFill>
                      <a:srgbClr val="F5F8FA"/>
                    </a:solidFill>
                  </a:tcPr>
                </a:tc>
                <a:tc>
                  <a:txBody>
                    <a:bodyPr wrap="none"/>
                    <a:lstStyle/>
                    <a:p>
                      <a:pPr algn="l"/>
                      <a:r>
                        <a:rPr sz="800" b="0">
                          <a:solidFill>
                            <a:srgbClr val="2E2E2E"/>
                          </a:solidFill>
                          <a:latin typeface="Calibri"/>
                        </a:rPr>
                        <a:t>106.7</a:t>
                      </a:r>
                    </a:p>
                  </a:txBody>
                  <a:tcPr marL="85725" marR="38100" marT="19050" marB="19050" anchor="ctr">
                    <a:solidFill>
                      <a:srgbClr val="F5F8FA"/>
                    </a:solidFill>
                  </a:tcPr>
                </a:tc>
                <a:tc>
                  <a:txBody>
                    <a:bodyPr wrap="none"/>
                    <a:lstStyle/>
                    <a:p>
                      <a:pPr algn="l"/>
                      <a:r>
                        <a:rPr sz="800" b="0">
                          <a:solidFill>
                            <a:srgbClr val="2E2E2E"/>
                          </a:solidFill>
                          <a:latin typeface="Calibri"/>
                        </a:rPr>
                        <a:t>114.7</a:t>
                      </a:r>
                    </a:p>
                  </a:txBody>
                  <a:tcPr marL="85725" marR="38100" marT="19050" marB="19050" anchor="ctr">
                    <a:solidFill>
                      <a:srgbClr val="F5F8FA"/>
                    </a:solidFill>
                  </a:tcPr>
                </a:tc>
                <a:tc>
                  <a:txBody>
                    <a:bodyPr wrap="none"/>
                    <a:lstStyle/>
                    <a:p>
                      <a:pPr algn="l"/>
                      <a:r>
                        <a:rPr sz="800" b="0">
                          <a:solidFill>
                            <a:srgbClr val="2E2E2E"/>
                          </a:solidFill>
                          <a:latin typeface="Calibri"/>
                        </a:rPr>
                        <a:t>123.3</a:t>
                      </a:r>
                    </a:p>
                  </a:txBody>
                  <a:tcPr marL="85725" marR="38100" marT="19050" marB="19050" anchor="ctr">
                    <a:solidFill>
                      <a:srgbClr val="F5F8FA"/>
                    </a:solidFill>
                  </a:tcPr>
                </a:tc>
                <a:tc>
                  <a:txBody>
                    <a:bodyPr wrap="none"/>
                    <a:lstStyle/>
                    <a:p>
                      <a:pPr algn="l"/>
                      <a:r>
                        <a:rPr sz="800" b="0">
                          <a:solidFill>
                            <a:srgbClr val="2E2E2E"/>
                          </a:solidFill>
                          <a:latin typeface="Calibri"/>
                        </a:rPr>
                        <a:t>133.1</a:t>
                      </a:r>
                    </a:p>
                  </a:txBody>
                  <a:tcPr marL="85725" marR="38100" marT="19050" marB="19050" anchor="ctr">
                    <a:solidFill>
                      <a:srgbClr val="F5F8FA"/>
                    </a:solidFill>
                  </a:tcPr>
                </a:tc>
                <a:tc>
                  <a:txBody>
                    <a:bodyPr wrap="none"/>
                    <a:lstStyle/>
                    <a:p>
                      <a:pPr algn="l"/>
                      <a:r>
                        <a:rPr sz="800" b="0">
                          <a:solidFill>
                            <a:srgbClr val="2E2E2E"/>
                          </a:solidFill>
                          <a:latin typeface="Calibri"/>
                        </a:rPr>
                        <a:t>143.9</a:t>
                      </a:r>
                    </a:p>
                  </a:txBody>
                  <a:tcPr marL="85725" marR="38100" marT="19050" marB="19050" anchor="ctr">
                    <a:solidFill>
                      <a:srgbClr val="F5F8FA"/>
                    </a:solidFill>
                  </a:tcPr>
                </a:tc>
                <a:tc>
                  <a:txBody>
                    <a:bodyPr wrap="none"/>
                    <a:lstStyle/>
                    <a:p>
                      <a:pPr algn="l"/>
                      <a:r>
                        <a:rPr sz="800" b="0">
                          <a:solidFill>
                            <a:srgbClr val="2E2E2E"/>
                          </a:solidFill>
                          <a:latin typeface="Calibri"/>
                        </a:rPr>
                        <a:t>155.7</a:t>
                      </a:r>
                    </a:p>
                  </a:txBody>
                  <a:tcPr marL="85725" marR="38100" marT="19050" marB="19050" anchor="ctr">
                    <a:solidFill>
                      <a:srgbClr val="F5F8FA"/>
                    </a:solidFill>
                  </a:tcPr>
                </a:tc>
                <a:tc>
                  <a:txBody>
                    <a:bodyPr wrap="none"/>
                    <a:lstStyle/>
                    <a:p>
                      <a:pPr algn="l"/>
                      <a:r>
                        <a:rPr sz="800" b="0">
                          <a:solidFill>
                            <a:srgbClr val="2E2E2E"/>
                          </a:solidFill>
                          <a:latin typeface="Calibri"/>
                        </a:rPr>
                        <a:t>168.5</a:t>
                      </a:r>
                    </a:p>
                  </a:txBody>
                  <a:tcPr marL="85725" marR="38100" marT="19050" marB="19050" anchor="ctr">
                    <a:solidFill>
                      <a:srgbClr val="F5F8FA"/>
                    </a:solidFill>
                  </a:tcPr>
                </a:tc>
                <a:tc>
                  <a:txBody>
                    <a:bodyPr wrap="none"/>
                    <a:lstStyle/>
                    <a:p>
                      <a:pPr algn="l"/>
                      <a:r>
                        <a:rPr sz="800" b="0">
                          <a:solidFill>
                            <a:srgbClr val="2E2E2E"/>
                          </a:solidFill>
                          <a:latin typeface="Calibri"/>
                        </a:rPr>
                        <a:t>182.6</a:t>
                      </a:r>
                    </a:p>
                  </a:txBody>
                  <a:tcPr marL="85725" marR="38100" marT="19050" marB="19050" anchor="ctr">
                    <a:solidFill>
                      <a:srgbClr val="F5F8FA"/>
                    </a:solidFill>
                  </a:tcPr>
                </a:tc>
                <a:tc>
                  <a:txBody>
                    <a:bodyPr wrap="none"/>
                    <a:lstStyle/>
                    <a:p>
                      <a:pPr algn="l"/>
                      <a:r>
                        <a:rPr sz="800" b="0">
                          <a:solidFill>
                            <a:srgbClr val="2E2E2E"/>
                          </a:solidFill>
                          <a:latin typeface="Calibri"/>
                        </a:rPr>
                        <a:t>197.9</a:t>
                      </a:r>
                    </a:p>
                  </a:txBody>
                  <a:tcPr marL="85725" marR="38100" marT="19050" marB="19050" anchor="ctr">
                    <a:solidFill>
                      <a:srgbClr val="F5F8FA"/>
                    </a:solidFill>
                  </a:tcPr>
                </a:tc>
                <a:tc>
                  <a:txBody>
                    <a:bodyPr wrap="none"/>
                    <a:lstStyle/>
                    <a:p>
                      <a:pPr algn="l"/>
                      <a:r>
                        <a:rPr sz="800" b="0">
                          <a:solidFill>
                            <a:srgbClr val="2E2E2E"/>
                          </a:solidFill>
                          <a:latin typeface="Calibri"/>
                        </a:rPr>
                        <a:t>214.6</a:t>
                      </a:r>
                    </a:p>
                  </a:txBody>
                  <a:tcPr marL="85725" marR="38100" marT="19050" marB="19050" anchor="ctr">
                    <a:solidFill>
                      <a:srgbClr val="F5F8FA"/>
                    </a:solidFill>
                  </a:tcPr>
                </a:tc>
                <a:tc>
                  <a:txBody>
                    <a:bodyPr wrap="none"/>
                    <a:lstStyle/>
                    <a:p>
                      <a:pPr algn="l"/>
                      <a:r>
                        <a:rPr sz="800" b="0">
                          <a:solidFill>
                            <a:srgbClr val="2E2E2E"/>
                          </a:solidFill>
                          <a:latin typeface="Calibri"/>
                        </a:rPr>
                        <a:t>232.7</a:t>
                      </a:r>
                    </a:p>
                  </a:txBody>
                  <a:tcPr marL="85725" marR="38100" marT="19050" marB="19050" anchor="ctr">
                    <a:solidFill>
                      <a:srgbClr val="F5F8FA"/>
                    </a:solidFill>
                  </a:tcPr>
                </a:tc>
                <a:tc>
                  <a:txBody>
                    <a:bodyPr wrap="none"/>
                    <a:lstStyle/>
                    <a:p>
                      <a:pPr algn="l"/>
                      <a:r>
                        <a:rPr sz="800" b="0">
                          <a:solidFill>
                            <a:srgbClr val="2E2E2E"/>
                          </a:solidFill>
                          <a:latin typeface="Calibri"/>
                        </a:rPr>
                        <a:t>253.2</a:t>
                      </a:r>
                    </a:p>
                  </a:txBody>
                  <a:tcPr marL="85725" marR="38100" marT="19050" marB="19050" anchor="ctr">
                    <a:solidFill>
                      <a:srgbClr val="F5F8FA"/>
                    </a:solidFill>
                  </a:tcPr>
                </a:tc>
                <a:tc>
                  <a:txBody>
                    <a:bodyPr wrap="none"/>
                    <a:lstStyle/>
                    <a:p>
                      <a:pPr algn="l"/>
                      <a:r>
                        <a:rPr sz="800" b="0">
                          <a:solidFill>
                            <a:srgbClr val="2E2E2E"/>
                          </a:solidFill>
                          <a:latin typeface="Calibri"/>
                        </a:rPr>
                        <a:t>275.4</a:t>
                      </a:r>
                    </a:p>
                  </a:txBody>
                  <a:tcPr marL="85725" marR="38100" marT="19050" marB="19050" anchor="ctr">
                    <a:solidFill>
                      <a:srgbClr val="F5F8FA"/>
                    </a:solidFill>
                  </a:tcPr>
                </a:tc>
                <a:tc>
                  <a:txBody>
                    <a:bodyPr wrap="none"/>
                    <a:lstStyle/>
                    <a:p>
                      <a:pPr algn="l"/>
                      <a:r>
                        <a:rPr sz="800" b="0">
                          <a:solidFill>
                            <a:srgbClr val="2E2E2E"/>
                          </a:solidFill>
                          <a:latin typeface="Calibri"/>
                        </a:rPr>
                        <a:t>300.7</a:t>
                      </a:r>
                    </a:p>
                  </a:txBody>
                  <a:tcPr marL="85725" marR="38100" marT="19050" marB="19050" anchor="ctr">
                    <a:solidFill>
                      <a:srgbClr val="F5F8FA"/>
                    </a:solidFill>
                  </a:tcPr>
                </a:tc>
                <a:tc>
                  <a:txBody>
                    <a:bodyPr wrap="none"/>
                    <a:lstStyle/>
                    <a:p>
                      <a:pPr algn="l"/>
                      <a:r>
                        <a:rPr sz="8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0">
                          <a:solidFill>
                            <a:srgbClr val="2E2E2E"/>
                          </a:solidFill>
                          <a:latin typeface="Calibri"/>
                        </a:rPr>
                        <a:t>66.5</a:t>
                      </a:r>
                    </a:p>
                  </a:txBody>
                  <a:tcPr marL="85725" marR="38100" marT="19050" marB="19050" anchor="ctr">
                    <a:solidFill>
                      <a:srgbClr val="FFFFFF"/>
                    </a:solidFill>
                  </a:tcPr>
                </a:tc>
                <a:tc>
                  <a:txBody>
                    <a:bodyPr wrap="none"/>
                    <a:lstStyle/>
                    <a:p>
                      <a:pPr algn="l"/>
                      <a:r>
                        <a:rPr sz="800" b="0">
                          <a:solidFill>
                            <a:srgbClr val="2E2E2E"/>
                          </a:solidFill>
                          <a:latin typeface="Calibri"/>
                        </a:rPr>
                        <a:t>70.3</a:t>
                      </a:r>
                    </a:p>
                  </a:txBody>
                  <a:tcPr marL="85725" marR="38100" marT="19050" marB="19050" anchor="ctr">
                    <a:solidFill>
                      <a:srgbClr val="FFFFFF"/>
                    </a:solidFill>
                  </a:tcPr>
                </a:tc>
                <a:tc>
                  <a:txBody>
                    <a:bodyPr wrap="none"/>
                    <a:lstStyle/>
                    <a:p>
                      <a:pPr algn="l"/>
                      <a:r>
                        <a:rPr sz="800" b="0">
                          <a:solidFill>
                            <a:srgbClr val="2E2E2E"/>
                          </a:solidFill>
                          <a:latin typeface="Calibri"/>
                        </a:rPr>
                        <a:t>74.5</a:t>
                      </a:r>
                    </a:p>
                  </a:txBody>
                  <a:tcPr marL="85725" marR="38100" marT="19050" marB="19050" anchor="ctr">
                    <a:solidFill>
                      <a:srgbClr val="FFFFFF"/>
                    </a:solidFill>
                  </a:tcPr>
                </a:tc>
                <a:tc>
                  <a:txBody>
                    <a:bodyPr wrap="none"/>
                    <a:lstStyle/>
                    <a:p>
                      <a:pPr algn="l"/>
                      <a:r>
                        <a:rPr sz="800" b="0">
                          <a:solidFill>
                            <a:srgbClr val="2E2E2E"/>
                          </a:solidFill>
                          <a:latin typeface="Calibri"/>
                        </a:rPr>
                        <a:t>79.4</a:t>
                      </a:r>
                    </a:p>
                  </a:txBody>
                  <a:tcPr marL="85725" marR="38100" marT="19050" marB="19050" anchor="ctr">
                    <a:solidFill>
                      <a:srgbClr val="FFFFFF"/>
                    </a:solidFill>
                  </a:tcPr>
                </a:tc>
                <a:tc>
                  <a:txBody>
                    <a:bodyPr wrap="none"/>
                    <a:lstStyle/>
                    <a:p>
                      <a:pPr algn="l"/>
                      <a:r>
                        <a:rPr sz="800" b="0">
                          <a:solidFill>
                            <a:srgbClr val="2E2E2E"/>
                          </a:solidFill>
                          <a:latin typeface="Calibri"/>
                        </a:rPr>
                        <a:t>84.6</a:t>
                      </a:r>
                    </a:p>
                  </a:txBody>
                  <a:tcPr marL="85725" marR="38100" marT="19050" marB="19050" anchor="ctr">
                    <a:solidFill>
                      <a:srgbClr val="FFFFFF"/>
                    </a:solidFill>
                  </a:tcPr>
                </a:tc>
                <a:tc>
                  <a:txBody>
                    <a:bodyPr wrap="none"/>
                    <a:lstStyle/>
                    <a:p>
                      <a:pPr algn="l"/>
                      <a:r>
                        <a:rPr sz="800" b="0">
                          <a:solidFill>
                            <a:srgbClr val="2E2E2E"/>
                          </a:solidFill>
                          <a:latin typeface="Calibri"/>
                        </a:rPr>
                        <a:t>90.6</a:t>
                      </a:r>
                    </a:p>
                  </a:txBody>
                  <a:tcPr marL="85725" marR="38100" marT="19050" marB="19050" anchor="ctr">
                    <a:solidFill>
                      <a:srgbClr val="FFFFFF"/>
                    </a:solidFill>
                  </a:tcPr>
                </a:tc>
                <a:tc>
                  <a:txBody>
                    <a:bodyPr wrap="none"/>
                    <a:lstStyle/>
                    <a:p>
                      <a:pPr algn="l"/>
                      <a:r>
                        <a:rPr sz="800" b="0">
                          <a:solidFill>
                            <a:srgbClr val="2E2E2E"/>
                          </a:solidFill>
                          <a:latin typeface="Calibri"/>
                        </a:rPr>
                        <a:t>97.1</a:t>
                      </a:r>
                    </a:p>
                  </a:txBody>
                  <a:tcPr marL="85725" marR="38100" marT="19050" marB="19050" anchor="ctr">
                    <a:solidFill>
                      <a:srgbClr val="FFFFFF"/>
                    </a:solidFill>
                  </a:tcPr>
                </a:tc>
                <a:tc>
                  <a:txBody>
                    <a:bodyPr wrap="none"/>
                    <a:lstStyle/>
                    <a:p>
                      <a:pPr algn="l"/>
                      <a:r>
                        <a:rPr sz="800" b="0">
                          <a:solidFill>
                            <a:srgbClr val="2E2E2E"/>
                          </a:solidFill>
                          <a:latin typeface="Calibri"/>
                        </a:rPr>
                        <a:t>104.2</a:t>
                      </a:r>
                    </a:p>
                  </a:txBody>
                  <a:tcPr marL="85725" marR="38100" marT="19050" marB="19050" anchor="ctr">
                    <a:solidFill>
                      <a:srgbClr val="FFFFFF"/>
                    </a:solidFill>
                  </a:tcPr>
                </a:tc>
                <a:tc>
                  <a:txBody>
                    <a:bodyPr wrap="none"/>
                    <a:lstStyle/>
                    <a:p>
                      <a:pPr algn="l"/>
                      <a:r>
                        <a:rPr sz="800" b="0">
                          <a:solidFill>
                            <a:srgbClr val="2E2E2E"/>
                          </a:solidFill>
                          <a:latin typeface="Calibri"/>
                        </a:rPr>
                        <a:t>111.9</a:t>
                      </a:r>
                    </a:p>
                  </a:txBody>
                  <a:tcPr marL="85725" marR="38100" marT="19050" marB="19050" anchor="ctr">
                    <a:solidFill>
                      <a:srgbClr val="FFFFFF"/>
                    </a:solidFill>
                  </a:tcPr>
                </a:tc>
                <a:tc>
                  <a:txBody>
                    <a:bodyPr wrap="none"/>
                    <a:lstStyle/>
                    <a:p>
                      <a:pPr algn="l"/>
                      <a:r>
                        <a:rPr sz="800" b="0">
                          <a:solidFill>
                            <a:srgbClr val="2E2E2E"/>
                          </a:solidFill>
                          <a:latin typeface="Calibri"/>
                        </a:rPr>
                        <a:t>120.3</a:t>
                      </a:r>
                    </a:p>
                  </a:txBody>
                  <a:tcPr marL="85725" marR="38100" marT="19050" marB="19050" anchor="ctr">
                    <a:solidFill>
                      <a:srgbClr val="FFFFFF"/>
                    </a:solidFill>
                  </a:tcPr>
                </a:tc>
                <a:tc>
                  <a:txBody>
                    <a:bodyPr wrap="none"/>
                    <a:lstStyle/>
                    <a:p>
                      <a:pPr algn="l"/>
                      <a:r>
                        <a:rPr sz="800" b="0">
                          <a:solidFill>
                            <a:srgbClr val="2E2E2E"/>
                          </a:solidFill>
                          <a:latin typeface="Calibri"/>
                        </a:rPr>
                        <a:t>129.3</a:t>
                      </a:r>
                    </a:p>
                  </a:txBody>
                  <a:tcPr marL="85725" marR="38100" marT="19050" marB="19050" anchor="ctr">
                    <a:solidFill>
                      <a:srgbClr val="FFFFFF"/>
                    </a:solidFill>
                  </a:tcPr>
                </a:tc>
                <a:tc>
                  <a:txBody>
                    <a:bodyPr wrap="none"/>
                    <a:lstStyle/>
                    <a:p>
                      <a:pPr algn="l"/>
                      <a:r>
                        <a:rPr sz="800" b="0">
                          <a:solidFill>
                            <a:srgbClr val="2E2E2E"/>
                          </a:solidFill>
                          <a:latin typeface="Calibri"/>
                        </a:rPr>
                        <a:t>139.2</a:t>
                      </a:r>
                    </a:p>
                  </a:txBody>
                  <a:tcPr marL="85725" marR="38100" marT="19050" marB="19050" anchor="ctr">
                    <a:solidFill>
                      <a:srgbClr val="FFFFFF"/>
                    </a:solidFill>
                  </a:tcPr>
                </a:tc>
                <a:tc>
                  <a:txBody>
                    <a:bodyPr wrap="none"/>
                    <a:lstStyle/>
                    <a:p>
                      <a:pPr algn="l"/>
                      <a:r>
                        <a:rPr sz="800" b="0">
                          <a:solidFill>
                            <a:srgbClr val="2E2E2E"/>
                          </a:solidFill>
                          <a:latin typeface="Calibri"/>
                        </a:rPr>
                        <a:t>149.8</a:t>
                      </a:r>
                    </a:p>
                  </a:txBody>
                  <a:tcPr marL="85725" marR="38100" marT="19050" marB="19050" anchor="ctr">
                    <a:solidFill>
                      <a:srgbClr val="FFFFFF"/>
                    </a:solidFill>
                  </a:tcPr>
                </a:tc>
                <a:tc>
                  <a:txBody>
                    <a:bodyPr wrap="none"/>
                    <a:lstStyle/>
                    <a:p>
                      <a:pPr algn="l"/>
                      <a:r>
                        <a:rPr sz="800" b="0">
                          <a:solidFill>
                            <a:srgbClr val="2E2E2E"/>
                          </a:solidFill>
                          <a:latin typeface="Calibri"/>
                        </a:rPr>
                        <a:t>161.7</a:t>
                      </a:r>
                    </a:p>
                  </a:txBody>
                  <a:tcPr marL="85725" marR="38100" marT="19050" marB="19050" anchor="ctr">
                    <a:solidFill>
                      <a:srgbClr val="FFFFFF"/>
                    </a:solidFill>
                  </a:tcPr>
                </a:tc>
                <a:tc>
                  <a:txBody>
                    <a:bodyPr wrap="none"/>
                    <a:lstStyle/>
                    <a:p>
                      <a:pPr algn="l"/>
                      <a:r>
                        <a:rPr sz="800" b="0">
                          <a:solidFill>
                            <a:srgbClr val="2E2E2E"/>
                          </a:solidFill>
                          <a:latin typeface="Calibri"/>
                        </a:rPr>
                        <a:t>174.6</a:t>
                      </a:r>
                    </a:p>
                  </a:txBody>
                  <a:tcPr marL="85725" marR="38100" marT="19050" marB="19050" anchor="ctr">
                    <a:solidFill>
                      <a:srgbClr val="FFFFFF"/>
                    </a:solidFill>
                  </a:tcPr>
                </a:tc>
                <a:tc>
                  <a:txBody>
                    <a:bodyPr wrap="none"/>
                    <a:lstStyle/>
                    <a:p>
                      <a:pPr algn="l"/>
                      <a:r>
                        <a:rPr sz="800" b="0">
                          <a:solidFill>
                            <a:srgbClr val="2E2E2E"/>
                          </a:solidFill>
                          <a:latin typeface="Calibri"/>
                        </a:rPr>
                        <a:t>189.3</a:t>
                      </a:r>
                    </a:p>
                  </a:txBody>
                  <a:tcPr marL="85725" marR="38100" marT="19050" marB="19050" anchor="ctr">
                    <a:solidFill>
                      <a:srgbClr val="FFFFFF"/>
                    </a:solidFill>
                  </a:tcPr>
                </a:tc>
                <a:tc>
                  <a:txBody>
                    <a:bodyPr wrap="none"/>
                    <a:lstStyle/>
                    <a:p>
                      <a:pPr algn="l"/>
                      <a:r>
                        <a:rPr sz="800" b="0">
                          <a:solidFill>
                            <a:srgbClr val="2E2E2E"/>
                          </a:solidFill>
                          <a:latin typeface="Calibri"/>
                        </a:rPr>
                        <a:t>7.6%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0">
                          <a:solidFill>
                            <a:srgbClr val="2E2E2E"/>
                          </a:solidFill>
                          <a:latin typeface="Calibri"/>
                        </a:rPr>
                        <a:t>74.5</a:t>
                      </a:r>
                    </a:p>
                  </a:txBody>
                  <a:tcPr marL="85725" marR="38100" marT="19050" marB="19050" anchor="ctr">
                    <a:solidFill>
                      <a:srgbClr val="F5F8FA"/>
                    </a:solidFill>
                  </a:tcPr>
                </a:tc>
                <a:tc>
                  <a:txBody>
                    <a:bodyPr wrap="none"/>
                    <a:lstStyle/>
                    <a:p>
                      <a:pPr algn="l"/>
                      <a:r>
                        <a:rPr sz="800" b="0">
                          <a:solidFill>
                            <a:srgbClr val="2E2E2E"/>
                          </a:solidFill>
                          <a:latin typeface="Calibri"/>
                        </a:rPr>
                        <a:t>78.6</a:t>
                      </a:r>
                    </a:p>
                  </a:txBody>
                  <a:tcPr marL="85725" marR="38100" marT="19050" marB="19050" anchor="ctr">
                    <a:solidFill>
                      <a:srgbClr val="F5F8FA"/>
                    </a:solidFill>
                  </a:tcPr>
                </a:tc>
                <a:tc>
                  <a:txBody>
                    <a:bodyPr wrap="none"/>
                    <a:lstStyle/>
                    <a:p>
                      <a:pPr algn="l"/>
                      <a:r>
                        <a:rPr sz="800" b="0">
                          <a:solidFill>
                            <a:srgbClr val="2E2E2E"/>
                          </a:solidFill>
                          <a:latin typeface="Calibri"/>
                        </a:rPr>
                        <a:t>83.3</a:t>
                      </a:r>
                    </a:p>
                  </a:txBody>
                  <a:tcPr marL="85725" marR="38100" marT="19050" marB="19050" anchor="ctr">
                    <a:solidFill>
                      <a:srgbClr val="F5F8FA"/>
                    </a:solidFill>
                  </a:tcPr>
                </a:tc>
                <a:tc>
                  <a:txBody>
                    <a:bodyPr wrap="none"/>
                    <a:lstStyle/>
                    <a:p>
                      <a:pPr algn="l"/>
                      <a:r>
                        <a:rPr sz="800" b="0">
                          <a:solidFill>
                            <a:srgbClr val="2E2E2E"/>
                          </a:solidFill>
                          <a:latin typeface="Calibri"/>
                        </a:rPr>
                        <a:t>88.9</a:t>
                      </a:r>
                    </a:p>
                  </a:txBody>
                  <a:tcPr marL="85725" marR="38100" marT="19050" marB="19050" anchor="ctr">
                    <a:solidFill>
                      <a:srgbClr val="F5F8FA"/>
                    </a:solidFill>
                  </a:tcPr>
                </a:tc>
                <a:tc>
                  <a:txBody>
                    <a:bodyPr wrap="none"/>
                    <a:lstStyle/>
                    <a:p>
                      <a:pPr algn="l"/>
                      <a:r>
                        <a:rPr sz="800" b="0">
                          <a:solidFill>
                            <a:srgbClr val="2E2E2E"/>
                          </a:solidFill>
                          <a:latin typeface="Calibri"/>
                        </a:rPr>
                        <a:t>95.2</a:t>
                      </a:r>
                    </a:p>
                  </a:txBody>
                  <a:tcPr marL="85725" marR="38100" marT="19050" marB="19050" anchor="ctr">
                    <a:solidFill>
                      <a:srgbClr val="F5F8FA"/>
                    </a:solidFill>
                  </a:tcPr>
                </a:tc>
                <a:tc>
                  <a:txBody>
                    <a:bodyPr wrap="none"/>
                    <a:lstStyle/>
                    <a:p>
                      <a:pPr algn="l"/>
                      <a:r>
                        <a:rPr sz="800" b="0">
                          <a:solidFill>
                            <a:srgbClr val="2E2E2E"/>
                          </a:solidFill>
                          <a:latin typeface="Calibri"/>
                        </a:rPr>
                        <a:t>102.8</a:t>
                      </a:r>
                    </a:p>
                  </a:txBody>
                  <a:tcPr marL="85725" marR="38100" marT="19050" marB="19050" anchor="ctr">
                    <a:solidFill>
                      <a:srgbClr val="F5F8FA"/>
                    </a:solidFill>
                  </a:tcPr>
                </a:tc>
                <a:tc>
                  <a:txBody>
                    <a:bodyPr wrap="none"/>
                    <a:lstStyle/>
                    <a:p>
                      <a:pPr algn="l"/>
                      <a:r>
                        <a:rPr sz="800" b="0">
                          <a:solidFill>
                            <a:srgbClr val="2E2E2E"/>
                          </a:solidFill>
                          <a:latin typeface="Calibri"/>
                        </a:rPr>
                        <a:t>111.3</a:t>
                      </a:r>
                    </a:p>
                  </a:txBody>
                  <a:tcPr marL="85725" marR="38100" marT="19050" marB="19050" anchor="ctr">
                    <a:solidFill>
                      <a:srgbClr val="F5F8FA"/>
                    </a:solidFill>
                  </a:tcPr>
                </a:tc>
                <a:tc>
                  <a:txBody>
                    <a:bodyPr wrap="none"/>
                    <a:lstStyle/>
                    <a:p>
                      <a:pPr algn="l"/>
                      <a:r>
                        <a:rPr sz="800" b="0">
                          <a:solidFill>
                            <a:srgbClr val="2E2E2E"/>
                          </a:solidFill>
                          <a:latin typeface="Calibri"/>
                        </a:rPr>
                        <a:t>120.7</a:t>
                      </a:r>
                    </a:p>
                  </a:txBody>
                  <a:tcPr marL="85725" marR="38100" marT="19050" marB="19050" anchor="ctr">
                    <a:solidFill>
                      <a:srgbClr val="F5F8FA"/>
                    </a:solidFill>
                  </a:tcPr>
                </a:tc>
                <a:tc>
                  <a:txBody>
                    <a:bodyPr wrap="none"/>
                    <a:lstStyle/>
                    <a:p>
                      <a:pPr algn="l"/>
                      <a:r>
                        <a:rPr sz="800" b="0">
                          <a:solidFill>
                            <a:srgbClr val="2E2E2E"/>
                          </a:solidFill>
                          <a:latin typeface="Calibri"/>
                        </a:rPr>
                        <a:t>131.3</a:t>
                      </a:r>
                    </a:p>
                  </a:txBody>
                  <a:tcPr marL="85725" marR="38100" marT="19050" marB="19050" anchor="ctr">
                    <a:solidFill>
                      <a:srgbClr val="F5F8FA"/>
                    </a:solidFill>
                  </a:tcPr>
                </a:tc>
                <a:tc>
                  <a:txBody>
                    <a:bodyPr wrap="none"/>
                    <a:lstStyle/>
                    <a:p>
                      <a:pPr algn="l"/>
                      <a:r>
                        <a:rPr sz="800" b="0">
                          <a:solidFill>
                            <a:srgbClr val="2E2E2E"/>
                          </a:solidFill>
                          <a:latin typeface="Calibri"/>
                        </a:rPr>
                        <a:t>143.0</a:t>
                      </a:r>
                    </a:p>
                  </a:txBody>
                  <a:tcPr marL="85725" marR="38100" marT="19050" marB="19050" anchor="ctr">
                    <a:solidFill>
                      <a:srgbClr val="F5F8FA"/>
                    </a:solidFill>
                  </a:tcPr>
                </a:tc>
                <a:tc>
                  <a:txBody>
                    <a:bodyPr wrap="none"/>
                    <a:lstStyle/>
                    <a:p>
                      <a:pPr algn="l"/>
                      <a:r>
                        <a:rPr sz="800" b="0">
                          <a:solidFill>
                            <a:srgbClr val="2E2E2E"/>
                          </a:solidFill>
                          <a:latin typeface="Calibri"/>
                        </a:rPr>
                        <a:t>156.2</a:t>
                      </a:r>
                    </a:p>
                  </a:txBody>
                  <a:tcPr marL="85725" marR="38100" marT="19050" marB="19050" anchor="ctr">
                    <a:solidFill>
                      <a:srgbClr val="F5F8FA"/>
                    </a:solidFill>
                  </a:tcPr>
                </a:tc>
                <a:tc>
                  <a:txBody>
                    <a:bodyPr wrap="none"/>
                    <a:lstStyle/>
                    <a:p>
                      <a:pPr algn="l"/>
                      <a:r>
                        <a:rPr sz="800" b="0">
                          <a:solidFill>
                            <a:srgbClr val="2E2E2E"/>
                          </a:solidFill>
                          <a:latin typeface="Calibri"/>
                        </a:rPr>
                        <a:t>170.9</a:t>
                      </a:r>
                    </a:p>
                  </a:txBody>
                  <a:tcPr marL="85725" marR="38100" marT="19050" marB="19050" anchor="ctr">
                    <a:solidFill>
                      <a:srgbClr val="F5F8FA"/>
                    </a:solidFill>
                  </a:tcPr>
                </a:tc>
                <a:tc>
                  <a:txBody>
                    <a:bodyPr wrap="none"/>
                    <a:lstStyle/>
                    <a:p>
                      <a:pPr algn="l"/>
                      <a:r>
                        <a:rPr sz="800" b="0">
                          <a:solidFill>
                            <a:srgbClr val="2E2E2E"/>
                          </a:solidFill>
                          <a:latin typeface="Calibri"/>
                        </a:rPr>
                        <a:t>187.2</a:t>
                      </a:r>
                    </a:p>
                  </a:txBody>
                  <a:tcPr marL="85725" marR="38100" marT="19050" marB="19050" anchor="ctr">
                    <a:solidFill>
                      <a:srgbClr val="F5F8FA"/>
                    </a:solidFill>
                  </a:tcPr>
                </a:tc>
                <a:tc>
                  <a:txBody>
                    <a:bodyPr wrap="none"/>
                    <a:lstStyle/>
                    <a:p>
                      <a:pPr algn="l"/>
                      <a:r>
                        <a:rPr sz="800" b="0">
                          <a:solidFill>
                            <a:srgbClr val="2E2E2E"/>
                          </a:solidFill>
                          <a:latin typeface="Calibri"/>
                        </a:rPr>
                        <a:t>206.1</a:t>
                      </a:r>
                    </a:p>
                  </a:txBody>
                  <a:tcPr marL="85725" marR="38100" marT="19050" marB="19050" anchor="ctr">
                    <a:solidFill>
                      <a:srgbClr val="F5F8FA"/>
                    </a:solidFill>
                  </a:tcPr>
                </a:tc>
                <a:tc>
                  <a:txBody>
                    <a:bodyPr wrap="none"/>
                    <a:lstStyle/>
                    <a:p>
                      <a:pPr algn="l"/>
                      <a:r>
                        <a:rPr sz="800" b="0">
                          <a:solidFill>
                            <a:srgbClr val="2E2E2E"/>
                          </a:solidFill>
                          <a:latin typeface="Calibri"/>
                        </a:rPr>
                        <a:t>227.2</a:t>
                      </a:r>
                    </a:p>
                  </a:txBody>
                  <a:tcPr marL="85725" marR="38100" marT="19050" marB="19050" anchor="ctr">
                    <a:solidFill>
                      <a:srgbClr val="F5F8FA"/>
                    </a:solidFill>
                  </a:tcPr>
                </a:tc>
                <a:tc>
                  <a:txBody>
                    <a:bodyPr wrap="none"/>
                    <a:lstStyle/>
                    <a:p>
                      <a:pPr algn="l"/>
                      <a:r>
                        <a:rPr sz="800" b="0">
                          <a:solidFill>
                            <a:srgbClr val="2E2E2E"/>
                          </a:solidFill>
                          <a:latin typeface="Calibri"/>
                        </a:rPr>
                        <a:t>251.8</a:t>
                      </a:r>
                    </a:p>
                  </a:txBody>
                  <a:tcPr marL="85725" marR="38100" marT="19050" marB="19050" anchor="ctr">
                    <a:solidFill>
                      <a:srgbClr val="F5F8FA"/>
                    </a:solidFill>
                  </a:tcPr>
                </a:tc>
                <a:tc>
                  <a:txBody>
                    <a:bodyPr wrap="none"/>
                    <a:lstStyle/>
                    <a:p>
                      <a:pPr algn="l"/>
                      <a:r>
                        <a:rPr sz="800" b="0">
                          <a:solidFill>
                            <a:srgbClr val="2E2E2E"/>
                          </a:solidFill>
                          <a:latin typeface="Calibri"/>
                        </a:rPr>
                        <a:t>9.4%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0">
                          <a:solidFill>
                            <a:srgbClr val="2E2E2E"/>
                          </a:solidFill>
                          <a:latin typeface="Calibri"/>
                        </a:rPr>
                        <a:t>12.5</a:t>
                      </a:r>
                    </a:p>
                  </a:txBody>
                  <a:tcPr marL="85725" marR="38100" marT="19050" marB="19050" anchor="ctr">
                    <a:solidFill>
                      <a:srgbClr val="FFFFFF"/>
                    </a:solidFill>
                  </a:tcPr>
                </a:tc>
                <a:tc>
                  <a:txBody>
                    <a:bodyPr wrap="none"/>
                    <a:lstStyle/>
                    <a:p>
                      <a:pPr algn="l"/>
                      <a:r>
                        <a:rPr sz="800" b="0">
                          <a:solidFill>
                            <a:srgbClr val="2E2E2E"/>
                          </a:solidFill>
                          <a:latin typeface="Calibri"/>
                        </a:rPr>
                        <a:t>13.6</a:t>
                      </a:r>
                    </a:p>
                  </a:txBody>
                  <a:tcPr marL="85725" marR="38100" marT="19050" marB="19050" anchor="ctr">
                    <a:solidFill>
                      <a:srgbClr val="FFFFFF"/>
                    </a:solidFill>
                  </a:tcPr>
                </a:tc>
                <a:tc>
                  <a:txBody>
                    <a:bodyPr wrap="none"/>
                    <a:lstStyle/>
                    <a:p>
                      <a:pPr algn="l"/>
                      <a:r>
                        <a:rPr sz="800" b="0">
                          <a:solidFill>
                            <a:srgbClr val="2E2E2E"/>
                          </a:solidFill>
                          <a:latin typeface="Calibri"/>
                        </a:rPr>
                        <a:t>14.8</a:t>
                      </a:r>
                    </a:p>
                  </a:txBody>
                  <a:tcPr marL="85725" marR="38100" marT="19050" marB="19050" anchor="ctr">
                    <a:solidFill>
                      <a:srgbClr val="FFFFFF"/>
                    </a:solidFill>
                  </a:tcPr>
                </a:tc>
                <a:tc>
                  <a:txBody>
                    <a:bodyPr wrap="none"/>
                    <a:lstStyle/>
                    <a:p>
                      <a:pPr algn="l"/>
                      <a:r>
                        <a:rPr sz="800" b="0">
                          <a:solidFill>
                            <a:srgbClr val="2E2E2E"/>
                          </a:solidFill>
                          <a:latin typeface="Calibri"/>
                        </a:rPr>
                        <a:t>16.2</a:t>
                      </a:r>
                    </a:p>
                  </a:txBody>
                  <a:tcPr marL="85725" marR="38100" marT="19050" marB="19050" anchor="ctr">
                    <a:solidFill>
                      <a:srgbClr val="FFFFFF"/>
                    </a:solidFill>
                  </a:tcPr>
                </a:tc>
                <a:tc>
                  <a:txBody>
                    <a:bodyPr wrap="none"/>
                    <a:lstStyle/>
                    <a:p>
                      <a:pPr algn="l"/>
                      <a:r>
                        <a:rPr sz="800" b="0">
                          <a:solidFill>
                            <a:srgbClr val="2E2E2E"/>
                          </a:solidFill>
                          <a:latin typeface="Calibri"/>
                        </a:rPr>
                        <a:t>17.7</a:t>
                      </a:r>
                    </a:p>
                  </a:txBody>
                  <a:tcPr marL="85725" marR="38100" marT="19050" marB="19050" anchor="ctr">
                    <a:solidFill>
                      <a:srgbClr val="FFFFFF"/>
                    </a:solidFill>
                  </a:tcPr>
                </a:tc>
                <a:tc>
                  <a:txBody>
                    <a:bodyPr wrap="none"/>
                    <a:lstStyle/>
                    <a:p>
                      <a:pPr algn="l"/>
                      <a:r>
                        <a:rPr sz="800" b="0">
                          <a:solidFill>
                            <a:srgbClr val="2E2E2E"/>
                          </a:solidFill>
                          <a:latin typeface="Calibri"/>
                        </a:rPr>
                        <a:t>19.2</a:t>
                      </a:r>
                    </a:p>
                  </a:txBody>
                  <a:tcPr marL="85725" marR="38100" marT="19050" marB="19050" anchor="ctr">
                    <a:solidFill>
                      <a:srgbClr val="FFFFFF"/>
                    </a:solidFill>
                  </a:tcPr>
                </a:tc>
                <a:tc>
                  <a:txBody>
                    <a:bodyPr wrap="none"/>
                    <a:lstStyle/>
                    <a:p>
                      <a:pPr algn="l"/>
                      <a:r>
                        <a:rPr sz="800" b="0">
                          <a:solidFill>
                            <a:srgbClr val="2E2E2E"/>
                          </a:solidFill>
                          <a:latin typeface="Calibri"/>
                        </a:rPr>
                        <a:t>20.8</a:t>
                      </a:r>
                    </a:p>
                  </a:txBody>
                  <a:tcPr marL="85725" marR="38100" marT="19050" marB="19050" anchor="ctr">
                    <a:solidFill>
                      <a:srgbClr val="FFFFFF"/>
                    </a:solidFill>
                  </a:tcPr>
                </a:tc>
                <a:tc>
                  <a:txBody>
                    <a:bodyPr wrap="none"/>
                    <a:lstStyle/>
                    <a:p>
                      <a:pPr algn="l"/>
                      <a:r>
                        <a:rPr sz="800" b="0">
                          <a:solidFill>
                            <a:srgbClr val="2E2E2E"/>
                          </a:solidFill>
                          <a:latin typeface="Calibri"/>
                        </a:rPr>
                        <a:t>22.5</a:t>
                      </a:r>
                    </a:p>
                  </a:txBody>
                  <a:tcPr marL="85725" marR="38100" marT="19050" marB="19050" anchor="ctr">
                    <a:solidFill>
                      <a:srgbClr val="FFFFFF"/>
                    </a:solidFill>
                  </a:tcPr>
                </a:tc>
                <a:tc>
                  <a:txBody>
                    <a:bodyPr wrap="none"/>
                    <a:lstStyle/>
                    <a:p>
                      <a:pPr algn="l"/>
                      <a:r>
                        <a:rPr sz="800" b="0">
                          <a:solidFill>
                            <a:srgbClr val="2E2E2E"/>
                          </a:solidFill>
                          <a:latin typeface="Calibri"/>
                        </a:rPr>
                        <a:t>24.4</a:t>
                      </a:r>
                    </a:p>
                  </a:txBody>
                  <a:tcPr marL="85725" marR="38100" marT="19050" marB="19050" anchor="ctr">
                    <a:solidFill>
                      <a:srgbClr val="FFFFFF"/>
                    </a:solidFill>
                  </a:tcPr>
                </a:tc>
                <a:tc>
                  <a:txBody>
                    <a:bodyPr wrap="none"/>
                    <a:lstStyle/>
                    <a:p>
                      <a:pPr algn="l"/>
                      <a:r>
                        <a:rPr sz="800" b="0">
                          <a:solidFill>
                            <a:srgbClr val="2E2E2E"/>
                          </a:solidFill>
                          <a:latin typeface="Calibri"/>
                        </a:rPr>
                        <a:t>26.5</a:t>
                      </a:r>
                    </a:p>
                  </a:txBody>
                  <a:tcPr marL="85725" marR="38100" marT="19050" marB="19050" anchor="ctr">
                    <a:solidFill>
                      <a:srgbClr val="FFFFFF"/>
                    </a:solidFill>
                  </a:tcPr>
                </a:tc>
                <a:tc>
                  <a:txBody>
                    <a:bodyPr wrap="none"/>
                    <a:lstStyle/>
                    <a:p>
                      <a:pPr algn="l"/>
                      <a:r>
                        <a:rPr sz="800" b="0">
                          <a:solidFill>
                            <a:srgbClr val="2E2E2E"/>
                          </a:solidFill>
                          <a:latin typeface="Calibri"/>
                        </a:rPr>
                        <a:t>28.8</a:t>
                      </a:r>
                    </a:p>
                  </a:txBody>
                  <a:tcPr marL="85725" marR="38100" marT="19050" marB="19050" anchor="ctr">
                    <a:solidFill>
                      <a:srgbClr val="FFFFFF"/>
                    </a:solidFill>
                  </a:tcPr>
                </a:tc>
                <a:tc>
                  <a:txBody>
                    <a:bodyPr wrap="none"/>
                    <a:lstStyle/>
                    <a:p>
                      <a:pPr algn="l"/>
                      <a:r>
                        <a:rPr sz="800" b="0">
                          <a:solidFill>
                            <a:srgbClr val="2E2E2E"/>
                          </a:solidFill>
                          <a:latin typeface="Calibri"/>
                        </a:rPr>
                        <a:t>31.3</a:t>
                      </a:r>
                    </a:p>
                  </a:txBody>
                  <a:tcPr marL="85725" marR="38100" marT="19050" marB="19050" anchor="ctr">
                    <a:solidFill>
                      <a:srgbClr val="FFFFFF"/>
                    </a:solidFill>
                  </a:tcPr>
                </a:tc>
                <a:tc>
                  <a:txBody>
                    <a:bodyPr wrap="none"/>
                    <a:lstStyle/>
                    <a:p>
                      <a:pPr algn="l"/>
                      <a:r>
                        <a:rPr sz="800" b="0">
                          <a:solidFill>
                            <a:srgbClr val="2E2E2E"/>
                          </a:solidFill>
                          <a:latin typeface="Calibri"/>
                        </a:rPr>
                        <a:t>34.0</a:t>
                      </a:r>
                    </a:p>
                  </a:txBody>
                  <a:tcPr marL="85725" marR="38100" marT="19050" marB="19050" anchor="ctr">
                    <a:solidFill>
                      <a:srgbClr val="FFFFFF"/>
                    </a:solidFill>
                  </a:tcPr>
                </a:tc>
                <a:tc>
                  <a:txBody>
                    <a:bodyPr wrap="none"/>
                    <a:lstStyle/>
                    <a:p>
                      <a:pPr algn="l"/>
                      <a:r>
                        <a:rPr sz="800" b="0">
                          <a:solidFill>
                            <a:srgbClr val="2E2E2E"/>
                          </a:solidFill>
                          <a:latin typeface="Calibri"/>
                        </a:rPr>
                        <a:t>37.1</a:t>
                      </a:r>
                    </a:p>
                  </a:txBody>
                  <a:tcPr marL="85725" marR="38100" marT="19050" marB="19050" anchor="ctr">
                    <a:solidFill>
                      <a:srgbClr val="FFFFFF"/>
                    </a:solidFill>
                  </a:tcPr>
                </a:tc>
                <a:tc>
                  <a:txBody>
                    <a:bodyPr wrap="none"/>
                    <a:lstStyle/>
                    <a:p>
                      <a:pPr algn="l"/>
                      <a:r>
                        <a:rPr sz="800" b="0">
                          <a:solidFill>
                            <a:srgbClr val="2E2E2E"/>
                          </a:solidFill>
                          <a:latin typeface="Calibri"/>
                        </a:rPr>
                        <a:t>40.4</a:t>
                      </a:r>
                    </a:p>
                  </a:txBody>
                  <a:tcPr marL="85725" marR="38100" marT="19050" marB="19050" anchor="ctr">
                    <a:solidFill>
                      <a:srgbClr val="FFFFFF"/>
                    </a:solidFill>
                  </a:tcPr>
                </a:tc>
                <a:tc>
                  <a:txBody>
                    <a:bodyPr wrap="none"/>
                    <a:lstStyle/>
                    <a:p>
                      <a:pPr algn="l"/>
                      <a:r>
                        <a:rPr sz="800" b="0">
                          <a:solidFill>
                            <a:srgbClr val="2E2E2E"/>
                          </a:solidFill>
                          <a:latin typeface="Calibri"/>
                        </a:rPr>
                        <a:t>44.2</a:t>
                      </a:r>
                    </a:p>
                  </a:txBody>
                  <a:tcPr marL="85725" marR="38100" marT="19050" marB="19050" anchor="ctr">
                    <a:solidFill>
                      <a:srgbClr val="FFFFFF"/>
                    </a:solidFill>
                  </a:tcPr>
                </a:tc>
                <a:tc>
                  <a:txBody>
                    <a:bodyPr wrap="none"/>
                    <a:lstStyle/>
                    <a:p>
                      <a:pPr algn="l"/>
                      <a:r>
                        <a:rPr sz="800" b="0">
                          <a:solidFill>
                            <a:srgbClr val="2E2E2E"/>
                          </a:solidFill>
                          <a:latin typeface="Calibri"/>
                        </a:rPr>
                        <a:t>8.7%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0">
                          <a:solidFill>
                            <a:srgbClr val="2E2E2E"/>
                          </a:solidFill>
                          <a:latin typeface="Calibri"/>
                        </a:rPr>
                        <a:t>27.7</a:t>
                      </a:r>
                    </a:p>
                  </a:txBody>
                  <a:tcPr marL="85725" marR="38100" marT="19050" marB="19050" anchor="ctr">
                    <a:solidFill>
                      <a:srgbClr val="F5F8FA"/>
                    </a:solidFill>
                  </a:tcPr>
                </a:tc>
                <a:tc>
                  <a:txBody>
                    <a:bodyPr wrap="none"/>
                    <a:lstStyle/>
                    <a:p>
                      <a:pPr algn="l"/>
                      <a:r>
                        <a:rPr sz="800" b="0">
                          <a:solidFill>
                            <a:srgbClr val="2E2E2E"/>
                          </a:solidFill>
                          <a:latin typeface="Calibri"/>
                        </a:rPr>
                        <a:t>29.4</a:t>
                      </a:r>
                    </a:p>
                  </a:txBody>
                  <a:tcPr marL="85725" marR="38100" marT="19050" marB="19050" anchor="ctr">
                    <a:solidFill>
                      <a:srgbClr val="F5F8FA"/>
                    </a:solidFill>
                  </a:tcPr>
                </a:tc>
                <a:tc>
                  <a:txBody>
                    <a:bodyPr wrap="none"/>
                    <a:lstStyle/>
                    <a:p>
                      <a:pPr algn="l"/>
                      <a:r>
                        <a:rPr sz="800" b="0">
                          <a:solidFill>
                            <a:srgbClr val="2E2E2E"/>
                          </a:solidFill>
                          <a:latin typeface="Calibri"/>
                        </a:rPr>
                        <a:t>31.3</a:t>
                      </a:r>
                    </a:p>
                  </a:txBody>
                  <a:tcPr marL="85725" marR="38100" marT="19050" marB="19050" anchor="ctr">
                    <a:solidFill>
                      <a:srgbClr val="F5F8FA"/>
                    </a:solidFill>
                  </a:tcPr>
                </a:tc>
                <a:tc>
                  <a:txBody>
                    <a:bodyPr wrap="none"/>
                    <a:lstStyle/>
                    <a:p>
                      <a:pPr algn="l"/>
                      <a:r>
                        <a:rPr sz="800" b="0">
                          <a:solidFill>
                            <a:srgbClr val="2E2E2E"/>
                          </a:solidFill>
                          <a:latin typeface="Calibri"/>
                        </a:rPr>
                        <a:t>33.5</a:t>
                      </a:r>
                    </a:p>
                  </a:txBody>
                  <a:tcPr marL="85725" marR="38100" marT="19050" marB="19050" anchor="ctr">
                    <a:solidFill>
                      <a:srgbClr val="F5F8FA"/>
                    </a:solidFill>
                  </a:tcPr>
                </a:tc>
                <a:tc>
                  <a:txBody>
                    <a:bodyPr wrap="none"/>
                    <a:lstStyle/>
                    <a:p>
                      <a:pPr algn="l"/>
                      <a:r>
                        <a:rPr sz="800" b="0">
                          <a:solidFill>
                            <a:srgbClr val="2E2E2E"/>
                          </a:solidFill>
                          <a:latin typeface="Calibri"/>
                        </a:rPr>
                        <a:t>35.8</a:t>
                      </a:r>
                    </a:p>
                  </a:txBody>
                  <a:tcPr marL="85725" marR="38100" marT="19050" marB="19050" anchor="ctr">
                    <a:solidFill>
                      <a:srgbClr val="F5F8FA"/>
                    </a:solidFill>
                  </a:tcPr>
                </a:tc>
                <a:tc>
                  <a:txBody>
                    <a:bodyPr wrap="none"/>
                    <a:lstStyle/>
                    <a:p>
                      <a:pPr algn="l"/>
                      <a:r>
                        <a:rPr sz="800" b="0">
                          <a:solidFill>
                            <a:srgbClr val="2E2E2E"/>
                          </a:solidFill>
                          <a:latin typeface="Calibri"/>
                        </a:rPr>
                        <a:t>38.5</a:t>
                      </a:r>
                    </a:p>
                  </a:txBody>
                  <a:tcPr marL="85725" marR="38100" marT="19050" marB="19050" anchor="ctr">
                    <a:solidFill>
                      <a:srgbClr val="F5F8FA"/>
                    </a:solidFill>
                  </a:tcPr>
                </a:tc>
                <a:tc>
                  <a:txBody>
                    <a:bodyPr wrap="none"/>
                    <a:lstStyle/>
                    <a:p>
                      <a:pPr algn="l"/>
                      <a:r>
                        <a:rPr sz="800" b="0">
                          <a:solidFill>
                            <a:srgbClr val="2E2E2E"/>
                          </a:solidFill>
                          <a:latin typeface="Calibri"/>
                        </a:rPr>
                        <a:t>41.5</a:t>
                      </a:r>
                    </a:p>
                  </a:txBody>
                  <a:tcPr marL="85725" marR="38100" marT="19050" marB="19050" anchor="ctr">
                    <a:solidFill>
                      <a:srgbClr val="F5F8FA"/>
                    </a:solidFill>
                  </a:tcPr>
                </a:tc>
                <a:tc>
                  <a:txBody>
                    <a:bodyPr wrap="none"/>
                    <a:lstStyle/>
                    <a:p>
                      <a:pPr algn="l"/>
                      <a:r>
                        <a:rPr sz="800" b="0">
                          <a:solidFill>
                            <a:srgbClr val="2E2E2E"/>
                          </a:solidFill>
                          <a:latin typeface="Calibri"/>
                        </a:rPr>
                        <a:t>44.7</a:t>
                      </a:r>
                    </a:p>
                  </a:txBody>
                  <a:tcPr marL="85725" marR="38100" marT="19050" marB="19050" anchor="ctr">
                    <a:solidFill>
                      <a:srgbClr val="F5F8FA"/>
                    </a:solidFill>
                  </a:tcPr>
                </a:tc>
                <a:tc>
                  <a:txBody>
                    <a:bodyPr wrap="none"/>
                    <a:lstStyle/>
                    <a:p>
                      <a:pPr algn="l"/>
                      <a:r>
                        <a:rPr sz="800" b="0">
                          <a:solidFill>
                            <a:srgbClr val="2E2E2E"/>
                          </a:solidFill>
                          <a:latin typeface="Calibri"/>
                        </a:rPr>
                        <a:t>48.1</a:t>
                      </a:r>
                    </a:p>
                  </a:txBody>
                  <a:tcPr marL="85725" marR="38100" marT="19050" marB="19050" anchor="ctr">
                    <a:solidFill>
                      <a:srgbClr val="F5F8FA"/>
                    </a:solidFill>
                  </a:tcPr>
                </a:tc>
                <a:tc>
                  <a:txBody>
                    <a:bodyPr wrap="none"/>
                    <a:lstStyle/>
                    <a:p>
                      <a:pPr algn="l"/>
                      <a:r>
                        <a:rPr sz="800" b="0">
                          <a:solidFill>
                            <a:srgbClr val="2E2E2E"/>
                          </a:solidFill>
                          <a:latin typeface="Calibri"/>
                        </a:rPr>
                        <a:t>52.0</a:t>
                      </a:r>
                    </a:p>
                  </a:txBody>
                  <a:tcPr marL="85725" marR="38100" marT="19050" marB="19050" anchor="ctr">
                    <a:solidFill>
                      <a:srgbClr val="F5F8FA"/>
                    </a:solidFill>
                  </a:tcPr>
                </a:tc>
                <a:tc>
                  <a:txBody>
                    <a:bodyPr wrap="none"/>
                    <a:lstStyle/>
                    <a:p>
                      <a:pPr algn="l"/>
                      <a:r>
                        <a:rPr sz="800" b="0">
                          <a:solidFill>
                            <a:srgbClr val="2E2E2E"/>
                          </a:solidFill>
                          <a:latin typeface="Calibri"/>
                        </a:rPr>
                        <a:t>56.1</a:t>
                      </a:r>
                    </a:p>
                  </a:txBody>
                  <a:tcPr marL="85725" marR="38100" marT="19050" marB="19050" anchor="ctr">
                    <a:solidFill>
                      <a:srgbClr val="F5F8FA"/>
                    </a:solidFill>
                  </a:tcPr>
                </a:tc>
                <a:tc>
                  <a:txBody>
                    <a:bodyPr wrap="none"/>
                    <a:lstStyle/>
                    <a:p>
                      <a:pPr algn="l"/>
                      <a:r>
                        <a:rPr sz="800" b="0">
                          <a:solidFill>
                            <a:srgbClr val="2E2E2E"/>
                          </a:solidFill>
                          <a:latin typeface="Calibri"/>
                        </a:rPr>
                        <a:t>60.6</a:t>
                      </a:r>
                    </a:p>
                  </a:txBody>
                  <a:tcPr marL="85725" marR="38100" marT="19050" marB="19050" anchor="ctr">
                    <a:solidFill>
                      <a:srgbClr val="F5F8FA"/>
                    </a:solidFill>
                  </a:tcPr>
                </a:tc>
                <a:tc>
                  <a:txBody>
                    <a:bodyPr wrap="none"/>
                    <a:lstStyle/>
                    <a:p>
                      <a:pPr algn="l"/>
                      <a:r>
                        <a:rPr sz="800" b="0">
                          <a:solidFill>
                            <a:srgbClr val="2E2E2E"/>
                          </a:solidFill>
                          <a:latin typeface="Calibri"/>
                        </a:rPr>
                        <a:t>65.5</a:t>
                      </a:r>
                    </a:p>
                  </a:txBody>
                  <a:tcPr marL="85725" marR="38100" marT="19050" marB="19050" anchor="ctr">
                    <a:solidFill>
                      <a:srgbClr val="F5F8FA"/>
                    </a:solidFill>
                  </a:tcPr>
                </a:tc>
                <a:tc>
                  <a:txBody>
                    <a:bodyPr wrap="none"/>
                    <a:lstStyle/>
                    <a:p>
                      <a:pPr algn="l"/>
                      <a:r>
                        <a:rPr sz="800" b="0">
                          <a:solidFill>
                            <a:srgbClr val="2E2E2E"/>
                          </a:solidFill>
                          <a:latin typeface="Calibri"/>
                        </a:rPr>
                        <a:t>71.0</a:t>
                      </a:r>
                    </a:p>
                  </a:txBody>
                  <a:tcPr marL="85725" marR="38100" marT="19050" marB="19050" anchor="ctr">
                    <a:solidFill>
                      <a:srgbClr val="F5F8FA"/>
                    </a:solidFill>
                  </a:tcPr>
                </a:tc>
                <a:tc>
                  <a:txBody>
                    <a:bodyPr wrap="none"/>
                    <a:lstStyle/>
                    <a:p>
                      <a:pPr algn="l"/>
                      <a:r>
                        <a:rPr sz="800" b="0">
                          <a:solidFill>
                            <a:srgbClr val="2E2E2E"/>
                          </a:solidFill>
                          <a:latin typeface="Calibri"/>
                        </a:rPr>
                        <a:t>77.0</a:t>
                      </a:r>
                    </a:p>
                  </a:txBody>
                  <a:tcPr marL="85725" marR="38100" marT="19050" marB="19050" anchor="ctr">
                    <a:solidFill>
                      <a:srgbClr val="F5F8FA"/>
                    </a:solidFill>
                  </a:tcPr>
                </a:tc>
                <a:tc>
                  <a:txBody>
                    <a:bodyPr wrap="none"/>
                    <a:lstStyle/>
                    <a:p>
                      <a:pPr algn="l"/>
                      <a:r>
                        <a:rPr sz="800" b="0">
                          <a:solidFill>
                            <a:srgbClr val="2E2E2E"/>
                          </a:solidFill>
                          <a:latin typeface="Calibri"/>
                        </a:rPr>
                        <a:t>83.8</a:t>
                      </a:r>
                    </a:p>
                  </a:txBody>
                  <a:tcPr marL="85725" marR="38100" marT="19050" marB="19050" anchor="ctr">
                    <a:solidFill>
                      <a:srgbClr val="F5F8FA"/>
                    </a:solidFill>
                  </a:tcPr>
                </a:tc>
                <a:tc>
                  <a:txBody>
                    <a:bodyPr wrap="none"/>
                    <a:lstStyle/>
                    <a:p>
                      <a:pPr algn="l"/>
                      <a:r>
                        <a:rPr sz="800" b="0">
                          <a:solidFill>
                            <a:srgbClr val="2E2E2E"/>
                          </a:solidFill>
                          <a:latin typeface="Calibri"/>
                        </a:rPr>
                        <a:t>8.1%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End User</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End User,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End User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12668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10.2%</a:t>
                      </a:r>
                    </a:p>
                  </a:txBody>
                  <a:tcPr marL="85725" marR="38100" marT="19050" marB="19050" anchor="ctr">
                    <a:solidFill>
                      <a:srgbClr val="FFFFFF"/>
                    </a:solidFill>
                  </a:tcPr>
                </a:tc>
                <a:tc>
                  <a:txBody>
                    <a:bodyPr wrap="none"/>
                    <a:lstStyle/>
                    <a:p>
                      <a:pPr algn="l"/>
                      <a:r>
                        <a:rPr sz="800" b="1">
                          <a:solidFill>
                            <a:srgbClr val="2E7D32"/>
                          </a:solidFill>
                          <a:latin typeface="Calibri"/>
                        </a:rPr>
                        <a:t>▲ 10.1%</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7.9%</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7.6%</a:t>
                      </a:r>
                    </a:p>
                  </a:txBody>
                  <a:tcPr marL="85725" marR="38100" marT="19050" marB="19050" anchor="ctr">
                    <a:solidFill>
                      <a:srgbClr val="F5F8FA"/>
                    </a:solidFill>
                  </a:tcPr>
                </a:tc>
                <a:tc>
                  <a:txBody>
                    <a:bodyPr wrap="none"/>
                    <a:lstStyle/>
                    <a:p>
                      <a:pPr algn="l"/>
                      <a:r>
                        <a:rPr sz="800" b="1">
                          <a:solidFill>
                            <a:srgbClr val="A86F00"/>
                          </a:solidFill>
                          <a:latin typeface="Calibri"/>
                        </a:rPr>
                        <a:t>▶ 7.5%</a:t>
                      </a:r>
                    </a:p>
                  </a:txBody>
                  <a:tcPr marL="85725" marR="38100" marT="19050" marB="19050" anchor="ctr">
                    <a:solidFill>
                      <a:srgbClr val="F5F8FA"/>
                    </a:solidFill>
                  </a:tcPr>
                </a:tc>
                <a:tc>
                  <a:txBody>
                    <a:bodyPr wrap="none"/>
                    <a:lstStyle/>
                    <a:p>
                      <a:pPr algn="l"/>
                      <a:r>
                        <a:rPr sz="800" b="1">
                          <a:solidFill>
                            <a:srgbClr val="A86F00"/>
                          </a:solidFill>
                          <a:latin typeface="Calibri"/>
                        </a:rPr>
                        <a:t>▶ 7.3%</a:t>
                      </a:r>
                    </a:p>
                  </a:txBody>
                  <a:tcPr marL="85725" marR="38100" marT="19050" marB="19050" anchor="ctr">
                    <a:solidFill>
                      <a:srgbClr val="F5F8FA"/>
                    </a:solidFill>
                  </a:tcPr>
                </a:tc>
                <a:tc>
                  <a:txBody>
                    <a:bodyPr wrap="none"/>
                    <a:lstStyle/>
                    <a:p>
                      <a:pPr algn="l"/>
                      <a:r>
                        <a:rPr sz="800" b="1">
                          <a:solidFill>
                            <a:srgbClr val="A86F00"/>
                          </a:solidFill>
                          <a:latin typeface="Calibri"/>
                        </a:rPr>
                        <a:t>▶ 7.2%</a:t>
                      </a:r>
                    </a:p>
                  </a:txBody>
                  <a:tcPr marL="85725" marR="38100" marT="19050" marB="19050" anchor="ctr">
                    <a:solidFill>
                      <a:srgbClr val="F5F8FA"/>
                    </a:solidFill>
                  </a:tcPr>
                </a:tc>
                <a:tc>
                  <a:txBody>
                    <a:bodyPr wrap="none"/>
                    <a:lstStyle/>
                    <a:p>
                      <a:pPr algn="l"/>
                      <a:r>
                        <a:rPr sz="800" b="1">
                          <a:solidFill>
                            <a:srgbClr val="A86F00"/>
                          </a:solidFill>
                          <a:latin typeface="Calibri"/>
                        </a:rPr>
                        <a:t>▶ 7.0%</a:t>
                      </a:r>
                    </a:p>
                  </a:txBody>
                  <a:tcPr marL="85725" marR="38100" marT="19050" marB="19050" anchor="ctr">
                    <a:solidFill>
                      <a:srgbClr val="F5F8FA"/>
                    </a:solidFill>
                  </a:tcPr>
                </a:tc>
                <a:tc>
                  <a:txBody>
                    <a:bodyPr wrap="none"/>
                    <a:lstStyle/>
                    <a:p>
                      <a:pPr algn="l"/>
                      <a:r>
                        <a:rPr sz="800" b="1">
                          <a:solidFill>
                            <a:srgbClr val="A86F00"/>
                          </a:solidFill>
                          <a:latin typeface="Calibri"/>
                        </a:rPr>
                        <a:t>▶ 6.8%</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A86F00"/>
                          </a:solidFill>
                          <a:latin typeface="Calibri"/>
                        </a:rPr>
                        <a:t>▶ 6.9%</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End User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8" name="Table 17"/>
          <p:cNvGraphicFramePr>
            <a:graphicFrameLocks noGrp="1"/>
          </p:cNvGraphicFramePr>
          <p:nvPr/>
        </p:nvGraphicFramePr>
        <p:xfrm>
          <a:off x="238125" y="4143375"/>
          <a:ext cx="11715750" cy="126682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End User</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Hospitals &amp; Clinics</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c>
                  <a:txBody>
                    <a:bodyPr wrap="none"/>
                    <a:lstStyle/>
                    <a:p>
                      <a:pPr algn="l"/>
                      <a:r>
                        <a:rPr sz="800" b="1">
                          <a:solidFill>
                            <a:srgbClr val="A86F00"/>
                          </a:solidFill>
                          <a:latin typeface="Calibri"/>
                        </a:rPr>
                        <a:t>▶ 8.5%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Diagnostic Laboratories</a:t>
                      </a:r>
                    </a:p>
                  </a:txBody>
                  <a:tcPr marL="85725" marR="38100" marT="19050" marB="19050" anchor="ctr">
                    <a:solidFill>
                      <a:srgbClr val="F5F8FA"/>
                    </a:solidFill>
                  </a:tcPr>
                </a:tc>
                <a:tc>
                  <a:txBody>
                    <a:bodyPr wrap="none"/>
                    <a:lstStyle/>
                    <a:p>
                      <a:pPr algn="l"/>
                      <a:r>
                        <a:rPr sz="800" b="1">
                          <a:solidFill>
                            <a:srgbClr val="2E7D32"/>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Physician Offices &amp; Outpatient Centers</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8.0%</a:t>
                      </a:r>
                    </a:p>
                  </a:txBody>
                  <a:tcPr marL="85725" marR="38100" marT="19050" marB="19050" anchor="ctr">
                    <a:solidFill>
                      <a:srgbClr val="FFFFFF"/>
                    </a:solidFill>
                  </a:tcPr>
                </a:tc>
                <a:tc>
                  <a:txBody>
                    <a:bodyPr wrap="none"/>
                    <a:lstStyle/>
                    <a:p>
                      <a:pPr algn="l"/>
                      <a:r>
                        <a:rPr sz="800" b="1">
                          <a:solidFill>
                            <a:srgbClr val="A86F00"/>
                          </a:solidFill>
                          <a:latin typeface="Calibri"/>
                        </a:rPr>
                        <a:t>▶ 8.4%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Home &amp; Self-Testing</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6.7%</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Research &amp; Academic Institutions</a:t>
                      </a:r>
                    </a:p>
                  </a:txBody>
                  <a:tcPr marL="85725" marR="38100" marT="19050" marB="19050" anchor="ctr">
                    <a:solidFill>
                      <a:srgbClr val="FFFFFF"/>
                    </a:solidFill>
                  </a:tcPr>
                </a:tc>
                <a:tc>
                  <a:txBody>
                    <a:bodyPr wrap="none"/>
                    <a:lstStyle/>
                    <a:p>
                      <a:pPr algn="l"/>
                      <a:r>
                        <a:rPr sz="800" b="1">
                          <a:solidFill>
                            <a:srgbClr val="2E7D32"/>
                          </a:solidFill>
                          <a:latin typeface="Calibri"/>
                        </a:rPr>
                        <a:t>▲ 8.6%</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c>
                  <a:txBody>
                    <a:bodyPr wrap="none"/>
                    <a:lstStyle/>
                    <a:p>
                      <a:pPr algn="l"/>
                      <a:r>
                        <a:rPr sz="800" b="1">
                          <a:solidFill>
                            <a:srgbClr val="2E7D32"/>
                          </a:solidFill>
                          <a:latin typeface="Calibri"/>
                        </a:rPr>
                        <a:t>▲ 9.5%</a:t>
                      </a:r>
                    </a:p>
                  </a:txBody>
                  <a:tcPr marL="85725" marR="38100" marT="19050" marB="19050" anchor="ctr">
                    <a:solidFill>
                      <a:srgbClr val="FFFFFF"/>
                    </a:solidFill>
                  </a:tcPr>
                </a:tc>
                <a:tc>
                  <a:txBody>
                    <a:bodyPr wrap="none"/>
                    <a:lstStyle/>
                    <a:p>
                      <a:pPr algn="l"/>
                      <a:r>
                        <a:rPr sz="800" b="1">
                          <a:solidFill>
                            <a:srgbClr val="2E7D32"/>
                          </a:solidFill>
                          <a:latin typeface="Calibri"/>
                        </a:rPr>
                        <a:t>▲ 8.2%</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8.5%</a:t>
                      </a:r>
                    </a:p>
                  </a:txBody>
                  <a:tcPr marL="85725" marR="38100" marT="19050" marB="19050" anchor="ctr">
                    <a:solidFill>
                      <a:srgbClr val="FFFFFF"/>
                    </a:solidFill>
                  </a:tcPr>
                </a:tc>
                <a:tc>
                  <a:txBody>
                    <a:bodyPr wrap="none"/>
                    <a:lstStyle/>
                    <a:p>
                      <a:pPr algn="l"/>
                      <a:r>
                        <a:rPr sz="800" b="1">
                          <a:solidFill>
                            <a:srgbClr val="2E7D32"/>
                          </a:solidFill>
                          <a:latin typeface="Calibri"/>
                        </a:rPr>
                        <a:t>▲ 8.6%</a:t>
                      </a:r>
                    </a:p>
                  </a:txBody>
                  <a:tcPr marL="85725" marR="38100" marT="19050" marB="19050" anchor="ctr">
                    <a:solidFill>
                      <a:srgbClr val="FFFFFF"/>
                    </a:solidFill>
                  </a:tcPr>
                </a:tc>
                <a:tc>
                  <a:txBody>
                    <a:bodyPr wrap="none"/>
                    <a:lstStyle/>
                    <a:p>
                      <a:pPr algn="l"/>
                      <a:r>
                        <a:rPr sz="800" b="1">
                          <a:solidFill>
                            <a:srgbClr val="2E7D32"/>
                          </a:solidFill>
                          <a:latin typeface="Calibri"/>
                        </a:rPr>
                        <a:t>▲ 8.7%</a:t>
                      </a:r>
                    </a:p>
                  </a:txBody>
                  <a:tcPr marL="85725" marR="38100" marT="19050" marB="19050" anchor="ctr">
                    <a:solidFill>
                      <a:srgbClr val="FFFFFF"/>
                    </a:solidFill>
                  </a:tcPr>
                </a:tc>
                <a:tc>
                  <a:txBody>
                    <a:bodyPr wrap="none"/>
                    <a:lstStyle/>
                    <a:p>
                      <a:pPr algn="l"/>
                      <a:r>
                        <a:rPr sz="800" b="1">
                          <a:solidFill>
                            <a:srgbClr val="2E7D32"/>
                          </a:solidFill>
                          <a:latin typeface="Calibri"/>
                        </a:rPr>
                        <a:t>▲ 8.6%</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9.0%</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Public Health &amp; Screening Programs</a:t>
                      </a:r>
                    </a:p>
                  </a:txBody>
                  <a:tcPr marL="85725" marR="38100" marT="19050" marB="19050" anchor="ctr">
                    <a:solidFill>
                      <a:srgbClr val="F5F8FA"/>
                    </a:solidFill>
                  </a:tcPr>
                </a:tc>
                <a:tc>
                  <a:txBody>
                    <a:bodyPr wrap="none"/>
                    <a:lstStyle/>
                    <a:p>
                      <a:pPr algn="l"/>
                      <a:r>
                        <a:rPr sz="800" b="1">
                          <a:solidFill>
                            <a:srgbClr val="2E7D32"/>
                          </a:solidFill>
                          <a:latin typeface="Calibri"/>
                        </a:rPr>
                        <a:t>▲ 6.1%</a:t>
                      </a:r>
                    </a:p>
                  </a:txBody>
                  <a:tcPr marL="85725" marR="38100" marT="19050" marB="19050" anchor="ctr">
                    <a:solidFill>
                      <a:srgbClr val="F5F8FA"/>
                    </a:solidFill>
                  </a:tcPr>
                </a:tc>
                <a:tc>
                  <a:txBody>
                    <a:bodyPr wrap="none"/>
                    <a:lstStyle/>
                    <a:p>
                      <a:pPr algn="l"/>
                      <a:r>
                        <a:rPr sz="800" b="1">
                          <a:solidFill>
                            <a:srgbClr val="2E7D32"/>
                          </a:solidFill>
                          <a:latin typeface="Calibri"/>
                        </a:rPr>
                        <a:t>▲ 6.4%</a:t>
                      </a:r>
                    </a:p>
                  </a:txBody>
                  <a:tcPr marL="85725" marR="38100" marT="19050" marB="19050" anchor="ctr">
                    <a:solidFill>
                      <a:srgbClr val="F5F8FA"/>
                    </a:solidFill>
                  </a:tcPr>
                </a:tc>
                <a:tc>
                  <a:txBody>
                    <a:bodyPr wrap="none"/>
                    <a:lstStyle/>
                    <a:p>
                      <a:pPr algn="l"/>
                      <a:r>
                        <a:rPr sz="800" b="1">
                          <a:solidFill>
                            <a:srgbClr val="2E7D32"/>
                          </a:solidFill>
                          <a:latin typeface="Calibri"/>
                        </a:rPr>
                        <a:t>▲ 7.0%</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A86F00"/>
                          </a:solidFill>
                          <a:latin typeface="Calibri"/>
                        </a:rPr>
                        <a:t>▶ 7.7%</a:t>
                      </a:r>
                    </a:p>
                  </a:txBody>
                  <a:tcPr marL="85725" marR="38100" marT="19050" marB="19050" anchor="ctr">
                    <a:solidFill>
                      <a:srgbClr val="F5F8FA"/>
                    </a:solidFill>
                  </a:tcPr>
                </a:tc>
                <a:tc>
                  <a:txBody>
                    <a:bodyPr wrap="none"/>
                    <a:lstStyle/>
                    <a:p>
                      <a:pPr algn="l"/>
                      <a:r>
                        <a:rPr sz="800" b="1">
                          <a:solidFill>
                            <a:srgbClr val="A86F00"/>
                          </a:solidFill>
                          <a:latin typeface="Calibri"/>
                        </a:rPr>
                        <a:t>▶ 7.8%</a:t>
                      </a:r>
                    </a:p>
                  </a:txBody>
                  <a:tcPr marL="85725" marR="38100" marT="19050" marB="19050" anchor="ctr">
                    <a:solidFill>
                      <a:srgbClr val="F5F8FA"/>
                    </a:solidFill>
                  </a:tcPr>
                </a:tc>
                <a:tc>
                  <a:txBody>
                    <a:bodyPr wrap="none"/>
                    <a:lstStyle/>
                    <a:p>
                      <a:pPr algn="l"/>
                      <a:r>
                        <a:rPr sz="800" b="1">
                          <a:solidFill>
                            <a:srgbClr val="A86F00"/>
                          </a:solidFill>
                          <a:latin typeface="Calibri"/>
                        </a:rPr>
                        <a:t>▶ 7.9%</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c>
                  <a:txBody>
                    <a:bodyPr wrap="none"/>
                    <a:lstStyle/>
                    <a:p>
                      <a:pPr algn="l"/>
                      <a:r>
                        <a:rPr sz="800" b="1">
                          <a:solidFill>
                            <a:srgbClr val="A86F00"/>
                          </a:solidFill>
                          <a:latin typeface="Calibri"/>
                        </a:rPr>
                        <a:t>▶ 8.1%</a:t>
                      </a:r>
                    </a:p>
                  </a:txBody>
                  <a:tcPr marL="85725" marR="38100" marT="19050" marB="19050" anchor="ctr">
                    <a:solidFill>
                      <a:srgbClr val="F5F8FA"/>
                    </a:solidFill>
                  </a:tcPr>
                </a:tc>
                <a:tc>
                  <a:txBody>
                    <a:bodyPr wrap="none"/>
                    <a:lstStyle/>
                    <a:p>
                      <a:pPr algn="l"/>
                      <a:r>
                        <a:rPr sz="800" b="1">
                          <a:solidFill>
                            <a:srgbClr val="A86F00"/>
                          </a:solidFill>
                          <a:latin typeface="Calibri"/>
                        </a:rPr>
                        <a:t>▶ 8.0%</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8.4%</a:t>
                      </a:r>
                    </a:p>
                  </a:txBody>
                  <a:tcPr marL="85725" marR="38100" marT="19050" marB="19050" anchor="ctr">
                    <a:solidFill>
                      <a:srgbClr val="F5F8FA"/>
                    </a:solidFill>
                  </a:tcPr>
                </a:tc>
                <a:tc>
                  <a:txBody>
                    <a:bodyPr wrap="none"/>
                    <a:lstStyle/>
                    <a:p>
                      <a:pPr algn="l"/>
                      <a:r>
                        <a:rPr sz="800" b="1">
                          <a:solidFill>
                            <a:srgbClr val="A86F00"/>
                          </a:solidFill>
                          <a:latin typeface="Calibri"/>
                        </a:rPr>
                        <a:t>▶ 8.8%</a:t>
                      </a:r>
                    </a:p>
                  </a:txBody>
                  <a:tcPr marL="85725" marR="38100" marT="19050" marB="19050" anchor="ctr">
                    <a:solidFill>
                      <a:srgbClr val="F5F8FA"/>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Specimen Collected</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17</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Specimen Collected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Specimen Collected: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Specimen Collected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Specimen Collected</a:t>
            </a:r>
          </a:p>
        </p:txBody>
      </p:sp>
      <p:graphicFrame>
        <p:nvGraphicFramePr>
          <p:cNvPr id="17" name="Table 16"/>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Whole Blood</a:t>
                      </a:r>
                    </a:p>
                  </a:txBody>
                  <a:tcPr marL="85725" marR="38100" marT="19050" marB="19050" anchor="ctr">
                    <a:solidFill>
                      <a:srgbClr val="FFFFFF"/>
                    </a:solidFill>
                  </a:tcPr>
                </a:tc>
                <a:tc>
                  <a:txBody>
                    <a:bodyPr wrap="none"/>
                    <a:lstStyle/>
                    <a:p>
                      <a:pPr algn="l"/>
                      <a:r>
                        <a:rPr sz="900" b="0">
                          <a:solidFill>
                            <a:srgbClr val="2E2E2E"/>
                          </a:solidFill>
                          <a:latin typeface="Calibri"/>
                        </a:rPr>
                        <a:t>52.4%</a:t>
                      </a:r>
                    </a:p>
                  </a:txBody>
                  <a:tcPr marL="85725" marR="38100" marT="19050" marB="19050" anchor="ctr">
                    <a:solidFill>
                      <a:srgbClr val="FFFFFF"/>
                    </a:solidFill>
                  </a:tcPr>
                </a:tc>
                <a:tc>
                  <a:txBody>
                    <a:bodyPr wrap="none"/>
                    <a:lstStyle/>
                    <a:p>
                      <a:pPr algn="l"/>
                      <a:r>
                        <a:rPr sz="900" b="0">
                          <a:solidFill>
                            <a:srgbClr val="2E2E2E"/>
                          </a:solidFill>
                          <a:latin typeface="Calibri"/>
                        </a:rPr>
                        <a:t>50.2%</a:t>
                      </a:r>
                    </a:p>
                  </a:txBody>
                  <a:tcPr marL="85725" marR="38100" marT="19050" marB="19050" anchor="ctr">
                    <a:solidFill>
                      <a:srgbClr val="FFFFFF"/>
                    </a:solidFill>
                  </a:tcPr>
                </a:tc>
                <a:tc>
                  <a:txBody>
                    <a:bodyPr wrap="none"/>
                    <a:lstStyle/>
                    <a:p>
                      <a:pPr algn="l"/>
                      <a:r>
                        <a:rPr sz="900" b="1">
                          <a:solidFill>
                            <a:srgbClr val="E44D3A"/>
                          </a:solidFill>
                          <a:latin typeface="Calibri"/>
                        </a:rPr>
                        <a:t>-219</a:t>
                      </a:r>
                    </a:p>
                  </a:txBody>
                  <a:tcPr marL="85725" marR="38100" marT="19050" marB="19050" anchor="ctr">
                    <a:solidFill>
                      <a:srgbClr val="FFFFFF"/>
                    </a:solidFill>
                  </a:tcPr>
                </a:tc>
                <a:tc>
                  <a:txBody>
                    <a:bodyPr wrap="none"/>
                    <a:lstStyle/>
                    <a:p>
                      <a:pPr algn="l"/>
                      <a:r>
                        <a:rPr sz="9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Plasma</a:t>
                      </a:r>
                    </a:p>
                  </a:txBody>
                  <a:tcPr marL="85725" marR="38100" marT="19050" marB="19050" anchor="ctr">
                    <a:solidFill>
                      <a:srgbClr val="F5F8FA"/>
                    </a:solidFill>
                  </a:tcPr>
                </a:tc>
                <a:tc>
                  <a:txBody>
                    <a:bodyPr wrap="none"/>
                    <a:lstStyle/>
                    <a:p>
                      <a:pPr algn="l"/>
                      <a:r>
                        <a:rPr sz="900" b="0">
                          <a:solidFill>
                            <a:srgbClr val="2E2E2E"/>
                          </a:solidFill>
                          <a:latin typeface="Calibri"/>
                        </a:rPr>
                        <a:t>20.2%</a:t>
                      </a:r>
                    </a:p>
                  </a:txBody>
                  <a:tcPr marL="85725" marR="38100" marT="19050" marB="19050" anchor="ctr">
                    <a:solidFill>
                      <a:srgbClr val="F5F8FA"/>
                    </a:solidFill>
                  </a:tcPr>
                </a:tc>
                <a:tc>
                  <a:txBody>
                    <a:bodyPr wrap="none"/>
                    <a:lstStyle/>
                    <a:p>
                      <a:pPr algn="l"/>
                      <a:r>
                        <a:rPr sz="900" b="0">
                          <a:solidFill>
                            <a:srgbClr val="2E2E2E"/>
                          </a:solidFill>
                          <a:latin typeface="Calibri"/>
                        </a:rPr>
                        <a:t>22.5%</a:t>
                      </a:r>
                    </a:p>
                  </a:txBody>
                  <a:tcPr marL="85725" marR="38100" marT="19050" marB="19050" anchor="ctr">
                    <a:solidFill>
                      <a:srgbClr val="F5F8FA"/>
                    </a:solidFill>
                  </a:tcPr>
                </a:tc>
                <a:tc>
                  <a:txBody>
                    <a:bodyPr wrap="none"/>
                    <a:lstStyle/>
                    <a:p>
                      <a:pPr algn="l"/>
                      <a:r>
                        <a:rPr sz="900" b="1">
                          <a:solidFill>
                            <a:srgbClr val="008189"/>
                          </a:solidFill>
                          <a:latin typeface="Calibri"/>
                        </a:rPr>
                        <a:t>+234</a:t>
                      </a:r>
                    </a:p>
                  </a:txBody>
                  <a:tcPr marL="85725" marR="38100" marT="19050" marB="19050" anchor="ctr">
                    <a:solidFill>
                      <a:srgbClr val="F5F8FA"/>
                    </a:solidFill>
                  </a:tcPr>
                </a:tc>
                <a:tc>
                  <a:txBody>
                    <a:bodyPr wrap="none"/>
                    <a:lstStyle/>
                    <a:p>
                      <a:pPr algn="l"/>
                      <a:r>
                        <a:rPr sz="900" b="0">
                          <a:solidFill>
                            <a:srgbClr val="2E2E2E"/>
                          </a:solidFill>
                          <a:latin typeface="Calibri"/>
                        </a:rPr>
                        <a:t>9.4%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Serum</a:t>
                      </a:r>
                    </a:p>
                  </a:txBody>
                  <a:tcPr marL="85725" marR="38100" marT="19050" marB="19050" anchor="ctr">
                    <a:solidFill>
                      <a:srgbClr val="FFFFFF"/>
                    </a:solidFill>
                  </a:tcPr>
                </a:tc>
                <a:tc>
                  <a:txBody>
                    <a:bodyPr wrap="none"/>
                    <a:lstStyle/>
                    <a:p>
                      <a:pPr algn="l"/>
                      <a:r>
                        <a:rPr sz="900" b="0">
                          <a:solidFill>
                            <a:srgbClr val="2E2E2E"/>
                          </a:solidFill>
                          <a:latin typeface="Calibri"/>
                        </a:rPr>
                        <a:t>18.4%</a:t>
                      </a:r>
                    </a:p>
                  </a:txBody>
                  <a:tcPr marL="85725" marR="38100" marT="19050" marB="19050" anchor="ctr">
                    <a:solidFill>
                      <a:srgbClr val="FFFFFF"/>
                    </a:solidFill>
                  </a:tcPr>
                </a:tc>
                <a:tc>
                  <a:txBody>
                    <a:bodyPr wrap="none"/>
                    <a:lstStyle/>
                    <a:p>
                      <a:pPr algn="l"/>
                      <a:r>
                        <a:rPr sz="900" b="0">
                          <a:solidFill>
                            <a:srgbClr val="2E2E2E"/>
                          </a:solidFill>
                          <a:latin typeface="Calibri"/>
                        </a:rPr>
                        <a:t>14.5%</a:t>
                      </a:r>
                    </a:p>
                  </a:txBody>
                  <a:tcPr marL="85725" marR="38100" marT="19050" marB="19050" anchor="ctr">
                    <a:solidFill>
                      <a:srgbClr val="FFFFFF"/>
                    </a:solidFill>
                  </a:tcPr>
                </a:tc>
                <a:tc>
                  <a:txBody>
                    <a:bodyPr wrap="none"/>
                    <a:lstStyle/>
                    <a:p>
                      <a:pPr algn="l"/>
                      <a:r>
                        <a:rPr sz="900" b="1">
                          <a:solidFill>
                            <a:srgbClr val="E44D3A"/>
                          </a:solidFill>
                          <a:latin typeface="Calibri"/>
                        </a:rPr>
                        <a:t>-399</a:t>
                      </a:r>
                    </a:p>
                  </a:txBody>
                  <a:tcPr marL="85725" marR="38100" marT="19050" marB="19050" anchor="ctr">
                    <a:solidFill>
                      <a:srgbClr val="FFFFFF"/>
                    </a:solidFill>
                  </a:tcPr>
                </a:tc>
                <a:tc>
                  <a:txBody>
                    <a:bodyPr wrap="none"/>
                    <a:lstStyle/>
                    <a:p>
                      <a:pPr algn="l"/>
                      <a:r>
                        <a:rPr sz="900" b="0">
                          <a:solidFill>
                            <a:srgbClr val="2E2E2E"/>
                          </a:solidFill>
                          <a:latin typeface="Calibri"/>
                        </a:rPr>
                        <a:t>5.6%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900" b="0">
                          <a:solidFill>
                            <a:srgbClr val="2E2E2E"/>
                          </a:solidFill>
                          <a:latin typeface="Calibri"/>
                        </a:rPr>
                        <a:t>9.0%</a:t>
                      </a:r>
                    </a:p>
                  </a:txBody>
                  <a:tcPr marL="85725" marR="38100" marT="19050" marB="19050" anchor="ctr">
                    <a:solidFill>
                      <a:srgbClr val="F5F8FA"/>
                    </a:solidFill>
                  </a:tcPr>
                </a:tc>
                <a:tc>
                  <a:txBody>
                    <a:bodyPr wrap="none"/>
                    <a:lstStyle/>
                    <a:p>
                      <a:pPr algn="l"/>
                      <a:r>
                        <a:rPr sz="900" b="0">
                          <a:solidFill>
                            <a:srgbClr val="2E2E2E"/>
                          </a:solidFill>
                          <a:latin typeface="Calibri"/>
                        </a:rPr>
                        <a:t>12.8%</a:t>
                      </a:r>
                    </a:p>
                  </a:txBody>
                  <a:tcPr marL="85725" marR="38100" marT="19050" marB="19050" anchor="ctr">
                    <a:solidFill>
                      <a:srgbClr val="F5F8FA"/>
                    </a:solidFill>
                  </a:tcPr>
                </a:tc>
                <a:tc>
                  <a:txBody>
                    <a:bodyPr wrap="none"/>
                    <a:lstStyle/>
                    <a:p>
                      <a:pPr algn="l"/>
                      <a:r>
                        <a:rPr sz="900" b="1">
                          <a:solidFill>
                            <a:srgbClr val="008189"/>
                          </a:solidFill>
                          <a:latin typeface="Calibri"/>
                        </a:rPr>
                        <a:t>+384</a:t>
                      </a:r>
                    </a:p>
                  </a:txBody>
                  <a:tcPr marL="85725" marR="38100" marT="19050" marB="19050" anchor="ctr">
                    <a:solidFill>
                      <a:srgbClr val="F5F8FA"/>
                    </a:solidFill>
                  </a:tcPr>
                </a:tc>
                <a:tc>
                  <a:txBody>
                    <a:bodyPr wrap="none"/>
                    <a:lstStyle/>
                    <a:p>
                      <a:pPr algn="l"/>
                      <a:r>
                        <a:rPr sz="900" b="0">
                          <a:solidFill>
                            <a:srgbClr val="2E2E2E"/>
                          </a:solidFill>
                          <a:latin typeface="Calibri"/>
                        </a:rPr>
                        <a:t>12.1%</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Specimen Collected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Specimen Collected</a:t>
            </a:r>
          </a:p>
        </p:txBody>
      </p:sp>
      <p:graphicFrame>
        <p:nvGraphicFramePr>
          <p:cNvPr id="24" name="Table 23"/>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Whole Blood</a:t>
                      </a:r>
                    </a:p>
                  </a:txBody>
                  <a:tcPr marL="85725" marR="38100" marT="19050" marB="19050" anchor="ctr">
                    <a:solidFill>
                      <a:srgbClr val="FFFFFF"/>
                    </a:solidFill>
                  </a:tcPr>
                </a:tc>
                <a:tc>
                  <a:txBody>
                    <a:bodyPr wrap="none"/>
                    <a:lstStyle/>
                    <a:p>
                      <a:pPr algn="l"/>
                      <a:r>
                        <a:rPr sz="900" b="0">
                          <a:solidFill>
                            <a:srgbClr val="2E2E2E"/>
                          </a:solidFill>
                          <a:latin typeface="Calibri"/>
                        </a:rPr>
                        <a:t>52.4%</a:t>
                      </a:r>
                    </a:p>
                  </a:txBody>
                  <a:tcPr marL="85725" marR="38100" marT="19050" marB="19050" anchor="ctr">
                    <a:solidFill>
                      <a:srgbClr val="FFFFFF"/>
                    </a:solidFill>
                  </a:tcPr>
                </a:tc>
                <a:tc>
                  <a:txBody>
                    <a:bodyPr wrap="none"/>
                    <a:lstStyle/>
                    <a:p>
                      <a:pPr algn="l"/>
                      <a:r>
                        <a:rPr sz="900" b="0">
                          <a:solidFill>
                            <a:srgbClr val="2E2E2E"/>
                          </a:solidFill>
                          <a:latin typeface="Calibri"/>
                        </a:rPr>
                        <a:t>50.2%</a:t>
                      </a:r>
                    </a:p>
                  </a:txBody>
                  <a:tcPr marL="85725" marR="38100" marT="19050" marB="19050" anchor="ctr">
                    <a:solidFill>
                      <a:srgbClr val="FFFFFF"/>
                    </a:solidFill>
                  </a:tcPr>
                </a:tc>
                <a:tc>
                  <a:txBody>
                    <a:bodyPr wrap="none"/>
                    <a:lstStyle/>
                    <a:p>
                      <a:pPr algn="l"/>
                      <a:r>
                        <a:rPr sz="900" b="1">
                          <a:solidFill>
                            <a:srgbClr val="E44D3A"/>
                          </a:solidFill>
                          <a:latin typeface="Calibri"/>
                        </a:rPr>
                        <a:t>-219</a:t>
                      </a:r>
                    </a:p>
                  </a:txBody>
                  <a:tcPr marL="85725" marR="38100" marT="19050" marB="19050" anchor="ctr">
                    <a:solidFill>
                      <a:srgbClr val="FFFFFF"/>
                    </a:solidFill>
                  </a:tcPr>
                </a:tc>
                <a:tc>
                  <a:txBody>
                    <a:bodyPr wrap="none"/>
                    <a:lstStyle/>
                    <a:p>
                      <a:pPr algn="l"/>
                      <a:r>
                        <a:rPr sz="9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Plasma</a:t>
                      </a:r>
                    </a:p>
                  </a:txBody>
                  <a:tcPr marL="85725" marR="38100" marT="19050" marB="19050" anchor="ctr">
                    <a:solidFill>
                      <a:srgbClr val="F5F8FA"/>
                    </a:solidFill>
                  </a:tcPr>
                </a:tc>
                <a:tc>
                  <a:txBody>
                    <a:bodyPr wrap="none"/>
                    <a:lstStyle/>
                    <a:p>
                      <a:pPr algn="l"/>
                      <a:r>
                        <a:rPr sz="900" b="0">
                          <a:solidFill>
                            <a:srgbClr val="2E2E2E"/>
                          </a:solidFill>
                          <a:latin typeface="Calibri"/>
                        </a:rPr>
                        <a:t>20.2%</a:t>
                      </a:r>
                    </a:p>
                  </a:txBody>
                  <a:tcPr marL="85725" marR="38100" marT="19050" marB="19050" anchor="ctr">
                    <a:solidFill>
                      <a:srgbClr val="F5F8FA"/>
                    </a:solidFill>
                  </a:tcPr>
                </a:tc>
                <a:tc>
                  <a:txBody>
                    <a:bodyPr wrap="none"/>
                    <a:lstStyle/>
                    <a:p>
                      <a:pPr algn="l"/>
                      <a:r>
                        <a:rPr sz="900" b="0">
                          <a:solidFill>
                            <a:srgbClr val="2E2E2E"/>
                          </a:solidFill>
                          <a:latin typeface="Calibri"/>
                        </a:rPr>
                        <a:t>22.5%</a:t>
                      </a:r>
                    </a:p>
                  </a:txBody>
                  <a:tcPr marL="85725" marR="38100" marT="19050" marB="19050" anchor="ctr">
                    <a:solidFill>
                      <a:srgbClr val="F5F8FA"/>
                    </a:solidFill>
                  </a:tcPr>
                </a:tc>
                <a:tc>
                  <a:txBody>
                    <a:bodyPr wrap="none"/>
                    <a:lstStyle/>
                    <a:p>
                      <a:pPr algn="l"/>
                      <a:r>
                        <a:rPr sz="900" b="1">
                          <a:solidFill>
                            <a:srgbClr val="008189"/>
                          </a:solidFill>
                          <a:latin typeface="Calibri"/>
                        </a:rPr>
                        <a:t>+234</a:t>
                      </a:r>
                    </a:p>
                  </a:txBody>
                  <a:tcPr marL="85725" marR="38100" marT="19050" marB="19050" anchor="ctr">
                    <a:solidFill>
                      <a:srgbClr val="F5F8FA"/>
                    </a:solidFill>
                  </a:tcPr>
                </a:tc>
                <a:tc>
                  <a:txBody>
                    <a:bodyPr wrap="none"/>
                    <a:lstStyle/>
                    <a:p>
                      <a:pPr algn="l"/>
                      <a:r>
                        <a:rPr sz="9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Serum</a:t>
                      </a:r>
                    </a:p>
                  </a:txBody>
                  <a:tcPr marL="85725" marR="38100" marT="19050" marB="19050" anchor="ctr">
                    <a:solidFill>
                      <a:srgbClr val="FFFFFF"/>
                    </a:solidFill>
                  </a:tcPr>
                </a:tc>
                <a:tc>
                  <a:txBody>
                    <a:bodyPr wrap="none"/>
                    <a:lstStyle/>
                    <a:p>
                      <a:pPr algn="l"/>
                      <a:r>
                        <a:rPr sz="900" b="0">
                          <a:solidFill>
                            <a:srgbClr val="2E2E2E"/>
                          </a:solidFill>
                          <a:latin typeface="Calibri"/>
                        </a:rPr>
                        <a:t>18.4%</a:t>
                      </a:r>
                    </a:p>
                  </a:txBody>
                  <a:tcPr marL="85725" marR="38100" marT="19050" marB="19050" anchor="ctr">
                    <a:solidFill>
                      <a:srgbClr val="FFFFFF"/>
                    </a:solidFill>
                  </a:tcPr>
                </a:tc>
                <a:tc>
                  <a:txBody>
                    <a:bodyPr wrap="none"/>
                    <a:lstStyle/>
                    <a:p>
                      <a:pPr algn="l"/>
                      <a:r>
                        <a:rPr sz="900" b="0">
                          <a:solidFill>
                            <a:srgbClr val="2E2E2E"/>
                          </a:solidFill>
                          <a:latin typeface="Calibri"/>
                        </a:rPr>
                        <a:t>14.5%</a:t>
                      </a:r>
                    </a:p>
                  </a:txBody>
                  <a:tcPr marL="85725" marR="38100" marT="19050" marB="19050" anchor="ctr">
                    <a:solidFill>
                      <a:srgbClr val="FFFFFF"/>
                    </a:solidFill>
                  </a:tcPr>
                </a:tc>
                <a:tc>
                  <a:txBody>
                    <a:bodyPr wrap="none"/>
                    <a:lstStyle/>
                    <a:p>
                      <a:pPr algn="l"/>
                      <a:r>
                        <a:rPr sz="900" b="1">
                          <a:solidFill>
                            <a:srgbClr val="E44D3A"/>
                          </a:solidFill>
                          <a:latin typeface="Calibri"/>
                        </a:rPr>
                        <a:t>-399</a:t>
                      </a:r>
                    </a:p>
                  </a:txBody>
                  <a:tcPr marL="85725" marR="38100" marT="19050" marB="19050" anchor="ctr">
                    <a:solidFill>
                      <a:srgbClr val="FFFFFF"/>
                    </a:solidFill>
                  </a:tcPr>
                </a:tc>
                <a:tc>
                  <a:txBody>
                    <a:bodyPr wrap="none"/>
                    <a:lstStyle/>
                    <a:p>
                      <a:pPr algn="l"/>
                      <a:r>
                        <a:rPr sz="900" b="0">
                          <a:solidFill>
                            <a:srgbClr val="2E2E2E"/>
                          </a:solidFill>
                          <a:latin typeface="Calibri"/>
                        </a:rPr>
                        <a:t>4.7%</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900" b="0">
                          <a:solidFill>
                            <a:srgbClr val="2E2E2E"/>
                          </a:solidFill>
                          <a:latin typeface="Calibri"/>
                        </a:rPr>
                        <a:t>9.0%</a:t>
                      </a:r>
                    </a:p>
                  </a:txBody>
                  <a:tcPr marL="85725" marR="38100" marT="19050" marB="19050" anchor="ctr">
                    <a:solidFill>
                      <a:srgbClr val="F5F8FA"/>
                    </a:solidFill>
                  </a:tcPr>
                </a:tc>
                <a:tc>
                  <a:txBody>
                    <a:bodyPr wrap="none"/>
                    <a:lstStyle/>
                    <a:p>
                      <a:pPr algn="l"/>
                      <a:r>
                        <a:rPr sz="900" b="0">
                          <a:solidFill>
                            <a:srgbClr val="2E2E2E"/>
                          </a:solidFill>
                          <a:latin typeface="Calibri"/>
                        </a:rPr>
                        <a:t>12.8%</a:t>
                      </a:r>
                    </a:p>
                  </a:txBody>
                  <a:tcPr marL="85725" marR="38100" marT="19050" marB="19050" anchor="ctr">
                    <a:solidFill>
                      <a:srgbClr val="F5F8FA"/>
                    </a:solidFill>
                  </a:tcPr>
                </a:tc>
                <a:tc>
                  <a:txBody>
                    <a:bodyPr wrap="none"/>
                    <a:lstStyle/>
                    <a:p>
                      <a:pPr algn="l"/>
                      <a:r>
                        <a:rPr sz="900" b="1">
                          <a:solidFill>
                            <a:srgbClr val="008189"/>
                          </a:solidFill>
                          <a:latin typeface="Calibri"/>
                        </a:rPr>
                        <a:t>+384</a:t>
                      </a:r>
                    </a:p>
                  </a:txBody>
                  <a:tcPr marL="85725" marR="38100" marT="19050" marB="19050" anchor="ctr">
                    <a:solidFill>
                      <a:srgbClr val="F5F8FA"/>
                    </a:solidFill>
                  </a:tcPr>
                </a:tc>
                <a:tc>
                  <a:txBody>
                    <a:bodyPr wrap="none"/>
                    <a:lstStyle/>
                    <a:p>
                      <a:pPr algn="l"/>
                      <a:r>
                        <a:rPr sz="900" b="0">
                          <a:solidFill>
                            <a:srgbClr val="2E2E2E"/>
                          </a:solidFill>
                          <a:latin typeface="Calibri"/>
                        </a:rPr>
                        <a:t>11.1%</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Specimen Collected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Specimen Collected,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Specimen Collected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0">
                          <a:solidFill>
                            <a:srgbClr val="2E2E2E"/>
                          </a:solidFill>
                          <a:latin typeface="Calibri"/>
                        </a:rPr>
                        <a:t>285.5</a:t>
                      </a:r>
                    </a:p>
                  </a:txBody>
                  <a:tcPr marL="85725" marR="38100" marT="19050" marB="19050" anchor="ctr">
                    <a:solidFill>
                      <a:srgbClr val="FFFFFF"/>
                    </a:solidFill>
                  </a:tcPr>
                </a:tc>
                <a:tc>
                  <a:txBody>
                    <a:bodyPr wrap="none"/>
                    <a:lstStyle/>
                    <a:p>
                      <a:pPr algn="l"/>
                      <a:r>
                        <a:rPr sz="800" b="0">
                          <a:solidFill>
                            <a:srgbClr val="2E2E2E"/>
                          </a:solidFill>
                          <a:latin typeface="Calibri"/>
                        </a:rPr>
                        <a:t>305.0</a:t>
                      </a:r>
                    </a:p>
                  </a:txBody>
                  <a:tcPr marL="85725" marR="38100" marT="19050" marB="19050" anchor="ctr">
                    <a:solidFill>
                      <a:srgbClr val="FFFFFF"/>
                    </a:solidFill>
                  </a:tcPr>
                </a:tc>
                <a:tc>
                  <a:txBody>
                    <a:bodyPr wrap="none"/>
                    <a:lstStyle/>
                    <a:p>
                      <a:pPr algn="l"/>
                      <a:r>
                        <a:rPr sz="800" b="0">
                          <a:solidFill>
                            <a:srgbClr val="2E2E2E"/>
                          </a:solidFill>
                          <a:latin typeface="Calibri"/>
                        </a:rPr>
                        <a:t>326.1</a:t>
                      </a:r>
                    </a:p>
                  </a:txBody>
                  <a:tcPr marL="85725" marR="38100" marT="19050" marB="19050" anchor="ctr">
                    <a:solidFill>
                      <a:srgbClr val="FFFFFF"/>
                    </a:solidFill>
                  </a:tcPr>
                </a:tc>
                <a:tc>
                  <a:txBody>
                    <a:bodyPr wrap="none"/>
                    <a:lstStyle/>
                    <a:p>
                      <a:pPr algn="l"/>
                      <a:r>
                        <a:rPr sz="800" b="0">
                          <a:solidFill>
                            <a:srgbClr val="2E2E2E"/>
                          </a:solidFill>
                          <a:latin typeface="Calibri"/>
                        </a:rPr>
                        <a:t>349.1</a:t>
                      </a:r>
                    </a:p>
                  </a:txBody>
                  <a:tcPr marL="85725" marR="38100" marT="19050" marB="19050" anchor="ctr">
                    <a:solidFill>
                      <a:srgbClr val="FFFFFF"/>
                    </a:solidFill>
                  </a:tcPr>
                </a:tc>
                <a:tc>
                  <a:txBody>
                    <a:bodyPr wrap="none"/>
                    <a:lstStyle/>
                    <a:p>
                      <a:pPr algn="l"/>
                      <a:r>
                        <a:rPr sz="800" b="0">
                          <a:solidFill>
                            <a:srgbClr val="2E2E2E"/>
                          </a:solidFill>
                          <a:latin typeface="Calibri"/>
                        </a:rPr>
                        <a:t>373.4</a:t>
                      </a:r>
                    </a:p>
                  </a:txBody>
                  <a:tcPr marL="85725" marR="38100" marT="19050" marB="19050" anchor="ctr">
                    <a:solidFill>
                      <a:srgbClr val="FFFFFF"/>
                    </a:solidFill>
                  </a:tcPr>
                </a:tc>
                <a:tc>
                  <a:txBody>
                    <a:bodyPr wrap="none"/>
                    <a:lstStyle/>
                    <a:p>
                      <a:pPr algn="l"/>
                      <a:r>
                        <a:rPr sz="800" b="0">
                          <a:solidFill>
                            <a:srgbClr val="2E2E2E"/>
                          </a:solidFill>
                          <a:latin typeface="Calibri"/>
                        </a:rPr>
                        <a:t>401.0</a:t>
                      </a:r>
                    </a:p>
                  </a:txBody>
                  <a:tcPr marL="85725" marR="38100" marT="19050" marB="19050" anchor="ctr">
                    <a:solidFill>
                      <a:srgbClr val="FFFFFF"/>
                    </a:solidFill>
                  </a:tcPr>
                </a:tc>
                <a:tc>
                  <a:txBody>
                    <a:bodyPr wrap="none"/>
                    <a:lstStyle/>
                    <a:p>
                      <a:pPr algn="l"/>
                      <a:r>
                        <a:rPr sz="800" b="0">
                          <a:solidFill>
                            <a:srgbClr val="2E2E2E"/>
                          </a:solidFill>
                          <a:latin typeface="Calibri"/>
                        </a:rPr>
                        <a:t>430.3</a:t>
                      </a:r>
                    </a:p>
                  </a:txBody>
                  <a:tcPr marL="85725" marR="38100" marT="19050" marB="19050" anchor="ctr">
                    <a:solidFill>
                      <a:srgbClr val="FFFFFF"/>
                    </a:solidFill>
                  </a:tcPr>
                </a:tc>
                <a:tc>
                  <a:txBody>
                    <a:bodyPr wrap="none"/>
                    <a:lstStyle/>
                    <a:p>
                      <a:pPr algn="l"/>
                      <a:r>
                        <a:rPr sz="800" b="0">
                          <a:solidFill>
                            <a:srgbClr val="2E2E2E"/>
                          </a:solidFill>
                          <a:latin typeface="Calibri"/>
                        </a:rPr>
                        <a:t>461.1</a:t>
                      </a:r>
                    </a:p>
                  </a:txBody>
                  <a:tcPr marL="85725" marR="38100" marT="19050" marB="19050" anchor="ctr">
                    <a:solidFill>
                      <a:srgbClr val="FFFFFF"/>
                    </a:solidFill>
                  </a:tcPr>
                </a:tc>
                <a:tc>
                  <a:txBody>
                    <a:bodyPr wrap="none"/>
                    <a:lstStyle/>
                    <a:p>
                      <a:pPr algn="l"/>
                      <a:r>
                        <a:rPr sz="800" b="0">
                          <a:solidFill>
                            <a:srgbClr val="2E2E2E"/>
                          </a:solidFill>
                          <a:latin typeface="Calibri"/>
                        </a:rPr>
                        <a:t>493.7</a:t>
                      </a:r>
                    </a:p>
                  </a:txBody>
                  <a:tcPr marL="85725" marR="38100" marT="19050" marB="19050" anchor="ctr">
                    <a:solidFill>
                      <a:srgbClr val="FFFFFF"/>
                    </a:solidFill>
                  </a:tcPr>
                </a:tc>
                <a:tc>
                  <a:txBody>
                    <a:bodyPr wrap="none"/>
                    <a:lstStyle/>
                    <a:p>
                      <a:pPr algn="l"/>
                      <a:r>
                        <a:rPr sz="800" b="0">
                          <a:solidFill>
                            <a:srgbClr val="2E2E2E"/>
                          </a:solidFill>
                          <a:latin typeface="Calibri"/>
                        </a:rPr>
                        <a:t>527.8</a:t>
                      </a:r>
                    </a:p>
                  </a:txBody>
                  <a:tcPr marL="85725" marR="38100" marT="19050" marB="19050" anchor="ctr">
                    <a:solidFill>
                      <a:srgbClr val="FFFFFF"/>
                    </a:solidFill>
                  </a:tcPr>
                </a:tc>
                <a:tc>
                  <a:txBody>
                    <a:bodyPr wrap="none"/>
                    <a:lstStyle/>
                    <a:p>
                      <a:pPr algn="l"/>
                      <a:r>
                        <a:rPr sz="800" b="0">
                          <a:solidFill>
                            <a:srgbClr val="2E2E2E"/>
                          </a:solidFill>
                          <a:latin typeface="Calibri"/>
                        </a:rPr>
                        <a:t>563.6</a:t>
                      </a:r>
                    </a:p>
                  </a:txBody>
                  <a:tcPr marL="85725" marR="38100" marT="19050" marB="19050" anchor="ctr">
                    <a:solidFill>
                      <a:srgbClr val="FFFFFF"/>
                    </a:solidFill>
                  </a:tcPr>
                </a:tc>
                <a:tc>
                  <a:txBody>
                    <a:bodyPr wrap="none"/>
                    <a:lstStyle/>
                    <a:p>
                      <a:pPr algn="l"/>
                      <a:r>
                        <a:rPr sz="800" b="0">
                          <a:solidFill>
                            <a:srgbClr val="2E2E2E"/>
                          </a:solidFill>
                          <a:latin typeface="Calibri"/>
                        </a:rPr>
                        <a:t>601.1</a:t>
                      </a:r>
                    </a:p>
                  </a:txBody>
                  <a:tcPr marL="85725" marR="38100" marT="19050" marB="19050" anchor="ctr">
                    <a:solidFill>
                      <a:srgbClr val="FFFFFF"/>
                    </a:solidFill>
                  </a:tcPr>
                </a:tc>
                <a:tc>
                  <a:txBody>
                    <a:bodyPr wrap="none"/>
                    <a:lstStyle/>
                    <a:p>
                      <a:pPr algn="l"/>
                      <a:r>
                        <a:rPr sz="800" b="0">
                          <a:solidFill>
                            <a:srgbClr val="2E2E2E"/>
                          </a:solidFill>
                          <a:latin typeface="Calibri"/>
                        </a:rPr>
                        <a:t>639.9</a:t>
                      </a:r>
                    </a:p>
                  </a:txBody>
                  <a:tcPr marL="85725" marR="38100" marT="19050" marB="19050" anchor="ctr">
                    <a:solidFill>
                      <a:srgbClr val="FFFFFF"/>
                    </a:solidFill>
                  </a:tcPr>
                </a:tc>
                <a:tc>
                  <a:txBody>
                    <a:bodyPr wrap="none"/>
                    <a:lstStyle/>
                    <a:p>
                      <a:pPr algn="l"/>
                      <a:r>
                        <a:rPr sz="800" b="0">
                          <a:solidFill>
                            <a:srgbClr val="2E2E2E"/>
                          </a:solidFill>
                          <a:latin typeface="Calibri"/>
                        </a:rPr>
                        <a:t>682.4</a:t>
                      </a:r>
                    </a:p>
                  </a:txBody>
                  <a:tcPr marL="85725" marR="38100" marT="19050" marB="19050" anchor="ctr">
                    <a:solidFill>
                      <a:srgbClr val="FFFFFF"/>
                    </a:solidFill>
                  </a:tcPr>
                </a:tc>
                <a:tc>
                  <a:txBody>
                    <a:bodyPr wrap="none"/>
                    <a:lstStyle/>
                    <a:p>
                      <a:pPr algn="l"/>
                      <a:r>
                        <a:rPr sz="800" b="0">
                          <a:solidFill>
                            <a:srgbClr val="2E2E2E"/>
                          </a:solidFill>
                          <a:latin typeface="Calibri"/>
                        </a:rPr>
                        <a:t>725.9</a:t>
                      </a:r>
                    </a:p>
                  </a:txBody>
                  <a:tcPr marL="85725" marR="38100" marT="19050" marB="19050" anchor="ctr">
                    <a:solidFill>
                      <a:srgbClr val="FFFFFF"/>
                    </a:solidFill>
                  </a:tcPr>
                </a:tc>
                <a:tc>
                  <a:txBody>
                    <a:bodyPr wrap="none"/>
                    <a:lstStyle/>
                    <a:p>
                      <a:pPr algn="l"/>
                      <a:r>
                        <a:rPr sz="800" b="0">
                          <a:solidFill>
                            <a:srgbClr val="2E2E2E"/>
                          </a:solidFill>
                          <a:latin typeface="Calibri"/>
                        </a:rPr>
                        <a:t>773.9</a:t>
                      </a:r>
                    </a:p>
                  </a:txBody>
                  <a:tcPr marL="85725" marR="38100" marT="19050" marB="19050" anchor="ctr">
                    <a:solidFill>
                      <a:srgbClr val="FFFFFF"/>
                    </a:solidFill>
                  </a:tcPr>
                </a:tc>
                <a:tc>
                  <a:txBody>
                    <a:bodyPr wrap="none"/>
                    <a:lstStyle/>
                    <a:p>
                      <a:pPr algn="l"/>
                      <a:r>
                        <a:rPr sz="800" b="0">
                          <a:solidFill>
                            <a:srgbClr val="2E2E2E"/>
                          </a:solidFill>
                          <a:latin typeface="Calibri"/>
                        </a:rPr>
                        <a:t>6.8%</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0">
                          <a:solidFill>
                            <a:srgbClr val="2E2E2E"/>
                          </a:solidFill>
                          <a:latin typeface="Calibri"/>
                        </a:rPr>
                        <a:t>102.0</a:t>
                      </a:r>
                    </a:p>
                  </a:txBody>
                  <a:tcPr marL="85725" marR="38100" marT="19050" marB="19050" anchor="ctr">
                    <a:solidFill>
                      <a:srgbClr val="F5F8FA"/>
                    </a:solidFill>
                  </a:tcPr>
                </a:tc>
                <a:tc>
                  <a:txBody>
                    <a:bodyPr wrap="none"/>
                    <a:lstStyle/>
                    <a:p>
                      <a:pPr algn="l"/>
                      <a:r>
                        <a:rPr sz="800" b="0">
                          <a:solidFill>
                            <a:srgbClr val="2E2E2E"/>
                          </a:solidFill>
                          <a:latin typeface="Calibri"/>
                        </a:rPr>
                        <a:t>110.6</a:t>
                      </a:r>
                    </a:p>
                  </a:txBody>
                  <a:tcPr marL="85725" marR="38100" marT="19050" marB="19050" anchor="ctr">
                    <a:solidFill>
                      <a:srgbClr val="F5F8FA"/>
                    </a:solidFill>
                  </a:tcPr>
                </a:tc>
                <a:tc>
                  <a:txBody>
                    <a:bodyPr wrap="none"/>
                    <a:lstStyle/>
                    <a:p>
                      <a:pPr algn="l"/>
                      <a:r>
                        <a:rPr sz="800" b="0">
                          <a:solidFill>
                            <a:srgbClr val="2E2E2E"/>
                          </a:solidFill>
                          <a:latin typeface="Calibri"/>
                        </a:rPr>
                        <a:t>120.0</a:t>
                      </a:r>
                    </a:p>
                  </a:txBody>
                  <a:tcPr marL="85725" marR="38100" marT="19050" marB="19050" anchor="ctr">
                    <a:solidFill>
                      <a:srgbClr val="F5F8FA"/>
                    </a:solidFill>
                  </a:tcPr>
                </a:tc>
                <a:tc>
                  <a:txBody>
                    <a:bodyPr wrap="none"/>
                    <a:lstStyle/>
                    <a:p>
                      <a:pPr algn="l"/>
                      <a:r>
                        <a:rPr sz="800" b="0">
                          <a:solidFill>
                            <a:srgbClr val="2E2E2E"/>
                          </a:solidFill>
                          <a:latin typeface="Calibri"/>
                        </a:rPr>
                        <a:t>130.4</a:t>
                      </a:r>
                    </a:p>
                  </a:txBody>
                  <a:tcPr marL="85725" marR="38100" marT="19050" marB="19050" anchor="ctr">
                    <a:solidFill>
                      <a:srgbClr val="F5F8FA"/>
                    </a:solidFill>
                  </a:tcPr>
                </a:tc>
                <a:tc>
                  <a:txBody>
                    <a:bodyPr wrap="none"/>
                    <a:lstStyle/>
                    <a:p>
                      <a:pPr algn="l"/>
                      <a:r>
                        <a:rPr sz="800" b="0">
                          <a:solidFill>
                            <a:srgbClr val="2E2E2E"/>
                          </a:solidFill>
                          <a:latin typeface="Calibri"/>
                        </a:rPr>
                        <a:t>141.6</a:t>
                      </a:r>
                    </a:p>
                  </a:txBody>
                  <a:tcPr marL="85725" marR="38100" marT="19050" marB="19050" anchor="ctr">
                    <a:solidFill>
                      <a:srgbClr val="F5F8FA"/>
                    </a:solidFill>
                  </a:tcPr>
                </a:tc>
                <a:tc>
                  <a:txBody>
                    <a:bodyPr wrap="none"/>
                    <a:lstStyle/>
                    <a:p>
                      <a:pPr algn="l"/>
                      <a:r>
                        <a:rPr sz="800" b="0">
                          <a:solidFill>
                            <a:srgbClr val="2E2E2E"/>
                          </a:solidFill>
                          <a:latin typeface="Calibri"/>
                        </a:rPr>
                        <a:t>154.4</a:t>
                      </a:r>
                    </a:p>
                  </a:txBody>
                  <a:tcPr marL="85725" marR="38100" marT="19050" marB="19050" anchor="ctr">
                    <a:solidFill>
                      <a:srgbClr val="F5F8FA"/>
                    </a:solidFill>
                  </a:tcPr>
                </a:tc>
                <a:tc>
                  <a:txBody>
                    <a:bodyPr wrap="none"/>
                    <a:lstStyle/>
                    <a:p>
                      <a:pPr algn="l"/>
                      <a:r>
                        <a:rPr sz="800" b="0">
                          <a:solidFill>
                            <a:srgbClr val="2E2E2E"/>
                          </a:solidFill>
                          <a:latin typeface="Calibri"/>
                        </a:rPr>
                        <a:t>168.3</a:t>
                      </a:r>
                    </a:p>
                  </a:txBody>
                  <a:tcPr marL="85725" marR="38100" marT="19050" marB="19050" anchor="ctr">
                    <a:solidFill>
                      <a:srgbClr val="F5F8FA"/>
                    </a:solidFill>
                  </a:tcPr>
                </a:tc>
                <a:tc>
                  <a:txBody>
                    <a:bodyPr wrap="none"/>
                    <a:lstStyle/>
                    <a:p>
                      <a:pPr algn="l"/>
                      <a:r>
                        <a:rPr sz="800" b="0">
                          <a:solidFill>
                            <a:srgbClr val="2E2E2E"/>
                          </a:solidFill>
                          <a:latin typeface="Calibri"/>
                        </a:rPr>
                        <a:t>183.1</a:t>
                      </a:r>
                    </a:p>
                  </a:txBody>
                  <a:tcPr marL="85725" marR="38100" marT="19050" marB="19050" anchor="ctr">
                    <a:solidFill>
                      <a:srgbClr val="F5F8FA"/>
                    </a:solidFill>
                  </a:tcPr>
                </a:tc>
                <a:tc>
                  <a:txBody>
                    <a:bodyPr wrap="none"/>
                    <a:lstStyle/>
                    <a:p>
                      <a:pPr algn="l"/>
                      <a:r>
                        <a:rPr sz="800" b="0">
                          <a:solidFill>
                            <a:srgbClr val="2E2E2E"/>
                          </a:solidFill>
                          <a:latin typeface="Calibri"/>
                        </a:rPr>
                        <a:t>199.1</a:t>
                      </a:r>
                    </a:p>
                  </a:txBody>
                  <a:tcPr marL="85725" marR="38100" marT="19050" marB="19050" anchor="ctr">
                    <a:solidFill>
                      <a:srgbClr val="F5F8FA"/>
                    </a:solidFill>
                  </a:tcPr>
                </a:tc>
                <a:tc>
                  <a:txBody>
                    <a:bodyPr wrap="none"/>
                    <a:lstStyle/>
                    <a:p>
                      <a:pPr algn="l"/>
                      <a:r>
                        <a:rPr sz="800" b="0">
                          <a:solidFill>
                            <a:srgbClr val="2E2E2E"/>
                          </a:solidFill>
                          <a:latin typeface="Calibri"/>
                        </a:rPr>
                        <a:t>216.2</a:t>
                      </a:r>
                    </a:p>
                  </a:txBody>
                  <a:tcPr marL="85725" marR="38100" marT="19050" marB="19050" anchor="ctr">
                    <a:solidFill>
                      <a:srgbClr val="F5F8FA"/>
                    </a:solidFill>
                  </a:tcPr>
                </a:tc>
                <a:tc>
                  <a:txBody>
                    <a:bodyPr wrap="none"/>
                    <a:lstStyle/>
                    <a:p>
                      <a:pPr algn="l"/>
                      <a:r>
                        <a:rPr sz="800" b="0">
                          <a:solidFill>
                            <a:srgbClr val="2E2E2E"/>
                          </a:solidFill>
                          <a:latin typeface="Calibri"/>
                        </a:rPr>
                        <a:t>234.5</a:t>
                      </a:r>
                    </a:p>
                  </a:txBody>
                  <a:tcPr marL="85725" marR="38100" marT="19050" marB="19050" anchor="ctr">
                    <a:solidFill>
                      <a:srgbClr val="F5F8FA"/>
                    </a:solidFill>
                  </a:tcPr>
                </a:tc>
                <a:tc>
                  <a:txBody>
                    <a:bodyPr wrap="none"/>
                    <a:lstStyle/>
                    <a:p>
                      <a:pPr algn="l"/>
                      <a:r>
                        <a:rPr sz="800" b="0">
                          <a:solidFill>
                            <a:srgbClr val="2E2E2E"/>
                          </a:solidFill>
                          <a:latin typeface="Calibri"/>
                        </a:rPr>
                        <a:t>253.9</a:t>
                      </a:r>
                    </a:p>
                  </a:txBody>
                  <a:tcPr marL="85725" marR="38100" marT="19050" marB="19050" anchor="ctr">
                    <a:solidFill>
                      <a:srgbClr val="F5F8FA"/>
                    </a:solidFill>
                  </a:tcPr>
                </a:tc>
                <a:tc>
                  <a:txBody>
                    <a:bodyPr wrap="none"/>
                    <a:lstStyle/>
                    <a:p>
                      <a:pPr algn="l"/>
                      <a:r>
                        <a:rPr sz="800" b="0">
                          <a:solidFill>
                            <a:srgbClr val="2E2E2E"/>
                          </a:solidFill>
                          <a:latin typeface="Calibri"/>
                        </a:rPr>
                        <a:t>274.4</a:t>
                      </a:r>
                    </a:p>
                  </a:txBody>
                  <a:tcPr marL="85725" marR="38100" marT="19050" marB="19050" anchor="ctr">
                    <a:solidFill>
                      <a:srgbClr val="F5F8FA"/>
                    </a:solidFill>
                  </a:tcPr>
                </a:tc>
                <a:tc>
                  <a:txBody>
                    <a:bodyPr wrap="none"/>
                    <a:lstStyle/>
                    <a:p>
                      <a:pPr algn="l"/>
                      <a:r>
                        <a:rPr sz="800" b="0">
                          <a:solidFill>
                            <a:srgbClr val="2E2E2E"/>
                          </a:solidFill>
                          <a:latin typeface="Calibri"/>
                        </a:rPr>
                        <a:t>297.0</a:t>
                      </a:r>
                    </a:p>
                  </a:txBody>
                  <a:tcPr marL="85725" marR="38100" marT="19050" marB="19050" anchor="ctr">
                    <a:solidFill>
                      <a:srgbClr val="F5F8FA"/>
                    </a:solidFill>
                  </a:tcPr>
                </a:tc>
                <a:tc>
                  <a:txBody>
                    <a:bodyPr wrap="none"/>
                    <a:lstStyle/>
                    <a:p>
                      <a:pPr algn="l"/>
                      <a:r>
                        <a:rPr sz="800" b="0">
                          <a:solidFill>
                            <a:srgbClr val="2E2E2E"/>
                          </a:solidFill>
                          <a:latin typeface="Calibri"/>
                        </a:rPr>
                        <a:t>320.7</a:t>
                      </a:r>
                    </a:p>
                  </a:txBody>
                  <a:tcPr marL="85725" marR="38100" marT="19050" marB="19050" anchor="ctr">
                    <a:solidFill>
                      <a:srgbClr val="F5F8FA"/>
                    </a:solidFill>
                  </a:tcPr>
                </a:tc>
                <a:tc>
                  <a:txBody>
                    <a:bodyPr wrap="none"/>
                    <a:lstStyle/>
                    <a:p>
                      <a:pPr algn="l"/>
                      <a:r>
                        <a:rPr sz="800" b="0">
                          <a:solidFill>
                            <a:srgbClr val="2E2E2E"/>
                          </a:solidFill>
                          <a:latin typeface="Calibri"/>
                        </a:rPr>
                        <a:t>347.1</a:t>
                      </a:r>
                    </a:p>
                  </a:txBody>
                  <a:tcPr marL="85725" marR="38100" marT="19050" marB="19050" anchor="ctr">
                    <a:solidFill>
                      <a:srgbClr val="F5F8FA"/>
                    </a:solidFill>
                  </a:tcPr>
                </a:tc>
                <a:tc>
                  <a:txBody>
                    <a:bodyPr wrap="none"/>
                    <a:lstStyle/>
                    <a:p>
                      <a:pPr algn="l"/>
                      <a:r>
                        <a:rPr sz="800" b="0">
                          <a:solidFill>
                            <a:srgbClr val="2E2E2E"/>
                          </a:solidFill>
                          <a:latin typeface="Calibri"/>
                        </a:rPr>
                        <a:t>8.4%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0">
                          <a:solidFill>
                            <a:srgbClr val="2E2E2E"/>
                          </a:solidFill>
                          <a:latin typeface="Calibri"/>
                        </a:rPr>
                        <a:t>109.4</a:t>
                      </a:r>
                    </a:p>
                  </a:txBody>
                  <a:tcPr marL="85725" marR="38100" marT="19050" marB="19050" anchor="ctr">
                    <a:solidFill>
                      <a:srgbClr val="FFFFFF"/>
                    </a:solidFill>
                  </a:tcPr>
                </a:tc>
                <a:tc>
                  <a:txBody>
                    <a:bodyPr wrap="none"/>
                    <a:lstStyle/>
                    <a:p>
                      <a:pPr algn="l"/>
                      <a:r>
                        <a:rPr sz="800" b="0">
                          <a:solidFill>
                            <a:srgbClr val="2E2E2E"/>
                          </a:solidFill>
                          <a:latin typeface="Calibri"/>
                        </a:rPr>
                        <a:t>115.1</a:t>
                      </a:r>
                    </a:p>
                  </a:txBody>
                  <a:tcPr marL="85725" marR="38100" marT="19050" marB="19050" anchor="ctr">
                    <a:solidFill>
                      <a:srgbClr val="FFFFFF"/>
                    </a:solidFill>
                  </a:tcPr>
                </a:tc>
                <a:tc>
                  <a:txBody>
                    <a:bodyPr wrap="none"/>
                    <a:lstStyle/>
                    <a:p>
                      <a:pPr algn="l"/>
                      <a:r>
                        <a:rPr sz="800" b="0">
                          <a:solidFill>
                            <a:srgbClr val="2E2E2E"/>
                          </a:solidFill>
                          <a:latin typeface="Calibri"/>
                        </a:rPr>
                        <a:t>121.0</a:t>
                      </a:r>
                    </a:p>
                  </a:txBody>
                  <a:tcPr marL="85725" marR="38100" marT="19050" marB="19050" anchor="ctr">
                    <a:solidFill>
                      <a:srgbClr val="FFFFFF"/>
                    </a:solidFill>
                  </a:tcPr>
                </a:tc>
                <a:tc>
                  <a:txBody>
                    <a:bodyPr wrap="none"/>
                    <a:lstStyle/>
                    <a:p>
                      <a:pPr algn="l"/>
                      <a:r>
                        <a:rPr sz="800" b="0">
                          <a:solidFill>
                            <a:srgbClr val="2E2E2E"/>
                          </a:solidFill>
                          <a:latin typeface="Calibri"/>
                        </a:rPr>
                        <a:t>127.4</a:t>
                      </a:r>
                    </a:p>
                  </a:txBody>
                  <a:tcPr marL="85725" marR="38100" marT="19050" marB="19050" anchor="ctr">
                    <a:solidFill>
                      <a:srgbClr val="FFFFFF"/>
                    </a:solidFill>
                  </a:tcPr>
                </a:tc>
                <a:tc>
                  <a:txBody>
                    <a:bodyPr wrap="none"/>
                    <a:lstStyle/>
                    <a:p>
                      <a:pPr algn="l"/>
                      <a:r>
                        <a:rPr sz="800" b="0">
                          <a:solidFill>
                            <a:srgbClr val="2E2E2E"/>
                          </a:solidFill>
                          <a:latin typeface="Calibri"/>
                        </a:rPr>
                        <a:t>133.9</a:t>
                      </a:r>
                    </a:p>
                  </a:txBody>
                  <a:tcPr marL="85725" marR="38100" marT="19050" marB="19050" anchor="ctr">
                    <a:solidFill>
                      <a:srgbClr val="FFFFFF"/>
                    </a:solidFill>
                  </a:tcPr>
                </a:tc>
                <a:tc>
                  <a:txBody>
                    <a:bodyPr wrap="none"/>
                    <a:lstStyle/>
                    <a:p>
                      <a:pPr algn="l"/>
                      <a:r>
                        <a:rPr sz="800" b="0">
                          <a:solidFill>
                            <a:srgbClr val="2E2E2E"/>
                          </a:solidFill>
                          <a:latin typeface="Calibri"/>
                        </a:rPr>
                        <a:t>141.2</a:t>
                      </a:r>
                    </a:p>
                  </a:txBody>
                  <a:tcPr marL="85725" marR="38100" marT="19050" marB="19050" anchor="ctr">
                    <a:solidFill>
                      <a:srgbClr val="FFFFFF"/>
                    </a:solidFill>
                  </a:tcPr>
                </a:tc>
                <a:tc>
                  <a:txBody>
                    <a:bodyPr wrap="none"/>
                    <a:lstStyle/>
                    <a:p>
                      <a:pPr algn="l"/>
                      <a:r>
                        <a:rPr sz="800" b="0">
                          <a:solidFill>
                            <a:srgbClr val="2E2E2E"/>
                          </a:solidFill>
                          <a:latin typeface="Calibri"/>
                        </a:rPr>
                        <a:t>148.8</a:t>
                      </a:r>
                    </a:p>
                  </a:txBody>
                  <a:tcPr marL="85725" marR="38100" marT="19050" marB="19050" anchor="ctr">
                    <a:solidFill>
                      <a:srgbClr val="FFFFFF"/>
                    </a:solidFill>
                  </a:tcPr>
                </a:tc>
                <a:tc>
                  <a:txBody>
                    <a:bodyPr wrap="none"/>
                    <a:lstStyle/>
                    <a:p>
                      <a:pPr algn="l"/>
                      <a:r>
                        <a:rPr sz="800" b="0">
                          <a:solidFill>
                            <a:srgbClr val="2E2E2E"/>
                          </a:solidFill>
                          <a:latin typeface="Calibri"/>
                        </a:rPr>
                        <a:t>156.4</a:t>
                      </a:r>
                    </a:p>
                  </a:txBody>
                  <a:tcPr marL="85725" marR="38100" marT="19050" marB="19050" anchor="ctr">
                    <a:solidFill>
                      <a:srgbClr val="FFFFFF"/>
                    </a:solidFill>
                  </a:tcPr>
                </a:tc>
                <a:tc>
                  <a:txBody>
                    <a:bodyPr wrap="none"/>
                    <a:lstStyle/>
                    <a:p>
                      <a:pPr algn="l"/>
                      <a:r>
                        <a:rPr sz="800" b="0">
                          <a:solidFill>
                            <a:srgbClr val="2E2E2E"/>
                          </a:solidFill>
                          <a:latin typeface="Calibri"/>
                        </a:rPr>
                        <a:t>164.3</a:t>
                      </a:r>
                    </a:p>
                  </a:txBody>
                  <a:tcPr marL="85725" marR="38100" marT="19050" marB="19050" anchor="ctr">
                    <a:solidFill>
                      <a:srgbClr val="FFFFFF"/>
                    </a:solidFill>
                  </a:tcPr>
                </a:tc>
                <a:tc>
                  <a:txBody>
                    <a:bodyPr wrap="none"/>
                    <a:lstStyle/>
                    <a:p>
                      <a:pPr algn="l"/>
                      <a:r>
                        <a:rPr sz="800" b="0">
                          <a:solidFill>
                            <a:srgbClr val="2E2E2E"/>
                          </a:solidFill>
                          <a:latin typeface="Calibri"/>
                        </a:rPr>
                        <a:t>172.2</a:t>
                      </a:r>
                    </a:p>
                  </a:txBody>
                  <a:tcPr marL="85725" marR="38100" marT="19050" marB="19050" anchor="ctr">
                    <a:solidFill>
                      <a:srgbClr val="FFFFFF"/>
                    </a:solidFill>
                  </a:tcPr>
                </a:tc>
                <a:tc>
                  <a:txBody>
                    <a:bodyPr wrap="none"/>
                    <a:lstStyle/>
                    <a:p>
                      <a:pPr algn="l"/>
                      <a:r>
                        <a:rPr sz="800" b="0">
                          <a:solidFill>
                            <a:srgbClr val="2E2E2E"/>
                          </a:solidFill>
                          <a:latin typeface="Calibri"/>
                        </a:rPr>
                        <a:t>180.3</a:t>
                      </a:r>
                    </a:p>
                  </a:txBody>
                  <a:tcPr marL="85725" marR="38100" marT="19050" marB="19050" anchor="ctr">
                    <a:solidFill>
                      <a:srgbClr val="FFFFFF"/>
                    </a:solidFill>
                  </a:tcPr>
                </a:tc>
                <a:tc>
                  <a:txBody>
                    <a:bodyPr wrap="none"/>
                    <a:lstStyle/>
                    <a:p>
                      <a:pPr algn="l"/>
                      <a:r>
                        <a:rPr sz="800" b="0">
                          <a:solidFill>
                            <a:srgbClr val="2E2E2E"/>
                          </a:solidFill>
                          <a:latin typeface="Calibri"/>
                        </a:rPr>
                        <a:t>188.4</a:t>
                      </a:r>
                    </a:p>
                  </a:txBody>
                  <a:tcPr marL="85725" marR="38100" marT="19050" marB="19050" anchor="ctr">
                    <a:solidFill>
                      <a:srgbClr val="FFFFFF"/>
                    </a:solidFill>
                  </a:tcPr>
                </a:tc>
                <a:tc>
                  <a:txBody>
                    <a:bodyPr wrap="none"/>
                    <a:lstStyle/>
                    <a:p>
                      <a:pPr algn="l"/>
                      <a:r>
                        <a:rPr sz="800" b="0">
                          <a:solidFill>
                            <a:srgbClr val="2E2E2E"/>
                          </a:solidFill>
                          <a:latin typeface="Calibri"/>
                        </a:rPr>
                        <a:t>196.5</a:t>
                      </a:r>
                    </a:p>
                  </a:txBody>
                  <a:tcPr marL="85725" marR="38100" marT="19050" marB="19050" anchor="ctr">
                    <a:solidFill>
                      <a:srgbClr val="FFFFFF"/>
                    </a:solidFill>
                  </a:tcPr>
                </a:tc>
                <a:tc>
                  <a:txBody>
                    <a:bodyPr wrap="none"/>
                    <a:lstStyle/>
                    <a:p>
                      <a:pPr algn="l"/>
                      <a:r>
                        <a:rPr sz="800" b="0">
                          <a:solidFill>
                            <a:srgbClr val="2E2E2E"/>
                          </a:solidFill>
                          <a:latin typeface="Calibri"/>
                        </a:rPr>
                        <a:t>205.2</a:t>
                      </a:r>
                    </a:p>
                  </a:txBody>
                  <a:tcPr marL="85725" marR="38100" marT="19050" marB="19050" anchor="ctr">
                    <a:solidFill>
                      <a:srgbClr val="FFFFFF"/>
                    </a:solidFill>
                  </a:tcPr>
                </a:tc>
                <a:tc>
                  <a:txBody>
                    <a:bodyPr wrap="none"/>
                    <a:lstStyle/>
                    <a:p>
                      <a:pPr algn="l"/>
                      <a:r>
                        <a:rPr sz="800" b="0">
                          <a:solidFill>
                            <a:srgbClr val="2E2E2E"/>
                          </a:solidFill>
                          <a:latin typeface="Calibri"/>
                        </a:rPr>
                        <a:t>213.7</a:t>
                      </a:r>
                    </a:p>
                  </a:txBody>
                  <a:tcPr marL="85725" marR="38100" marT="19050" marB="19050" anchor="ctr">
                    <a:solidFill>
                      <a:srgbClr val="FFFFFF"/>
                    </a:solidFill>
                  </a:tcPr>
                </a:tc>
                <a:tc>
                  <a:txBody>
                    <a:bodyPr wrap="none"/>
                    <a:lstStyle/>
                    <a:p>
                      <a:pPr algn="l"/>
                      <a:r>
                        <a:rPr sz="800" b="0">
                          <a:solidFill>
                            <a:srgbClr val="2E2E2E"/>
                          </a:solidFill>
                          <a:latin typeface="Calibri"/>
                        </a:rPr>
                        <a:t>223.0</a:t>
                      </a:r>
                    </a:p>
                  </a:txBody>
                  <a:tcPr marL="85725" marR="38100" marT="19050" marB="19050" anchor="ctr">
                    <a:solidFill>
                      <a:srgbClr val="FFFFFF"/>
                    </a:solidFill>
                  </a:tcPr>
                </a:tc>
                <a:tc>
                  <a:txBody>
                    <a:bodyPr wrap="none"/>
                    <a:lstStyle/>
                    <a:p>
                      <a:pPr algn="l"/>
                      <a:r>
                        <a:rPr sz="800" b="0">
                          <a:solidFill>
                            <a:srgbClr val="2E2E2E"/>
                          </a:solidFill>
                          <a:latin typeface="Calibri"/>
                        </a:rPr>
                        <a:t>4.7%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0">
                          <a:solidFill>
                            <a:srgbClr val="2E2E2E"/>
                          </a:solidFill>
                          <a:latin typeface="Calibri"/>
                        </a:rPr>
                        <a:t>35.4</a:t>
                      </a:r>
                    </a:p>
                  </a:txBody>
                  <a:tcPr marL="85725" marR="38100" marT="19050" marB="19050" anchor="ctr">
                    <a:solidFill>
                      <a:srgbClr val="F5F8FA"/>
                    </a:solidFill>
                  </a:tcPr>
                </a:tc>
                <a:tc>
                  <a:txBody>
                    <a:bodyPr wrap="none"/>
                    <a:lstStyle/>
                    <a:p>
                      <a:pPr algn="l"/>
                      <a:r>
                        <a:rPr sz="800" b="0">
                          <a:solidFill>
                            <a:srgbClr val="2E2E2E"/>
                          </a:solidFill>
                          <a:latin typeface="Calibri"/>
                        </a:rPr>
                        <a:t>40.6</a:t>
                      </a:r>
                    </a:p>
                  </a:txBody>
                  <a:tcPr marL="85725" marR="38100" marT="19050" marB="19050" anchor="ctr">
                    <a:solidFill>
                      <a:srgbClr val="F5F8FA"/>
                    </a:solidFill>
                  </a:tcPr>
                </a:tc>
                <a:tc>
                  <a:txBody>
                    <a:bodyPr wrap="none"/>
                    <a:lstStyle/>
                    <a:p>
                      <a:pPr algn="l"/>
                      <a:r>
                        <a:rPr sz="800" b="0">
                          <a:solidFill>
                            <a:srgbClr val="2E2E2E"/>
                          </a:solidFill>
                          <a:latin typeface="Calibri"/>
                        </a:rPr>
                        <a:t>46.6</a:t>
                      </a:r>
                    </a:p>
                  </a:txBody>
                  <a:tcPr marL="85725" marR="38100" marT="19050" marB="19050" anchor="ctr">
                    <a:solidFill>
                      <a:srgbClr val="F5F8FA"/>
                    </a:solidFill>
                  </a:tcPr>
                </a:tc>
                <a:tc>
                  <a:txBody>
                    <a:bodyPr wrap="none"/>
                    <a:lstStyle/>
                    <a:p>
                      <a:pPr algn="l"/>
                      <a:r>
                        <a:rPr sz="800" b="0">
                          <a:solidFill>
                            <a:srgbClr val="2E2E2E"/>
                          </a:solidFill>
                          <a:latin typeface="Calibri"/>
                        </a:rPr>
                        <a:t>53.6</a:t>
                      </a:r>
                    </a:p>
                  </a:txBody>
                  <a:tcPr marL="85725" marR="38100" marT="19050" marB="19050" anchor="ctr">
                    <a:solidFill>
                      <a:srgbClr val="F5F8FA"/>
                    </a:solidFill>
                  </a:tcPr>
                </a:tc>
                <a:tc>
                  <a:txBody>
                    <a:bodyPr wrap="none"/>
                    <a:lstStyle/>
                    <a:p>
                      <a:pPr algn="l"/>
                      <a:r>
                        <a:rPr sz="800" b="0">
                          <a:solidFill>
                            <a:srgbClr val="2E2E2E"/>
                          </a:solidFill>
                          <a:latin typeface="Calibri"/>
                        </a:rPr>
                        <a:t>61.5</a:t>
                      </a:r>
                    </a:p>
                  </a:txBody>
                  <a:tcPr marL="85725" marR="38100" marT="19050" marB="19050" anchor="ctr">
                    <a:solidFill>
                      <a:srgbClr val="F5F8FA"/>
                    </a:solidFill>
                  </a:tcPr>
                </a:tc>
                <a:tc>
                  <a:txBody>
                    <a:bodyPr wrap="none"/>
                    <a:lstStyle/>
                    <a:p>
                      <a:pPr algn="l"/>
                      <a:r>
                        <a:rPr sz="800" b="0">
                          <a:solidFill>
                            <a:srgbClr val="2E2E2E"/>
                          </a:solidFill>
                          <a:latin typeface="Calibri"/>
                        </a:rPr>
                        <a:t>68.9</a:t>
                      </a:r>
                    </a:p>
                  </a:txBody>
                  <a:tcPr marL="85725" marR="38100" marT="19050" marB="19050" anchor="ctr">
                    <a:solidFill>
                      <a:srgbClr val="F5F8FA"/>
                    </a:solidFill>
                  </a:tcPr>
                </a:tc>
                <a:tc>
                  <a:txBody>
                    <a:bodyPr wrap="none"/>
                    <a:lstStyle/>
                    <a:p>
                      <a:pPr algn="l"/>
                      <a:r>
                        <a:rPr sz="800" b="0">
                          <a:solidFill>
                            <a:srgbClr val="2E2E2E"/>
                          </a:solidFill>
                          <a:latin typeface="Calibri"/>
                        </a:rPr>
                        <a:t>77.1</a:t>
                      </a:r>
                    </a:p>
                  </a:txBody>
                  <a:tcPr marL="85725" marR="38100" marT="19050" marB="19050" anchor="ctr">
                    <a:solidFill>
                      <a:srgbClr val="F5F8FA"/>
                    </a:solidFill>
                  </a:tcPr>
                </a:tc>
                <a:tc>
                  <a:txBody>
                    <a:bodyPr wrap="none"/>
                    <a:lstStyle/>
                    <a:p>
                      <a:pPr algn="l"/>
                      <a:r>
                        <a:rPr sz="800" b="0">
                          <a:solidFill>
                            <a:srgbClr val="2E2E2E"/>
                          </a:solidFill>
                          <a:latin typeface="Calibri"/>
                        </a:rPr>
                        <a:t>86.2</a:t>
                      </a:r>
                    </a:p>
                  </a:txBody>
                  <a:tcPr marL="85725" marR="38100" marT="19050" marB="19050" anchor="ctr">
                    <a:solidFill>
                      <a:srgbClr val="F5F8FA"/>
                    </a:solidFill>
                  </a:tcPr>
                </a:tc>
                <a:tc>
                  <a:txBody>
                    <a:bodyPr wrap="none"/>
                    <a:lstStyle/>
                    <a:p>
                      <a:pPr algn="l"/>
                      <a:r>
                        <a:rPr sz="800" b="0">
                          <a:solidFill>
                            <a:srgbClr val="2E2E2E"/>
                          </a:solidFill>
                          <a:latin typeface="Calibri"/>
                        </a:rPr>
                        <a:t>96.1</a:t>
                      </a:r>
                    </a:p>
                  </a:txBody>
                  <a:tcPr marL="85725" marR="38100" marT="19050" marB="19050" anchor="ctr">
                    <a:solidFill>
                      <a:srgbClr val="F5F8FA"/>
                    </a:solidFill>
                  </a:tcPr>
                </a:tc>
                <a:tc>
                  <a:txBody>
                    <a:bodyPr wrap="none"/>
                    <a:lstStyle/>
                    <a:p>
                      <a:pPr algn="l"/>
                      <a:r>
                        <a:rPr sz="800" b="0">
                          <a:solidFill>
                            <a:srgbClr val="2E2E2E"/>
                          </a:solidFill>
                          <a:latin typeface="Calibri"/>
                        </a:rPr>
                        <a:t>107.0</a:t>
                      </a:r>
                    </a:p>
                  </a:txBody>
                  <a:tcPr marL="85725" marR="38100" marT="19050" marB="19050" anchor="ctr">
                    <a:solidFill>
                      <a:srgbClr val="F5F8FA"/>
                    </a:solidFill>
                  </a:tcPr>
                </a:tc>
                <a:tc>
                  <a:txBody>
                    <a:bodyPr wrap="none"/>
                    <a:lstStyle/>
                    <a:p>
                      <a:pPr algn="l"/>
                      <a:r>
                        <a:rPr sz="800" b="0">
                          <a:solidFill>
                            <a:srgbClr val="2E2E2E"/>
                          </a:solidFill>
                          <a:latin typeface="Calibri"/>
                        </a:rPr>
                        <a:t>118.9</a:t>
                      </a:r>
                    </a:p>
                  </a:txBody>
                  <a:tcPr marL="85725" marR="38100" marT="19050" marB="19050" anchor="ctr">
                    <a:solidFill>
                      <a:srgbClr val="F5F8FA"/>
                    </a:solidFill>
                  </a:tcPr>
                </a:tc>
                <a:tc>
                  <a:txBody>
                    <a:bodyPr wrap="none"/>
                    <a:lstStyle/>
                    <a:p>
                      <a:pPr algn="l"/>
                      <a:r>
                        <a:rPr sz="800" b="0">
                          <a:solidFill>
                            <a:srgbClr val="2E2E2E"/>
                          </a:solidFill>
                          <a:latin typeface="Calibri"/>
                        </a:rPr>
                        <a:t>132.0</a:t>
                      </a:r>
                    </a:p>
                  </a:txBody>
                  <a:tcPr marL="85725" marR="38100" marT="19050" marB="19050" anchor="ctr">
                    <a:solidFill>
                      <a:srgbClr val="F5F8FA"/>
                    </a:solidFill>
                  </a:tcPr>
                </a:tc>
                <a:tc>
                  <a:txBody>
                    <a:bodyPr wrap="none"/>
                    <a:lstStyle/>
                    <a:p>
                      <a:pPr algn="l"/>
                      <a:r>
                        <a:rPr sz="800" b="0">
                          <a:solidFill>
                            <a:srgbClr val="2E2E2E"/>
                          </a:solidFill>
                          <a:latin typeface="Calibri"/>
                        </a:rPr>
                        <a:t>146.0</a:t>
                      </a:r>
                    </a:p>
                  </a:txBody>
                  <a:tcPr marL="85725" marR="38100" marT="19050" marB="19050" anchor="ctr">
                    <a:solidFill>
                      <a:srgbClr val="F5F8FA"/>
                    </a:solidFill>
                  </a:tcPr>
                </a:tc>
                <a:tc>
                  <a:txBody>
                    <a:bodyPr wrap="none"/>
                    <a:lstStyle/>
                    <a:p>
                      <a:pPr algn="l"/>
                      <a:r>
                        <a:rPr sz="800" b="0">
                          <a:solidFill>
                            <a:srgbClr val="2E2E2E"/>
                          </a:solidFill>
                          <a:latin typeface="Calibri"/>
                        </a:rPr>
                        <a:t>161.8</a:t>
                      </a:r>
                    </a:p>
                  </a:txBody>
                  <a:tcPr marL="85725" marR="38100" marT="19050" marB="19050" anchor="ctr">
                    <a:solidFill>
                      <a:srgbClr val="F5F8FA"/>
                    </a:solidFill>
                  </a:tcPr>
                </a:tc>
                <a:tc>
                  <a:txBody>
                    <a:bodyPr wrap="none"/>
                    <a:lstStyle/>
                    <a:p>
                      <a:pPr algn="l"/>
                      <a:r>
                        <a:rPr sz="800" b="0">
                          <a:solidFill>
                            <a:srgbClr val="2E2E2E"/>
                          </a:solidFill>
                          <a:latin typeface="Calibri"/>
                        </a:rPr>
                        <a:t>178.8</a:t>
                      </a:r>
                    </a:p>
                  </a:txBody>
                  <a:tcPr marL="85725" marR="38100" marT="19050" marB="19050" anchor="ctr">
                    <a:solidFill>
                      <a:srgbClr val="F5F8FA"/>
                    </a:solidFill>
                  </a:tcPr>
                </a:tc>
                <a:tc>
                  <a:txBody>
                    <a:bodyPr wrap="none"/>
                    <a:lstStyle/>
                    <a:p>
                      <a:pPr algn="l"/>
                      <a:r>
                        <a:rPr sz="800" b="0">
                          <a:solidFill>
                            <a:srgbClr val="2E2E2E"/>
                          </a:solidFill>
                          <a:latin typeface="Calibri"/>
                        </a:rPr>
                        <a:t>198.0</a:t>
                      </a:r>
                    </a:p>
                  </a:txBody>
                  <a:tcPr marL="85725" marR="38100" marT="19050" marB="19050" anchor="ctr">
                    <a:solidFill>
                      <a:srgbClr val="F5F8FA"/>
                    </a:solidFill>
                  </a:tcPr>
                </a:tc>
                <a:tc>
                  <a:txBody>
                    <a:bodyPr wrap="none"/>
                    <a:lstStyle/>
                    <a:p>
                      <a:pPr algn="l"/>
                      <a:r>
                        <a:rPr sz="800" b="0">
                          <a:solidFill>
                            <a:srgbClr val="2E2E2E"/>
                          </a:solidFill>
                          <a:latin typeface="Calibri"/>
                        </a:rPr>
                        <a:t>11.1%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Specimen Collected (US$ Mn)</a:t>
            </a:r>
          </a:p>
        </p:txBody>
      </p:sp>
      <p:graphicFrame>
        <p:nvGraphicFramePr>
          <p:cNvPr id="18" name="Table 17"/>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0">
                          <a:solidFill>
                            <a:srgbClr val="2E2E2E"/>
                          </a:solidFill>
                          <a:latin typeface="Calibri"/>
                        </a:rPr>
                        <a:t>247.1</a:t>
                      </a:r>
                    </a:p>
                  </a:txBody>
                  <a:tcPr marL="85725" marR="38100" marT="19050" marB="19050" anchor="ctr">
                    <a:solidFill>
                      <a:srgbClr val="FFFFFF"/>
                    </a:solidFill>
                  </a:tcPr>
                </a:tc>
                <a:tc>
                  <a:txBody>
                    <a:bodyPr wrap="none"/>
                    <a:lstStyle/>
                    <a:p>
                      <a:pPr algn="l"/>
                      <a:r>
                        <a:rPr sz="800" b="0">
                          <a:solidFill>
                            <a:srgbClr val="2E2E2E"/>
                          </a:solidFill>
                          <a:latin typeface="Calibri"/>
                        </a:rPr>
                        <a:t>260.4</a:t>
                      </a:r>
                    </a:p>
                  </a:txBody>
                  <a:tcPr marL="85725" marR="38100" marT="19050" marB="19050" anchor="ctr">
                    <a:solidFill>
                      <a:srgbClr val="FFFFFF"/>
                    </a:solidFill>
                  </a:tcPr>
                </a:tc>
                <a:tc>
                  <a:txBody>
                    <a:bodyPr wrap="none"/>
                    <a:lstStyle/>
                    <a:p>
                      <a:pPr algn="l"/>
                      <a:r>
                        <a:rPr sz="800" b="0">
                          <a:solidFill>
                            <a:srgbClr val="2E2E2E"/>
                          </a:solidFill>
                          <a:latin typeface="Calibri"/>
                        </a:rPr>
                        <a:t>275.3</a:t>
                      </a:r>
                    </a:p>
                  </a:txBody>
                  <a:tcPr marL="85725" marR="38100" marT="19050" marB="19050" anchor="ctr">
                    <a:solidFill>
                      <a:srgbClr val="FFFFFF"/>
                    </a:solidFill>
                  </a:tcPr>
                </a:tc>
                <a:tc>
                  <a:txBody>
                    <a:bodyPr wrap="none"/>
                    <a:lstStyle/>
                    <a:p>
                      <a:pPr algn="l"/>
                      <a:r>
                        <a:rPr sz="800" b="0">
                          <a:solidFill>
                            <a:srgbClr val="2E2E2E"/>
                          </a:solidFill>
                          <a:latin typeface="Calibri"/>
                        </a:rPr>
                        <a:t>292.6</a:t>
                      </a:r>
                    </a:p>
                  </a:txBody>
                  <a:tcPr marL="85725" marR="38100" marT="19050" marB="19050" anchor="ctr">
                    <a:solidFill>
                      <a:srgbClr val="FFFFFF"/>
                    </a:solidFill>
                  </a:tcPr>
                </a:tc>
                <a:tc>
                  <a:txBody>
                    <a:bodyPr wrap="none"/>
                    <a:lstStyle/>
                    <a:p>
                      <a:pPr algn="l"/>
                      <a:r>
                        <a:rPr sz="800" b="0">
                          <a:solidFill>
                            <a:srgbClr val="2E2E2E"/>
                          </a:solidFill>
                          <a:latin typeface="Calibri"/>
                        </a:rPr>
                        <a:t>311.2</a:t>
                      </a:r>
                    </a:p>
                  </a:txBody>
                  <a:tcPr marL="85725" marR="38100" marT="19050" marB="19050" anchor="ctr">
                    <a:solidFill>
                      <a:srgbClr val="FFFFFF"/>
                    </a:solidFill>
                  </a:tcPr>
                </a:tc>
                <a:tc>
                  <a:txBody>
                    <a:bodyPr wrap="none"/>
                    <a:lstStyle/>
                    <a:p>
                      <a:pPr algn="l"/>
                      <a:r>
                        <a:rPr sz="800" b="0">
                          <a:solidFill>
                            <a:srgbClr val="2E2E2E"/>
                          </a:solidFill>
                          <a:latin typeface="Calibri"/>
                        </a:rPr>
                        <a:t>333.1</a:t>
                      </a:r>
                    </a:p>
                  </a:txBody>
                  <a:tcPr marL="85725" marR="38100" marT="19050" marB="19050" anchor="ctr">
                    <a:solidFill>
                      <a:srgbClr val="FFFFFF"/>
                    </a:solidFill>
                  </a:tcPr>
                </a:tc>
                <a:tc>
                  <a:txBody>
                    <a:bodyPr wrap="none"/>
                    <a:lstStyle/>
                    <a:p>
                      <a:pPr algn="l"/>
                      <a:r>
                        <a:rPr sz="800" b="0">
                          <a:solidFill>
                            <a:srgbClr val="2E2E2E"/>
                          </a:solidFill>
                          <a:latin typeface="Calibri"/>
                        </a:rPr>
                        <a:t>357.2</a:t>
                      </a:r>
                    </a:p>
                  </a:txBody>
                  <a:tcPr marL="85725" marR="38100" marT="19050" marB="19050" anchor="ctr">
                    <a:solidFill>
                      <a:srgbClr val="FFFFFF"/>
                    </a:solidFill>
                  </a:tcPr>
                </a:tc>
                <a:tc>
                  <a:txBody>
                    <a:bodyPr wrap="none"/>
                    <a:lstStyle/>
                    <a:p>
                      <a:pPr algn="l"/>
                      <a:r>
                        <a:rPr sz="800" b="0">
                          <a:solidFill>
                            <a:srgbClr val="2E2E2E"/>
                          </a:solidFill>
                          <a:latin typeface="Calibri"/>
                        </a:rPr>
                        <a:t>383.2</a:t>
                      </a:r>
                    </a:p>
                  </a:txBody>
                  <a:tcPr marL="85725" marR="38100" marT="19050" marB="19050" anchor="ctr">
                    <a:solidFill>
                      <a:srgbClr val="FFFFFF"/>
                    </a:solidFill>
                  </a:tcPr>
                </a:tc>
                <a:tc>
                  <a:txBody>
                    <a:bodyPr wrap="none"/>
                    <a:lstStyle/>
                    <a:p>
                      <a:pPr algn="l"/>
                      <a:r>
                        <a:rPr sz="800" b="0">
                          <a:solidFill>
                            <a:srgbClr val="2E2E2E"/>
                          </a:solidFill>
                          <a:latin typeface="Calibri"/>
                        </a:rPr>
                        <a:t>411.6</a:t>
                      </a:r>
                    </a:p>
                  </a:txBody>
                  <a:tcPr marL="85725" marR="38100" marT="19050" marB="19050" anchor="ctr">
                    <a:solidFill>
                      <a:srgbClr val="FFFFFF"/>
                    </a:solidFill>
                  </a:tcPr>
                </a:tc>
                <a:tc>
                  <a:txBody>
                    <a:bodyPr wrap="none"/>
                    <a:lstStyle/>
                    <a:p>
                      <a:pPr algn="l"/>
                      <a:r>
                        <a:rPr sz="800" b="0">
                          <a:solidFill>
                            <a:srgbClr val="2E2E2E"/>
                          </a:solidFill>
                          <a:latin typeface="Calibri"/>
                        </a:rPr>
                        <a:t>442.6</a:t>
                      </a:r>
                    </a:p>
                  </a:txBody>
                  <a:tcPr marL="85725" marR="38100" marT="19050" marB="19050" anchor="ctr">
                    <a:solidFill>
                      <a:srgbClr val="FFFFFF"/>
                    </a:solidFill>
                  </a:tcPr>
                </a:tc>
                <a:tc>
                  <a:txBody>
                    <a:bodyPr wrap="none"/>
                    <a:lstStyle/>
                    <a:p>
                      <a:pPr algn="l"/>
                      <a:r>
                        <a:rPr sz="800" b="0">
                          <a:solidFill>
                            <a:srgbClr val="2E2E2E"/>
                          </a:solidFill>
                          <a:latin typeface="Calibri"/>
                        </a:rPr>
                        <a:t>476.3</a:t>
                      </a:r>
                    </a:p>
                  </a:txBody>
                  <a:tcPr marL="85725" marR="38100" marT="19050" marB="19050" anchor="ctr">
                    <a:solidFill>
                      <a:srgbClr val="FFFFFF"/>
                    </a:solidFill>
                  </a:tcPr>
                </a:tc>
                <a:tc>
                  <a:txBody>
                    <a:bodyPr wrap="none"/>
                    <a:lstStyle/>
                    <a:p>
                      <a:pPr algn="l"/>
                      <a:r>
                        <a:rPr sz="800" b="0">
                          <a:solidFill>
                            <a:srgbClr val="2E2E2E"/>
                          </a:solidFill>
                          <a:latin typeface="Calibri"/>
                        </a:rPr>
                        <a:t>513.1</a:t>
                      </a:r>
                    </a:p>
                  </a:txBody>
                  <a:tcPr marL="85725" marR="38100" marT="19050" marB="19050" anchor="ctr">
                    <a:solidFill>
                      <a:srgbClr val="FFFFFF"/>
                    </a:solidFill>
                  </a:tcPr>
                </a:tc>
                <a:tc>
                  <a:txBody>
                    <a:bodyPr wrap="none"/>
                    <a:lstStyle/>
                    <a:p>
                      <a:pPr algn="l"/>
                      <a:r>
                        <a:rPr sz="800" b="0">
                          <a:solidFill>
                            <a:srgbClr val="2E2E2E"/>
                          </a:solidFill>
                          <a:latin typeface="Calibri"/>
                        </a:rPr>
                        <a:t>552.7</a:t>
                      </a:r>
                    </a:p>
                  </a:txBody>
                  <a:tcPr marL="85725" marR="38100" marT="19050" marB="19050" anchor="ctr">
                    <a:solidFill>
                      <a:srgbClr val="FFFFFF"/>
                    </a:solidFill>
                  </a:tcPr>
                </a:tc>
                <a:tc>
                  <a:txBody>
                    <a:bodyPr wrap="none"/>
                    <a:lstStyle/>
                    <a:p>
                      <a:pPr algn="l"/>
                      <a:r>
                        <a:rPr sz="800" b="0">
                          <a:solidFill>
                            <a:srgbClr val="2E2E2E"/>
                          </a:solidFill>
                          <a:latin typeface="Calibri"/>
                        </a:rPr>
                        <a:t>597.6</a:t>
                      </a:r>
                    </a:p>
                  </a:txBody>
                  <a:tcPr marL="85725" marR="38100" marT="19050" marB="19050" anchor="ctr">
                    <a:solidFill>
                      <a:srgbClr val="FFFFFF"/>
                    </a:solidFill>
                  </a:tcPr>
                </a:tc>
                <a:tc>
                  <a:txBody>
                    <a:bodyPr wrap="none"/>
                    <a:lstStyle/>
                    <a:p>
                      <a:pPr algn="l"/>
                      <a:r>
                        <a:rPr sz="800" b="0">
                          <a:solidFill>
                            <a:srgbClr val="2E2E2E"/>
                          </a:solidFill>
                          <a:latin typeface="Calibri"/>
                        </a:rPr>
                        <a:t>646.1</a:t>
                      </a:r>
                    </a:p>
                  </a:txBody>
                  <a:tcPr marL="85725" marR="38100" marT="19050" marB="19050" anchor="ctr">
                    <a:solidFill>
                      <a:srgbClr val="FFFFFF"/>
                    </a:solidFill>
                  </a:tcPr>
                </a:tc>
                <a:tc>
                  <a:txBody>
                    <a:bodyPr wrap="none"/>
                    <a:lstStyle/>
                    <a:p>
                      <a:pPr algn="l"/>
                      <a:r>
                        <a:rPr sz="800" b="0">
                          <a:solidFill>
                            <a:srgbClr val="2E2E2E"/>
                          </a:solidFill>
                          <a:latin typeface="Calibri"/>
                        </a:rPr>
                        <a:t>701.6</a:t>
                      </a:r>
                    </a:p>
                  </a:txBody>
                  <a:tcPr marL="85725" marR="38100" marT="19050" marB="19050" anchor="ctr">
                    <a:solidFill>
                      <a:srgbClr val="FFFFFF"/>
                    </a:solidFill>
                  </a:tcPr>
                </a:tc>
                <a:tc>
                  <a:txBody>
                    <a:bodyPr wrap="none"/>
                    <a:lstStyle/>
                    <a:p>
                      <a:pPr algn="l"/>
                      <a:r>
                        <a:rPr sz="800" b="0">
                          <a:solidFill>
                            <a:srgbClr val="2E2E2E"/>
                          </a:solidFill>
                          <a:latin typeface="Calibri"/>
                        </a:rPr>
                        <a:t>7.7%</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0">
                          <a:solidFill>
                            <a:srgbClr val="2E2E2E"/>
                          </a:solidFill>
                          <a:latin typeface="Calibri"/>
                        </a:rPr>
                        <a:t>88.3</a:t>
                      </a:r>
                    </a:p>
                  </a:txBody>
                  <a:tcPr marL="85725" marR="38100" marT="19050" marB="19050" anchor="ctr">
                    <a:solidFill>
                      <a:srgbClr val="F5F8FA"/>
                    </a:solidFill>
                  </a:tcPr>
                </a:tc>
                <a:tc>
                  <a:txBody>
                    <a:bodyPr wrap="none"/>
                    <a:lstStyle/>
                    <a:p>
                      <a:pPr algn="l"/>
                      <a:r>
                        <a:rPr sz="800" b="0">
                          <a:solidFill>
                            <a:srgbClr val="2E2E2E"/>
                          </a:solidFill>
                          <a:latin typeface="Calibri"/>
                        </a:rPr>
                        <a:t>94.4</a:t>
                      </a:r>
                    </a:p>
                  </a:txBody>
                  <a:tcPr marL="85725" marR="38100" marT="19050" marB="19050" anchor="ctr">
                    <a:solidFill>
                      <a:srgbClr val="F5F8FA"/>
                    </a:solidFill>
                  </a:tcPr>
                </a:tc>
                <a:tc>
                  <a:txBody>
                    <a:bodyPr wrap="none"/>
                    <a:lstStyle/>
                    <a:p>
                      <a:pPr algn="l"/>
                      <a:r>
                        <a:rPr sz="800" b="0">
                          <a:solidFill>
                            <a:srgbClr val="2E2E2E"/>
                          </a:solidFill>
                          <a:latin typeface="Calibri"/>
                        </a:rPr>
                        <a:t>101.3</a:t>
                      </a:r>
                    </a:p>
                  </a:txBody>
                  <a:tcPr marL="85725" marR="38100" marT="19050" marB="19050" anchor="ctr">
                    <a:solidFill>
                      <a:srgbClr val="F5F8FA"/>
                    </a:solidFill>
                  </a:tcPr>
                </a:tc>
                <a:tc>
                  <a:txBody>
                    <a:bodyPr wrap="none"/>
                    <a:lstStyle/>
                    <a:p>
                      <a:pPr algn="l"/>
                      <a:r>
                        <a:rPr sz="800" b="0">
                          <a:solidFill>
                            <a:srgbClr val="2E2E2E"/>
                          </a:solidFill>
                          <a:latin typeface="Calibri"/>
                        </a:rPr>
                        <a:t>109.3</a:t>
                      </a:r>
                    </a:p>
                  </a:txBody>
                  <a:tcPr marL="85725" marR="38100" marT="19050" marB="19050" anchor="ctr">
                    <a:solidFill>
                      <a:srgbClr val="F5F8FA"/>
                    </a:solidFill>
                  </a:tcPr>
                </a:tc>
                <a:tc>
                  <a:txBody>
                    <a:bodyPr wrap="none"/>
                    <a:lstStyle/>
                    <a:p>
                      <a:pPr algn="l"/>
                      <a:r>
                        <a:rPr sz="800" b="0">
                          <a:solidFill>
                            <a:srgbClr val="2E2E2E"/>
                          </a:solidFill>
                          <a:latin typeface="Calibri"/>
                        </a:rPr>
                        <a:t>118.0</a:t>
                      </a:r>
                    </a:p>
                  </a:txBody>
                  <a:tcPr marL="85725" marR="38100" marT="19050" marB="19050" anchor="ctr">
                    <a:solidFill>
                      <a:srgbClr val="F5F8FA"/>
                    </a:solidFill>
                  </a:tcPr>
                </a:tc>
                <a:tc>
                  <a:txBody>
                    <a:bodyPr wrap="none"/>
                    <a:lstStyle/>
                    <a:p>
                      <a:pPr algn="l"/>
                      <a:r>
                        <a:rPr sz="800" b="0">
                          <a:solidFill>
                            <a:srgbClr val="2E2E2E"/>
                          </a:solidFill>
                          <a:latin typeface="Calibri"/>
                        </a:rPr>
                        <a:t>128.3</a:t>
                      </a:r>
                    </a:p>
                  </a:txBody>
                  <a:tcPr marL="85725" marR="38100" marT="19050" marB="19050" anchor="ctr">
                    <a:solidFill>
                      <a:srgbClr val="F5F8FA"/>
                    </a:solidFill>
                  </a:tcPr>
                </a:tc>
                <a:tc>
                  <a:txBody>
                    <a:bodyPr wrap="none"/>
                    <a:lstStyle/>
                    <a:p>
                      <a:pPr algn="l"/>
                      <a:r>
                        <a:rPr sz="800" b="0">
                          <a:solidFill>
                            <a:srgbClr val="2E2E2E"/>
                          </a:solidFill>
                          <a:latin typeface="Calibri"/>
                        </a:rPr>
                        <a:t>139.7</a:t>
                      </a:r>
                    </a:p>
                  </a:txBody>
                  <a:tcPr marL="85725" marR="38100" marT="19050" marB="19050" anchor="ctr">
                    <a:solidFill>
                      <a:srgbClr val="F5F8FA"/>
                    </a:solidFill>
                  </a:tcPr>
                </a:tc>
                <a:tc>
                  <a:txBody>
                    <a:bodyPr wrap="none"/>
                    <a:lstStyle/>
                    <a:p>
                      <a:pPr algn="l"/>
                      <a:r>
                        <a:rPr sz="800" b="0">
                          <a:solidFill>
                            <a:srgbClr val="2E2E2E"/>
                          </a:solidFill>
                          <a:latin typeface="Calibri"/>
                        </a:rPr>
                        <a:t>152.2</a:t>
                      </a:r>
                    </a:p>
                  </a:txBody>
                  <a:tcPr marL="85725" marR="38100" marT="19050" marB="19050" anchor="ctr">
                    <a:solidFill>
                      <a:srgbClr val="F5F8FA"/>
                    </a:solidFill>
                  </a:tcPr>
                </a:tc>
                <a:tc>
                  <a:txBody>
                    <a:bodyPr wrap="none"/>
                    <a:lstStyle/>
                    <a:p>
                      <a:pPr algn="l"/>
                      <a:r>
                        <a:rPr sz="800" b="0">
                          <a:solidFill>
                            <a:srgbClr val="2E2E2E"/>
                          </a:solidFill>
                          <a:latin typeface="Calibri"/>
                        </a:rPr>
                        <a:t>166.1</a:t>
                      </a:r>
                    </a:p>
                  </a:txBody>
                  <a:tcPr marL="85725" marR="38100" marT="19050" marB="19050" anchor="ctr">
                    <a:solidFill>
                      <a:srgbClr val="F5F8FA"/>
                    </a:solidFill>
                  </a:tcPr>
                </a:tc>
                <a:tc>
                  <a:txBody>
                    <a:bodyPr wrap="none"/>
                    <a:lstStyle/>
                    <a:p>
                      <a:pPr algn="l"/>
                      <a:r>
                        <a:rPr sz="800" b="0">
                          <a:solidFill>
                            <a:srgbClr val="2E2E2E"/>
                          </a:solidFill>
                          <a:latin typeface="Calibri"/>
                        </a:rPr>
                        <a:t>181.3</a:t>
                      </a:r>
                    </a:p>
                  </a:txBody>
                  <a:tcPr marL="85725" marR="38100" marT="19050" marB="19050" anchor="ctr">
                    <a:solidFill>
                      <a:srgbClr val="F5F8FA"/>
                    </a:solidFill>
                  </a:tcPr>
                </a:tc>
                <a:tc>
                  <a:txBody>
                    <a:bodyPr wrap="none"/>
                    <a:lstStyle/>
                    <a:p>
                      <a:pPr algn="l"/>
                      <a:r>
                        <a:rPr sz="800" b="0">
                          <a:solidFill>
                            <a:srgbClr val="2E2E2E"/>
                          </a:solidFill>
                          <a:latin typeface="Calibri"/>
                        </a:rPr>
                        <a:t>198.2</a:t>
                      </a:r>
                    </a:p>
                  </a:txBody>
                  <a:tcPr marL="85725" marR="38100" marT="19050" marB="19050" anchor="ctr">
                    <a:solidFill>
                      <a:srgbClr val="F5F8FA"/>
                    </a:solidFill>
                  </a:tcPr>
                </a:tc>
                <a:tc>
                  <a:txBody>
                    <a:bodyPr wrap="none"/>
                    <a:lstStyle/>
                    <a:p>
                      <a:pPr algn="l"/>
                      <a:r>
                        <a:rPr sz="800" b="0">
                          <a:solidFill>
                            <a:srgbClr val="2E2E2E"/>
                          </a:solidFill>
                          <a:latin typeface="Calibri"/>
                        </a:rPr>
                        <a:t>216.7</a:t>
                      </a:r>
                    </a:p>
                  </a:txBody>
                  <a:tcPr marL="85725" marR="38100" marT="19050" marB="19050" anchor="ctr">
                    <a:solidFill>
                      <a:srgbClr val="F5F8FA"/>
                    </a:solidFill>
                  </a:tcPr>
                </a:tc>
                <a:tc>
                  <a:txBody>
                    <a:bodyPr wrap="none"/>
                    <a:lstStyle/>
                    <a:p>
                      <a:pPr algn="l"/>
                      <a:r>
                        <a:rPr sz="800" b="0">
                          <a:solidFill>
                            <a:srgbClr val="2E2E2E"/>
                          </a:solidFill>
                          <a:latin typeface="Calibri"/>
                        </a:rPr>
                        <a:t>237.0</a:t>
                      </a:r>
                    </a:p>
                  </a:txBody>
                  <a:tcPr marL="85725" marR="38100" marT="19050" marB="19050" anchor="ctr">
                    <a:solidFill>
                      <a:srgbClr val="F5F8FA"/>
                    </a:solidFill>
                  </a:tcPr>
                </a:tc>
                <a:tc>
                  <a:txBody>
                    <a:bodyPr wrap="none"/>
                    <a:lstStyle/>
                    <a:p>
                      <a:pPr algn="l"/>
                      <a:r>
                        <a:rPr sz="800" b="0">
                          <a:solidFill>
                            <a:srgbClr val="2E2E2E"/>
                          </a:solidFill>
                          <a:latin typeface="Calibri"/>
                        </a:rPr>
                        <a:t>260.1</a:t>
                      </a:r>
                    </a:p>
                  </a:txBody>
                  <a:tcPr marL="85725" marR="38100" marT="19050" marB="19050" anchor="ctr">
                    <a:solidFill>
                      <a:srgbClr val="F5F8FA"/>
                    </a:solidFill>
                  </a:tcPr>
                </a:tc>
                <a:tc>
                  <a:txBody>
                    <a:bodyPr wrap="none"/>
                    <a:lstStyle/>
                    <a:p>
                      <a:pPr algn="l"/>
                      <a:r>
                        <a:rPr sz="800" b="0">
                          <a:solidFill>
                            <a:srgbClr val="2E2E2E"/>
                          </a:solidFill>
                          <a:latin typeface="Calibri"/>
                        </a:rPr>
                        <a:t>285.5</a:t>
                      </a:r>
                    </a:p>
                  </a:txBody>
                  <a:tcPr marL="85725" marR="38100" marT="19050" marB="19050" anchor="ctr">
                    <a:solidFill>
                      <a:srgbClr val="F5F8FA"/>
                    </a:solidFill>
                  </a:tcPr>
                </a:tc>
                <a:tc>
                  <a:txBody>
                    <a:bodyPr wrap="none"/>
                    <a:lstStyle/>
                    <a:p>
                      <a:pPr algn="l"/>
                      <a:r>
                        <a:rPr sz="800" b="0">
                          <a:solidFill>
                            <a:srgbClr val="2E2E2E"/>
                          </a:solidFill>
                          <a:latin typeface="Calibri"/>
                        </a:rPr>
                        <a:t>314.6</a:t>
                      </a:r>
                    </a:p>
                  </a:txBody>
                  <a:tcPr marL="85725" marR="38100" marT="19050" marB="19050" anchor="ctr">
                    <a:solidFill>
                      <a:srgbClr val="F5F8FA"/>
                    </a:solidFill>
                  </a:tcPr>
                </a:tc>
                <a:tc>
                  <a:txBody>
                    <a:bodyPr wrap="none"/>
                    <a:lstStyle/>
                    <a:p>
                      <a:pPr algn="l"/>
                      <a:r>
                        <a:rPr sz="800" b="0">
                          <a:solidFill>
                            <a:srgbClr val="2E2E2E"/>
                          </a:solidFill>
                          <a:latin typeface="Calibri"/>
                        </a:rPr>
                        <a:t>9.4%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0">
                          <a:solidFill>
                            <a:srgbClr val="2E2E2E"/>
                          </a:solidFill>
                          <a:latin typeface="Calibri"/>
                        </a:rPr>
                        <a:t>94.7</a:t>
                      </a:r>
                    </a:p>
                  </a:txBody>
                  <a:tcPr marL="85725" marR="38100" marT="19050" marB="19050" anchor="ctr">
                    <a:solidFill>
                      <a:srgbClr val="FFFFFF"/>
                    </a:solidFill>
                  </a:tcPr>
                </a:tc>
                <a:tc>
                  <a:txBody>
                    <a:bodyPr wrap="none"/>
                    <a:lstStyle/>
                    <a:p>
                      <a:pPr algn="l"/>
                      <a:r>
                        <a:rPr sz="800" b="0">
                          <a:solidFill>
                            <a:srgbClr val="2E2E2E"/>
                          </a:solidFill>
                          <a:latin typeface="Calibri"/>
                        </a:rPr>
                        <a:t>98.2</a:t>
                      </a:r>
                    </a:p>
                  </a:txBody>
                  <a:tcPr marL="85725" marR="38100" marT="19050" marB="19050" anchor="ctr">
                    <a:solidFill>
                      <a:srgbClr val="FFFFFF"/>
                    </a:solidFill>
                  </a:tcPr>
                </a:tc>
                <a:tc>
                  <a:txBody>
                    <a:bodyPr wrap="none"/>
                    <a:lstStyle/>
                    <a:p>
                      <a:pPr algn="l"/>
                      <a:r>
                        <a:rPr sz="800" b="0">
                          <a:solidFill>
                            <a:srgbClr val="2E2E2E"/>
                          </a:solidFill>
                          <a:latin typeface="Calibri"/>
                        </a:rPr>
                        <a:t>102.2</a:t>
                      </a:r>
                    </a:p>
                  </a:txBody>
                  <a:tcPr marL="85725" marR="38100" marT="19050" marB="19050" anchor="ctr">
                    <a:solidFill>
                      <a:srgbClr val="FFFFFF"/>
                    </a:solidFill>
                  </a:tcPr>
                </a:tc>
                <a:tc>
                  <a:txBody>
                    <a:bodyPr wrap="none"/>
                    <a:lstStyle/>
                    <a:p>
                      <a:pPr algn="l"/>
                      <a:r>
                        <a:rPr sz="800" b="0">
                          <a:solidFill>
                            <a:srgbClr val="2E2E2E"/>
                          </a:solidFill>
                          <a:latin typeface="Calibri"/>
                        </a:rPr>
                        <a:t>106.8</a:t>
                      </a:r>
                    </a:p>
                  </a:txBody>
                  <a:tcPr marL="85725" marR="38100" marT="19050" marB="19050" anchor="ctr">
                    <a:solidFill>
                      <a:srgbClr val="FFFFFF"/>
                    </a:solidFill>
                  </a:tcPr>
                </a:tc>
                <a:tc>
                  <a:txBody>
                    <a:bodyPr wrap="none"/>
                    <a:lstStyle/>
                    <a:p>
                      <a:pPr algn="l"/>
                      <a:r>
                        <a:rPr sz="800" b="0">
                          <a:solidFill>
                            <a:srgbClr val="2E2E2E"/>
                          </a:solidFill>
                          <a:latin typeface="Calibri"/>
                        </a:rPr>
                        <a:t>111.6</a:t>
                      </a:r>
                    </a:p>
                  </a:txBody>
                  <a:tcPr marL="85725" marR="38100" marT="19050" marB="19050" anchor="ctr">
                    <a:solidFill>
                      <a:srgbClr val="FFFFFF"/>
                    </a:solidFill>
                  </a:tcPr>
                </a:tc>
                <a:tc>
                  <a:txBody>
                    <a:bodyPr wrap="none"/>
                    <a:lstStyle/>
                    <a:p>
                      <a:pPr algn="l"/>
                      <a:r>
                        <a:rPr sz="800" b="0">
                          <a:solidFill>
                            <a:srgbClr val="2E2E2E"/>
                          </a:solidFill>
                          <a:latin typeface="Calibri"/>
                        </a:rPr>
                        <a:t>117.3</a:t>
                      </a:r>
                    </a:p>
                  </a:txBody>
                  <a:tcPr marL="85725" marR="38100" marT="19050" marB="19050" anchor="ctr">
                    <a:solidFill>
                      <a:srgbClr val="FFFFFF"/>
                    </a:solidFill>
                  </a:tcPr>
                </a:tc>
                <a:tc>
                  <a:txBody>
                    <a:bodyPr wrap="none"/>
                    <a:lstStyle/>
                    <a:p>
                      <a:pPr algn="l"/>
                      <a:r>
                        <a:rPr sz="800" b="0">
                          <a:solidFill>
                            <a:srgbClr val="2E2E2E"/>
                          </a:solidFill>
                          <a:latin typeface="Calibri"/>
                        </a:rPr>
                        <a:t>123.5</a:t>
                      </a:r>
                    </a:p>
                  </a:txBody>
                  <a:tcPr marL="85725" marR="38100" marT="19050" marB="19050" anchor="ctr">
                    <a:solidFill>
                      <a:srgbClr val="FFFFFF"/>
                    </a:solidFill>
                  </a:tcPr>
                </a:tc>
                <a:tc>
                  <a:txBody>
                    <a:bodyPr wrap="none"/>
                    <a:lstStyle/>
                    <a:p>
                      <a:pPr algn="l"/>
                      <a:r>
                        <a:rPr sz="800" b="0">
                          <a:solidFill>
                            <a:srgbClr val="2E2E2E"/>
                          </a:solidFill>
                          <a:latin typeface="Calibri"/>
                        </a:rPr>
                        <a:t>130.0</a:t>
                      </a:r>
                    </a:p>
                  </a:txBody>
                  <a:tcPr marL="85725" marR="38100" marT="19050" marB="19050" anchor="ctr">
                    <a:solidFill>
                      <a:srgbClr val="FFFFFF"/>
                    </a:solidFill>
                  </a:tcPr>
                </a:tc>
                <a:tc>
                  <a:txBody>
                    <a:bodyPr wrap="none"/>
                    <a:lstStyle/>
                    <a:p>
                      <a:pPr algn="l"/>
                      <a:r>
                        <a:rPr sz="800" b="0">
                          <a:solidFill>
                            <a:srgbClr val="2E2E2E"/>
                          </a:solidFill>
                          <a:latin typeface="Calibri"/>
                        </a:rPr>
                        <a:t>137.0</a:t>
                      </a:r>
                    </a:p>
                  </a:txBody>
                  <a:tcPr marL="85725" marR="38100" marT="19050" marB="19050" anchor="ctr">
                    <a:solidFill>
                      <a:srgbClr val="FFFFFF"/>
                    </a:solidFill>
                  </a:tcPr>
                </a:tc>
                <a:tc>
                  <a:txBody>
                    <a:bodyPr wrap="none"/>
                    <a:lstStyle/>
                    <a:p>
                      <a:pPr algn="l"/>
                      <a:r>
                        <a:rPr sz="800" b="0">
                          <a:solidFill>
                            <a:srgbClr val="2E2E2E"/>
                          </a:solidFill>
                          <a:latin typeface="Calibri"/>
                        </a:rPr>
                        <a:t>144.4</a:t>
                      </a:r>
                    </a:p>
                  </a:txBody>
                  <a:tcPr marL="85725" marR="38100" marT="19050" marB="19050" anchor="ctr">
                    <a:solidFill>
                      <a:srgbClr val="FFFFFF"/>
                    </a:solidFill>
                  </a:tcPr>
                </a:tc>
                <a:tc>
                  <a:txBody>
                    <a:bodyPr wrap="none"/>
                    <a:lstStyle/>
                    <a:p>
                      <a:pPr algn="l"/>
                      <a:r>
                        <a:rPr sz="800" b="0">
                          <a:solidFill>
                            <a:srgbClr val="2E2E2E"/>
                          </a:solidFill>
                          <a:latin typeface="Calibri"/>
                        </a:rPr>
                        <a:t>152.4</a:t>
                      </a:r>
                    </a:p>
                  </a:txBody>
                  <a:tcPr marL="85725" marR="38100" marT="19050" marB="19050" anchor="ctr">
                    <a:solidFill>
                      <a:srgbClr val="FFFFFF"/>
                    </a:solidFill>
                  </a:tcPr>
                </a:tc>
                <a:tc>
                  <a:txBody>
                    <a:bodyPr wrap="none"/>
                    <a:lstStyle/>
                    <a:p>
                      <a:pPr algn="l"/>
                      <a:r>
                        <a:rPr sz="800" b="0">
                          <a:solidFill>
                            <a:srgbClr val="2E2E2E"/>
                          </a:solidFill>
                          <a:latin typeface="Calibri"/>
                        </a:rPr>
                        <a:t>160.8</a:t>
                      </a:r>
                    </a:p>
                  </a:txBody>
                  <a:tcPr marL="85725" marR="38100" marT="19050" marB="19050" anchor="ctr">
                    <a:solidFill>
                      <a:srgbClr val="FFFFFF"/>
                    </a:solidFill>
                  </a:tcPr>
                </a:tc>
                <a:tc>
                  <a:txBody>
                    <a:bodyPr wrap="none"/>
                    <a:lstStyle/>
                    <a:p>
                      <a:pPr algn="l"/>
                      <a:r>
                        <a:rPr sz="800" b="0">
                          <a:solidFill>
                            <a:srgbClr val="2E2E2E"/>
                          </a:solidFill>
                          <a:latin typeface="Calibri"/>
                        </a:rPr>
                        <a:t>169.7</a:t>
                      </a:r>
                    </a:p>
                  </a:txBody>
                  <a:tcPr marL="85725" marR="38100" marT="19050" marB="19050" anchor="ctr">
                    <a:solidFill>
                      <a:srgbClr val="FFFFFF"/>
                    </a:solidFill>
                  </a:tcPr>
                </a:tc>
                <a:tc>
                  <a:txBody>
                    <a:bodyPr wrap="none"/>
                    <a:lstStyle/>
                    <a:p>
                      <a:pPr algn="l"/>
                      <a:r>
                        <a:rPr sz="800" b="0">
                          <a:solidFill>
                            <a:srgbClr val="2E2E2E"/>
                          </a:solidFill>
                          <a:latin typeface="Calibri"/>
                        </a:rPr>
                        <a:t>179.7</a:t>
                      </a:r>
                    </a:p>
                  </a:txBody>
                  <a:tcPr marL="85725" marR="38100" marT="19050" marB="19050" anchor="ctr">
                    <a:solidFill>
                      <a:srgbClr val="FFFFFF"/>
                    </a:solidFill>
                  </a:tcPr>
                </a:tc>
                <a:tc>
                  <a:txBody>
                    <a:bodyPr wrap="none"/>
                    <a:lstStyle/>
                    <a:p>
                      <a:pPr algn="l"/>
                      <a:r>
                        <a:rPr sz="800" b="0">
                          <a:solidFill>
                            <a:srgbClr val="2E2E2E"/>
                          </a:solidFill>
                          <a:latin typeface="Calibri"/>
                        </a:rPr>
                        <a:t>190.2</a:t>
                      </a:r>
                    </a:p>
                  </a:txBody>
                  <a:tcPr marL="85725" marR="38100" marT="19050" marB="19050" anchor="ctr">
                    <a:solidFill>
                      <a:srgbClr val="FFFFFF"/>
                    </a:solidFill>
                  </a:tcPr>
                </a:tc>
                <a:tc>
                  <a:txBody>
                    <a:bodyPr wrap="none"/>
                    <a:lstStyle/>
                    <a:p>
                      <a:pPr algn="l"/>
                      <a:r>
                        <a:rPr sz="800" b="0">
                          <a:solidFill>
                            <a:srgbClr val="2E2E2E"/>
                          </a:solidFill>
                          <a:latin typeface="Calibri"/>
                        </a:rPr>
                        <a:t>202.1</a:t>
                      </a:r>
                    </a:p>
                  </a:txBody>
                  <a:tcPr marL="85725" marR="38100" marT="19050" marB="19050" anchor="ctr">
                    <a:solidFill>
                      <a:srgbClr val="FFFFFF"/>
                    </a:solidFill>
                  </a:tcPr>
                </a:tc>
                <a:tc>
                  <a:txBody>
                    <a:bodyPr wrap="none"/>
                    <a:lstStyle/>
                    <a:p>
                      <a:pPr algn="l"/>
                      <a:r>
                        <a:rPr sz="800" b="0">
                          <a:solidFill>
                            <a:srgbClr val="2E2E2E"/>
                          </a:solidFill>
                          <a:latin typeface="Calibri"/>
                        </a:rPr>
                        <a:t>5.6%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0">
                          <a:solidFill>
                            <a:srgbClr val="2E2E2E"/>
                          </a:solidFill>
                          <a:latin typeface="Calibri"/>
                        </a:rPr>
                        <a:t>30.6</a:t>
                      </a:r>
                    </a:p>
                  </a:txBody>
                  <a:tcPr marL="85725" marR="38100" marT="19050" marB="19050" anchor="ctr">
                    <a:solidFill>
                      <a:srgbClr val="F5F8FA"/>
                    </a:solidFill>
                  </a:tcPr>
                </a:tc>
                <a:tc>
                  <a:txBody>
                    <a:bodyPr wrap="none"/>
                    <a:lstStyle/>
                    <a:p>
                      <a:pPr algn="l"/>
                      <a:r>
                        <a:rPr sz="800" b="0">
                          <a:solidFill>
                            <a:srgbClr val="2E2E2E"/>
                          </a:solidFill>
                          <a:latin typeface="Calibri"/>
                        </a:rPr>
                        <a:t>34.7</a:t>
                      </a:r>
                    </a:p>
                  </a:txBody>
                  <a:tcPr marL="85725" marR="38100" marT="19050" marB="19050" anchor="ctr">
                    <a:solidFill>
                      <a:srgbClr val="F5F8FA"/>
                    </a:solidFill>
                  </a:tcPr>
                </a:tc>
                <a:tc>
                  <a:txBody>
                    <a:bodyPr wrap="none"/>
                    <a:lstStyle/>
                    <a:p>
                      <a:pPr algn="l"/>
                      <a:r>
                        <a:rPr sz="800" b="0">
                          <a:solidFill>
                            <a:srgbClr val="2E2E2E"/>
                          </a:solidFill>
                          <a:latin typeface="Calibri"/>
                        </a:rPr>
                        <a:t>39.4</a:t>
                      </a:r>
                    </a:p>
                  </a:txBody>
                  <a:tcPr marL="85725" marR="38100" marT="19050" marB="19050" anchor="ctr">
                    <a:solidFill>
                      <a:srgbClr val="F5F8FA"/>
                    </a:solidFill>
                  </a:tcPr>
                </a:tc>
                <a:tc>
                  <a:txBody>
                    <a:bodyPr wrap="none"/>
                    <a:lstStyle/>
                    <a:p>
                      <a:pPr algn="l"/>
                      <a:r>
                        <a:rPr sz="800" b="0">
                          <a:solidFill>
                            <a:srgbClr val="2E2E2E"/>
                          </a:solidFill>
                          <a:latin typeface="Calibri"/>
                        </a:rPr>
                        <a:t>44.9</a:t>
                      </a:r>
                    </a:p>
                  </a:txBody>
                  <a:tcPr marL="85725" marR="38100" marT="19050" marB="19050" anchor="ctr">
                    <a:solidFill>
                      <a:srgbClr val="F5F8FA"/>
                    </a:solidFill>
                  </a:tcPr>
                </a:tc>
                <a:tc>
                  <a:txBody>
                    <a:bodyPr wrap="none"/>
                    <a:lstStyle/>
                    <a:p>
                      <a:pPr algn="l"/>
                      <a:r>
                        <a:rPr sz="800" b="0">
                          <a:solidFill>
                            <a:srgbClr val="2E2E2E"/>
                          </a:solidFill>
                          <a:latin typeface="Calibri"/>
                        </a:rPr>
                        <a:t>51.2</a:t>
                      </a:r>
                    </a:p>
                  </a:txBody>
                  <a:tcPr marL="85725" marR="38100" marT="19050" marB="19050" anchor="ctr">
                    <a:solidFill>
                      <a:srgbClr val="F5F8FA"/>
                    </a:solidFill>
                  </a:tcPr>
                </a:tc>
                <a:tc>
                  <a:txBody>
                    <a:bodyPr wrap="none"/>
                    <a:lstStyle/>
                    <a:p>
                      <a:pPr algn="l"/>
                      <a:r>
                        <a:rPr sz="800" b="0">
                          <a:solidFill>
                            <a:srgbClr val="2E2E2E"/>
                          </a:solidFill>
                          <a:latin typeface="Calibri"/>
                        </a:rPr>
                        <a:t>57.2</a:t>
                      </a:r>
                    </a:p>
                  </a:txBody>
                  <a:tcPr marL="85725" marR="38100" marT="19050" marB="19050" anchor="ctr">
                    <a:solidFill>
                      <a:srgbClr val="F5F8FA"/>
                    </a:solidFill>
                  </a:tcPr>
                </a:tc>
                <a:tc>
                  <a:txBody>
                    <a:bodyPr wrap="none"/>
                    <a:lstStyle/>
                    <a:p>
                      <a:pPr algn="l"/>
                      <a:r>
                        <a:rPr sz="800" b="0">
                          <a:solidFill>
                            <a:srgbClr val="2E2E2E"/>
                          </a:solidFill>
                          <a:latin typeface="Calibri"/>
                        </a:rPr>
                        <a:t>64.0</a:t>
                      </a:r>
                    </a:p>
                  </a:txBody>
                  <a:tcPr marL="85725" marR="38100" marT="19050" marB="19050" anchor="ctr">
                    <a:solidFill>
                      <a:srgbClr val="F5F8FA"/>
                    </a:solidFill>
                  </a:tcPr>
                </a:tc>
                <a:tc>
                  <a:txBody>
                    <a:bodyPr wrap="none"/>
                    <a:lstStyle/>
                    <a:p>
                      <a:pPr algn="l"/>
                      <a:r>
                        <a:rPr sz="800" b="0">
                          <a:solidFill>
                            <a:srgbClr val="2E2E2E"/>
                          </a:solidFill>
                          <a:latin typeface="Calibri"/>
                        </a:rPr>
                        <a:t>71.6</a:t>
                      </a:r>
                    </a:p>
                  </a:txBody>
                  <a:tcPr marL="85725" marR="38100" marT="19050" marB="19050" anchor="ctr">
                    <a:solidFill>
                      <a:srgbClr val="F5F8FA"/>
                    </a:solidFill>
                  </a:tcPr>
                </a:tc>
                <a:tc>
                  <a:txBody>
                    <a:bodyPr wrap="none"/>
                    <a:lstStyle/>
                    <a:p>
                      <a:pPr algn="l"/>
                      <a:r>
                        <a:rPr sz="800" b="0">
                          <a:solidFill>
                            <a:srgbClr val="2E2E2E"/>
                          </a:solidFill>
                          <a:latin typeface="Calibri"/>
                        </a:rPr>
                        <a:t>80.1</a:t>
                      </a:r>
                    </a:p>
                  </a:txBody>
                  <a:tcPr marL="85725" marR="38100" marT="19050" marB="19050" anchor="ctr">
                    <a:solidFill>
                      <a:srgbClr val="F5F8FA"/>
                    </a:solidFill>
                  </a:tcPr>
                </a:tc>
                <a:tc>
                  <a:txBody>
                    <a:bodyPr wrap="none"/>
                    <a:lstStyle/>
                    <a:p>
                      <a:pPr algn="l"/>
                      <a:r>
                        <a:rPr sz="800" b="0">
                          <a:solidFill>
                            <a:srgbClr val="2E2E2E"/>
                          </a:solidFill>
                          <a:latin typeface="Calibri"/>
                        </a:rPr>
                        <a:t>89.7</a:t>
                      </a:r>
                    </a:p>
                  </a:txBody>
                  <a:tcPr marL="85725" marR="38100" marT="19050" marB="19050" anchor="ctr">
                    <a:solidFill>
                      <a:srgbClr val="F5F8FA"/>
                    </a:solidFill>
                  </a:tcPr>
                </a:tc>
                <a:tc>
                  <a:txBody>
                    <a:bodyPr wrap="none"/>
                    <a:lstStyle/>
                    <a:p>
                      <a:pPr algn="l"/>
                      <a:r>
                        <a:rPr sz="800" b="0">
                          <a:solidFill>
                            <a:srgbClr val="2E2E2E"/>
                          </a:solidFill>
                          <a:latin typeface="Calibri"/>
                        </a:rPr>
                        <a:t>100.5</a:t>
                      </a:r>
                    </a:p>
                  </a:txBody>
                  <a:tcPr marL="85725" marR="38100" marT="19050" marB="19050" anchor="ctr">
                    <a:solidFill>
                      <a:srgbClr val="F5F8FA"/>
                    </a:solidFill>
                  </a:tcPr>
                </a:tc>
                <a:tc>
                  <a:txBody>
                    <a:bodyPr wrap="none"/>
                    <a:lstStyle/>
                    <a:p>
                      <a:pPr algn="l"/>
                      <a:r>
                        <a:rPr sz="800" b="0">
                          <a:solidFill>
                            <a:srgbClr val="2E2E2E"/>
                          </a:solidFill>
                          <a:latin typeface="Calibri"/>
                        </a:rPr>
                        <a:t>112.6</a:t>
                      </a:r>
                    </a:p>
                  </a:txBody>
                  <a:tcPr marL="85725" marR="38100" marT="19050" marB="19050" anchor="ctr">
                    <a:solidFill>
                      <a:srgbClr val="F5F8FA"/>
                    </a:solidFill>
                  </a:tcPr>
                </a:tc>
                <a:tc>
                  <a:txBody>
                    <a:bodyPr wrap="none"/>
                    <a:lstStyle/>
                    <a:p>
                      <a:pPr algn="l"/>
                      <a:r>
                        <a:rPr sz="800" b="0">
                          <a:solidFill>
                            <a:srgbClr val="2E2E2E"/>
                          </a:solidFill>
                          <a:latin typeface="Calibri"/>
                        </a:rPr>
                        <a:t>126.1</a:t>
                      </a:r>
                    </a:p>
                  </a:txBody>
                  <a:tcPr marL="85725" marR="38100" marT="19050" marB="19050" anchor="ctr">
                    <a:solidFill>
                      <a:srgbClr val="F5F8FA"/>
                    </a:solidFill>
                  </a:tcPr>
                </a:tc>
                <a:tc>
                  <a:txBody>
                    <a:bodyPr wrap="none"/>
                    <a:lstStyle/>
                    <a:p>
                      <a:pPr algn="l"/>
                      <a:r>
                        <a:rPr sz="800" b="0">
                          <a:solidFill>
                            <a:srgbClr val="2E2E2E"/>
                          </a:solidFill>
                          <a:latin typeface="Calibri"/>
                        </a:rPr>
                        <a:t>141.7</a:t>
                      </a:r>
                    </a:p>
                  </a:txBody>
                  <a:tcPr marL="85725" marR="38100" marT="19050" marB="19050" anchor="ctr">
                    <a:solidFill>
                      <a:srgbClr val="F5F8FA"/>
                    </a:solidFill>
                  </a:tcPr>
                </a:tc>
                <a:tc>
                  <a:txBody>
                    <a:bodyPr wrap="none"/>
                    <a:lstStyle/>
                    <a:p>
                      <a:pPr algn="l"/>
                      <a:r>
                        <a:rPr sz="800" b="0">
                          <a:solidFill>
                            <a:srgbClr val="2E2E2E"/>
                          </a:solidFill>
                          <a:latin typeface="Calibri"/>
                        </a:rPr>
                        <a:t>159.2</a:t>
                      </a:r>
                    </a:p>
                  </a:txBody>
                  <a:tcPr marL="85725" marR="38100" marT="19050" marB="19050" anchor="ctr">
                    <a:solidFill>
                      <a:srgbClr val="F5F8FA"/>
                    </a:solidFill>
                  </a:tcPr>
                </a:tc>
                <a:tc>
                  <a:txBody>
                    <a:bodyPr wrap="none"/>
                    <a:lstStyle/>
                    <a:p>
                      <a:pPr algn="l"/>
                      <a:r>
                        <a:rPr sz="800" b="0">
                          <a:solidFill>
                            <a:srgbClr val="2E2E2E"/>
                          </a:solidFill>
                          <a:latin typeface="Calibri"/>
                        </a:rPr>
                        <a:t>179.5</a:t>
                      </a:r>
                    </a:p>
                  </a:txBody>
                  <a:tcPr marL="85725" marR="38100" marT="19050" marB="19050" anchor="ctr">
                    <a:solidFill>
                      <a:srgbClr val="F5F8FA"/>
                    </a:solidFill>
                  </a:tcPr>
                </a:tc>
                <a:tc>
                  <a:txBody>
                    <a:bodyPr wrap="none"/>
                    <a:lstStyle/>
                    <a:p>
                      <a:pPr algn="l"/>
                      <a:r>
                        <a:rPr sz="800" b="0">
                          <a:solidFill>
                            <a:srgbClr val="2E2E2E"/>
                          </a:solidFill>
                          <a:latin typeface="Calibri"/>
                        </a:rPr>
                        <a:t>12.1%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Specimen Collected</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Specimen Collected,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Specimen Collected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5.0%</a:t>
                      </a:r>
                    </a:p>
                  </a:txBody>
                  <a:tcPr marL="85725" marR="38100" marT="19050" marB="19050" anchor="ctr">
                    <a:solidFill>
                      <a:srgbClr val="FFFFFF"/>
                    </a:solidFill>
                  </a:tcPr>
                </a:tc>
                <a:tc>
                  <a:txBody>
                    <a:bodyPr wrap="none"/>
                    <a:lstStyle/>
                    <a:p>
                      <a:pPr algn="l"/>
                      <a:r>
                        <a:rPr sz="800" b="1">
                          <a:solidFill>
                            <a:srgbClr val="A86F00"/>
                          </a:solidFill>
                          <a:latin typeface="Calibri"/>
                        </a:rPr>
                        <a:t>▶ 4.8%</a:t>
                      </a:r>
                    </a:p>
                  </a:txBody>
                  <a:tcPr marL="85725" marR="38100" marT="19050" marB="19050" anchor="ctr">
                    <a:solidFill>
                      <a:srgbClr val="FFFFFF"/>
                    </a:solidFill>
                  </a:tcPr>
                </a:tc>
                <a:tc>
                  <a:txBody>
                    <a:bodyPr wrap="none"/>
                    <a:lstStyle/>
                    <a:p>
                      <a:pPr algn="l"/>
                      <a:r>
                        <a:rPr sz="800" b="1">
                          <a:solidFill>
                            <a:srgbClr val="A86F00"/>
                          </a:solidFill>
                          <a:latin typeface="Calibri"/>
                        </a:rPr>
                        <a:t>▶ 4.7%</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c>
                  <a:txBody>
                    <a:bodyPr wrap="none"/>
                    <a:lstStyle/>
                    <a:p>
                      <a:pPr algn="l"/>
                      <a:r>
                        <a:rPr sz="800" b="1">
                          <a:solidFill>
                            <a:srgbClr val="A86F00"/>
                          </a:solidFill>
                          <a:latin typeface="Calibri"/>
                        </a:rPr>
                        <a:t>▶ 4.4%</a:t>
                      </a:r>
                    </a:p>
                  </a:txBody>
                  <a:tcPr marL="85725" marR="38100" marT="19050" marB="19050" anchor="ctr">
                    <a:solidFill>
                      <a:srgbClr val="FFFFFF"/>
                    </a:solidFill>
                  </a:tcPr>
                </a:tc>
                <a:tc>
                  <a:txBody>
                    <a:bodyPr wrap="none"/>
                    <a:lstStyle/>
                    <a:p>
                      <a:pPr algn="l"/>
                      <a:r>
                        <a:rPr sz="800" b="1">
                          <a:solidFill>
                            <a:srgbClr val="A86F00"/>
                          </a:solidFill>
                          <a:latin typeface="Calibri"/>
                        </a:rPr>
                        <a:t>▶ 4.1%</a:t>
                      </a:r>
                    </a:p>
                  </a:txBody>
                  <a:tcPr marL="85725" marR="38100" marT="19050" marB="19050" anchor="ctr">
                    <a:solidFill>
                      <a:srgbClr val="FFFFFF"/>
                    </a:solidFill>
                  </a:tcPr>
                </a:tc>
                <a:tc>
                  <a:txBody>
                    <a:bodyPr wrap="none"/>
                    <a:lstStyle/>
                    <a:p>
                      <a:pPr algn="l"/>
                      <a:r>
                        <a:rPr sz="800" b="1">
                          <a:solidFill>
                            <a:srgbClr val="A86F00"/>
                          </a:solidFill>
                          <a:latin typeface="Calibri"/>
                        </a:rPr>
                        <a:t>▶ 4.3%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1">
                          <a:solidFill>
                            <a:srgbClr val="2E7D32"/>
                          </a:solidFill>
                          <a:latin typeface="Calibri"/>
                        </a:rPr>
                        <a:t>▲ 14.8%</a:t>
                      </a:r>
                    </a:p>
                  </a:txBody>
                  <a:tcPr marL="85725" marR="38100" marT="19050" marB="19050" anchor="ctr">
                    <a:solidFill>
                      <a:srgbClr val="F5F8FA"/>
                    </a:solidFill>
                  </a:tcPr>
                </a:tc>
                <a:tc>
                  <a:txBody>
                    <a:bodyPr wrap="none"/>
                    <a:lstStyle/>
                    <a:p>
                      <a:pPr algn="l"/>
                      <a:r>
                        <a:rPr sz="800" b="1">
                          <a:solidFill>
                            <a:srgbClr val="2E7D32"/>
                          </a:solidFill>
                          <a:latin typeface="Calibri"/>
                        </a:rPr>
                        <a:t>▲ 14.8%</a:t>
                      </a:r>
                    </a:p>
                  </a:txBody>
                  <a:tcPr marL="85725" marR="38100" marT="19050" marB="19050" anchor="ctr">
                    <a:solidFill>
                      <a:srgbClr val="F5F8FA"/>
                    </a:solidFill>
                  </a:tcPr>
                </a:tc>
                <a:tc>
                  <a:txBody>
                    <a:bodyPr wrap="none"/>
                    <a:lstStyle/>
                    <a:p>
                      <a:pPr algn="l"/>
                      <a:r>
                        <a:rPr sz="800" b="1">
                          <a:solidFill>
                            <a:srgbClr val="2E7D32"/>
                          </a:solidFill>
                          <a:latin typeface="Calibri"/>
                        </a:rPr>
                        <a:t>▲ 14.9%</a:t>
                      </a:r>
                    </a:p>
                  </a:txBody>
                  <a:tcPr marL="85725" marR="38100" marT="19050" marB="19050" anchor="ctr">
                    <a:solidFill>
                      <a:srgbClr val="F5F8FA"/>
                    </a:solidFill>
                  </a:tcPr>
                </a:tc>
                <a:tc>
                  <a:txBody>
                    <a:bodyPr wrap="none"/>
                    <a:lstStyle/>
                    <a:p>
                      <a:pPr algn="l"/>
                      <a:r>
                        <a:rPr sz="800" b="1">
                          <a:solidFill>
                            <a:srgbClr val="2E7D32"/>
                          </a:solidFill>
                          <a:latin typeface="Calibri"/>
                        </a:rPr>
                        <a:t>▲ 14.7%</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11.3%</a:t>
                      </a:r>
                    </a:p>
                  </a:txBody>
                  <a:tcPr marL="85725" marR="38100" marT="19050" marB="19050" anchor="ctr">
                    <a:solidFill>
                      <a:srgbClr val="F5F8FA"/>
                    </a:solidFill>
                  </a:tcPr>
                </a:tc>
                <a:tc>
                  <a:txBody>
                    <a:bodyPr wrap="none"/>
                    <a:lstStyle/>
                    <a:p>
                      <a:pPr algn="l"/>
                      <a:r>
                        <a:rPr sz="800" b="1">
                          <a:solidFill>
                            <a:srgbClr val="2E7D32"/>
                          </a:solidFill>
                          <a:latin typeface="Calibri"/>
                        </a:rPr>
                        <a:t>▲ 11.2%</a:t>
                      </a:r>
                    </a:p>
                  </a:txBody>
                  <a:tcPr marL="85725" marR="38100" marT="19050" marB="19050" anchor="ctr">
                    <a:solidFill>
                      <a:srgbClr val="F5F8FA"/>
                    </a:solidFill>
                  </a:tcPr>
                </a:tc>
                <a:tc>
                  <a:txBody>
                    <a:bodyPr wrap="none"/>
                    <a:lstStyle/>
                    <a:p>
                      <a:pPr algn="l"/>
                      <a:r>
                        <a:rPr sz="800" b="1">
                          <a:solidFill>
                            <a:srgbClr val="2E7D32"/>
                          </a:solidFill>
                          <a:latin typeface="Calibri"/>
                        </a:rPr>
                        <a:t>▲ 10.9%</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c>
                  <a:txBody>
                    <a:bodyPr wrap="none"/>
                    <a:lstStyle/>
                    <a:p>
                      <a:pPr algn="l"/>
                      <a:r>
                        <a:rPr sz="800" b="1">
                          <a:solidFill>
                            <a:srgbClr val="2E7D32"/>
                          </a:solidFill>
                          <a:latin typeface="Calibri"/>
                        </a:rPr>
                        <a:t>▲ 10.8%</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10.7%</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Specimen Collected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8" name="Table 17"/>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Specimen Collected</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Whole Blood</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7.6%</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c>
                  <a:txBody>
                    <a:bodyPr wrap="none"/>
                    <a:lstStyle/>
                    <a:p>
                      <a:pPr algn="l"/>
                      <a:r>
                        <a:rPr sz="800" b="1">
                          <a:solidFill>
                            <a:srgbClr val="A86F00"/>
                          </a:solidFill>
                          <a:latin typeface="Calibri"/>
                        </a:rPr>
                        <a:t>▶ 8.6%</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Plasma</a:t>
                      </a:r>
                    </a:p>
                  </a:txBody>
                  <a:tcPr marL="85725" marR="38100" marT="19050" marB="19050" anchor="ctr">
                    <a:solidFill>
                      <a:srgbClr val="F5F8FA"/>
                    </a:solidFill>
                  </a:tcPr>
                </a:tc>
                <a:tc>
                  <a:txBody>
                    <a:bodyPr wrap="none"/>
                    <a:lstStyle/>
                    <a:p>
                      <a:pPr algn="l"/>
                      <a:r>
                        <a:rPr sz="800" b="1">
                          <a:solidFill>
                            <a:srgbClr val="2E7D32"/>
                          </a:solidFill>
                          <a:latin typeface="Calibri"/>
                        </a:rPr>
                        <a:t>▲ 6.9%</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9.7%</a:t>
                      </a:r>
                    </a:p>
                  </a:txBody>
                  <a:tcPr marL="85725" marR="38100" marT="19050" marB="19050" anchor="ctr">
                    <a:solidFill>
                      <a:srgbClr val="F5F8FA"/>
                    </a:solidFill>
                  </a:tcPr>
                </a:tc>
                <a:tc>
                  <a:txBody>
                    <a:bodyPr wrap="none"/>
                    <a:lstStyle/>
                    <a:p>
                      <a:pPr algn="l"/>
                      <a:r>
                        <a:rPr sz="800" b="1">
                          <a:solidFill>
                            <a:srgbClr val="2E7D32"/>
                          </a:solidFill>
                          <a:latin typeface="Calibri"/>
                        </a:rPr>
                        <a:t>▲ 10.2%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Serum</a:t>
                      </a:r>
                    </a:p>
                  </a:txBody>
                  <a:tcPr marL="85725" marR="38100" marT="19050" marB="19050" anchor="ctr">
                    <a:solidFill>
                      <a:srgbClr val="FFFFFF"/>
                    </a:solidFill>
                  </a:tcPr>
                </a:tc>
                <a:tc>
                  <a:txBody>
                    <a:bodyPr wrap="none"/>
                    <a:lstStyle/>
                    <a:p>
                      <a:pPr algn="l"/>
                      <a:r>
                        <a:rPr sz="800" b="1">
                          <a:solidFill>
                            <a:srgbClr val="A86F00"/>
                          </a:solidFill>
                          <a:latin typeface="Calibri"/>
                        </a:rPr>
                        <a:t>▶ 3.8%</a:t>
                      </a:r>
                    </a:p>
                  </a:txBody>
                  <a:tcPr marL="85725" marR="38100" marT="19050" marB="19050" anchor="ctr">
                    <a:solidFill>
                      <a:srgbClr val="FFFFFF"/>
                    </a:solidFill>
                  </a:tcPr>
                </a:tc>
                <a:tc>
                  <a:txBody>
                    <a:bodyPr wrap="none"/>
                    <a:lstStyle/>
                    <a:p>
                      <a:pPr algn="l"/>
                      <a:r>
                        <a:rPr sz="800" b="1">
                          <a:solidFill>
                            <a:srgbClr val="A86F00"/>
                          </a:solidFill>
                          <a:latin typeface="Calibri"/>
                        </a:rPr>
                        <a:t>▶ 4.0%</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4.5%</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5.3%</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5.6%</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Dried Blood Spot</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14.1%</a:t>
                      </a:r>
                    </a:p>
                  </a:txBody>
                  <a:tcPr marL="85725" marR="38100" marT="19050" marB="19050" anchor="ctr">
                    <a:solidFill>
                      <a:srgbClr val="F5F8FA"/>
                    </a:solidFill>
                  </a:tcPr>
                </a:tc>
                <a:tc>
                  <a:txBody>
                    <a:bodyPr wrap="none"/>
                    <a:lstStyle/>
                    <a:p>
                      <a:pPr algn="l"/>
                      <a:r>
                        <a:rPr sz="800" b="1">
                          <a:solidFill>
                            <a:srgbClr val="2E7D32"/>
                          </a:solidFill>
                          <a:latin typeface="Calibri"/>
                        </a:rPr>
                        <a:t>▲ 14.1%</a:t>
                      </a:r>
                    </a:p>
                  </a:txBody>
                  <a:tcPr marL="85725" marR="38100" marT="19050" marB="19050" anchor="ctr">
                    <a:solidFill>
                      <a:srgbClr val="F5F8FA"/>
                    </a:solidFill>
                  </a:tcPr>
                </a:tc>
                <a:tc>
                  <a:txBody>
                    <a:bodyPr wrap="none"/>
                    <a:lstStyle/>
                    <a:p>
                      <a:pPr algn="l"/>
                      <a:r>
                        <a:rPr sz="800" b="1">
                          <a:solidFill>
                            <a:srgbClr val="2E7D32"/>
                          </a:solidFill>
                          <a:latin typeface="Calibri"/>
                        </a:rPr>
                        <a:t>▲ 11.7%</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12.3%</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Patient Group</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18</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Patient Group</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Patient Group: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Patient Group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Patient Group</a:t>
            </a:r>
          </a:p>
        </p:txBody>
      </p:sp>
      <p:graphicFrame>
        <p:nvGraphicFramePr>
          <p:cNvPr id="17" name="Table 16"/>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Patient Group</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Neonates</a:t>
                      </a:r>
                    </a:p>
                  </a:txBody>
                  <a:tcPr marL="85725" marR="38100" marT="19050" marB="19050" anchor="ctr">
                    <a:solidFill>
                      <a:srgbClr val="FFFFFF"/>
                    </a:solidFill>
                  </a:tcPr>
                </a:tc>
                <a:tc>
                  <a:txBody>
                    <a:bodyPr wrap="none"/>
                    <a:lstStyle/>
                    <a:p>
                      <a:pPr algn="l"/>
                      <a:r>
                        <a:rPr sz="900" b="0">
                          <a:solidFill>
                            <a:srgbClr val="2E2E2E"/>
                          </a:solidFill>
                          <a:latin typeface="Calibri"/>
                        </a:rPr>
                        <a:t>7.7%</a:t>
                      </a:r>
                    </a:p>
                  </a:txBody>
                  <a:tcPr marL="85725" marR="38100" marT="19050" marB="19050" anchor="ctr">
                    <a:solidFill>
                      <a:srgbClr val="FFFFFF"/>
                    </a:solidFill>
                  </a:tcPr>
                </a:tc>
                <a:tc>
                  <a:txBody>
                    <a:bodyPr wrap="none"/>
                    <a:lstStyle/>
                    <a:p>
                      <a:pPr algn="l"/>
                      <a:r>
                        <a:rPr sz="900" b="0">
                          <a:solidFill>
                            <a:srgbClr val="2E2E2E"/>
                          </a:solidFill>
                          <a:latin typeface="Calibri"/>
                        </a:rPr>
                        <a:t>7.8%</a:t>
                      </a:r>
                    </a:p>
                  </a:txBody>
                  <a:tcPr marL="85725" marR="38100" marT="19050" marB="19050" anchor="ctr">
                    <a:solidFill>
                      <a:srgbClr val="FFFFFF"/>
                    </a:solidFill>
                  </a:tcPr>
                </a:tc>
                <a:tc>
                  <a:txBody>
                    <a:bodyPr wrap="none"/>
                    <a:lstStyle/>
                    <a:p>
                      <a:pPr algn="l"/>
                      <a:r>
                        <a:rPr sz="900" b="1">
                          <a:solidFill>
                            <a:srgbClr val="008189"/>
                          </a:solidFill>
                          <a:latin typeface="Calibri"/>
                        </a:rPr>
                        <a:t>+15</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12.1%</a:t>
                      </a:r>
                    </a:p>
                  </a:txBody>
                  <a:tcPr marL="85725" marR="38100" marT="19050" marB="19050" anchor="ctr">
                    <a:solidFill>
                      <a:srgbClr val="F5F8FA"/>
                    </a:solidFill>
                  </a:tcPr>
                </a:tc>
                <a:tc>
                  <a:txBody>
                    <a:bodyPr wrap="none"/>
                    <a:lstStyle/>
                    <a:p>
                      <a:pPr algn="l"/>
                      <a:r>
                        <a:rPr sz="900" b="0">
                          <a:solidFill>
                            <a:srgbClr val="2E2E2E"/>
                          </a:solidFill>
                          <a:latin typeface="Calibri"/>
                        </a:rPr>
                        <a:t>12.4%</a:t>
                      </a:r>
                    </a:p>
                  </a:txBody>
                  <a:tcPr marL="85725" marR="38100" marT="19050" marB="19050" anchor="ctr">
                    <a:solidFill>
                      <a:srgbClr val="F5F8FA"/>
                    </a:solidFill>
                  </a:tcPr>
                </a:tc>
                <a:tc>
                  <a:txBody>
                    <a:bodyPr wrap="none"/>
                    <a:lstStyle/>
                    <a:p>
                      <a:pPr algn="l"/>
                      <a:r>
                        <a:rPr sz="900" b="1">
                          <a:solidFill>
                            <a:srgbClr val="008189"/>
                          </a:solidFill>
                          <a:latin typeface="Calibri"/>
                        </a:rPr>
                        <a:t>+30</a:t>
                      </a:r>
                    </a:p>
                  </a:txBody>
                  <a:tcPr marL="85725" marR="38100" marT="19050" marB="19050" anchor="ctr">
                    <a:solidFill>
                      <a:srgbClr val="F5F8FA"/>
                    </a:solidFill>
                  </a:tcPr>
                </a:tc>
                <a:tc>
                  <a:txBody>
                    <a:bodyPr wrap="none"/>
                    <a:lstStyle/>
                    <a:p>
                      <a:pPr algn="l"/>
                      <a:r>
                        <a:rPr sz="9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Adults</a:t>
                      </a:r>
                    </a:p>
                  </a:txBody>
                  <a:tcPr marL="85725" marR="38100" marT="19050" marB="19050" anchor="ctr">
                    <a:solidFill>
                      <a:srgbClr val="FFFFFF"/>
                    </a:solidFill>
                  </a:tcPr>
                </a:tc>
                <a:tc>
                  <a:txBody>
                    <a:bodyPr wrap="none"/>
                    <a:lstStyle/>
                    <a:p>
                      <a:pPr algn="l"/>
                      <a:r>
                        <a:rPr sz="900" b="0">
                          <a:solidFill>
                            <a:srgbClr val="2E2E2E"/>
                          </a:solidFill>
                          <a:latin typeface="Calibri"/>
                        </a:rPr>
                        <a:t>54.9%</a:t>
                      </a:r>
                    </a:p>
                  </a:txBody>
                  <a:tcPr marL="85725" marR="38100" marT="19050" marB="19050" anchor="ctr">
                    <a:solidFill>
                      <a:srgbClr val="FFFFFF"/>
                    </a:solidFill>
                  </a:tcPr>
                </a:tc>
                <a:tc>
                  <a:txBody>
                    <a:bodyPr wrap="none"/>
                    <a:lstStyle/>
                    <a:p>
                      <a:pPr algn="l"/>
                      <a:r>
                        <a:rPr sz="900" b="0">
                          <a:solidFill>
                            <a:srgbClr val="2E2E2E"/>
                          </a:solidFill>
                          <a:latin typeface="Calibri"/>
                        </a:rPr>
                        <a:t>49.7%</a:t>
                      </a:r>
                    </a:p>
                  </a:txBody>
                  <a:tcPr marL="85725" marR="38100" marT="19050" marB="19050" anchor="ctr">
                    <a:solidFill>
                      <a:srgbClr val="FFFFFF"/>
                    </a:solidFill>
                  </a:tcPr>
                </a:tc>
                <a:tc>
                  <a:txBody>
                    <a:bodyPr wrap="none"/>
                    <a:lstStyle/>
                    <a:p>
                      <a:pPr algn="l"/>
                      <a:r>
                        <a:rPr sz="900" b="1">
                          <a:solidFill>
                            <a:srgbClr val="E44D3A"/>
                          </a:solidFill>
                          <a:latin typeface="Calibri"/>
                        </a:rPr>
                        <a:t>-521</a:t>
                      </a:r>
                    </a:p>
                  </a:txBody>
                  <a:tcPr marL="85725" marR="38100" marT="19050" marB="19050" anchor="ctr">
                    <a:solidFill>
                      <a:srgbClr val="FFFFFF"/>
                    </a:solidFill>
                  </a:tcPr>
                </a:tc>
                <a:tc>
                  <a:txBody>
                    <a:bodyPr wrap="none"/>
                    <a:lstStyle/>
                    <a:p>
                      <a:pPr algn="l"/>
                      <a:r>
                        <a:rPr sz="900" b="0">
                          <a:solidFill>
                            <a:srgbClr val="2E2E2E"/>
                          </a:solidFill>
                          <a:latin typeface="Calibri"/>
                        </a:rPr>
                        <a:t>7.1%</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25.3%</a:t>
                      </a:r>
                    </a:p>
                  </a:txBody>
                  <a:tcPr marL="85725" marR="38100" marT="19050" marB="19050" anchor="ctr">
                    <a:solidFill>
                      <a:srgbClr val="F5F8FA"/>
                    </a:solidFill>
                  </a:tcPr>
                </a:tc>
                <a:tc>
                  <a:txBody>
                    <a:bodyPr wrap="none"/>
                    <a:lstStyle/>
                    <a:p>
                      <a:pPr algn="l"/>
                      <a:r>
                        <a:rPr sz="900" b="0">
                          <a:solidFill>
                            <a:srgbClr val="2E2E2E"/>
                          </a:solidFill>
                          <a:latin typeface="Calibri"/>
                        </a:rPr>
                        <a:t>30.1%</a:t>
                      </a:r>
                    </a:p>
                  </a:txBody>
                  <a:tcPr marL="85725" marR="38100" marT="19050" marB="19050" anchor="ctr">
                    <a:solidFill>
                      <a:srgbClr val="F5F8FA"/>
                    </a:solidFill>
                  </a:tcPr>
                </a:tc>
                <a:tc>
                  <a:txBody>
                    <a:bodyPr wrap="none"/>
                    <a:lstStyle/>
                    <a:p>
                      <a:pPr algn="l"/>
                      <a:r>
                        <a:rPr sz="900" b="1">
                          <a:solidFill>
                            <a:srgbClr val="008189"/>
                          </a:solidFill>
                          <a:latin typeface="Calibri"/>
                        </a:rPr>
                        <a:t>+476</a:t>
                      </a:r>
                    </a:p>
                  </a:txBody>
                  <a:tcPr marL="85725" marR="38100" marT="19050" marB="19050" anchor="ctr">
                    <a:solidFill>
                      <a:srgbClr val="F5F8FA"/>
                    </a:solidFill>
                  </a:tcPr>
                </a:tc>
                <a:tc>
                  <a:txBody>
                    <a:bodyPr wrap="none"/>
                    <a:lstStyle/>
                    <a:p>
                      <a:pPr algn="l"/>
                      <a:r>
                        <a:rPr sz="900" b="0">
                          <a:solidFill>
                            <a:srgbClr val="2E2E2E"/>
                          </a:solidFill>
                          <a:latin typeface="Calibri"/>
                        </a:rPr>
                        <a:t>10.1%</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Patient Group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Patient Group</a:t>
            </a:r>
          </a:p>
        </p:txBody>
      </p:sp>
      <p:graphicFrame>
        <p:nvGraphicFramePr>
          <p:cNvPr id="24" name="Table 23"/>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Patient Group</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Neonates</a:t>
                      </a:r>
                    </a:p>
                  </a:txBody>
                  <a:tcPr marL="85725" marR="38100" marT="19050" marB="19050" anchor="ctr">
                    <a:solidFill>
                      <a:srgbClr val="FFFFFF"/>
                    </a:solidFill>
                  </a:tcPr>
                </a:tc>
                <a:tc>
                  <a:txBody>
                    <a:bodyPr wrap="none"/>
                    <a:lstStyle/>
                    <a:p>
                      <a:pPr algn="l"/>
                      <a:r>
                        <a:rPr sz="900" b="0">
                          <a:solidFill>
                            <a:srgbClr val="2E2E2E"/>
                          </a:solidFill>
                          <a:latin typeface="Calibri"/>
                        </a:rPr>
                        <a:t>7.7%</a:t>
                      </a:r>
                    </a:p>
                  </a:txBody>
                  <a:tcPr marL="85725" marR="38100" marT="19050" marB="19050" anchor="ctr">
                    <a:solidFill>
                      <a:srgbClr val="FFFFFF"/>
                    </a:solidFill>
                  </a:tcPr>
                </a:tc>
                <a:tc>
                  <a:txBody>
                    <a:bodyPr wrap="none"/>
                    <a:lstStyle/>
                    <a:p>
                      <a:pPr algn="l"/>
                      <a:r>
                        <a:rPr sz="900" b="0">
                          <a:solidFill>
                            <a:srgbClr val="2E2E2E"/>
                          </a:solidFill>
                          <a:latin typeface="Calibri"/>
                        </a:rPr>
                        <a:t>7.8%</a:t>
                      </a:r>
                    </a:p>
                  </a:txBody>
                  <a:tcPr marL="85725" marR="38100" marT="19050" marB="19050" anchor="ctr">
                    <a:solidFill>
                      <a:srgbClr val="FFFFFF"/>
                    </a:solidFill>
                  </a:tcPr>
                </a:tc>
                <a:tc>
                  <a:txBody>
                    <a:bodyPr wrap="none"/>
                    <a:lstStyle/>
                    <a:p>
                      <a:pPr algn="l"/>
                      <a:r>
                        <a:rPr sz="900" b="1">
                          <a:solidFill>
                            <a:srgbClr val="008189"/>
                          </a:solidFill>
                          <a:latin typeface="Calibri"/>
                        </a:rPr>
                        <a:t>+15</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12.1%</a:t>
                      </a:r>
                    </a:p>
                  </a:txBody>
                  <a:tcPr marL="85725" marR="38100" marT="19050" marB="19050" anchor="ctr">
                    <a:solidFill>
                      <a:srgbClr val="F5F8FA"/>
                    </a:solidFill>
                  </a:tcPr>
                </a:tc>
                <a:tc>
                  <a:txBody>
                    <a:bodyPr wrap="none"/>
                    <a:lstStyle/>
                    <a:p>
                      <a:pPr algn="l"/>
                      <a:r>
                        <a:rPr sz="900" b="0">
                          <a:solidFill>
                            <a:srgbClr val="2E2E2E"/>
                          </a:solidFill>
                          <a:latin typeface="Calibri"/>
                        </a:rPr>
                        <a:t>12.4%</a:t>
                      </a:r>
                    </a:p>
                  </a:txBody>
                  <a:tcPr marL="85725" marR="38100" marT="19050" marB="19050" anchor="ctr">
                    <a:solidFill>
                      <a:srgbClr val="F5F8FA"/>
                    </a:solidFill>
                  </a:tcPr>
                </a:tc>
                <a:tc>
                  <a:txBody>
                    <a:bodyPr wrap="none"/>
                    <a:lstStyle/>
                    <a:p>
                      <a:pPr algn="l"/>
                      <a:r>
                        <a:rPr sz="900" b="1">
                          <a:solidFill>
                            <a:srgbClr val="008189"/>
                          </a:solidFill>
                          <a:latin typeface="Calibri"/>
                        </a:rPr>
                        <a:t>+30</a:t>
                      </a:r>
                    </a:p>
                  </a:txBody>
                  <a:tcPr marL="85725" marR="38100" marT="19050" marB="19050" anchor="ctr">
                    <a:solidFill>
                      <a:srgbClr val="F5F8FA"/>
                    </a:solidFill>
                  </a:tcPr>
                </a:tc>
                <a:tc>
                  <a:txBody>
                    <a:bodyPr wrap="none"/>
                    <a:lstStyle/>
                    <a:p>
                      <a:pPr algn="l"/>
                      <a:r>
                        <a:rPr sz="9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Adults</a:t>
                      </a:r>
                    </a:p>
                  </a:txBody>
                  <a:tcPr marL="85725" marR="38100" marT="19050" marB="19050" anchor="ctr">
                    <a:solidFill>
                      <a:srgbClr val="FFFFFF"/>
                    </a:solidFill>
                  </a:tcPr>
                </a:tc>
                <a:tc>
                  <a:txBody>
                    <a:bodyPr wrap="none"/>
                    <a:lstStyle/>
                    <a:p>
                      <a:pPr algn="l"/>
                      <a:r>
                        <a:rPr sz="900" b="0">
                          <a:solidFill>
                            <a:srgbClr val="2E2E2E"/>
                          </a:solidFill>
                          <a:latin typeface="Calibri"/>
                        </a:rPr>
                        <a:t>54.9%</a:t>
                      </a:r>
                    </a:p>
                  </a:txBody>
                  <a:tcPr marL="85725" marR="38100" marT="19050" marB="19050" anchor="ctr">
                    <a:solidFill>
                      <a:srgbClr val="FFFFFF"/>
                    </a:solidFill>
                  </a:tcPr>
                </a:tc>
                <a:tc>
                  <a:txBody>
                    <a:bodyPr wrap="none"/>
                    <a:lstStyle/>
                    <a:p>
                      <a:pPr algn="l"/>
                      <a:r>
                        <a:rPr sz="900" b="0">
                          <a:solidFill>
                            <a:srgbClr val="2E2E2E"/>
                          </a:solidFill>
                          <a:latin typeface="Calibri"/>
                        </a:rPr>
                        <a:t>49.7%</a:t>
                      </a:r>
                    </a:p>
                  </a:txBody>
                  <a:tcPr marL="85725" marR="38100" marT="19050" marB="19050" anchor="ctr">
                    <a:solidFill>
                      <a:srgbClr val="FFFFFF"/>
                    </a:solidFill>
                  </a:tcPr>
                </a:tc>
                <a:tc>
                  <a:txBody>
                    <a:bodyPr wrap="none"/>
                    <a:lstStyle/>
                    <a:p>
                      <a:pPr algn="l"/>
                      <a:r>
                        <a:rPr sz="900" b="1">
                          <a:solidFill>
                            <a:srgbClr val="E44D3A"/>
                          </a:solidFill>
                          <a:latin typeface="Calibri"/>
                        </a:rPr>
                        <a:t>-521</a:t>
                      </a:r>
                    </a:p>
                  </a:txBody>
                  <a:tcPr marL="85725" marR="38100" marT="19050" marB="19050" anchor="ctr">
                    <a:solidFill>
                      <a:srgbClr val="FFFFFF"/>
                    </a:solidFill>
                  </a:tcPr>
                </a:tc>
                <a:tc>
                  <a:txBody>
                    <a:bodyPr wrap="none"/>
                    <a:lstStyle/>
                    <a:p>
                      <a:pPr algn="l"/>
                      <a:r>
                        <a:rPr sz="900" b="0">
                          <a:solidFill>
                            <a:srgbClr val="2E2E2E"/>
                          </a:solidFill>
                          <a:latin typeface="Calibri"/>
                        </a:rPr>
                        <a:t>6.2%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900" b="0">
                          <a:solidFill>
                            <a:srgbClr val="2E2E2E"/>
                          </a:solidFill>
                          <a:latin typeface="Calibri"/>
                        </a:rPr>
                        <a:t>25.3%</a:t>
                      </a:r>
                    </a:p>
                  </a:txBody>
                  <a:tcPr marL="85725" marR="38100" marT="19050" marB="19050" anchor="ctr">
                    <a:solidFill>
                      <a:srgbClr val="F5F8FA"/>
                    </a:solidFill>
                  </a:tcPr>
                </a:tc>
                <a:tc>
                  <a:txBody>
                    <a:bodyPr wrap="none"/>
                    <a:lstStyle/>
                    <a:p>
                      <a:pPr algn="l"/>
                      <a:r>
                        <a:rPr sz="900" b="0">
                          <a:solidFill>
                            <a:srgbClr val="2E2E2E"/>
                          </a:solidFill>
                          <a:latin typeface="Calibri"/>
                        </a:rPr>
                        <a:t>30.1%</a:t>
                      </a:r>
                    </a:p>
                  </a:txBody>
                  <a:tcPr marL="85725" marR="38100" marT="19050" marB="19050" anchor="ctr">
                    <a:solidFill>
                      <a:srgbClr val="F5F8FA"/>
                    </a:solidFill>
                  </a:tcPr>
                </a:tc>
                <a:tc>
                  <a:txBody>
                    <a:bodyPr wrap="none"/>
                    <a:lstStyle/>
                    <a:p>
                      <a:pPr algn="l"/>
                      <a:r>
                        <a:rPr sz="900" b="1">
                          <a:solidFill>
                            <a:srgbClr val="008189"/>
                          </a:solidFill>
                          <a:latin typeface="Calibri"/>
                        </a:rPr>
                        <a:t>+476</a:t>
                      </a:r>
                    </a:p>
                  </a:txBody>
                  <a:tcPr marL="85725" marR="38100" marT="19050" marB="19050" anchor="ctr">
                    <a:solidFill>
                      <a:srgbClr val="F5F8FA"/>
                    </a:solidFill>
                  </a:tcPr>
                </a:tc>
                <a:tc>
                  <a:txBody>
                    <a:bodyPr wrap="none"/>
                    <a:lstStyle/>
                    <a:p>
                      <a:pPr algn="l"/>
                      <a:r>
                        <a:rPr sz="900" b="0">
                          <a:solidFill>
                            <a:srgbClr val="2E2E2E"/>
                          </a:solidFill>
                          <a:latin typeface="Calibri"/>
                        </a:rPr>
                        <a:t>9.1%</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Patient Group</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Patient Group,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Patient Group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0">
                          <a:solidFill>
                            <a:srgbClr val="2E2E2E"/>
                          </a:solidFill>
                          <a:latin typeface="Calibri"/>
                        </a:rPr>
                        <a:t>40.7</a:t>
                      </a:r>
                    </a:p>
                  </a:txBody>
                  <a:tcPr marL="85725" marR="38100" marT="19050" marB="19050" anchor="ctr">
                    <a:solidFill>
                      <a:srgbClr val="FFFFFF"/>
                    </a:solidFill>
                  </a:tcPr>
                </a:tc>
                <a:tc>
                  <a:txBody>
                    <a:bodyPr wrap="none"/>
                    <a:lstStyle/>
                    <a:p>
                      <a:pPr algn="l"/>
                      <a:r>
                        <a:rPr sz="800" b="0">
                          <a:solidFill>
                            <a:srgbClr val="2E2E2E"/>
                          </a:solidFill>
                          <a:latin typeface="Calibri"/>
                        </a:rPr>
                        <a:t>43.7</a:t>
                      </a:r>
                    </a:p>
                  </a:txBody>
                  <a:tcPr marL="85725" marR="38100" marT="19050" marB="19050" anchor="ctr">
                    <a:solidFill>
                      <a:srgbClr val="FFFFFF"/>
                    </a:solidFill>
                  </a:tcPr>
                </a:tc>
                <a:tc>
                  <a:txBody>
                    <a:bodyPr wrap="none"/>
                    <a:lstStyle/>
                    <a:p>
                      <a:pPr algn="l"/>
                      <a:r>
                        <a:rPr sz="800" b="0">
                          <a:solidFill>
                            <a:srgbClr val="2E2E2E"/>
                          </a:solidFill>
                          <a:latin typeface="Calibri"/>
                        </a:rPr>
                        <a:t>46.9</a:t>
                      </a:r>
                    </a:p>
                  </a:txBody>
                  <a:tcPr marL="85725" marR="38100" marT="19050" marB="19050" anchor="ctr">
                    <a:solidFill>
                      <a:srgbClr val="FFFFFF"/>
                    </a:solidFill>
                  </a:tcPr>
                </a:tc>
                <a:tc>
                  <a:txBody>
                    <a:bodyPr wrap="none"/>
                    <a:lstStyle/>
                    <a:p>
                      <a:pPr algn="l"/>
                      <a:r>
                        <a:rPr sz="800" b="0">
                          <a:solidFill>
                            <a:srgbClr val="2E2E2E"/>
                          </a:solidFill>
                          <a:latin typeface="Calibri"/>
                        </a:rPr>
                        <a:t>50.5</a:t>
                      </a:r>
                    </a:p>
                  </a:txBody>
                  <a:tcPr marL="85725" marR="38100" marT="19050" marB="19050" anchor="ctr">
                    <a:solidFill>
                      <a:srgbClr val="FFFFFF"/>
                    </a:solidFill>
                  </a:tcPr>
                </a:tc>
                <a:tc>
                  <a:txBody>
                    <a:bodyPr wrap="none"/>
                    <a:lstStyle/>
                    <a:p>
                      <a:pPr algn="l"/>
                      <a:r>
                        <a:rPr sz="800" b="0">
                          <a:solidFill>
                            <a:srgbClr val="2E2E2E"/>
                          </a:solidFill>
                          <a:latin typeface="Calibri"/>
                        </a:rPr>
                        <a:t>54.4</a:t>
                      </a:r>
                    </a:p>
                  </a:txBody>
                  <a:tcPr marL="85725" marR="38100" marT="19050" marB="19050" anchor="ctr">
                    <a:solidFill>
                      <a:srgbClr val="FFFFFF"/>
                    </a:solidFill>
                  </a:tcPr>
                </a:tc>
                <a:tc>
                  <a:txBody>
                    <a:bodyPr wrap="none"/>
                    <a:lstStyle/>
                    <a:p>
                      <a:pPr algn="l"/>
                      <a:r>
                        <a:rPr sz="800" b="0">
                          <a:solidFill>
                            <a:srgbClr val="2E2E2E"/>
                          </a:solidFill>
                          <a:latin typeface="Calibri"/>
                        </a:rPr>
                        <a:t>58.6</a:t>
                      </a:r>
                    </a:p>
                  </a:txBody>
                  <a:tcPr marL="85725" marR="38100" marT="19050" marB="19050" anchor="ctr">
                    <a:solidFill>
                      <a:srgbClr val="FFFFFF"/>
                    </a:solidFill>
                  </a:tcPr>
                </a:tc>
                <a:tc>
                  <a:txBody>
                    <a:bodyPr wrap="none"/>
                    <a:lstStyle/>
                    <a:p>
                      <a:pPr algn="l"/>
                      <a:r>
                        <a:rPr sz="800" b="0">
                          <a:solidFill>
                            <a:srgbClr val="2E2E2E"/>
                          </a:solidFill>
                          <a:latin typeface="Calibri"/>
                        </a:rPr>
                        <a:t>63.2</a:t>
                      </a:r>
                    </a:p>
                  </a:txBody>
                  <a:tcPr marL="85725" marR="38100" marT="19050" marB="19050" anchor="ctr">
                    <a:solidFill>
                      <a:srgbClr val="FFFFFF"/>
                    </a:solidFill>
                  </a:tcPr>
                </a:tc>
                <a:tc>
                  <a:txBody>
                    <a:bodyPr wrap="none"/>
                    <a:lstStyle/>
                    <a:p>
                      <a:pPr algn="l"/>
                      <a:r>
                        <a:rPr sz="800" b="0">
                          <a:solidFill>
                            <a:srgbClr val="2E2E2E"/>
                          </a:solidFill>
                          <a:latin typeface="Calibri"/>
                        </a:rPr>
                        <a:t>68.1</a:t>
                      </a:r>
                    </a:p>
                  </a:txBody>
                  <a:tcPr marL="85725" marR="38100" marT="19050" marB="19050" anchor="ctr">
                    <a:solidFill>
                      <a:srgbClr val="FFFFFF"/>
                    </a:solidFill>
                  </a:tcPr>
                </a:tc>
                <a:tc>
                  <a:txBody>
                    <a:bodyPr wrap="none"/>
                    <a:lstStyle/>
                    <a:p>
                      <a:pPr algn="l"/>
                      <a:r>
                        <a:rPr sz="800" b="0">
                          <a:solidFill>
                            <a:srgbClr val="2E2E2E"/>
                          </a:solidFill>
                          <a:latin typeface="Calibri"/>
                        </a:rPr>
                        <a:t>73.3</a:t>
                      </a:r>
                    </a:p>
                  </a:txBody>
                  <a:tcPr marL="85725" marR="38100" marT="19050" marB="19050" anchor="ctr">
                    <a:solidFill>
                      <a:srgbClr val="FFFFFF"/>
                    </a:solidFill>
                  </a:tcPr>
                </a:tc>
                <a:tc>
                  <a:txBody>
                    <a:bodyPr wrap="none"/>
                    <a:lstStyle/>
                    <a:p>
                      <a:pPr algn="l"/>
                      <a:r>
                        <a:rPr sz="800" b="0">
                          <a:solidFill>
                            <a:srgbClr val="2E2E2E"/>
                          </a:solidFill>
                          <a:latin typeface="Calibri"/>
                        </a:rPr>
                        <a:t>78.8</a:t>
                      </a:r>
                    </a:p>
                  </a:txBody>
                  <a:tcPr marL="85725" marR="38100" marT="19050" marB="19050" anchor="ctr">
                    <a:solidFill>
                      <a:srgbClr val="FFFFFF"/>
                    </a:solidFill>
                  </a:tcPr>
                </a:tc>
                <a:tc>
                  <a:txBody>
                    <a:bodyPr wrap="none"/>
                    <a:lstStyle/>
                    <a:p>
                      <a:pPr algn="l"/>
                      <a:r>
                        <a:rPr sz="800" b="0">
                          <a:solidFill>
                            <a:srgbClr val="2E2E2E"/>
                          </a:solidFill>
                          <a:latin typeface="Calibri"/>
                        </a:rPr>
                        <a:t>84.7</a:t>
                      </a:r>
                    </a:p>
                  </a:txBody>
                  <a:tcPr marL="85725" marR="38100" marT="19050" marB="19050" anchor="ctr">
                    <a:solidFill>
                      <a:srgbClr val="FFFFFF"/>
                    </a:solidFill>
                  </a:tcPr>
                </a:tc>
                <a:tc>
                  <a:txBody>
                    <a:bodyPr wrap="none"/>
                    <a:lstStyle/>
                    <a:p>
                      <a:pPr algn="l"/>
                      <a:r>
                        <a:rPr sz="800" b="0">
                          <a:solidFill>
                            <a:srgbClr val="2E2E2E"/>
                          </a:solidFill>
                          <a:latin typeface="Calibri"/>
                        </a:rPr>
                        <a:t>90.9</a:t>
                      </a:r>
                    </a:p>
                  </a:txBody>
                  <a:tcPr marL="85725" marR="38100" marT="19050" marB="19050" anchor="ctr">
                    <a:solidFill>
                      <a:srgbClr val="FFFFFF"/>
                    </a:solidFill>
                  </a:tcPr>
                </a:tc>
                <a:tc>
                  <a:txBody>
                    <a:bodyPr wrap="none"/>
                    <a:lstStyle/>
                    <a:p>
                      <a:pPr algn="l"/>
                      <a:r>
                        <a:rPr sz="800" b="0">
                          <a:solidFill>
                            <a:srgbClr val="2E2E2E"/>
                          </a:solidFill>
                          <a:latin typeface="Calibri"/>
                        </a:rPr>
                        <a:t>97.4</a:t>
                      </a:r>
                    </a:p>
                  </a:txBody>
                  <a:tcPr marL="85725" marR="38100" marT="19050" marB="19050" anchor="ctr">
                    <a:solidFill>
                      <a:srgbClr val="FFFFFF"/>
                    </a:solidFill>
                  </a:tcPr>
                </a:tc>
                <a:tc>
                  <a:txBody>
                    <a:bodyPr wrap="none"/>
                    <a:lstStyle/>
                    <a:p>
                      <a:pPr algn="l"/>
                      <a:r>
                        <a:rPr sz="800" b="0">
                          <a:solidFill>
                            <a:srgbClr val="2E2E2E"/>
                          </a:solidFill>
                          <a:latin typeface="Calibri"/>
                        </a:rPr>
                        <a:t>104.6</a:t>
                      </a:r>
                    </a:p>
                  </a:txBody>
                  <a:tcPr marL="85725" marR="38100" marT="19050" marB="19050" anchor="ctr">
                    <a:solidFill>
                      <a:srgbClr val="FFFFFF"/>
                    </a:solidFill>
                  </a:tcPr>
                </a:tc>
                <a:tc>
                  <a:txBody>
                    <a:bodyPr wrap="none"/>
                    <a:lstStyle/>
                    <a:p>
                      <a:pPr algn="l"/>
                      <a:r>
                        <a:rPr sz="800" b="0">
                          <a:solidFill>
                            <a:srgbClr val="2E2E2E"/>
                          </a:solidFill>
                          <a:latin typeface="Calibri"/>
                        </a:rPr>
                        <a:t>112.1</a:t>
                      </a:r>
                    </a:p>
                  </a:txBody>
                  <a:tcPr marL="85725" marR="38100" marT="19050" marB="19050" anchor="ctr">
                    <a:solidFill>
                      <a:srgbClr val="FFFFFF"/>
                    </a:solidFill>
                  </a:tcPr>
                </a:tc>
                <a:tc>
                  <a:txBody>
                    <a:bodyPr wrap="none"/>
                    <a:lstStyle/>
                    <a:p>
                      <a:pPr algn="l"/>
                      <a:r>
                        <a:rPr sz="800" b="0">
                          <a:solidFill>
                            <a:srgbClr val="2E2E2E"/>
                          </a:solidFill>
                          <a:latin typeface="Calibri"/>
                        </a:rPr>
                        <a:t>120.4</a:t>
                      </a:r>
                    </a:p>
                  </a:txBody>
                  <a:tcPr marL="85725" marR="38100" marT="19050" marB="19050" anchor="ctr">
                    <a:solidFill>
                      <a:srgbClr val="FFFFFF"/>
                    </a:solidFill>
                  </a:tcPr>
                </a:tc>
                <a:tc>
                  <a:txBody>
                    <a:bodyPr wrap="none"/>
                    <a:lstStyle/>
                    <a:p>
                      <a:pPr algn="l"/>
                      <a:r>
                        <a:rPr sz="800" b="0">
                          <a:solidFill>
                            <a:srgbClr val="2E2E2E"/>
                          </a:solidFill>
                          <a:latin typeface="Calibri"/>
                        </a:rPr>
                        <a:t>7.5%</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63.4</a:t>
                      </a:r>
                    </a:p>
                  </a:txBody>
                  <a:tcPr marL="85725" marR="38100" marT="19050" marB="19050" anchor="ctr">
                    <a:solidFill>
                      <a:srgbClr val="F5F8FA"/>
                    </a:solidFill>
                  </a:tcPr>
                </a:tc>
                <a:tc>
                  <a:txBody>
                    <a:bodyPr wrap="none"/>
                    <a:lstStyle/>
                    <a:p>
                      <a:pPr algn="l"/>
                      <a:r>
                        <a:rPr sz="800" b="0">
                          <a:solidFill>
                            <a:srgbClr val="2E2E2E"/>
                          </a:solidFill>
                          <a:latin typeface="Calibri"/>
                        </a:rPr>
                        <a:t>68.3</a:t>
                      </a:r>
                    </a:p>
                  </a:txBody>
                  <a:tcPr marL="85725" marR="38100" marT="19050" marB="19050" anchor="ctr">
                    <a:solidFill>
                      <a:srgbClr val="F5F8FA"/>
                    </a:solidFill>
                  </a:tcPr>
                </a:tc>
                <a:tc>
                  <a:txBody>
                    <a:bodyPr wrap="none"/>
                    <a:lstStyle/>
                    <a:p>
                      <a:pPr algn="l"/>
                      <a:r>
                        <a:rPr sz="800" b="0">
                          <a:solidFill>
                            <a:srgbClr val="2E2E2E"/>
                          </a:solidFill>
                          <a:latin typeface="Calibri"/>
                        </a:rPr>
                        <a:t>73.6</a:t>
                      </a:r>
                    </a:p>
                  </a:txBody>
                  <a:tcPr marL="85725" marR="38100" marT="19050" marB="19050" anchor="ctr">
                    <a:solidFill>
                      <a:srgbClr val="F5F8FA"/>
                    </a:solidFill>
                  </a:tcPr>
                </a:tc>
                <a:tc>
                  <a:txBody>
                    <a:bodyPr wrap="none"/>
                    <a:lstStyle/>
                    <a:p>
                      <a:pPr algn="l"/>
                      <a:r>
                        <a:rPr sz="800" b="0">
                          <a:solidFill>
                            <a:srgbClr val="2E2E2E"/>
                          </a:solidFill>
                          <a:latin typeface="Calibri"/>
                        </a:rPr>
                        <a:t>79.4</a:t>
                      </a:r>
                    </a:p>
                  </a:txBody>
                  <a:tcPr marL="85725" marR="38100" marT="19050" marB="19050" anchor="ctr">
                    <a:solidFill>
                      <a:srgbClr val="F5F8FA"/>
                    </a:solidFill>
                  </a:tcPr>
                </a:tc>
                <a:tc>
                  <a:txBody>
                    <a:bodyPr wrap="none"/>
                    <a:lstStyle/>
                    <a:p>
                      <a:pPr algn="l"/>
                      <a:r>
                        <a:rPr sz="800" b="0">
                          <a:solidFill>
                            <a:srgbClr val="2E2E2E"/>
                          </a:solidFill>
                          <a:latin typeface="Calibri"/>
                        </a:rPr>
                        <a:t>85.7</a:t>
                      </a:r>
                    </a:p>
                  </a:txBody>
                  <a:tcPr marL="85725" marR="38100" marT="19050" marB="19050" anchor="ctr">
                    <a:solidFill>
                      <a:srgbClr val="F5F8FA"/>
                    </a:solidFill>
                  </a:tcPr>
                </a:tc>
                <a:tc>
                  <a:txBody>
                    <a:bodyPr wrap="none"/>
                    <a:lstStyle/>
                    <a:p>
                      <a:pPr algn="l"/>
                      <a:r>
                        <a:rPr sz="800" b="0">
                          <a:solidFill>
                            <a:srgbClr val="2E2E2E"/>
                          </a:solidFill>
                          <a:latin typeface="Calibri"/>
                        </a:rPr>
                        <a:t>92.6</a:t>
                      </a:r>
                    </a:p>
                  </a:txBody>
                  <a:tcPr marL="85725" marR="38100" marT="19050" marB="19050" anchor="ctr">
                    <a:solidFill>
                      <a:srgbClr val="F5F8FA"/>
                    </a:solidFill>
                  </a:tcPr>
                </a:tc>
                <a:tc>
                  <a:txBody>
                    <a:bodyPr wrap="none"/>
                    <a:lstStyle/>
                    <a:p>
                      <a:pPr algn="l"/>
                      <a:r>
                        <a:rPr sz="800" b="0">
                          <a:solidFill>
                            <a:srgbClr val="2E2E2E"/>
                          </a:solidFill>
                          <a:latin typeface="Calibri"/>
                        </a:rPr>
                        <a:t>100.1</a:t>
                      </a:r>
                    </a:p>
                  </a:txBody>
                  <a:tcPr marL="85725" marR="38100" marT="19050" marB="19050" anchor="ctr">
                    <a:solidFill>
                      <a:srgbClr val="F5F8FA"/>
                    </a:solidFill>
                  </a:tcPr>
                </a:tc>
                <a:tc>
                  <a:txBody>
                    <a:bodyPr wrap="none"/>
                    <a:lstStyle/>
                    <a:p>
                      <a:pPr algn="l"/>
                      <a:r>
                        <a:rPr sz="800" b="0">
                          <a:solidFill>
                            <a:srgbClr val="2E2E2E"/>
                          </a:solidFill>
                          <a:latin typeface="Calibri"/>
                        </a:rPr>
                        <a:t>107.9</a:t>
                      </a:r>
                    </a:p>
                  </a:txBody>
                  <a:tcPr marL="85725" marR="38100" marT="19050" marB="19050" anchor="ctr">
                    <a:solidFill>
                      <a:srgbClr val="F5F8FA"/>
                    </a:solidFill>
                  </a:tcPr>
                </a:tc>
                <a:tc>
                  <a:txBody>
                    <a:bodyPr wrap="none"/>
                    <a:lstStyle/>
                    <a:p>
                      <a:pPr algn="l"/>
                      <a:r>
                        <a:rPr sz="800" b="0">
                          <a:solidFill>
                            <a:srgbClr val="2E2E2E"/>
                          </a:solidFill>
                          <a:latin typeface="Calibri"/>
                        </a:rPr>
                        <a:t>116.3</a:t>
                      </a:r>
                    </a:p>
                  </a:txBody>
                  <a:tcPr marL="85725" marR="38100" marT="19050" marB="19050" anchor="ctr">
                    <a:solidFill>
                      <a:srgbClr val="F5F8FA"/>
                    </a:solidFill>
                  </a:tcPr>
                </a:tc>
                <a:tc>
                  <a:txBody>
                    <a:bodyPr wrap="none"/>
                    <a:lstStyle/>
                    <a:p>
                      <a:pPr algn="l"/>
                      <a:r>
                        <a:rPr sz="800" b="0">
                          <a:solidFill>
                            <a:srgbClr val="2E2E2E"/>
                          </a:solidFill>
                          <a:latin typeface="Calibri"/>
                        </a:rPr>
                        <a:t>125.2</a:t>
                      </a:r>
                    </a:p>
                  </a:txBody>
                  <a:tcPr marL="85725" marR="38100" marT="19050" marB="19050" anchor="ctr">
                    <a:solidFill>
                      <a:srgbClr val="F5F8FA"/>
                    </a:solidFill>
                  </a:tcPr>
                </a:tc>
                <a:tc>
                  <a:txBody>
                    <a:bodyPr wrap="none"/>
                    <a:lstStyle/>
                    <a:p>
                      <a:pPr algn="l"/>
                      <a:r>
                        <a:rPr sz="800" b="0">
                          <a:solidFill>
                            <a:srgbClr val="2E2E2E"/>
                          </a:solidFill>
                          <a:latin typeface="Calibri"/>
                        </a:rPr>
                        <a:t>134.6</a:t>
                      </a:r>
                    </a:p>
                  </a:txBody>
                  <a:tcPr marL="85725" marR="38100" marT="19050" marB="19050" anchor="ctr">
                    <a:solidFill>
                      <a:srgbClr val="F5F8FA"/>
                    </a:solidFill>
                  </a:tcPr>
                </a:tc>
                <a:tc>
                  <a:txBody>
                    <a:bodyPr wrap="none"/>
                    <a:lstStyle/>
                    <a:p>
                      <a:pPr algn="l"/>
                      <a:r>
                        <a:rPr sz="800" b="0">
                          <a:solidFill>
                            <a:srgbClr val="2E2E2E"/>
                          </a:solidFill>
                          <a:latin typeface="Calibri"/>
                        </a:rPr>
                        <a:t>144.5</a:t>
                      </a:r>
                    </a:p>
                  </a:txBody>
                  <a:tcPr marL="85725" marR="38100" marT="19050" marB="19050" anchor="ctr">
                    <a:solidFill>
                      <a:srgbClr val="F5F8FA"/>
                    </a:solidFill>
                  </a:tcPr>
                </a:tc>
                <a:tc>
                  <a:txBody>
                    <a:bodyPr wrap="none"/>
                    <a:lstStyle/>
                    <a:p>
                      <a:pPr algn="l"/>
                      <a:r>
                        <a:rPr sz="800" b="0">
                          <a:solidFill>
                            <a:srgbClr val="2E2E2E"/>
                          </a:solidFill>
                          <a:latin typeface="Calibri"/>
                        </a:rPr>
                        <a:t>154.9</a:t>
                      </a:r>
                    </a:p>
                  </a:txBody>
                  <a:tcPr marL="85725" marR="38100" marT="19050" marB="19050" anchor="ctr">
                    <a:solidFill>
                      <a:srgbClr val="F5F8FA"/>
                    </a:solidFill>
                  </a:tcPr>
                </a:tc>
                <a:tc>
                  <a:txBody>
                    <a:bodyPr wrap="none"/>
                    <a:lstStyle/>
                    <a:p>
                      <a:pPr algn="l"/>
                      <a:r>
                        <a:rPr sz="800" b="0">
                          <a:solidFill>
                            <a:srgbClr val="2E2E2E"/>
                          </a:solidFill>
                          <a:latin typeface="Calibri"/>
                        </a:rPr>
                        <a:t>166.3</a:t>
                      </a:r>
                    </a:p>
                  </a:txBody>
                  <a:tcPr marL="85725" marR="38100" marT="19050" marB="19050" anchor="ctr">
                    <a:solidFill>
                      <a:srgbClr val="F5F8FA"/>
                    </a:solidFill>
                  </a:tcPr>
                </a:tc>
                <a:tc>
                  <a:txBody>
                    <a:bodyPr wrap="none"/>
                    <a:lstStyle/>
                    <a:p>
                      <a:pPr algn="l"/>
                      <a:r>
                        <a:rPr sz="800" b="0">
                          <a:solidFill>
                            <a:srgbClr val="2E2E2E"/>
                          </a:solidFill>
                          <a:latin typeface="Calibri"/>
                        </a:rPr>
                        <a:t>178.1</a:t>
                      </a:r>
                    </a:p>
                  </a:txBody>
                  <a:tcPr marL="85725" marR="38100" marT="19050" marB="19050" anchor="ctr">
                    <a:solidFill>
                      <a:srgbClr val="F5F8FA"/>
                    </a:solidFill>
                  </a:tcPr>
                </a:tc>
                <a:tc>
                  <a:txBody>
                    <a:bodyPr wrap="none"/>
                    <a:lstStyle/>
                    <a:p>
                      <a:pPr algn="l"/>
                      <a:r>
                        <a:rPr sz="800" b="0">
                          <a:solidFill>
                            <a:srgbClr val="2E2E2E"/>
                          </a:solidFill>
                          <a:latin typeface="Calibri"/>
                        </a:rPr>
                        <a:t>191.2</a:t>
                      </a:r>
                    </a:p>
                  </a:txBody>
                  <a:tcPr marL="85725" marR="38100" marT="19050" marB="19050" anchor="ctr">
                    <a:solidFill>
                      <a:srgbClr val="F5F8FA"/>
                    </a:solidFill>
                  </a:tcPr>
                </a:tc>
                <a:tc>
                  <a:txBody>
                    <a:bodyPr wrap="none"/>
                    <a:lstStyle/>
                    <a:p>
                      <a:pPr algn="l"/>
                      <a:r>
                        <a:rPr sz="800" b="0">
                          <a:solidFill>
                            <a:srgbClr val="2E2E2E"/>
                          </a:solidFill>
                          <a:latin typeface="Calibri"/>
                        </a:rPr>
                        <a:t>7.5%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0">
                          <a:solidFill>
                            <a:srgbClr val="2E2E2E"/>
                          </a:solidFill>
                          <a:latin typeface="Calibri"/>
                        </a:rPr>
                        <a:t>304.1</a:t>
                      </a:r>
                    </a:p>
                  </a:txBody>
                  <a:tcPr marL="85725" marR="38100" marT="19050" marB="19050" anchor="ctr">
                    <a:solidFill>
                      <a:srgbClr val="FFFFFF"/>
                    </a:solidFill>
                  </a:tcPr>
                </a:tc>
                <a:tc>
                  <a:txBody>
                    <a:bodyPr wrap="none"/>
                    <a:lstStyle/>
                    <a:p>
                      <a:pPr algn="l"/>
                      <a:r>
                        <a:rPr sz="800" b="0">
                          <a:solidFill>
                            <a:srgbClr val="2E2E2E"/>
                          </a:solidFill>
                          <a:latin typeface="Calibri"/>
                        </a:rPr>
                        <a:t>324.0</a:t>
                      </a:r>
                    </a:p>
                  </a:txBody>
                  <a:tcPr marL="85725" marR="38100" marT="19050" marB="19050" anchor="ctr">
                    <a:solidFill>
                      <a:srgbClr val="FFFFFF"/>
                    </a:solidFill>
                  </a:tcPr>
                </a:tc>
                <a:tc>
                  <a:txBody>
                    <a:bodyPr wrap="none"/>
                    <a:lstStyle/>
                    <a:p>
                      <a:pPr algn="l"/>
                      <a:r>
                        <a:rPr sz="800" b="0">
                          <a:solidFill>
                            <a:srgbClr val="2E2E2E"/>
                          </a:solidFill>
                          <a:latin typeface="Calibri"/>
                        </a:rPr>
                        <a:t>345.5</a:t>
                      </a:r>
                    </a:p>
                  </a:txBody>
                  <a:tcPr marL="85725" marR="38100" marT="19050" marB="19050" anchor="ctr">
                    <a:solidFill>
                      <a:srgbClr val="FFFFFF"/>
                    </a:solidFill>
                  </a:tcPr>
                </a:tc>
                <a:tc>
                  <a:txBody>
                    <a:bodyPr wrap="none"/>
                    <a:lstStyle/>
                    <a:p>
                      <a:pPr algn="l"/>
                      <a:r>
                        <a:rPr sz="800" b="0">
                          <a:solidFill>
                            <a:srgbClr val="2E2E2E"/>
                          </a:solidFill>
                          <a:latin typeface="Calibri"/>
                        </a:rPr>
                        <a:t>368.9</a:t>
                      </a:r>
                    </a:p>
                  </a:txBody>
                  <a:tcPr marL="85725" marR="38100" marT="19050" marB="19050" anchor="ctr">
                    <a:solidFill>
                      <a:srgbClr val="FFFFFF"/>
                    </a:solidFill>
                  </a:tcPr>
                </a:tc>
                <a:tc>
                  <a:txBody>
                    <a:bodyPr wrap="none"/>
                    <a:lstStyle/>
                    <a:p>
                      <a:pPr algn="l"/>
                      <a:r>
                        <a:rPr sz="800" b="0">
                          <a:solidFill>
                            <a:srgbClr val="2E2E2E"/>
                          </a:solidFill>
                          <a:latin typeface="Calibri"/>
                        </a:rPr>
                        <a:t>393.6</a:t>
                      </a:r>
                    </a:p>
                  </a:txBody>
                  <a:tcPr marL="85725" marR="38100" marT="19050" marB="19050" anchor="ctr">
                    <a:solidFill>
                      <a:srgbClr val="FFFFFF"/>
                    </a:solidFill>
                  </a:tcPr>
                </a:tc>
                <a:tc>
                  <a:txBody>
                    <a:bodyPr wrap="none"/>
                    <a:lstStyle/>
                    <a:p>
                      <a:pPr algn="l"/>
                      <a:r>
                        <a:rPr sz="800" b="0">
                          <a:solidFill>
                            <a:srgbClr val="2E2E2E"/>
                          </a:solidFill>
                          <a:latin typeface="Calibri"/>
                        </a:rPr>
                        <a:t>420.5</a:t>
                      </a:r>
                    </a:p>
                  </a:txBody>
                  <a:tcPr marL="85725" marR="38100" marT="19050" marB="19050" anchor="ctr">
                    <a:solidFill>
                      <a:srgbClr val="FFFFFF"/>
                    </a:solidFill>
                  </a:tcPr>
                </a:tc>
                <a:tc>
                  <a:txBody>
                    <a:bodyPr wrap="none"/>
                    <a:lstStyle/>
                    <a:p>
                      <a:pPr algn="l"/>
                      <a:r>
                        <a:rPr sz="800" b="0">
                          <a:solidFill>
                            <a:srgbClr val="2E2E2E"/>
                          </a:solidFill>
                          <a:latin typeface="Calibri"/>
                        </a:rPr>
                        <a:t>449.1</a:t>
                      </a:r>
                    </a:p>
                  </a:txBody>
                  <a:tcPr marL="85725" marR="38100" marT="19050" marB="19050" anchor="ctr">
                    <a:solidFill>
                      <a:srgbClr val="FFFFFF"/>
                    </a:solidFill>
                  </a:tcPr>
                </a:tc>
                <a:tc>
                  <a:txBody>
                    <a:bodyPr wrap="none"/>
                    <a:lstStyle/>
                    <a:p>
                      <a:pPr algn="l"/>
                      <a:r>
                        <a:rPr sz="800" b="0">
                          <a:solidFill>
                            <a:srgbClr val="2E2E2E"/>
                          </a:solidFill>
                          <a:latin typeface="Calibri"/>
                        </a:rPr>
                        <a:t>478.7</a:t>
                      </a:r>
                    </a:p>
                  </a:txBody>
                  <a:tcPr marL="85725" marR="38100" marT="19050" marB="19050" anchor="ctr">
                    <a:solidFill>
                      <a:srgbClr val="FFFFFF"/>
                    </a:solidFill>
                  </a:tcPr>
                </a:tc>
                <a:tc>
                  <a:txBody>
                    <a:bodyPr wrap="none"/>
                    <a:lstStyle/>
                    <a:p>
                      <a:pPr algn="l"/>
                      <a:r>
                        <a:rPr sz="800" b="0">
                          <a:solidFill>
                            <a:srgbClr val="2E2E2E"/>
                          </a:solidFill>
                          <a:latin typeface="Calibri"/>
                        </a:rPr>
                        <a:t>509.8</a:t>
                      </a:r>
                    </a:p>
                  </a:txBody>
                  <a:tcPr marL="85725" marR="38100" marT="19050" marB="19050" anchor="ctr">
                    <a:solidFill>
                      <a:srgbClr val="FFFFFF"/>
                    </a:solidFill>
                  </a:tcPr>
                </a:tc>
                <a:tc>
                  <a:txBody>
                    <a:bodyPr wrap="none"/>
                    <a:lstStyle/>
                    <a:p>
                      <a:pPr algn="l"/>
                      <a:r>
                        <a:rPr sz="800" b="0">
                          <a:solidFill>
                            <a:srgbClr val="2E2E2E"/>
                          </a:solidFill>
                          <a:latin typeface="Calibri"/>
                        </a:rPr>
                        <a:t>542.1</a:t>
                      </a:r>
                    </a:p>
                  </a:txBody>
                  <a:tcPr marL="85725" marR="38100" marT="19050" marB="19050" anchor="ctr">
                    <a:solidFill>
                      <a:srgbClr val="FFFFFF"/>
                    </a:solidFill>
                  </a:tcPr>
                </a:tc>
                <a:tc>
                  <a:txBody>
                    <a:bodyPr wrap="none"/>
                    <a:lstStyle/>
                    <a:p>
                      <a:pPr algn="l"/>
                      <a:r>
                        <a:rPr sz="800" b="0">
                          <a:solidFill>
                            <a:srgbClr val="2E2E2E"/>
                          </a:solidFill>
                          <a:latin typeface="Calibri"/>
                        </a:rPr>
                        <a:t>575.7</a:t>
                      </a:r>
                    </a:p>
                  </a:txBody>
                  <a:tcPr marL="85725" marR="38100" marT="19050" marB="19050" anchor="ctr">
                    <a:solidFill>
                      <a:srgbClr val="FFFFFF"/>
                    </a:solidFill>
                  </a:tcPr>
                </a:tc>
                <a:tc>
                  <a:txBody>
                    <a:bodyPr wrap="none"/>
                    <a:lstStyle/>
                    <a:p>
                      <a:pPr algn="l"/>
                      <a:r>
                        <a:rPr sz="800" b="0">
                          <a:solidFill>
                            <a:srgbClr val="2E2E2E"/>
                          </a:solidFill>
                          <a:latin typeface="Calibri"/>
                        </a:rPr>
                        <a:t>610.5</a:t>
                      </a:r>
                    </a:p>
                  </a:txBody>
                  <a:tcPr marL="85725" marR="38100" marT="19050" marB="19050" anchor="ctr">
                    <a:solidFill>
                      <a:srgbClr val="FFFFFF"/>
                    </a:solidFill>
                  </a:tcPr>
                </a:tc>
                <a:tc>
                  <a:txBody>
                    <a:bodyPr wrap="none"/>
                    <a:lstStyle/>
                    <a:p>
                      <a:pPr algn="l"/>
                      <a:r>
                        <a:rPr sz="800" b="0">
                          <a:solidFill>
                            <a:srgbClr val="2E2E2E"/>
                          </a:solidFill>
                          <a:latin typeface="Calibri"/>
                        </a:rPr>
                        <a:t>646.0</a:t>
                      </a:r>
                    </a:p>
                  </a:txBody>
                  <a:tcPr marL="85725" marR="38100" marT="19050" marB="19050" anchor="ctr">
                    <a:solidFill>
                      <a:srgbClr val="FFFFFF"/>
                    </a:solidFill>
                  </a:tcPr>
                </a:tc>
                <a:tc>
                  <a:txBody>
                    <a:bodyPr wrap="none"/>
                    <a:lstStyle/>
                    <a:p>
                      <a:pPr algn="l"/>
                      <a:r>
                        <a:rPr sz="800" b="0">
                          <a:solidFill>
                            <a:srgbClr val="2E2E2E"/>
                          </a:solidFill>
                          <a:latin typeface="Calibri"/>
                        </a:rPr>
                        <a:t>684.7</a:t>
                      </a:r>
                    </a:p>
                  </a:txBody>
                  <a:tcPr marL="85725" marR="38100" marT="19050" marB="19050" anchor="ctr">
                    <a:solidFill>
                      <a:srgbClr val="FFFFFF"/>
                    </a:solidFill>
                  </a:tcPr>
                </a:tc>
                <a:tc>
                  <a:txBody>
                    <a:bodyPr wrap="none"/>
                    <a:lstStyle/>
                    <a:p>
                      <a:pPr algn="l"/>
                      <a:r>
                        <a:rPr sz="800" b="0">
                          <a:solidFill>
                            <a:srgbClr val="2E2E2E"/>
                          </a:solidFill>
                          <a:latin typeface="Calibri"/>
                        </a:rPr>
                        <a:t>723.8</a:t>
                      </a:r>
                    </a:p>
                  </a:txBody>
                  <a:tcPr marL="85725" marR="38100" marT="19050" marB="19050" anchor="ctr">
                    <a:solidFill>
                      <a:srgbClr val="FFFFFF"/>
                    </a:solidFill>
                  </a:tcPr>
                </a:tc>
                <a:tc>
                  <a:txBody>
                    <a:bodyPr wrap="none"/>
                    <a:lstStyle/>
                    <a:p>
                      <a:pPr algn="l"/>
                      <a:r>
                        <a:rPr sz="800" b="0">
                          <a:solidFill>
                            <a:srgbClr val="2E2E2E"/>
                          </a:solidFill>
                          <a:latin typeface="Calibri"/>
                        </a:rPr>
                        <a:t>766.7</a:t>
                      </a:r>
                    </a:p>
                  </a:txBody>
                  <a:tcPr marL="85725" marR="38100" marT="19050" marB="19050" anchor="ctr">
                    <a:solidFill>
                      <a:srgbClr val="FFFFFF"/>
                    </a:solidFill>
                  </a:tcPr>
                </a:tc>
                <a:tc>
                  <a:txBody>
                    <a:bodyPr wrap="none"/>
                    <a:lstStyle/>
                    <a:p>
                      <a:pPr algn="l"/>
                      <a:r>
                        <a:rPr sz="800" b="0">
                          <a:solidFill>
                            <a:srgbClr val="2E2E2E"/>
                          </a:solidFill>
                          <a:latin typeface="Calibri"/>
                        </a:rPr>
                        <a:t>6.2%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124.1</a:t>
                      </a:r>
                    </a:p>
                  </a:txBody>
                  <a:tcPr marL="85725" marR="38100" marT="19050" marB="19050" anchor="ctr">
                    <a:solidFill>
                      <a:srgbClr val="F5F8FA"/>
                    </a:solidFill>
                  </a:tcPr>
                </a:tc>
                <a:tc>
                  <a:txBody>
                    <a:bodyPr wrap="none"/>
                    <a:lstStyle/>
                    <a:p>
                      <a:pPr algn="l"/>
                      <a:r>
                        <a:rPr sz="800" b="0">
                          <a:solidFill>
                            <a:srgbClr val="2E2E2E"/>
                          </a:solidFill>
                          <a:latin typeface="Calibri"/>
                        </a:rPr>
                        <a:t>135.3</a:t>
                      </a:r>
                    </a:p>
                  </a:txBody>
                  <a:tcPr marL="85725" marR="38100" marT="19050" marB="19050" anchor="ctr">
                    <a:solidFill>
                      <a:srgbClr val="F5F8FA"/>
                    </a:solidFill>
                  </a:tcPr>
                </a:tc>
                <a:tc>
                  <a:txBody>
                    <a:bodyPr wrap="none"/>
                    <a:lstStyle/>
                    <a:p>
                      <a:pPr algn="l"/>
                      <a:r>
                        <a:rPr sz="800" b="0">
                          <a:solidFill>
                            <a:srgbClr val="2E2E2E"/>
                          </a:solidFill>
                          <a:latin typeface="Calibri"/>
                        </a:rPr>
                        <a:t>147.8</a:t>
                      </a:r>
                    </a:p>
                  </a:txBody>
                  <a:tcPr marL="85725" marR="38100" marT="19050" marB="19050" anchor="ctr">
                    <a:solidFill>
                      <a:srgbClr val="F5F8FA"/>
                    </a:solidFill>
                  </a:tcPr>
                </a:tc>
                <a:tc>
                  <a:txBody>
                    <a:bodyPr wrap="none"/>
                    <a:lstStyle/>
                    <a:p>
                      <a:pPr algn="l"/>
                      <a:r>
                        <a:rPr sz="800" b="0">
                          <a:solidFill>
                            <a:srgbClr val="2E2E2E"/>
                          </a:solidFill>
                          <a:latin typeface="Calibri"/>
                        </a:rPr>
                        <a:t>161.7</a:t>
                      </a:r>
                    </a:p>
                  </a:txBody>
                  <a:tcPr marL="85725" marR="38100" marT="19050" marB="19050" anchor="ctr">
                    <a:solidFill>
                      <a:srgbClr val="F5F8FA"/>
                    </a:solidFill>
                  </a:tcPr>
                </a:tc>
                <a:tc>
                  <a:txBody>
                    <a:bodyPr wrap="none"/>
                    <a:lstStyle/>
                    <a:p>
                      <a:pPr algn="l"/>
                      <a:r>
                        <a:rPr sz="800" b="0">
                          <a:solidFill>
                            <a:srgbClr val="2E2E2E"/>
                          </a:solidFill>
                          <a:latin typeface="Calibri"/>
                        </a:rPr>
                        <a:t>176.8</a:t>
                      </a:r>
                    </a:p>
                  </a:txBody>
                  <a:tcPr marL="85725" marR="38100" marT="19050" marB="19050" anchor="ctr">
                    <a:solidFill>
                      <a:srgbClr val="F5F8FA"/>
                    </a:solidFill>
                  </a:tcPr>
                </a:tc>
                <a:tc>
                  <a:txBody>
                    <a:bodyPr wrap="none"/>
                    <a:lstStyle/>
                    <a:p>
                      <a:pPr algn="l"/>
                      <a:r>
                        <a:rPr sz="800" b="0">
                          <a:solidFill>
                            <a:srgbClr val="2E2E2E"/>
                          </a:solidFill>
                          <a:latin typeface="Calibri"/>
                        </a:rPr>
                        <a:t>193.7</a:t>
                      </a:r>
                    </a:p>
                  </a:txBody>
                  <a:tcPr marL="85725" marR="38100" marT="19050" marB="19050" anchor="ctr">
                    <a:solidFill>
                      <a:srgbClr val="F5F8FA"/>
                    </a:solidFill>
                  </a:tcPr>
                </a:tc>
                <a:tc>
                  <a:txBody>
                    <a:bodyPr wrap="none"/>
                    <a:lstStyle/>
                    <a:p>
                      <a:pPr algn="l"/>
                      <a:r>
                        <a:rPr sz="800" b="0">
                          <a:solidFill>
                            <a:srgbClr val="2E2E2E"/>
                          </a:solidFill>
                          <a:latin typeface="Calibri"/>
                        </a:rPr>
                        <a:t>212.2</a:t>
                      </a:r>
                    </a:p>
                  </a:txBody>
                  <a:tcPr marL="85725" marR="38100" marT="19050" marB="19050" anchor="ctr">
                    <a:solidFill>
                      <a:srgbClr val="F5F8FA"/>
                    </a:solidFill>
                  </a:tcPr>
                </a:tc>
                <a:tc>
                  <a:txBody>
                    <a:bodyPr wrap="none"/>
                    <a:lstStyle/>
                    <a:p>
                      <a:pPr algn="l"/>
                      <a:r>
                        <a:rPr sz="800" b="0">
                          <a:solidFill>
                            <a:srgbClr val="2E2E2E"/>
                          </a:solidFill>
                          <a:latin typeface="Calibri"/>
                        </a:rPr>
                        <a:t>232.1</a:t>
                      </a:r>
                    </a:p>
                  </a:txBody>
                  <a:tcPr marL="85725" marR="38100" marT="19050" marB="19050" anchor="ctr">
                    <a:solidFill>
                      <a:srgbClr val="F5F8FA"/>
                    </a:solidFill>
                  </a:tcPr>
                </a:tc>
                <a:tc>
                  <a:txBody>
                    <a:bodyPr wrap="none"/>
                    <a:lstStyle/>
                    <a:p>
                      <a:pPr algn="l"/>
                      <a:r>
                        <a:rPr sz="800" b="0">
                          <a:solidFill>
                            <a:srgbClr val="2E2E2E"/>
                          </a:solidFill>
                          <a:latin typeface="Calibri"/>
                        </a:rPr>
                        <a:t>253.8</a:t>
                      </a:r>
                    </a:p>
                  </a:txBody>
                  <a:tcPr marL="85725" marR="38100" marT="19050" marB="19050" anchor="ctr">
                    <a:solidFill>
                      <a:srgbClr val="F5F8FA"/>
                    </a:solidFill>
                  </a:tcPr>
                </a:tc>
                <a:tc>
                  <a:txBody>
                    <a:bodyPr wrap="none"/>
                    <a:lstStyle/>
                    <a:p>
                      <a:pPr algn="l"/>
                      <a:r>
                        <a:rPr sz="800" b="0">
                          <a:solidFill>
                            <a:srgbClr val="2E2E2E"/>
                          </a:solidFill>
                          <a:latin typeface="Calibri"/>
                        </a:rPr>
                        <a:t>277.1</a:t>
                      </a:r>
                    </a:p>
                  </a:txBody>
                  <a:tcPr marL="85725" marR="38100" marT="19050" marB="19050" anchor="ctr">
                    <a:solidFill>
                      <a:srgbClr val="F5F8FA"/>
                    </a:solidFill>
                  </a:tcPr>
                </a:tc>
                <a:tc>
                  <a:txBody>
                    <a:bodyPr wrap="none"/>
                    <a:lstStyle/>
                    <a:p>
                      <a:pPr algn="l"/>
                      <a:r>
                        <a:rPr sz="800" b="0">
                          <a:solidFill>
                            <a:srgbClr val="2E2E2E"/>
                          </a:solidFill>
                          <a:latin typeface="Calibri"/>
                        </a:rPr>
                        <a:t>302.4</a:t>
                      </a:r>
                    </a:p>
                  </a:txBody>
                  <a:tcPr marL="85725" marR="38100" marT="19050" marB="19050" anchor="ctr">
                    <a:solidFill>
                      <a:srgbClr val="F5F8FA"/>
                    </a:solidFill>
                  </a:tcPr>
                </a:tc>
                <a:tc>
                  <a:txBody>
                    <a:bodyPr wrap="none"/>
                    <a:lstStyle/>
                    <a:p>
                      <a:pPr algn="l"/>
                      <a:r>
                        <a:rPr sz="800" b="0">
                          <a:solidFill>
                            <a:srgbClr val="2E2E2E"/>
                          </a:solidFill>
                          <a:latin typeface="Calibri"/>
                        </a:rPr>
                        <a:t>329.6</a:t>
                      </a:r>
                    </a:p>
                  </a:txBody>
                  <a:tcPr marL="85725" marR="38100" marT="19050" marB="19050" anchor="ctr">
                    <a:solidFill>
                      <a:srgbClr val="F5F8FA"/>
                    </a:solidFill>
                  </a:tcPr>
                </a:tc>
                <a:tc>
                  <a:txBody>
                    <a:bodyPr wrap="none"/>
                    <a:lstStyle/>
                    <a:p>
                      <a:pPr algn="l"/>
                      <a:r>
                        <a:rPr sz="800" b="0">
                          <a:solidFill>
                            <a:srgbClr val="2E2E2E"/>
                          </a:solidFill>
                          <a:latin typeface="Calibri"/>
                        </a:rPr>
                        <a:t>358.6</a:t>
                      </a:r>
                    </a:p>
                  </a:txBody>
                  <a:tcPr marL="85725" marR="38100" marT="19050" marB="19050" anchor="ctr">
                    <a:solidFill>
                      <a:srgbClr val="F5F8FA"/>
                    </a:solidFill>
                  </a:tcPr>
                </a:tc>
                <a:tc>
                  <a:txBody>
                    <a:bodyPr wrap="none"/>
                    <a:lstStyle/>
                    <a:p>
                      <a:pPr algn="l"/>
                      <a:r>
                        <a:rPr sz="800" b="0">
                          <a:solidFill>
                            <a:srgbClr val="2E2E2E"/>
                          </a:solidFill>
                          <a:latin typeface="Calibri"/>
                        </a:rPr>
                        <a:t>390.9</a:t>
                      </a:r>
                    </a:p>
                  </a:txBody>
                  <a:tcPr marL="85725" marR="38100" marT="19050" marB="19050" anchor="ctr">
                    <a:solidFill>
                      <a:srgbClr val="F5F8FA"/>
                    </a:solidFill>
                  </a:tcPr>
                </a:tc>
                <a:tc>
                  <a:txBody>
                    <a:bodyPr wrap="none"/>
                    <a:lstStyle/>
                    <a:p>
                      <a:pPr algn="l"/>
                      <a:r>
                        <a:rPr sz="800" b="0">
                          <a:solidFill>
                            <a:srgbClr val="2E2E2E"/>
                          </a:solidFill>
                          <a:latin typeface="Calibri"/>
                        </a:rPr>
                        <a:t>425.2</a:t>
                      </a:r>
                    </a:p>
                  </a:txBody>
                  <a:tcPr marL="85725" marR="38100" marT="19050" marB="19050" anchor="ctr">
                    <a:solidFill>
                      <a:srgbClr val="F5F8FA"/>
                    </a:solidFill>
                  </a:tcPr>
                </a:tc>
                <a:tc>
                  <a:txBody>
                    <a:bodyPr wrap="none"/>
                    <a:lstStyle/>
                    <a:p>
                      <a:pPr algn="l"/>
                      <a:r>
                        <a:rPr sz="800" b="0">
                          <a:solidFill>
                            <a:srgbClr val="2E2E2E"/>
                          </a:solidFill>
                          <a:latin typeface="Calibri"/>
                        </a:rPr>
                        <a:t>463.6</a:t>
                      </a:r>
                    </a:p>
                  </a:txBody>
                  <a:tcPr marL="85725" marR="38100" marT="19050" marB="19050" anchor="ctr">
                    <a:solidFill>
                      <a:srgbClr val="F5F8FA"/>
                    </a:solidFill>
                  </a:tcPr>
                </a:tc>
                <a:tc>
                  <a:txBody>
                    <a:bodyPr wrap="none"/>
                    <a:lstStyle/>
                    <a:p>
                      <a:pPr algn="l"/>
                      <a:r>
                        <a:rPr sz="800" b="0">
                          <a:solidFill>
                            <a:srgbClr val="2E2E2E"/>
                          </a:solidFill>
                          <a:latin typeface="Calibri"/>
                        </a:rPr>
                        <a:t>9.1%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Patient Group (US$ Mn)</a:t>
            </a:r>
          </a:p>
        </p:txBody>
      </p:sp>
      <p:graphicFrame>
        <p:nvGraphicFramePr>
          <p:cNvPr id="18" name="Table 17"/>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0">
                          <a:solidFill>
                            <a:srgbClr val="2E2E2E"/>
                          </a:solidFill>
                          <a:latin typeface="Calibri"/>
                        </a:rPr>
                        <a:t>35.2</a:t>
                      </a:r>
                    </a:p>
                  </a:txBody>
                  <a:tcPr marL="85725" marR="38100" marT="19050" marB="19050" anchor="ctr">
                    <a:solidFill>
                      <a:srgbClr val="FFFFFF"/>
                    </a:solidFill>
                  </a:tcPr>
                </a:tc>
                <a:tc>
                  <a:txBody>
                    <a:bodyPr wrap="none"/>
                    <a:lstStyle/>
                    <a:p>
                      <a:pPr algn="l"/>
                      <a:r>
                        <a:rPr sz="800" b="0">
                          <a:solidFill>
                            <a:srgbClr val="2E2E2E"/>
                          </a:solidFill>
                          <a:latin typeface="Calibri"/>
                        </a:rPr>
                        <a:t>37.3</a:t>
                      </a:r>
                    </a:p>
                  </a:txBody>
                  <a:tcPr marL="85725" marR="38100" marT="19050" marB="19050" anchor="ctr">
                    <a:solidFill>
                      <a:srgbClr val="FFFFFF"/>
                    </a:solidFill>
                  </a:tcPr>
                </a:tc>
                <a:tc>
                  <a:txBody>
                    <a:bodyPr wrap="none"/>
                    <a:lstStyle/>
                    <a:p>
                      <a:pPr algn="l"/>
                      <a:r>
                        <a:rPr sz="800" b="0">
                          <a:solidFill>
                            <a:srgbClr val="2E2E2E"/>
                          </a:solidFill>
                          <a:latin typeface="Calibri"/>
                        </a:rPr>
                        <a:t>39.6</a:t>
                      </a:r>
                    </a:p>
                  </a:txBody>
                  <a:tcPr marL="85725" marR="38100" marT="19050" marB="19050" anchor="ctr">
                    <a:solidFill>
                      <a:srgbClr val="FFFFFF"/>
                    </a:solidFill>
                  </a:tcPr>
                </a:tc>
                <a:tc>
                  <a:txBody>
                    <a:bodyPr wrap="none"/>
                    <a:lstStyle/>
                    <a:p>
                      <a:pPr algn="l"/>
                      <a:r>
                        <a:rPr sz="800" b="0">
                          <a:solidFill>
                            <a:srgbClr val="2E2E2E"/>
                          </a:solidFill>
                          <a:latin typeface="Calibri"/>
                        </a:rPr>
                        <a:t>42.3</a:t>
                      </a:r>
                    </a:p>
                  </a:txBody>
                  <a:tcPr marL="85725" marR="38100" marT="19050" marB="19050" anchor="ctr">
                    <a:solidFill>
                      <a:srgbClr val="FFFFFF"/>
                    </a:solidFill>
                  </a:tcPr>
                </a:tc>
                <a:tc>
                  <a:txBody>
                    <a:bodyPr wrap="none"/>
                    <a:lstStyle/>
                    <a:p>
                      <a:pPr algn="l"/>
                      <a:r>
                        <a:rPr sz="800" b="0">
                          <a:solidFill>
                            <a:srgbClr val="2E2E2E"/>
                          </a:solidFill>
                          <a:latin typeface="Calibri"/>
                        </a:rPr>
                        <a:t>45.3</a:t>
                      </a:r>
                    </a:p>
                  </a:txBody>
                  <a:tcPr marL="85725" marR="38100" marT="19050" marB="19050" anchor="ctr">
                    <a:solidFill>
                      <a:srgbClr val="FFFFFF"/>
                    </a:solidFill>
                  </a:tcPr>
                </a:tc>
                <a:tc>
                  <a:txBody>
                    <a:bodyPr wrap="none"/>
                    <a:lstStyle/>
                    <a:p>
                      <a:pPr algn="l"/>
                      <a:r>
                        <a:rPr sz="800" b="0">
                          <a:solidFill>
                            <a:srgbClr val="2E2E2E"/>
                          </a:solidFill>
                          <a:latin typeface="Calibri"/>
                        </a:rPr>
                        <a:t>48.7</a:t>
                      </a:r>
                    </a:p>
                  </a:txBody>
                  <a:tcPr marL="85725" marR="38100" marT="19050" marB="19050" anchor="ctr">
                    <a:solidFill>
                      <a:srgbClr val="FFFFFF"/>
                    </a:solidFill>
                  </a:tcPr>
                </a:tc>
                <a:tc>
                  <a:txBody>
                    <a:bodyPr wrap="none"/>
                    <a:lstStyle/>
                    <a:p>
                      <a:pPr algn="l"/>
                      <a:r>
                        <a:rPr sz="800" b="0">
                          <a:solidFill>
                            <a:srgbClr val="2E2E2E"/>
                          </a:solidFill>
                          <a:latin typeface="Calibri"/>
                        </a:rPr>
                        <a:t>52.5</a:t>
                      </a:r>
                    </a:p>
                  </a:txBody>
                  <a:tcPr marL="85725" marR="38100" marT="19050" marB="19050" anchor="ctr">
                    <a:solidFill>
                      <a:srgbClr val="FFFFFF"/>
                    </a:solidFill>
                  </a:tcPr>
                </a:tc>
                <a:tc>
                  <a:txBody>
                    <a:bodyPr wrap="none"/>
                    <a:lstStyle/>
                    <a:p>
                      <a:pPr algn="l"/>
                      <a:r>
                        <a:rPr sz="800" b="0">
                          <a:solidFill>
                            <a:srgbClr val="2E2E2E"/>
                          </a:solidFill>
                          <a:latin typeface="Calibri"/>
                        </a:rPr>
                        <a:t>56.6</a:t>
                      </a:r>
                    </a:p>
                  </a:txBody>
                  <a:tcPr marL="85725" marR="38100" marT="19050" marB="19050" anchor="ctr">
                    <a:solidFill>
                      <a:srgbClr val="FFFFFF"/>
                    </a:solidFill>
                  </a:tcPr>
                </a:tc>
                <a:tc>
                  <a:txBody>
                    <a:bodyPr wrap="none"/>
                    <a:lstStyle/>
                    <a:p>
                      <a:pPr algn="l"/>
                      <a:r>
                        <a:rPr sz="800" b="0">
                          <a:solidFill>
                            <a:srgbClr val="2E2E2E"/>
                          </a:solidFill>
                          <a:latin typeface="Calibri"/>
                        </a:rPr>
                        <a:t>61.1</a:t>
                      </a:r>
                    </a:p>
                  </a:txBody>
                  <a:tcPr marL="85725" marR="38100" marT="19050" marB="19050" anchor="ctr">
                    <a:solidFill>
                      <a:srgbClr val="FFFFFF"/>
                    </a:solidFill>
                  </a:tcPr>
                </a:tc>
                <a:tc>
                  <a:txBody>
                    <a:bodyPr wrap="none"/>
                    <a:lstStyle/>
                    <a:p>
                      <a:pPr algn="l"/>
                      <a:r>
                        <a:rPr sz="800" b="0">
                          <a:solidFill>
                            <a:srgbClr val="2E2E2E"/>
                          </a:solidFill>
                          <a:latin typeface="Calibri"/>
                        </a:rPr>
                        <a:t>66.1</a:t>
                      </a:r>
                    </a:p>
                  </a:txBody>
                  <a:tcPr marL="85725" marR="38100" marT="19050" marB="19050" anchor="ctr">
                    <a:solidFill>
                      <a:srgbClr val="FFFFFF"/>
                    </a:solidFill>
                  </a:tcPr>
                </a:tc>
                <a:tc>
                  <a:txBody>
                    <a:bodyPr wrap="none"/>
                    <a:lstStyle/>
                    <a:p>
                      <a:pPr algn="l"/>
                      <a:r>
                        <a:rPr sz="800" b="0">
                          <a:solidFill>
                            <a:srgbClr val="2E2E2E"/>
                          </a:solidFill>
                          <a:latin typeface="Calibri"/>
                        </a:rPr>
                        <a:t>71.5</a:t>
                      </a:r>
                    </a:p>
                  </a:txBody>
                  <a:tcPr marL="85725" marR="38100" marT="19050" marB="19050" anchor="ctr">
                    <a:solidFill>
                      <a:srgbClr val="FFFFFF"/>
                    </a:solidFill>
                  </a:tcPr>
                </a:tc>
                <a:tc>
                  <a:txBody>
                    <a:bodyPr wrap="none"/>
                    <a:lstStyle/>
                    <a:p>
                      <a:pPr algn="l"/>
                      <a:r>
                        <a:rPr sz="800" b="0">
                          <a:solidFill>
                            <a:srgbClr val="2E2E2E"/>
                          </a:solidFill>
                          <a:latin typeface="Calibri"/>
                        </a:rPr>
                        <a:t>77.6</a:t>
                      </a:r>
                    </a:p>
                  </a:txBody>
                  <a:tcPr marL="85725" marR="38100" marT="19050" marB="19050" anchor="ctr">
                    <a:solidFill>
                      <a:srgbClr val="FFFFFF"/>
                    </a:solidFill>
                  </a:tcPr>
                </a:tc>
                <a:tc>
                  <a:txBody>
                    <a:bodyPr wrap="none"/>
                    <a:lstStyle/>
                    <a:p>
                      <a:pPr algn="l"/>
                      <a:r>
                        <a:rPr sz="800" b="0">
                          <a:solidFill>
                            <a:srgbClr val="2E2E2E"/>
                          </a:solidFill>
                          <a:latin typeface="Calibri"/>
                        </a:rPr>
                        <a:t>84.1</a:t>
                      </a:r>
                    </a:p>
                  </a:txBody>
                  <a:tcPr marL="85725" marR="38100" marT="19050" marB="19050" anchor="ctr">
                    <a:solidFill>
                      <a:srgbClr val="FFFFFF"/>
                    </a:solidFill>
                  </a:tcPr>
                </a:tc>
                <a:tc>
                  <a:txBody>
                    <a:bodyPr wrap="none"/>
                    <a:lstStyle/>
                    <a:p>
                      <a:pPr algn="l"/>
                      <a:r>
                        <a:rPr sz="800" b="0">
                          <a:solidFill>
                            <a:srgbClr val="2E2E2E"/>
                          </a:solidFill>
                          <a:latin typeface="Calibri"/>
                        </a:rPr>
                        <a:t>91.6</a:t>
                      </a:r>
                    </a:p>
                  </a:txBody>
                  <a:tcPr marL="85725" marR="38100" marT="19050" marB="19050" anchor="ctr">
                    <a:solidFill>
                      <a:srgbClr val="FFFFFF"/>
                    </a:solidFill>
                  </a:tcPr>
                </a:tc>
                <a:tc>
                  <a:txBody>
                    <a:bodyPr wrap="none"/>
                    <a:lstStyle/>
                    <a:p>
                      <a:pPr algn="l"/>
                      <a:r>
                        <a:rPr sz="800" b="0">
                          <a:solidFill>
                            <a:srgbClr val="2E2E2E"/>
                          </a:solidFill>
                          <a:latin typeface="Calibri"/>
                        </a:rPr>
                        <a:t>99.7</a:t>
                      </a:r>
                    </a:p>
                  </a:txBody>
                  <a:tcPr marL="85725" marR="38100" marT="19050" marB="19050" anchor="ctr">
                    <a:solidFill>
                      <a:srgbClr val="FFFFFF"/>
                    </a:solidFill>
                  </a:tcPr>
                </a:tc>
                <a:tc>
                  <a:txBody>
                    <a:bodyPr wrap="none"/>
                    <a:lstStyle/>
                    <a:p>
                      <a:pPr algn="l"/>
                      <a:r>
                        <a:rPr sz="800" b="0">
                          <a:solidFill>
                            <a:srgbClr val="2E2E2E"/>
                          </a:solidFill>
                          <a:latin typeface="Calibri"/>
                        </a:rPr>
                        <a:t>109.2</a:t>
                      </a:r>
                    </a:p>
                  </a:txBody>
                  <a:tcPr marL="85725" marR="38100" marT="19050" marB="19050" anchor="ctr">
                    <a:solidFill>
                      <a:srgbClr val="FFFFFF"/>
                    </a:solidFill>
                  </a:tcPr>
                </a:tc>
                <a:tc>
                  <a:txBody>
                    <a:bodyPr wrap="none"/>
                    <a:lstStyle/>
                    <a:p>
                      <a:pPr algn="l"/>
                      <a:r>
                        <a:rPr sz="800" b="0">
                          <a:solidFill>
                            <a:srgbClr val="2E2E2E"/>
                          </a:solidFill>
                          <a:latin typeface="Calibri"/>
                        </a:rPr>
                        <a:t>8.4%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54.9</a:t>
                      </a:r>
                    </a:p>
                  </a:txBody>
                  <a:tcPr marL="85725" marR="38100" marT="19050" marB="19050" anchor="ctr">
                    <a:solidFill>
                      <a:srgbClr val="F5F8FA"/>
                    </a:solidFill>
                  </a:tcPr>
                </a:tc>
                <a:tc>
                  <a:txBody>
                    <a:bodyPr wrap="none"/>
                    <a:lstStyle/>
                    <a:p>
                      <a:pPr algn="l"/>
                      <a:r>
                        <a:rPr sz="800" b="0">
                          <a:solidFill>
                            <a:srgbClr val="2E2E2E"/>
                          </a:solidFill>
                          <a:latin typeface="Calibri"/>
                        </a:rPr>
                        <a:t>58.3</a:t>
                      </a:r>
                    </a:p>
                  </a:txBody>
                  <a:tcPr marL="85725" marR="38100" marT="19050" marB="19050" anchor="ctr">
                    <a:solidFill>
                      <a:srgbClr val="F5F8FA"/>
                    </a:solidFill>
                  </a:tcPr>
                </a:tc>
                <a:tc>
                  <a:txBody>
                    <a:bodyPr wrap="none"/>
                    <a:lstStyle/>
                    <a:p>
                      <a:pPr algn="l"/>
                      <a:r>
                        <a:rPr sz="800" b="0">
                          <a:solidFill>
                            <a:srgbClr val="2E2E2E"/>
                          </a:solidFill>
                          <a:latin typeface="Calibri"/>
                        </a:rPr>
                        <a:t>62.1</a:t>
                      </a:r>
                    </a:p>
                  </a:txBody>
                  <a:tcPr marL="85725" marR="38100" marT="19050" marB="19050" anchor="ctr">
                    <a:solidFill>
                      <a:srgbClr val="F5F8FA"/>
                    </a:solidFill>
                  </a:tcPr>
                </a:tc>
                <a:tc>
                  <a:txBody>
                    <a:bodyPr wrap="none"/>
                    <a:lstStyle/>
                    <a:p>
                      <a:pPr algn="l"/>
                      <a:r>
                        <a:rPr sz="800" b="0">
                          <a:solidFill>
                            <a:srgbClr val="2E2E2E"/>
                          </a:solidFill>
                          <a:latin typeface="Calibri"/>
                        </a:rPr>
                        <a:t>66.6</a:t>
                      </a:r>
                    </a:p>
                  </a:txBody>
                  <a:tcPr marL="85725" marR="38100" marT="19050" marB="19050" anchor="ctr">
                    <a:solidFill>
                      <a:srgbClr val="F5F8FA"/>
                    </a:solidFill>
                  </a:tcPr>
                </a:tc>
                <a:tc>
                  <a:txBody>
                    <a:bodyPr wrap="none"/>
                    <a:lstStyle/>
                    <a:p>
                      <a:pPr algn="l"/>
                      <a:r>
                        <a:rPr sz="800" b="0">
                          <a:solidFill>
                            <a:srgbClr val="2E2E2E"/>
                          </a:solidFill>
                          <a:latin typeface="Calibri"/>
                        </a:rPr>
                        <a:t>71.4</a:t>
                      </a:r>
                    </a:p>
                  </a:txBody>
                  <a:tcPr marL="85725" marR="38100" marT="19050" marB="19050" anchor="ctr">
                    <a:solidFill>
                      <a:srgbClr val="F5F8FA"/>
                    </a:solidFill>
                  </a:tcPr>
                </a:tc>
                <a:tc>
                  <a:txBody>
                    <a:bodyPr wrap="none"/>
                    <a:lstStyle/>
                    <a:p>
                      <a:pPr algn="l"/>
                      <a:r>
                        <a:rPr sz="800" b="0">
                          <a:solidFill>
                            <a:srgbClr val="2E2E2E"/>
                          </a:solidFill>
                          <a:latin typeface="Calibri"/>
                        </a:rPr>
                        <a:t>76.9</a:t>
                      </a:r>
                    </a:p>
                  </a:txBody>
                  <a:tcPr marL="85725" marR="38100" marT="19050" marB="19050" anchor="ctr">
                    <a:solidFill>
                      <a:srgbClr val="F5F8FA"/>
                    </a:solidFill>
                  </a:tcPr>
                </a:tc>
                <a:tc>
                  <a:txBody>
                    <a:bodyPr wrap="none"/>
                    <a:lstStyle/>
                    <a:p>
                      <a:pPr algn="l"/>
                      <a:r>
                        <a:rPr sz="800" b="0">
                          <a:solidFill>
                            <a:srgbClr val="2E2E2E"/>
                          </a:solidFill>
                          <a:latin typeface="Calibri"/>
                        </a:rPr>
                        <a:t>83.0</a:t>
                      </a:r>
                    </a:p>
                  </a:txBody>
                  <a:tcPr marL="85725" marR="38100" marT="19050" marB="19050" anchor="ctr">
                    <a:solidFill>
                      <a:srgbClr val="F5F8FA"/>
                    </a:solidFill>
                  </a:tcPr>
                </a:tc>
                <a:tc>
                  <a:txBody>
                    <a:bodyPr wrap="none"/>
                    <a:lstStyle/>
                    <a:p>
                      <a:pPr algn="l"/>
                      <a:r>
                        <a:rPr sz="800" b="0">
                          <a:solidFill>
                            <a:srgbClr val="2E2E2E"/>
                          </a:solidFill>
                          <a:latin typeface="Calibri"/>
                        </a:rPr>
                        <a:t>89.7</a:t>
                      </a:r>
                    </a:p>
                  </a:txBody>
                  <a:tcPr marL="85725" marR="38100" marT="19050" marB="19050" anchor="ctr">
                    <a:solidFill>
                      <a:srgbClr val="F5F8FA"/>
                    </a:solidFill>
                  </a:tcPr>
                </a:tc>
                <a:tc>
                  <a:txBody>
                    <a:bodyPr wrap="none"/>
                    <a:lstStyle/>
                    <a:p>
                      <a:pPr algn="l"/>
                      <a:r>
                        <a:rPr sz="800" b="0">
                          <a:solidFill>
                            <a:srgbClr val="2E2E2E"/>
                          </a:solidFill>
                          <a:latin typeface="Calibri"/>
                        </a:rPr>
                        <a:t>97.0</a:t>
                      </a:r>
                    </a:p>
                  </a:txBody>
                  <a:tcPr marL="85725" marR="38100" marT="19050" marB="19050" anchor="ctr">
                    <a:solidFill>
                      <a:srgbClr val="F5F8FA"/>
                    </a:solidFill>
                  </a:tcPr>
                </a:tc>
                <a:tc>
                  <a:txBody>
                    <a:bodyPr wrap="none"/>
                    <a:lstStyle/>
                    <a:p>
                      <a:pPr algn="l"/>
                      <a:r>
                        <a:rPr sz="800" b="0">
                          <a:solidFill>
                            <a:srgbClr val="2E2E2E"/>
                          </a:solidFill>
                          <a:latin typeface="Calibri"/>
                        </a:rPr>
                        <a:t>105.0</a:t>
                      </a:r>
                    </a:p>
                  </a:txBody>
                  <a:tcPr marL="85725" marR="38100" marT="19050" marB="19050" anchor="ctr">
                    <a:solidFill>
                      <a:srgbClr val="F5F8FA"/>
                    </a:solidFill>
                  </a:tcPr>
                </a:tc>
                <a:tc>
                  <a:txBody>
                    <a:bodyPr wrap="none"/>
                    <a:lstStyle/>
                    <a:p>
                      <a:pPr algn="l"/>
                      <a:r>
                        <a:rPr sz="800" b="0">
                          <a:solidFill>
                            <a:srgbClr val="2E2E2E"/>
                          </a:solidFill>
                          <a:latin typeface="Calibri"/>
                        </a:rPr>
                        <a:t>113.7</a:t>
                      </a:r>
                    </a:p>
                  </a:txBody>
                  <a:tcPr marL="85725" marR="38100" marT="19050" marB="19050" anchor="ctr">
                    <a:solidFill>
                      <a:srgbClr val="F5F8FA"/>
                    </a:solidFill>
                  </a:tcPr>
                </a:tc>
                <a:tc>
                  <a:txBody>
                    <a:bodyPr wrap="none"/>
                    <a:lstStyle/>
                    <a:p>
                      <a:pPr algn="l"/>
                      <a:r>
                        <a:rPr sz="800" b="0">
                          <a:solidFill>
                            <a:srgbClr val="2E2E2E"/>
                          </a:solidFill>
                          <a:latin typeface="Calibri"/>
                        </a:rPr>
                        <a:t>123.3</a:t>
                      </a:r>
                    </a:p>
                  </a:txBody>
                  <a:tcPr marL="85725" marR="38100" marT="19050" marB="19050" anchor="ctr">
                    <a:solidFill>
                      <a:srgbClr val="F5F8FA"/>
                    </a:solidFill>
                  </a:tcPr>
                </a:tc>
                <a:tc>
                  <a:txBody>
                    <a:bodyPr wrap="none"/>
                    <a:lstStyle/>
                    <a:p>
                      <a:pPr algn="l"/>
                      <a:r>
                        <a:rPr sz="800" b="0">
                          <a:solidFill>
                            <a:srgbClr val="2E2E2E"/>
                          </a:solidFill>
                          <a:latin typeface="Calibri"/>
                        </a:rPr>
                        <a:t>133.8</a:t>
                      </a:r>
                    </a:p>
                  </a:txBody>
                  <a:tcPr marL="85725" marR="38100" marT="19050" marB="19050" anchor="ctr">
                    <a:solidFill>
                      <a:srgbClr val="F5F8FA"/>
                    </a:solidFill>
                  </a:tcPr>
                </a:tc>
                <a:tc>
                  <a:txBody>
                    <a:bodyPr wrap="none"/>
                    <a:lstStyle/>
                    <a:p>
                      <a:pPr algn="l"/>
                      <a:r>
                        <a:rPr sz="800" b="0">
                          <a:solidFill>
                            <a:srgbClr val="2E2E2E"/>
                          </a:solidFill>
                          <a:latin typeface="Calibri"/>
                        </a:rPr>
                        <a:t>145.6</a:t>
                      </a:r>
                    </a:p>
                  </a:txBody>
                  <a:tcPr marL="85725" marR="38100" marT="19050" marB="19050" anchor="ctr">
                    <a:solidFill>
                      <a:srgbClr val="F5F8FA"/>
                    </a:solidFill>
                  </a:tcPr>
                </a:tc>
                <a:tc>
                  <a:txBody>
                    <a:bodyPr wrap="none"/>
                    <a:lstStyle/>
                    <a:p>
                      <a:pPr algn="l"/>
                      <a:r>
                        <a:rPr sz="800" b="0">
                          <a:solidFill>
                            <a:srgbClr val="2E2E2E"/>
                          </a:solidFill>
                          <a:latin typeface="Calibri"/>
                        </a:rPr>
                        <a:t>158.5</a:t>
                      </a:r>
                    </a:p>
                  </a:txBody>
                  <a:tcPr marL="85725" marR="38100" marT="19050" marB="19050" anchor="ctr">
                    <a:solidFill>
                      <a:srgbClr val="F5F8FA"/>
                    </a:solidFill>
                  </a:tcPr>
                </a:tc>
                <a:tc>
                  <a:txBody>
                    <a:bodyPr wrap="none"/>
                    <a:lstStyle/>
                    <a:p>
                      <a:pPr algn="l"/>
                      <a:r>
                        <a:rPr sz="800" b="0">
                          <a:solidFill>
                            <a:srgbClr val="2E2E2E"/>
                          </a:solidFill>
                          <a:latin typeface="Calibri"/>
                        </a:rPr>
                        <a:t>173.3</a:t>
                      </a:r>
                    </a:p>
                  </a:txBody>
                  <a:tcPr marL="85725" marR="38100" marT="19050" marB="19050" anchor="ctr">
                    <a:solidFill>
                      <a:srgbClr val="F5F8FA"/>
                    </a:solidFill>
                  </a:tcPr>
                </a:tc>
                <a:tc>
                  <a:txBody>
                    <a:bodyPr wrap="none"/>
                    <a:lstStyle/>
                    <a:p>
                      <a:pPr algn="l"/>
                      <a:r>
                        <a:rPr sz="800" b="0">
                          <a:solidFill>
                            <a:srgbClr val="2E2E2E"/>
                          </a:solidFill>
                          <a:latin typeface="Calibri"/>
                        </a:rPr>
                        <a:t>8.5%</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0">
                          <a:solidFill>
                            <a:srgbClr val="2E2E2E"/>
                          </a:solidFill>
                          <a:latin typeface="Calibri"/>
                        </a:rPr>
                        <a:t>263.2</a:t>
                      </a:r>
                    </a:p>
                  </a:txBody>
                  <a:tcPr marL="85725" marR="38100" marT="19050" marB="19050" anchor="ctr">
                    <a:solidFill>
                      <a:srgbClr val="FFFFFF"/>
                    </a:solidFill>
                  </a:tcPr>
                </a:tc>
                <a:tc>
                  <a:txBody>
                    <a:bodyPr wrap="none"/>
                    <a:lstStyle/>
                    <a:p>
                      <a:pPr algn="l"/>
                      <a:r>
                        <a:rPr sz="800" b="0">
                          <a:solidFill>
                            <a:srgbClr val="2E2E2E"/>
                          </a:solidFill>
                          <a:latin typeface="Calibri"/>
                        </a:rPr>
                        <a:t>276.7</a:t>
                      </a:r>
                    </a:p>
                  </a:txBody>
                  <a:tcPr marL="85725" marR="38100" marT="19050" marB="19050" anchor="ctr">
                    <a:solidFill>
                      <a:srgbClr val="FFFFFF"/>
                    </a:solidFill>
                  </a:tcPr>
                </a:tc>
                <a:tc>
                  <a:txBody>
                    <a:bodyPr wrap="none"/>
                    <a:lstStyle/>
                    <a:p>
                      <a:pPr algn="l"/>
                      <a:r>
                        <a:rPr sz="800" b="0">
                          <a:solidFill>
                            <a:srgbClr val="2E2E2E"/>
                          </a:solidFill>
                          <a:latin typeface="Calibri"/>
                        </a:rPr>
                        <a:t>291.6</a:t>
                      </a:r>
                    </a:p>
                  </a:txBody>
                  <a:tcPr marL="85725" marR="38100" marT="19050" marB="19050" anchor="ctr">
                    <a:solidFill>
                      <a:srgbClr val="FFFFFF"/>
                    </a:solidFill>
                  </a:tcPr>
                </a:tc>
                <a:tc>
                  <a:txBody>
                    <a:bodyPr wrap="none"/>
                    <a:lstStyle/>
                    <a:p>
                      <a:pPr algn="l"/>
                      <a:r>
                        <a:rPr sz="800" b="0">
                          <a:solidFill>
                            <a:srgbClr val="2E2E2E"/>
                          </a:solidFill>
                          <a:latin typeface="Calibri"/>
                        </a:rPr>
                        <a:t>309.1</a:t>
                      </a:r>
                    </a:p>
                  </a:txBody>
                  <a:tcPr marL="85725" marR="38100" marT="19050" marB="19050" anchor="ctr">
                    <a:solidFill>
                      <a:srgbClr val="FFFFFF"/>
                    </a:solidFill>
                  </a:tcPr>
                </a:tc>
                <a:tc>
                  <a:txBody>
                    <a:bodyPr wrap="none"/>
                    <a:lstStyle/>
                    <a:p>
                      <a:pPr algn="l"/>
                      <a:r>
                        <a:rPr sz="800" b="0">
                          <a:solidFill>
                            <a:srgbClr val="2E2E2E"/>
                          </a:solidFill>
                          <a:latin typeface="Calibri"/>
                        </a:rPr>
                        <a:t>328.0</a:t>
                      </a:r>
                    </a:p>
                  </a:txBody>
                  <a:tcPr marL="85725" marR="38100" marT="19050" marB="19050" anchor="ctr">
                    <a:solidFill>
                      <a:srgbClr val="FFFFFF"/>
                    </a:solidFill>
                  </a:tcPr>
                </a:tc>
                <a:tc>
                  <a:txBody>
                    <a:bodyPr wrap="none"/>
                    <a:lstStyle/>
                    <a:p>
                      <a:pPr algn="l"/>
                      <a:r>
                        <a:rPr sz="800" b="0">
                          <a:solidFill>
                            <a:srgbClr val="2E2E2E"/>
                          </a:solidFill>
                          <a:latin typeface="Calibri"/>
                        </a:rPr>
                        <a:t>349.4</a:t>
                      </a:r>
                    </a:p>
                  </a:txBody>
                  <a:tcPr marL="85725" marR="38100" marT="19050" marB="19050" anchor="ctr">
                    <a:solidFill>
                      <a:srgbClr val="FFFFFF"/>
                    </a:solidFill>
                  </a:tcPr>
                </a:tc>
                <a:tc>
                  <a:txBody>
                    <a:bodyPr wrap="none"/>
                    <a:lstStyle/>
                    <a:p>
                      <a:pPr algn="l"/>
                      <a:r>
                        <a:rPr sz="800" b="0">
                          <a:solidFill>
                            <a:srgbClr val="2E2E2E"/>
                          </a:solidFill>
                          <a:latin typeface="Calibri"/>
                        </a:rPr>
                        <a:t>372.7</a:t>
                      </a:r>
                    </a:p>
                  </a:txBody>
                  <a:tcPr marL="85725" marR="38100" marT="19050" marB="19050" anchor="ctr">
                    <a:solidFill>
                      <a:srgbClr val="FFFFFF"/>
                    </a:solidFill>
                  </a:tcPr>
                </a:tc>
                <a:tc>
                  <a:txBody>
                    <a:bodyPr wrap="none"/>
                    <a:lstStyle/>
                    <a:p>
                      <a:pPr algn="l"/>
                      <a:r>
                        <a:rPr sz="800" b="0">
                          <a:solidFill>
                            <a:srgbClr val="2E2E2E"/>
                          </a:solidFill>
                          <a:latin typeface="Calibri"/>
                        </a:rPr>
                        <a:t>397.8</a:t>
                      </a:r>
                    </a:p>
                  </a:txBody>
                  <a:tcPr marL="85725" marR="38100" marT="19050" marB="19050" anchor="ctr">
                    <a:solidFill>
                      <a:srgbClr val="FFFFFF"/>
                    </a:solidFill>
                  </a:tcPr>
                </a:tc>
                <a:tc>
                  <a:txBody>
                    <a:bodyPr wrap="none"/>
                    <a:lstStyle/>
                    <a:p>
                      <a:pPr algn="l"/>
                      <a:r>
                        <a:rPr sz="800" b="0">
                          <a:solidFill>
                            <a:srgbClr val="2E2E2E"/>
                          </a:solidFill>
                          <a:latin typeface="Calibri"/>
                        </a:rPr>
                        <a:t>425.1</a:t>
                      </a:r>
                    </a:p>
                  </a:txBody>
                  <a:tcPr marL="85725" marR="38100" marT="19050" marB="19050" anchor="ctr">
                    <a:solidFill>
                      <a:srgbClr val="FFFFFF"/>
                    </a:solidFill>
                  </a:tcPr>
                </a:tc>
                <a:tc>
                  <a:txBody>
                    <a:bodyPr wrap="none"/>
                    <a:lstStyle/>
                    <a:p>
                      <a:pPr algn="l"/>
                      <a:r>
                        <a:rPr sz="800" b="0">
                          <a:solidFill>
                            <a:srgbClr val="2E2E2E"/>
                          </a:solidFill>
                          <a:latin typeface="Calibri"/>
                        </a:rPr>
                        <a:t>454.6</a:t>
                      </a:r>
                    </a:p>
                  </a:txBody>
                  <a:tcPr marL="85725" marR="38100" marT="19050" marB="19050" anchor="ctr">
                    <a:solidFill>
                      <a:srgbClr val="FFFFFF"/>
                    </a:solidFill>
                  </a:tcPr>
                </a:tc>
                <a:tc>
                  <a:txBody>
                    <a:bodyPr wrap="none"/>
                    <a:lstStyle/>
                    <a:p>
                      <a:pPr algn="l"/>
                      <a:r>
                        <a:rPr sz="800" b="0">
                          <a:solidFill>
                            <a:srgbClr val="2E2E2E"/>
                          </a:solidFill>
                          <a:latin typeface="Calibri"/>
                        </a:rPr>
                        <a:t>486.5</a:t>
                      </a:r>
                    </a:p>
                  </a:txBody>
                  <a:tcPr marL="85725" marR="38100" marT="19050" marB="19050" anchor="ctr">
                    <a:solidFill>
                      <a:srgbClr val="FFFFFF"/>
                    </a:solidFill>
                  </a:tcPr>
                </a:tc>
                <a:tc>
                  <a:txBody>
                    <a:bodyPr wrap="none"/>
                    <a:lstStyle/>
                    <a:p>
                      <a:pPr algn="l"/>
                      <a:r>
                        <a:rPr sz="800" b="0">
                          <a:solidFill>
                            <a:srgbClr val="2E2E2E"/>
                          </a:solidFill>
                          <a:latin typeface="Calibri"/>
                        </a:rPr>
                        <a:t>521.1</a:t>
                      </a:r>
                    </a:p>
                  </a:txBody>
                  <a:tcPr marL="85725" marR="38100" marT="19050" marB="19050" anchor="ctr">
                    <a:solidFill>
                      <a:srgbClr val="FFFFFF"/>
                    </a:solidFill>
                  </a:tcPr>
                </a:tc>
                <a:tc>
                  <a:txBody>
                    <a:bodyPr wrap="none"/>
                    <a:lstStyle/>
                    <a:p>
                      <a:pPr algn="l"/>
                      <a:r>
                        <a:rPr sz="800" b="0">
                          <a:solidFill>
                            <a:srgbClr val="2E2E2E"/>
                          </a:solidFill>
                          <a:latin typeface="Calibri"/>
                        </a:rPr>
                        <a:t>558.0</a:t>
                      </a:r>
                    </a:p>
                  </a:txBody>
                  <a:tcPr marL="85725" marR="38100" marT="19050" marB="19050" anchor="ctr">
                    <a:solidFill>
                      <a:srgbClr val="FFFFFF"/>
                    </a:solidFill>
                  </a:tcPr>
                </a:tc>
                <a:tc>
                  <a:txBody>
                    <a:bodyPr wrap="none"/>
                    <a:lstStyle/>
                    <a:p>
                      <a:pPr algn="l"/>
                      <a:r>
                        <a:rPr sz="800" b="0">
                          <a:solidFill>
                            <a:srgbClr val="2E2E2E"/>
                          </a:solidFill>
                          <a:latin typeface="Calibri"/>
                        </a:rPr>
                        <a:t>599.6</a:t>
                      </a:r>
                    </a:p>
                  </a:txBody>
                  <a:tcPr marL="85725" marR="38100" marT="19050" marB="19050" anchor="ctr">
                    <a:solidFill>
                      <a:srgbClr val="FFFFFF"/>
                    </a:solidFill>
                  </a:tcPr>
                </a:tc>
                <a:tc>
                  <a:txBody>
                    <a:bodyPr wrap="none"/>
                    <a:lstStyle/>
                    <a:p>
                      <a:pPr algn="l"/>
                      <a:r>
                        <a:rPr sz="800" b="0">
                          <a:solidFill>
                            <a:srgbClr val="2E2E2E"/>
                          </a:solidFill>
                          <a:latin typeface="Calibri"/>
                        </a:rPr>
                        <a:t>644.3</a:t>
                      </a:r>
                    </a:p>
                  </a:txBody>
                  <a:tcPr marL="85725" marR="38100" marT="19050" marB="19050" anchor="ctr">
                    <a:solidFill>
                      <a:srgbClr val="FFFFFF"/>
                    </a:solidFill>
                  </a:tcPr>
                </a:tc>
                <a:tc>
                  <a:txBody>
                    <a:bodyPr wrap="none"/>
                    <a:lstStyle/>
                    <a:p>
                      <a:pPr algn="l"/>
                      <a:r>
                        <a:rPr sz="800" b="0">
                          <a:solidFill>
                            <a:srgbClr val="2E2E2E"/>
                          </a:solidFill>
                          <a:latin typeface="Calibri"/>
                        </a:rPr>
                        <a:t>695.1</a:t>
                      </a:r>
                    </a:p>
                  </a:txBody>
                  <a:tcPr marL="85725" marR="38100" marT="19050" marB="19050" anchor="ctr">
                    <a:solidFill>
                      <a:srgbClr val="FFFFFF"/>
                    </a:solidFill>
                  </a:tcPr>
                </a:tc>
                <a:tc>
                  <a:txBody>
                    <a:bodyPr wrap="none"/>
                    <a:lstStyle/>
                    <a:p>
                      <a:pPr algn="l"/>
                      <a:r>
                        <a:rPr sz="800" b="0">
                          <a:solidFill>
                            <a:srgbClr val="2E2E2E"/>
                          </a:solidFill>
                          <a:latin typeface="Calibri"/>
                        </a:rPr>
                        <a:t>7.1%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0">
                          <a:solidFill>
                            <a:srgbClr val="2E2E2E"/>
                          </a:solidFill>
                          <a:latin typeface="Calibri"/>
                        </a:rPr>
                        <a:t>107.4</a:t>
                      </a:r>
                    </a:p>
                  </a:txBody>
                  <a:tcPr marL="85725" marR="38100" marT="19050" marB="19050" anchor="ctr">
                    <a:solidFill>
                      <a:srgbClr val="F5F8FA"/>
                    </a:solidFill>
                  </a:tcPr>
                </a:tc>
                <a:tc>
                  <a:txBody>
                    <a:bodyPr wrap="none"/>
                    <a:lstStyle/>
                    <a:p>
                      <a:pPr algn="l"/>
                      <a:r>
                        <a:rPr sz="800" b="0">
                          <a:solidFill>
                            <a:srgbClr val="2E2E2E"/>
                          </a:solidFill>
                          <a:latin typeface="Calibri"/>
                        </a:rPr>
                        <a:t>115.6</a:t>
                      </a:r>
                    </a:p>
                  </a:txBody>
                  <a:tcPr marL="85725" marR="38100" marT="19050" marB="19050" anchor="ctr">
                    <a:solidFill>
                      <a:srgbClr val="F5F8FA"/>
                    </a:solidFill>
                  </a:tcPr>
                </a:tc>
                <a:tc>
                  <a:txBody>
                    <a:bodyPr wrap="none"/>
                    <a:lstStyle/>
                    <a:p>
                      <a:pPr algn="l"/>
                      <a:r>
                        <a:rPr sz="800" b="0">
                          <a:solidFill>
                            <a:srgbClr val="2E2E2E"/>
                          </a:solidFill>
                          <a:latin typeface="Calibri"/>
                        </a:rPr>
                        <a:t>124.7</a:t>
                      </a:r>
                    </a:p>
                  </a:txBody>
                  <a:tcPr marL="85725" marR="38100" marT="19050" marB="19050" anchor="ctr">
                    <a:solidFill>
                      <a:srgbClr val="F5F8FA"/>
                    </a:solidFill>
                  </a:tcPr>
                </a:tc>
                <a:tc>
                  <a:txBody>
                    <a:bodyPr wrap="none"/>
                    <a:lstStyle/>
                    <a:p>
                      <a:pPr algn="l"/>
                      <a:r>
                        <a:rPr sz="800" b="0">
                          <a:solidFill>
                            <a:srgbClr val="2E2E2E"/>
                          </a:solidFill>
                          <a:latin typeface="Calibri"/>
                        </a:rPr>
                        <a:t>135.5</a:t>
                      </a:r>
                    </a:p>
                  </a:txBody>
                  <a:tcPr marL="85725" marR="38100" marT="19050" marB="19050" anchor="ctr">
                    <a:solidFill>
                      <a:srgbClr val="F5F8FA"/>
                    </a:solidFill>
                  </a:tcPr>
                </a:tc>
                <a:tc>
                  <a:txBody>
                    <a:bodyPr wrap="none"/>
                    <a:lstStyle/>
                    <a:p>
                      <a:pPr algn="l"/>
                      <a:r>
                        <a:rPr sz="800" b="0">
                          <a:solidFill>
                            <a:srgbClr val="2E2E2E"/>
                          </a:solidFill>
                          <a:latin typeface="Calibri"/>
                        </a:rPr>
                        <a:t>147.3</a:t>
                      </a:r>
                    </a:p>
                  </a:txBody>
                  <a:tcPr marL="85725" marR="38100" marT="19050" marB="19050" anchor="ctr">
                    <a:solidFill>
                      <a:srgbClr val="F5F8FA"/>
                    </a:solidFill>
                  </a:tcPr>
                </a:tc>
                <a:tc>
                  <a:txBody>
                    <a:bodyPr wrap="none"/>
                    <a:lstStyle/>
                    <a:p>
                      <a:pPr algn="l"/>
                      <a:r>
                        <a:rPr sz="800" b="0">
                          <a:solidFill>
                            <a:srgbClr val="2E2E2E"/>
                          </a:solidFill>
                          <a:latin typeface="Calibri"/>
                        </a:rPr>
                        <a:t>160.9</a:t>
                      </a:r>
                    </a:p>
                  </a:txBody>
                  <a:tcPr marL="85725" marR="38100" marT="19050" marB="19050" anchor="ctr">
                    <a:solidFill>
                      <a:srgbClr val="F5F8FA"/>
                    </a:solidFill>
                  </a:tcPr>
                </a:tc>
                <a:tc>
                  <a:txBody>
                    <a:bodyPr wrap="none"/>
                    <a:lstStyle/>
                    <a:p>
                      <a:pPr algn="l"/>
                      <a:r>
                        <a:rPr sz="800" b="0">
                          <a:solidFill>
                            <a:srgbClr val="2E2E2E"/>
                          </a:solidFill>
                          <a:latin typeface="Calibri"/>
                        </a:rPr>
                        <a:t>176.1</a:t>
                      </a:r>
                    </a:p>
                  </a:txBody>
                  <a:tcPr marL="85725" marR="38100" marT="19050" marB="19050" anchor="ctr">
                    <a:solidFill>
                      <a:srgbClr val="F5F8FA"/>
                    </a:solidFill>
                  </a:tcPr>
                </a:tc>
                <a:tc>
                  <a:txBody>
                    <a:bodyPr wrap="none"/>
                    <a:lstStyle/>
                    <a:p>
                      <a:pPr algn="l"/>
                      <a:r>
                        <a:rPr sz="800" b="0">
                          <a:solidFill>
                            <a:srgbClr val="2E2E2E"/>
                          </a:solidFill>
                          <a:latin typeface="Calibri"/>
                        </a:rPr>
                        <a:t>192.9</a:t>
                      </a:r>
                    </a:p>
                  </a:txBody>
                  <a:tcPr marL="85725" marR="38100" marT="19050" marB="19050" anchor="ctr">
                    <a:solidFill>
                      <a:srgbClr val="F5F8FA"/>
                    </a:solidFill>
                  </a:tcPr>
                </a:tc>
                <a:tc>
                  <a:txBody>
                    <a:bodyPr wrap="none"/>
                    <a:lstStyle/>
                    <a:p>
                      <a:pPr algn="l"/>
                      <a:r>
                        <a:rPr sz="800" b="0">
                          <a:solidFill>
                            <a:srgbClr val="2E2E2E"/>
                          </a:solidFill>
                          <a:latin typeface="Calibri"/>
                        </a:rPr>
                        <a:t>211.6</a:t>
                      </a:r>
                    </a:p>
                  </a:txBody>
                  <a:tcPr marL="85725" marR="38100" marT="19050" marB="19050" anchor="ctr">
                    <a:solidFill>
                      <a:srgbClr val="F5F8FA"/>
                    </a:solidFill>
                  </a:tcPr>
                </a:tc>
                <a:tc>
                  <a:txBody>
                    <a:bodyPr wrap="none"/>
                    <a:lstStyle/>
                    <a:p>
                      <a:pPr algn="l"/>
                      <a:r>
                        <a:rPr sz="800" b="0">
                          <a:solidFill>
                            <a:srgbClr val="2E2E2E"/>
                          </a:solidFill>
                          <a:latin typeface="Calibri"/>
                        </a:rPr>
                        <a:t>232.4</a:t>
                      </a:r>
                    </a:p>
                  </a:txBody>
                  <a:tcPr marL="85725" marR="38100" marT="19050" marB="19050" anchor="ctr">
                    <a:solidFill>
                      <a:srgbClr val="F5F8FA"/>
                    </a:solidFill>
                  </a:tcPr>
                </a:tc>
                <a:tc>
                  <a:txBody>
                    <a:bodyPr wrap="none"/>
                    <a:lstStyle/>
                    <a:p>
                      <a:pPr algn="l"/>
                      <a:r>
                        <a:rPr sz="800" b="0">
                          <a:solidFill>
                            <a:srgbClr val="2E2E2E"/>
                          </a:solidFill>
                          <a:latin typeface="Calibri"/>
                        </a:rPr>
                        <a:t>255.6</a:t>
                      </a:r>
                    </a:p>
                  </a:txBody>
                  <a:tcPr marL="85725" marR="38100" marT="19050" marB="19050" anchor="ctr">
                    <a:solidFill>
                      <a:srgbClr val="F5F8FA"/>
                    </a:solidFill>
                  </a:tcPr>
                </a:tc>
                <a:tc>
                  <a:txBody>
                    <a:bodyPr wrap="none"/>
                    <a:lstStyle/>
                    <a:p>
                      <a:pPr algn="l"/>
                      <a:r>
                        <a:rPr sz="800" b="0">
                          <a:solidFill>
                            <a:srgbClr val="2E2E2E"/>
                          </a:solidFill>
                          <a:latin typeface="Calibri"/>
                        </a:rPr>
                        <a:t>281.3</a:t>
                      </a:r>
                    </a:p>
                  </a:txBody>
                  <a:tcPr marL="85725" marR="38100" marT="19050" marB="19050" anchor="ctr">
                    <a:solidFill>
                      <a:srgbClr val="F5F8FA"/>
                    </a:solidFill>
                  </a:tcPr>
                </a:tc>
                <a:tc>
                  <a:txBody>
                    <a:bodyPr wrap="none"/>
                    <a:lstStyle/>
                    <a:p>
                      <a:pPr algn="l"/>
                      <a:r>
                        <a:rPr sz="800" b="0">
                          <a:solidFill>
                            <a:srgbClr val="2E2E2E"/>
                          </a:solidFill>
                          <a:latin typeface="Calibri"/>
                        </a:rPr>
                        <a:t>309.7</a:t>
                      </a:r>
                    </a:p>
                  </a:txBody>
                  <a:tcPr marL="85725" marR="38100" marT="19050" marB="19050" anchor="ctr">
                    <a:solidFill>
                      <a:srgbClr val="F5F8FA"/>
                    </a:solidFill>
                  </a:tcPr>
                </a:tc>
                <a:tc>
                  <a:txBody>
                    <a:bodyPr wrap="none"/>
                    <a:lstStyle/>
                    <a:p>
                      <a:pPr algn="l"/>
                      <a:r>
                        <a:rPr sz="800" b="0">
                          <a:solidFill>
                            <a:srgbClr val="2E2E2E"/>
                          </a:solidFill>
                          <a:latin typeface="Calibri"/>
                        </a:rPr>
                        <a:t>342.3</a:t>
                      </a:r>
                    </a:p>
                  </a:txBody>
                  <a:tcPr marL="85725" marR="38100" marT="19050" marB="19050" anchor="ctr">
                    <a:solidFill>
                      <a:srgbClr val="F5F8FA"/>
                    </a:solidFill>
                  </a:tcPr>
                </a:tc>
                <a:tc>
                  <a:txBody>
                    <a:bodyPr wrap="none"/>
                    <a:lstStyle/>
                    <a:p>
                      <a:pPr algn="l"/>
                      <a:r>
                        <a:rPr sz="800" b="0">
                          <a:solidFill>
                            <a:srgbClr val="2E2E2E"/>
                          </a:solidFill>
                          <a:latin typeface="Calibri"/>
                        </a:rPr>
                        <a:t>378.5</a:t>
                      </a:r>
                    </a:p>
                  </a:txBody>
                  <a:tcPr marL="85725" marR="38100" marT="19050" marB="19050" anchor="ctr">
                    <a:solidFill>
                      <a:srgbClr val="F5F8FA"/>
                    </a:solidFill>
                  </a:tcPr>
                </a:tc>
                <a:tc>
                  <a:txBody>
                    <a:bodyPr wrap="none"/>
                    <a:lstStyle/>
                    <a:p>
                      <a:pPr algn="l"/>
                      <a:r>
                        <a:rPr sz="800" b="0">
                          <a:solidFill>
                            <a:srgbClr val="2E2E2E"/>
                          </a:solidFill>
                          <a:latin typeface="Calibri"/>
                        </a:rPr>
                        <a:t>420.3</a:t>
                      </a:r>
                    </a:p>
                  </a:txBody>
                  <a:tcPr marL="85725" marR="38100" marT="19050" marB="19050" anchor="ctr">
                    <a:solidFill>
                      <a:srgbClr val="F5F8FA"/>
                    </a:solidFill>
                  </a:tcPr>
                </a:tc>
                <a:tc>
                  <a:txBody>
                    <a:bodyPr wrap="none"/>
                    <a:lstStyle/>
                    <a:p>
                      <a:pPr algn="l"/>
                      <a:r>
                        <a:rPr sz="800" b="0">
                          <a:solidFill>
                            <a:srgbClr val="2E2E2E"/>
                          </a:solidFill>
                          <a:latin typeface="Calibri"/>
                        </a:rPr>
                        <a:t>10.1%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Patient Group</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Patient Group,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Patient Group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7.6%</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7.3%</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c>
                  <a:txBody>
                    <a:bodyPr wrap="none"/>
                    <a:lstStyle/>
                    <a:p>
                      <a:pPr algn="l"/>
                      <a:r>
                        <a:rPr sz="800" b="1">
                          <a:solidFill>
                            <a:srgbClr val="2E7D32"/>
                          </a:solidFill>
                          <a:latin typeface="Calibri"/>
                        </a:rPr>
                        <a:t>▲ 7.2%</a:t>
                      </a:r>
                    </a:p>
                  </a:txBody>
                  <a:tcPr marL="85725" marR="38100" marT="19050" marB="19050" anchor="ctr">
                    <a:solidFill>
                      <a:srgbClr val="FFFFFF"/>
                    </a:solidFill>
                  </a:tcPr>
                </a:tc>
                <a:tc>
                  <a:txBody>
                    <a:bodyPr wrap="none"/>
                    <a:lstStyle/>
                    <a:p>
                      <a:pPr algn="l"/>
                      <a:r>
                        <a:rPr sz="800" b="1">
                          <a:solidFill>
                            <a:srgbClr val="2E7D32"/>
                          </a:solidFill>
                          <a:latin typeface="Calibri"/>
                        </a:rPr>
                        <a:t>▲ 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7.8%</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7.5%</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c>
                  <a:txBody>
                    <a:bodyPr wrap="none"/>
                    <a:lstStyle/>
                    <a:p>
                      <a:pPr algn="l"/>
                      <a:r>
                        <a:rPr sz="800" b="1">
                          <a:solidFill>
                            <a:srgbClr val="2E7D32"/>
                          </a:solidFill>
                          <a:latin typeface="Calibri"/>
                        </a:rPr>
                        <a:t>▲ 7.1%</a:t>
                      </a:r>
                    </a:p>
                  </a:txBody>
                  <a:tcPr marL="85725" marR="38100" marT="19050" marB="19050" anchor="ctr">
                    <a:solidFill>
                      <a:srgbClr val="F5F8FA"/>
                    </a:solidFill>
                  </a:tcPr>
                </a:tc>
                <a:tc>
                  <a:txBody>
                    <a:bodyPr wrap="none"/>
                    <a:lstStyle/>
                    <a:p>
                      <a:pPr algn="l"/>
                      <a:r>
                        <a:rPr sz="800" b="1">
                          <a:solidFill>
                            <a:srgbClr val="2E7D32"/>
                          </a:solidFill>
                          <a:latin typeface="Calibri"/>
                        </a:rPr>
                        <a:t>▲ 7.4%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5.8%</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5.7%</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9.6%</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9.1%</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c>
                  <a:txBody>
                    <a:bodyPr wrap="none"/>
                    <a:lstStyle/>
                    <a:p>
                      <a:pPr algn="l"/>
                      <a:r>
                        <a:rPr sz="800" b="1">
                          <a:solidFill>
                            <a:srgbClr val="2E7D32"/>
                          </a:solidFill>
                          <a:latin typeface="Calibri"/>
                        </a:rPr>
                        <a:t>▲ 8.8%</a:t>
                      </a:r>
                    </a:p>
                  </a:txBody>
                  <a:tcPr marL="85725" marR="38100" marT="19050" marB="19050" anchor="ctr">
                    <a:solidFill>
                      <a:srgbClr val="F5F8FA"/>
                    </a:solidFill>
                  </a:tcPr>
                </a:tc>
                <a:tc>
                  <a:txBody>
                    <a:bodyPr wrap="none"/>
                    <a:lstStyle/>
                    <a:p>
                      <a:pPr algn="l"/>
                      <a:r>
                        <a:rPr sz="800" b="1">
                          <a:solidFill>
                            <a:srgbClr val="2E7D32"/>
                          </a:solidFill>
                          <a:latin typeface="Calibri"/>
                        </a:rPr>
                        <a:t>▲ 9.0%</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Patient Group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8" name="Table 17"/>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Patient Group</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Neonates</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2E7D32"/>
                          </a:solidFill>
                          <a:latin typeface="Calibri"/>
                        </a:rPr>
                        <a:t>▲ 6.2%</a:t>
                      </a:r>
                    </a:p>
                  </a:txBody>
                  <a:tcPr marL="85725" marR="38100" marT="19050" marB="19050" anchor="ctr">
                    <a:solidFill>
                      <a:srgbClr val="FFFFFF"/>
                    </a:solidFill>
                  </a:tcPr>
                </a:tc>
                <a:tc>
                  <a:txBody>
                    <a:bodyPr wrap="none"/>
                    <a:lstStyle/>
                    <a:p>
                      <a:pPr algn="l"/>
                      <a:r>
                        <a:rPr sz="800" b="1">
                          <a:solidFill>
                            <a:srgbClr val="2E7D32"/>
                          </a:solidFill>
                          <a:latin typeface="Calibri"/>
                        </a:rPr>
                        <a:t>▲ 6.9%</a:t>
                      </a:r>
                    </a:p>
                  </a:txBody>
                  <a:tcPr marL="85725" marR="38100" marT="19050" marB="19050" anchor="ctr">
                    <a:solidFill>
                      <a:srgbClr val="FFFFFF"/>
                    </a:solidFill>
                  </a:tcPr>
                </a:tc>
                <a:tc>
                  <a:txBody>
                    <a:bodyPr wrap="none"/>
                    <a:lstStyle/>
                    <a:p>
                      <a:pPr algn="l"/>
                      <a:r>
                        <a:rPr sz="800" b="1">
                          <a:solidFill>
                            <a:srgbClr val="2E7D32"/>
                          </a:solidFill>
                          <a:latin typeface="Calibri"/>
                        </a:rPr>
                        <a:t>▲ 7.0%</a:t>
                      </a:r>
                    </a:p>
                  </a:txBody>
                  <a:tcPr marL="85725" marR="38100" marT="19050" marB="19050" anchor="ctr">
                    <a:solidFill>
                      <a:srgbClr val="FFFFFF"/>
                    </a:solidFill>
                  </a:tcPr>
                </a:tc>
                <a:tc>
                  <a:txBody>
                    <a:bodyPr wrap="none"/>
                    <a:lstStyle/>
                    <a:p>
                      <a:pPr algn="l"/>
                      <a:r>
                        <a:rPr sz="800" b="1">
                          <a:solidFill>
                            <a:srgbClr val="2E7D32"/>
                          </a:solidFill>
                          <a:latin typeface="Calibri"/>
                        </a:rPr>
                        <a:t>▲ 7.5%</a:t>
                      </a:r>
                    </a:p>
                  </a:txBody>
                  <a:tcPr marL="85725" marR="38100" marT="19050" marB="19050" anchor="ctr">
                    <a:solidFill>
                      <a:srgbClr val="FFFFFF"/>
                    </a:solidFill>
                  </a:tcPr>
                </a:tc>
                <a:tc>
                  <a:txBody>
                    <a:bodyPr wrap="none"/>
                    <a:lstStyle/>
                    <a:p>
                      <a:pPr algn="l"/>
                      <a:r>
                        <a:rPr sz="800" b="1">
                          <a:solidFill>
                            <a:srgbClr val="2E7D32"/>
                          </a:solidFill>
                          <a:latin typeface="Calibri"/>
                        </a:rPr>
                        <a:t>▲ 7.7%</a:t>
                      </a:r>
                    </a:p>
                  </a:txBody>
                  <a:tcPr marL="85725" marR="38100" marT="19050" marB="19050" anchor="ctr">
                    <a:solidFill>
                      <a:srgbClr val="FFFFFF"/>
                    </a:solidFill>
                  </a:tcPr>
                </a:tc>
                <a:tc>
                  <a:txBody>
                    <a:bodyPr wrap="none"/>
                    <a:lstStyle/>
                    <a:p>
                      <a:pPr algn="l"/>
                      <a:r>
                        <a:rPr sz="800" b="1">
                          <a:solidFill>
                            <a:srgbClr val="2E7D32"/>
                          </a:solidFill>
                          <a:latin typeface="Calibri"/>
                        </a:rPr>
                        <a:t>▲ 7.8%</a:t>
                      </a:r>
                    </a:p>
                  </a:txBody>
                  <a:tcPr marL="85725" marR="38100" marT="19050" marB="19050" anchor="ctr">
                    <a:solidFill>
                      <a:srgbClr val="FFFFFF"/>
                    </a:solidFill>
                  </a:tcPr>
                </a:tc>
                <a:tc>
                  <a:txBody>
                    <a:bodyPr wrap="none"/>
                    <a:lstStyle/>
                    <a:p>
                      <a:pPr algn="l"/>
                      <a:r>
                        <a:rPr sz="800" b="1">
                          <a:solidFill>
                            <a:srgbClr val="2E7D32"/>
                          </a:solidFill>
                          <a:latin typeface="Calibri"/>
                        </a:rPr>
                        <a:t>▲ 8.0%</a:t>
                      </a:r>
                    </a:p>
                  </a:txBody>
                  <a:tcPr marL="85725" marR="38100" marT="19050" marB="19050" anchor="ctr">
                    <a:solidFill>
                      <a:srgbClr val="FFFFFF"/>
                    </a:solidFill>
                  </a:tcPr>
                </a:tc>
                <a:tc>
                  <a:txBody>
                    <a:bodyPr wrap="none"/>
                    <a:lstStyle/>
                    <a:p>
                      <a:pPr algn="l"/>
                      <a:r>
                        <a:rPr sz="800" b="1">
                          <a:solidFill>
                            <a:srgbClr val="2E7D32"/>
                          </a:solidFill>
                          <a:latin typeface="Calibri"/>
                        </a:rPr>
                        <a:t>▲ 8.1%</a:t>
                      </a:r>
                    </a:p>
                  </a:txBody>
                  <a:tcPr marL="85725" marR="38100" marT="19050" marB="19050" anchor="ctr">
                    <a:solidFill>
                      <a:srgbClr val="FFFFFF"/>
                    </a:solidFill>
                  </a:tcPr>
                </a:tc>
                <a:tc>
                  <a:txBody>
                    <a:bodyPr wrap="none"/>
                    <a:lstStyle/>
                    <a:p>
                      <a:pPr algn="l"/>
                      <a:r>
                        <a:rPr sz="800" b="1">
                          <a:solidFill>
                            <a:srgbClr val="2E7D32"/>
                          </a:solidFill>
                          <a:latin typeface="Calibri"/>
                        </a:rPr>
                        <a:t>▲ 8.3%</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8.4%</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8.9%</a:t>
                      </a:r>
                    </a:p>
                  </a:txBody>
                  <a:tcPr marL="85725" marR="38100" marT="19050" marB="19050" anchor="ctr">
                    <a:solidFill>
                      <a:srgbClr val="FFFFFF"/>
                    </a:solidFill>
                  </a:tcPr>
                </a:tc>
                <a:tc>
                  <a:txBody>
                    <a:bodyPr wrap="none"/>
                    <a:lstStyle/>
                    <a:p>
                      <a:pPr algn="l"/>
                      <a:r>
                        <a:rPr sz="800" b="1">
                          <a:solidFill>
                            <a:srgbClr val="2E7D32"/>
                          </a:solidFill>
                          <a:latin typeface="Calibri"/>
                        </a:rPr>
                        <a:t>▲ 9.4%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Pediatric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6.2%</a:t>
                      </a:r>
                    </a:p>
                  </a:txBody>
                  <a:tcPr marL="85725" marR="38100" marT="19050" marB="19050" anchor="ctr">
                    <a:solidFill>
                      <a:srgbClr val="F5F8FA"/>
                    </a:solidFill>
                  </a:tcPr>
                </a:tc>
                <a:tc>
                  <a:txBody>
                    <a:bodyPr wrap="none"/>
                    <a:lstStyle/>
                    <a:p>
                      <a:pPr algn="l"/>
                      <a:r>
                        <a:rPr sz="800" b="1">
                          <a:solidFill>
                            <a:srgbClr val="2E7D32"/>
                          </a:solidFill>
                          <a:latin typeface="Calibri"/>
                        </a:rPr>
                        <a:t>▲ 6.6%</a:t>
                      </a:r>
                    </a:p>
                  </a:txBody>
                  <a:tcPr marL="85725" marR="38100" marT="19050" marB="19050" anchor="ctr">
                    <a:solidFill>
                      <a:srgbClr val="F5F8FA"/>
                    </a:solidFill>
                  </a:tcPr>
                </a:tc>
                <a:tc>
                  <a:txBody>
                    <a:bodyPr wrap="none"/>
                    <a:lstStyle/>
                    <a:p>
                      <a:pPr algn="l"/>
                      <a:r>
                        <a:rPr sz="800" b="1">
                          <a:solidFill>
                            <a:srgbClr val="2E7D32"/>
                          </a:solidFill>
                          <a:latin typeface="Calibri"/>
                        </a:rPr>
                        <a:t>▲ 7.2%</a:t>
                      </a:r>
                    </a:p>
                  </a:txBody>
                  <a:tcPr marL="85725" marR="38100" marT="19050" marB="19050" anchor="ctr">
                    <a:solidFill>
                      <a:srgbClr val="F5F8FA"/>
                    </a:solidFill>
                  </a:tcPr>
                </a:tc>
                <a:tc>
                  <a:txBody>
                    <a:bodyPr wrap="none"/>
                    <a:lstStyle/>
                    <a:p>
                      <a:pPr algn="l"/>
                      <a:r>
                        <a:rPr sz="800" b="1">
                          <a:solidFill>
                            <a:srgbClr val="2E7D32"/>
                          </a:solidFill>
                          <a:latin typeface="Calibri"/>
                        </a:rPr>
                        <a:t>▲ 7.3%</a:t>
                      </a:r>
                    </a:p>
                  </a:txBody>
                  <a:tcPr marL="85725" marR="38100" marT="19050" marB="19050" anchor="ctr">
                    <a:solidFill>
                      <a:srgbClr val="F5F8FA"/>
                    </a:solidFill>
                  </a:tcPr>
                </a:tc>
                <a:tc>
                  <a:txBody>
                    <a:bodyPr wrap="none"/>
                    <a:lstStyle/>
                    <a:p>
                      <a:pPr algn="l"/>
                      <a:r>
                        <a:rPr sz="800" b="1">
                          <a:solidFill>
                            <a:srgbClr val="2E7D32"/>
                          </a:solidFill>
                          <a:latin typeface="Calibri"/>
                        </a:rPr>
                        <a:t>▲ 7.7%</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8.0%</a:t>
                      </a:r>
                    </a:p>
                  </a:txBody>
                  <a:tcPr marL="85725" marR="38100" marT="19050" marB="19050" anchor="ctr">
                    <a:solidFill>
                      <a:srgbClr val="F5F8FA"/>
                    </a:solidFill>
                  </a:tcPr>
                </a:tc>
                <a:tc>
                  <a:txBody>
                    <a:bodyPr wrap="none"/>
                    <a:lstStyle/>
                    <a:p>
                      <a:pPr algn="l"/>
                      <a:r>
                        <a:rPr sz="800" b="1">
                          <a:solidFill>
                            <a:srgbClr val="2E7D32"/>
                          </a:solidFill>
                          <a:latin typeface="Calibri"/>
                        </a:rPr>
                        <a:t>▲ 8.1%</a:t>
                      </a:r>
                    </a:p>
                  </a:txBody>
                  <a:tcPr marL="85725" marR="38100" marT="19050" marB="19050" anchor="ctr">
                    <a:solidFill>
                      <a:srgbClr val="F5F8FA"/>
                    </a:solidFill>
                  </a:tcPr>
                </a:tc>
                <a:tc>
                  <a:txBody>
                    <a:bodyPr wrap="none"/>
                    <a:lstStyle/>
                    <a:p>
                      <a:pPr algn="l"/>
                      <a:r>
                        <a:rPr sz="800" b="1">
                          <a:solidFill>
                            <a:srgbClr val="2E7D32"/>
                          </a:solidFill>
                          <a:latin typeface="Calibri"/>
                        </a:rPr>
                        <a:t>▲ 8.2%</a:t>
                      </a:r>
                    </a:p>
                  </a:txBody>
                  <a:tcPr marL="85725" marR="38100" marT="19050" marB="19050" anchor="ctr">
                    <a:solidFill>
                      <a:srgbClr val="F5F8FA"/>
                    </a:solidFill>
                  </a:tcPr>
                </a:tc>
                <a:tc>
                  <a:txBody>
                    <a:bodyPr wrap="none"/>
                    <a:lstStyle/>
                    <a:p>
                      <a:pPr algn="l"/>
                      <a:r>
                        <a:rPr sz="800" b="1">
                          <a:solidFill>
                            <a:srgbClr val="2E7D32"/>
                          </a:solidFill>
                          <a:latin typeface="Calibri"/>
                        </a:rPr>
                        <a:t>▲ 8.3%</a:t>
                      </a:r>
                    </a:p>
                  </a:txBody>
                  <a:tcPr marL="85725" marR="38100" marT="19050" marB="19050" anchor="ctr">
                    <a:solidFill>
                      <a:srgbClr val="F5F8FA"/>
                    </a:solidFill>
                  </a:tcPr>
                </a:tc>
                <a:tc>
                  <a:txBody>
                    <a:bodyPr wrap="none"/>
                    <a:lstStyle/>
                    <a:p>
                      <a:pPr algn="l"/>
                      <a:r>
                        <a:rPr sz="800" b="1">
                          <a:solidFill>
                            <a:srgbClr val="2E7D32"/>
                          </a:solidFill>
                          <a:latin typeface="Calibri"/>
                        </a:rPr>
                        <a:t>▲ 8.4%</a:t>
                      </a:r>
                    </a:p>
                  </a:txBody>
                  <a:tcPr marL="85725" marR="38100" marT="19050" marB="19050" anchor="ctr">
                    <a:solidFill>
                      <a:srgbClr val="F5F8FA"/>
                    </a:solidFill>
                  </a:tcPr>
                </a:tc>
                <a:tc>
                  <a:txBody>
                    <a:bodyPr wrap="none"/>
                    <a:lstStyle/>
                    <a:p>
                      <a:pPr algn="l"/>
                      <a:r>
                        <a:rPr sz="800" b="1">
                          <a:solidFill>
                            <a:srgbClr val="2E7D32"/>
                          </a:solidFill>
                          <a:latin typeface="Calibri"/>
                        </a:rPr>
                        <a:t>▲ 8.5%</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8.9%</a:t>
                      </a:r>
                    </a:p>
                  </a:txBody>
                  <a:tcPr marL="85725" marR="38100" marT="19050" marB="19050" anchor="ctr">
                    <a:solidFill>
                      <a:srgbClr val="F5F8FA"/>
                    </a:solidFill>
                  </a:tcPr>
                </a:tc>
                <a:tc>
                  <a:txBody>
                    <a:bodyPr wrap="none"/>
                    <a:lstStyle/>
                    <a:p>
                      <a:pPr algn="l"/>
                      <a:r>
                        <a:rPr sz="800" b="1">
                          <a:solidFill>
                            <a:srgbClr val="2E7D32"/>
                          </a:solidFill>
                          <a:latin typeface="Calibri"/>
                        </a:rPr>
                        <a:t>▲ 9.3%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Adults</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7.5%</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7.9%</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Geriatric Patients</a:t>
                      </a:r>
                    </a:p>
                  </a:txBody>
                  <a:tcPr marL="85725" marR="38100" marT="19050" marB="19050" anchor="ctr">
                    <a:solidFill>
                      <a:srgbClr val="F5F8FA"/>
                    </a:solidFill>
                  </a:tcPr>
                </a:tc>
                <a:tc>
                  <a:txBody>
                    <a:bodyPr wrap="none"/>
                    <a:lstStyle/>
                    <a:p>
                      <a:pPr algn="l"/>
                      <a:r>
                        <a:rPr sz="800" b="1">
                          <a:solidFill>
                            <a:srgbClr val="2E7D32"/>
                          </a:solidFill>
                          <a:latin typeface="Calibri"/>
                        </a:rPr>
                        <a:t>▲ 7.6%</a:t>
                      </a:r>
                    </a:p>
                  </a:txBody>
                  <a:tcPr marL="85725" marR="38100" marT="19050" marB="19050" anchor="ctr">
                    <a:solidFill>
                      <a:srgbClr val="F5F8FA"/>
                    </a:solidFill>
                  </a:tcPr>
                </a:tc>
                <a:tc>
                  <a:txBody>
                    <a:bodyPr wrap="none"/>
                    <a:lstStyle/>
                    <a:p>
                      <a:pPr algn="l"/>
                      <a:r>
                        <a:rPr sz="800" b="1">
                          <a:solidFill>
                            <a:srgbClr val="2E7D32"/>
                          </a:solidFill>
                          <a:latin typeface="Calibri"/>
                        </a:rPr>
                        <a:t>▲ 7.9%</a:t>
                      </a:r>
                    </a:p>
                  </a:txBody>
                  <a:tcPr marL="85725" marR="38100" marT="19050" marB="19050" anchor="ctr">
                    <a:solidFill>
                      <a:srgbClr val="F5F8FA"/>
                    </a:solidFill>
                  </a:tcPr>
                </a:tc>
                <a:tc>
                  <a:txBody>
                    <a:bodyPr wrap="none"/>
                    <a:lstStyle/>
                    <a:p>
                      <a:pPr algn="l"/>
                      <a:r>
                        <a:rPr sz="800" b="1">
                          <a:solidFill>
                            <a:srgbClr val="2E7D32"/>
                          </a:solidFill>
                          <a:latin typeface="Calibri"/>
                        </a:rPr>
                        <a:t>▲ 8.6%</a:t>
                      </a:r>
                    </a:p>
                  </a:txBody>
                  <a:tcPr marL="85725" marR="38100" marT="19050" marB="19050" anchor="ctr">
                    <a:solidFill>
                      <a:srgbClr val="F5F8FA"/>
                    </a:solidFill>
                  </a:tcPr>
                </a:tc>
                <a:tc>
                  <a:txBody>
                    <a:bodyPr wrap="none"/>
                    <a:lstStyle/>
                    <a:p>
                      <a:pPr algn="l"/>
                      <a:r>
                        <a:rPr sz="800" b="1">
                          <a:solidFill>
                            <a:srgbClr val="2E7D32"/>
                          </a:solidFill>
                          <a:latin typeface="Calibri"/>
                        </a:rPr>
                        <a:t>▲ 8.7%</a:t>
                      </a:r>
                    </a:p>
                  </a:txBody>
                  <a:tcPr marL="85725" marR="38100" marT="19050" marB="19050" anchor="ctr">
                    <a:solidFill>
                      <a:srgbClr val="F5F8FA"/>
                    </a:solidFill>
                  </a:tcPr>
                </a:tc>
                <a:tc>
                  <a:txBody>
                    <a:bodyPr wrap="none"/>
                    <a:lstStyle/>
                    <a:p>
                      <a:pPr algn="l"/>
                      <a:r>
                        <a:rPr sz="800" b="1">
                          <a:solidFill>
                            <a:srgbClr val="2E7D32"/>
                          </a:solidFill>
                          <a:latin typeface="Calibri"/>
                        </a:rPr>
                        <a:t>▲ 9.2%</a:t>
                      </a:r>
                    </a:p>
                  </a:txBody>
                  <a:tcPr marL="85725" marR="38100" marT="19050" marB="19050" anchor="ctr">
                    <a:solidFill>
                      <a:srgbClr val="F5F8FA"/>
                    </a:solidFill>
                  </a:tcPr>
                </a:tc>
                <a:tc>
                  <a:txBody>
                    <a:bodyPr wrap="none"/>
                    <a:lstStyle/>
                    <a:p>
                      <a:pPr algn="l"/>
                      <a:r>
                        <a:rPr sz="800" b="1">
                          <a:solidFill>
                            <a:srgbClr val="2E7D32"/>
                          </a:solidFill>
                          <a:latin typeface="Calibri"/>
                        </a:rPr>
                        <a:t>▲ 9.4%</a:t>
                      </a:r>
                    </a:p>
                  </a:txBody>
                  <a:tcPr marL="85725" marR="38100" marT="19050" marB="19050" anchor="ctr">
                    <a:solidFill>
                      <a:srgbClr val="F5F8FA"/>
                    </a:solidFill>
                  </a:tcPr>
                </a:tc>
                <a:tc>
                  <a:txBody>
                    <a:bodyPr wrap="none"/>
                    <a:lstStyle/>
                    <a:p>
                      <a:pPr algn="l"/>
                      <a:r>
                        <a:rPr sz="800" b="1">
                          <a:solidFill>
                            <a:srgbClr val="2E7D32"/>
                          </a:solidFill>
                          <a:latin typeface="Calibri"/>
                        </a:rPr>
                        <a:t>▲ 9.5%</a:t>
                      </a:r>
                    </a:p>
                  </a:txBody>
                  <a:tcPr marL="85725" marR="38100" marT="19050" marB="19050" anchor="ctr">
                    <a:solidFill>
                      <a:srgbClr val="F5F8FA"/>
                    </a:solidFill>
                  </a:tcPr>
                </a:tc>
                <a:tc>
                  <a:txBody>
                    <a:bodyPr wrap="none"/>
                    <a:lstStyle/>
                    <a:p>
                      <a:pPr algn="l"/>
                      <a:r>
                        <a:rPr sz="800" b="1">
                          <a:solidFill>
                            <a:srgbClr val="2E7D32"/>
                          </a:solidFill>
                          <a:latin typeface="Calibri"/>
                        </a:rPr>
                        <a:t>▲ 9.7%</a:t>
                      </a:r>
                    </a:p>
                  </a:txBody>
                  <a:tcPr marL="85725" marR="38100" marT="19050" marB="19050" anchor="ctr">
                    <a:solidFill>
                      <a:srgbClr val="F5F8FA"/>
                    </a:solidFill>
                  </a:tcPr>
                </a:tc>
                <a:tc>
                  <a:txBody>
                    <a:bodyPr wrap="none"/>
                    <a:lstStyle/>
                    <a:p>
                      <a:pPr algn="l"/>
                      <a:r>
                        <a:rPr sz="800" b="1">
                          <a:solidFill>
                            <a:srgbClr val="2E7D32"/>
                          </a:solidFill>
                          <a:latin typeface="Calibri"/>
                        </a:rPr>
                        <a:t>▲ 9.8%</a:t>
                      </a:r>
                    </a:p>
                  </a:txBody>
                  <a:tcPr marL="85725" marR="38100" marT="19050" marB="19050" anchor="ctr">
                    <a:solidFill>
                      <a:srgbClr val="F5F8FA"/>
                    </a:solidFill>
                  </a:tcPr>
                </a:tc>
                <a:tc>
                  <a:txBody>
                    <a:bodyPr wrap="none"/>
                    <a:lstStyle/>
                    <a:p>
                      <a:pPr algn="l"/>
                      <a:r>
                        <a:rPr sz="800" b="1">
                          <a:solidFill>
                            <a:srgbClr val="2E7D32"/>
                          </a:solidFill>
                          <a:latin typeface="Calibri"/>
                        </a:rPr>
                        <a:t>▲ 9.9%</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10.1%</a:t>
                      </a:r>
                    </a:p>
                  </a:txBody>
                  <a:tcPr marL="85725" marR="38100" marT="19050" marB="19050" anchor="ctr">
                    <a:solidFill>
                      <a:srgbClr val="F5F8FA"/>
                    </a:solidFill>
                  </a:tcPr>
                </a:tc>
                <a:tc>
                  <a:txBody>
                    <a:bodyPr wrap="none"/>
                    <a:lstStyle/>
                    <a:p>
                      <a:pPr algn="l"/>
                      <a:r>
                        <a:rPr sz="800" b="1">
                          <a:solidFill>
                            <a:srgbClr val="2E7D32"/>
                          </a:solidFill>
                          <a:latin typeface="Calibri"/>
                        </a:rPr>
                        <a:t>▲ 10.5%</a:t>
                      </a:r>
                    </a:p>
                  </a:txBody>
                  <a:tcPr marL="85725" marR="38100" marT="19050" marB="19050" anchor="ctr">
                    <a:solidFill>
                      <a:srgbClr val="F5F8FA"/>
                    </a:solidFill>
                  </a:tcPr>
                </a:tc>
                <a:tc>
                  <a:txBody>
                    <a:bodyPr wrap="none"/>
                    <a:lstStyle/>
                    <a:p>
                      <a:pPr algn="l"/>
                      <a:r>
                        <a:rPr sz="800" b="1">
                          <a:solidFill>
                            <a:srgbClr val="2E7D32"/>
                          </a:solidFill>
                          <a:latin typeface="Calibri"/>
                        </a:rPr>
                        <a:t>▲ 10.6%</a:t>
                      </a:r>
                    </a:p>
                  </a:txBody>
                  <a:tcPr marL="85725" marR="38100" marT="19050" marB="19050" anchor="ctr">
                    <a:solidFill>
                      <a:srgbClr val="F5F8FA"/>
                    </a:solidFill>
                  </a:tcPr>
                </a:tc>
                <a:tc>
                  <a:txBody>
                    <a:bodyPr wrap="none"/>
                    <a:lstStyle/>
                    <a:p>
                      <a:pPr algn="l"/>
                      <a:r>
                        <a:rPr sz="800" b="1">
                          <a:solidFill>
                            <a:srgbClr val="2E7D32"/>
                          </a:solidFill>
                          <a:latin typeface="Calibri"/>
                        </a:rPr>
                        <a:t>▲ 11.0%</a:t>
                      </a:r>
                    </a:p>
                  </a:txBody>
                  <a:tcPr marL="85725" marR="38100" marT="19050" marB="19050" anchor="ctr">
                    <a:solidFill>
                      <a:srgbClr val="F5F8FA"/>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Country</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Distribution Channel</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Segmental</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Table (Volume &amp; Value)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YoY</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19</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Segmental Analysis Distribution Channel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segmental analysis by Distribution Channel: growth contribution, share variance and absolute $ opportunity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Growth Contribution 2026 → 2036, By Distribution Channel (US$ Mn)</a:t>
            </a:r>
          </a:p>
        </p:txBody>
      </p:sp>
      <p:graphicFrame>
        <p:nvGraphicFramePr>
          <p:cNvPr id="14" name="Chart 13"/>
          <p:cNvGraphicFramePr>
            <a:graphicFrameLocks noGrp="1"/>
          </p:cNvGraphicFramePr>
          <p:nvPr/>
        </p:nvGraphicFramePr>
        <p:xfrm>
          <a:off x="238125" y="1143000"/>
          <a:ext cx="5686425" cy="2524125"/>
        </p:xfrm>
        <a:graphic>
          <a:graphicData uri="http://schemas.openxmlformats.org/drawingml/2006/chart">
            <c:chart xmlns:c="http://schemas.openxmlformats.org/drawingml/2006/chart" r:id="rId3"/>
          </a:graphicData>
        </a:graphic>
      </p:graphicFrame>
      <p:sp>
        <p:nvSpPr>
          <p:cNvPr id="15" name="Rounded Rectangle 14"/>
          <p:cNvSpPr/>
          <p:nvPr/>
        </p:nvSpPr>
        <p:spPr>
          <a:xfrm>
            <a:off x="6172200" y="857250"/>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7450" y="914400"/>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Value Shares &amp; Variance, By Distribution Channel</a:t>
            </a:r>
          </a:p>
        </p:txBody>
      </p:sp>
      <p:graphicFrame>
        <p:nvGraphicFramePr>
          <p:cNvPr id="17" name="Table 16"/>
          <p:cNvGraphicFramePr>
            <a:graphicFrameLocks noGrp="1"/>
          </p:cNvGraphicFramePr>
          <p:nvPr/>
        </p:nvGraphicFramePr>
        <p:xfrm>
          <a:off x="6267450" y="1143000"/>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Sales</a:t>
                      </a:r>
                    </a:p>
                  </a:txBody>
                  <a:tcPr marL="85725" marR="38100" marT="19050" marB="19050" anchor="ctr">
                    <a:solidFill>
                      <a:srgbClr val="FFFFFF"/>
                    </a:solidFill>
                  </a:tcPr>
                </a:tc>
                <a:tc>
                  <a:txBody>
                    <a:bodyPr wrap="none"/>
                    <a:lstStyle/>
                    <a:p>
                      <a:pPr algn="l"/>
                      <a:r>
                        <a:rPr sz="900" b="0">
                          <a:solidFill>
                            <a:srgbClr val="2E2E2E"/>
                          </a:solidFill>
                          <a:latin typeface="Calibri"/>
                        </a:rPr>
                        <a:t>28.6%</a:t>
                      </a:r>
                    </a:p>
                  </a:txBody>
                  <a:tcPr marL="85725" marR="38100" marT="19050" marB="19050" anchor="ctr">
                    <a:solidFill>
                      <a:srgbClr val="FFFFFF"/>
                    </a:solidFill>
                  </a:tcPr>
                </a:tc>
                <a:tc>
                  <a:txBody>
                    <a:bodyPr wrap="none"/>
                    <a:lstStyle/>
                    <a:p>
                      <a:pPr algn="l"/>
                      <a:r>
                        <a:rPr sz="900" b="0">
                          <a:solidFill>
                            <a:srgbClr val="2E2E2E"/>
                          </a:solidFill>
                          <a:latin typeface="Calibri"/>
                        </a:rPr>
                        <a:t>26.3%</a:t>
                      </a:r>
                    </a:p>
                  </a:txBody>
                  <a:tcPr marL="85725" marR="38100" marT="19050" marB="19050" anchor="ctr">
                    <a:solidFill>
                      <a:srgbClr val="FFFFFF"/>
                    </a:solidFill>
                  </a:tcPr>
                </a:tc>
                <a:tc>
                  <a:txBody>
                    <a:bodyPr wrap="none"/>
                    <a:lstStyle/>
                    <a:p>
                      <a:pPr algn="l"/>
                      <a:r>
                        <a:rPr sz="900" b="1">
                          <a:solidFill>
                            <a:srgbClr val="E44D3A"/>
                          </a:solidFill>
                          <a:latin typeface="Calibri"/>
                        </a:rPr>
                        <a:t>-230</a:t>
                      </a:r>
                    </a:p>
                  </a:txBody>
                  <a:tcPr marL="85725" marR="38100" marT="19050" marB="19050" anchor="ctr">
                    <a:solidFill>
                      <a:srgbClr val="FFFFFF"/>
                    </a:solidFill>
                  </a:tcPr>
                </a:tc>
                <a:tc>
                  <a:txBody>
                    <a:bodyPr wrap="none"/>
                    <a:lstStyle/>
                    <a:p>
                      <a:pPr algn="l"/>
                      <a:r>
                        <a:rPr sz="900" b="0">
                          <a:solidFill>
                            <a:srgbClr val="2E2E2E"/>
                          </a:solidFill>
                          <a:latin typeface="Calibri"/>
                        </a:rPr>
                        <a:t>7.3%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900" b="0">
                          <a:solidFill>
                            <a:srgbClr val="2E2E2E"/>
                          </a:solidFill>
                          <a:latin typeface="Calibri"/>
                        </a:rPr>
                        <a:t>40.3%</a:t>
                      </a:r>
                    </a:p>
                  </a:txBody>
                  <a:tcPr marL="85725" marR="38100" marT="19050" marB="19050" anchor="ctr">
                    <a:solidFill>
                      <a:srgbClr val="F5F8FA"/>
                    </a:solidFill>
                  </a:tcPr>
                </a:tc>
                <a:tc>
                  <a:txBody>
                    <a:bodyPr wrap="none"/>
                    <a:lstStyle/>
                    <a:p>
                      <a:pPr algn="l"/>
                      <a:r>
                        <a:rPr sz="900" b="0">
                          <a:solidFill>
                            <a:srgbClr val="2E2E2E"/>
                          </a:solidFill>
                          <a:latin typeface="Calibri"/>
                        </a:rPr>
                        <a:t>33.3%</a:t>
                      </a:r>
                    </a:p>
                  </a:txBody>
                  <a:tcPr marL="85725" marR="38100" marT="19050" marB="19050" anchor="ctr">
                    <a:solidFill>
                      <a:srgbClr val="F5F8FA"/>
                    </a:solidFill>
                  </a:tcPr>
                </a:tc>
                <a:tc>
                  <a:txBody>
                    <a:bodyPr wrap="none"/>
                    <a:lstStyle/>
                    <a:p>
                      <a:pPr algn="l"/>
                      <a:r>
                        <a:rPr sz="900" b="1">
                          <a:solidFill>
                            <a:srgbClr val="E44D3A"/>
                          </a:solidFill>
                          <a:latin typeface="Calibri"/>
                        </a:rPr>
                        <a:t>-704</a:t>
                      </a:r>
                    </a:p>
                  </a:txBody>
                  <a:tcPr marL="85725" marR="38100" marT="19050" marB="19050" anchor="ctr">
                    <a:solidFill>
                      <a:srgbClr val="F5F8FA"/>
                    </a:solidFill>
                  </a:tcPr>
                </a:tc>
                <a:tc>
                  <a:txBody>
                    <a:bodyPr wrap="none"/>
                    <a:lstStyle/>
                    <a:p>
                      <a:pPr algn="l"/>
                      <a:r>
                        <a:rPr sz="900" b="0">
                          <a:solidFill>
                            <a:srgbClr val="2E2E2E"/>
                          </a:solidFill>
                          <a:latin typeface="Calibri"/>
                        </a:rPr>
                        <a:t>6.1%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Pharmacy</a:t>
                      </a:r>
                    </a:p>
                  </a:txBody>
                  <a:tcPr marL="85725" marR="38100" marT="19050" marB="19050" anchor="ctr">
                    <a:solidFill>
                      <a:srgbClr val="FFFFFF"/>
                    </a:solidFill>
                  </a:tcPr>
                </a:tc>
                <a:tc>
                  <a:txBody>
                    <a:bodyPr wrap="none"/>
                    <a:lstStyle/>
                    <a:p>
                      <a:pPr algn="l"/>
                      <a:r>
                        <a:rPr sz="900" b="0">
                          <a:solidFill>
                            <a:srgbClr val="2E2E2E"/>
                          </a:solidFill>
                          <a:latin typeface="Calibri"/>
                        </a:rPr>
                        <a:t>13.6%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1">
                          <a:solidFill>
                            <a:srgbClr val="E44D3A"/>
                          </a:solidFill>
                          <a:latin typeface="Calibri"/>
                        </a:rPr>
                        <a:t>-99</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E-Commerce / DTC</a:t>
                      </a:r>
                    </a:p>
                  </a:txBody>
                  <a:tcPr marL="85725" marR="38100" marT="19050" marB="19050" anchor="ctr">
                    <a:solidFill>
                      <a:srgbClr val="F5F8FA"/>
                    </a:solidFill>
                  </a:tcPr>
                </a:tc>
                <a:tc>
                  <a:txBody>
                    <a:bodyPr wrap="none"/>
                    <a:lstStyle/>
                    <a:p>
                      <a:pPr algn="l"/>
                      <a:r>
                        <a:rPr sz="900" b="0">
                          <a:solidFill>
                            <a:srgbClr val="2E2E2E"/>
                          </a:solidFill>
                          <a:latin typeface="Calibri"/>
                        </a:rPr>
                        <a:t>17.5%</a:t>
                      </a:r>
                    </a:p>
                  </a:txBody>
                  <a:tcPr marL="85725" marR="38100" marT="19050" marB="19050" anchor="ctr">
                    <a:solidFill>
                      <a:srgbClr val="F5F8FA"/>
                    </a:solidFill>
                  </a:tcPr>
                </a:tc>
                <a:tc>
                  <a:txBody>
                    <a:bodyPr wrap="none"/>
                    <a:lstStyle/>
                    <a:p>
                      <a:pPr algn="l"/>
                      <a:r>
                        <a:rPr sz="900" b="0">
                          <a:solidFill>
                            <a:srgbClr val="2E2E2E"/>
                          </a:solidFill>
                          <a:latin typeface="Calibri"/>
                        </a:rPr>
                        <a:t>27.8%</a:t>
                      </a:r>
                    </a:p>
                  </a:txBody>
                  <a:tcPr marL="85725" marR="38100" marT="19050" marB="19050" anchor="ctr">
                    <a:solidFill>
                      <a:srgbClr val="F5F8FA"/>
                    </a:solidFill>
                  </a:tcPr>
                </a:tc>
                <a:tc>
                  <a:txBody>
                    <a:bodyPr wrap="none"/>
                    <a:lstStyle/>
                    <a:p>
                      <a:pPr algn="l"/>
                      <a:r>
                        <a:rPr sz="900" b="1">
                          <a:solidFill>
                            <a:srgbClr val="008189"/>
                          </a:solidFill>
                          <a:latin typeface="Calibri"/>
                        </a:rPr>
                        <a:t>+1,033</a:t>
                      </a:r>
                    </a:p>
                  </a:txBody>
                  <a:tcPr marL="85725" marR="38100" marT="19050" marB="19050" anchor="ctr">
                    <a:solidFill>
                      <a:srgbClr val="F5F8FA"/>
                    </a:solidFill>
                  </a:tcPr>
                </a:tc>
                <a:tc>
                  <a:txBody>
                    <a:bodyPr wrap="none"/>
                    <a:lstStyle/>
                    <a:p>
                      <a:pPr algn="l"/>
                      <a:r>
                        <a:rPr sz="900" b="0">
                          <a:solidFill>
                            <a:srgbClr val="2E2E2E"/>
                          </a:solidFill>
                          <a:latin typeface="Calibri"/>
                        </a:rPr>
                        <a:t>13.3%</a:t>
                      </a:r>
                    </a:p>
                  </a:txBody>
                  <a:tcPr marL="85725" marR="38100" marT="19050" marB="19050" anchor="ctr">
                    <a:solidFill>
                      <a:srgbClr val="F5F8FA"/>
                    </a:solidFill>
                  </a:tcPr>
                </a:tc>
              </a:tr>
            </a:tbl>
          </a:graphicData>
        </a:graphic>
      </p:graphicFrame>
      <p:sp>
        <p:nvSpPr>
          <p:cNvPr id="18" name="TextBox 17"/>
          <p:cNvSpPr txBox="1"/>
          <p:nvPr/>
        </p:nvSpPr>
        <p:spPr>
          <a:xfrm>
            <a:off x="6248400" y="3581400"/>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19" name="Rounded Rectangle 18"/>
          <p:cNvSpPr/>
          <p:nvPr/>
        </p:nvSpPr>
        <p:spPr>
          <a:xfrm>
            <a:off x="142875"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8125"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Absolute $ Opportunity, By Distribution Channel (US$ Mn)</a:t>
            </a:r>
          </a:p>
        </p:txBody>
      </p:sp>
      <p:graphicFrame>
        <p:nvGraphicFramePr>
          <p:cNvPr id="21" name="Chart 20"/>
          <p:cNvGraphicFramePr>
            <a:graphicFrameLocks noGrp="1"/>
          </p:cNvGraphicFramePr>
          <p:nvPr/>
        </p:nvGraphicFramePr>
        <p:xfrm>
          <a:off x="238125" y="4143375"/>
          <a:ext cx="5686425" cy="2524125"/>
        </p:xfrm>
        <a:graphic>
          <a:graphicData uri="http://schemas.openxmlformats.org/drawingml/2006/chart">
            <c:chart xmlns:c="http://schemas.openxmlformats.org/drawingml/2006/chart" r:id="rId4"/>
          </a:graphicData>
        </a:graphic>
      </p:graphicFrame>
      <p:sp>
        <p:nvSpPr>
          <p:cNvPr id="22" name="Rounded Rectangle 21"/>
          <p:cNvSpPr/>
          <p:nvPr/>
        </p:nvSpPr>
        <p:spPr>
          <a:xfrm>
            <a:off x="6172200" y="3857625"/>
            <a:ext cx="5876925"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7450" y="3914775"/>
            <a:ext cx="5686425"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Volume Shares &amp; Variance, By Distribution Channel</a:t>
            </a:r>
          </a:p>
        </p:txBody>
      </p:sp>
      <p:graphicFrame>
        <p:nvGraphicFramePr>
          <p:cNvPr id="24" name="Table 23"/>
          <p:cNvGraphicFramePr>
            <a:graphicFrameLocks noGrp="1"/>
          </p:cNvGraphicFramePr>
          <p:nvPr/>
        </p:nvGraphicFramePr>
        <p:xfrm>
          <a:off x="6267450" y="4143375"/>
          <a:ext cx="5686424" cy="904875"/>
        </p:xfrm>
        <a:graphic>
          <a:graphicData uri="http://schemas.openxmlformats.org/drawingml/2006/table">
            <a:tbl>
              <a:tblPr>
                <a:tableStyleId>{5C22544A-7EE6-4342-B048-85BDC9FD1C3A}</a:tableStyleId>
              </a:tblPr>
              <a:tblGrid>
                <a:gridCol w="1705928"/>
                <a:gridCol w="995124"/>
                <a:gridCol w="995124"/>
                <a:gridCol w="995124"/>
                <a:gridCol w="995124"/>
              </a:tblGrid>
              <a:tr h="180975">
                <a:tc>
                  <a:txBody>
                    <a:bodyPr wrap="none"/>
                    <a:lstStyle/>
                    <a:p>
                      <a:pPr algn="l"/>
                      <a:r>
                        <a:rPr sz="9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900" b="1">
                          <a:solidFill>
                            <a:srgbClr val="0B2E4A"/>
                          </a:solidFill>
                          <a:latin typeface="Calibri"/>
                        </a:rPr>
                        <a:t>Share 2026</a:t>
                      </a:r>
                    </a:p>
                  </a:txBody>
                  <a:tcPr marL="85725" marR="38100" marT="19050" marB="19050" anchor="ctr">
                    <a:solidFill>
                      <a:srgbClr val="E0E8EF"/>
                    </a:solidFill>
                  </a:tcPr>
                </a:tc>
                <a:tc>
                  <a:txBody>
                    <a:bodyPr wrap="none"/>
                    <a:lstStyle/>
                    <a:p>
                      <a:pPr algn="l"/>
                      <a:r>
                        <a:rPr sz="900" b="1">
                          <a:solidFill>
                            <a:srgbClr val="0B2E4A"/>
                          </a:solidFill>
                          <a:latin typeface="Calibri"/>
                        </a:rPr>
                        <a:t>Share 2036</a:t>
                      </a:r>
                    </a:p>
                  </a:txBody>
                  <a:tcPr marL="85725" marR="38100" marT="19050" marB="19050" anchor="ctr">
                    <a:solidFill>
                      <a:srgbClr val="E0E8EF"/>
                    </a:solidFill>
                  </a:tcPr>
                </a:tc>
                <a:tc>
                  <a:txBody>
                    <a:bodyPr wrap="none"/>
                    <a:lstStyle/>
                    <a:p>
                      <a:pPr algn="l"/>
                      <a:r>
                        <a:rPr sz="900" b="1">
                          <a:solidFill>
                            <a:srgbClr val="0B2E4A"/>
                          </a:solidFill>
                          <a:latin typeface="Calibri"/>
                        </a:rPr>
                        <a:t>Variance (BPS)</a:t>
                      </a:r>
                    </a:p>
                  </a:txBody>
                  <a:tcPr marL="85725" marR="38100" marT="19050" marB="19050" anchor="ctr">
                    <a:solidFill>
                      <a:srgbClr val="E0E8EF"/>
                    </a:solidFill>
                  </a:tcPr>
                </a:tc>
                <a:tc>
                  <a:txBody>
                    <a:bodyPr wrap="none"/>
                    <a:lstStyle/>
                    <a:p>
                      <a:pPr algn="l"/>
                      <a:r>
                        <a:rPr sz="9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Direct Sales</a:t>
                      </a:r>
                    </a:p>
                  </a:txBody>
                  <a:tcPr marL="85725" marR="38100" marT="19050" marB="19050" anchor="ctr">
                    <a:solidFill>
                      <a:srgbClr val="FFFFFF"/>
                    </a:solidFill>
                  </a:tcPr>
                </a:tc>
                <a:tc>
                  <a:txBody>
                    <a:bodyPr wrap="none"/>
                    <a:lstStyle/>
                    <a:p>
                      <a:pPr algn="l"/>
                      <a:r>
                        <a:rPr sz="900" b="0">
                          <a:solidFill>
                            <a:srgbClr val="2E2E2E"/>
                          </a:solidFill>
                          <a:latin typeface="Calibri"/>
                        </a:rPr>
                        <a:t>28.6%</a:t>
                      </a:r>
                    </a:p>
                  </a:txBody>
                  <a:tcPr marL="85725" marR="38100" marT="19050" marB="19050" anchor="ctr">
                    <a:solidFill>
                      <a:srgbClr val="FFFFFF"/>
                    </a:solidFill>
                  </a:tcPr>
                </a:tc>
                <a:tc>
                  <a:txBody>
                    <a:bodyPr wrap="none"/>
                    <a:lstStyle/>
                    <a:p>
                      <a:pPr algn="l"/>
                      <a:r>
                        <a:rPr sz="900" b="0">
                          <a:solidFill>
                            <a:srgbClr val="2E2E2E"/>
                          </a:solidFill>
                          <a:latin typeface="Calibri"/>
                        </a:rPr>
                        <a:t>26.3%</a:t>
                      </a:r>
                    </a:p>
                  </a:txBody>
                  <a:tcPr marL="85725" marR="38100" marT="19050" marB="19050" anchor="ctr">
                    <a:solidFill>
                      <a:srgbClr val="FFFFFF"/>
                    </a:solidFill>
                  </a:tcPr>
                </a:tc>
                <a:tc>
                  <a:txBody>
                    <a:bodyPr wrap="none"/>
                    <a:lstStyle/>
                    <a:p>
                      <a:pPr algn="l"/>
                      <a:r>
                        <a:rPr sz="900" b="1">
                          <a:solidFill>
                            <a:srgbClr val="E44D3A"/>
                          </a:solidFill>
                          <a:latin typeface="Calibri"/>
                        </a:rPr>
                        <a:t>-230</a:t>
                      </a:r>
                    </a:p>
                  </a:txBody>
                  <a:tcPr marL="85725" marR="38100" marT="19050" marB="19050" anchor="ctr">
                    <a:solidFill>
                      <a:srgbClr val="FFFFFF"/>
                    </a:solidFill>
                  </a:tcPr>
                </a:tc>
                <a:tc>
                  <a:txBody>
                    <a:bodyPr wrap="none"/>
                    <a:lstStyle/>
                    <a:p>
                      <a:pPr algn="l"/>
                      <a:r>
                        <a:rPr sz="900" b="0">
                          <a:solidFill>
                            <a:srgbClr val="2E2E2E"/>
                          </a:solidFill>
                          <a:latin typeface="Calibri"/>
                        </a:rPr>
                        <a:t>6.4%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900" b="0">
                          <a:solidFill>
                            <a:srgbClr val="2E2E2E"/>
                          </a:solidFill>
                          <a:latin typeface="Calibri"/>
                        </a:rPr>
                        <a:t>40.3%</a:t>
                      </a:r>
                    </a:p>
                  </a:txBody>
                  <a:tcPr marL="85725" marR="38100" marT="19050" marB="19050" anchor="ctr">
                    <a:solidFill>
                      <a:srgbClr val="F5F8FA"/>
                    </a:solidFill>
                  </a:tcPr>
                </a:tc>
                <a:tc>
                  <a:txBody>
                    <a:bodyPr wrap="none"/>
                    <a:lstStyle/>
                    <a:p>
                      <a:pPr algn="l"/>
                      <a:r>
                        <a:rPr sz="900" b="0">
                          <a:solidFill>
                            <a:srgbClr val="2E2E2E"/>
                          </a:solidFill>
                          <a:latin typeface="Calibri"/>
                        </a:rPr>
                        <a:t>33.3%</a:t>
                      </a:r>
                    </a:p>
                  </a:txBody>
                  <a:tcPr marL="85725" marR="38100" marT="19050" marB="19050" anchor="ctr">
                    <a:solidFill>
                      <a:srgbClr val="F5F8FA"/>
                    </a:solidFill>
                  </a:tcPr>
                </a:tc>
                <a:tc>
                  <a:txBody>
                    <a:bodyPr wrap="none"/>
                    <a:lstStyle/>
                    <a:p>
                      <a:pPr algn="l"/>
                      <a:r>
                        <a:rPr sz="900" b="1">
                          <a:solidFill>
                            <a:srgbClr val="E44D3A"/>
                          </a:solidFill>
                          <a:latin typeface="Calibri"/>
                        </a:rPr>
                        <a:t>-704</a:t>
                      </a:r>
                    </a:p>
                  </a:txBody>
                  <a:tcPr marL="85725" marR="38100" marT="19050" marB="19050" anchor="ctr">
                    <a:solidFill>
                      <a:srgbClr val="F5F8FA"/>
                    </a:solidFill>
                  </a:tcPr>
                </a:tc>
                <a:tc>
                  <a:txBody>
                    <a:bodyPr wrap="none"/>
                    <a:lstStyle/>
                    <a:p>
                      <a:pPr algn="l"/>
                      <a:r>
                        <a:rPr sz="900" b="0">
                          <a:solidFill>
                            <a:srgbClr val="2E2E2E"/>
                          </a:solidFill>
                          <a:latin typeface="Calibri"/>
                        </a:rPr>
                        <a:t>5.2%</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Retail Pharmacy</a:t>
                      </a:r>
                    </a:p>
                  </a:txBody>
                  <a:tcPr marL="85725" marR="38100" marT="19050" marB="19050" anchor="ctr">
                    <a:solidFill>
                      <a:srgbClr val="FFFFFF"/>
                    </a:solidFill>
                  </a:tcPr>
                </a:tc>
                <a:tc>
                  <a:txBody>
                    <a:bodyPr wrap="none"/>
                    <a:lstStyle/>
                    <a:p>
                      <a:pPr algn="l"/>
                      <a:r>
                        <a:rPr sz="900" b="0">
                          <a:solidFill>
                            <a:srgbClr val="2E2E2E"/>
                          </a:solidFill>
                          <a:latin typeface="Calibri"/>
                        </a:rPr>
                        <a:t>13.6%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1">
                          <a:solidFill>
                            <a:srgbClr val="E44D3A"/>
                          </a:solidFill>
                          <a:latin typeface="Calibri"/>
                        </a:rPr>
                        <a:t>-99</a:t>
                      </a:r>
                    </a:p>
                  </a:txBody>
                  <a:tcPr marL="85725" marR="38100" marT="19050" marB="19050" anchor="ctr">
                    <a:solidFill>
                      <a:srgbClr val="FFFFFF"/>
                    </a:solidFill>
                  </a:tcPr>
                </a:tc>
                <a:tc>
                  <a:txBody>
                    <a:bodyPr wrap="none"/>
                    <a:lstStyle/>
                    <a:p>
                      <a:pPr algn="l"/>
                      <a:r>
                        <a:rPr sz="900" b="0">
                          <a:solidFill>
                            <a:srgbClr val="2E2E2E"/>
                          </a:solidFill>
                          <a:latin typeface="Calibri"/>
                        </a:rPr>
                        <a:t>6.4%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E-Commerce / DTC</a:t>
                      </a:r>
                    </a:p>
                  </a:txBody>
                  <a:tcPr marL="85725" marR="38100" marT="19050" marB="19050" anchor="ctr">
                    <a:solidFill>
                      <a:srgbClr val="F5F8FA"/>
                    </a:solidFill>
                  </a:tcPr>
                </a:tc>
                <a:tc>
                  <a:txBody>
                    <a:bodyPr wrap="none"/>
                    <a:lstStyle/>
                    <a:p>
                      <a:pPr algn="l"/>
                      <a:r>
                        <a:rPr sz="900" b="0">
                          <a:solidFill>
                            <a:srgbClr val="2E2E2E"/>
                          </a:solidFill>
                          <a:latin typeface="Calibri"/>
                        </a:rPr>
                        <a:t>17.5%</a:t>
                      </a:r>
                    </a:p>
                  </a:txBody>
                  <a:tcPr marL="85725" marR="38100" marT="19050" marB="19050" anchor="ctr">
                    <a:solidFill>
                      <a:srgbClr val="F5F8FA"/>
                    </a:solidFill>
                  </a:tcPr>
                </a:tc>
                <a:tc>
                  <a:txBody>
                    <a:bodyPr wrap="none"/>
                    <a:lstStyle/>
                    <a:p>
                      <a:pPr algn="l"/>
                      <a:r>
                        <a:rPr sz="900" b="0">
                          <a:solidFill>
                            <a:srgbClr val="2E2E2E"/>
                          </a:solidFill>
                          <a:latin typeface="Calibri"/>
                        </a:rPr>
                        <a:t>27.8%</a:t>
                      </a:r>
                    </a:p>
                  </a:txBody>
                  <a:tcPr marL="85725" marR="38100" marT="19050" marB="19050" anchor="ctr">
                    <a:solidFill>
                      <a:srgbClr val="F5F8FA"/>
                    </a:solidFill>
                  </a:tcPr>
                </a:tc>
                <a:tc>
                  <a:txBody>
                    <a:bodyPr wrap="none"/>
                    <a:lstStyle/>
                    <a:p>
                      <a:pPr algn="l"/>
                      <a:r>
                        <a:rPr sz="900" b="1">
                          <a:solidFill>
                            <a:srgbClr val="008189"/>
                          </a:solidFill>
                          <a:latin typeface="Calibri"/>
                        </a:rPr>
                        <a:t>+1,033</a:t>
                      </a:r>
                    </a:p>
                  </a:txBody>
                  <a:tcPr marL="85725" marR="38100" marT="19050" marB="19050" anchor="ctr">
                    <a:solidFill>
                      <a:srgbClr val="F5F8FA"/>
                    </a:solidFill>
                  </a:tcPr>
                </a:tc>
                <a:tc>
                  <a:txBody>
                    <a:bodyPr wrap="none"/>
                    <a:lstStyle/>
                    <a:p>
                      <a:pPr algn="l"/>
                      <a:r>
                        <a:rPr sz="900" b="0">
                          <a:solidFill>
                            <a:srgbClr val="2E2E2E"/>
                          </a:solidFill>
                          <a:latin typeface="Calibri"/>
                        </a:rPr>
                        <a:t>12.4%</a:t>
                      </a:r>
                    </a:p>
                  </a:txBody>
                  <a:tcPr marL="85725" marR="38100" marT="19050" marB="19050" anchor="ctr">
                    <a:solidFill>
                      <a:srgbClr val="F5F8FA"/>
                    </a:solidFill>
                  </a:tcPr>
                </a:tc>
              </a:tr>
            </a:tbl>
          </a:graphicData>
        </a:graphic>
      </p:graphicFrame>
      <p:sp>
        <p:nvSpPr>
          <p:cNvPr id="25" name="TextBox 24"/>
          <p:cNvSpPr txBox="1"/>
          <p:nvPr/>
        </p:nvSpPr>
        <p:spPr>
          <a:xfrm>
            <a:off x="6248400" y="6581775"/>
            <a:ext cx="5724525" cy="123825"/>
          </a:xfrm>
          <a:prstGeom prst="rect">
            <a:avLst/>
          </a:prstGeom>
          <a:noFill/>
        </p:spPr>
        <p:txBody>
          <a:bodyPr wrap="none">
            <a:spAutoFit/>
          </a:bodyPr>
          <a:lstStyle/>
          <a:p>
            <a:r>
              <a:rPr sz="700" i="1">
                <a:solidFill>
                  <a:srgbClr val="6C7A89"/>
                </a:solidFill>
                <a:latin typeface="Calibri"/>
              </a:rPr>
              <a:t>Source: FMI Analysis, 2026</a:t>
            </a:r>
          </a:p>
        </p:txBody>
      </p:sp>
      <p:sp>
        <p:nvSpPr>
          <p:cNvPr id="26" name="Rectangle 25"/>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8" name="Rounded Rectangle 27">
            <a:hlinkClick action="ppaction://hlinksldjump" r:id="rId6"/>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7"/>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 name="Rounded Rectangle 29">
            <a:hlinkClick action="ppaction://hlinksldjump" r:id="rId8"/>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Capillary Blood Collection Devices Market Tables Distribution Channel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Year-by-year volume and value of the United States market by Distribution Channel,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By Distribution Channel (Units)</a:t>
            </a:r>
          </a:p>
        </p:txBody>
      </p:sp>
      <p:graphicFrame>
        <p:nvGraphicFramePr>
          <p:cNvPr id="14" name="Table 13"/>
          <p:cNvGraphicFramePr>
            <a:graphicFrameLocks noGrp="1"/>
          </p:cNvGraphicFramePr>
          <p:nvPr/>
        </p:nvGraphicFramePr>
        <p:xfrm>
          <a:off x="238125" y="1143000"/>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0">
                          <a:solidFill>
                            <a:srgbClr val="2E2E2E"/>
                          </a:solidFill>
                          <a:latin typeface="Calibri"/>
                        </a:rPr>
                        <a:t>158.0</a:t>
                      </a:r>
                    </a:p>
                  </a:txBody>
                  <a:tcPr marL="85725" marR="38100" marT="19050" marB="19050" anchor="ctr">
                    <a:solidFill>
                      <a:srgbClr val="FFFFFF"/>
                    </a:solidFill>
                  </a:tcPr>
                </a:tc>
                <a:tc>
                  <a:txBody>
                    <a:bodyPr wrap="none"/>
                    <a:lstStyle/>
                    <a:p>
                      <a:pPr algn="l"/>
                      <a:r>
                        <a:rPr sz="800" b="0">
                          <a:solidFill>
                            <a:srgbClr val="2E2E2E"/>
                          </a:solidFill>
                          <a:latin typeface="Calibri"/>
                        </a:rPr>
                        <a:t>168.3</a:t>
                      </a:r>
                    </a:p>
                  </a:txBody>
                  <a:tcPr marL="85725" marR="38100" marT="19050" marB="19050" anchor="ctr">
                    <a:solidFill>
                      <a:srgbClr val="FFFFFF"/>
                    </a:solidFill>
                  </a:tcPr>
                </a:tc>
                <a:tc>
                  <a:txBody>
                    <a:bodyPr wrap="none"/>
                    <a:lstStyle/>
                    <a:p>
                      <a:pPr algn="l"/>
                      <a:r>
                        <a:rPr sz="800" b="0">
                          <a:solidFill>
                            <a:srgbClr val="2E2E2E"/>
                          </a:solidFill>
                          <a:latin typeface="Calibri"/>
                        </a:rPr>
                        <a:t>179.6</a:t>
                      </a:r>
                    </a:p>
                  </a:txBody>
                  <a:tcPr marL="85725" marR="38100" marT="19050" marB="19050" anchor="ctr">
                    <a:solidFill>
                      <a:srgbClr val="FFFFFF"/>
                    </a:solidFill>
                  </a:tcPr>
                </a:tc>
                <a:tc>
                  <a:txBody>
                    <a:bodyPr wrap="none"/>
                    <a:lstStyle/>
                    <a:p>
                      <a:pPr algn="l"/>
                      <a:r>
                        <a:rPr sz="800" b="0">
                          <a:solidFill>
                            <a:srgbClr val="2E2E2E"/>
                          </a:solidFill>
                          <a:latin typeface="Calibri"/>
                        </a:rPr>
                        <a:t>191.8</a:t>
                      </a:r>
                    </a:p>
                  </a:txBody>
                  <a:tcPr marL="85725" marR="38100" marT="19050" marB="19050" anchor="ctr">
                    <a:solidFill>
                      <a:srgbClr val="FFFFFF"/>
                    </a:solidFill>
                  </a:tcPr>
                </a:tc>
                <a:tc>
                  <a:txBody>
                    <a:bodyPr wrap="none"/>
                    <a:lstStyle/>
                    <a:p>
                      <a:pPr algn="l"/>
                      <a:r>
                        <a:rPr sz="800" b="0">
                          <a:solidFill>
                            <a:srgbClr val="2E2E2E"/>
                          </a:solidFill>
                          <a:latin typeface="Calibri"/>
                        </a:rPr>
                        <a:t>204.7</a:t>
                      </a:r>
                    </a:p>
                  </a:txBody>
                  <a:tcPr marL="85725" marR="38100" marT="19050" marB="19050" anchor="ctr">
                    <a:solidFill>
                      <a:srgbClr val="FFFFFF"/>
                    </a:solidFill>
                  </a:tcPr>
                </a:tc>
                <a:tc>
                  <a:txBody>
                    <a:bodyPr wrap="none"/>
                    <a:lstStyle/>
                    <a:p>
                      <a:pPr algn="l"/>
                      <a:r>
                        <a:rPr sz="800" b="0">
                          <a:solidFill>
                            <a:srgbClr val="2E2E2E"/>
                          </a:solidFill>
                          <a:latin typeface="Calibri"/>
                        </a:rPr>
                        <a:t>219.0</a:t>
                      </a:r>
                    </a:p>
                  </a:txBody>
                  <a:tcPr marL="85725" marR="38100" marT="19050" marB="19050" anchor="ctr">
                    <a:solidFill>
                      <a:srgbClr val="FFFFFF"/>
                    </a:solidFill>
                  </a:tcPr>
                </a:tc>
                <a:tc>
                  <a:txBody>
                    <a:bodyPr wrap="none"/>
                    <a:lstStyle/>
                    <a:p>
                      <a:pPr algn="l"/>
                      <a:r>
                        <a:rPr sz="800" b="0">
                          <a:solidFill>
                            <a:srgbClr val="2E2E2E"/>
                          </a:solidFill>
                          <a:latin typeface="Calibri"/>
                        </a:rPr>
                        <a:t>234.1</a:t>
                      </a:r>
                    </a:p>
                  </a:txBody>
                  <a:tcPr marL="85725" marR="38100" marT="19050" marB="19050" anchor="ctr">
                    <a:solidFill>
                      <a:srgbClr val="FFFFFF"/>
                    </a:solidFill>
                  </a:tcPr>
                </a:tc>
                <a:tc>
                  <a:txBody>
                    <a:bodyPr wrap="none"/>
                    <a:lstStyle/>
                    <a:p>
                      <a:pPr algn="l"/>
                      <a:r>
                        <a:rPr sz="800" b="0">
                          <a:solidFill>
                            <a:srgbClr val="2E2E2E"/>
                          </a:solidFill>
                          <a:latin typeface="Calibri"/>
                        </a:rPr>
                        <a:t>249.8</a:t>
                      </a:r>
                    </a:p>
                  </a:txBody>
                  <a:tcPr marL="85725" marR="38100" marT="19050" marB="19050" anchor="ctr">
                    <a:solidFill>
                      <a:srgbClr val="FFFFFF"/>
                    </a:solidFill>
                  </a:tcPr>
                </a:tc>
                <a:tc>
                  <a:txBody>
                    <a:bodyPr wrap="none"/>
                    <a:lstStyle/>
                    <a:p>
                      <a:pPr algn="l"/>
                      <a:r>
                        <a:rPr sz="800" b="0">
                          <a:solidFill>
                            <a:srgbClr val="2E2E2E"/>
                          </a:solidFill>
                          <a:latin typeface="Calibri"/>
                        </a:rPr>
                        <a:t>266.3</a:t>
                      </a:r>
                    </a:p>
                  </a:txBody>
                  <a:tcPr marL="85725" marR="38100" marT="19050" marB="19050" anchor="ctr">
                    <a:solidFill>
                      <a:srgbClr val="FFFFFF"/>
                    </a:solidFill>
                  </a:tcPr>
                </a:tc>
                <a:tc>
                  <a:txBody>
                    <a:bodyPr wrap="none"/>
                    <a:lstStyle/>
                    <a:p>
                      <a:pPr algn="l"/>
                      <a:r>
                        <a:rPr sz="800" b="0">
                          <a:solidFill>
                            <a:srgbClr val="2E2E2E"/>
                          </a:solidFill>
                          <a:latin typeface="Calibri"/>
                        </a:rPr>
                        <a:t>283.5</a:t>
                      </a:r>
                    </a:p>
                  </a:txBody>
                  <a:tcPr marL="85725" marR="38100" marT="19050" marB="19050" anchor="ctr">
                    <a:solidFill>
                      <a:srgbClr val="FFFFFF"/>
                    </a:solidFill>
                  </a:tcPr>
                </a:tc>
                <a:tc>
                  <a:txBody>
                    <a:bodyPr wrap="none"/>
                    <a:lstStyle/>
                    <a:p>
                      <a:pPr algn="l"/>
                      <a:r>
                        <a:rPr sz="800" b="0">
                          <a:solidFill>
                            <a:srgbClr val="2E2E2E"/>
                          </a:solidFill>
                          <a:latin typeface="Calibri"/>
                        </a:rPr>
                        <a:t>301.6</a:t>
                      </a:r>
                    </a:p>
                  </a:txBody>
                  <a:tcPr marL="85725" marR="38100" marT="19050" marB="19050" anchor="ctr">
                    <a:solidFill>
                      <a:srgbClr val="FFFFFF"/>
                    </a:solidFill>
                  </a:tcPr>
                </a:tc>
                <a:tc>
                  <a:txBody>
                    <a:bodyPr wrap="none"/>
                    <a:lstStyle/>
                    <a:p>
                      <a:pPr algn="l"/>
                      <a:r>
                        <a:rPr sz="800" b="0">
                          <a:solidFill>
                            <a:srgbClr val="2E2E2E"/>
                          </a:solidFill>
                          <a:latin typeface="Calibri"/>
                        </a:rPr>
                        <a:t>320.3</a:t>
                      </a:r>
                    </a:p>
                  </a:txBody>
                  <a:tcPr marL="85725" marR="38100" marT="19050" marB="19050" anchor="ctr">
                    <a:solidFill>
                      <a:srgbClr val="FFFFFF"/>
                    </a:solidFill>
                  </a:tcPr>
                </a:tc>
                <a:tc>
                  <a:txBody>
                    <a:bodyPr wrap="none"/>
                    <a:lstStyle/>
                    <a:p>
                      <a:pPr algn="l"/>
                      <a:r>
                        <a:rPr sz="800" b="0">
                          <a:solidFill>
                            <a:srgbClr val="2E2E2E"/>
                          </a:solidFill>
                          <a:latin typeface="Calibri"/>
                        </a:rPr>
                        <a:t>339.5</a:t>
                      </a:r>
                    </a:p>
                  </a:txBody>
                  <a:tcPr marL="85725" marR="38100" marT="19050" marB="19050" anchor="ctr">
                    <a:solidFill>
                      <a:srgbClr val="FFFFFF"/>
                    </a:solidFill>
                  </a:tcPr>
                </a:tc>
                <a:tc>
                  <a:txBody>
                    <a:bodyPr wrap="none"/>
                    <a:lstStyle/>
                    <a:p>
                      <a:pPr algn="l"/>
                      <a:r>
                        <a:rPr sz="800" b="0">
                          <a:solidFill>
                            <a:srgbClr val="2E2E2E"/>
                          </a:solidFill>
                          <a:latin typeface="Calibri"/>
                        </a:rPr>
                        <a:t>360.5</a:t>
                      </a:r>
                    </a:p>
                  </a:txBody>
                  <a:tcPr marL="85725" marR="38100" marT="19050" marB="19050" anchor="ctr">
                    <a:solidFill>
                      <a:srgbClr val="FFFFFF"/>
                    </a:solidFill>
                  </a:tcPr>
                </a:tc>
                <a:tc>
                  <a:txBody>
                    <a:bodyPr wrap="none"/>
                    <a:lstStyle/>
                    <a:p>
                      <a:pPr algn="l"/>
                      <a:r>
                        <a:rPr sz="800" b="0">
                          <a:solidFill>
                            <a:srgbClr val="2E2E2E"/>
                          </a:solidFill>
                          <a:latin typeface="Calibri"/>
                        </a:rPr>
                        <a:t>381.9</a:t>
                      </a:r>
                    </a:p>
                  </a:txBody>
                  <a:tcPr marL="85725" marR="38100" marT="19050" marB="19050" anchor="ctr">
                    <a:solidFill>
                      <a:srgbClr val="FFFFFF"/>
                    </a:solidFill>
                  </a:tcPr>
                </a:tc>
                <a:tc>
                  <a:txBody>
                    <a:bodyPr wrap="none"/>
                    <a:lstStyle/>
                    <a:p>
                      <a:pPr algn="l"/>
                      <a:r>
                        <a:rPr sz="800" b="0">
                          <a:solidFill>
                            <a:srgbClr val="2E2E2E"/>
                          </a:solidFill>
                          <a:latin typeface="Calibri"/>
                        </a:rPr>
                        <a:t>405.5</a:t>
                      </a:r>
                    </a:p>
                  </a:txBody>
                  <a:tcPr marL="85725" marR="38100" marT="19050" marB="19050" anchor="ctr">
                    <a:solidFill>
                      <a:srgbClr val="FFFFFF"/>
                    </a:solidFill>
                  </a:tcPr>
                </a:tc>
                <a:tc>
                  <a:txBody>
                    <a:bodyPr wrap="none"/>
                    <a:lstStyle/>
                    <a:p>
                      <a:pPr algn="l"/>
                      <a:r>
                        <a:rPr sz="800" b="0">
                          <a:solidFill>
                            <a:srgbClr val="2E2E2E"/>
                          </a:solidFill>
                          <a:latin typeface="Calibri"/>
                        </a:rPr>
                        <a:t>6.4%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0">
                          <a:solidFill>
                            <a:srgbClr val="2E2E2E"/>
                          </a:solidFill>
                          <a:latin typeface="Calibri"/>
                        </a:rPr>
                        <a:t>228.3</a:t>
                      </a:r>
                    </a:p>
                  </a:txBody>
                  <a:tcPr marL="85725" marR="38100" marT="19050" marB="19050" anchor="ctr">
                    <a:solidFill>
                      <a:srgbClr val="F5F8FA"/>
                    </a:solidFill>
                  </a:tcPr>
                </a:tc>
                <a:tc>
                  <a:txBody>
                    <a:bodyPr wrap="none"/>
                    <a:lstStyle/>
                    <a:p>
                      <a:pPr algn="l"/>
                      <a:r>
                        <a:rPr sz="800" b="0">
                          <a:solidFill>
                            <a:srgbClr val="2E2E2E"/>
                          </a:solidFill>
                          <a:latin typeface="Calibri"/>
                        </a:rPr>
                        <a:t>242.4</a:t>
                      </a:r>
                    </a:p>
                  </a:txBody>
                  <a:tcPr marL="85725" marR="38100" marT="19050" marB="19050" anchor="ctr">
                    <a:solidFill>
                      <a:srgbClr val="F5F8FA"/>
                    </a:solidFill>
                  </a:tcPr>
                </a:tc>
                <a:tc>
                  <a:txBody>
                    <a:bodyPr wrap="none"/>
                    <a:lstStyle/>
                    <a:p>
                      <a:pPr algn="l"/>
                      <a:r>
                        <a:rPr sz="800" b="0">
                          <a:solidFill>
                            <a:srgbClr val="2E2E2E"/>
                          </a:solidFill>
                          <a:latin typeface="Calibri"/>
                        </a:rPr>
                        <a:t>257.5</a:t>
                      </a:r>
                    </a:p>
                  </a:txBody>
                  <a:tcPr marL="85725" marR="38100" marT="19050" marB="19050" anchor="ctr">
                    <a:solidFill>
                      <a:srgbClr val="F5F8FA"/>
                    </a:solidFill>
                  </a:tcPr>
                </a:tc>
                <a:tc>
                  <a:txBody>
                    <a:bodyPr wrap="none"/>
                    <a:lstStyle/>
                    <a:p>
                      <a:pPr algn="l"/>
                      <a:r>
                        <a:rPr sz="800" b="0">
                          <a:solidFill>
                            <a:srgbClr val="2E2E2E"/>
                          </a:solidFill>
                          <a:latin typeface="Calibri"/>
                        </a:rPr>
                        <a:t>273.7</a:t>
                      </a:r>
                    </a:p>
                  </a:txBody>
                  <a:tcPr marL="85725" marR="38100" marT="19050" marB="19050" anchor="ctr">
                    <a:solidFill>
                      <a:srgbClr val="F5F8FA"/>
                    </a:solidFill>
                  </a:tcPr>
                </a:tc>
                <a:tc>
                  <a:txBody>
                    <a:bodyPr wrap="none"/>
                    <a:lstStyle/>
                    <a:p>
                      <a:pPr algn="l"/>
                      <a:r>
                        <a:rPr sz="800" b="0">
                          <a:solidFill>
                            <a:srgbClr val="2E2E2E"/>
                          </a:solidFill>
                          <a:latin typeface="Calibri"/>
                        </a:rPr>
                        <a:t>290.5</a:t>
                      </a:r>
                    </a:p>
                  </a:txBody>
                  <a:tcPr marL="85725" marR="38100" marT="19050" marB="19050" anchor="ctr">
                    <a:solidFill>
                      <a:srgbClr val="F5F8FA"/>
                    </a:solidFill>
                  </a:tcPr>
                </a:tc>
                <a:tc>
                  <a:txBody>
                    <a:bodyPr wrap="none"/>
                    <a:lstStyle/>
                    <a:p>
                      <a:pPr algn="l"/>
                      <a:r>
                        <a:rPr sz="800" b="0">
                          <a:solidFill>
                            <a:srgbClr val="2E2E2E"/>
                          </a:solidFill>
                          <a:latin typeface="Calibri"/>
                        </a:rPr>
                        <a:t>308.6</a:t>
                      </a:r>
                    </a:p>
                  </a:txBody>
                  <a:tcPr marL="85725" marR="38100" marT="19050" marB="19050" anchor="ctr">
                    <a:solidFill>
                      <a:srgbClr val="F5F8FA"/>
                    </a:solidFill>
                  </a:tcPr>
                </a:tc>
                <a:tc>
                  <a:txBody>
                    <a:bodyPr wrap="none"/>
                    <a:lstStyle/>
                    <a:p>
                      <a:pPr algn="l"/>
                      <a:r>
                        <a:rPr sz="800" b="0">
                          <a:solidFill>
                            <a:srgbClr val="2E2E2E"/>
                          </a:solidFill>
                          <a:latin typeface="Calibri"/>
                        </a:rPr>
                        <a:t>327.4</a:t>
                      </a:r>
                    </a:p>
                  </a:txBody>
                  <a:tcPr marL="85725" marR="38100" marT="19050" marB="19050" anchor="ctr">
                    <a:solidFill>
                      <a:srgbClr val="F5F8FA"/>
                    </a:solidFill>
                  </a:tcPr>
                </a:tc>
                <a:tc>
                  <a:txBody>
                    <a:bodyPr wrap="none"/>
                    <a:lstStyle/>
                    <a:p>
                      <a:pPr algn="l"/>
                      <a:r>
                        <a:rPr sz="800" b="0">
                          <a:solidFill>
                            <a:srgbClr val="2E2E2E"/>
                          </a:solidFill>
                          <a:latin typeface="Calibri"/>
                        </a:rPr>
                        <a:t>346.6</a:t>
                      </a:r>
                    </a:p>
                  </a:txBody>
                  <a:tcPr marL="85725" marR="38100" marT="19050" marB="19050" anchor="ctr">
                    <a:solidFill>
                      <a:srgbClr val="F5F8FA"/>
                    </a:solidFill>
                  </a:tcPr>
                </a:tc>
                <a:tc>
                  <a:txBody>
                    <a:bodyPr wrap="none"/>
                    <a:lstStyle/>
                    <a:p>
                      <a:pPr algn="l"/>
                      <a:r>
                        <a:rPr sz="800" b="0">
                          <a:solidFill>
                            <a:srgbClr val="2E2E2E"/>
                          </a:solidFill>
                          <a:latin typeface="Calibri"/>
                        </a:rPr>
                        <a:t>366.3</a:t>
                      </a:r>
                    </a:p>
                  </a:txBody>
                  <a:tcPr marL="85725" marR="38100" marT="19050" marB="19050" anchor="ctr">
                    <a:solidFill>
                      <a:srgbClr val="F5F8FA"/>
                    </a:solidFill>
                  </a:tcPr>
                </a:tc>
                <a:tc>
                  <a:txBody>
                    <a:bodyPr wrap="none"/>
                    <a:lstStyle/>
                    <a:p>
                      <a:pPr algn="l"/>
                      <a:r>
                        <a:rPr sz="800" b="0">
                          <a:solidFill>
                            <a:srgbClr val="2E2E2E"/>
                          </a:solidFill>
                          <a:latin typeface="Calibri"/>
                        </a:rPr>
                        <a:t>386.3</a:t>
                      </a:r>
                    </a:p>
                  </a:txBody>
                  <a:tcPr marL="85725" marR="38100" marT="19050" marB="19050" anchor="ctr">
                    <a:solidFill>
                      <a:srgbClr val="F5F8FA"/>
                    </a:solidFill>
                  </a:tcPr>
                </a:tc>
                <a:tc>
                  <a:txBody>
                    <a:bodyPr wrap="none"/>
                    <a:lstStyle/>
                    <a:p>
                      <a:pPr algn="l"/>
                      <a:r>
                        <a:rPr sz="800" b="0">
                          <a:solidFill>
                            <a:srgbClr val="2E2E2E"/>
                          </a:solidFill>
                          <a:latin typeface="Calibri"/>
                        </a:rPr>
                        <a:t>406.6</a:t>
                      </a:r>
                    </a:p>
                  </a:txBody>
                  <a:tcPr marL="85725" marR="38100" marT="19050" marB="19050" anchor="ctr">
                    <a:solidFill>
                      <a:srgbClr val="F5F8FA"/>
                    </a:solidFill>
                  </a:tcPr>
                </a:tc>
                <a:tc>
                  <a:txBody>
                    <a:bodyPr wrap="none"/>
                    <a:lstStyle/>
                    <a:p>
                      <a:pPr algn="l"/>
                      <a:r>
                        <a:rPr sz="800" b="0">
                          <a:solidFill>
                            <a:srgbClr val="2E2E2E"/>
                          </a:solidFill>
                          <a:latin typeface="Calibri"/>
                        </a:rPr>
                        <a:t>427.1</a:t>
                      </a:r>
                    </a:p>
                  </a:txBody>
                  <a:tcPr marL="85725" marR="38100" marT="19050" marB="19050" anchor="ctr">
                    <a:solidFill>
                      <a:srgbClr val="F5F8FA"/>
                    </a:solidFill>
                  </a:tcPr>
                </a:tc>
                <a:tc>
                  <a:txBody>
                    <a:bodyPr wrap="none"/>
                    <a:lstStyle/>
                    <a:p>
                      <a:pPr algn="l"/>
                      <a:r>
                        <a:rPr sz="800" b="0">
                          <a:solidFill>
                            <a:srgbClr val="2E2E2E"/>
                          </a:solidFill>
                          <a:latin typeface="Calibri"/>
                        </a:rPr>
                        <a:t>447.4</a:t>
                      </a:r>
                    </a:p>
                  </a:txBody>
                  <a:tcPr marL="85725" marR="38100" marT="19050" marB="19050" anchor="ctr">
                    <a:solidFill>
                      <a:srgbClr val="F5F8FA"/>
                    </a:solidFill>
                  </a:tcPr>
                </a:tc>
                <a:tc>
                  <a:txBody>
                    <a:bodyPr wrap="none"/>
                    <a:lstStyle/>
                    <a:p>
                      <a:pPr algn="l"/>
                      <a:r>
                        <a:rPr sz="800" b="0">
                          <a:solidFill>
                            <a:srgbClr val="2E2E2E"/>
                          </a:solidFill>
                          <a:latin typeface="Calibri"/>
                        </a:rPr>
                        <a:t>469.1</a:t>
                      </a:r>
                    </a:p>
                  </a:txBody>
                  <a:tcPr marL="85725" marR="38100" marT="19050" marB="19050" anchor="ctr">
                    <a:solidFill>
                      <a:srgbClr val="F5F8FA"/>
                    </a:solidFill>
                  </a:tcPr>
                </a:tc>
                <a:tc>
                  <a:txBody>
                    <a:bodyPr wrap="none"/>
                    <a:lstStyle/>
                    <a:p>
                      <a:pPr algn="l"/>
                      <a:r>
                        <a:rPr sz="800" b="0">
                          <a:solidFill>
                            <a:srgbClr val="2E2E2E"/>
                          </a:solidFill>
                          <a:latin typeface="Calibri"/>
                        </a:rPr>
                        <a:t>490.2</a:t>
                      </a:r>
                    </a:p>
                  </a:txBody>
                  <a:tcPr marL="85725" marR="38100" marT="19050" marB="19050" anchor="ctr">
                    <a:solidFill>
                      <a:srgbClr val="F5F8FA"/>
                    </a:solidFill>
                  </a:tcPr>
                </a:tc>
                <a:tc>
                  <a:txBody>
                    <a:bodyPr wrap="none"/>
                    <a:lstStyle/>
                    <a:p>
                      <a:pPr algn="l"/>
                      <a:r>
                        <a:rPr sz="800" b="0">
                          <a:solidFill>
                            <a:srgbClr val="2E2E2E"/>
                          </a:solidFill>
                          <a:latin typeface="Calibri"/>
                        </a:rPr>
                        <a:t>513.0</a:t>
                      </a:r>
                    </a:p>
                  </a:txBody>
                  <a:tcPr marL="85725" marR="38100" marT="19050" marB="19050" anchor="ctr">
                    <a:solidFill>
                      <a:srgbClr val="F5F8FA"/>
                    </a:solidFill>
                  </a:tcPr>
                </a:tc>
                <a:tc>
                  <a:txBody>
                    <a:bodyPr wrap="none"/>
                    <a:lstStyle/>
                    <a:p>
                      <a:pPr algn="l"/>
                      <a:r>
                        <a:rPr sz="800" b="0">
                          <a:solidFill>
                            <a:srgbClr val="2E2E2E"/>
                          </a:solidFill>
                          <a:latin typeface="Calibri"/>
                        </a:rPr>
                        <a:t>5.2%</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0">
                          <a:solidFill>
                            <a:srgbClr val="2E2E2E"/>
                          </a:solidFill>
                          <a:latin typeface="Calibri"/>
                        </a:rPr>
                        <a:t>74.8</a:t>
                      </a:r>
                    </a:p>
                  </a:txBody>
                  <a:tcPr marL="85725" marR="38100" marT="19050" marB="19050" anchor="ctr">
                    <a:solidFill>
                      <a:srgbClr val="FFFFFF"/>
                    </a:solidFill>
                  </a:tcPr>
                </a:tc>
                <a:tc>
                  <a:txBody>
                    <a:bodyPr wrap="none"/>
                    <a:lstStyle/>
                    <a:p>
                      <a:pPr algn="l"/>
                      <a:r>
                        <a:rPr sz="800" b="0">
                          <a:solidFill>
                            <a:srgbClr val="2E2E2E"/>
                          </a:solidFill>
                          <a:latin typeface="Calibri"/>
                        </a:rPr>
                        <a:t>79.7</a:t>
                      </a:r>
                    </a:p>
                  </a:txBody>
                  <a:tcPr marL="85725" marR="38100" marT="19050" marB="19050" anchor="ctr">
                    <a:solidFill>
                      <a:srgbClr val="FFFFFF"/>
                    </a:solidFill>
                  </a:tcPr>
                </a:tc>
                <a:tc>
                  <a:txBody>
                    <a:bodyPr wrap="none"/>
                    <a:lstStyle/>
                    <a:p>
                      <a:pPr algn="l"/>
                      <a:r>
                        <a:rPr sz="800" b="0">
                          <a:solidFill>
                            <a:srgbClr val="2E2E2E"/>
                          </a:solidFill>
                          <a:latin typeface="Calibri"/>
                        </a:rPr>
                        <a:t>85.1</a:t>
                      </a:r>
                    </a:p>
                  </a:txBody>
                  <a:tcPr marL="85725" marR="38100" marT="19050" marB="19050" anchor="ctr">
                    <a:solidFill>
                      <a:srgbClr val="FFFFFF"/>
                    </a:solidFill>
                  </a:tcPr>
                </a:tc>
                <a:tc>
                  <a:txBody>
                    <a:bodyPr wrap="none"/>
                    <a:lstStyle/>
                    <a:p>
                      <a:pPr algn="l"/>
                      <a:r>
                        <a:rPr sz="800" b="0">
                          <a:solidFill>
                            <a:srgbClr val="2E2E2E"/>
                          </a:solidFill>
                          <a:latin typeface="Calibri"/>
                        </a:rPr>
                        <a:t>91.0</a:t>
                      </a:r>
                    </a:p>
                  </a:txBody>
                  <a:tcPr marL="85725" marR="38100" marT="19050" marB="19050" anchor="ctr">
                    <a:solidFill>
                      <a:srgbClr val="FFFFFF"/>
                    </a:solidFill>
                  </a:tcPr>
                </a:tc>
                <a:tc>
                  <a:txBody>
                    <a:bodyPr wrap="none"/>
                    <a:lstStyle/>
                    <a:p>
                      <a:pPr algn="l"/>
                      <a:r>
                        <a:rPr sz="800" b="0">
                          <a:solidFill>
                            <a:srgbClr val="2E2E2E"/>
                          </a:solidFill>
                          <a:latin typeface="Calibri"/>
                        </a:rPr>
                        <a:t>97.3</a:t>
                      </a:r>
                    </a:p>
                  </a:txBody>
                  <a:tcPr marL="85725" marR="38100" marT="19050" marB="19050" anchor="ctr">
                    <a:solidFill>
                      <a:srgbClr val="FFFFFF"/>
                    </a:solidFill>
                  </a:tcPr>
                </a:tc>
                <a:tc>
                  <a:txBody>
                    <a:bodyPr wrap="none"/>
                    <a:lstStyle/>
                    <a:p>
                      <a:pPr algn="l"/>
                      <a:r>
                        <a:rPr sz="800" b="0">
                          <a:solidFill>
                            <a:srgbClr val="2E2E2E"/>
                          </a:solidFill>
                          <a:latin typeface="Calibri"/>
                        </a:rPr>
                        <a:t>104.2</a:t>
                      </a:r>
                    </a:p>
                  </a:txBody>
                  <a:tcPr marL="85725" marR="38100" marT="19050" marB="19050" anchor="ctr">
                    <a:solidFill>
                      <a:srgbClr val="FFFFFF"/>
                    </a:solidFill>
                  </a:tcPr>
                </a:tc>
                <a:tc>
                  <a:txBody>
                    <a:bodyPr wrap="none"/>
                    <a:lstStyle/>
                    <a:p>
                      <a:pPr algn="l"/>
                      <a:r>
                        <a:rPr sz="800" b="0">
                          <a:solidFill>
                            <a:srgbClr val="2E2E2E"/>
                          </a:solidFill>
                          <a:latin typeface="Calibri"/>
                        </a:rPr>
                        <a:t>111.6</a:t>
                      </a:r>
                    </a:p>
                  </a:txBody>
                  <a:tcPr marL="85725" marR="38100" marT="19050" marB="19050" anchor="ctr">
                    <a:solidFill>
                      <a:srgbClr val="FFFFFF"/>
                    </a:solidFill>
                  </a:tcPr>
                </a:tc>
                <a:tc>
                  <a:txBody>
                    <a:bodyPr wrap="none"/>
                    <a:lstStyle/>
                    <a:p>
                      <a:pPr algn="l"/>
                      <a:r>
                        <a:rPr sz="800" b="0">
                          <a:solidFill>
                            <a:srgbClr val="2E2E2E"/>
                          </a:solidFill>
                          <a:latin typeface="Calibri"/>
                        </a:rPr>
                        <a:t>119.3</a:t>
                      </a:r>
                    </a:p>
                  </a:txBody>
                  <a:tcPr marL="85725" marR="38100" marT="19050" marB="19050" anchor="ctr">
                    <a:solidFill>
                      <a:srgbClr val="FFFFFF"/>
                    </a:solidFill>
                  </a:tcPr>
                </a:tc>
                <a:tc>
                  <a:txBody>
                    <a:bodyPr wrap="none"/>
                    <a:lstStyle/>
                    <a:p>
                      <a:pPr algn="l"/>
                      <a:r>
                        <a:rPr sz="800" b="0">
                          <a:solidFill>
                            <a:srgbClr val="2E2E2E"/>
                          </a:solidFill>
                          <a:latin typeface="Calibri"/>
                        </a:rPr>
                        <a:t>127.3</a:t>
                      </a:r>
                    </a:p>
                  </a:txBody>
                  <a:tcPr marL="85725" marR="38100" marT="19050" marB="19050" anchor="ctr">
                    <a:solidFill>
                      <a:srgbClr val="FFFFFF"/>
                    </a:solidFill>
                  </a:tcPr>
                </a:tc>
                <a:tc>
                  <a:txBody>
                    <a:bodyPr wrap="none"/>
                    <a:lstStyle/>
                    <a:p>
                      <a:pPr algn="l"/>
                      <a:r>
                        <a:rPr sz="800" b="0">
                          <a:solidFill>
                            <a:srgbClr val="2E2E2E"/>
                          </a:solidFill>
                          <a:latin typeface="Calibri"/>
                        </a:rPr>
                        <a:t>135.7</a:t>
                      </a:r>
                    </a:p>
                  </a:txBody>
                  <a:tcPr marL="85725" marR="38100" marT="19050" marB="19050" anchor="ctr">
                    <a:solidFill>
                      <a:srgbClr val="FFFFFF"/>
                    </a:solidFill>
                  </a:tcPr>
                </a:tc>
                <a:tc>
                  <a:txBody>
                    <a:bodyPr wrap="none"/>
                    <a:lstStyle/>
                    <a:p>
                      <a:pPr algn="l"/>
                      <a:r>
                        <a:rPr sz="800" b="0">
                          <a:solidFill>
                            <a:srgbClr val="2E2E2E"/>
                          </a:solidFill>
                          <a:latin typeface="Calibri"/>
                        </a:rPr>
                        <a:t>144.5</a:t>
                      </a:r>
                    </a:p>
                  </a:txBody>
                  <a:tcPr marL="85725" marR="38100" marT="19050" marB="19050" anchor="ctr">
                    <a:solidFill>
                      <a:srgbClr val="FFFFFF"/>
                    </a:solidFill>
                  </a:tcPr>
                </a:tc>
                <a:tc>
                  <a:txBody>
                    <a:bodyPr wrap="none"/>
                    <a:lstStyle/>
                    <a:p>
                      <a:pPr algn="l"/>
                      <a:r>
                        <a:rPr sz="800" b="0">
                          <a:solidFill>
                            <a:srgbClr val="2E2E2E"/>
                          </a:solidFill>
                          <a:latin typeface="Calibri"/>
                        </a:rPr>
                        <a:t>153.6</a:t>
                      </a:r>
                    </a:p>
                  </a:txBody>
                  <a:tcPr marL="85725" marR="38100" marT="19050" marB="19050" anchor="ctr">
                    <a:solidFill>
                      <a:srgbClr val="FFFFFF"/>
                    </a:solidFill>
                  </a:tcPr>
                </a:tc>
                <a:tc>
                  <a:txBody>
                    <a:bodyPr wrap="none"/>
                    <a:lstStyle/>
                    <a:p>
                      <a:pPr algn="l"/>
                      <a:r>
                        <a:rPr sz="800" b="0">
                          <a:solidFill>
                            <a:srgbClr val="2E2E2E"/>
                          </a:solidFill>
                          <a:latin typeface="Calibri"/>
                        </a:rPr>
                        <a:t>163.0</a:t>
                      </a:r>
                    </a:p>
                  </a:txBody>
                  <a:tcPr marL="85725" marR="38100" marT="19050" marB="19050" anchor="ctr">
                    <a:solidFill>
                      <a:srgbClr val="FFFFFF"/>
                    </a:solidFill>
                  </a:tcPr>
                </a:tc>
                <a:tc>
                  <a:txBody>
                    <a:bodyPr wrap="none"/>
                    <a:lstStyle/>
                    <a:p>
                      <a:pPr algn="l"/>
                      <a:r>
                        <a:rPr sz="800" b="0">
                          <a:solidFill>
                            <a:srgbClr val="2E2E2E"/>
                          </a:solidFill>
                          <a:latin typeface="Calibri"/>
                        </a:rPr>
                        <a:t>173.2</a:t>
                      </a:r>
                    </a:p>
                  </a:txBody>
                  <a:tcPr marL="85725" marR="38100" marT="19050" marB="19050" anchor="ctr">
                    <a:solidFill>
                      <a:srgbClr val="FFFFFF"/>
                    </a:solidFill>
                  </a:tcPr>
                </a:tc>
                <a:tc>
                  <a:txBody>
                    <a:bodyPr wrap="none"/>
                    <a:lstStyle/>
                    <a:p>
                      <a:pPr algn="l"/>
                      <a:r>
                        <a:rPr sz="800" b="0">
                          <a:solidFill>
                            <a:srgbClr val="2E2E2E"/>
                          </a:solidFill>
                          <a:latin typeface="Calibri"/>
                        </a:rPr>
                        <a:t>183.5</a:t>
                      </a:r>
                    </a:p>
                  </a:txBody>
                  <a:tcPr marL="85725" marR="38100" marT="19050" marB="19050" anchor="ctr">
                    <a:solidFill>
                      <a:srgbClr val="FFFFFF"/>
                    </a:solidFill>
                  </a:tcPr>
                </a:tc>
                <a:tc>
                  <a:txBody>
                    <a:bodyPr wrap="none"/>
                    <a:lstStyle/>
                    <a:p>
                      <a:pPr algn="l"/>
                      <a:r>
                        <a:rPr sz="800" b="0">
                          <a:solidFill>
                            <a:srgbClr val="2E2E2E"/>
                          </a:solidFill>
                          <a:latin typeface="Calibri"/>
                        </a:rPr>
                        <a:t>194.8</a:t>
                      </a:r>
                    </a:p>
                  </a:txBody>
                  <a:tcPr marL="85725" marR="38100" marT="19050" marB="19050" anchor="ctr">
                    <a:solidFill>
                      <a:srgbClr val="FFFFFF"/>
                    </a:solidFill>
                  </a:tcPr>
                </a:tc>
                <a:tc>
                  <a:txBody>
                    <a:bodyPr wrap="none"/>
                    <a:lstStyle/>
                    <a:p>
                      <a:pPr algn="l"/>
                      <a:r>
                        <a:rPr sz="800" b="0">
                          <a:solidFill>
                            <a:srgbClr val="2E2E2E"/>
                          </a:solidFill>
                          <a:latin typeface="Calibri"/>
                        </a:rPr>
                        <a:t>6.4%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0">
                          <a:solidFill>
                            <a:srgbClr val="2E2E2E"/>
                          </a:solidFill>
                          <a:latin typeface="Calibri"/>
                        </a:rPr>
                        <a:t>71.3</a:t>
                      </a:r>
                    </a:p>
                  </a:txBody>
                  <a:tcPr marL="85725" marR="38100" marT="19050" marB="19050" anchor="ctr">
                    <a:solidFill>
                      <a:srgbClr val="F5F8FA"/>
                    </a:solidFill>
                  </a:tcPr>
                </a:tc>
                <a:tc>
                  <a:txBody>
                    <a:bodyPr wrap="none"/>
                    <a:lstStyle/>
                    <a:p>
                      <a:pPr algn="l"/>
                      <a:r>
                        <a:rPr sz="800" b="0">
                          <a:solidFill>
                            <a:srgbClr val="2E2E2E"/>
                          </a:solidFill>
                          <a:latin typeface="Calibri"/>
                        </a:rPr>
                        <a:t>80.8</a:t>
                      </a:r>
                    </a:p>
                  </a:txBody>
                  <a:tcPr marL="85725" marR="38100" marT="19050" marB="19050" anchor="ctr">
                    <a:solidFill>
                      <a:srgbClr val="F5F8FA"/>
                    </a:solidFill>
                  </a:tcPr>
                </a:tc>
                <a:tc>
                  <a:txBody>
                    <a:bodyPr wrap="none"/>
                    <a:lstStyle/>
                    <a:p>
                      <a:pPr algn="l"/>
                      <a:r>
                        <a:rPr sz="800" b="0">
                          <a:solidFill>
                            <a:srgbClr val="2E2E2E"/>
                          </a:solidFill>
                          <a:latin typeface="Calibri"/>
                        </a:rPr>
                        <a:t>91.6</a:t>
                      </a:r>
                    </a:p>
                  </a:txBody>
                  <a:tcPr marL="85725" marR="38100" marT="19050" marB="19050" anchor="ctr">
                    <a:solidFill>
                      <a:srgbClr val="F5F8FA"/>
                    </a:solidFill>
                  </a:tcPr>
                </a:tc>
                <a:tc>
                  <a:txBody>
                    <a:bodyPr wrap="none"/>
                    <a:lstStyle/>
                    <a:p>
                      <a:pPr algn="l"/>
                      <a:r>
                        <a:rPr sz="800" b="0">
                          <a:solidFill>
                            <a:srgbClr val="2E2E2E"/>
                          </a:solidFill>
                          <a:latin typeface="Calibri"/>
                        </a:rPr>
                        <a:t>104.0</a:t>
                      </a:r>
                    </a:p>
                  </a:txBody>
                  <a:tcPr marL="85725" marR="38100" marT="19050" marB="19050" anchor="ctr">
                    <a:solidFill>
                      <a:srgbClr val="F5F8FA"/>
                    </a:solidFill>
                  </a:tcPr>
                </a:tc>
                <a:tc>
                  <a:txBody>
                    <a:bodyPr wrap="none"/>
                    <a:lstStyle/>
                    <a:p>
                      <a:pPr algn="l"/>
                      <a:r>
                        <a:rPr sz="800" b="0">
                          <a:solidFill>
                            <a:srgbClr val="2E2E2E"/>
                          </a:solidFill>
                          <a:latin typeface="Calibri"/>
                        </a:rPr>
                        <a:t>117.9</a:t>
                      </a:r>
                    </a:p>
                  </a:txBody>
                  <a:tcPr marL="85725" marR="38100" marT="19050" marB="19050" anchor="ctr">
                    <a:solidFill>
                      <a:srgbClr val="F5F8FA"/>
                    </a:solidFill>
                  </a:tcPr>
                </a:tc>
                <a:tc>
                  <a:txBody>
                    <a:bodyPr wrap="none"/>
                    <a:lstStyle/>
                    <a:p>
                      <a:pPr algn="l"/>
                      <a:r>
                        <a:rPr sz="800" b="0">
                          <a:solidFill>
                            <a:srgbClr val="2E2E2E"/>
                          </a:solidFill>
                          <a:latin typeface="Calibri"/>
                        </a:rPr>
                        <a:t>133.7</a:t>
                      </a:r>
                    </a:p>
                  </a:txBody>
                  <a:tcPr marL="85725" marR="38100" marT="19050" marB="19050" anchor="ctr">
                    <a:solidFill>
                      <a:srgbClr val="F5F8FA"/>
                    </a:solidFill>
                  </a:tcPr>
                </a:tc>
                <a:tc>
                  <a:txBody>
                    <a:bodyPr wrap="none"/>
                    <a:lstStyle/>
                    <a:p>
                      <a:pPr algn="l"/>
                      <a:r>
                        <a:rPr sz="800" b="0">
                          <a:solidFill>
                            <a:srgbClr val="2E2E2E"/>
                          </a:solidFill>
                          <a:latin typeface="Calibri"/>
                        </a:rPr>
                        <a:t>151.5</a:t>
                      </a:r>
                    </a:p>
                  </a:txBody>
                  <a:tcPr marL="85725" marR="38100" marT="19050" marB="19050" anchor="ctr">
                    <a:solidFill>
                      <a:srgbClr val="F5F8FA"/>
                    </a:solidFill>
                  </a:tcPr>
                </a:tc>
                <a:tc>
                  <a:txBody>
                    <a:bodyPr wrap="none"/>
                    <a:lstStyle/>
                    <a:p>
                      <a:pPr algn="l"/>
                      <a:r>
                        <a:rPr sz="800" b="0">
                          <a:solidFill>
                            <a:srgbClr val="2E2E2E"/>
                          </a:solidFill>
                          <a:latin typeface="Calibri"/>
                        </a:rPr>
                        <a:t>171.2</a:t>
                      </a:r>
                    </a:p>
                  </a:txBody>
                  <a:tcPr marL="85725" marR="38100" marT="19050" marB="19050" anchor="ctr">
                    <a:solidFill>
                      <a:srgbClr val="F5F8FA"/>
                    </a:solidFill>
                  </a:tcPr>
                </a:tc>
                <a:tc>
                  <a:txBody>
                    <a:bodyPr wrap="none"/>
                    <a:lstStyle/>
                    <a:p>
                      <a:pPr algn="l"/>
                      <a:r>
                        <a:rPr sz="800" b="0">
                          <a:solidFill>
                            <a:srgbClr val="2E2E2E"/>
                          </a:solidFill>
                          <a:latin typeface="Calibri"/>
                        </a:rPr>
                        <a:t>193.2</a:t>
                      </a:r>
                    </a:p>
                  </a:txBody>
                  <a:tcPr marL="85725" marR="38100" marT="19050" marB="19050" anchor="ctr">
                    <a:solidFill>
                      <a:srgbClr val="F5F8FA"/>
                    </a:solidFill>
                  </a:tcPr>
                </a:tc>
                <a:tc>
                  <a:txBody>
                    <a:bodyPr wrap="none"/>
                    <a:lstStyle/>
                    <a:p>
                      <a:pPr algn="l"/>
                      <a:r>
                        <a:rPr sz="800" b="0">
                          <a:solidFill>
                            <a:srgbClr val="2E2E2E"/>
                          </a:solidFill>
                          <a:latin typeface="Calibri"/>
                        </a:rPr>
                        <a:t>217.6</a:t>
                      </a:r>
                    </a:p>
                  </a:txBody>
                  <a:tcPr marL="85725" marR="38100" marT="19050" marB="19050" anchor="ctr">
                    <a:solidFill>
                      <a:srgbClr val="F5F8FA"/>
                    </a:solidFill>
                  </a:tcPr>
                </a:tc>
                <a:tc>
                  <a:txBody>
                    <a:bodyPr wrap="none"/>
                    <a:lstStyle/>
                    <a:p>
                      <a:pPr algn="l"/>
                      <a:r>
                        <a:rPr sz="800" b="0">
                          <a:solidFill>
                            <a:srgbClr val="2E2E2E"/>
                          </a:solidFill>
                          <a:latin typeface="Calibri"/>
                        </a:rPr>
                        <a:t>244.6</a:t>
                      </a:r>
                    </a:p>
                  </a:txBody>
                  <a:tcPr marL="85725" marR="38100" marT="19050" marB="19050" anchor="ctr">
                    <a:solidFill>
                      <a:srgbClr val="F5F8FA"/>
                    </a:solidFill>
                  </a:tcPr>
                </a:tc>
                <a:tc>
                  <a:txBody>
                    <a:bodyPr wrap="none"/>
                    <a:lstStyle/>
                    <a:p>
                      <a:pPr algn="l"/>
                      <a:r>
                        <a:rPr sz="800" b="0">
                          <a:solidFill>
                            <a:srgbClr val="2E2E2E"/>
                          </a:solidFill>
                          <a:latin typeface="Calibri"/>
                        </a:rPr>
                        <a:t>274.4</a:t>
                      </a:r>
                    </a:p>
                  </a:txBody>
                  <a:tcPr marL="85725" marR="38100" marT="19050" marB="19050" anchor="ctr">
                    <a:solidFill>
                      <a:srgbClr val="F5F8FA"/>
                    </a:solidFill>
                  </a:tcPr>
                </a:tc>
                <a:tc>
                  <a:txBody>
                    <a:bodyPr wrap="none"/>
                    <a:lstStyle/>
                    <a:p>
                      <a:pPr algn="l"/>
                      <a:r>
                        <a:rPr sz="800" b="0">
                          <a:solidFill>
                            <a:srgbClr val="2E2E2E"/>
                          </a:solidFill>
                          <a:latin typeface="Calibri"/>
                        </a:rPr>
                        <a:t>306.9</a:t>
                      </a:r>
                    </a:p>
                  </a:txBody>
                  <a:tcPr marL="85725" marR="38100" marT="19050" marB="19050" anchor="ctr">
                    <a:solidFill>
                      <a:srgbClr val="F5F8FA"/>
                    </a:solidFill>
                  </a:tcPr>
                </a:tc>
                <a:tc>
                  <a:txBody>
                    <a:bodyPr wrap="none"/>
                    <a:lstStyle/>
                    <a:p>
                      <a:pPr algn="l"/>
                      <a:r>
                        <a:rPr sz="800" b="0">
                          <a:solidFill>
                            <a:srgbClr val="2E2E2E"/>
                          </a:solidFill>
                          <a:latin typeface="Calibri"/>
                        </a:rPr>
                        <a:t>343.7</a:t>
                      </a:r>
                    </a:p>
                  </a:txBody>
                  <a:tcPr marL="85725" marR="38100" marT="19050" marB="19050" anchor="ctr">
                    <a:solidFill>
                      <a:srgbClr val="F5F8FA"/>
                    </a:solidFill>
                  </a:tcPr>
                </a:tc>
                <a:tc>
                  <a:txBody>
                    <a:bodyPr wrap="none"/>
                    <a:lstStyle/>
                    <a:p>
                      <a:pPr algn="l"/>
                      <a:r>
                        <a:rPr sz="800" b="0">
                          <a:solidFill>
                            <a:srgbClr val="2E2E2E"/>
                          </a:solidFill>
                          <a:latin typeface="Calibri"/>
                        </a:rPr>
                        <a:t>383.5</a:t>
                      </a:r>
                    </a:p>
                  </a:txBody>
                  <a:tcPr marL="85725" marR="38100" marT="19050" marB="19050" anchor="ctr">
                    <a:solidFill>
                      <a:srgbClr val="F5F8FA"/>
                    </a:solidFill>
                  </a:tcPr>
                </a:tc>
                <a:tc>
                  <a:txBody>
                    <a:bodyPr wrap="none"/>
                    <a:lstStyle/>
                    <a:p>
                      <a:pPr algn="l"/>
                      <a:r>
                        <a:rPr sz="800" b="0">
                          <a:solidFill>
                            <a:srgbClr val="2E2E2E"/>
                          </a:solidFill>
                          <a:latin typeface="Calibri"/>
                        </a:rPr>
                        <a:t>428.6</a:t>
                      </a:r>
                    </a:p>
                  </a:txBody>
                  <a:tcPr marL="85725" marR="38100" marT="19050" marB="19050" anchor="ctr">
                    <a:solidFill>
                      <a:srgbClr val="F5F8FA"/>
                    </a:solidFill>
                  </a:tcPr>
                </a:tc>
                <a:tc>
                  <a:txBody>
                    <a:bodyPr wrap="none"/>
                    <a:lstStyle/>
                    <a:p>
                      <a:pPr algn="l"/>
                      <a:r>
                        <a:rPr sz="800" b="0">
                          <a:solidFill>
                            <a:srgbClr val="2E2E2E"/>
                          </a:solidFill>
                          <a:latin typeface="Calibri"/>
                        </a:rPr>
                        <a:t>12.4%</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532.3</a:t>
                      </a:r>
                    </a:p>
                  </a:txBody>
                  <a:tcPr marL="85725" marR="38100" marT="19050" marB="19050" anchor="ctr">
                    <a:solidFill>
                      <a:srgbClr val="E0E8EF"/>
                    </a:solidFill>
                  </a:tcPr>
                </a:tc>
                <a:tc>
                  <a:txBody>
                    <a:bodyPr wrap="none"/>
                    <a:lstStyle/>
                    <a:p>
                      <a:pPr algn="l"/>
                      <a:r>
                        <a:rPr sz="800" b="1">
                          <a:solidFill>
                            <a:srgbClr val="2E2E2E"/>
                          </a:solidFill>
                          <a:latin typeface="Calibri"/>
                        </a:rPr>
                        <a:t>571.3</a:t>
                      </a:r>
                    </a:p>
                  </a:txBody>
                  <a:tcPr marL="85725" marR="38100" marT="19050" marB="19050" anchor="ctr">
                    <a:solidFill>
                      <a:srgbClr val="E0E8EF"/>
                    </a:solidFill>
                  </a:tcPr>
                </a:tc>
                <a:tc>
                  <a:txBody>
                    <a:bodyPr wrap="none"/>
                    <a:lstStyle/>
                    <a:p>
                      <a:pPr algn="l"/>
                      <a:r>
                        <a:rPr sz="800" b="1">
                          <a:solidFill>
                            <a:srgbClr val="2E2E2E"/>
                          </a:solidFill>
                          <a:latin typeface="Calibri"/>
                        </a:rPr>
                        <a:t>613.8</a:t>
                      </a:r>
                    </a:p>
                  </a:txBody>
                  <a:tcPr marL="85725" marR="38100" marT="19050" marB="19050" anchor="ctr">
                    <a:solidFill>
                      <a:srgbClr val="E0E8EF"/>
                    </a:solidFill>
                  </a:tcPr>
                </a:tc>
                <a:tc>
                  <a:txBody>
                    <a:bodyPr wrap="none"/>
                    <a:lstStyle/>
                    <a:p>
                      <a:pPr algn="l"/>
                      <a:r>
                        <a:rPr sz="800" b="1">
                          <a:solidFill>
                            <a:srgbClr val="2E2E2E"/>
                          </a:solidFill>
                          <a:latin typeface="Calibri"/>
                        </a:rPr>
                        <a:t>660.5</a:t>
                      </a:r>
                    </a:p>
                  </a:txBody>
                  <a:tcPr marL="85725" marR="38100" marT="19050" marB="19050" anchor="ctr">
                    <a:solidFill>
                      <a:srgbClr val="E0E8EF"/>
                    </a:solidFill>
                  </a:tcPr>
                </a:tc>
                <a:tc>
                  <a:txBody>
                    <a:bodyPr wrap="none"/>
                    <a:lstStyle/>
                    <a:p>
                      <a:pPr algn="l"/>
                      <a:r>
                        <a:rPr sz="800" b="1">
                          <a:solidFill>
                            <a:srgbClr val="2E2E2E"/>
                          </a:solidFill>
                          <a:latin typeface="Calibri"/>
                        </a:rPr>
                        <a:t>710.4</a:t>
                      </a:r>
                    </a:p>
                  </a:txBody>
                  <a:tcPr marL="85725" marR="38100" marT="19050" marB="19050" anchor="ctr">
                    <a:solidFill>
                      <a:srgbClr val="E0E8EF"/>
                    </a:solidFill>
                  </a:tcPr>
                </a:tc>
                <a:tc>
                  <a:txBody>
                    <a:bodyPr wrap="none"/>
                    <a:lstStyle/>
                    <a:p>
                      <a:pPr algn="l"/>
                      <a:r>
                        <a:rPr sz="800" b="1">
                          <a:solidFill>
                            <a:srgbClr val="2E2E2E"/>
                          </a:solidFill>
                          <a:latin typeface="Calibri"/>
                        </a:rPr>
                        <a:t>765.5</a:t>
                      </a:r>
                    </a:p>
                  </a:txBody>
                  <a:tcPr marL="85725" marR="38100" marT="19050" marB="19050" anchor="ctr">
                    <a:solidFill>
                      <a:srgbClr val="E0E8EF"/>
                    </a:solidFill>
                  </a:tcPr>
                </a:tc>
                <a:tc>
                  <a:txBody>
                    <a:bodyPr wrap="none"/>
                    <a:lstStyle/>
                    <a:p>
                      <a:pPr algn="l"/>
                      <a:r>
                        <a:rPr sz="800" b="1">
                          <a:solidFill>
                            <a:srgbClr val="2E2E2E"/>
                          </a:solidFill>
                          <a:latin typeface="Calibri"/>
                        </a:rPr>
                        <a:t>824.6</a:t>
                      </a:r>
                    </a:p>
                  </a:txBody>
                  <a:tcPr marL="85725" marR="38100" marT="19050" marB="19050" anchor="ctr">
                    <a:solidFill>
                      <a:srgbClr val="E0E8EF"/>
                    </a:solidFill>
                  </a:tcPr>
                </a:tc>
                <a:tc>
                  <a:txBody>
                    <a:bodyPr wrap="none"/>
                    <a:lstStyle/>
                    <a:p>
                      <a:pPr algn="l"/>
                      <a:r>
                        <a:rPr sz="800" b="1">
                          <a:solidFill>
                            <a:srgbClr val="2E2E2E"/>
                          </a:solidFill>
                          <a:latin typeface="Calibri"/>
                        </a:rPr>
                        <a:t>886.8</a:t>
                      </a:r>
                    </a:p>
                  </a:txBody>
                  <a:tcPr marL="85725" marR="38100" marT="19050" marB="19050" anchor="ctr">
                    <a:solidFill>
                      <a:srgbClr val="E0E8EF"/>
                    </a:solidFill>
                  </a:tcPr>
                </a:tc>
                <a:tc>
                  <a:txBody>
                    <a:bodyPr wrap="none"/>
                    <a:lstStyle/>
                    <a:p>
                      <a:pPr algn="l"/>
                      <a:r>
                        <a:rPr sz="800" b="1">
                          <a:solidFill>
                            <a:srgbClr val="2E2E2E"/>
                          </a:solidFill>
                          <a:latin typeface="Calibri"/>
                        </a:rPr>
                        <a:t>953.2</a:t>
                      </a:r>
                    </a:p>
                  </a:txBody>
                  <a:tcPr marL="85725" marR="38100" marT="19050" marB="19050" anchor="ctr">
                    <a:solidFill>
                      <a:srgbClr val="E0E8EF"/>
                    </a:solidFill>
                  </a:tcPr>
                </a:tc>
                <a:tc>
                  <a:txBody>
                    <a:bodyPr wrap="none"/>
                    <a:lstStyle/>
                    <a:p>
                      <a:pPr algn="l"/>
                      <a:r>
                        <a:rPr sz="800" b="1">
                          <a:solidFill>
                            <a:srgbClr val="2E2E2E"/>
                          </a:solidFill>
                          <a:latin typeface="Calibri"/>
                        </a:rPr>
                        <a:t>1,023</a:t>
                      </a:r>
                    </a:p>
                  </a:txBody>
                  <a:tcPr marL="85725" marR="38100" marT="19050" marB="19050" anchor="ctr">
                    <a:solidFill>
                      <a:srgbClr val="E0E8EF"/>
                    </a:solidFill>
                  </a:tcPr>
                </a:tc>
                <a:tc>
                  <a:txBody>
                    <a:bodyPr wrap="none"/>
                    <a:lstStyle/>
                    <a:p>
                      <a:pPr algn="l"/>
                      <a:r>
                        <a:rPr sz="800" b="1">
                          <a:solidFill>
                            <a:srgbClr val="2E2E2E"/>
                          </a:solidFill>
                          <a:latin typeface="Calibri"/>
                        </a:rPr>
                        <a:t>1,097</a:t>
                      </a:r>
                    </a:p>
                  </a:txBody>
                  <a:tcPr marL="85725" marR="38100" marT="19050" marB="19050" anchor="ctr">
                    <a:solidFill>
                      <a:srgbClr val="E0E8EF"/>
                    </a:solidFill>
                  </a:tcPr>
                </a:tc>
                <a:tc>
                  <a:txBody>
                    <a:bodyPr wrap="none"/>
                    <a:lstStyle/>
                    <a:p>
                      <a:pPr algn="l"/>
                      <a:r>
                        <a:rPr sz="800" b="1">
                          <a:solidFill>
                            <a:srgbClr val="2E2E2E"/>
                          </a:solidFill>
                          <a:latin typeface="Calibri"/>
                        </a:rPr>
                        <a:t>1,175</a:t>
                      </a:r>
                    </a:p>
                  </a:txBody>
                  <a:tcPr marL="85725" marR="38100" marT="19050" marB="19050" anchor="ctr">
                    <a:solidFill>
                      <a:srgbClr val="E0E8EF"/>
                    </a:solidFill>
                  </a:tcPr>
                </a:tc>
                <a:tc>
                  <a:txBody>
                    <a:bodyPr wrap="none"/>
                    <a:lstStyle/>
                    <a:p>
                      <a:pPr algn="l"/>
                      <a:r>
                        <a:rPr sz="800" b="1">
                          <a:solidFill>
                            <a:srgbClr val="2E2E2E"/>
                          </a:solidFill>
                          <a:latin typeface="Calibri"/>
                        </a:rPr>
                        <a:t>1,257</a:t>
                      </a:r>
                    </a:p>
                  </a:txBody>
                  <a:tcPr marL="85725" marR="38100" marT="19050" marB="19050" anchor="ctr">
                    <a:solidFill>
                      <a:srgbClr val="E0E8EF"/>
                    </a:solidFill>
                  </a:tcPr>
                </a:tc>
                <a:tc>
                  <a:txBody>
                    <a:bodyPr wrap="none"/>
                    <a:lstStyle/>
                    <a:p>
                      <a:pPr algn="l"/>
                      <a:r>
                        <a:rPr sz="800" b="1">
                          <a:solidFill>
                            <a:srgbClr val="2E2E2E"/>
                          </a:solidFill>
                          <a:latin typeface="Calibri"/>
                        </a:rPr>
                        <a:t>1,346</a:t>
                      </a:r>
                    </a:p>
                  </a:txBody>
                  <a:tcPr marL="85725" marR="38100" marT="19050" marB="19050" anchor="ctr">
                    <a:solidFill>
                      <a:srgbClr val="E0E8EF"/>
                    </a:solidFill>
                  </a:tcPr>
                </a:tc>
                <a:tc>
                  <a:txBody>
                    <a:bodyPr wrap="none"/>
                    <a:lstStyle/>
                    <a:p>
                      <a:pPr algn="l"/>
                      <a:r>
                        <a:rPr sz="800" b="1">
                          <a:solidFill>
                            <a:srgbClr val="2E2E2E"/>
                          </a:solidFill>
                          <a:latin typeface="Calibri"/>
                        </a:rPr>
                        <a:t>1,439</a:t>
                      </a:r>
                    </a:p>
                  </a:txBody>
                  <a:tcPr marL="85725" marR="38100" marT="19050" marB="19050" anchor="ctr">
                    <a:solidFill>
                      <a:srgbClr val="E0E8EF"/>
                    </a:solidFill>
                  </a:tcPr>
                </a:tc>
                <a:tc>
                  <a:txBody>
                    <a:bodyPr wrap="none"/>
                    <a:lstStyle/>
                    <a:p>
                      <a:pPr algn="l"/>
                      <a:r>
                        <a:rPr sz="800" b="1">
                          <a:solidFill>
                            <a:srgbClr val="2E2E2E"/>
                          </a:solidFill>
                          <a:latin typeface="Calibri"/>
                        </a:rPr>
                        <a:t>1,542</a:t>
                      </a:r>
                    </a:p>
                  </a:txBody>
                  <a:tcPr marL="85725" marR="38100" marT="19050" marB="19050" anchor="ctr">
                    <a:solidFill>
                      <a:srgbClr val="E0E8EF"/>
                    </a:solidFill>
                  </a:tcPr>
                </a:tc>
                <a:tc>
                  <a:txBody>
                    <a:bodyPr wrap="none"/>
                    <a:lstStyle/>
                    <a:p>
                      <a:pPr algn="l"/>
                      <a:r>
                        <a:rPr sz="800" b="1">
                          <a:solidFill>
                            <a:srgbClr val="2E2E2E"/>
                          </a:solidFill>
                          <a:latin typeface="Calibri"/>
                        </a:rPr>
                        <a:t>7.3%</a:t>
                      </a:r>
                    </a:p>
                  </a:txBody>
                  <a:tcPr marL="85725" marR="38100" marT="19050" marB="19050" anchor="ctr">
                    <a:solidFill>
                      <a:srgbClr val="E0E8EF"/>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By Distribution Channel (US$ Mn)</a:t>
            </a:r>
          </a:p>
        </p:txBody>
      </p:sp>
      <p:graphicFrame>
        <p:nvGraphicFramePr>
          <p:cNvPr id="18" name="Table 17"/>
          <p:cNvGraphicFramePr>
            <a:graphicFrameLocks noGrp="1"/>
          </p:cNvGraphicFramePr>
          <p:nvPr/>
        </p:nvGraphicFramePr>
        <p:xfrm>
          <a:off x="238125" y="4143375"/>
          <a:ext cx="11715752" cy="1085850"/>
        </p:xfrm>
        <a:graphic>
          <a:graphicData uri="http://schemas.openxmlformats.org/drawingml/2006/table">
            <a:tbl>
              <a:tblPr>
                <a:tableStyleId>{5C22544A-7EE6-4342-B048-85BDC9FD1C3A}</a:tableStyleId>
              </a:tblPr>
              <a:tblGrid>
                <a:gridCol w="1874520"/>
                <a:gridCol w="578896"/>
                <a:gridCol w="578896"/>
                <a:gridCol w="578896"/>
                <a:gridCol w="578896"/>
                <a:gridCol w="578896"/>
                <a:gridCol w="578896"/>
                <a:gridCol w="578896"/>
                <a:gridCol w="578896"/>
                <a:gridCol w="578896"/>
                <a:gridCol w="578896"/>
                <a:gridCol w="578896"/>
                <a:gridCol w="578896"/>
                <a:gridCol w="578896"/>
                <a:gridCol w="578896"/>
                <a:gridCol w="578896"/>
                <a:gridCol w="578896"/>
                <a:gridCol w="578896"/>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2021</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c>
                  <a:txBody>
                    <a:bodyPr wrap="none"/>
                    <a:lstStyle/>
                    <a:p>
                      <a:pPr algn="l"/>
                      <a:r>
                        <a:rPr sz="800" b="1">
                          <a:solidFill>
                            <a:srgbClr val="0B2E4A"/>
                          </a:solidFill>
                          <a:latin typeface="Calibri"/>
                        </a:rPr>
                        <a:t>F-CAGR</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0">
                          <a:solidFill>
                            <a:srgbClr val="2E2E2E"/>
                          </a:solidFill>
                          <a:latin typeface="Calibri"/>
                        </a:rPr>
                        <a:t>136.7</a:t>
                      </a:r>
                    </a:p>
                  </a:txBody>
                  <a:tcPr marL="85725" marR="38100" marT="19050" marB="19050" anchor="ctr">
                    <a:solidFill>
                      <a:srgbClr val="FFFFFF"/>
                    </a:solidFill>
                  </a:tcPr>
                </a:tc>
                <a:tc>
                  <a:txBody>
                    <a:bodyPr wrap="none"/>
                    <a:lstStyle/>
                    <a:p>
                      <a:pPr algn="l"/>
                      <a:r>
                        <a:rPr sz="800" b="0">
                          <a:solidFill>
                            <a:srgbClr val="2E2E2E"/>
                          </a:solidFill>
                          <a:latin typeface="Calibri"/>
                        </a:rPr>
                        <a:t>143.7</a:t>
                      </a:r>
                    </a:p>
                  </a:txBody>
                  <a:tcPr marL="85725" marR="38100" marT="19050" marB="19050" anchor="ctr">
                    <a:solidFill>
                      <a:srgbClr val="FFFFFF"/>
                    </a:solidFill>
                  </a:tcPr>
                </a:tc>
                <a:tc>
                  <a:txBody>
                    <a:bodyPr wrap="none"/>
                    <a:lstStyle/>
                    <a:p>
                      <a:pPr algn="l"/>
                      <a:r>
                        <a:rPr sz="800" b="0">
                          <a:solidFill>
                            <a:srgbClr val="2E2E2E"/>
                          </a:solidFill>
                          <a:latin typeface="Calibri"/>
                        </a:rPr>
                        <a:t>151.6</a:t>
                      </a:r>
                    </a:p>
                  </a:txBody>
                  <a:tcPr marL="85725" marR="38100" marT="19050" marB="19050" anchor="ctr">
                    <a:solidFill>
                      <a:srgbClr val="FFFFFF"/>
                    </a:solidFill>
                  </a:tcPr>
                </a:tc>
                <a:tc>
                  <a:txBody>
                    <a:bodyPr wrap="none"/>
                    <a:lstStyle/>
                    <a:p>
                      <a:pPr algn="l"/>
                      <a:r>
                        <a:rPr sz="800" b="0">
                          <a:solidFill>
                            <a:srgbClr val="2E2E2E"/>
                          </a:solidFill>
                          <a:latin typeface="Calibri"/>
                        </a:rPr>
                        <a:t>160.7</a:t>
                      </a:r>
                    </a:p>
                  </a:txBody>
                  <a:tcPr marL="85725" marR="38100" marT="19050" marB="19050" anchor="ctr">
                    <a:solidFill>
                      <a:srgbClr val="FFFFFF"/>
                    </a:solidFill>
                  </a:tcPr>
                </a:tc>
                <a:tc>
                  <a:txBody>
                    <a:bodyPr wrap="none"/>
                    <a:lstStyle/>
                    <a:p>
                      <a:pPr algn="l"/>
                      <a:r>
                        <a:rPr sz="800" b="0">
                          <a:solidFill>
                            <a:srgbClr val="2E2E2E"/>
                          </a:solidFill>
                          <a:latin typeface="Calibri"/>
                        </a:rPr>
                        <a:t>170.6</a:t>
                      </a:r>
                    </a:p>
                  </a:txBody>
                  <a:tcPr marL="85725" marR="38100" marT="19050" marB="19050" anchor="ctr">
                    <a:solidFill>
                      <a:srgbClr val="FFFFFF"/>
                    </a:solidFill>
                  </a:tcPr>
                </a:tc>
                <a:tc>
                  <a:txBody>
                    <a:bodyPr wrap="none"/>
                    <a:lstStyle/>
                    <a:p>
                      <a:pPr algn="l"/>
                      <a:r>
                        <a:rPr sz="800" b="0">
                          <a:solidFill>
                            <a:srgbClr val="2E2E2E"/>
                          </a:solidFill>
                          <a:latin typeface="Calibri"/>
                        </a:rPr>
                        <a:t>181.9</a:t>
                      </a:r>
                    </a:p>
                  </a:txBody>
                  <a:tcPr marL="85725" marR="38100" marT="19050" marB="19050" anchor="ctr">
                    <a:solidFill>
                      <a:srgbClr val="FFFFFF"/>
                    </a:solidFill>
                  </a:tcPr>
                </a:tc>
                <a:tc>
                  <a:txBody>
                    <a:bodyPr wrap="none"/>
                    <a:lstStyle/>
                    <a:p>
                      <a:pPr algn="l"/>
                      <a:r>
                        <a:rPr sz="800" b="0">
                          <a:solidFill>
                            <a:srgbClr val="2E2E2E"/>
                          </a:solidFill>
                          <a:latin typeface="Calibri"/>
                        </a:rPr>
                        <a:t>194.3</a:t>
                      </a:r>
                    </a:p>
                  </a:txBody>
                  <a:tcPr marL="85725" marR="38100" marT="19050" marB="19050" anchor="ctr">
                    <a:solidFill>
                      <a:srgbClr val="FFFFFF"/>
                    </a:solidFill>
                  </a:tcPr>
                </a:tc>
                <a:tc>
                  <a:txBody>
                    <a:bodyPr wrap="none"/>
                    <a:lstStyle/>
                    <a:p>
                      <a:pPr algn="l"/>
                      <a:r>
                        <a:rPr sz="800" b="0">
                          <a:solidFill>
                            <a:srgbClr val="2E2E2E"/>
                          </a:solidFill>
                          <a:latin typeface="Calibri"/>
                        </a:rPr>
                        <a:t>207.6</a:t>
                      </a:r>
                    </a:p>
                  </a:txBody>
                  <a:tcPr marL="85725" marR="38100" marT="19050" marB="19050" anchor="ctr">
                    <a:solidFill>
                      <a:srgbClr val="FFFFFF"/>
                    </a:solidFill>
                  </a:tcPr>
                </a:tc>
                <a:tc>
                  <a:txBody>
                    <a:bodyPr wrap="none"/>
                    <a:lstStyle/>
                    <a:p>
                      <a:pPr algn="l"/>
                      <a:r>
                        <a:rPr sz="800" b="0">
                          <a:solidFill>
                            <a:srgbClr val="2E2E2E"/>
                          </a:solidFill>
                          <a:latin typeface="Calibri"/>
                        </a:rPr>
                        <a:t>222.1</a:t>
                      </a:r>
                    </a:p>
                  </a:txBody>
                  <a:tcPr marL="85725" marR="38100" marT="19050" marB="19050" anchor="ctr">
                    <a:solidFill>
                      <a:srgbClr val="FFFFFF"/>
                    </a:solidFill>
                  </a:tcPr>
                </a:tc>
                <a:tc>
                  <a:txBody>
                    <a:bodyPr wrap="none"/>
                    <a:lstStyle/>
                    <a:p>
                      <a:pPr algn="l"/>
                      <a:r>
                        <a:rPr sz="800" b="0">
                          <a:solidFill>
                            <a:srgbClr val="2E2E2E"/>
                          </a:solidFill>
                          <a:latin typeface="Calibri"/>
                        </a:rPr>
                        <a:t>237.8</a:t>
                      </a:r>
                    </a:p>
                  </a:txBody>
                  <a:tcPr marL="85725" marR="38100" marT="19050" marB="19050" anchor="ctr">
                    <a:solidFill>
                      <a:srgbClr val="FFFFFF"/>
                    </a:solidFill>
                  </a:tcPr>
                </a:tc>
                <a:tc>
                  <a:txBody>
                    <a:bodyPr wrap="none"/>
                    <a:lstStyle/>
                    <a:p>
                      <a:pPr algn="l"/>
                      <a:r>
                        <a:rPr sz="800" b="0">
                          <a:solidFill>
                            <a:srgbClr val="2E2E2E"/>
                          </a:solidFill>
                          <a:latin typeface="Calibri"/>
                        </a:rPr>
                        <a:t>254.8</a:t>
                      </a:r>
                    </a:p>
                  </a:txBody>
                  <a:tcPr marL="85725" marR="38100" marT="19050" marB="19050" anchor="ctr">
                    <a:solidFill>
                      <a:srgbClr val="FFFFFF"/>
                    </a:solidFill>
                  </a:tcPr>
                </a:tc>
                <a:tc>
                  <a:txBody>
                    <a:bodyPr wrap="none"/>
                    <a:lstStyle/>
                    <a:p>
                      <a:pPr algn="l"/>
                      <a:r>
                        <a:rPr sz="800" b="0">
                          <a:solidFill>
                            <a:srgbClr val="2E2E2E"/>
                          </a:solidFill>
                          <a:latin typeface="Calibri"/>
                        </a:rPr>
                        <a:t>273.4</a:t>
                      </a:r>
                    </a:p>
                  </a:txBody>
                  <a:tcPr marL="85725" marR="38100" marT="19050" marB="19050" anchor="ctr">
                    <a:solidFill>
                      <a:srgbClr val="FFFFFF"/>
                    </a:solidFill>
                  </a:tcPr>
                </a:tc>
                <a:tc>
                  <a:txBody>
                    <a:bodyPr wrap="none"/>
                    <a:lstStyle/>
                    <a:p>
                      <a:pPr algn="l"/>
                      <a:r>
                        <a:rPr sz="800" b="0">
                          <a:solidFill>
                            <a:srgbClr val="2E2E2E"/>
                          </a:solidFill>
                          <a:latin typeface="Calibri"/>
                        </a:rPr>
                        <a:t>293.2</a:t>
                      </a:r>
                    </a:p>
                  </a:txBody>
                  <a:tcPr marL="85725" marR="38100" marT="19050" marB="19050" anchor="ctr">
                    <a:solidFill>
                      <a:srgbClr val="FFFFFF"/>
                    </a:solidFill>
                  </a:tcPr>
                </a:tc>
                <a:tc>
                  <a:txBody>
                    <a:bodyPr wrap="none"/>
                    <a:lstStyle/>
                    <a:p>
                      <a:pPr algn="l"/>
                      <a:r>
                        <a:rPr sz="800" b="0">
                          <a:solidFill>
                            <a:srgbClr val="2E2E2E"/>
                          </a:solidFill>
                          <a:latin typeface="Calibri"/>
                        </a:rPr>
                        <a:t>315.7</a:t>
                      </a:r>
                    </a:p>
                  </a:txBody>
                  <a:tcPr marL="85725" marR="38100" marT="19050" marB="19050" anchor="ctr">
                    <a:solidFill>
                      <a:srgbClr val="FFFFFF"/>
                    </a:solidFill>
                  </a:tcPr>
                </a:tc>
                <a:tc>
                  <a:txBody>
                    <a:bodyPr wrap="none"/>
                    <a:lstStyle/>
                    <a:p>
                      <a:pPr algn="l"/>
                      <a:r>
                        <a:rPr sz="800" b="0">
                          <a:solidFill>
                            <a:srgbClr val="2E2E2E"/>
                          </a:solidFill>
                          <a:latin typeface="Calibri"/>
                        </a:rPr>
                        <a:t>339.9</a:t>
                      </a:r>
                    </a:p>
                  </a:txBody>
                  <a:tcPr marL="85725" marR="38100" marT="19050" marB="19050" anchor="ctr">
                    <a:solidFill>
                      <a:srgbClr val="FFFFFF"/>
                    </a:solidFill>
                  </a:tcPr>
                </a:tc>
                <a:tc>
                  <a:txBody>
                    <a:bodyPr wrap="none"/>
                    <a:lstStyle/>
                    <a:p>
                      <a:pPr algn="l"/>
                      <a:r>
                        <a:rPr sz="800" b="0">
                          <a:solidFill>
                            <a:srgbClr val="2E2E2E"/>
                          </a:solidFill>
                          <a:latin typeface="Calibri"/>
                        </a:rPr>
                        <a:t>367.6</a:t>
                      </a:r>
                    </a:p>
                  </a:txBody>
                  <a:tcPr marL="85725" marR="38100" marT="19050" marB="19050" anchor="ctr">
                    <a:solidFill>
                      <a:srgbClr val="FFFFFF"/>
                    </a:solidFill>
                  </a:tcPr>
                </a:tc>
                <a:tc>
                  <a:txBody>
                    <a:bodyPr wrap="none"/>
                    <a:lstStyle/>
                    <a:p>
                      <a:pPr algn="l"/>
                      <a:r>
                        <a:rPr sz="800" b="0">
                          <a:solidFill>
                            <a:srgbClr val="2E2E2E"/>
                          </a:solidFill>
                          <a:latin typeface="Calibri"/>
                        </a:rPr>
                        <a:t>7.3%</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0">
                          <a:solidFill>
                            <a:srgbClr val="2E2E2E"/>
                          </a:solidFill>
                          <a:latin typeface="Calibri"/>
                        </a:rPr>
                        <a:t>197.5</a:t>
                      </a:r>
                    </a:p>
                  </a:txBody>
                  <a:tcPr marL="85725" marR="38100" marT="19050" marB="19050" anchor="ctr">
                    <a:solidFill>
                      <a:srgbClr val="F5F8FA"/>
                    </a:solidFill>
                  </a:tcPr>
                </a:tc>
                <a:tc>
                  <a:txBody>
                    <a:bodyPr wrap="none"/>
                    <a:lstStyle/>
                    <a:p>
                      <a:pPr algn="l"/>
                      <a:r>
                        <a:rPr sz="800" b="0">
                          <a:solidFill>
                            <a:srgbClr val="2E2E2E"/>
                          </a:solidFill>
                          <a:latin typeface="Calibri"/>
                        </a:rPr>
                        <a:t>207.0</a:t>
                      </a:r>
                    </a:p>
                  </a:txBody>
                  <a:tcPr marL="85725" marR="38100" marT="19050" marB="19050" anchor="ctr">
                    <a:solidFill>
                      <a:srgbClr val="F5F8FA"/>
                    </a:solidFill>
                  </a:tcPr>
                </a:tc>
                <a:tc>
                  <a:txBody>
                    <a:bodyPr wrap="none"/>
                    <a:lstStyle/>
                    <a:p>
                      <a:pPr algn="l"/>
                      <a:r>
                        <a:rPr sz="800" b="0">
                          <a:solidFill>
                            <a:srgbClr val="2E2E2E"/>
                          </a:solidFill>
                          <a:latin typeface="Calibri"/>
                        </a:rPr>
                        <a:t>217.3</a:t>
                      </a:r>
                    </a:p>
                  </a:txBody>
                  <a:tcPr marL="85725" marR="38100" marT="19050" marB="19050" anchor="ctr">
                    <a:solidFill>
                      <a:srgbClr val="F5F8FA"/>
                    </a:solidFill>
                  </a:tcPr>
                </a:tc>
                <a:tc>
                  <a:txBody>
                    <a:bodyPr wrap="none"/>
                    <a:lstStyle/>
                    <a:p>
                      <a:pPr algn="l"/>
                      <a:r>
                        <a:rPr sz="800" b="0">
                          <a:solidFill>
                            <a:srgbClr val="2E2E2E"/>
                          </a:solidFill>
                          <a:latin typeface="Calibri"/>
                        </a:rPr>
                        <a:t>229.3</a:t>
                      </a:r>
                    </a:p>
                  </a:txBody>
                  <a:tcPr marL="85725" marR="38100" marT="19050" marB="19050" anchor="ctr">
                    <a:solidFill>
                      <a:srgbClr val="F5F8FA"/>
                    </a:solidFill>
                  </a:tcPr>
                </a:tc>
                <a:tc>
                  <a:txBody>
                    <a:bodyPr wrap="none"/>
                    <a:lstStyle/>
                    <a:p>
                      <a:pPr algn="l"/>
                      <a:r>
                        <a:rPr sz="800" b="0">
                          <a:solidFill>
                            <a:srgbClr val="2E2E2E"/>
                          </a:solidFill>
                          <a:latin typeface="Calibri"/>
                        </a:rPr>
                        <a:t>242.0</a:t>
                      </a:r>
                    </a:p>
                  </a:txBody>
                  <a:tcPr marL="85725" marR="38100" marT="19050" marB="19050" anchor="ctr">
                    <a:solidFill>
                      <a:srgbClr val="F5F8FA"/>
                    </a:solidFill>
                  </a:tcPr>
                </a:tc>
                <a:tc>
                  <a:txBody>
                    <a:bodyPr wrap="none"/>
                    <a:lstStyle/>
                    <a:p>
                      <a:pPr algn="l"/>
                      <a:r>
                        <a:rPr sz="800" b="0">
                          <a:solidFill>
                            <a:srgbClr val="2E2E2E"/>
                          </a:solidFill>
                          <a:latin typeface="Calibri"/>
                        </a:rPr>
                        <a:t>256.3</a:t>
                      </a:r>
                    </a:p>
                  </a:txBody>
                  <a:tcPr marL="85725" marR="38100" marT="19050" marB="19050" anchor="ctr">
                    <a:solidFill>
                      <a:srgbClr val="F5F8FA"/>
                    </a:solidFill>
                  </a:tcPr>
                </a:tc>
                <a:tc>
                  <a:txBody>
                    <a:bodyPr wrap="none"/>
                    <a:lstStyle/>
                    <a:p>
                      <a:pPr algn="l"/>
                      <a:r>
                        <a:rPr sz="800" b="0">
                          <a:solidFill>
                            <a:srgbClr val="2E2E2E"/>
                          </a:solidFill>
                          <a:latin typeface="Calibri"/>
                        </a:rPr>
                        <a:t>271.7</a:t>
                      </a:r>
                    </a:p>
                  </a:txBody>
                  <a:tcPr marL="85725" marR="38100" marT="19050" marB="19050" anchor="ctr">
                    <a:solidFill>
                      <a:srgbClr val="F5F8FA"/>
                    </a:solidFill>
                  </a:tcPr>
                </a:tc>
                <a:tc>
                  <a:txBody>
                    <a:bodyPr wrap="none"/>
                    <a:lstStyle/>
                    <a:p>
                      <a:pPr algn="l"/>
                      <a:r>
                        <a:rPr sz="800" b="0">
                          <a:solidFill>
                            <a:srgbClr val="2E2E2E"/>
                          </a:solidFill>
                          <a:latin typeface="Calibri"/>
                        </a:rPr>
                        <a:t>288.0</a:t>
                      </a:r>
                    </a:p>
                  </a:txBody>
                  <a:tcPr marL="85725" marR="38100" marT="19050" marB="19050" anchor="ctr">
                    <a:solidFill>
                      <a:srgbClr val="F5F8FA"/>
                    </a:solidFill>
                  </a:tcPr>
                </a:tc>
                <a:tc>
                  <a:txBody>
                    <a:bodyPr wrap="none"/>
                    <a:lstStyle/>
                    <a:p>
                      <a:pPr algn="l"/>
                      <a:r>
                        <a:rPr sz="800" b="0">
                          <a:solidFill>
                            <a:srgbClr val="2E2E2E"/>
                          </a:solidFill>
                          <a:latin typeface="Calibri"/>
                        </a:rPr>
                        <a:t>305.4</a:t>
                      </a:r>
                    </a:p>
                  </a:txBody>
                  <a:tcPr marL="85725" marR="38100" marT="19050" marB="19050" anchor="ctr">
                    <a:solidFill>
                      <a:srgbClr val="F5F8FA"/>
                    </a:solidFill>
                  </a:tcPr>
                </a:tc>
                <a:tc>
                  <a:txBody>
                    <a:bodyPr wrap="none"/>
                    <a:lstStyle/>
                    <a:p>
                      <a:pPr algn="l"/>
                      <a:r>
                        <a:rPr sz="800" b="0">
                          <a:solidFill>
                            <a:srgbClr val="2E2E2E"/>
                          </a:solidFill>
                          <a:latin typeface="Calibri"/>
                        </a:rPr>
                        <a:t>324.0</a:t>
                      </a:r>
                    </a:p>
                  </a:txBody>
                  <a:tcPr marL="85725" marR="38100" marT="19050" marB="19050" anchor="ctr">
                    <a:solidFill>
                      <a:srgbClr val="F5F8FA"/>
                    </a:solidFill>
                  </a:tcPr>
                </a:tc>
                <a:tc>
                  <a:txBody>
                    <a:bodyPr wrap="none"/>
                    <a:lstStyle/>
                    <a:p>
                      <a:pPr algn="l"/>
                      <a:r>
                        <a:rPr sz="800" b="0">
                          <a:solidFill>
                            <a:srgbClr val="2E2E2E"/>
                          </a:solidFill>
                          <a:latin typeface="Calibri"/>
                        </a:rPr>
                        <a:t>343.7</a:t>
                      </a:r>
                    </a:p>
                  </a:txBody>
                  <a:tcPr marL="85725" marR="38100" marT="19050" marB="19050" anchor="ctr">
                    <a:solidFill>
                      <a:srgbClr val="F5F8FA"/>
                    </a:solidFill>
                  </a:tcPr>
                </a:tc>
                <a:tc>
                  <a:txBody>
                    <a:bodyPr wrap="none"/>
                    <a:lstStyle/>
                    <a:p>
                      <a:pPr algn="l"/>
                      <a:r>
                        <a:rPr sz="800" b="0">
                          <a:solidFill>
                            <a:srgbClr val="2E2E2E"/>
                          </a:solidFill>
                          <a:latin typeface="Calibri"/>
                        </a:rPr>
                        <a:t>364.6</a:t>
                      </a:r>
                    </a:p>
                  </a:txBody>
                  <a:tcPr marL="85725" marR="38100" marT="19050" marB="19050" anchor="ctr">
                    <a:solidFill>
                      <a:srgbClr val="F5F8FA"/>
                    </a:solidFill>
                  </a:tcPr>
                </a:tc>
                <a:tc>
                  <a:txBody>
                    <a:bodyPr wrap="none"/>
                    <a:lstStyle/>
                    <a:p>
                      <a:pPr algn="l"/>
                      <a:r>
                        <a:rPr sz="800" b="0">
                          <a:solidFill>
                            <a:srgbClr val="2E2E2E"/>
                          </a:solidFill>
                          <a:latin typeface="Calibri"/>
                        </a:rPr>
                        <a:t>386.5</a:t>
                      </a:r>
                    </a:p>
                  </a:txBody>
                  <a:tcPr marL="85725" marR="38100" marT="19050" marB="19050" anchor="ctr">
                    <a:solidFill>
                      <a:srgbClr val="F5F8FA"/>
                    </a:solidFill>
                  </a:tcPr>
                </a:tc>
                <a:tc>
                  <a:txBody>
                    <a:bodyPr wrap="none"/>
                    <a:lstStyle/>
                    <a:p>
                      <a:pPr algn="l"/>
                      <a:r>
                        <a:rPr sz="800" b="0">
                          <a:solidFill>
                            <a:srgbClr val="2E2E2E"/>
                          </a:solidFill>
                          <a:latin typeface="Calibri"/>
                        </a:rPr>
                        <a:t>410.8</a:t>
                      </a:r>
                    </a:p>
                  </a:txBody>
                  <a:tcPr marL="85725" marR="38100" marT="19050" marB="19050" anchor="ctr">
                    <a:solidFill>
                      <a:srgbClr val="F5F8FA"/>
                    </a:solidFill>
                  </a:tcPr>
                </a:tc>
                <a:tc>
                  <a:txBody>
                    <a:bodyPr wrap="none"/>
                    <a:lstStyle/>
                    <a:p>
                      <a:pPr algn="l"/>
                      <a:r>
                        <a:rPr sz="800" b="0">
                          <a:solidFill>
                            <a:srgbClr val="2E2E2E"/>
                          </a:solidFill>
                          <a:latin typeface="Calibri"/>
                        </a:rPr>
                        <a:t>436.4</a:t>
                      </a:r>
                    </a:p>
                  </a:txBody>
                  <a:tcPr marL="85725" marR="38100" marT="19050" marB="19050" anchor="ctr">
                    <a:solidFill>
                      <a:srgbClr val="F5F8FA"/>
                    </a:solidFill>
                  </a:tcPr>
                </a:tc>
                <a:tc>
                  <a:txBody>
                    <a:bodyPr wrap="none"/>
                    <a:lstStyle/>
                    <a:p>
                      <a:pPr algn="l"/>
                      <a:r>
                        <a:rPr sz="800" b="0">
                          <a:solidFill>
                            <a:srgbClr val="2E2E2E"/>
                          </a:solidFill>
                          <a:latin typeface="Calibri"/>
                        </a:rPr>
                        <a:t>465.1</a:t>
                      </a:r>
                    </a:p>
                  </a:txBody>
                  <a:tcPr marL="85725" marR="38100" marT="19050" marB="19050" anchor="ctr">
                    <a:solidFill>
                      <a:srgbClr val="F5F8FA"/>
                    </a:solidFill>
                  </a:tcPr>
                </a:tc>
                <a:tc>
                  <a:txBody>
                    <a:bodyPr wrap="none"/>
                    <a:lstStyle/>
                    <a:p>
                      <a:pPr algn="l"/>
                      <a:r>
                        <a:rPr sz="800" b="0">
                          <a:solidFill>
                            <a:srgbClr val="2E2E2E"/>
                          </a:solidFill>
                          <a:latin typeface="Calibri"/>
                        </a:rPr>
                        <a:t>6.1%</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0">
                          <a:solidFill>
                            <a:srgbClr val="2E2E2E"/>
                          </a:solidFill>
                          <a:latin typeface="Calibri"/>
                        </a:rPr>
                        <a:t>64.7</a:t>
                      </a:r>
                    </a:p>
                  </a:txBody>
                  <a:tcPr marL="85725" marR="38100" marT="19050" marB="19050" anchor="ctr">
                    <a:solidFill>
                      <a:srgbClr val="FFFFFF"/>
                    </a:solidFill>
                  </a:tcPr>
                </a:tc>
                <a:tc>
                  <a:txBody>
                    <a:bodyPr wrap="none"/>
                    <a:lstStyle/>
                    <a:p>
                      <a:pPr algn="l"/>
                      <a:r>
                        <a:rPr sz="800" b="0">
                          <a:solidFill>
                            <a:srgbClr val="2E2E2E"/>
                          </a:solidFill>
                          <a:latin typeface="Calibri"/>
                        </a:rPr>
                        <a:t>68.1</a:t>
                      </a:r>
                    </a:p>
                  </a:txBody>
                  <a:tcPr marL="85725" marR="38100" marT="19050" marB="19050" anchor="ctr">
                    <a:solidFill>
                      <a:srgbClr val="FFFFFF"/>
                    </a:solidFill>
                  </a:tcPr>
                </a:tc>
                <a:tc>
                  <a:txBody>
                    <a:bodyPr wrap="none"/>
                    <a:lstStyle/>
                    <a:p>
                      <a:pPr algn="l"/>
                      <a:r>
                        <a:rPr sz="800" b="0">
                          <a:solidFill>
                            <a:srgbClr val="2E2E2E"/>
                          </a:solidFill>
                          <a:latin typeface="Calibri"/>
                        </a:rPr>
                        <a:t>71.8</a:t>
                      </a:r>
                    </a:p>
                  </a:txBody>
                  <a:tcPr marL="85725" marR="38100" marT="19050" marB="19050" anchor="ctr">
                    <a:solidFill>
                      <a:srgbClr val="FFFFFF"/>
                    </a:solidFill>
                  </a:tcPr>
                </a:tc>
                <a:tc>
                  <a:txBody>
                    <a:bodyPr wrap="none"/>
                    <a:lstStyle/>
                    <a:p>
                      <a:pPr algn="l"/>
                      <a:r>
                        <a:rPr sz="800" b="0">
                          <a:solidFill>
                            <a:srgbClr val="2E2E2E"/>
                          </a:solidFill>
                          <a:latin typeface="Calibri"/>
                        </a:rPr>
                        <a:t>76.3</a:t>
                      </a:r>
                    </a:p>
                  </a:txBody>
                  <a:tcPr marL="85725" marR="38100" marT="19050" marB="19050" anchor="ctr">
                    <a:solidFill>
                      <a:srgbClr val="FFFFFF"/>
                    </a:solidFill>
                  </a:tcPr>
                </a:tc>
                <a:tc>
                  <a:txBody>
                    <a:bodyPr wrap="none"/>
                    <a:lstStyle/>
                    <a:p>
                      <a:pPr algn="l"/>
                      <a:r>
                        <a:rPr sz="800" b="0">
                          <a:solidFill>
                            <a:srgbClr val="2E2E2E"/>
                          </a:solidFill>
                          <a:latin typeface="Calibri"/>
                        </a:rPr>
                        <a:t>81.1</a:t>
                      </a:r>
                    </a:p>
                  </a:txBody>
                  <a:tcPr marL="85725" marR="38100" marT="19050" marB="19050" anchor="ctr">
                    <a:solidFill>
                      <a:srgbClr val="FFFFFF"/>
                    </a:solidFill>
                  </a:tcPr>
                </a:tc>
                <a:tc>
                  <a:txBody>
                    <a:bodyPr wrap="none"/>
                    <a:lstStyle/>
                    <a:p>
                      <a:pPr algn="l"/>
                      <a:r>
                        <a:rPr sz="800" b="0">
                          <a:solidFill>
                            <a:srgbClr val="2E2E2E"/>
                          </a:solidFill>
                          <a:latin typeface="Calibri"/>
                        </a:rPr>
                        <a:t>86.6</a:t>
                      </a:r>
                    </a:p>
                  </a:txBody>
                  <a:tcPr marL="85725" marR="38100" marT="19050" marB="19050" anchor="ctr">
                    <a:solidFill>
                      <a:srgbClr val="FFFFFF"/>
                    </a:solidFill>
                  </a:tcPr>
                </a:tc>
                <a:tc>
                  <a:txBody>
                    <a:bodyPr wrap="none"/>
                    <a:lstStyle/>
                    <a:p>
                      <a:pPr algn="l"/>
                      <a:r>
                        <a:rPr sz="800" b="0">
                          <a:solidFill>
                            <a:srgbClr val="2E2E2E"/>
                          </a:solidFill>
                          <a:latin typeface="Calibri"/>
                        </a:rPr>
                        <a:t>92.6</a:t>
                      </a:r>
                    </a:p>
                  </a:txBody>
                  <a:tcPr marL="85725" marR="38100" marT="19050" marB="19050" anchor="ctr">
                    <a:solidFill>
                      <a:srgbClr val="FFFFFF"/>
                    </a:solidFill>
                  </a:tcPr>
                </a:tc>
                <a:tc>
                  <a:txBody>
                    <a:bodyPr wrap="none"/>
                    <a:lstStyle/>
                    <a:p>
                      <a:pPr algn="l"/>
                      <a:r>
                        <a:rPr sz="800" b="0">
                          <a:solidFill>
                            <a:srgbClr val="2E2E2E"/>
                          </a:solidFill>
                          <a:latin typeface="Calibri"/>
                        </a:rPr>
                        <a:t>99.1</a:t>
                      </a:r>
                    </a:p>
                  </a:txBody>
                  <a:tcPr marL="85725" marR="38100" marT="19050" marB="19050" anchor="ctr">
                    <a:solidFill>
                      <a:srgbClr val="FFFFFF"/>
                    </a:solidFill>
                  </a:tcPr>
                </a:tc>
                <a:tc>
                  <a:txBody>
                    <a:bodyPr wrap="none"/>
                    <a:lstStyle/>
                    <a:p>
                      <a:pPr algn="l"/>
                      <a:r>
                        <a:rPr sz="800" b="0">
                          <a:solidFill>
                            <a:srgbClr val="2E2E2E"/>
                          </a:solidFill>
                          <a:latin typeface="Calibri"/>
                        </a:rPr>
                        <a:t>106.2</a:t>
                      </a:r>
                    </a:p>
                  </a:txBody>
                  <a:tcPr marL="85725" marR="38100" marT="19050" marB="19050" anchor="ctr">
                    <a:solidFill>
                      <a:srgbClr val="FFFFFF"/>
                    </a:solidFill>
                  </a:tcPr>
                </a:tc>
                <a:tc>
                  <a:txBody>
                    <a:bodyPr wrap="none"/>
                    <a:lstStyle/>
                    <a:p>
                      <a:pPr algn="l"/>
                      <a:r>
                        <a:rPr sz="800" b="0">
                          <a:solidFill>
                            <a:srgbClr val="2E2E2E"/>
                          </a:solidFill>
                          <a:latin typeface="Calibri"/>
                        </a:rPr>
                        <a:t>113.8</a:t>
                      </a:r>
                    </a:p>
                  </a:txBody>
                  <a:tcPr marL="85725" marR="38100" marT="19050" marB="19050" anchor="ctr">
                    <a:solidFill>
                      <a:srgbClr val="FFFFFF"/>
                    </a:solidFill>
                  </a:tcPr>
                </a:tc>
                <a:tc>
                  <a:txBody>
                    <a:bodyPr wrap="none"/>
                    <a:lstStyle/>
                    <a:p>
                      <a:pPr algn="l"/>
                      <a:r>
                        <a:rPr sz="800" b="0">
                          <a:solidFill>
                            <a:srgbClr val="2E2E2E"/>
                          </a:solidFill>
                          <a:latin typeface="Calibri"/>
                        </a:rPr>
                        <a:t>122.1</a:t>
                      </a:r>
                    </a:p>
                  </a:txBody>
                  <a:tcPr marL="85725" marR="38100" marT="19050" marB="19050" anchor="ctr">
                    <a:solidFill>
                      <a:srgbClr val="FFFFFF"/>
                    </a:solidFill>
                  </a:tcPr>
                </a:tc>
                <a:tc>
                  <a:txBody>
                    <a:bodyPr wrap="none"/>
                    <a:lstStyle/>
                    <a:p>
                      <a:pPr algn="l"/>
                      <a:r>
                        <a:rPr sz="800" b="0">
                          <a:solidFill>
                            <a:srgbClr val="2E2E2E"/>
                          </a:solidFill>
                          <a:latin typeface="Calibri"/>
                        </a:rPr>
                        <a:t>131.1</a:t>
                      </a:r>
                    </a:p>
                  </a:txBody>
                  <a:tcPr marL="85725" marR="38100" marT="19050" marB="19050" anchor="ctr">
                    <a:solidFill>
                      <a:srgbClr val="FFFFFF"/>
                    </a:solidFill>
                  </a:tcPr>
                </a:tc>
                <a:tc>
                  <a:txBody>
                    <a:bodyPr wrap="none"/>
                    <a:lstStyle/>
                    <a:p>
                      <a:pPr algn="l"/>
                      <a:r>
                        <a:rPr sz="800" b="0">
                          <a:solidFill>
                            <a:srgbClr val="2E2E2E"/>
                          </a:solidFill>
                          <a:latin typeface="Calibri"/>
                        </a:rPr>
                        <a:t>140.8</a:t>
                      </a:r>
                    </a:p>
                  </a:txBody>
                  <a:tcPr marL="85725" marR="38100" marT="19050" marB="19050" anchor="ctr">
                    <a:solidFill>
                      <a:srgbClr val="FFFFFF"/>
                    </a:solidFill>
                  </a:tcPr>
                </a:tc>
                <a:tc>
                  <a:txBody>
                    <a:bodyPr wrap="none"/>
                    <a:lstStyle/>
                    <a:p>
                      <a:pPr algn="l"/>
                      <a:r>
                        <a:rPr sz="800" b="0">
                          <a:solidFill>
                            <a:srgbClr val="2E2E2E"/>
                          </a:solidFill>
                          <a:latin typeface="Calibri"/>
                        </a:rPr>
                        <a:t>151.6</a:t>
                      </a:r>
                    </a:p>
                  </a:txBody>
                  <a:tcPr marL="85725" marR="38100" marT="19050" marB="19050" anchor="ctr">
                    <a:solidFill>
                      <a:srgbClr val="FFFFFF"/>
                    </a:solidFill>
                  </a:tcPr>
                </a:tc>
                <a:tc>
                  <a:txBody>
                    <a:bodyPr wrap="none"/>
                    <a:lstStyle/>
                    <a:p>
                      <a:pPr algn="l"/>
                      <a:r>
                        <a:rPr sz="800" b="0">
                          <a:solidFill>
                            <a:srgbClr val="2E2E2E"/>
                          </a:solidFill>
                          <a:latin typeface="Calibri"/>
                        </a:rPr>
                        <a:t>163.3</a:t>
                      </a:r>
                    </a:p>
                  </a:txBody>
                  <a:tcPr marL="85725" marR="38100" marT="19050" marB="19050" anchor="ctr">
                    <a:solidFill>
                      <a:srgbClr val="FFFFFF"/>
                    </a:solidFill>
                  </a:tcPr>
                </a:tc>
                <a:tc>
                  <a:txBody>
                    <a:bodyPr wrap="none"/>
                    <a:lstStyle/>
                    <a:p>
                      <a:pPr algn="l"/>
                      <a:r>
                        <a:rPr sz="800" b="0">
                          <a:solidFill>
                            <a:srgbClr val="2E2E2E"/>
                          </a:solidFill>
                          <a:latin typeface="Calibri"/>
                        </a:rPr>
                        <a:t>176.6</a:t>
                      </a:r>
                    </a:p>
                  </a:txBody>
                  <a:tcPr marL="85725" marR="38100" marT="19050" marB="19050" anchor="ctr">
                    <a:solidFill>
                      <a:srgbClr val="FFFFFF"/>
                    </a:solidFill>
                  </a:tcPr>
                </a:tc>
                <a:tc>
                  <a:txBody>
                    <a:bodyPr wrap="none"/>
                    <a:lstStyle/>
                    <a:p>
                      <a:pPr algn="l"/>
                      <a:r>
                        <a:rPr sz="800" b="0">
                          <a:solidFill>
                            <a:srgbClr val="2E2E2E"/>
                          </a:solidFill>
                          <a:latin typeface="Calibri"/>
                        </a:rPr>
                        <a:t>7.4%</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0">
                          <a:solidFill>
                            <a:srgbClr val="2E2E2E"/>
                          </a:solidFill>
                          <a:latin typeface="Calibri"/>
                        </a:rPr>
                        <a:t>61.7</a:t>
                      </a:r>
                    </a:p>
                  </a:txBody>
                  <a:tcPr marL="85725" marR="38100" marT="19050" marB="19050" anchor="ctr">
                    <a:solidFill>
                      <a:srgbClr val="F5F8FA"/>
                    </a:solidFill>
                  </a:tcPr>
                </a:tc>
                <a:tc>
                  <a:txBody>
                    <a:bodyPr wrap="none"/>
                    <a:lstStyle/>
                    <a:p>
                      <a:pPr algn="l"/>
                      <a:r>
                        <a:rPr sz="800" b="0">
                          <a:solidFill>
                            <a:srgbClr val="2E2E2E"/>
                          </a:solidFill>
                          <a:latin typeface="Calibri"/>
                        </a:rPr>
                        <a:t>69.0</a:t>
                      </a:r>
                    </a:p>
                  </a:txBody>
                  <a:tcPr marL="85725" marR="38100" marT="19050" marB="19050" anchor="ctr">
                    <a:solidFill>
                      <a:srgbClr val="F5F8FA"/>
                    </a:solidFill>
                  </a:tcPr>
                </a:tc>
                <a:tc>
                  <a:txBody>
                    <a:bodyPr wrap="none"/>
                    <a:lstStyle/>
                    <a:p>
                      <a:pPr algn="l"/>
                      <a:r>
                        <a:rPr sz="800" b="0">
                          <a:solidFill>
                            <a:srgbClr val="2E2E2E"/>
                          </a:solidFill>
                          <a:latin typeface="Calibri"/>
                        </a:rPr>
                        <a:t>77.3</a:t>
                      </a:r>
                    </a:p>
                  </a:txBody>
                  <a:tcPr marL="85725" marR="38100" marT="19050" marB="19050" anchor="ctr">
                    <a:solidFill>
                      <a:srgbClr val="F5F8FA"/>
                    </a:solidFill>
                  </a:tcPr>
                </a:tc>
                <a:tc>
                  <a:txBody>
                    <a:bodyPr wrap="none"/>
                    <a:lstStyle/>
                    <a:p>
                      <a:pPr algn="l"/>
                      <a:r>
                        <a:rPr sz="800" b="0">
                          <a:solidFill>
                            <a:srgbClr val="2E2E2E"/>
                          </a:solidFill>
                          <a:latin typeface="Calibri"/>
                        </a:rPr>
                        <a:t>87.1</a:t>
                      </a:r>
                    </a:p>
                  </a:txBody>
                  <a:tcPr marL="85725" marR="38100" marT="19050" marB="19050" anchor="ctr">
                    <a:solidFill>
                      <a:srgbClr val="F5F8FA"/>
                    </a:solidFill>
                  </a:tcPr>
                </a:tc>
                <a:tc>
                  <a:txBody>
                    <a:bodyPr wrap="none"/>
                    <a:lstStyle/>
                    <a:p>
                      <a:pPr algn="l"/>
                      <a:r>
                        <a:rPr sz="800" b="0">
                          <a:solidFill>
                            <a:srgbClr val="2E2E2E"/>
                          </a:solidFill>
                          <a:latin typeface="Calibri"/>
                        </a:rPr>
                        <a:t>98.2</a:t>
                      </a:r>
                    </a:p>
                  </a:txBody>
                  <a:tcPr marL="85725" marR="38100" marT="19050" marB="19050" anchor="ctr">
                    <a:solidFill>
                      <a:srgbClr val="F5F8FA"/>
                    </a:solidFill>
                  </a:tcPr>
                </a:tc>
                <a:tc>
                  <a:txBody>
                    <a:bodyPr wrap="none"/>
                    <a:lstStyle/>
                    <a:p>
                      <a:pPr algn="l"/>
                      <a:r>
                        <a:rPr sz="800" b="0">
                          <a:solidFill>
                            <a:srgbClr val="2E2E2E"/>
                          </a:solidFill>
                          <a:latin typeface="Calibri"/>
                        </a:rPr>
                        <a:t>111.1</a:t>
                      </a:r>
                    </a:p>
                  </a:txBody>
                  <a:tcPr marL="85725" marR="38100" marT="19050" marB="19050" anchor="ctr">
                    <a:solidFill>
                      <a:srgbClr val="F5F8FA"/>
                    </a:solidFill>
                  </a:tcPr>
                </a:tc>
                <a:tc>
                  <a:txBody>
                    <a:bodyPr wrap="none"/>
                    <a:lstStyle/>
                    <a:p>
                      <a:pPr algn="l"/>
                      <a:r>
                        <a:rPr sz="800" b="0">
                          <a:solidFill>
                            <a:srgbClr val="2E2E2E"/>
                          </a:solidFill>
                          <a:latin typeface="Calibri"/>
                        </a:rPr>
                        <a:t>125.7</a:t>
                      </a:r>
                    </a:p>
                  </a:txBody>
                  <a:tcPr marL="85725" marR="38100" marT="19050" marB="19050" anchor="ctr">
                    <a:solidFill>
                      <a:srgbClr val="F5F8FA"/>
                    </a:solidFill>
                  </a:tcPr>
                </a:tc>
                <a:tc>
                  <a:txBody>
                    <a:bodyPr wrap="none"/>
                    <a:lstStyle/>
                    <a:p>
                      <a:pPr algn="l"/>
                      <a:r>
                        <a:rPr sz="800" b="0">
                          <a:solidFill>
                            <a:srgbClr val="2E2E2E"/>
                          </a:solidFill>
                          <a:latin typeface="Calibri"/>
                        </a:rPr>
                        <a:t>142.3</a:t>
                      </a:r>
                    </a:p>
                  </a:txBody>
                  <a:tcPr marL="85725" marR="38100" marT="19050" marB="19050" anchor="ctr">
                    <a:solidFill>
                      <a:srgbClr val="F5F8FA"/>
                    </a:solidFill>
                  </a:tcPr>
                </a:tc>
                <a:tc>
                  <a:txBody>
                    <a:bodyPr wrap="none"/>
                    <a:lstStyle/>
                    <a:p>
                      <a:pPr algn="l"/>
                      <a:r>
                        <a:rPr sz="800" b="0">
                          <a:solidFill>
                            <a:srgbClr val="2E2E2E"/>
                          </a:solidFill>
                          <a:latin typeface="Calibri"/>
                        </a:rPr>
                        <a:t>161.1</a:t>
                      </a:r>
                    </a:p>
                  </a:txBody>
                  <a:tcPr marL="85725" marR="38100" marT="19050" marB="19050" anchor="ctr">
                    <a:solidFill>
                      <a:srgbClr val="F5F8FA"/>
                    </a:solidFill>
                  </a:tcPr>
                </a:tc>
                <a:tc>
                  <a:txBody>
                    <a:bodyPr wrap="none"/>
                    <a:lstStyle/>
                    <a:p>
                      <a:pPr algn="l"/>
                      <a:r>
                        <a:rPr sz="800" b="0">
                          <a:solidFill>
                            <a:srgbClr val="2E2E2E"/>
                          </a:solidFill>
                          <a:latin typeface="Calibri"/>
                        </a:rPr>
                        <a:t>182.5</a:t>
                      </a:r>
                    </a:p>
                  </a:txBody>
                  <a:tcPr marL="85725" marR="38100" marT="19050" marB="19050" anchor="ctr">
                    <a:solidFill>
                      <a:srgbClr val="F5F8FA"/>
                    </a:solidFill>
                  </a:tcPr>
                </a:tc>
                <a:tc>
                  <a:txBody>
                    <a:bodyPr wrap="none"/>
                    <a:lstStyle/>
                    <a:p>
                      <a:pPr algn="l"/>
                      <a:r>
                        <a:rPr sz="800" b="0">
                          <a:solidFill>
                            <a:srgbClr val="2E2E2E"/>
                          </a:solidFill>
                          <a:latin typeface="Calibri"/>
                        </a:rPr>
                        <a:t>206.7</a:t>
                      </a:r>
                    </a:p>
                  </a:txBody>
                  <a:tcPr marL="85725" marR="38100" marT="19050" marB="19050" anchor="ctr">
                    <a:solidFill>
                      <a:srgbClr val="F5F8FA"/>
                    </a:solidFill>
                  </a:tcPr>
                </a:tc>
                <a:tc>
                  <a:txBody>
                    <a:bodyPr wrap="none"/>
                    <a:lstStyle/>
                    <a:p>
                      <a:pPr algn="l"/>
                      <a:r>
                        <a:rPr sz="800" b="0">
                          <a:solidFill>
                            <a:srgbClr val="2E2E2E"/>
                          </a:solidFill>
                          <a:latin typeface="Calibri"/>
                        </a:rPr>
                        <a:t>234.2</a:t>
                      </a:r>
                    </a:p>
                  </a:txBody>
                  <a:tcPr marL="85725" marR="38100" marT="19050" marB="19050" anchor="ctr">
                    <a:solidFill>
                      <a:srgbClr val="F5F8FA"/>
                    </a:solidFill>
                  </a:tcPr>
                </a:tc>
                <a:tc>
                  <a:txBody>
                    <a:bodyPr wrap="none"/>
                    <a:lstStyle/>
                    <a:p>
                      <a:pPr algn="l"/>
                      <a:r>
                        <a:rPr sz="800" b="0">
                          <a:solidFill>
                            <a:srgbClr val="2E2E2E"/>
                          </a:solidFill>
                          <a:latin typeface="Calibri"/>
                        </a:rPr>
                        <a:t>265.1</a:t>
                      </a:r>
                    </a:p>
                  </a:txBody>
                  <a:tcPr marL="85725" marR="38100" marT="19050" marB="19050" anchor="ctr">
                    <a:solidFill>
                      <a:srgbClr val="F5F8FA"/>
                    </a:solidFill>
                  </a:tcPr>
                </a:tc>
                <a:tc>
                  <a:txBody>
                    <a:bodyPr wrap="none"/>
                    <a:lstStyle/>
                    <a:p>
                      <a:pPr algn="l"/>
                      <a:r>
                        <a:rPr sz="800" b="0">
                          <a:solidFill>
                            <a:srgbClr val="2E2E2E"/>
                          </a:solidFill>
                          <a:latin typeface="Calibri"/>
                        </a:rPr>
                        <a:t>301.0</a:t>
                      </a:r>
                    </a:p>
                  </a:txBody>
                  <a:tcPr marL="85725" marR="38100" marT="19050" marB="19050" anchor="ctr">
                    <a:solidFill>
                      <a:srgbClr val="F5F8FA"/>
                    </a:solidFill>
                  </a:tcPr>
                </a:tc>
                <a:tc>
                  <a:txBody>
                    <a:bodyPr wrap="none"/>
                    <a:lstStyle/>
                    <a:p>
                      <a:pPr algn="l"/>
                      <a:r>
                        <a:rPr sz="800" b="0">
                          <a:solidFill>
                            <a:srgbClr val="2E2E2E"/>
                          </a:solidFill>
                          <a:latin typeface="Calibri"/>
                        </a:rPr>
                        <a:t>341.4</a:t>
                      </a:r>
                    </a:p>
                  </a:txBody>
                  <a:tcPr marL="85725" marR="38100" marT="19050" marB="19050" anchor="ctr">
                    <a:solidFill>
                      <a:srgbClr val="F5F8FA"/>
                    </a:solidFill>
                  </a:tcPr>
                </a:tc>
                <a:tc>
                  <a:txBody>
                    <a:bodyPr wrap="none"/>
                    <a:lstStyle/>
                    <a:p>
                      <a:pPr algn="l"/>
                      <a:r>
                        <a:rPr sz="800" b="0">
                          <a:solidFill>
                            <a:srgbClr val="2E2E2E"/>
                          </a:solidFill>
                          <a:latin typeface="Calibri"/>
                        </a:rPr>
                        <a:t>388.6</a:t>
                      </a:r>
                    </a:p>
                  </a:txBody>
                  <a:tcPr marL="85725" marR="38100" marT="19050" marB="19050" anchor="ctr">
                    <a:solidFill>
                      <a:srgbClr val="F5F8FA"/>
                    </a:solidFill>
                  </a:tcPr>
                </a:tc>
                <a:tc>
                  <a:txBody>
                    <a:bodyPr wrap="none"/>
                    <a:lstStyle/>
                    <a:p>
                      <a:pPr algn="l"/>
                      <a:r>
                        <a:rPr sz="800" b="0">
                          <a:solidFill>
                            <a:srgbClr val="2E2E2E"/>
                          </a:solidFill>
                          <a:latin typeface="Calibri"/>
                        </a:rPr>
                        <a:t>13.3%</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Total</a:t>
                      </a:r>
                    </a:p>
                  </a:txBody>
                  <a:tcPr marL="85725" marR="38100" marT="19050" marB="19050" anchor="ctr">
                    <a:solidFill>
                      <a:srgbClr val="E0E8EF"/>
                    </a:solidFill>
                  </a:tcPr>
                </a:tc>
                <a:tc>
                  <a:txBody>
                    <a:bodyPr wrap="none"/>
                    <a:lstStyle/>
                    <a:p>
                      <a:pPr algn="l"/>
                      <a:r>
                        <a:rPr sz="800" b="1">
                          <a:solidFill>
                            <a:srgbClr val="2E2E2E"/>
                          </a:solidFill>
                          <a:latin typeface="Calibri"/>
                        </a:rPr>
                        <a:t>460.7</a:t>
                      </a:r>
                    </a:p>
                  </a:txBody>
                  <a:tcPr marL="85725" marR="38100" marT="19050" marB="19050" anchor="ctr">
                    <a:solidFill>
                      <a:srgbClr val="E0E8EF"/>
                    </a:solidFill>
                  </a:tcPr>
                </a:tc>
                <a:tc>
                  <a:txBody>
                    <a:bodyPr wrap="none"/>
                    <a:lstStyle/>
                    <a:p>
                      <a:pPr algn="l"/>
                      <a:r>
                        <a:rPr sz="800" b="1">
                          <a:solidFill>
                            <a:srgbClr val="2E2E2E"/>
                          </a:solidFill>
                          <a:latin typeface="Calibri"/>
                        </a:rPr>
                        <a:t>487.8</a:t>
                      </a:r>
                    </a:p>
                  </a:txBody>
                  <a:tcPr marL="85725" marR="38100" marT="19050" marB="19050" anchor="ctr">
                    <a:solidFill>
                      <a:srgbClr val="E0E8EF"/>
                    </a:solidFill>
                  </a:tcPr>
                </a:tc>
                <a:tc>
                  <a:txBody>
                    <a:bodyPr wrap="none"/>
                    <a:lstStyle/>
                    <a:p>
                      <a:pPr algn="l"/>
                      <a:r>
                        <a:rPr sz="800" b="1">
                          <a:solidFill>
                            <a:srgbClr val="2E2E2E"/>
                          </a:solidFill>
                          <a:latin typeface="Calibri"/>
                        </a:rPr>
                        <a:t>518.1</a:t>
                      </a:r>
                    </a:p>
                  </a:txBody>
                  <a:tcPr marL="85725" marR="38100" marT="19050" marB="19050" anchor="ctr">
                    <a:solidFill>
                      <a:srgbClr val="E0E8EF"/>
                    </a:solidFill>
                  </a:tcPr>
                </a:tc>
                <a:tc>
                  <a:txBody>
                    <a:bodyPr wrap="none"/>
                    <a:lstStyle/>
                    <a:p>
                      <a:pPr algn="l"/>
                      <a:r>
                        <a:rPr sz="800" b="1">
                          <a:solidFill>
                            <a:srgbClr val="2E2E2E"/>
                          </a:solidFill>
                          <a:latin typeface="Calibri"/>
                        </a:rPr>
                        <a:t>553.5</a:t>
                      </a:r>
                    </a:p>
                  </a:txBody>
                  <a:tcPr marL="85725" marR="38100" marT="19050" marB="19050" anchor="ctr">
                    <a:solidFill>
                      <a:srgbClr val="E0E8EF"/>
                    </a:solidFill>
                  </a:tcPr>
                </a:tc>
                <a:tc>
                  <a:txBody>
                    <a:bodyPr wrap="none"/>
                    <a:lstStyle/>
                    <a:p>
                      <a:pPr algn="l"/>
                      <a:r>
                        <a:rPr sz="800" b="1">
                          <a:solidFill>
                            <a:srgbClr val="2E2E2E"/>
                          </a:solidFill>
                          <a:latin typeface="Calibri"/>
                        </a:rPr>
                        <a:t>592.0</a:t>
                      </a:r>
                    </a:p>
                  </a:txBody>
                  <a:tcPr marL="85725" marR="38100" marT="19050" marB="19050" anchor="ctr">
                    <a:solidFill>
                      <a:srgbClr val="E0E8EF"/>
                    </a:solidFill>
                  </a:tcPr>
                </a:tc>
                <a:tc>
                  <a:txBody>
                    <a:bodyPr wrap="none"/>
                    <a:lstStyle/>
                    <a:p>
                      <a:pPr algn="l"/>
                      <a:r>
                        <a:rPr sz="800" b="1">
                          <a:solidFill>
                            <a:srgbClr val="2E2E2E"/>
                          </a:solidFill>
                          <a:latin typeface="Calibri"/>
                        </a:rPr>
                        <a:t>635.9</a:t>
                      </a:r>
                    </a:p>
                  </a:txBody>
                  <a:tcPr marL="85725" marR="38100" marT="19050" marB="19050" anchor="ctr">
                    <a:solidFill>
                      <a:srgbClr val="E0E8EF"/>
                    </a:solidFill>
                  </a:tcPr>
                </a:tc>
                <a:tc>
                  <a:txBody>
                    <a:bodyPr wrap="none"/>
                    <a:lstStyle/>
                    <a:p>
                      <a:pPr algn="l"/>
                      <a:r>
                        <a:rPr sz="800" b="1">
                          <a:solidFill>
                            <a:srgbClr val="2E2E2E"/>
                          </a:solidFill>
                          <a:latin typeface="Calibri"/>
                        </a:rPr>
                        <a:t>684.3</a:t>
                      </a:r>
                    </a:p>
                  </a:txBody>
                  <a:tcPr marL="85725" marR="38100" marT="19050" marB="19050" anchor="ctr">
                    <a:solidFill>
                      <a:srgbClr val="E0E8EF"/>
                    </a:solidFill>
                  </a:tcPr>
                </a:tc>
                <a:tc>
                  <a:txBody>
                    <a:bodyPr wrap="none"/>
                    <a:lstStyle/>
                    <a:p>
                      <a:pPr algn="l"/>
                      <a:r>
                        <a:rPr sz="800" b="1">
                          <a:solidFill>
                            <a:srgbClr val="2E2E2E"/>
                          </a:solidFill>
                          <a:latin typeface="Calibri"/>
                        </a:rPr>
                        <a:t>737.0</a:t>
                      </a:r>
                    </a:p>
                  </a:txBody>
                  <a:tcPr marL="85725" marR="38100" marT="19050" marB="19050" anchor="ctr">
                    <a:solidFill>
                      <a:srgbClr val="E0E8EF"/>
                    </a:solidFill>
                  </a:tcPr>
                </a:tc>
                <a:tc>
                  <a:txBody>
                    <a:bodyPr wrap="none"/>
                    <a:lstStyle/>
                    <a:p>
                      <a:pPr algn="l"/>
                      <a:r>
                        <a:rPr sz="800" b="1">
                          <a:solidFill>
                            <a:srgbClr val="2E2E2E"/>
                          </a:solidFill>
                          <a:latin typeface="Calibri"/>
                        </a:rPr>
                        <a:t>794.8</a:t>
                      </a:r>
                    </a:p>
                  </a:txBody>
                  <a:tcPr marL="85725" marR="38100" marT="19050" marB="19050" anchor="ctr">
                    <a:solidFill>
                      <a:srgbClr val="E0E8EF"/>
                    </a:solidFill>
                  </a:tcPr>
                </a:tc>
                <a:tc>
                  <a:txBody>
                    <a:bodyPr wrap="none"/>
                    <a:lstStyle/>
                    <a:p>
                      <a:pPr algn="l"/>
                      <a:r>
                        <a:rPr sz="800" b="1">
                          <a:solidFill>
                            <a:srgbClr val="2E2E2E"/>
                          </a:solidFill>
                          <a:latin typeface="Calibri"/>
                        </a:rPr>
                        <a:t>858.1</a:t>
                      </a:r>
                    </a:p>
                  </a:txBody>
                  <a:tcPr marL="85725" marR="38100" marT="19050" marB="19050" anchor="ctr">
                    <a:solidFill>
                      <a:srgbClr val="E0E8EF"/>
                    </a:solidFill>
                  </a:tcPr>
                </a:tc>
                <a:tc>
                  <a:txBody>
                    <a:bodyPr wrap="none"/>
                    <a:lstStyle/>
                    <a:p>
                      <a:pPr algn="l"/>
                      <a:r>
                        <a:rPr sz="800" b="1">
                          <a:solidFill>
                            <a:srgbClr val="2E2E2E"/>
                          </a:solidFill>
                          <a:latin typeface="Calibri"/>
                        </a:rPr>
                        <a:t>927.4</a:t>
                      </a:r>
                    </a:p>
                  </a:txBody>
                  <a:tcPr marL="85725" marR="38100" marT="19050" marB="19050" anchor="ctr">
                    <a:solidFill>
                      <a:srgbClr val="E0E8EF"/>
                    </a:solidFill>
                  </a:tcPr>
                </a:tc>
                <a:tc>
                  <a:txBody>
                    <a:bodyPr wrap="none"/>
                    <a:lstStyle/>
                    <a:p>
                      <a:pPr algn="l"/>
                      <a:r>
                        <a:rPr sz="800" b="1">
                          <a:solidFill>
                            <a:srgbClr val="2E2E2E"/>
                          </a:solidFill>
                          <a:latin typeface="Calibri"/>
                        </a:rPr>
                        <a:t>1,003</a:t>
                      </a:r>
                    </a:p>
                  </a:txBody>
                  <a:tcPr marL="85725" marR="38100" marT="19050" marB="19050" anchor="ctr">
                    <a:solidFill>
                      <a:srgbClr val="E0E8EF"/>
                    </a:solidFill>
                  </a:tcPr>
                </a:tc>
                <a:tc>
                  <a:txBody>
                    <a:bodyPr wrap="none"/>
                    <a:lstStyle/>
                    <a:p>
                      <a:pPr algn="l"/>
                      <a:r>
                        <a:rPr sz="800" b="1">
                          <a:solidFill>
                            <a:srgbClr val="2E2E2E"/>
                          </a:solidFill>
                          <a:latin typeface="Calibri"/>
                        </a:rPr>
                        <a:t>1,086</a:t>
                      </a:r>
                    </a:p>
                  </a:txBody>
                  <a:tcPr marL="85725" marR="38100" marT="19050" marB="19050" anchor="ctr">
                    <a:solidFill>
                      <a:srgbClr val="E0E8EF"/>
                    </a:solidFill>
                  </a:tcPr>
                </a:tc>
                <a:tc>
                  <a:txBody>
                    <a:bodyPr wrap="none"/>
                    <a:lstStyle/>
                    <a:p>
                      <a:pPr algn="l"/>
                      <a:r>
                        <a:rPr sz="800" b="1">
                          <a:solidFill>
                            <a:srgbClr val="2E2E2E"/>
                          </a:solidFill>
                          <a:latin typeface="Calibri"/>
                        </a:rPr>
                        <a:t>1,179</a:t>
                      </a:r>
                    </a:p>
                  </a:txBody>
                  <a:tcPr marL="85725" marR="38100" marT="19050" marB="19050" anchor="ctr">
                    <a:solidFill>
                      <a:srgbClr val="E0E8EF"/>
                    </a:solidFill>
                  </a:tcPr>
                </a:tc>
                <a:tc>
                  <a:txBody>
                    <a:bodyPr wrap="none"/>
                    <a:lstStyle/>
                    <a:p>
                      <a:pPr algn="l"/>
                      <a:r>
                        <a:rPr sz="800" b="1">
                          <a:solidFill>
                            <a:srgbClr val="2E2E2E"/>
                          </a:solidFill>
                          <a:latin typeface="Calibri"/>
                        </a:rPr>
                        <a:t>1,281</a:t>
                      </a:r>
                    </a:p>
                  </a:txBody>
                  <a:tcPr marL="85725" marR="38100" marT="19050" marB="19050" anchor="ctr">
                    <a:solidFill>
                      <a:srgbClr val="E0E8EF"/>
                    </a:solidFill>
                  </a:tcPr>
                </a:tc>
                <a:tc>
                  <a:txBody>
                    <a:bodyPr wrap="none"/>
                    <a:lstStyle/>
                    <a:p>
                      <a:pPr algn="l"/>
                      <a:r>
                        <a:rPr sz="800" b="1">
                          <a:solidFill>
                            <a:srgbClr val="2E2E2E"/>
                          </a:solidFill>
                          <a:latin typeface="Calibri"/>
                        </a:rPr>
                        <a:t>1,398</a:t>
                      </a:r>
                    </a:p>
                  </a:txBody>
                  <a:tcPr marL="85725" marR="38100" marT="19050" marB="19050" anchor="ctr">
                    <a:solidFill>
                      <a:srgbClr val="E0E8EF"/>
                    </a:solidFill>
                  </a:tcPr>
                </a:tc>
                <a:tc>
                  <a:txBody>
                    <a:bodyPr wrap="none"/>
                    <a:lstStyle/>
                    <a:p>
                      <a:pPr algn="l"/>
                      <a:r>
                        <a:rPr sz="800" b="1">
                          <a:solidFill>
                            <a:srgbClr val="2E2E2E"/>
                          </a:solidFill>
                          <a:latin typeface="Calibri"/>
                        </a:rPr>
                        <a:t>8.2%</a:t>
                      </a:r>
                    </a:p>
                  </a:txBody>
                  <a:tcPr marL="85725" marR="38100" marT="19050" marB="19050" anchor="ctr">
                    <a:solidFill>
                      <a:srgbClr val="E0E8EF"/>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United States YoY Analysis Distribution Channel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United States year-on-year volume and value growth by Distribution Channel, highlighting acceleration and slowdown</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United States</a:t>
            </a:r>
          </a:p>
        </p:txBody>
      </p:sp>
      <p:sp>
        <p:nvSpPr>
          <p:cNvPr id="12" name="Rounded Rectangle 11"/>
          <p:cNvSpPr/>
          <p:nvPr/>
        </p:nvSpPr>
        <p:spPr>
          <a:xfrm>
            <a:off x="142875" y="857250"/>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Volume YoY, By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4" name="Table 13"/>
          <p:cNvGraphicFramePr>
            <a:graphicFrameLocks noGrp="1"/>
          </p:cNvGraphicFramePr>
          <p:nvPr/>
        </p:nvGraphicFramePr>
        <p:xfrm>
          <a:off x="238125" y="1143000"/>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6.7%</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6.4%</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5.7%</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5.3%</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c>
                  <a:txBody>
                    <a:bodyPr wrap="none"/>
                    <a:lstStyle/>
                    <a:p>
                      <a:pPr algn="l"/>
                      <a:r>
                        <a:rPr sz="800" b="1">
                          <a:solidFill>
                            <a:srgbClr val="A86F00"/>
                          </a:solidFill>
                          <a:latin typeface="Calibri"/>
                        </a:rPr>
                        <a:t>▶ 4.5%</a:t>
                      </a:r>
                    </a:p>
                  </a:txBody>
                  <a:tcPr marL="85725" marR="38100" marT="19050" marB="19050" anchor="ctr">
                    <a:solidFill>
                      <a:srgbClr val="F5F8FA"/>
                    </a:solidFill>
                  </a:tcPr>
                </a:tc>
                <a:tc>
                  <a:txBody>
                    <a:bodyPr wrap="none"/>
                    <a:lstStyle/>
                    <a:p>
                      <a:pPr algn="l"/>
                      <a:r>
                        <a:rPr sz="800" b="1">
                          <a:solidFill>
                            <a:srgbClr val="A86F00"/>
                          </a:solidFill>
                          <a:latin typeface="Calibri"/>
                        </a:rPr>
                        <a:t>▶ 4.6%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6.5%</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5.9%</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13.0%</a:t>
                      </a:r>
                    </a:p>
                  </a:txBody>
                  <a:tcPr marL="85725" marR="38100" marT="19050" marB="19050" anchor="ctr">
                    <a:solidFill>
                      <a:srgbClr val="F5F8FA"/>
                    </a:solidFill>
                  </a:tcPr>
                </a:tc>
                <a:tc>
                  <a:txBody>
                    <a:bodyPr wrap="none"/>
                    <a:lstStyle/>
                    <a:p>
                      <a:pPr algn="l"/>
                      <a:r>
                        <a:rPr sz="800" b="1">
                          <a:solidFill>
                            <a:srgbClr val="2E7D32"/>
                          </a:solidFill>
                          <a:latin typeface="Calibri"/>
                        </a:rPr>
                        <a:t>▲ 12.9%</a:t>
                      </a:r>
                    </a:p>
                  </a:txBody>
                  <a:tcPr marL="85725" marR="38100" marT="19050" marB="19050" anchor="ctr">
                    <a:solidFill>
                      <a:srgbClr val="F5F8FA"/>
                    </a:solidFill>
                  </a:tcPr>
                </a:tc>
                <a:tc>
                  <a:txBody>
                    <a:bodyPr wrap="none"/>
                    <a:lstStyle/>
                    <a:p>
                      <a:pPr algn="l"/>
                      <a:r>
                        <a:rPr sz="800" b="1">
                          <a:solidFill>
                            <a:srgbClr val="2E7D32"/>
                          </a:solidFill>
                          <a:latin typeface="Calibri"/>
                        </a:rPr>
                        <a:t>▲ 12.6%</a:t>
                      </a:r>
                    </a:p>
                  </a:txBody>
                  <a:tcPr marL="85725" marR="38100" marT="19050" marB="19050" anchor="ctr">
                    <a:solidFill>
                      <a:srgbClr val="F5F8FA"/>
                    </a:solidFill>
                  </a:tcPr>
                </a:tc>
                <a:tc>
                  <a:txBody>
                    <a:bodyPr wrap="none"/>
                    <a:lstStyle/>
                    <a:p>
                      <a:pPr algn="l"/>
                      <a:r>
                        <a:rPr sz="800" b="1">
                          <a:solidFill>
                            <a:srgbClr val="2E7D32"/>
                          </a:solidFill>
                          <a:latin typeface="Calibri"/>
                        </a:rPr>
                        <a:t>▲ 12.4%</a:t>
                      </a:r>
                    </a:p>
                  </a:txBody>
                  <a:tcPr marL="85725" marR="38100" marT="19050" marB="19050" anchor="ctr">
                    <a:solidFill>
                      <a:srgbClr val="F5F8FA"/>
                    </a:solidFill>
                  </a:tcPr>
                </a:tc>
                <a:tc>
                  <a:txBody>
                    <a:bodyPr wrap="none"/>
                    <a:lstStyle/>
                    <a:p>
                      <a:pPr algn="l"/>
                      <a:r>
                        <a:rPr sz="800" b="1">
                          <a:solidFill>
                            <a:srgbClr val="2E7D32"/>
                          </a:solidFill>
                          <a:latin typeface="Calibri"/>
                        </a:rPr>
                        <a:t>▲ 12.2%</a:t>
                      </a:r>
                    </a:p>
                  </a:txBody>
                  <a:tcPr marL="85725" marR="38100" marT="19050" marB="19050" anchor="ctr">
                    <a:solidFill>
                      <a:srgbClr val="F5F8FA"/>
                    </a:solidFill>
                  </a:tcPr>
                </a:tc>
                <a:tc>
                  <a:txBody>
                    <a:bodyPr wrap="none"/>
                    <a:lstStyle/>
                    <a:p>
                      <a:pPr algn="l"/>
                      <a:r>
                        <a:rPr sz="800" b="1">
                          <a:solidFill>
                            <a:srgbClr val="2E7D32"/>
                          </a:solidFill>
                          <a:latin typeface="Calibri"/>
                        </a:rPr>
                        <a:t>▲ 11.9%</a:t>
                      </a:r>
                    </a:p>
                  </a:txBody>
                  <a:tcPr marL="85725" marR="38100" marT="19050" marB="19050" anchor="ctr">
                    <a:solidFill>
                      <a:srgbClr val="F5F8FA"/>
                    </a:solidFill>
                  </a:tcPr>
                </a:tc>
                <a:tc>
                  <a:txBody>
                    <a:bodyPr wrap="none"/>
                    <a:lstStyle/>
                    <a:p>
                      <a:pPr algn="l"/>
                      <a:r>
                        <a:rPr sz="800" b="1">
                          <a:solidFill>
                            <a:srgbClr val="2E7D32"/>
                          </a:solidFill>
                          <a:latin typeface="Calibri"/>
                        </a:rPr>
                        <a:t>▲ 12.0%</a:t>
                      </a:r>
                    </a:p>
                  </a:txBody>
                  <a:tcPr marL="85725" marR="38100" marT="19050" marB="19050" anchor="ctr">
                    <a:solidFill>
                      <a:srgbClr val="F5F8FA"/>
                    </a:solidFill>
                  </a:tcPr>
                </a:tc>
                <a:tc>
                  <a:txBody>
                    <a:bodyPr wrap="none"/>
                    <a:lstStyle/>
                    <a:p>
                      <a:pPr algn="l"/>
                      <a:r>
                        <a:rPr sz="800" b="1">
                          <a:solidFill>
                            <a:srgbClr val="2E7D32"/>
                          </a:solidFill>
                          <a:latin typeface="Calibri"/>
                        </a:rPr>
                        <a:t>▲ 11.6%</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r>
            </a:tbl>
          </a:graphicData>
        </a:graphic>
      </p:graphicFrame>
      <p:sp>
        <p:nvSpPr>
          <p:cNvPr id="15" name="TextBox 14"/>
          <p:cNvSpPr txBox="1"/>
          <p:nvPr/>
        </p:nvSpPr>
        <p:spPr>
          <a:xfrm>
            <a:off x="219075" y="3581400"/>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857625"/>
            <a:ext cx="11906250" cy="2867025"/>
          </a:xfrm>
          <a:prstGeom prst="roundRect">
            <a:avLst>
              <a:gd name="adj" fmla="val 265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914775"/>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United States Value YoY, By Distribution Channel (%)  ·  </a:t>
            </a:r>
            <a:r>
              <a:rPr sz="1200" b="1">
                <a:solidFill>
                  <a:srgbClr val="2E7D32"/>
                </a:solidFill>
                <a:latin typeface="Calibri"/>
              </a:rPr>
              <a:t>▲ outpacing market  </a:t>
            </a:r>
            <a:r>
              <a:rPr sz="1200" b="1">
                <a:solidFill>
                  <a:srgbClr val="A86F00"/>
                </a:solidFill>
                <a:latin typeface="Calibri"/>
              </a:rPr>
              <a:t>▶ below market pace  </a:t>
            </a:r>
            <a:r>
              <a:rPr sz="1200" b="1">
                <a:solidFill>
                  <a:srgbClr val="E44D3A"/>
                </a:solidFill>
                <a:latin typeface="Calibri"/>
              </a:rPr>
              <a:t>▼ decline</a:t>
            </a:r>
          </a:p>
        </p:txBody>
      </p:sp>
      <p:graphicFrame>
        <p:nvGraphicFramePr>
          <p:cNvPr id="18" name="Table 17"/>
          <p:cNvGraphicFramePr>
            <a:graphicFrameLocks noGrp="1"/>
          </p:cNvGraphicFramePr>
          <p:nvPr/>
        </p:nvGraphicFramePr>
        <p:xfrm>
          <a:off x="238125" y="4143375"/>
          <a:ext cx="11715750" cy="904875"/>
        </p:xfrm>
        <a:graphic>
          <a:graphicData uri="http://schemas.openxmlformats.org/drawingml/2006/table">
            <a:tbl>
              <a:tblPr>
                <a:tableStyleId>{5C22544A-7EE6-4342-B048-85BDC9FD1C3A}</a:tableStyleId>
              </a:tblPr>
              <a:tblGrid>
                <a:gridCol w="1874520"/>
                <a:gridCol w="656082"/>
                <a:gridCol w="656082"/>
                <a:gridCol w="656082"/>
                <a:gridCol w="656082"/>
                <a:gridCol w="656082"/>
                <a:gridCol w="656082"/>
                <a:gridCol w="656082"/>
                <a:gridCol w="656082"/>
                <a:gridCol w="656082"/>
                <a:gridCol w="656082"/>
                <a:gridCol w="656082"/>
                <a:gridCol w="656082"/>
                <a:gridCol w="656082"/>
                <a:gridCol w="656082"/>
                <a:gridCol w="656082"/>
              </a:tblGrid>
              <a:tr h="180975">
                <a:tc>
                  <a:txBody>
                    <a:bodyPr wrap="none"/>
                    <a:lstStyle/>
                    <a:p>
                      <a:pPr algn="l"/>
                      <a:r>
                        <a:rPr sz="800" b="1">
                          <a:solidFill>
                            <a:srgbClr val="0B2E4A"/>
                          </a:solidFill>
                          <a:latin typeface="Calibri"/>
                        </a:rPr>
                        <a:t>Distribution Channel</a:t>
                      </a:r>
                    </a:p>
                  </a:txBody>
                  <a:tcPr marL="85725" marR="38100" marT="19050" marB="19050" anchor="ctr">
                    <a:solidFill>
                      <a:srgbClr val="E0E8EF"/>
                    </a:solidFill>
                  </a:tcPr>
                </a:tc>
                <a:tc>
                  <a:txBody>
                    <a:bodyPr wrap="none"/>
                    <a:lstStyle/>
                    <a:p>
                      <a:pPr algn="l"/>
                      <a:r>
                        <a:rPr sz="800" b="1">
                          <a:solidFill>
                            <a:srgbClr val="0B2E4A"/>
                          </a:solidFill>
                          <a:latin typeface="Calibri"/>
                        </a:rPr>
                        <a:t>2022</a:t>
                      </a:r>
                    </a:p>
                  </a:txBody>
                  <a:tcPr marL="85725" marR="38100" marT="19050" marB="19050" anchor="ctr">
                    <a:solidFill>
                      <a:srgbClr val="E0E8EF"/>
                    </a:solidFill>
                  </a:tcPr>
                </a:tc>
                <a:tc>
                  <a:txBody>
                    <a:bodyPr wrap="none"/>
                    <a:lstStyle/>
                    <a:p>
                      <a:pPr algn="l"/>
                      <a:r>
                        <a:rPr sz="800" b="1">
                          <a:solidFill>
                            <a:srgbClr val="0B2E4A"/>
                          </a:solidFill>
                          <a:latin typeface="Calibri"/>
                        </a:rPr>
                        <a:t>2023</a:t>
                      </a:r>
                    </a:p>
                  </a:txBody>
                  <a:tcPr marL="85725" marR="38100" marT="19050" marB="19050" anchor="ctr">
                    <a:solidFill>
                      <a:srgbClr val="E0E8EF"/>
                    </a:solidFill>
                  </a:tcPr>
                </a:tc>
                <a:tc>
                  <a:txBody>
                    <a:bodyPr wrap="none"/>
                    <a:lstStyle/>
                    <a:p>
                      <a:pPr algn="l"/>
                      <a:r>
                        <a:rPr sz="800" b="1">
                          <a:solidFill>
                            <a:srgbClr val="0B2E4A"/>
                          </a:solidFill>
                          <a:latin typeface="Calibri"/>
                        </a:rPr>
                        <a:t>2024</a:t>
                      </a:r>
                    </a:p>
                  </a:txBody>
                  <a:tcPr marL="85725" marR="38100" marT="19050" marB="19050" anchor="ctr">
                    <a:solidFill>
                      <a:srgbClr val="E0E8EF"/>
                    </a:solidFill>
                  </a:tcPr>
                </a:tc>
                <a:tc>
                  <a:txBody>
                    <a:bodyPr wrap="none"/>
                    <a:lstStyle/>
                    <a:p>
                      <a:pPr algn="l"/>
                      <a:r>
                        <a:rPr sz="800" b="1">
                          <a:solidFill>
                            <a:srgbClr val="0B2E4A"/>
                          </a:solidFill>
                          <a:latin typeface="Calibri"/>
                        </a:rPr>
                        <a:t>2025</a:t>
                      </a:r>
                    </a:p>
                  </a:txBody>
                  <a:tcPr marL="85725" marR="38100" marT="19050" marB="19050" anchor="ctr">
                    <a:solidFill>
                      <a:srgbClr val="E0E8EF"/>
                    </a:solidFill>
                  </a:tcPr>
                </a:tc>
                <a:tc>
                  <a:txBody>
                    <a:bodyPr wrap="none"/>
                    <a:lstStyle/>
                    <a:p>
                      <a:pPr algn="l"/>
                      <a:r>
                        <a:rPr sz="800" b="1">
                          <a:solidFill>
                            <a:srgbClr val="0B2E4A"/>
                          </a:solidFill>
                          <a:latin typeface="Calibri"/>
                        </a:rPr>
                        <a:t>2026</a:t>
                      </a:r>
                    </a:p>
                  </a:txBody>
                  <a:tcPr marL="85725" marR="38100" marT="19050" marB="19050" anchor="ctr">
                    <a:solidFill>
                      <a:srgbClr val="E0E8EF"/>
                    </a:solidFill>
                  </a:tcPr>
                </a:tc>
                <a:tc>
                  <a:txBody>
                    <a:bodyPr wrap="none"/>
                    <a:lstStyle/>
                    <a:p>
                      <a:pPr algn="l"/>
                      <a:r>
                        <a:rPr sz="800" b="1">
                          <a:solidFill>
                            <a:srgbClr val="0B2E4A"/>
                          </a:solidFill>
                          <a:latin typeface="Calibri"/>
                        </a:rPr>
                        <a:t>2027</a:t>
                      </a:r>
                    </a:p>
                  </a:txBody>
                  <a:tcPr marL="85725" marR="38100" marT="19050" marB="19050" anchor="ctr">
                    <a:solidFill>
                      <a:srgbClr val="E0E8EF"/>
                    </a:solidFill>
                  </a:tcPr>
                </a:tc>
                <a:tc>
                  <a:txBody>
                    <a:bodyPr wrap="none"/>
                    <a:lstStyle/>
                    <a:p>
                      <a:pPr algn="l"/>
                      <a:r>
                        <a:rPr sz="800" b="1">
                          <a:solidFill>
                            <a:srgbClr val="0B2E4A"/>
                          </a:solidFill>
                          <a:latin typeface="Calibri"/>
                        </a:rPr>
                        <a:t>2028</a:t>
                      </a:r>
                    </a:p>
                  </a:txBody>
                  <a:tcPr marL="85725" marR="38100" marT="19050" marB="19050" anchor="ctr">
                    <a:solidFill>
                      <a:srgbClr val="E0E8EF"/>
                    </a:solidFill>
                  </a:tcPr>
                </a:tc>
                <a:tc>
                  <a:txBody>
                    <a:bodyPr wrap="none"/>
                    <a:lstStyle/>
                    <a:p>
                      <a:pPr algn="l"/>
                      <a:r>
                        <a:rPr sz="800" b="1">
                          <a:solidFill>
                            <a:srgbClr val="0B2E4A"/>
                          </a:solidFill>
                          <a:latin typeface="Calibri"/>
                        </a:rPr>
                        <a:t>2029</a:t>
                      </a:r>
                    </a:p>
                  </a:txBody>
                  <a:tcPr marL="85725" marR="38100" marT="19050" marB="19050" anchor="ctr">
                    <a:solidFill>
                      <a:srgbClr val="E0E8EF"/>
                    </a:solidFill>
                  </a:tcPr>
                </a:tc>
                <a:tc>
                  <a:txBody>
                    <a:bodyPr wrap="none"/>
                    <a:lstStyle/>
                    <a:p>
                      <a:pPr algn="l"/>
                      <a:r>
                        <a:rPr sz="800" b="1">
                          <a:solidFill>
                            <a:srgbClr val="0B2E4A"/>
                          </a:solidFill>
                          <a:latin typeface="Calibri"/>
                        </a:rPr>
                        <a:t>2030</a:t>
                      </a:r>
                    </a:p>
                  </a:txBody>
                  <a:tcPr marL="85725" marR="38100" marT="19050" marB="19050" anchor="ctr">
                    <a:solidFill>
                      <a:srgbClr val="E0E8EF"/>
                    </a:solidFill>
                  </a:tcPr>
                </a:tc>
                <a:tc>
                  <a:txBody>
                    <a:bodyPr wrap="none"/>
                    <a:lstStyle/>
                    <a:p>
                      <a:pPr algn="l"/>
                      <a:r>
                        <a:rPr sz="800" b="1">
                          <a:solidFill>
                            <a:srgbClr val="0B2E4A"/>
                          </a:solidFill>
                          <a:latin typeface="Calibri"/>
                        </a:rPr>
                        <a:t>2031</a:t>
                      </a:r>
                    </a:p>
                  </a:txBody>
                  <a:tcPr marL="85725" marR="38100" marT="19050" marB="19050" anchor="ctr">
                    <a:solidFill>
                      <a:srgbClr val="E0E8EF"/>
                    </a:solidFill>
                  </a:tcPr>
                </a:tc>
                <a:tc>
                  <a:txBody>
                    <a:bodyPr wrap="none"/>
                    <a:lstStyle/>
                    <a:p>
                      <a:pPr algn="l"/>
                      <a:r>
                        <a:rPr sz="800" b="1">
                          <a:solidFill>
                            <a:srgbClr val="0B2E4A"/>
                          </a:solidFill>
                          <a:latin typeface="Calibri"/>
                        </a:rPr>
                        <a:t>2032</a:t>
                      </a:r>
                    </a:p>
                  </a:txBody>
                  <a:tcPr marL="85725" marR="38100" marT="19050" marB="19050" anchor="ctr">
                    <a:solidFill>
                      <a:srgbClr val="E0E8EF"/>
                    </a:solidFill>
                  </a:tcPr>
                </a:tc>
                <a:tc>
                  <a:txBody>
                    <a:bodyPr wrap="none"/>
                    <a:lstStyle/>
                    <a:p>
                      <a:pPr algn="l"/>
                      <a:r>
                        <a:rPr sz="800" b="1">
                          <a:solidFill>
                            <a:srgbClr val="0B2E4A"/>
                          </a:solidFill>
                          <a:latin typeface="Calibri"/>
                        </a:rPr>
                        <a:t>2033</a:t>
                      </a:r>
                    </a:p>
                  </a:txBody>
                  <a:tcPr marL="85725" marR="38100" marT="19050" marB="19050" anchor="ctr">
                    <a:solidFill>
                      <a:srgbClr val="E0E8EF"/>
                    </a:solidFill>
                  </a:tcPr>
                </a:tc>
                <a:tc>
                  <a:txBody>
                    <a:bodyPr wrap="none"/>
                    <a:lstStyle/>
                    <a:p>
                      <a:pPr algn="l"/>
                      <a:r>
                        <a:rPr sz="800" b="1">
                          <a:solidFill>
                            <a:srgbClr val="0B2E4A"/>
                          </a:solidFill>
                          <a:latin typeface="Calibri"/>
                        </a:rPr>
                        <a:t>2034</a:t>
                      </a:r>
                    </a:p>
                  </a:txBody>
                  <a:tcPr marL="85725" marR="38100" marT="19050" marB="19050" anchor="ctr">
                    <a:solidFill>
                      <a:srgbClr val="E0E8EF"/>
                    </a:solidFill>
                  </a:tcPr>
                </a:tc>
                <a:tc>
                  <a:txBody>
                    <a:bodyPr wrap="none"/>
                    <a:lstStyle/>
                    <a:p>
                      <a:pPr algn="l"/>
                      <a:r>
                        <a:rPr sz="800" b="1">
                          <a:solidFill>
                            <a:srgbClr val="0B2E4A"/>
                          </a:solidFill>
                          <a:latin typeface="Calibri"/>
                        </a:rPr>
                        <a:t>2035</a:t>
                      </a:r>
                    </a:p>
                  </a:txBody>
                  <a:tcPr marL="85725" marR="38100" marT="19050" marB="19050" anchor="ctr">
                    <a:solidFill>
                      <a:srgbClr val="E0E8EF"/>
                    </a:solidFill>
                  </a:tcPr>
                </a:tc>
                <a:tc>
                  <a:txBody>
                    <a:bodyPr wrap="none"/>
                    <a:lstStyle/>
                    <a:p>
                      <a:pPr algn="l"/>
                      <a:r>
                        <a:rPr sz="800" b="1">
                          <a:solidFill>
                            <a:srgbClr val="0B2E4A"/>
                          </a:solidFill>
                          <a:latin typeface="Calibri"/>
                        </a:rPr>
                        <a:t>2036</a:t>
                      </a:r>
                    </a:p>
                  </a:txBody>
                  <a:tcPr marL="85725" marR="38100" marT="19050" marB="19050" anchor="ctr">
                    <a:solidFill>
                      <a:srgbClr val="E0E8EF"/>
                    </a:solidFill>
                  </a:tcPr>
                </a:tc>
              </a:tr>
              <a:tr h="180975">
                <a:tc>
                  <a:txBody>
                    <a:bodyPr wrap="none"/>
                    <a:lstStyle/>
                    <a:p>
                      <a:pPr algn="l"/>
                      <a:r>
                        <a:rPr sz="800" b="1">
                          <a:solidFill>
                            <a:srgbClr val="2E2E2E"/>
                          </a:solidFill>
                          <a:latin typeface="Calibri"/>
                        </a:rPr>
                        <a:t>Direct Sales</a:t>
                      </a:r>
                    </a:p>
                  </a:txBody>
                  <a:tcPr marL="85725" marR="38100" marT="19050" marB="19050" anchor="ctr">
                    <a:solidFill>
                      <a:srgbClr val="FFFFFF"/>
                    </a:solidFill>
                  </a:tcPr>
                </a:tc>
                <a:tc>
                  <a:txBody>
                    <a:bodyPr wrap="none"/>
                    <a:lstStyle/>
                    <a:p>
                      <a:pPr algn="l"/>
                      <a:r>
                        <a:rPr sz="800" b="1">
                          <a:solidFill>
                            <a:srgbClr val="A86F00"/>
                          </a:solidFill>
                          <a:latin typeface="Calibri"/>
                        </a:rPr>
                        <a:t>▶ 5.1%</a:t>
                      </a:r>
                    </a:p>
                  </a:txBody>
                  <a:tcPr marL="85725" marR="38100" marT="19050" marB="19050" anchor="ctr">
                    <a:solidFill>
                      <a:srgbClr val="FFFFFF"/>
                    </a:solidFill>
                  </a:tcPr>
                </a:tc>
                <a:tc>
                  <a:txBody>
                    <a:bodyPr wrap="none"/>
                    <a:lstStyle/>
                    <a:p>
                      <a:pPr algn="l"/>
                      <a:r>
                        <a:rPr sz="800" b="1">
                          <a:solidFill>
                            <a:srgbClr val="A86F00"/>
                          </a:solidFill>
                          <a:latin typeface="Calibri"/>
                        </a:rPr>
                        <a:t>▶ 5.4%</a:t>
                      </a:r>
                    </a:p>
                  </a:txBody>
                  <a:tcPr marL="85725" marR="38100" marT="19050" marB="19050" anchor="ctr">
                    <a:solidFill>
                      <a:srgbClr val="FFFFFF"/>
                    </a:solidFill>
                  </a:tcPr>
                </a:tc>
                <a:tc>
                  <a:txBody>
                    <a:bodyPr wrap="none"/>
                    <a:lstStyle/>
                    <a:p>
                      <a:pPr algn="l"/>
                      <a:r>
                        <a:rPr sz="800" b="1">
                          <a:solidFill>
                            <a:srgbClr val="A86F00"/>
                          </a:solidFill>
                          <a:latin typeface="Calibri"/>
                        </a:rPr>
                        <a:t>▶ 6.0%</a:t>
                      </a:r>
                    </a:p>
                  </a:txBody>
                  <a:tcPr marL="85725" marR="38100" marT="19050" marB="19050" anchor="ctr">
                    <a:solidFill>
                      <a:srgbClr val="FFFFFF"/>
                    </a:solidFill>
                  </a:tcPr>
                </a:tc>
                <a:tc>
                  <a:txBody>
                    <a:bodyPr wrap="none"/>
                    <a:lstStyle/>
                    <a:p>
                      <a:pPr algn="l"/>
                      <a:r>
                        <a:rPr sz="800" b="1">
                          <a:solidFill>
                            <a:srgbClr val="A86F00"/>
                          </a:solidFill>
                          <a:latin typeface="Calibri"/>
                        </a:rPr>
                        <a:t>▶ 6.1%</a:t>
                      </a:r>
                    </a:p>
                  </a:txBody>
                  <a:tcPr marL="85725" marR="38100" marT="19050" marB="19050" anchor="ctr">
                    <a:solidFill>
                      <a:srgbClr val="FFFFFF"/>
                    </a:solidFill>
                  </a:tcPr>
                </a:tc>
                <a:tc>
                  <a:txBody>
                    <a:bodyPr wrap="none"/>
                    <a:lstStyle/>
                    <a:p>
                      <a:pPr algn="l"/>
                      <a:r>
                        <a:rPr sz="800" b="1">
                          <a:solidFill>
                            <a:srgbClr val="A86F00"/>
                          </a:solidFill>
                          <a:latin typeface="Calibri"/>
                        </a:rPr>
                        <a:t>▶ 6.6%</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6.9%</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Medical Distributors &amp; Wholesalers</a:t>
                      </a:r>
                    </a:p>
                  </a:txBody>
                  <a:tcPr marL="85725" marR="38100" marT="19050" marB="19050" anchor="ctr">
                    <a:solidFill>
                      <a:srgbClr val="F5F8FA"/>
                    </a:solidFill>
                  </a:tcPr>
                </a:tc>
                <a:tc>
                  <a:txBody>
                    <a:bodyPr wrap="none"/>
                    <a:lstStyle/>
                    <a:p>
                      <a:pPr algn="l"/>
                      <a:r>
                        <a:rPr sz="800" b="1">
                          <a:solidFill>
                            <a:srgbClr val="A86F00"/>
                          </a:solidFill>
                          <a:latin typeface="Calibri"/>
                        </a:rPr>
                        <a:t>▶ 4.8%</a:t>
                      </a:r>
                    </a:p>
                  </a:txBody>
                  <a:tcPr marL="85725" marR="38100" marT="19050" marB="19050" anchor="ctr">
                    <a:solidFill>
                      <a:srgbClr val="F5F8FA"/>
                    </a:solidFill>
                  </a:tcPr>
                </a:tc>
                <a:tc>
                  <a:txBody>
                    <a:bodyPr wrap="none"/>
                    <a:lstStyle/>
                    <a:p>
                      <a:pPr algn="l"/>
                      <a:r>
                        <a:rPr sz="800" b="1">
                          <a:solidFill>
                            <a:srgbClr val="A86F00"/>
                          </a:solidFill>
                          <a:latin typeface="Calibri"/>
                        </a:rPr>
                        <a:t>▶ 5.0%</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5.5%</a:t>
                      </a:r>
                    </a:p>
                  </a:txBody>
                  <a:tcPr marL="85725" marR="38100" marT="19050" marB="19050" anchor="ctr">
                    <a:solidFill>
                      <a:srgbClr val="F5F8FA"/>
                    </a:solidFill>
                  </a:tcPr>
                </a:tc>
                <a:tc>
                  <a:txBody>
                    <a:bodyPr wrap="none"/>
                    <a:lstStyle/>
                    <a:p>
                      <a:pPr algn="l"/>
                      <a:r>
                        <a:rPr sz="800" b="1">
                          <a:solidFill>
                            <a:srgbClr val="A86F00"/>
                          </a:solidFill>
                          <a:latin typeface="Calibri"/>
                        </a:rPr>
                        <a:t>▶ 5.9%</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6.1%</a:t>
                      </a:r>
                    </a:p>
                  </a:txBody>
                  <a:tcPr marL="85725" marR="38100" marT="19050" marB="19050" anchor="ctr">
                    <a:solidFill>
                      <a:srgbClr val="F5F8FA"/>
                    </a:solidFill>
                  </a:tcPr>
                </a:tc>
                <a:tc>
                  <a:txBody>
                    <a:bodyPr wrap="none"/>
                    <a:lstStyle/>
                    <a:p>
                      <a:pPr algn="l"/>
                      <a:r>
                        <a:rPr sz="800" b="1">
                          <a:solidFill>
                            <a:srgbClr val="A86F00"/>
                          </a:solidFill>
                          <a:latin typeface="Calibri"/>
                        </a:rPr>
                        <a:t>▶ 6.0%</a:t>
                      </a:r>
                    </a:p>
                  </a:txBody>
                  <a:tcPr marL="85725" marR="38100" marT="19050" marB="19050" anchor="ctr">
                    <a:solidFill>
                      <a:srgbClr val="F5F8FA"/>
                    </a:solidFill>
                  </a:tcPr>
                </a:tc>
                <a:tc>
                  <a:txBody>
                    <a:bodyPr wrap="none"/>
                    <a:lstStyle/>
                    <a:p>
                      <a:pPr algn="l"/>
                      <a:r>
                        <a:rPr sz="800" b="1">
                          <a:solidFill>
                            <a:srgbClr val="A86F00"/>
                          </a:solidFill>
                          <a:latin typeface="Calibri"/>
                        </a:rPr>
                        <a:t>▶ 6.3%</a:t>
                      </a:r>
                    </a:p>
                  </a:txBody>
                  <a:tcPr marL="85725" marR="38100" marT="19050" marB="19050" anchor="ctr">
                    <a:solidFill>
                      <a:srgbClr val="F5F8FA"/>
                    </a:solidFill>
                  </a:tcPr>
                </a:tc>
                <a:tc>
                  <a:txBody>
                    <a:bodyPr wrap="none"/>
                    <a:lstStyle/>
                    <a:p>
                      <a:pPr algn="l"/>
                      <a:r>
                        <a:rPr sz="800" b="1">
                          <a:solidFill>
                            <a:srgbClr val="A86F00"/>
                          </a:solidFill>
                          <a:latin typeface="Calibri"/>
                        </a:rPr>
                        <a:t>▶ 6.2%</a:t>
                      </a:r>
                    </a:p>
                  </a:txBody>
                  <a:tcPr marL="85725" marR="38100" marT="19050" marB="19050" anchor="ctr">
                    <a:solidFill>
                      <a:srgbClr val="F5F8FA"/>
                    </a:solidFill>
                  </a:tcPr>
                </a:tc>
                <a:tc>
                  <a:txBody>
                    <a:bodyPr wrap="none"/>
                    <a:lstStyle/>
                    <a:p>
                      <a:pPr algn="l"/>
                      <a:r>
                        <a:rPr sz="800" b="1">
                          <a:solidFill>
                            <a:srgbClr val="A86F00"/>
                          </a:solidFill>
                          <a:latin typeface="Calibri"/>
                        </a:rPr>
                        <a:t>▶ 6.6%</a:t>
                      </a:r>
                    </a:p>
                  </a:txBody>
                  <a:tcPr marL="85725" marR="38100" marT="19050" marB="19050" anchor="ctr">
                    <a:solidFill>
                      <a:srgbClr val="F5F8FA"/>
                    </a:solidFill>
                  </a:tcPr>
                </a:tc>
              </a:tr>
              <a:tr h="180975">
                <a:tc>
                  <a:txBody>
                    <a:bodyPr wrap="none"/>
                    <a:lstStyle/>
                    <a:p>
                      <a:pPr algn="l"/>
                      <a:r>
                        <a:rPr sz="800" b="1">
                          <a:solidFill>
                            <a:srgbClr val="2E2E2E"/>
                          </a:solidFill>
                          <a:latin typeface="Calibri"/>
                        </a:rPr>
                        <a:t>Retail Pharmacy</a:t>
                      </a:r>
                    </a:p>
                  </a:txBody>
                  <a:tcPr marL="85725" marR="38100" marT="19050" marB="19050" anchor="ctr">
                    <a:solidFill>
                      <a:srgbClr val="FFFFFF"/>
                    </a:solidFill>
                  </a:tcPr>
                </a:tc>
                <a:tc>
                  <a:txBody>
                    <a:bodyPr wrap="none"/>
                    <a:lstStyle/>
                    <a:p>
                      <a:pPr algn="l"/>
                      <a:r>
                        <a:rPr sz="800" b="1">
                          <a:solidFill>
                            <a:srgbClr val="A86F00"/>
                          </a:solidFill>
                          <a:latin typeface="Calibri"/>
                        </a:rPr>
                        <a:t>▶ 5.2%</a:t>
                      </a:r>
                    </a:p>
                  </a:txBody>
                  <a:tcPr marL="85725" marR="38100" marT="19050" marB="19050" anchor="ctr">
                    <a:solidFill>
                      <a:srgbClr val="FFFFFF"/>
                    </a:solidFill>
                  </a:tcPr>
                </a:tc>
                <a:tc>
                  <a:txBody>
                    <a:bodyPr wrap="none"/>
                    <a:lstStyle/>
                    <a:p>
                      <a:pPr algn="l"/>
                      <a:r>
                        <a:rPr sz="800" b="1">
                          <a:solidFill>
                            <a:srgbClr val="A86F00"/>
                          </a:solidFill>
                          <a:latin typeface="Calibri"/>
                        </a:rPr>
                        <a:t>▶ 5.5%</a:t>
                      </a:r>
                    </a:p>
                  </a:txBody>
                  <a:tcPr marL="85725" marR="38100" marT="19050" marB="19050" anchor="ctr">
                    <a:solidFill>
                      <a:srgbClr val="FFFFFF"/>
                    </a:solidFill>
                  </a:tcPr>
                </a:tc>
                <a:tc>
                  <a:txBody>
                    <a:bodyPr wrap="none"/>
                    <a:lstStyle/>
                    <a:p>
                      <a:pPr algn="l"/>
                      <a:r>
                        <a:rPr sz="800" b="1">
                          <a:solidFill>
                            <a:srgbClr val="A86F00"/>
                          </a:solidFill>
                          <a:latin typeface="Calibri"/>
                        </a:rPr>
                        <a:t>▶ 6.2%</a:t>
                      </a:r>
                    </a:p>
                  </a:txBody>
                  <a:tcPr marL="85725" marR="38100" marT="19050" marB="19050" anchor="ctr">
                    <a:solidFill>
                      <a:srgbClr val="FFFFFF"/>
                    </a:solidFill>
                  </a:tcPr>
                </a:tc>
                <a:tc>
                  <a:txBody>
                    <a:bodyPr wrap="none"/>
                    <a:lstStyle/>
                    <a:p>
                      <a:pPr algn="l"/>
                      <a:r>
                        <a:rPr sz="800" b="1">
                          <a:solidFill>
                            <a:srgbClr val="A86F00"/>
                          </a:solidFill>
                          <a:latin typeface="Calibri"/>
                        </a:rPr>
                        <a:t>▶ 6.3%</a:t>
                      </a:r>
                    </a:p>
                  </a:txBody>
                  <a:tcPr marL="85725" marR="38100" marT="19050" marB="19050" anchor="ctr">
                    <a:solidFill>
                      <a:srgbClr val="FFFFFF"/>
                    </a:solidFill>
                  </a:tcPr>
                </a:tc>
                <a:tc>
                  <a:txBody>
                    <a:bodyPr wrap="none"/>
                    <a:lstStyle/>
                    <a:p>
                      <a:pPr algn="l"/>
                      <a:r>
                        <a:rPr sz="800" b="1">
                          <a:solidFill>
                            <a:srgbClr val="A86F00"/>
                          </a:solidFill>
                          <a:latin typeface="Calibri"/>
                        </a:rPr>
                        <a:t>▶ 6.8%</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7.0%</a:t>
                      </a:r>
                    </a:p>
                  </a:txBody>
                  <a:tcPr marL="85725" marR="38100" marT="19050" marB="19050" anchor="ctr">
                    <a:solidFill>
                      <a:srgbClr val="FFFFFF"/>
                    </a:solidFill>
                  </a:tcPr>
                </a:tc>
                <a:tc>
                  <a:txBody>
                    <a:bodyPr wrap="none"/>
                    <a:lstStyle/>
                    <a:p>
                      <a:pPr algn="l"/>
                      <a:r>
                        <a:rPr sz="800" b="1">
                          <a:solidFill>
                            <a:srgbClr val="A86F00"/>
                          </a:solidFill>
                          <a:latin typeface="Calibri"/>
                        </a:rPr>
                        <a:t>▶ 7.1%</a:t>
                      </a:r>
                    </a:p>
                  </a:txBody>
                  <a:tcPr marL="85725" marR="38100" marT="19050" marB="19050" anchor="ctr">
                    <a:solidFill>
                      <a:srgbClr val="FFFFFF"/>
                    </a:solidFill>
                  </a:tcPr>
                </a:tc>
                <a:tc>
                  <a:txBody>
                    <a:bodyPr wrap="none"/>
                    <a:lstStyle/>
                    <a:p>
                      <a:pPr algn="l"/>
                      <a:r>
                        <a:rPr sz="800" b="1">
                          <a:solidFill>
                            <a:srgbClr val="A86F00"/>
                          </a:solidFill>
                          <a:latin typeface="Calibri"/>
                        </a:rPr>
                        <a:t>▶ 7.2%</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7.4%</a:t>
                      </a:r>
                    </a:p>
                  </a:txBody>
                  <a:tcPr marL="85725" marR="38100" marT="19050" marB="19050" anchor="ctr">
                    <a:solidFill>
                      <a:srgbClr val="FFFFFF"/>
                    </a:solidFill>
                  </a:tcPr>
                </a:tc>
                <a:tc>
                  <a:txBody>
                    <a:bodyPr wrap="none"/>
                    <a:lstStyle/>
                    <a:p>
                      <a:pPr algn="l"/>
                      <a:r>
                        <a:rPr sz="800" b="1">
                          <a:solidFill>
                            <a:srgbClr val="A86F00"/>
                          </a:solidFill>
                          <a:latin typeface="Calibri"/>
                        </a:rPr>
                        <a:t>▶ 7.3%</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7.7%</a:t>
                      </a:r>
                    </a:p>
                  </a:txBody>
                  <a:tcPr marL="85725" marR="38100" marT="19050" marB="19050" anchor="ctr">
                    <a:solidFill>
                      <a:srgbClr val="FFFFFF"/>
                    </a:solidFill>
                  </a:tcPr>
                </a:tc>
                <a:tc>
                  <a:txBody>
                    <a:bodyPr wrap="none"/>
                    <a:lstStyle/>
                    <a:p>
                      <a:pPr algn="l"/>
                      <a:r>
                        <a:rPr sz="800" b="1">
                          <a:solidFill>
                            <a:srgbClr val="A86F00"/>
                          </a:solidFill>
                          <a:latin typeface="Calibri"/>
                        </a:rPr>
                        <a:t>▶ 8.1%</a:t>
                      </a:r>
                    </a:p>
                  </a:txBody>
                  <a:tcPr marL="85725" marR="38100" marT="19050" marB="19050" anchor="ctr">
                    <a:solidFill>
                      <a:srgbClr val="FFFFFF"/>
                    </a:solidFill>
                  </a:tcPr>
                </a:tc>
              </a:tr>
              <a:tr h="180975">
                <a:tc>
                  <a:txBody>
                    <a:bodyPr wrap="none"/>
                    <a:lstStyle/>
                    <a:p>
                      <a:pPr algn="l"/>
                      <a:r>
                        <a:rPr sz="800" b="1">
                          <a:solidFill>
                            <a:srgbClr val="2E2E2E"/>
                          </a:solidFill>
                          <a:latin typeface="Calibri"/>
                        </a:rPr>
                        <a:t>E-Commerce / DTC</a:t>
                      </a:r>
                    </a:p>
                  </a:txBody>
                  <a:tcPr marL="85725" marR="38100" marT="19050" marB="19050" anchor="ctr">
                    <a:solidFill>
                      <a:srgbClr val="F5F8FA"/>
                    </a:solidFill>
                  </a:tcPr>
                </a:tc>
                <a:tc>
                  <a:txBody>
                    <a:bodyPr wrap="none"/>
                    <a:lstStyle/>
                    <a:p>
                      <a:pPr algn="l"/>
                      <a:r>
                        <a:rPr sz="800" b="1">
                          <a:solidFill>
                            <a:srgbClr val="2E7D32"/>
                          </a:solidFill>
                          <a:latin typeface="Calibri"/>
                        </a:rPr>
                        <a:t>▲ 11.8%</a:t>
                      </a:r>
                    </a:p>
                  </a:txBody>
                  <a:tcPr marL="85725" marR="38100" marT="19050" marB="19050" anchor="ctr">
                    <a:solidFill>
                      <a:srgbClr val="F5F8FA"/>
                    </a:solidFill>
                  </a:tcPr>
                </a:tc>
                <a:tc>
                  <a:txBody>
                    <a:bodyPr wrap="none"/>
                    <a:lstStyle/>
                    <a:p>
                      <a:pPr algn="l"/>
                      <a:r>
                        <a:rPr sz="800" b="1">
                          <a:solidFill>
                            <a:srgbClr val="2E7D32"/>
                          </a:solidFill>
                          <a:latin typeface="Calibri"/>
                        </a:rPr>
                        <a:t>▲ 12.1%</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12.7%</a:t>
                      </a:r>
                    </a:p>
                  </a:txBody>
                  <a:tcPr marL="85725" marR="38100" marT="19050" marB="19050" anchor="ctr">
                    <a:solidFill>
                      <a:srgbClr val="F5F8FA"/>
                    </a:solidFill>
                  </a:tcPr>
                </a:tc>
                <a:tc>
                  <a:txBody>
                    <a:bodyPr wrap="none"/>
                    <a:lstStyle/>
                    <a:p>
                      <a:pPr algn="l"/>
                      <a:r>
                        <a:rPr sz="800" b="1">
                          <a:solidFill>
                            <a:srgbClr val="2E7D32"/>
                          </a:solidFill>
                          <a:latin typeface="Calibri"/>
                        </a:rPr>
                        <a:t>▲ 13.1%</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13.3%</a:t>
                      </a:r>
                    </a:p>
                  </a:txBody>
                  <a:tcPr marL="85725" marR="38100" marT="19050" marB="19050" anchor="ctr">
                    <a:solidFill>
                      <a:srgbClr val="F5F8FA"/>
                    </a:solidFill>
                  </a:tcPr>
                </a:tc>
                <a:tc>
                  <a:txBody>
                    <a:bodyPr wrap="none"/>
                    <a:lstStyle/>
                    <a:p>
                      <a:pPr algn="l"/>
                      <a:r>
                        <a:rPr sz="800" b="1">
                          <a:solidFill>
                            <a:srgbClr val="2E7D32"/>
                          </a:solidFill>
                          <a:latin typeface="Calibri"/>
                        </a:rPr>
                        <a:t>▲ 13.2%</a:t>
                      </a:r>
                    </a:p>
                  </a:txBody>
                  <a:tcPr marL="85725" marR="38100" marT="19050" marB="19050" anchor="ctr">
                    <a:solidFill>
                      <a:srgbClr val="F5F8FA"/>
                    </a:solidFill>
                  </a:tcPr>
                </a:tc>
                <a:tc>
                  <a:txBody>
                    <a:bodyPr wrap="none"/>
                    <a:lstStyle/>
                    <a:p>
                      <a:pPr algn="l"/>
                      <a:r>
                        <a:rPr sz="800" b="1">
                          <a:solidFill>
                            <a:srgbClr val="2E7D32"/>
                          </a:solidFill>
                          <a:latin typeface="Calibri"/>
                        </a:rPr>
                        <a:t>▲ 13.5%</a:t>
                      </a:r>
                    </a:p>
                  </a:txBody>
                  <a:tcPr marL="85725" marR="38100" marT="19050" marB="19050" anchor="ctr">
                    <a:solidFill>
                      <a:srgbClr val="F5F8FA"/>
                    </a:solidFill>
                  </a:tcPr>
                </a:tc>
                <a:tc>
                  <a:txBody>
                    <a:bodyPr wrap="none"/>
                    <a:lstStyle/>
                    <a:p>
                      <a:pPr algn="l"/>
                      <a:r>
                        <a:rPr sz="800" b="1">
                          <a:solidFill>
                            <a:srgbClr val="2E7D32"/>
                          </a:solidFill>
                          <a:latin typeface="Calibri"/>
                        </a:rPr>
                        <a:t>▲ 13.4%</a:t>
                      </a:r>
                    </a:p>
                  </a:txBody>
                  <a:tcPr marL="85725" marR="38100" marT="19050" marB="19050" anchor="ctr">
                    <a:solidFill>
                      <a:srgbClr val="F5F8FA"/>
                    </a:solidFill>
                  </a:tcPr>
                </a:tc>
                <a:tc>
                  <a:txBody>
                    <a:bodyPr wrap="none"/>
                    <a:lstStyle/>
                    <a:p>
                      <a:pPr algn="l"/>
                      <a:r>
                        <a:rPr sz="800" b="1">
                          <a:solidFill>
                            <a:srgbClr val="2E7D32"/>
                          </a:solidFill>
                          <a:latin typeface="Calibri"/>
                        </a:rPr>
                        <a:t>▲ 13.8%</a:t>
                      </a:r>
                    </a:p>
                  </a:txBody>
                  <a:tcPr marL="85725" marR="38100" marT="19050" marB="19050" anchor="ctr">
                    <a:solidFill>
                      <a:srgbClr val="F5F8FA"/>
                    </a:solidFill>
                  </a:tcPr>
                </a:tc>
              </a:tr>
            </a:tbl>
          </a:graphicData>
        </a:graphic>
      </p:graphicFrame>
      <p:sp>
        <p:nvSpPr>
          <p:cNvPr id="19" name="TextBox 18"/>
          <p:cNvSpPr txBox="1"/>
          <p:nvPr/>
        </p:nvSpPr>
        <p:spPr>
          <a:xfrm>
            <a:off x="219075" y="65817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338388"/>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Market Dynamics</a:t>
            </a:r>
          </a:p>
        </p:txBody>
      </p:sp>
      <p:sp>
        <p:nvSpPr>
          <p:cNvPr id="7" name="TextBox 6"/>
          <p:cNvSpPr txBox="1"/>
          <p:nvPr/>
        </p:nvSpPr>
        <p:spPr>
          <a:xfrm>
            <a:off x="1219200" y="2586038"/>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Global Driving Factors</a:t>
            </a:r>
          </a:p>
        </p:txBody>
      </p:sp>
      <p:sp>
        <p:nvSpPr>
          <p:cNvPr id="8" name="TextBox 7"/>
          <p:cNvSpPr txBox="1"/>
          <p:nvPr/>
        </p:nvSpPr>
        <p:spPr>
          <a:xfrm>
            <a:off x="1219200" y="3176588"/>
            <a:ext cx="6667500" cy="84772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Dynamics by Geography</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Driving Factors Supply Side (1/2)</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Driving Factors Demand Side (2/2)</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20</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Market Dynamics by Region</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the growth driver, restraint and opportunity shaping each region of the global market</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3848100"/>
          </a:xfrm>
          <a:prstGeom prst="roundRect">
            <a:avLst>
              <a:gd name="adj" fmla="val 198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14400"/>
            <a:ext cx="117157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Demand Dynamics by Region  ·  ranked by 2036 value</a:t>
            </a:r>
          </a:p>
        </p:txBody>
      </p:sp>
      <p:graphicFrame>
        <p:nvGraphicFramePr>
          <p:cNvPr id="14" name="Table 13"/>
          <p:cNvGraphicFramePr>
            <a:graphicFrameLocks noGrp="1"/>
          </p:cNvGraphicFramePr>
          <p:nvPr/>
        </p:nvGraphicFramePr>
        <p:xfrm>
          <a:off x="238125" y="1143000"/>
          <a:ext cx="11715750" cy="1447800"/>
        </p:xfrm>
        <a:graphic>
          <a:graphicData uri="http://schemas.openxmlformats.org/drawingml/2006/table">
            <a:tbl>
              <a:tblPr>
                <a:tableStyleId>{5C22544A-7EE6-4342-B048-85BDC9FD1C3A}</a:tableStyleId>
              </a:tblPr>
              <a:tblGrid>
                <a:gridCol w="3514725"/>
                <a:gridCol w="2733675"/>
                <a:gridCol w="2733675"/>
                <a:gridCol w="2733675"/>
              </a:tblGrid>
              <a:tr h="180975">
                <a:tc>
                  <a:txBody>
                    <a:bodyPr wrap="none"/>
                    <a:lstStyle/>
                    <a:p>
                      <a:pPr algn="l"/>
                      <a:r>
                        <a:rPr sz="900" b="1">
                          <a:solidFill>
                            <a:srgbClr val="0B2E4A"/>
                          </a:solidFill>
                          <a:latin typeface="Calibri"/>
                        </a:rPr>
                        <a:t>Region</a:t>
                      </a:r>
                    </a:p>
                  </a:txBody>
                  <a:tcPr marL="85725" marR="38100" marT="19050" marB="19050" anchor="ctr">
                    <a:solidFill>
                      <a:srgbClr val="E0E8EF"/>
                    </a:solidFill>
                  </a:tcPr>
                </a:tc>
                <a:tc>
                  <a:txBody>
                    <a:bodyPr wrap="none"/>
                    <a:lstStyle/>
                    <a:p>
                      <a:pPr algn="l"/>
                      <a:r>
                        <a:rPr sz="900" b="1">
                          <a:solidFill>
                            <a:srgbClr val="0B2E4A"/>
                          </a:solidFill>
                          <a:latin typeface="Calibri"/>
                        </a:rPr>
                        <a:t>Growth Drivers</a:t>
                      </a:r>
                    </a:p>
                  </a:txBody>
                  <a:tcPr marL="85725" marR="38100" marT="19050" marB="19050" anchor="ctr">
                    <a:solidFill>
                      <a:srgbClr val="E0E8EF"/>
                    </a:solidFill>
                  </a:tcPr>
                </a:tc>
                <a:tc>
                  <a:txBody>
                    <a:bodyPr wrap="none"/>
                    <a:lstStyle/>
                    <a:p>
                      <a:pPr algn="l"/>
                      <a:r>
                        <a:rPr sz="900" b="1">
                          <a:solidFill>
                            <a:srgbClr val="0B2E4A"/>
                          </a:solidFill>
                          <a:latin typeface="Calibri"/>
                        </a:rPr>
                        <a:t>Restraints</a:t>
                      </a:r>
                    </a:p>
                  </a:txBody>
                  <a:tcPr marL="85725" marR="38100" marT="19050" marB="19050" anchor="ctr">
                    <a:solidFill>
                      <a:srgbClr val="E0E8EF"/>
                    </a:solidFill>
                  </a:tcPr>
                </a:tc>
                <a:tc>
                  <a:txBody>
                    <a:bodyPr wrap="none"/>
                    <a:lstStyle/>
                    <a:p>
                      <a:pPr algn="l"/>
                      <a:r>
                        <a:rPr sz="900" b="1">
                          <a:solidFill>
                            <a:srgbClr val="0B2E4A"/>
                          </a:solidFill>
                          <a:latin typeface="Calibri"/>
                        </a:rPr>
                        <a:t>Priority Opportunities</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North America</a:t>
                      </a:r>
                    </a:p>
                  </a:txBody>
                  <a:tcPr marL="85725" marR="38100" marT="19050" marB="19050" anchor="ctr">
                    <a:solidFill>
                      <a:srgbClr val="FFFFFF"/>
                    </a:solidFill>
                  </a:tcPr>
                </a:tc>
                <a:tc>
                  <a:txBody>
                    <a:bodyPr wrap="none"/>
                    <a:lstStyle/>
                    <a:p>
                      <a:pPr algn="l"/>
                      <a:r>
                        <a:rPr sz="900" b="0">
                          <a:solidFill>
                            <a:srgbClr val="2E2E2E"/>
                          </a:solidFill>
                          <a:latin typeface="Calibri"/>
                        </a:rPr>
                        <a:t>Scale base (32.9% share), Above-market pace (8.0%), Capillary…</a:t>
                      </a:r>
                    </a:p>
                  </a:txBody>
                  <a:tcPr marL="85725" marR="38100" marT="19050" marB="19050" anchor="ctr">
                    <a:solidFill>
                      <a:srgbClr val="FFFFFF"/>
                    </a:solidFill>
                  </a:tcPr>
                </a:tc>
                <a:tc>
                  <a:txBody>
                    <a:bodyPr wrap="none"/>
                    <a:lstStyle/>
                    <a:p>
                      <a:pPr algn="l"/>
                      <a:r>
                        <a:rPr sz="900" b="0">
                          <a:solidFill>
                            <a:srgbClr val="2E2E2E"/>
                          </a:solidFill>
                          <a:latin typeface="Calibri"/>
                        </a:rPr>
                        <a:t>Rising realisation (0.9%)</a:t>
                      </a:r>
                    </a:p>
                  </a:txBody>
                  <a:tcPr marL="85725" marR="38100" marT="19050" marB="19050" anchor="ctr">
                    <a:solidFill>
                      <a:srgbClr val="FFFFFF"/>
                    </a:solidFill>
                  </a:tcPr>
                </a:tc>
                <a:tc>
                  <a:txBody>
                    <a:bodyPr wrap="none"/>
                    <a:lstStyle/>
                    <a:p>
                      <a:pPr algn="l"/>
                      <a:r>
                        <a:rPr sz="900" b="0">
                          <a:solidFill>
                            <a:srgbClr val="2E2E2E"/>
                          </a:solidFill>
                          <a:latin typeface="Calibri"/>
                        </a:rPr>
                        <a:t>Scale Integrated Capillary Blood… (12.6%), 874.0 US$ Mn hea…</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Western Europe</a:t>
                      </a:r>
                    </a:p>
                  </a:txBody>
                  <a:tcPr marL="85725" marR="38100" marT="19050" marB="19050" anchor="ctr">
                    <a:solidFill>
                      <a:srgbClr val="F5F8FA"/>
                    </a:solidFill>
                  </a:tcPr>
                </a:tc>
                <a:tc>
                  <a:txBody>
                    <a:bodyPr wrap="none"/>
                    <a:lstStyle/>
                    <a:p>
                      <a:pPr algn="l"/>
                      <a:r>
                        <a:rPr sz="900" b="0">
                          <a:solidFill>
                            <a:srgbClr val="2E2E2E"/>
                          </a:solidFill>
                          <a:latin typeface="Calibri"/>
                        </a:rPr>
                        <a:t>Scale base (25.7% share), Installed demand (7.5% CAGR), Capil…</a:t>
                      </a:r>
                    </a:p>
                  </a:txBody>
                  <a:tcPr marL="85725" marR="38100" marT="19050" marB="19050" anchor="ctr">
                    <a:solidFill>
                      <a:srgbClr val="F5F8FA"/>
                    </a:solidFill>
                  </a:tcPr>
                </a:tc>
                <a:tc>
                  <a:txBody>
                    <a:bodyPr wrap="none"/>
                    <a:lstStyle/>
                    <a:p>
                      <a:pPr algn="l"/>
                      <a:r>
                        <a:rPr sz="900" b="0">
                          <a:solidFill>
                            <a:srgbClr val="2E2E2E"/>
                          </a:solidFill>
                          <a:latin typeface="Calibri"/>
                        </a:rPr>
                        <a:t>Trails market pace by 37 BPS, Rising realisation (0.9%)</a:t>
                      </a:r>
                    </a:p>
                  </a:txBody>
                  <a:tcPr marL="85725" marR="38100" marT="19050" marB="19050" anchor="ctr">
                    <a:solidFill>
                      <a:srgbClr val="F5F8FA"/>
                    </a:solidFill>
                  </a:tcPr>
                </a:tc>
                <a:tc>
                  <a:txBody>
                    <a:bodyPr wrap="none"/>
                    <a:lstStyle/>
                    <a:p>
                      <a:pPr algn="l"/>
                      <a:r>
                        <a:rPr sz="900" b="0">
                          <a:solidFill>
                            <a:srgbClr val="2E2E2E"/>
                          </a:solidFill>
                          <a:latin typeface="Calibri"/>
                        </a:rPr>
                        <a:t>Scale Integrated Capillary Blood… (11.9%), 653.5 US$ Mn hea…</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East Asia</a:t>
                      </a:r>
                    </a:p>
                  </a:txBody>
                  <a:tcPr marL="85725" marR="38100" marT="19050" marB="19050" anchor="ctr">
                    <a:solidFill>
                      <a:srgbClr val="FFFFFF"/>
                    </a:solidFill>
                  </a:tcPr>
                </a:tc>
                <a:tc>
                  <a:txBody>
                    <a:bodyPr wrap="none"/>
                    <a:lstStyle/>
                    <a:p>
                      <a:pPr algn="l"/>
                      <a:r>
                        <a:rPr sz="900" b="0">
                          <a:solidFill>
                            <a:srgbClr val="2E2E2E"/>
                          </a:solidFill>
                          <a:latin typeface="Calibri"/>
                        </a:rPr>
                        <a:t>Scale base (16.3% share), Above-market pace (8.4%), Capillary…</a:t>
                      </a:r>
                    </a:p>
                  </a:txBody>
                  <a:tcPr marL="85725" marR="38100" marT="19050" marB="19050" anchor="ctr">
                    <a:solidFill>
                      <a:srgbClr val="FFFFFF"/>
                    </a:solidFill>
                  </a:tcPr>
                </a:tc>
                <a:tc>
                  <a:txBody>
                    <a:bodyPr wrap="none"/>
                    <a:lstStyle/>
                    <a:p>
                      <a:pPr algn="l"/>
                      <a:r>
                        <a:rPr sz="900" b="0">
                          <a:solidFill>
                            <a:srgbClr val="2E2E2E"/>
                          </a:solidFill>
                          <a:latin typeface="Calibri"/>
                        </a:rPr>
                        <a:t>Rising realisation (0.7%)</a:t>
                      </a:r>
                    </a:p>
                  </a:txBody>
                  <a:tcPr marL="85725" marR="38100" marT="19050" marB="19050" anchor="ctr">
                    <a:solidFill>
                      <a:srgbClr val="FFFFFF"/>
                    </a:solidFill>
                  </a:tcPr>
                </a:tc>
                <a:tc>
                  <a:txBody>
                    <a:bodyPr wrap="none"/>
                    <a:lstStyle/>
                    <a:p>
                      <a:pPr algn="l"/>
                      <a:r>
                        <a:rPr sz="900" b="0">
                          <a:solidFill>
                            <a:srgbClr val="2E2E2E"/>
                          </a:solidFill>
                          <a:latin typeface="Calibri"/>
                        </a:rPr>
                        <a:t>Scale Integrated Capillary Blood… (14.5%), 446.5 US$ Mn hea…</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South Asia Pacific</a:t>
                      </a:r>
                    </a:p>
                  </a:txBody>
                  <a:tcPr marL="85725" marR="38100" marT="19050" marB="19050" anchor="ctr">
                    <a:solidFill>
                      <a:srgbClr val="F5F8FA"/>
                    </a:solidFill>
                  </a:tcPr>
                </a:tc>
                <a:tc>
                  <a:txBody>
                    <a:bodyPr wrap="none"/>
                    <a:lstStyle/>
                    <a:p>
                      <a:pPr algn="l"/>
                      <a:r>
                        <a:rPr sz="900" b="0">
                          <a:solidFill>
                            <a:srgbClr val="2E2E2E"/>
                          </a:solidFill>
                          <a:latin typeface="Calibri"/>
                        </a:rPr>
                        <a:t>Above-market pace (8.4%), Capillary Blood Collection Co… dema…</a:t>
                      </a:r>
                    </a:p>
                  </a:txBody>
                  <a:tcPr marL="85725" marR="38100" marT="19050" marB="19050" anchor="ctr">
                    <a:solidFill>
                      <a:srgbClr val="F5F8FA"/>
                    </a:solidFill>
                  </a:tcPr>
                </a:tc>
                <a:tc>
                  <a:txBody>
                    <a:bodyPr wrap="none"/>
                    <a:lstStyle/>
                    <a:p>
                      <a:pPr algn="l"/>
                      <a:r>
                        <a:rPr sz="900" b="0">
                          <a:solidFill>
                            <a:srgbClr val="2E2E2E"/>
                          </a:solidFill>
                          <a:latin typeface="Calibri"/>
                        </a:rPr>
                        <a:t>Rising realisation (0.7%)</a:t>
                      </a:r>
                    </a:p>
                  </a:txBody>
                  <a:tcPr marL="85725" marR="38100" marT="19050" marB="19050" anchor="ctr">
                    <a:solidFill>
                      <a:srgbClr val="F5F8FA"/>
                    </a:solidFill>
                  </a:tcPr>
                </a:tc>
                <a:tc>
                  <a:txBody>
                    <a:bodyPr wrap="none"/>
                    <a:lstStyle/>
                    <a:p>
                      <a:pPr algn="l"/>
                      <a:r>
                        <a:rPr sz="900" b="0">
                          <a:solidFill>
                            <a:srgbClr val="2E2E2E"/>
                          </a:solidFill>
                          <a:latin typeface="Calibri"/>
                        </a:rPr>
                        <a:t>Scale Integrated Capillary Blood… (12.3%), 202.7 US$ Mn hea…</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Latin America</a:t>
                      </a:r>
                    </a:p>
                  </a:txBody>
                  <a:tcPr marL="85725" marR="38100" marT="19050" marB="19050" anchor="ctr">
                    <a:solidFill>
                      <a:srgbClr val="FFFFFF"/>
                    </a:solidFill>
                  </a:tcPr>
                </a:tc>
                <a:tc>
                  <a:txBody>
                    <a:bodyPr wrap="none"/>
                    <a:lstStyle/>
                    <a:p>
                      <a:pPr algn="l"/>
                      <a:r>
                        <a:rPr sz="900" b="0">
                          <a:solidFill>
                            <a:srgbClr val="2E2E2E"/>
                          </a:solidFill>
                          <a:latin typeface="Calibri"/>
                        </a:rPr>
                        <a:t>Installed demand (7.4% CAGR), Capillary Blood Collection Co……</a:t>
                      </a:r>
                    </a:p>
                  </a:txBody>
                  <a:tcPr marL="85725" marR="38100" marT="19050" marB="19050" anchor="ctr">
                    <a:solidFill>
                      <a:srgbClr val="FFFFFF"/>
                    </a:solidFill>
                  </a:tcPr>
                </a:tc>
                <a:tc>
                  <a:txBody>
                    <a:bodyPr wrap="none"/>
                    <a:lstStyle/>
                    <a:p>
                      <a:pPr algn="l"/>
                      <a:r>
                        <a:rPr sz="900" b="0">
                          <a:solidFill>
                            <a:srgbClr val="2E2E2E"/>
                          </a:solidFill>
                          <a:latin typeface="Calibri"/>
                        </a:rPr>
                        <a:t>Trails market pace by 48 BPS, Rising realisation (0.9%)</a:t>
                      </a:r>
                    </a:p>
                  </a:txBody>
                  <a:tcPr marL="85725" marR="38100" marT="19050" marB="19050" anchor="ctr">
                    <a:solidFill>
                      <a:srgbClr val="FFFFFF"/>
                    </a:solidFill>
                  </a:tcPr>
                </a:tc>
                <a:tc>
                  <a:txBody>
                    <a:bodyPr wrap="none"/>
                    <a:lstStyle/>
                    <a:p>
                      <a:pPr algn="l"/>
                      <a:r>
                        <a:rPr sz="900" b="0">
                          <a:solidFill>
                            <a:srgbClr val="2E2E2E"/>
                          </a:solidFill>
                          <a:latin typeface="Calibri"/>
                        </a:rPr>
                        <a:t>Scale Integrated Capillary Blood… (11.3%), 185.3 US$ Mn hea…</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Eastern Europe</a:t>
                      </a:r>
                    </a:p>
                  </a:txBody>
                  <a:tcPr marL="85725" marR="38100" marT="19050" marB="19050" anchor="ctr">
                    <a:solidFill>
                      <a:srgbClr val="F5F8FA"/>
                    </a:solidFill>
                  </a:tcPr>
                </a:tc>
                <a:tc>
                  <a:txBody>
                    <a:bodyPr wrap="none"/>
                    <a:lstStyle/>
                    <a:p>
                      <a:pPr algn="l"/>
                      <a:r>
                        <a:rPr sz="900" b="0">
                          <a:solidFill>
                            <a:srgbClr val="2E2E2E"/>
                          </a:solidFill>
                          <a:latin typeface="Calibri"/>
                        </a:rPr>
                        <a:t>Installed demand (7.5% CAGR), Capillary Blood Collection Co……</a:t>
                      </a:r>
                    </a:p>
                  </a:txBody>
                  <a:tcPr marL="85725" marR="38100" marT="19050" marB="19050" anchor="ctr">
                    <a:solidFill>
                      <a:srgbClr val="F5F8FA"/>
                    </a:solidFill>
                  </a:tcPr>
                </a:tc>
                <a:tc>
                  <a:txBody>
                    <a:bodyPr wrap="none"/>
                    <a:lstStyle/>
                    <a:p>
                      <a:pPr algn="l"/>
                      <a:r>
                        <a:rPr sz="900" b="0">
                          <a:solidFill>
                            <a:srgbClr val="2E2E2E"/>
                          </a:solidFill>
                          <a:latin typeface="Calibri"/>
                        </a:rPr>
                        <a:t>Trails market pace by 43 BPS, Rising realisation (0.9%)</a:t>
                      </a:r>
                    </a:p>
                  </a:txBody>
                  <a:tcPr marL="85725" marR="38100" marT="19050" marB="19050" anchor="ctr">
                    <a:solidFill>
                      <a:srgbClr val="F5F8FA"/>
                    </a:solidFill>
                  </a:tcPr>
                </a:tc>
                <a:tc>
                  <a:txBody>
                    <a:bodyPr wrap="none"/>
                    <a:lstStyle/>
                    <a:p>
                      <a:pPr algn="l"/>
                      <a:r>
                        <a:rPr sz="900" b="0">
                          <a:solidFill>
                            <a:srgbClr val="2E2E2E"/>
                          </a:solidFill>
                          <a:latin typeface="Calibri"/>
                        </a:rPr>
                        <a:t>Scale Integrated Capillary Blood… (11.8%), 153.2 US$ Mn hea…</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Middle East &amp; Africa</a:t>
                      </a:r>
                    </a:p>
                  </a:txBody>
                  <a:tcPr marL="85725" marR="38100" marT="19050" marB="19050" anchor="ctr">
                    <a:solidFill>
                      <a:srgbClr val="FFFFFF"/>
                    </a:solidFill>
                  </a:tcPr>
                </a:tc>
                <a:tc>
                  <a:txBody>
                    <a:bodyPr wrap="none"/>
                    <a:lstStyle/>
                    <a:p>
                      <a:pPr algn="l"/>
                      <a:r>
                        <a:rPr sz="900" b="0">
                          <a:solidFill>
                            <a:srgbClr val="2E2E2E"/>
                          </a:solidFill>
                          <a:latin typeface="Calibri"/>
                        </a:rPr>
                        <a:t>Installed demand (7.7% CAGR), Capillary Blood Collection Co……</a:t>
                      </a:r>
                    </a:p>
                  </a:txBody>
                  <a:tcPr marL="85725" marR="38100" marT="19050" marB="19050" anchor="ctr">
                    <a:solidFill>
                      <a:srgbClr val="FFFFFF"/>
                    </a:solidFill>
                  </a:tcPr>
                </a:tc>
                <a:tc>
                  <a:txBody>
                    <a:bodyPr wrap="none"/>
                    <a:lstStyle/>
                    <a:p>
                      <a:pPr algn="l"/>
                      <a:r>
                        <a:rPr sz="900" b="0">
                          <a:solidFill>
                            <a:srgbClr val="2E2E2E"/>
                          </a:solidFill>
                          <a:latin typeface="Calibri"/>
                        </a:rPr>
                        <a:t>Trails market pace by 16 BPS, Sub-scale base</a:t>
                      </a:r>
                    </a:p>
                  </a:txBody>
                  <a:tcPr marL="85725" marR="38100" marT="19050" marB="19050" anchor="ctr">
                    <a:solidFill>
                      <a:srgbClr val="FFFFFF"/>
                    </a:solidFill>
                  </a:tcPr>
                </a:tc>
                <a:tc>
                  <a:txBody>
                    <a:bodyPr wrap="none"/>
                    <a:lstStyle/>
                    <a:p>
                      <a:pPr algn="l"/>
                      <a:r>
                        <a:rPr sz="900" b="0">
                          <a:solidFill>
                            <a:srgbClr val="2E2E2E"/>
                          </a:solidFill>
                          <a:latin typeface="Calibri"/>
                        </a:rPr>
                        <a:t>Scale Integrated Capillary Blood… (11.8%), 111.7 US$ Mn hea…</a:t>
                      </a:r>
                    </a:p>
                  </a:txBody>
                  <a:tcPr marL="85725" marR="38100" marT="19050" marB="19050" anchor="ctr">
                    <a:solidFill>
                      <a:srgbClr val="FFFFFF"/>
                    </a:solidFill>
                  </a:tcPr>
                </a:tc>
              </a:tr>
            </a:tbl>
          </a:graphicData>
        </a:graphic>
      </p:graphicFrame>
      <p:sp>
        <p:nvSpPr>
          <p:cNvPr id="15" name="TextBox 14"/>
          <p:cNvSpPr txBox="1"/>
          <p:nvPr/>
        </p:nvSpPr>
        <p:spPr>
          <a:xfrm>
            <a:off x="219075" y="4562475"/>
            <a:ext cx="1175385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48387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6225" y="49244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a:t>
            </a:r>
          </a:p>
        </p:txBody>
      </p:sp>
      <p:sp>
        <p:nvSpPr>
          <p:cNvPr id="18" name="Rectangle 17"/>
          <p:cNvSpPr/>
          <p:nvPr/>
        </p:nvSpPr>
        <p:spPr>
          <a:xfrm>
            <a:off x="276225" y="51625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52482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Western Europe, East Asia anchor scale with a combined 74.9% of Global value in 2036, while 'East Asia' offers the steepest upside at 8.4% CAGR against a market pace of 7.9%. 3 of 7 regions grow at or above that pace, so entry logic has to differ by region scale defence in the leaders, mix and premiumisation in the mid-tier, and availability-led expansion in the fastest movers.</a:t>
            </a:r>
          </a:p>
        </p:txBody>
      </p:sp>
      <p:sp>
        <p:nvSpPr>
          <p:cNvPr id="20" name="Rectangle 1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2" name="Rounded Rectangle 21">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3" name="Rounded Rectangle 22">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Global Driving Factors (1/2)</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economic and supply-side factors scored by their impact on the global market</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6400800" cy="5772150"/>
          </a:xfrm>
          <a:prstGeom prst="roundRect">
            <a:avLst>
              <a:gd name="adj" fmla="val 13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33450"/>
            <a:ext cx="6210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Economic and Supply-side Factors  ·  impact score (0–10)</a:t>
            </a:r>
          </a:p>
        </p:txBody>
      </p:sp>
      <p:sp>
        <p:nvSpPr>
          <p:cNvPr id="14" name="Freeform 13"/>
          <p:cNvSpPr/>
          <p:nvPr/>
        </p:nvSpPr>
        <p:spPr>
          <a:xfrm>
            <a:off x="2914650" y="3448050"/>
            <a:ext cx="857250" cy="857250"/>
          </a:xfrm>
          <a:custGeom>
            <a:avLst/>
            <a:gdLst/>
            <a:ahLst/>
            <a:cxnLst/>
            <a:rect l="l" t="t" r="r" b="b"/>
            <a:pathLst>
              <a:path w="90" h="90">
                <a:moveTo>
                  <a:pt x="45" y="0"/>
                </a:moveTo>
                <a:lnTo>
                  <a:pt x="77" y="13"/>
                </a:lnTo>
                <a:lnTo>
                  <a:pt x="90" y="45"/>
                </a:lnTo>
                <a:lnTo>
                  <a:pt x="77" y="77"/>
                </a:lnTo>
                <a:lnTo>
                  <a:pt x="45" y="90"/>
                </a:lnTo>
                <a:lnTo>
                  <a:pt x="13" y="77"/>
                </a:lnTo>
                <a:lnTo>
                  <a:pt x="0" y="45"/>
                </a:lnTo>
                <a:lnTo>
                  <a:pt x="13" y="1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476500" y="3009900"/>
            <a:ext cx="1733550" cy="1733550"/>
          </a:xfrm>
          <a:custGeom>
            <a:avLst/>
            <a:gdLst/>
            <a:ahLst/>
            <a:cxnLst/>
            <a:rect l="l" t="t" r="r" b="b"/>
            <a:pathLst>
              <a:path w="182" h="182">
                <a:moveTo>
                  <a:pt x="91" y="0"/>
                </a:moveTo>
                <a:lnTo>
                  <a:pt x="155" y="27"/>
                </a:lnTo>
                <a:lnTo>
                  <a:pt x="182" y="91"/>
                </a:lnTo>
                <a:lnTo>
                  <a:pt x="155" y="155"/>
                </a:lnTo>
                <a:lnTo>
                  <a:pt x="91" y="182"/>
                </a:lnTo>
                <a:lnTo>
                  <a:pt x="27" y="155"/>
                </a:lnTo>
                <a:lnTo>
                  <a:pt x="0" y="91"/>
                </a:lnTo>
                <a:lnTo>
                  <a:pt x="27" y="2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47875" y="2581275"/>
            <a:ext cx="2590800" cy="2590800"/>
          </a:xfrm>
          <a:custGeom>
            <a:avLst/>
            <a:gdLst/>
            <a:ahLst/>
            <a:cxnLst/>
            <a:rect l="l" t="t" r="r" b="b"/>
            <a:pathLst>
              <a:path w="272" h="272">
                <a:moveTo>
                  <a:pt x="136" y="0"/>
                </a:moveTo>
                <a:lnTo>
                  <a:pt x="232" y="40"/>
                </a:lnTo>
                <a:lnTo>
                  <a:pt x="272" y="136"/>
                </a:lnTo>
                <a:lnTo>
                  <a:pt x="232" y="232"/>
                </a:lnTo>
                <a:lnTo>
                  <a:pt x="136" y="272"/>
                </a:lnTo>
                <a:lnTo>
                  <a:pt x="40" y="232"/>
                </a:lnTo>
                <a:lnTo>
                  <a:pt x="0" y="136"/>
                </a:lnTo>
                <a:lnTo>
                  <a:pt x="40"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609725" y="2143125"/>
            <a:ext cx="3467100" cy="3467100"/>
          </a:xfrm>
          <a:custGeom>
            <a:avLst/>
            <a:gdLst/>
            <a:ahLst/>
            <a:cxnLst/>
            <a:rect l="l" t="t" r="r" b="b"/>
            <a:pathLst>
              <a:path w="364" h="364">
                <a:moveTo>
                  <a:pt x="182" y="0"/>
                </a:moveTo>
                <a:lnTo>
                  <a:pt x="310" y="54"/>
                </a:lnTo>
                <a:lnTo>
                  <a:pt x="364" y="182"/>
                </a:lnTo>
                <a:lnTo>
                  <a:pt x="310" y="310"/>
                </a:lnTo>
                <a:lnTo>
                  <a:pt x="182" y="364"/>
                </a:lnTo>
                <a:lnTo>
                  <a:pt x="54" y="310"/>
                </a:lnTo>
                <a:lnTo>
                  <a:pt x="0" y="182"/>
                </a:lnTo>
                <a:lnTo>
                  <a:pt x="54" y="5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181100" y="1714500"/>
            <a:ext cx="4324350" cy="4324350"/>
          </a:xfrm>
          <a:custGeom>
            <a:avLst/>
            <a:gdLst/>
            <a:ahLst/>
            <a:cxnLst/>
            <a:rect l="l" t="t" r="r" b="b"/>
            <a:pathLst>
              <a:path w="454" h="454">
                <a:moveTo>
                  <a:pt x="227" y="0"/>
                </a:moveTo>
                <a:lnTo>
                  <a:pt x="388" y="66"/>
                </a:lnTo>
                <a:lnTo>
                  <a:pt x="454" y="227"/>
                </a:lnTo>
                <a:lnTo>
                  <a:pt x="388" y="388"/>
                </a:lnTo>
                <a:lnTo>
                  <a:pt x="227" y="454"/>
                </a:lnTo>
                <a:lnTo>
                  <a:pt x="66" y="388"/>
                </a:lnTo>
                <a:lnTo>
                  <a:pt x="0" y="227"/>
                </a:lnTo>
                <a:lnTo>
                  <a:pt x="66" y="6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343275" y="1714500"/>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43275"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3275"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3275"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343275" y="3876675"/>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814386"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81100"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14386"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1447800" y="1981200"/>
            <a:ext cx="4057650" cy="4057650"/>
          </a:xfrm>
          <a:custGeom>
            <a:avLst/>
            <a:gdLst/>
            <a:ahLst/>
            <a:cxnLst/>
            <a:rect l="l" t="t" r="r" b="b"/>
            <a:pathLst>
              <a:path w="426" h="426">
                <a:moveTo>
                  <a:pt x="199" y="0"/>
                </a:moveTo>
                <a:lnTo>
                  <a:pt x="301" y="97"/>
                </a:lnTo>
                <a:lnTo>
                  <a:pt x="426" y="199"/>
                </a:lnTo>
                <a:lnTo>
                  <a:pt x="305" y="305"/>
                </a:lnTo>
                <a:lnTo>
                  <a:pt x="199" y="426"/>
                </a:lnTo>
                <a:lnTo>
                  <a:pt x="85" y="313"/>
                </a:lnTo>
                <a:lnTo>
                  <a:pt x="0" y="199"/>
                </a:lnTo>
                <a:lnTo>
                  <a:pt x="125" y="125"/>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9938" y="194405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82473" y="287080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72112"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315403" y="4848803"/>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09938" y="6005512"/>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223851" y="4929424"/>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418034"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603855" y="313725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71850" y="337756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37" name="TextBox 36"/>
          <p:cNvSpPr txBox="1"/>
          <p:nvPr/>
        </p:nvSpPr>
        <p:spPr>
          <a:xfrm>
            <a:off x="3371850" y="2945130"/>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38" name="TextBox 37"/>
          <p:cNvSpPr txBox="1"/>
          <p:nvPr/>
        </p:nvSpPr>
        <p:spPr>
          <a:xfrm>
            <a:off x="3371850" y="251269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39" name="TextBox 38"/>
          <p:cNvSpPr txBox="1"/>
          <p:nvPr/>
        </p:nvSpPr>
        <p:spPr>
          <a:xfrm>
            <a:off x="3371850" y="2080260"/>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40" name="TextBox 39"/>
          <p:cNvSpPr txBox="1"/>
          <p:nvPr/>
        </p:nvSpPr>
        <p:spPr>
          <a:xfrm>
            <a:off x="3371850" y="16478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1" name="TextBox 40"/>
          <p:cNvSpPr txBox="1"/>
          <p:nvPr/>
        </p:nvSpPr>
        <p:spPr>
          <a:xfrm>
            <a:off x="2686050" y="13620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Production Scale-up  14.1%</a:t>
            </a:r>
          </a:p>
        </p:txBody>
      </p:sp>
      <p:sp>
        <p:nvSpPr>
          <p:cNvPr id="42" name="TextBox 41"/>
          <p:cNvSpPr txBox="1"/>
          <p:nvPr/>
        </p:nvSpPr>
        <p:spPr>
          <a:xfrm>
            <a:off x="4363113"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Input Cost Pressure  10.2%</a:t>
            </a:r>
          </a:p>
        </p:txBody>
      </p:sp>
      <p:sp>
        <p:nvSpPr>
          <p:cNvPr id="43" name="TextBox 42"/>
          <p:cNvSpPr txBox="1"/>
          <p:nvPr/>
        </p:nvSpPr>
        <p:spPr>
          <a:xfrm>
            <a:off x="505777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Capacity Add  16.1%</a:t>
            </a:r>
          </a:p>
        </p:txBody>
      </p:sp>
      <p:sp>
        <p:nvSpPr>
          <p:cNvPr id="44" name="TextBox 43"/>
          <p:cNvSpPr txBox="1"/>
          <p:nvPr/>
        </p:nvSpPr>
        <p:spPr>
          <a:xfrm>
            <a:off x="4363113"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Supply Concentration  10.6%</a:t>
            </a:r>
          </a:p>
        </p:txBody>
      </p:sp>
      <p:sp>
        <p:nvSpPr>
          <p:cNvPr id="45" name="TextBox 44"/>
          <p:cNvSpPr txBox="1"/>
          <p:nvPr/>
        </p:nvSpPr>
        <p:spPr>
          <a:xfrm>
            <a:off x="2686050" y="610552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Geographic Spread  16.1%</a:t>
            </a:r>
          </a:p>
        </p:txBody>
      </p:sp>
      <p:sp>
        <p:nvSpPr>
          <p:cNvPr id="46" name="TextBox 45"/>
          <p:cNvSpPr txBox="1"/>
          <p:nvPr/>
        </p:nvSpPr>
        <p:spPr>
          <a:xfrm>
            <a:off x="1008987"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Portfolio Breadth  11.4%</a:t>
            </a:r>
          </a:p>
        </p:txBody>
      </p:sp>
      <p:sp>
        <p:nvSpPr>
          <p:cNvPr id="47" name="TextBox 46"/>
          <p:cNvSpPr txBox="1"/>
          <p:nvPr/>
        </p:nvSpPr>
        <p:spPr>
          <a:xfrm>
            <a:off x="31432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Route Depth  14.1%</a:t>
            </a:r>
          </a:p>
        </p:txBody>
      </p:sp>
      <p:sp>
        <p:nvSpPr>
          <p:cNvPr id="48" name="TextBox 47"/>
          <p:cNvSpPr txBox="1"/>
          <p:nvPr/>
        </p:nvSpPr>
        <p:spPr>
          <a:xfrm>
            <a:off x="1008987"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Value Realisation  7.4%</a:t>
            </a:r>
          </a:p>
        </p:txBody>
      </p:sp>
      <p:sp>
        <p:nvSpPr>
          <p:cNvPr id="49" name="Rounded Rectangle 48"/>
          <p:cNvSpPr/>
          <p:nvPr/>
        </p:nvSpPr>
        <p:spPr>
          <a:xfrm>
            <a:off x="6657975" y="876300"/>
            <a:ext cx="5391150" cy="5772150"/>
          </a:xfrm>
          <a:prstGeom prst="roundRect">
            <a:avLst>
              <a:gd name="adj" fmla="val 1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91325" y="962025"/>
            <a:ext cx="5124450" cy="209550"/>
          </a:xfrm>
          <a:prstGeom prst="rect">
            <a:avLst/>
          </a:prstGeom>
          <a:noFill/>
        </p:spPr>
        <p:txBody>
          <a:bodyPr wrap="square" lIns="0" rIns="19050" tIns="9525" bIns="9525">
            <a:spAutoFit/>
          </a:bodyPr>
          <a:lstStyle/>
          <a:p>
            <a:pPr algn="l"/>
            <a:r>
              <a:rPr sz="1300" b="1">
                <a:solidFill>
                  <a:srgbClr val="0B2E4A"/>
                </a:solidFill>
                <a:latin typeface="Calibri"/>
              </a:rPr>
              <a:t>Economic and Supply-side Factors</a:t>
            </a:r>
          </a:p>
        </p:txBody>
      </p:sp>
      <p:sp>
        <p:nvSpPr>
          <p:cNvPr id="51" name="Rectangle 50"/>
          <p:cNvSpPr/>
          <p:nvPr/>
        </p:nvSpPr>
        <p:spPr>
          <a:xfrm>
            <a:off x="6791325" y="1200150"/>
            <a:ext cx="5124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91325" y="1285875"/>
            <a:ext cx="5124450" cy="52863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Supply-side conditions are led by Capacity Add (10.0/10), Geographic Spread (10.0/10), Production Scale-up (8.8/10) on a 0-10 scale scored from the global dataset itself.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Volume expands at 7.0% CAGR (2026–2036) while average realisation moves 0.8% a year the balance of those two sets the cost-pass-through picture.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Supply is dispersed: 'North America' holds 32.9% of 2036 value across 7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Portfolio breadth spans 4 product type lines and 8 application routes, giving producers wide reformulation and channel latitude.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Capacity added between 2026 and 2036 is worth 2,627 US$ Mn, a 2.1× expansion on the 2026 base.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the dynamics framing is indicative factors, impact ratings and narrative are generated from the loaded dataset's own values.</a:t>
            </a:r>
          </a:p>
        </p:txBody>
      </p:sp>
      <p:sp>
        <p:nvSpPr>
          <p:cNvPr id="53" name="Rectangle 5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5" name="Rounded Rectangle 5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6" name="Rounded Rectangle 5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7" name="Rounded Rectangle 5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Global Driving Factors (2/2)</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demand-side factors scored by their impact on the global market</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6400800" cy="5772150"/>
          </a:xfrm>
          <a:prstGeom prst="roundRect">
            <a:avLst>
              <a:gd name="adj" fmla="val 132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933450"/>
            <a:ext cx="6210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Demand-side Factors  ·  impact score (0–10)</a:t>
            </a:r>
          </a:p>
        </p:txBody>
      </p:sp>
      <p:sp>
        <p:nvSpPr>
          <p:cNvPr id="14" name="Freeform 13"/>
          <p:cNvSpPr/>
          <p:nvPr/>
        </p:nvSpPr>
        <p:spPr>
          <a:xfrm>
            <a:off x="2914650" y="3448050"/>
            <a:ext cx="857250" cy="857250"/>
          </a:xfrm>
          <a:custGeom>
            <a:avLst/>
            <a:gdLst/>
            <a:ahLst/>
            <a:cxnLst/>
            <a:rect l="l" t="t" r="r" b="b"/>
            <a:pathLst>
              <a:path w="90" h="90">
                <a:moveTo>
                  <a:pt x="45" y="0"/>
                </a:moveTo>
                <a:lnTo>
                  <a:pt x="77" y="13"/>
                </a:lnTo>
                <a:lnTo>
                  <a:pt x="90" y="45"/>
                </a:lnTo>
                <a:lnTo>
                  <a:pt x="77" y="77"/>
                </a:lnTo>
                <a:lnTo>
                  <a:pt x="45" y="90"/>
                </a:lnTo>
                <a:lnTo>
                  <a:pt x="13" y="77"/>
                </a:lnTo>
                <a:lnTo>
                  <a:pt x="0" y="45"/>
                </a:lnTo>
                <a:lnTo>
                  <a:pt x="13" y="13"/>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2476500" y="3009900"/>
            <a:ext cx="1733550" cy="1733550"/>
          </a:xfrm>
          <a:custGeom>
            <a:avLst/>
            <a:gdLst/>
            <a:ahLst/>
            <a:cxnLst/>
            <a:rect l="l" t="t" r="r" b="b"/>
            <a:pathLst>
              <a:path w="182" h="182">
                <a:moveTo>
                  <a:pt x="91" y="0"/>
                </a:moveTo>
                <a:lnTo>
                  <a:pt x="155" y="27"/>
                </a:lnTo>
                <a:lnTo>
                  <a:pt x="182" y="91"/>
                </a:lnTo>
                <a:lnTo>
                  <a:pt x="155" y="155"/>
                </a:lnTo>
                <a:lnTo>
                  <a:pt x="91" y="182"/>
                </a:lnTo>
                <a:lnTo>
                  <a:pt x="27" y="155"/>
                </a:lnTo>
                <a:lnTo>
                  <a:pt x="0" y="91"/>
                </a:lnTo>
                <a:lnTo>
                  <a:pt x="27" y="27"/>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2047875" y="2581275"/>
            <a:ext cx="2590800" cy="2590800"/>
          </a:xfrm>
          <a:custGeom>
            <a:avLst/>
            <a:gdLst/>
            <a:ahLst/>
            <a:cxnLst/>
            <a:rect l="l" t="t" r="r" b="b"/>
            <a:pathLst>
              <a:path w="272" h="272">
                <a:moveTo>
                  <a:pt x="136" y="0"/>
                </a:moveTo>
                <a:lnTo>
                  <a:pt x="232" y="40"/>
                </a:lnTo>
                <a:lnTo>
                  <a:pt x="272" y="136"/>
                </a:lnTo>
                <a:lnTo>
                  <a:pt x="232" y="232"/>
                </a:lnTo>
                <a:lnTo>
                  <a:pt x="136" y="272"/>
                </a:lnTo>
                <a:lnTo>
                  <a:pt x="40" y="232"/>
                </a:lnTo>
                <a:lnTo>
                  <a:pt x="0" y="136"/>
                </a:lnTo>
                <a:lnTo>
                  <a:pt x="40" y="40"/>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609725" y="2143125"/>
            <a:ext cx="3467100" cy="3467100"/>
          </a:xfrm>
          <a:custGeom>
            <a:avLst/>
            <a:gdLst/>
            <a:ahLst/>
            <a:cxnLst/>
            <a:rect l="l" t="t" r="r" b="b"/>
            <a:pathLst>
              <a:path w="364" h="364">
                <a:moveTo>
                  <a:pt x="182" y="0"/>
                </a:moveTo>
                <a:lnTo>
                  <a:pt x="310" y="54"/>
                </a:lnTo>
                <a:lnTo>
                  <a:pt x="364" y="182"/>
                </a:lnTo>
                <a:lnTo>
                  <a:pt x="310" y="310"/>
                </a:lnTo>
                <a:lnTo>
                  <a:pt x="182" y="364"/>
                </a:lnTo>
                <a:lnTo>
                  <a:pt x="54" y="310"/>
                </a:lnTo>
                <a:lnTo>
                  <a:pt x="0" y="182"/>
                </a:lnTo>
                <a:lnTo>
                  <a:pt x="54" y="54"/>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181100" y="1714500"/>
            <a:ext cx="4324350" cy="4324350"/>
          </a:xfrm>
          <a:custGeom>
            <a:avLst/>
            <a:gdLst/>
            <a:ahLst/>
            <a:cxnLst/>
            <a:rect l="l" t="t" r="r" b="b"/>
            <a:pathLst>
              <a:path w="454" h="454">
                <a:moveTo>
                  <a:pt x="227" y="0"/>
                </a:moveTo>
                <a:lnTo>
                  <a:pt x="388" y="66"/>
                </a:lnTo>
                <a:lnTo>
                  <a:pt x="454" y="227"/>
                </a:lnTo>
                <a:lnTo>
                  <a:pt x="388" y="388"/>
                </a:lnTo>
                <a:lnTo>
                  <a:pt x="227" y="454"/>
                </a:lnTo>
                <a:lnTo>
                  <a:pt x="66" y="388"/>
                </a:lnTo>
                <a:lnTo>
                  <a:pt x="0" y="227"/>
                </a:lnTo>
                <a:lnTo>
                  <a:pt x="66" y="66"/>
                </a:lnTo>
                <a:close/>
              </a:path>
            </a:pathLst>
          </a:custGeom>
          <a:noFill/>
          <a:ln w="9525">
            <a:solidFill>
              <a:srgbClr val="D7E0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3343275" y="1714500"/>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343275"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343275"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343275"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343275" y="3876675"/>
            <a:ext cx="0" cy="2162175"/>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814386" y="3876675"/>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81100" y="3876675"/>
            <a:ext cx="2162175"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14386" y="2347786"/>
            <a:ext cx="1528889" cy="1528889"/>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27" name="Freeform 26"/>
          <p:cNvSpPr/>
          <p:nvPr/>
        </p:nvSpPr>
        <p:spPr>
          <a:xfrm>
            <a:off x="1981200" y="2171700"/>
            <a:ext cx="3257550" cy="3190875"/>
          </a:xfrm>
          <a:custGeom>
            <a:avLst/>
            <a:gdLst/>
            <a:ahLst/>
            <a:cxnLst/>
            <a:rect l="l" t="t" r="r" b="b"/>
            <a:pathLst>
              <a:path w="342" h="335">
                <a:moveTo>
                  <a:pt x="143" y="0"/>
                </a:moveTo>
                <a:lnTo>
                  <a:pt x="247" y="75"/>
                </a:lnTo>
                <a:lnTo>
                  <a:pt x="342" y="179"/>
                </a:lnTo>
                <a:lnTo>
                  <a:pt x="197" y="233"/>
                </a:lnTo>
                <a:lnTo>
                  <a:pt x="143" y="335"/>
                </a:lnTo>
                <a:lnTo>
                  <a:pt x="45" y="277"/>
                </a:lnTo>
                <a:lnTo>
                  <a:pt x="0" y="179"/>
                </a:lnTo>
                <a:lnTo>
                  <a:pt x="6" y="42"/>
                </a:lnTo>
                <a:close/>
              </a:path>
            </a:pathLst>
          </a:custGeom>
          <a:solidFill>
            <a:srgbClr val="2B5F8E">
              <a:alpha val="62000"/>
            </a:srgbClr>
          </a:solidFill>
          <a:ln w="27940">
            <a:solidFill>
              <a:srgbClr val="2B5F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309938" y="2134931"/>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97096" y="2856179"/>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201841"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828269" y="4361669"/>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09938" y="533240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374150" y="4779125"/>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44013" y="384333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007978" y="2541378"/>
            <a:ext cx="66675" cy="66675"/>
          </a:xfrm>
          <a:prstGeom prst="ellipse">
            <a:avLst/>
          </a:prstGeom>
          <a:solidFill>
            <a:srgbClr val="2B5F8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371850" y="3377565"/>
            <a:ext cx="285750" cy="123825"/>
          </a:xfrm>
          <a:prstGeom prst="rect">
            <a:avLst/>
          </a:prstGeom>
          <a:noFill/>
        </p:spPr>
        <p:txBody>
          <a:bodyPr wrap="none" lIns="0" rIns="0" tIns="0" bIns="0" anchor="ctr">
            <a:spAutoFit/>
          </a:bodyPr>
          <a:lstStyle/>
          <a:p>
            <a:pPr algn="l"/>
            <a:r>
              <a:rPr sz="700" b="0">
                <a:solidFill>
                  <a:srgbClr val="6C7A89"/>
                </a:solidFill>
                <a:latin typeface="Calibri"/>
              </a:rPr>
              <a:t>2</a:t>
            </a:r>
          </a:p>
        </p:txBody>
      </p:sp>
      <p:sp>
        <p:nvSpPr>
          <p:cNvPr id="37" name="TextBox 36"/>
          <p:cNvSpPr txBox="1"/>
          <p:nvPr/>
        </p:nvSpPr>
        <p:spPr>
          <a:xfrm>
            <a:off x="3371850" y="2945130"/>
            <a:ext cx="285750" cy="123825"/>
          </a:xfrm>
          <a:prstGeom prst="rect">
            <a:avLst/>
          </a:prstGeom>
          <a:noFill/>
        </p:spPr>
        <p:txBody>
          <a:bodyPr wrap="none" lIns="0" rIns="0" tIns="0" bIns="0" anchor="ctr">
            <a:spAutoFit/>
          </a:bodyPr>
          <a:lstStyle/>
          <a:p>
            <a:pPr algn="l"/>
            <a:r>
              <a:rPr sz="700" b="0">
                <a:solidFill>
                  <a:srgbClr val="6C7A89"/>
                </a:solidFill>
                <a:latin typeface="Calibri"/>
              </a:rPr>
              <a:t>4</a:t>
            </a:r>
          </a:p>
        </p:txBody>
      </p:sp>
      <p:sp>
        <p:nvSpPr>
          <p:cNvPr id="38" name="TextBox 37"/>
          <p:cNvSpPr txBox="1"/>
          <p:nvPr/>
        </p:nvSpPr>
        <p:spPr>
          <a:xfrm>
            <a:off x="3371850" y="2512695"/>
            <a:ext cx="285750" cy="123825"/>
          </a:xfrm>
          <a:prstGeom prst="rect">
            <a:avLst/>
          </a:prstGeom>
          <a:noFill/>
        </p:spPr>
        <p:txBody>
          <a:bodyPr wrap="none" lIns="0" rIns="0" tIns="0" bIns="0" anchor="ctr">
            <a:spAutoFit/>
          </a:bodyPr>
          <a:lstStyle/>
          <a:p>
            <a:pPr algn="l"/>
            <a:r>
              <a:rPr sz="700" b="0">
                <a:solidFill>
                  <a:srgbClr val="6C7A89"/>
                </a:solidFill>
                <a:latin typeface="Calibri"/>
              </a:rPr>
              <a:t>6</a:t>
            </a:r>
          </a:p>
        </p:txBody>
      </p:sp>
      <p:sp>
        <p:nvSpPr>
          <p:cNvPr id="39" name="TextBox 38"/>
          <p:cNvSpPr txBox="1"/>
          <p:nvPr/>
        </p:nvSpPr>
        <p:spPr>
          <a:xfrm>
            <a:off x="3371850" y="2080260"/>
            <a:ext cx="285750" cy="123825"/>
          </a:xfrm>
          <a:prstGeom prst="rect">
            <a:avLst/>
          </a:prstGeom>
          <a:noFill/>
        </p:spPr>
        <p:txBody>
          <a:bodyPr wrap="none" lIns="0" rIns="0" tIns="0" bIns="0" anchor="ctr">
            <a:spAutoFit/>
          </a:bodyPr>
          <a:lstStyle/>
          <a:p>
            <a:pPr algn="l"/>
            <a:r>
              <a:rPr sz="700" b="0">
                <a:solidFill>
                  <a:srgbClr val="6C7A89"/>
                </a:solidFill>
                <a:latin typeface="Calibri"/>
              </a:rPr>
              <a:t>8</a:t>
            </a:r>
          </a:p>
        </p:txBody>
      </p:sp>
      <p:sp>
        <p:nvSpPr>
          <p:cNvPr id="40" name="TextBox 39"/>
          <p:cNvSpPr txBox="1"/>
          <p:nvPr/>
        </p:nvSpPr>
        <p:spPr>
          <a:xfrm>
            <a:off x="3371850" y="1647825"/>
            <a:ext cx="285750" cy="123825"/>
          </a:xfrm>
          <a:prstGeom prst="rect">
            <a:avLst/>
          </a:prstGeom>
          <a:noFill/>
        </p:spPr>
        <p:txBody>
          <a:bodyPr wrap="none" lIns="0" rIns="0" tIns="0" bIns="0" anchor="ctr">
            <a:spAutoFit/>
          </a:bodyPr>
          <a:lstStyle/>
          <a:p>
            <a:pPr algn="l"/>
            <a:r>
              <a:rPr sz="700" b="0">
                <a:solidFill>
                  <a:srgbClr val="6C7A89"/>
                </a:solidFill>
                <a:latin typeface="Calibri"/>
              </a:rPr>
              <a:t>10</a:t>
            </a:r>
          </a:p>
        </p:txBody>
      </p:sp>
      <p:sp>
        <p:nvSpPr>
          <p:cNvPr id="41" name="TextBox 40"/>
          <p:cNvSpPr txBox="1"/>
          <p:nvPr/>
        </p:nvSpPr>
        <p:spPr>
          <a:xfrm>
            <a:off x="2686050" y="136207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Demand Growth  14.5%</a:t>
            </a:r>
          </a:p>
        </p:txBody>
      </p:sp>
      <p:sp>
        <p:nvSpPr>
          <p:cNvPr id="42" name="TextBox 41"/>
          <p:cNvSpPr txBox="1"/>
          <p:nvPr/>
        </p:nvSpPr>
        <p:spPr>
          <a:xfrm>
            <a:off x="4363113"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Premiumisation  11.9%</a:t>
            </a:r>
          </a:p>
        </p:txBody>
      </p:sp>
      <p:sp>
        <p:nvSpPr>
          <p:cNvPr id="43" name="TextBox 42"/>
          <p:cNvSpPr txBox="1"/>
          <p:nvPr/>
        </p:nvSpPr>
        <p:spPr>
          <a:xfrm>
            <a:off x="505777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App. Breadth  16.1%</a:t>
            </a:r>
          </a:p>
        </p:txBody>
      </p:sp>
      <p:sp>
        <p:nvSpPr>
          <p:cNvPr id="44" name="TextBox 43"/>
          <p:cNvSpPr txBox="1"/>
          <p:nvPr/>
        </p:nvSpPr>
        <p:spPr>
          <a:xfrm>
            <a:off x="4363113"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Emerging Pull  6.2%</a:t>
            </a:r>
          </a:p>
        </p:txBody>
      </p:sp>
      <p:sp>
        <p:nvSpPr>
          <p:cNvPr id="45" name="TextBox 44"/>
          <p:cNvSpPr txBox="1"/>
          <p:nvPr/>
        </p:nvSpPr>
        <p:spPr>
          <a:xfrm>
            <a:off x="2686050" y="6105525"/>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Volume Momentum  12.7%</a:t>
            </a:r>
          </a:p>
        </p:txBody>
      </p:sp>
      <p:sp>
        <p:nvSpPr>
          <p:cNvPr id="46" name="TextBox 45"/>
          <p:cNvSpPr txBox="1"/>
          <p:nvPr/>
        </p:nvSpPr>
        <p:spPr>
          <a:xfrm>
            <a:off x="1008987" y="5410863"/>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Category Maturity  11.3%</a:t>
            </a:r>
          </a:p>
        </p:txBody>
      </p:sp>
      <p:sp>
        <p:nvSpPr>
          <p:cNvPr id="47" name="TextBox 46"/>
          <p:cNvSpPr txBox="1"/>
          <p:nvPr/>
        </p:nvSpPr>
        <p:spPr>
          <a:xfrm>
            <a:off x="314325" y="3733800"/>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Adoption Depth  11.6%</a:t>
            </a:r>
          </a:p>
        </p:txBody>
      </p:sp>
      <p:sp>
        <p:nvSpPr>
          <p:cNvPr id="48" name="TextBox 47"/>
          <p:cNvSpPr txBox="1"/>
          <p:nvPr/>
        </p:nvSpPr>
        <p:spPr>
          <a:xfrm>
            <a:off x="1008987" y="2056737"/>
            <a:ext cx="1314450" cy="285750"/>
          </a:xfrm>
          <a:prstGeom prst="rect">
            <a:avLst/>
          </a:prstGeom>
          <a:noFill/>
        </p:spPr>
        <p:txBody>
          <a:bodyPr wrap="square" lIns="28575" rIns="28575" tIns="9525" bIns="9525" anchor="ctr">
            <a:spAutoFit/>
          </a:bodyPr>
          <a:lstStyle/>
          <a:p>
            <a:pPr algn="ctr"/>
            <a:r>
              <a:rPr sz="800" b="0">
                <a:solidFill>
                  <a:srgbClr val="2E2E2E"/>
                </a:solidFill>
                <a:latin typeface="Calibri"/>
              </a:rPr>
              <a:t>Consumer Reach  15.7%</a:t>
            </a:r>
          </a:p>
        </p:txBody>
      </p:sp>
      <p:sp>
        <p:nvSpPr>
          <p:cNvPr id="49" name="Rounded Rectangle 48"/>
          <p:cNvSpPr/>
          <p:nvPr/>
        </p:nvSpPr>
        <p:spPr>
          <a:xfrm>
            <a:off x="6657975" y="876300"/>
            <a:ext cx="5391150" cy="5772150"/>
          </a:xfrm>
          <a:prstGeom prst="roundRect">
            <a:avLst>
              <a:gd name="adj" fmla="val 141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91325" y="962025"/>
            <a:ext cx="5124450" cy="209550"/>
          </a:xfrm>
          <a:prstGeom prst="rect">
            <a:avLst/>
          </a:prstGeom>
          <a:noFill/>
        </p:spPr>
        <p:txBody>
          <a:bodyPr wrap="square" lIns="0" rIns="19050" tIns="9525" bIns="9525">
            <a:spAutoFit/>
          </a:bodyPr>
          <a:lstStyle/>
          <a:p>
            <a:pPr algn="l"/>
            <a:r>
              <a:rPr sz="1300" b="1">
                <a:solidFill>
                  <a:srgbClr val="0B2E4A"/>
                </a:solidFill>
                <a:latin typeface="Calibri"/>
              </a:rPr>
              <a:t>Demand-side Factors</a:t>
            </a:r>
          </a:p>
        </p:txBody>
      </p:sp>
      <p:sp>
        <p:nvSpPr>
          <p:cNvPr id="51" name="Rectangle 50"/>
          <p:cNvSpPr/>
          <p:nvPr/>
        </p:nvSpPr>
        <p:spPr>
          <a:xfrm>
            <a:off x="6791325" y="1200150"/>
            <a:ext cx="5124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91325" y="1285875"/>
            <a:ext cx="5124450" cy="52863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Demand-side conditions are led by App. Breadth (8.8/10), Consumer Reach (8.5/10), Demand Growth (7.9/10) on a 0-10 scale scored from the global dataset itself.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Value grows at 7.9% against volume at 7.0% a premiumising market through 2036.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Containers' carries 42.9% of product type demand while 'Integrated Capillary Blood Collection Devices' compounds fastest at 12.5%.</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Pull is strongest in 'East Asia' (8.4% CAGR, +53 BPS versus the market), with 3 of 7 regions at or above pace.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Reach runs through 8 application routes, led by 'Diabetes &amp; Glucose Testing' at 38.9% and with 'Genetic &amp; Molecular Testing' growing fastest at 14.8%.</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the dynamics framing is indicative factors, impact ratings and narrative are generated from the loaded dataset's own values.</a:t>
            </a:r>
          </a:p>
        </p:txBody>
      </p:sp>
      <p:sp>
        <p:nvSpPr>
          <p:cNvPr id="53" name="Rectangle 5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5" name="Rounded Rectangle 5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6" name="Rounded Rectangle 5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7" name="Rounded Rectangle 5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081212"/>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Market Dynamics</a:t>
            </a:r>
          </a:p>
        </p:txBody>
      </p:sp>
      <p:sp>
        <p:nvSpPr>
          <p:cNvPr id="7" name="TextBox 6"/>
          <p:cNvSpPr txBox="1"/>
          <p:nvPr/>
        </p:nvSpPr>
        <p:spPr>
          <a:xfrm>
            <a:off x="1219200" y="2328862"/>
            <a:ext cx="6667500" cy="438150"/>
          </a:xfrm>
          <a:prstGeom prst="rect">
            <a:avLst/>
          </a:prstGeom>
          <a:noFill/>
        </p:spPr>
        <p:txBody>
          <a:bodyPr wrap="square" lIns="0" rIns="19050" tIns="0" bIns="0" anchor="t">
            <a:spAutoFit/>
          </a:bodyPr>
          <a:lstStyle/>
          <a:p>
            <a:pPr algn="l">
              <a:lnSpc>
                <a:spcPct val="102000"/>
              </a:lnSpc>
            </a:pPr>
            <a:r>
              <a:rPr sz="3000" b="1">
                <a:solidFill>
                  <a:srgbClr val="0B2E4A"/>
                </a:solidFill>
                <a:latin typeface="Calibri"/>
              </a:rPr>
              <a:t>Market Dynamics &amp; Forces</a:t>
            </a:r>
          </a:p>
        </p:txBody>
      </p:sp>
      <p:sp>
        <p:nvSpPr>
          <p:cNvPr id="8" name="TextBox 7"/>
          <p:cNvSpPr txBox="1"/>
          <p:nvPr/>
        </p:nvSpPr>
        <p:spPr>
          <a:xfrm>
            <a:off x="1219200" y="2919412"/>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Drivers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Restraints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Market Opportunities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Recent Developments &amp; Milestones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Five Forces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21</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Market Drivers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the key growth drivers of the global market and the likelihood of their impact across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2038350" cy="266700"/>
          </a:xfrm>
          <a:prstGeom prst="roundRect">
            <a:avLst>
              <a:gd name="adj" fmla="val 1869"/>
            </a:avLst>
          </a:prstGeom>
          <a:solidFill>
            <a:srgbClr val="1668A8"/>
          </a:solidFill>
          <a:ln w="12700">
            <a:solidFill>
              <a:srgbClr val="1668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Drivers</a:t>
            </a:r>
          </a:p>
        </p:txBody>
      </p:sp>
      <p:sp>
        <p:nvSpPr>
          <p:cNvPr id="14" name="Rounded Rectangle 13"/>
          <p:cNvSpPr/>
          <p:nvPr/>
        </p:nvSpPr>
        <p:spPr>
          <a:xfrm>
            <a:off x="2266950"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Restraints</a:t>
            </a:r>
          </a:p>
        </p:txBody>
      </p:sp>
      <p:sp>
        <p:nvSpPr>
          <p:cNvPr id="16" name="Rounded Rectangle 15"/>
          <p:cNvSpPr/>
          <p:nvPr/>
        </p:nvSpPr>
        <p:spPr>
          <a:xfrm>
            <a:off x="439102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Opportunities</a:t>
            </a:r>
          </a:p>
        </p:txBody>
      </p:sp>
      <p:sp>
        <p:nvSpPr>
          <p:cNvPr id="18" name="Rectangle 17"/>
          <p:cNvSpPr/>
          <p:nvPr/>
        </p:nvSpPr>
        <p:spPr>
          <a:xfrm>
            <a:off x="142875" y="12573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Integrated Capillary Blood Collection Devices Compounds Fastest Across the Product Type Mix</a:t>
            </a:r>
          </a:p>
        </p:txBody>
      </p:sp>
      <p:sp>
        <p:nvSpPr>
          <p:cNvPr id="20" name="TextBox 19"/>
          <p:cNvSpPr txBox="1"/>
          <p:nvPr/>
        </p:nvSpPr>
        <p:spPr>
          <a:xfrm>
            <a:off x="161925" y="1581150"/>
            <a:ext cx="9439275" cy="85725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'Integrated Capillary Blood Collection Devices' is the fastest-compounding product type line in the global market, growing at 12.5% CAGR between 2026 and 2036 against a market pace of 7.9%. It adds 456.7 US$ Mn of incremental value over the horizon and moves +458 BPS of share where mix shifts in its favour. With 4 lines competing inside product type, that concentration of growth makes it the single clearest demand driver for the category producers weighting capacity and promotion toward it capture a disproportionate share of the 2,627 US$ Mn the market adds in total.</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East Asia Emerges as the Growth Engine Among Regions</a:t>
            </a:r>
          </a:p>
        </p:txBody>
      </p:sp>
      <p:sp>
        <p:nvSpPr>
          <p:cNvPr id="37" name="TextBox 36"/>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'East Asia' expands at 8.4% CAGR (2026–2036), running +53 BPS ahead of the global market and adding 446.5 US$ Mn. 3 of 7 regions grow at or above the market pace, so growth is broad rather than isolated, but the leaders compound from a materially larger base 'North America' alone holds 32.9% of 2036 value. The combination sustains volume through the forecast period and pulls investment toward the faster regions.</a:t>
            </a:r>
          </a:p>
        </p:txBody>
      </p:sp>
      <p:sp>
        <p:nvSpPr>
          <p:cNvPr id="38" name="TextBox 37"/>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39" name="TextBox 38"/>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0" name="Rectangle 39"/>
          <p:cNvSpPr/>
          <p:nvPr/>
        </p:nvSpPr>
        <p:spPr>
          <a:xfrm>
            <a:off x="981075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2" name="TextBox 41"/>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3" name="Rectangle 42"/>
          <p:cNvSpPr/>
          <p:nvPr/>
        </p:nvSpPr>
        <p:spPr>
          <a:xfrm>
            <a:off x="1089660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5" name="TextBox 44"/>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6" name="Rectangle 45"/>
          <p:cNvSpPr/>
          <p:nvPr/>
        </p:nvSpPr>
        <p:spPr>
          <a:xfrm>
            <a:off x="981075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8" name="TextBox 47"/>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49" name="Rectangle 48"/>
          <p:cNvSpPr/>
          <p:nvPr/>
        </p:nvSpPr>
        <p:spPr>
          <a:xfrm>
            <a:off x="1089660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cxnSp>
        <p:nvCxnSpPr>
          <p:cNvPr id="51" name="Connector 50"/>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42875" y="4914900"/>
            <a:ext cx="9496425" cy="266700"/>
          </a:xfrm>
          <a:prstGeom prst="rect">
            <a:avLst/>
          </a:prstGeom>
          <a:solidFill>
            <a:srgbClr val="DC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Premiumisation Lifts Average Realisation</a:t>
            </a:r>
          </a:p>
        </p:txBody>
      </p:sp>
      <p:sp>
        <p:nvSpPr>
          <p:cNvPr id="54" name="TextBox 53"/>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Value compounds at 7.9% against volume at 7.0%, a +87 BPS spread that shows demand trading up rather than simply buying more. Average realisation moves from 817,008.54 to 886,234.50 US$/Units between 2026 and 2036 (0.8% a year). 'Diabetes &amp; Glucose Testing' carries 38.9% of application demand and 'Genetic &amp; Molecular Testing' grows fastest at 14.8%, giving suppliers a route to convert that shift into margin across 8 application routes.</a:t>
            </a:r>
          </a:p>
        </p:txBody>
      </p:sp>
      <p:sp>
        <p:nvSpPr>
          <p:cNvPr id="55" name="TextBox 54"/>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6" name="TextBox 55"/>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7" name="Rectangle 56"/>
          <p:cNvSpPr/>
          <p:nvPr/>
        </p:nvSpPr>
        <p:spPr>
          <a:xfrm>
            <a:off x="9810750" y="53149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59" name="TextBox 58"/>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0" name="Rectangle 59"/>
          <p:cNvSpPr/>
          <p:nvPr/>
        </p:nvSpPr>
        <p:spPr>
          <a:xfrm>
            <a:off x="10896600" y="53149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2" name="TextBox 61"/>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3" name="Rectangle 62"/>
          <p:cNvSpPr/>
          <p:nvPr/>
        </p:nvSpPr>
        <p:spPr>
          <a:xfrm>
            <a:off x="9810750" y="58864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5" name="TextBox 64"/>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6" name="Rectangle 65"/>
          <p:cNvSpPr/>
          <p:nvPr/>
        </p:nvSpPr>
        <p:spPr>
          <a:xfrm>
            <a:off x="10896600" y="58864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68" name="Rectangle 6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0" name="Rounded Rectangle 6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1" name="Rounded Rectangle 7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2" name="Rounded Rectangle 7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Market Restraints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the key restraints on the global market and the likelihood of their impact across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Drivers</a:t>
            </a:r>
          </a:p>
        </p:txBody>
      </p:sp>
      <p:sp>
        <p:nvSpPr>
          <p:cNvPr id="14" name="Rounded Rectangle 13"/>
          <p:cNvSpPr/>
          <p:nvPr/>
        </p:nvSpPr>
        <p:spPr>
          <a:xfrm>
            <a:off x="2266950" y="876300"/>
            <a:ext cx="2038350" cy="266700"/>
          </a:xfrm>
          <a:prstGeom prst="roundRect">
            <a:avLst>
              <a:gd name="adj" fmla="val 1869"/>
            </a:avLst>
          </a:prstGeom>
          <a:solidFill>
            <a:srgbClr val="C0603A"/>
          </a:solidFill>
          <a:ln w="12700">
            <a:solidFill>
              <a:srgbClr val="C060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Restraints</a:t>
            </a:r>
          </a:p>
        </p:txBody>
      </p:sp>
      <p:sp>
        <p:nvSpPr>
          <p:cNvPr id="16" name="Rounded Rectangle 15"/>
          <p:cNvSpPr/>
          <p:nvPr/>
        </p:nvSpPr>
        <p:spPr>
          <a:xfrm>
            <a:off x="439102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Opportunities</a:t>
            </a:r>
          </a:p>
        </p:txBody>
      </p:sp>
      <p:sp>
        <p:nvSpPr>
          <p:cNvPr id="18" name="Rectangle 17"/>
          <p:cNvSpPr/>
          <p:nvPr/>
        </p:nvSpPr>
        <p:spPr>
          <a:xfrm>
            <a:off x="142875" y="12573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Blood Collection Lancets Lags the Category and Dilutes Blended Growth</a:t>
            </a:r>
          </a:p>
        </p:txBody>
      </p:sp>
      <p:sp>
        <p:nvSpPr>
          <p:cNvPr id="20" name="TextBox 19"/>
          <p:cNvSpPr txBox="1"/>
          <p:nvPr/>
        </p:nvSpPr>
        <p:spPr>
          <a:xfrm>
            <a:off x="161925" y="15811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'Blood Collection Lancets' grows at only 7.0% CAGR against the market's 7.9%, a -93 BPS gap, and 'Capillary Blood Collection Containers' surrenders 374 BPS of product type share between 2026 and 2036. Because these lines still carry meaningful volume, the drag is absorbed by the whole category: blended growth sits below what the leading lines achieve on their own. Rationalising or repositioning the lagging end of a 4-line portfolio is therefore a precondition for realising the headline forecast.</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Uneven Region Performance Caps the Blended Rate</a:t>
            </a:r>
          </a:p>
        </p:txBody>
      </p:sp>
      <p:sp>
        <p:nvSpPr>
          <p:cNvPr id="37" name="TextBox 36"/>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'Latin America' grows at just 7.4% CAGR -48 BPS against the market and 4 of 7 regions sit below the market pace altogether. Demand is therefore not uniformly available: suppliers carrying a broad geographic footprint fund presence in slow regions out of returns earned in the fast ones. With 'North America' at 32.9% of value, a shortfall in a single leading region is difficult to offset elsewhere in the forecast window.</a:t>
            </a:r>
          </a:p>
        </p:txBody>
      </p:sp>
      <p:sp>
        <p:nvSpPr>
          <p:cNvPr id="38" name="TextBox 37"/>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39" name="TextBox 38"/>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0" name="Rectangle 39"/>
          <p:cNvSpPr/>
          <p:nvPr/>
        </p:nvSpPr>
        <p:spPr>
          <a:xfrm>
            <a:off x="981075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2" name="TextBox 41"/>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3" name="Rectangle 42"/>
          <p:cNvSpPr/>
          <p:nvPr/>
        </p:nvSpPr>
        <p:spPr>
          <a:xfrm>
            <a:off x="10896600" y="34861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5" name="TextBox 44"/>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6" name="Rectangle 45"/>
          <p:cNvSpPr/>
          <p:nvPr/>
        </p:nvSpPr>
        <p:spPr>
          <a:xfrm>
            <a:off x="981075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8" name="TextBox 47"/>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49" name="Rectangle 48"/>
          <p:cNvSpPr/>
          <p:nvPr/>
        </p:nvSpPr>
        <p:spPr>
          <a:xfrm>
            <a:off x="10896600" y="40576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cxnSp>
        <p:nvCxnSpPr>
          <p:cNvPr id="51" name="Connector 50"/>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42875" y="4914900"/>
            <a:ext cx="9496425" cy="266700"/>
          </a:xfrm>
          <a:prstGeom prst="rect">
            <a:avLst/>
          </a:prstGeom>
          <a:solidFill>
            <a:srgbClr val="F7E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Concentration Risk Limits Pricing and Sourcing Flexibility</a:t>
            </a:r>
          </a:p>
        </p:txBody>
      </p:sp>
      <p:sp>
        <p:nvSpPr>
          <p:cNvPr id="54" name="TextBox 53"/>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The market is concentrated: 'North America' accounts for 32.9% of 2036 value and the leading product type line for 42.9% of its segment. Average realisation moves 0.8% a year, so cost movements cannot be passed on evenly across 7 regions. The practical constraint is the same in either case commercial terms set for the market as a whole underserve part of it, and margin is lost in the mismatch rather than in the headline growth rate.</a:t>
            </a:r>
          </a:p>
        </p:txBody>
      </p:sp>
      <p:sp>
        <p:nvSpPr>
          <p:cNvPr id="55" name="TextBox 54"/>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6" name="TextBox 55"/>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7" name="Rectangle 56"/>
          <p:cNvSpPr/>
          <p:nvPr/>
        </p:nvSpPr>
        <p:spPr>
          <a:xfrm>
            <a:off x="981075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59" name="TextBox 58"/>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0" name="Rectangle 59"/>
          <p:cNvSpPr/>
          <p:nvPr/>
        </p:nvSpPr>
        <p:spPr>
          <a:xfrm>
            <a:off x="1089660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2" name="TextBox 61"/>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3" name="Rectangle 62"/>
          <p:cNvSpPr/>
          <p:nvPr/>
        </p:nvSpPr>
        <p:spPr>
          <a:xfrm>
            <a:off x="981075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5" name="TextBox 64"/>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6" name="Rectangle 65"/>
          <p:cNvSpPr/>
          <p:nvPr/>
        </p:nvSpPr>
        <p:spPr>
          <a:xfrm>
            <a:off x="1089660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8" name="Rectangle 6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0" name="Rounded Rectangle 6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1" name="Rounded Rectangle 7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2" name="Rounded Rectangle 7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Market Opportunities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the key opportunities in the global market and the likelihood of their impact across 2021–2036</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Drivers</a:t>
            </a:r>
          </a:p>
        </p:txBody>
      </p:sp>
      <p:sp>
        <p:nvSpPr>
          <p:cNvPr id="14" name="Rounded Rectangle 13"/>
          <p:cNvSpPr/>
          <p:nvPr/>
        </p:nvSpPr>
        <p:spPr>
          <a:xfrm>
            <a:off x="2266950" y="876300"/>
            <a:ext cx="2038350" cy="266700"/>
          </a:xfrm>
          <a:prstGeom prst="roundRect">
            <a:avLst>
              <a:gd name="adj" fmla="val 1869"/>
            </a:avLst>
          </a:prstGeom>
          <a:solidFill>
            <a:srgbClr val="ECEFF1"/>
          </a:solidFill>
          <a:ln w="12700">
            <a:solidFill>
              <a:srgbClr val="D5DA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6950" y="876300"/>
            <a:ext cx="2038350" cy="266700"/>
          </a:xfrm>
          <a:prstGeom prst="rect">
            <a:avLst/>
          </a:prstGeom>
          <a:noFill/>
        </p:spPr>
        <p:txBody>
          <a:bodyPr wrap="square" lIns="28575" rIns="28575" tIns="9525" bIns="9525" anchor="ctr">
            <a:spAutoFit/>
          </a:bodyPr>
          <a:lstStyle/>
          <a:p>
            <a:pPr algn="ctr"/>
            <a:r>
              <a:rPr sz="1050" b="1">
                <a:solidFill>
                  <a:srgbClr val="8A9096"/>
                </a:solidFill>
                <a:latin typeface="Calibri"/>
              </a:rPr>
              <a:t>Market Restraints</a:t>
            </a:r>
          </a:p>
        </p:txBody>
      </p:sp>
      <p:sp>
        <p:nvSpPr>
          <p:cNvPr id="16" name="Rounded Rectangle 15"/>
          <p:cNvSpPr/>
          <p:nvPr/>
        </p:nvSpPr>
        <p:spPr>
          <a:xfrm>
            <a:off x="4391025" y="876300"/>
            <a:ext cx="2038350" cy="266700"/>
          </a:xfrm>
          <a:prstGeom prst="roundRect">
            <a:avLst>
              <a:gd name="adj" fmla="val 1869"/>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91025" y="876300"/>
            <a:ext cx="2038350" cy="266700"/>
          </a:xfrm>
          <a:prstGeom prst="rect">
            <a:avLst/>
          </a:prstGeom>
          <a:noFill/>
        </p:spPr>
        <p:txBody>
          <a:bodyPr wrap="square" lIns="28575" rIns="28575" tIns="9525" bIns="9525" anchor="ctr">
            <a:spAutoFit/>
          </a:bodyPr>
          <a:lstStyle/>
          <a:p>
            <a:pPr algn="ctr"/>
            <a:r>
              <a:rPr sz="1050" b="1">
                <a:solidFill>
                  <a:srgbClr val="FFFFFF"/>
                </a:solidFill>
                <a:latin typeface="Calibri"/>
              </a:rPr>
              <a:t>Market Opportunities</a:t>
            </a:r>
          </a:p>
        </p:txBody>
      </p:sp>
      <p:sp>
        <p:nvSpPr>
          <p:cNvPr id="18" name="Rectangle 17"/>
          <p:cNvSpPr/>
          <p:nvPr/>
        </p:nvSpPr>
        <p:spPr>
          <a:xfrm>
            <a:off x="142875" y="12573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6225" y="12573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United States Carries the Largest Absolute Opportunity</a:t>
            </a:r>
          </a:p>
        </p:txBody>
      </p:sp>
      <p:sp>
        <p:nvSpPr>
          <p:cNvPr id="20" name="TextBox 19"/>
          <p:cNvSpPr txBox="1"/>
          <p:nvPr/>
        </p:nvSpPr>
        <p:spPr>
          <a:xfrm>
            <a:off x="161925" y="15811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'United States' adds 761.9 US$ Mn between 2026 and 2036 the single largest absolute increment of any geography in the dataset. Capturing it is a question of scale execution rather than market creation: demand already exists and grows at 7.9% at the market level. Prioritising supply, channel coverage and service levels there converts the largest share of the 2,627 US$ Mn the whole market adds over the forecast period.</a:t>
            </a:r>
          </a:p>
        </p:txBody>
      </p:sp>
      <p:sp>
        <p:nvSpPr>
          <p:cNvPr id="21" name="TextBox 20"/>
          <p:cNvSpPr txBox="1"/>
          <p:nvPr/>
        </p:nvSpPr>
        <p:spPr>
          <a:xfrm>
            <a:off x="9810750" y="12573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22" name="TextBox 21"/>
          <p:cNvSpPr txBox="1"/>
          <p:nvPr/>
        </p:nvSpPr>
        <p:spPr>
          <a:xfrm>
            <a:off x="981075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23" name="Rectangle 22"/>
          <p:cNvSpPr/>
          <p:nvPr/>
        </p:nvSpPr>
        <p:spPr>
          <a:xfrm>
            <a:off x="981075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1075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5" name="TextBox 24"/>
          <p:cNvSpPr txBox="1"/>
          <p:nvPr/>
        </p:nvSpPr>
        <p:spPr>
          <a:xfrm>
            <a:off x="10896600" y="15240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26" name="Rectangle 25"/>
          <p:cNvSpPr/>
          <p:nvPr/>
        </p:nvSpPr>
        <p:spPr>
          <a:xfrm>
            <a:off x="10896600" y="16573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96600" y="16573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28" name="TextBox 27"/>
          <p:cNvSpPr txBox="1"/>
          <p:nvPr/>
        </p:nvSpPr>
        <p:spPr>
          <a:xfrm>
            <a:off x="981075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29" name="Rectangle 28"/>
          <p:cNvSpPr/>
          <p:nvPr/>
        </p:nvSpPr>
        <p:spPr>
          <a:xfrm>
            <a:off x="9810750" y="22288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10750" y="22288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31" name="TextBox 30"/>
          <p:cNvSpPr txBox="1"/>
          <p:nvPr/>
        </p:nvSpPr>
        <p:spPr>
          <a:xfrm>
            <a:off x="10896600" y="20955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32" name="Rectangle 31"/>
          <p:cNvSpPr/>
          <p:nvPr/>
        </p:nvSpPr>
        <p:spPr>
          <a:xfrm>
            <a:off x="10896600" y="22288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96600" y="22288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cxnSp>
        <p:nvCxnSpPr>
          <p:cNvPr id="34" name="Connector 33"/>
          <p:cNvCxnSpPr/>
          <p:nvPr/>
        </p:nvCxnSpPr>
        <p:spPr>
          <a:xfrm>
            <a:off x="142875" y="30289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142875" y="30861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6225" y="30861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Rest of SAP Offers Under-penetrated, Above-pace Headroom</a:t>
            </a:r>
          </a:p>
        </p:txBody>
      </p:sp>
      <p:sp>
        <p:nvSpPr>
          <p:cNvPr id="37" name="TextBox 36"/>
          <p:cNvSpPr txBox="1"/>
          <p:nvPr/>
        </p:nvSpPr>
        <p:spPr>
          <a:xfrm>
            <a:off x="161925" y="34099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'Rest of SAP' compounds at 8.9% CAGR from a below-median base one of 7 geographies in the dataset combining above-median growth with below-median size. That profile is where share is cheapest to buy: competitive intensity is lower than in the 32.9%-share leaders, while growth runs +101 BPS ahead of the market. Early distribution and reference accounts established here compound through 2036.</a:t>
            </a:r>
          </a:p>
        </p:txBody>
      </p:sp>
      <p:sp>
        <p:nvSpPr>
          <p:cNvPr id="38" name="TextBox 37"/>
          <p:cNvSpPr txBox="1"/>
          <p:nvPr/>
        </p:nvSpPr>
        <p:spPr>
          <a:xfrm>
            <a:off x="9810750" y="30861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39" name="TextBox 38"/>
          <p:cNvSpPr txBox="1"/>
          <p:nvPr/>
        </p:nvSpPr>
        <p:spPr>
          <a:xfrm>
            <a:off x="981075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40" name="Rectangle 39"/>
          <p:cNvSpPr/>
          <p:nvPr/>
        </p:nvSpPr>
        <p:spPr>
          <a:xfrm>
            <a:off x="9810750" y="34861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10750" y="34861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2" name="TextBox 41"/>
          <p:cNvSpPr txBox="1"/>
          <p:nvPr/>
        </p:nvSpPr>
        <p:spPr>
          <a:xfrm>
            <a:off x="10896600" y="33528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43" name="Rectangle 42"/>
          <p:cNvSpPr/>
          <p:nvPr/>
        </p:nvSpPr>
        <p:spPr>
          <a:xfrm>
            <a:off x="10896600" y="3486150"/>
            <a:ext cx="990600" cy="400050"/>
          </a:xfrm>
          <a:prstGeom prst="rect">
            <a:avLst/>
          </a:prstGeom>
          <a:solidFill>
            <a:srgbClr val="FFFFFF"/>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896600" y="3486150"/>
            <a:ext cx="990600" cy="400050"/>
          </a:xfrm>
          <a:prstGeom prst="rect">
            <a:avLst/>
          </a:prstGeom>
          <a:noFill/>
        </p:spPr>
        <p:txBody>
          <a:bodyPr wrap="square" lIns="28575" rIns="28575" tIns="9525" bIns="9525" anchor="ctr">
            <a:spAutoFit/>
          </a:bodyPr>
          <a:lstStyle/>
          <a:p>
            <a:pPr algn="ctr"/>
            <a:r>
              <a:rPr sz="850" b="1">
                <a:solidFill>
                  <a:srgbClr val="9AA0A6"/>
                </a:solidFill>
                <a:latin typeface="Calibri"/>
              </a:rPr>
              <a:t>Low</a:t>
            </a:r>
          </a:p>
        </p:txBody>
      </p:sp>
      <p:sp>
        <p:nvSpPr>
          <p:cNvPr id="45" name="TextBox 44"/>
          <p:cNvSpPr txBox="1"/>
          <p:nvPr/>
        </p:nvSpPr>
        <p:spPr>
          <a:xfrm>
            <a:off x="981075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46" name="Rectangle 45"/>
          <p:cNvSpPr/>
          <p:nvPr/>
        </p:nvSpPr>
        <p:spPr>
          <a:xfrm>
            <a:off x="981075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1075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sp>
        <p:nvSpPr>
          <p:cNvPr id="48" name="TextBox 47"/>
          <p:cNvSpPr txBox="1"/>
          <p:nvPr/>
        </p:nvSpPr>
        <p:spPr>
          <a:xfrm>
            <a:off x="10896600" y="39243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49" name="Rectangle 48"/>
          <p:cNvSpPr/>
          <p:nvPr/>
        </p:nvSpPr>
        <p:spPr>
          <a:xfrm>
            <a:off x="10896600" y="4057650"/>
            <a:ext cx="990600" cy="400050"/>
          </a:xfrm>
          <a:prstGeom prst="rect">
            <a:avLst/>
          </a:prstGeom>
          <a:solidFill>
            <a:srgbClr val="F9E4A6"/>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96600" y="4057650"/>
            <a:ext cx="990600" cy="400050"/>
          </a:xfrm>
          <a:prstGeom prst="rect">
            <a:avLst/>
          </a:prstGeom>
          <a:noFill/>
        </p:spPr>
        <p:txBody>
          <a:bodyPr wrap="square" lIns="28575" rIns="28575" tIns="9525" bIns="9525" anchor="ctr">
            <a:spAutoFit/>
          </a:bodyPr>
          <a:lstStyle/>
          <a:p>
            <a:pPr algn="ctr"/>
            <a:r>
              <a:rPr sz="850" b="1">
                <a:solidFill>
                  <a:srgbClr val="6B5613"/>
                </a:solidFill>
                <a:latin typeface="Calibri"/>
              </a:rPr>
              <a:t>Medium</a:t>
            </a:r>
          </a:p>
        </p:txBody>
      </p:sp>
      <p:cxnSp>
        <p:nvCxnSpPr>
          <p:cNvPr id="51" name="Connector 50"/>
          <p:cNvCxnSpPr/>
          <p:nvPr/>
        </p:nvCxnSpPr>
        <p:spPr>
          <a:xfrm>
            <a:off x="142875" y="4857750"/>
            <a:ext cx="11906250" cy="0"/>
          </a:xfrm>
          <a:prstGeom prst="line">
            <a:avLst/>
          </a:prstGeom>
          <a:ln w="12700">
            <a:solidFill>
              <a:srgbClr val="E4EAEF"/>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42875" y="4914900"/>
            <a:ext cx="9496425" cy="266700"/>
          </a:xfrm>
          <a:prstGeom prst="rect">
            <a:avLst/>
          </a:prstGeom>
          <a:solidFill>
            <a:srgbClr val="E8EE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6225" y="4914900"/>
            <a:ext cx="9267825" cy="266700"/>
          </a:xfrm>
          <a:prstGeom prst="rect">
            <a:avLst/>
          </a:prstGeom>
          <a:noFill/>
        </p:spPr>
        <p:txBody>
          <a:bodyPr wrap="square" lIns="28575" rIns="28575" tIns="9525" bIns="9525" anchor="ctr">
            <a:spAutoFit/>
          </a:bodyPr>
          <a:lstStyle/>
          <a:p>
            <a:pPr algn="l"/>
            <a:r>
              <a:rPr sz="1100" b="1">
                <a:solidFill>
                  <a:srgbClr val="0B2E4A"/>
                </a:solidFill>
                <a:latin typeface="Calibri"/>
              </a:rPr>
              <a:t>Genetic &amp; Molecular Testing Opens the Fastest Route to Market</a:t>
            </a:r>
          </a:p>
        </p:txBody>
      </p:sp>
      <p:sp>
        <p:nvSpPr>
          <p:cNvPr id="54" name="TextBox 53"/>
          <p:cNvSpPr txBox="1"/>
          <p:nvPr/>
        </p:nvSpPr>
        <p:spPr>
          <a:xfrm>
            <a:off x="161925" y="5238750"/>
            <a:ext cx="9439275" cy="647700"/>
          </a:xfrm>
          <a:prstGeom prst="rect">
            <a:avLst/>
          </a:prstGeom>
          <a:noFill/>
        </p:spPr>
        <p:txBody>
          <a:bodyPr wrap="square" lIns="28575" rIns="28575" tIns="9525" bIns="9525" anchor="ctr">
            <a:spAutoFit/>
          </a:bodyPr>
          <a:lstStyle/>
          <a:p>
            <a:pPr algn="l">
              <a:lnSpc>
                <a:spcPct val="115000"/>
              </a:lnSpc>
            </a:pPr>
            <a:r>
              <a:rPr sz="960" b="0">
                <a:solidFill>
                  <a:srgbClr val="2E2E2E"/>
                </a:solidFill>
                <a:latin typeface="Calibri"/>
              </a:rPr>
              <a:t>'Genetic &amp; Molecular Testing' grows at 14.8% CAGR, the fastest of 8 application routes, and adds 442.2 US$ Mn over the forecast period while 'Diabetes &amp; Glucose Testing' still carries 38.9% of demand today. Pairing the incumbent route for volume with the fastest route for growth and leading with 'Integrated Capillary Blood Collection Devices' at 12.5% is the highest-yield combination the dataset supports.</a:t>
            </a:r>
          </a:p>
        </p:txBody>
      </p:sp>
      <p:sp>
        <p:nvSpPr>
          <p:cNvPr id="55" name="TextBox 54"/>
          <p:cNvSpPr txBox="1"/>
          <p:nvPr/>
        </p:nvSpPr>
        <p:spPr>
          <a:xfrm>
            <a:off x="9810750" y="4914900"/>
            <a:ext cx="2238375" cy="228600"/>
          </a:xfrm>
          <a:prstGeom prst="rect">
            <a:avLst/>
          </a:prstGeom>
          <a:noFill/>
        </p:spPr>
        <p:txBody>
          <a:bodyPr wrap="square" lIns="28575" rIns="28575" tIns="9525" bIns="9525" anchor="ctr">
            <a:spAutoFit/>
          </a:bodyPr>
          <a:lstStyle/>
          <a:p>
            <a:pPr algn="l">
              <a:lnSpc>
                <a:spcPct val="115000"/>
              </a:lnSpc>
            </a:pPr>
            <a:r>
              <a:rPr sz="800" b="1">
                <a:solidFill>
                  <a:srgbClr val="6C7A89"/>
                </a:solidFill>
                <a:latin typeface="Calibri"/>
              </a:rPr>
              <a:t>Likelihood of impact on timeline</a:t>
            </a:r>
          </a:p>
        </p:txBody>
      </p:sp>
      <p:sp>
        <p:nvSpPr>
          <p:cNvPr id="56" name="TextBox 55"/>
          <p:cNvSpPr txBox="1"/>
          <p:nvPr/>
        </p:nvSpPr>
        <p:spPr>
          <a:xfrm>
            <a:off x="981075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2021–22</a:t>
            </a:r>
          </a:p>
        </p:txBody>
      </p:sp>
      <p:sp>
        <p:nvSpPr>
          <p:cNvPr id="57" name="Rectangle 56"/>
          <p:cNvSpPr/>
          <p:nvPr/>
        </p:nvSpPr>
        <p:spPr>
          <a:xfrm>
            <a:off x="981075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59" name="TextBox 58"/>
          <p:cNvSpPr txBox="1"/>
          <p:nvPr/>
        </p:nvSpPr>
        <p:spPr>
          <a:xfrm>
            <a:off x="10896600" y="51816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2023–25</a:t>
            </a:r>
          </a:p>
        </p:txBody>
      </p:sp>
      <p:sp>
        <p:nvSpPr>
          <p:cNvPr id="60" name="Rectangle 59"/>
          <p:cNvSpPr/>
          <p:nvPr/>
        </p:nvSpPr>
        <p:spPr>
          <a:xfrm>
            <a:off x="10896600" y="53149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896600" y="53149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2" name="TextBox 61"/>
          <p:cNvSpPr txBox="1"/>
          <p:nvPr/>
        </p:nvSpPr>
        <p:spPr>
          <a:xfrm>
            <a:off x="981075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2026–28</a:t>
            </a:r>
          </a:p>
        </p:txBody>
      </p:sp>
      <p:sp>
        <p:nvSpPr>
          <p:cNvPr id="63" name="Rectangle 62"/>
          <p:cNvSpPr/>
          <p:nvPr/>
        </p:nvSpPr>
        <p:spPr>
          <a:xfrm>
            <a:off x="981075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81075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5" name="TextBox 64"/>
          <p:cNvSpPr txBox="1"/>
          <p:nvPr/>
        </p:nvSpPr>
        <p:spPr>
          <a:xfrm>
            <a:off x="10896600" y="5753100"/>
            <a:ext cx="990600" cy="114300"/>
          </a:xfrm>
          <a:prstGeom prst="rect">
            <a:avLst/>
          </a:prstGeom>
          <a:noFill/>
        </p:spPr>
        <p:txBody>
          <a:bodyPr wrap="square" lIns="28575" rIns="28575" tIns="9525" bIns="9525" anchor="ctr">
            <a:spAutoFit/>
          </a:bodyPr>
          <a:lstStyle/>
          <a:p>
            <a:pPr algn="ctr"/>
            <a:r>
              <a:rPr sz="750" b="1">
                <a:solidFill>
                  <a:srgbClr val="6C7A89"/>
                </a:solidFill>
                <a:latin typeface="Calibri"/>
              </a:rPr>
              <a:t>2029–36</a:t>
            </a:r>
          </a:p>
        </p:txBody>
      </p:sp>
      <p:sp>
        <p:nvSpPr>
          <p:cNvPr id="66" name="Rectangle 65"/>
          <p:cNvSpPr/>
          <p:nvPr/>
        </p:nvSpPr>
        <p:spPr>
          <a:xfrm>
            <a:off x="10896600" y="5886450"/>
            <a:ext cx="990600" cy="400050"/>
          </a:xfrm>
          <a:prstGeom prst="rect">
            <a:avLst/>
          </a:prstGeom>
          <a:solidFill>
            <a:srgbClr val="F2C230"/>
          </a:solidFill>
          <a:ln w="15875">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896600" y="5886450"/>
            <a:ext cx="990600" cy="400050"/>
          </a:xfrm>
          <a:prstGeom prst="rect">
            <a:avLst/>
          </a:prstGeom>
          <a:noFill/>
        </p:spPr>
        <p:txBody>
          <a:bodyPr wrap="square" lIns="28575" rIns="28575" tIns="9525" bIns="9525" anchor="ctr">
            <a:spAutoFit/>
          </a:bodyPr>
          <a:lstStyle/>
          <a:p>
            <a:pPr algn="ctr"/>
            <a:r>
              <a:rPr sz="850" b="1">
                <a:solidFill>
                  <a:srgbClr val="4A3A05"/>
                </a:solidFill>
                <a:latin typeface="Calibri"/>
              </a:rPr>
              <a:t>High</a:t>
            </a:r>
          </a:p>
        </p:txBody>
      </p:sp>
      <p:sp>
        <p:nvSpPr>
          <p:cNvPr id="68" name="Rectangle 6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70" name="Rounded Rectangle 6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1" name="Rounded Rectangle 7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72" name="Rounded Rectangle 7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Global Capillary Blood Collection Devices Market Recent Developments &amp; Milestones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Recent developments and milestones shaping the global market, by year</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ectangle 11"/>
          <p:cNvSpPr/>
          <p:nvPr/>
        </p:nvSpPr>
        <p:spPr>
          <a:xfrm>
            <a:off x="142875" y="876300"/>
            <a:ext cx="11906250" cy="3048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2875" y="876300"/>
            <a:ext cx="1428750" cy="304800"/>
          </a:xfrm>
          <a:prstGeom prst="rect">
            <a:avLst/>
          </a:prstGeom>
          <a:noFill/>
        </p:spPr>
        <p:txBody>
          <a:bodyPr wrap="square" lIns="28575" rIns="28575" tIns="9525" bIns="9525" anchor="ctr">
            <a:spAutoFit/>
          </a:bodyPr>
          <a:lstStyle/>
          <a:p>
            <a:pPr algn="ctr"/>
            <a:r>
              <a:rPr sz="1150" b="1">
                <a:solidFill>
                  <a:srgbClr val="FFFFFF"/>
                </a:solidFill>
                <a:latin typeface="Calibri"/>
              </a:rPr>
              <a:t>Year</a:t>
            </a:r>
          </a:p>
        </p:txBody>
      </p:sp>
      <p:sp>
        <p:nvSpPr>
          <p:cNvPr id="14" name="TextBox 13"/>
          <p:cNvSpPr txBox="1"/>
          <p:nvPr/>
        </p:nvSpPr>
        <p:spPr>
          <a:xfrm>
            <a:off x="1714500" y="876300"/>
            <a:ext cx="10239375" cy="304800"/>
          </a:xfrm>
          <a:prstGeom prst="rect">
            <a:avLst/>
          </a:prstGeom>
          <a:noFill/>
        </p:spPr>
        <p:txBody>
          <a:bodyPr wrap="square" lIns="28575" rIns="28575" tIns="9525" bIns="9525" anchor="ctr">
            <a:spAutoFit/>
          </a:bodyPr>
          <a:lstStyle/>
          <a:p>
            <a:pPr algn="ctr"/>
            <a:r>
              <a:rPr sz="1150" b="1">
                <a:solidFill>
                  <a:srgbClr val="FFFFFF"/>
                </a:solidFill>
                <a:latin typeface="Calibri"/>
              </a:rPr>
              <a:t>Recent Development</a:t>
            </a:r>
          </a:p>
        </p:txBody>
      </p:sp>
      <p:sp>
        <p:nvSpPr>
          <p:cNvPr id="15" name="Rectangle 14"/>
          <p:cNvSpPr/>
          <p:nvPr/>
        </p:nvSpPr>
        <p:spPr>
          <a:xfrm>
            <a:off x="142875" y="118110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875" y="118110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2025</a:t>
            </a:r>
          </a:p>
        </p:txBody>
      </p:sp>
      <p:cxnSp>
        <p:nvCxnSpPr>
          <p:cNvPr id="17" name="Connector 16"/>
          <p:cNvCxnSpPr/>
          <p:nvPr/>
        </p:nvCxnSpPr>
        <p:spPr>
          <a:xfrm>
            <a:off x="1571625" y="118110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14500" y="150971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Strongest historical expansion on record: Global value rose +5.8% year on year to 2,165 US$ Mn, the steepest single-year move of the 2021–2025 period. Demand for 'Capillary Blood Collection Containers' 42.9% of product type value by 2036 set the pace, and the 8 application routes tracked here all carried volume through the year.</a:t>
            </a:r>
          </a:p>
        </p:txBody>
      </p:sp>
      <p:sp>
        <p:nvSpPr>
          <p:cNvPr id="19" name="Rectangle 18"/>
          <p:cNvSpPr/>
          <p:nvPr/>
        </p:nvSpPr>
        <p:spPr>
          <a:xfrm>
            <a:off x="142875" y="2276475"/>
            <a:ext cx="11906250" cy="1095375"/>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875" y="2276475"/>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2026</a:t>
            </a:r>
          </a:p>
        </p:txBody>
      </p:sp>
      <p:cxnSp>
        <p:nvCxnSpPr>
          <p:cNvPr id="21" name="Connector 20"/>
          <p:cNvCxnSpPr/>
          <p:nvPr/>
        </p:nvCxnSpPr>
        <p:spPr>
          <a:xfrm>
            <a:off x="1571625" y="2276475"/>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714500" y="2605088"/>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Base year for the forecast: the global market is estimated at 2,306 US$ Mn, having compounded at 4.9% across 2021–2025. 'North America' holds 32.9% of value across 7 regions, and the forecast is built from 6 segment breakdowns covering 4 product type lines.</a:t>
            </a:r>
          </a:p>
        </p:txBody>
      </p:sp>
      <p:sp>
        <p:nvSpPr>
          <p:cNvPr id="23" name="Rectangle 22"/>
          <p:cNvSpPr/>
          <p:nvPr/>
        </p:nvSpPr>
        <p:spPr>
          <a:xfrm>
            <a:off x="142875" y="337185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42875" y="337185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2032</a:t>
            </a:r>
          </a:p>
        </p:txBody>
      </p:sp>
      <p:cxnSp>
        <p:nvCxnSpPr>
          <p:cNvPr id="25" name="Connector 24"/>
          <p:cNvCxnSpPr/>
          <p:nvPr/>
        </p:nvCxnSpPr>
        <p:spPr>
          <a:xfrm>
            <a:off x="1571625" y="337185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714500" y="370046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The market passes 3,459 US$ Mn one and a half times the 2026 base reaching 3,578 US$ Mn. Growth by this point is led by 'Integrated Capillary Blood Collection Devices' at 12.5% CAGR and by 'East Asia' among regions at 8.4%, with 3 of 7 regions running at or above the market rate.</a:t>
            </a:r>
          </a:p>
        </p:txBody>
      </p:sp>
      <p:sp>
        <p:nvSpPr>
          <p:cNvPr id="27" name="Rectangle 26"/>
          <p:cNvSpPr/>
          <p:nvPr/>
        </p:nvSpPr>
        <p:spPr>
          <a:xfrm>
            <a:off x="142875" y="4467225"/>
            <a:ext cx="11906250" cy="1095375"/>
          </a:xfrm>
          <a:prstGeom prst="rect">
            <a:avLst/>
          </a:prstGeom>
          <a:solidFill>
            <a:srgbClr val="F5F8FA"/>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875" y="4467225"/>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2031</a:t>
            </a:r>
          </a:p>
        </p:txBody>
      </p:sp>
      <p:cxnSp>
        <p:nvCxnSpPr>
          <p:cNvPr id="29" name="Connector 28"/>
          <p:cNvCxnSpPr/>
          <p:nvPr/>
        </p:nvCxnSpPr>
        <p:spPr>
          <a:xfrm>
            <a:off x="1571625" y="4467225"/>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14500" y="4795838"/>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Mid-horizon checkpoint: value reaches 3,314 US$ Mn, 1.44× the 2026 base. Average realisation stands at 828056.85 US$/Units, and mix has moved +458 BPS toward 'Integrated Capillary Blood Collection Devices' while 'Capillary Blood Collection Containers' gives up 374 BPS.</a:t>
            </a:r>
          </a:p>
        </p:txBody>
      </p:sp>
      <p:sp>
        <p:nvSpPr>
          <p:cNvPr id="31" name="Rectangle 30"/>
          <p:cNvSpPr/>
          <p:nvPr/>
        </p:nvSpPr>
        <p:spPr>
          <a:xfrm>
            <a:off x="142875" y="5562600"/>
            <a:ext cx="11906250" cy="1095375"/>
          </a:xfrm>
          <a:prstGeom prst="rect">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42875" y="5562600"/>
            <a:ext cx="1428750" cy="1095375"/>
          </a:xfrm>
          <a:prstGeom prst="rect">
            <a:avLst/>
          </a:prstGeom>
          <a:noFill/>
        </p:spPr>
        <p:txBody>
          <a:bodyPr wrap="square" lIns="28575" rIns="28575" tIns="9525" bIns="9525" anchor="ctr">
            <a:spAutoFit/>
          </a:bodyPr>
          <a:lstStyle/>
          <a:p>
            <a:pPr algn="ctr"/>
            <a:r>
              <a:rPr sz="1250" b="1">
                <a:solidFill>
                  <a:srgbClr val="0B2E4A"/>
                </a:solidFill>
                <a:latin typeface="Calibri"/>
              </a:rPr>
              <a:t>2036</a:t>
            </a:r>
          </a:p>
        </p:txBody>
      </p:sp>
      <p:cxnSp>
        <p:nvCxnSpPr>
          <p:cNvPr id="33" name="Connector 32"/>
          <p:cNvCxnSpPr/>
          <p:nvPr/>
        </p:nvCxnSpPr>
        <p:spPr>
          <a:xfrm>
            <a:off x="1571625" y="5562600"/>
            <a:ext cx="0" cy="1095375"/>
          </a:xfrm>
          <a:prstGeom prst="line">
            <a:avLst/>
          </a:prstGeom>
          <a:ln w="12700">
            <a:solidFill>
              <a:srgbClr val="69B1E0"/>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714500" y="5891212"/>
            <a:ext cx="10210800" cy="438150"/>
          </a:xfrm>
          <a:prstGeom prst="rect">
            <a:avLst/>
          </a:prstGeom>
          <a:noFill/>
        </p:spPr>
        <p:txBody>
          <a:bodyPr wrap="square" lIns="28575" rIns="28575" tIns="9525" bIns="9525" anchor="ctr">
            <a:spAutoFit/>
          </a:bodyPr>
          <a:lstStyle/>
          <a:p>
            <a:pPr algn="l">
              <a:lnSpc>
                <a:spcPct val="115000"/>
              </a:lnSpc>
            </a:pPr>
            <a:r>
              <a:rPr sz="940" b="0">
                <a:solidFill>
                  <a:srgbClr val="2E2E2E"/>
                </a:solidFill>
                <a:latin typeface="Calibri"/>
              </a:rPr>
              <a:t>Forecast outcome: the global market reaches 4,933 US$ Mn, a 2.1× expansion on 2026 and 2,627 US$ Mn of incremental value at 7.9% CAGR. Volume compounds at 7.0% over the same window, leaving realisation 0.8% a year the gap between the two is the premiumisation the forecast assumes.</a:t>
            </a:r>
          </a:p>
        </p:txBody>
      </p:sp>
      <p:sp>
        <p:nvSpPr>
          <p:cNvPr id="35" name="Rectangle 3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7" name="Rounded Rectangle 3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8" name="Rounded Rectangle 3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9" name="Rounded Rectangle 3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Porter's Five Forces Analysis Global Capillary Blood Collection Devices Market</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supplier power, buyer power, competition, substitutes and entry barriers shaping the market's profitability</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TextBox 11"/>
          <p:cNvSpPr txBox="1"/>
          <p:nvPr/>
        </p:nvSpPr>
        <p:spPr>
          <a:xfrm>
            <a:off x="142875" y="838200"/>
            <a:ext cx="11906250" cy="323850"/>
          </a:xfrm>
          <a:prstGeom prst="rect">
            <a:avLst/>
          </a:prstGeom>
          <a:noFill/>
        </p:spPr>
        <p:txBody>
          <a:bodyPr wrap="square" lIns="28575" rIns="28575" tIns="9525" bIns="9525" anchor="ctr">
            <a:spAutoFit/>
          </a:bodyPr>
          <a:lstStyle/>
          <a:p>
            <a:pPr algn="l">
              <a:lnSpc>
                <a:spcPct val="115000"/>
              </a:lnSpc>
            </a:pPr>
            <a:r>
              <a:rPr sz="980" b="0">
                <a:solidFill>
                  <a:srgbClr val="6C7A89"/>
                </a:solidFill>
                <a:latin typeface="Calibri"/>
              </a:rPr>
              <a:t>Supplier power, buyer power, competitive intensity, substitution and entry barriers scored from the global dataset 4 product type lines, 8 application routes and 7 regions at 7.9% CAGR.</a:t>
            </a:r>
          </a:p>
        </p:txBody>
      </p:sp>
      <p:sp>
        <p:nvSpPr>
          <p:cNvPr id="13" name="Oval 12"/>
          <p:cNvSpPr/>
          <p:nvPr/>
        </p:nvSpPr>
        <p:spPr>
          <a:xfrm>
            <a:off x="771525" y="1419225"/>
            <a:ext cx="1123950" cy="1123950"/>
          </a:xfrm>
          <a:prstGeom prst="ellipse">
            <a:avLst/>
          </a:prstGeom>
          <a:solidFill>
            <a:srgbClr val="F2D24B"/>
          </a:solidFill>
          <a:ln w="12700">
            <a:solidFill>
              <a:srgbClr val="F2D2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7750" y="1771650"/>
            <a:ext cx="571500" cy="419100"/>
          </a:xfrm>
          <a:prstGeom prst="rect">
            <a:avLst/>
          </a:prstGeom>
          <a:noFill/>
        </p:spPr>
        <p:txBody>
          <a:bodyPr wrap="none" lIns="0" rIns="0" tIns="0" bIns="0" anchor="ctr">
            <a:spAutoFit/>
          </a:bodyPr>
          <a:lstStyle/>
          <a:p>
            <a:pPr algn="ctr"/>
            <a:r>
              <a:rPr sz="3400" b="1">
                <a:solidFill>
                  <a:srgbClr val="8A6A00"/>
                </a:solidFill>
                <a:latin typeface="Calibri"/>
              </a:rPr>
              <a:t>$</a:t>
            </a:r>
          </a:p>
        </p:txBody>
      </p:sp>
      <p:sp>
        <p:nvSpPr>
          <p:cNvPr id="15" name="TextBox 14"/>
          <p:cNvSpPr txBox="1"/>
          <p:nvPr/>
        </p:nvSpPr>
        <p:spPr>
          <a:xfrm>
            <a:off x="2190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Suppliers</a:t>
            </a:r>
          </a:p>
        </p:txBody>
      </p:sp>
      <p:sp>
        <p:nvSpPr>
          <p:cNvPr id="16" name="TextBox 15"/>
          <p:cNvSpPr txBox="1"/>
          <p:nvPr/>
        </p:nvSpPr>
        <p:spPr>
          <a:xfrm>
            <a:off x="247650" y="31051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'North America' supplies 32.9% of 2036 value across 7 regions, concentrating upstream leverage.</a:t>
            </a:r>
          </a:p>
        </p:txBody>
      </p:sp>
      <p:sp>
        <p:nvSpPr>
          <p:cNvPr id="17" name="TextBox 16"/>
          <p:cNvSpPr txBox="1"/>
          <p:nvPr/>
        </p:nvSpPr>
        <p:spPr>
          <a:xfrm>
            <a:off x="247650" y="39719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Average realisation moves 0.8% a year (2026–2036), indicating input costs are being passed through.</a:t>
            </a:r>
          </a:p>
        </p:txBody>
      </p:sp>
      <p:sp>
        <p:nvSpPr>
          <p:cNvPr id="18" name="TextBox 17"/>
          <p:cNvSpPr txBox="1"/>
          <p:nvPr/>
        </p:nvSpPr>
        <p:spPr>
          <a:xfrm>
            <a:off x="247650" y="46577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Buyers can rebalance across 4 product type lines, which caps supplier leverage in commodity grades.</a:t>
            </a:r>
          </a:p>
        </p:txBody>
      </p:sp>
      <p:sp>
        <p:nvSpPr>
          <p:cNvPr id="19" name="Oval 18"/>
          <p:cNvSpPr/>
          <p:nvPr/>
        </p:nvSpPr>
        <p:spPr>
          <a:xfrm>
            <a:off x="3152775" y="1419225"/>
            <a:ext cx="1123950" cy="1123950"/>
          </a:xfrm>
          <a:prstGeom prst="ellipse">
            <a:avLst/>
          </a:prstGeom>
          <a:solidFill>
            <a:srgbClr val="D9D9D9"/>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476625" y="1819275"/>
            <a:ext cx="152400" cy="219075"/>
          </a:xfrm>
          <a:custGeom>
            <a:avLst/>
            <a:gdLst/>
            <a:ahLst/>
            <a:cxnLst/>
            <a:rect l="l" t="t" r="r" b="b"/>
            <a:pathLst>
              <a:path w="16" h="23">
                <a:moveTo>
                  <a:pt x="0" y="0"/>
                </a:moveTo>
                <a:lnTo>
                  <a:pt x="8" y="0"/>
                </a:lnTo>
                <a:lnTo>
                  <a:pt x="16" y="23"/>
                </a:lnTo>
              </a:path>
            </a:pathLst>
          </a:custGeom>
          <a:noFill/>
          <a:ln w="4318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609975" y="1895475"/>
            <a:ext cx="342900" cy="161925"/>
          </a:xfrm>
          <a:custGeom>
            <a:avLst/>
            <a:gdLst/>
            <a:ahLst/>
            <a:cxnLst/>
            <a:rect l="l" t="t" r="r" b="b"/>
            <a:pathLst>
              <a:path w="36" h="17">
                <a:moveTo>
                  <a:pt x="0" y="0"/>
                </a:moveTo>
                <a:lnTo>
                  <a:pt x="36" y="0"/>
                </a:lnTo>
                <a:lnTo>
                  <a:pt x="31" y="17"/>
                </a:lnTo>
                <a:lnTo>
                  <a:pt x="5" y="17"/>
                </a:lnTo>
                <a:close/>
              </a:path>
            </a:pathLst>
          </a:cu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648075" y="2105025"/>
            <a:ext cx="76200" cy="76200"/>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829050" y="2105025"/>
            <a:ext cx="76200" cy="76200"/>
          </a:xfrm>
          <a:prstGeom prst="ellipse">
            <a:avLst/>
          </a:prstGeom>
          <a:solidFill>
            <a:srgbClr val="2B2B2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0032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Bargaining Power of Buyers</a:t>
            </a:r>
          </a:p>
        </p:txBody>
      </p:sp>
      <p:sp>
        <p:nvSpPr>
          <p:cNvPr id="25" name="TextBox 24"/>
          <p:cNvSpPr txBox="1"/>
          <p:nvPr/>
        </p:nvSpPr>
        <p:spPr>
          <a:xfrm>
            <a:off x="2628900" y="31051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Demand routes through 8 application channels led by 'Diabetes &amp; Glucose Testing' at 38.9%, giving large buyers scale.</a:t>
            </a:r>
          </a:p>
        </p:txBody>
      </p:sp>
      <p:sp>
        <p:nvSpPr>
          <p:cNvPr id="26" name="TextBox 25"/>
          <p:cNvSpPr txBox="1"/>
          <p:nvPr/>
        </p:nvSpPr>
        <p:spPr>
          <a:xfrm>
            <a:off x="2628900" y="39719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Price sensitivity tracks realisation moving 0.8% a year against volume growth of 7.0%.</a:t>
            </a:r>
          </a:p>
        </p:txBody>
      </p:sp>
      <p:sp>
        <p:nvSpPr>
          <p:cNvPr id="27" name="TextBox 26"/>
          <p:cNvSpPr txBox="1"/>
          <p:nvPr/>
        </p:nvSpPr>
        <p:spPr>
          <a:xfrm>
            <a:off x="2628900" y="4657725"/>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Switching is easiest where 4 comparable product type lines compete for the same demand.</a:t>
            </a:r>
          </a:p>
        </p:txBody>
      </p:sp>
      <p:sp>
        <p:nvSpPr>
          <p:cNvPr id="28" name="Oval 27"/>
          <p:cNvSpPr/>
          <p:nvPr/>
        </p:nvSpPr>
        <p:spPr>
          <a:xfrm>
            <a:off x="5534025" y="1419225"/>
            <a:ext cx="1123950" cy="1123950"/>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76925" y="1762125"/>
            <a:ext cx="438150" cy="438150"/>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43600" y="1828800"/>
            <a:ext cx="304800" cy="304800"/>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010275" y="1895475"/>
            <a:ext cx="171450" cy="171450"/>
          </a:xfrm>
          <a:prstGeom prst="ellipse">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62662" y="1947862"/>
            <a:ext cx="66675" cy="66675"/>
          </a:xfrm>
          <a:prstGeom prst="ellipse">
            <a:avLst/>
          </a:prstGeom>
          <a:solidFill>
            <a:srgbClr val="E88A8A"/>
          </a:solidFill>
          <a:ln w="12700">
            <a:solidFill>
              <a:srgbClr val="E8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134100" y="1733550"/>
            <a:ext cx="209550" cy="209550"/>
          </a:xfrm>
          <a:custGeom>
            <a:avLst/>
            <a:gdLst/>
            <a:ahLst/>
            <a:cxnLst/>
            <a:rect l="l" t="t" r="r" b="b"/>
            <a:pathLst>
              <a:path w="22" h="22">
                <a:moveTo>
                  <a:pt x="0" y="22"/>
                </a:moveTo>
                <a:lnTo>
                  <a:pt x="22" y="0"/>
                </a:lnTo>
              </a:path>
            </a:pathLst>
          </a:custGeom>
          <a:noFill/>
          <a:ln w="381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267450" y="1695450"/>
            <a:ext cx="114300" cy="114300"/>
          </a:xfrm>
          <a:custGeom>
            <a:avLst/>
            <a:gdLst/>
            <a:ahLst/>
            <a:cxnLst/>
            <a:rect l="l" t="t" r="r" b="b"/>
            <a:pathLst>
              <a:path w="12" h="12">
                <a:moveTo>
                  <a:pt x="0" y="0"/>
                </a:moveTo>
                <a:lnTo>
                  <a:pt x="12" y="0"/>
                </a:lnTo>
                <a:lnTo>
                  <a:pt x="12" y="12"/>
                </a:lnTo>
                <a:close/>
              </a:path>
            </a:pathLst>
          </a:cu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815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Intensity of Competition</a:t>
            </a:r>
          </a:p>
        </p:txBody>
      </p:sp>
      <p:sp>
        <p:nvSpPr>
          <p:cNvPr id="36" name="TextBox 35"/>
          <p:cNvSpPr txBox="1"/>
          <p:nvPr/>
        </p:nvSpPr>
        <p:spPr>
          <a:xfrm>
            <a:off x="5010150" y="31051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4 product type lines compete inside the segment; the leader holds 42.9%.</a:t>
            </a:r>
          </a:p>
        </p:txBody>
      </p:sp>
      <p:sp>
        <p:nvSpPr>
          <p:cNvPr id="37" name="TextBox 36"/>
          <p:cNvSpPr txBox="1"/>
          <p:nvPr/>
        </p:nvSpPr>
        <p:spPr>
          <a:xfrm>
            <a:off x="5010150" y="37909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Growth is unevenly distributed 'Integrated Capillary Blood Collection Devices' at 12.5% against 'Blood Collection Lancets' at 7.0%.</a:t>
            </a:r>
          </a:p>
        </p:txBody>
      </p:sp>
      <p:sp>
        <p:nvSpPr>
          <p:cNvPr id="38" name="TextBox 37"/>
          <p:cNvSpPr txBox="1"/>
          <p:nvPr/>
        </p:nvSpPr>
        <p:spPr>
          <a:xfrm>
            <a:off x="5010150" y="4657725"/>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3 of 7 regions grow at or above the 7.9% market pace, keeping share contested.</a:t>
            </a:r>
          </a:p>
        </p:txBody>
      </p:sp>
      <p:sp>
        <p:nvSpPr>
          <p:cNvPr id="39" name="Oval 38"/>
          <p:cNvSpPr/>
          <p:nvPr/>
        </p:nvSpPr>
        <p:spPr>
          <a:xfrm>
            <a:off x="7915275" y="1419225"/>
            <a:ext cx="1123950" cy="1123950"/>
          </a:xfrm>
          <a:prstGeom prst="ellipse">
            <a:avLst/>
          </a:prstGeom>
          <a:solidFill>
            <a:srgbClr val="C9C0E0"/>
          </a:solidFill>
          <a:ln w="12700">
            <a:solidFill>
              <a:srgbClr val="C9C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382000" y="174307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248650" y="199072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515350" y="1990725"/>
            <a:ext cx="190500" cy="190500"/>
          </a:xfrm>
          <a:prstGeom prst="roundRect">
            <a:avLst>
              <a:gd name="adj" fmla="val 15000"/>
            </a:avLst>
          </a:prstGeom>
          <a:solidFill>
            <a:srgbClr val="C9C0E0"/>
          </a:solidFill>
          <a:ln w="27940">
            <a:solidFill>
              <a:srgbClr val="4A3F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6282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Substitutes</a:t>
            </a:r>
          </a:p>
        </p:txBody>
      </p:sp>
      <p:sp>
        <p:nvSpPr>
          <p:cNvPr id="44" name="TextBox 43"/>
          <p:cNvSpPr txBox="1"/>
          <p:nvPr/>
        </p:nvSpPr>
        <p:spPr>
          <a:xfrm>
            <a:off x="7391400" y="3105150"/>
            <a:ext cx="2171700" cy="95250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moderate to high. 'Capillary Blood Collection Containers' loses 374 BPS of share to 'Integrated Capillary Blood Collection Devices' (+458 BPS) by 2036 substitution is visible inside the mix.</a:t>
            </a:r>
          </a:p>
        </p:txBody>
      </p:sp>
      <p:sp>
        <p:nvSpPr>
          <p:cNvPr id="45" name="TextBox 44"/>
          <p:cNvSpPr txBox="1"/>
          <p:nvPr/>
        </p:nvSpPr>
        <p:spPr>
          <a:xfrm>
            <a:off x="7391400" y="4152900"/>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The slowest line grows at 7.0%, -93 BPS against the market.</a:t>
            </a:r>
          </a:p>
        </p:txBody>
      </p:sp>
      <p:sp>
        <p:nvSpPr>
          <p:cNvPr id="46" name="TextBox 45"/>
          <p:cNvSpPr txBox="1"/>
          <p:nvPr/>
        </p:nvSpPr>
        <p:spPr>
          <a:xfrm>
            <a:off x="7391400" y="4648200"/>
            <a:ext cx="2171700" cy="4000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Realisation moving 0.8% a year widens the price gap substitutes must close.</a:t>
            </a:r>
          </a:p>
        </p:txBody>
      </p:sp>
      <p:sp>
        <p:nvSpPr>
          <p:cNvPr id="47" name="Oval 46"/>
          <p:cNvSpPr/>
          <p:nvPr/>
        </p:nvSpPr>
        <p:spPr>
          <a:xfrm>
            <a:off x="10296525" y="1419225"/>
            <a:ext cx="1123950" cy="1123950"/>
          </a:xfrm>
          <a:prstGeom prst="ellipse">
            <a:avLst/>
          </a:prstGeom>
          <a:solidFill>
            <a:srgbClr val="BFDCEA"/>
          </a:solidFill>
          <a:ln w="12700">
            <a:solidFill>
              <a:srgbClr val="BFDC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610850" y="1809750"/>
            <a:ext cx="114300" cy="1143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10563225" y="1952625"/>
            <a:ext cx="209550" cy="190500"/>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991850" y="1809750"/>
            <a:ext cx="114300" cy="1143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944225" y="1952625"/>
            <a:ext cx="209550" cy="190500"/>
          </a:xfrm>
          <a:custGeom>
            <a:avLst/>
            <a:gdLst/>
            <a:ahLst/>
            <a:cxnLst/>
            <a:rect l="l" t="t" r="r" b="b"/>
            <a:pathLst>
              <a:path w="22" h="20">
                <a:moveTo>
                  <a:pt x="0" y="20"/>
                </a:moveTo>
                <a:lnTo>
                  <a:pt x="3" y="0"/>
                </a:lnTo>
                <a:lnTo>
                  <a:pt x="19" y="0"/>
                </a:lnTo>
                <a:lnTo>
                  <a:pt x="22" y="20"/>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782300" y="1714500"/>
            <a:ext cx="152400" cy="152400"/>
          </a:xfrm>
          <a:prstGeom prst="ellipse">
            <a:avLst/>
          </a:prstGeom>
          <a:solidFill>
            <a:srgbClr val="5B7C99"/>
          </a:solidFill>
          <a:ln w="12700">
            <a:solidFill>
              <a:srgbClr val="5B7C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0715625" y="1895475"/>
            <a:ext cx="285750" cy="266700"/>
          </a:xfrm>
          <a:custGeom>
            <a:avLst/>
            <a:gdLst/>
            <a:ahLst/>
            <a:cxnLst/>
            <a:rect l="l" t="t" r="r" b="b"/>
            <a:pathLst>
              <a:path w="30" h="28">
                <a:moveTo>
                  <a:pt x="0" y="28"/>
                </a:moveTo>
                <a:lnTo>
                  <a:pt x="4" y="0"/>
                </a:lnTo>
                <a:lnTo>
                  <a:pt x="26" y="0"/>
                </a:lnTo>
                <a:lnTo>
                  <a:pt x="30" y="28"/>
                </a:lnTo>
                <a:close/>
              </a:path>
            </a:pathLst>
          </a:custGeom>
          <a:solidFill>
            <a:srgbClr val="5B7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744075" y="2628900"/>
            <a:ext cx="2228850" cy="381000"/>
          </a:xfrm>
          <a:prstGeom prst="rect">
            <a:avLst/>
          </a:prstGeom>
          <a:noFill/>
        </p:spPr>
        <p:txBody>
          <a:bodyPr wrap="square" lIns="28575" rIns="28575" tIns="9525" bIns="9525" anchor="ctr">
            <a:spAutoFit/>
          </a:bodyPr>
          <a:lstStyle/>
          <a:p>
            <a:pPr algn="ctr">
              <a:lnSpc>
                <a:spcPct val="115000"/>
              </a:lnSpc>
            </a:pPr>
            <a:r>
              <a:rPr sz="1150" b="1">
                <a:solidFill>
                  <a:srgbClr val="2E2E2E"/>
                </a:solidFill>
                <a:latin typeface="Calibri"/>
              </a:rPr>
              <a:t>Threat of New Entrants</a:t>
            </a:r>
          </a:p>
        </p:txBody>
      </p:sp>
      <p:sp>
        <p:nvSpPr>
          <p:cNvPr id="55" name="TextBox 54"/>
          <p:cNvSpPr txBox="1"/>
          <p:nvPr/>
        </p:nvSpPr>
        <p:spPr>
          <a:xfrm>
            <a:off x="9772650" y="31051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Assessed high. The market grows at 7.9% CAGR and adds 2,627 US$ Mn by 2036, attracting entry.</a:t>
            </a:r>
          </a:p>
        </p:txBody>
      </p:sp>
      <p:sp>
        <p:nvSpPr>
          <p:cNvPr id="56" name="TextBox 55"/>
          <p:cNvSpPr txBox="1"/>
          <p:nvPr/>
        </p:nvSpPr>
        <p:spPr>
          <a:xfrm>
            <a:off x="9772650" y="3790950"/>
            <a:ext cx="2171700" cy="590550"/>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Demand spreads over 7 regions with no single one above 32.9%, so regional entry is feasible.</a:t>
            </a:r>
          </a:p>
        </p:txBody>
      </p:sp>
      <p:sp>
        <p:nvSpPr>
          <p:cNvPr id="57" name="TextBox 56"/>
          <p:cNvSpPr txBox="1"/>
          <p:nvPr/>
        </p:nvSpPr>
        <p:spPr>
          <a:xfrm>
            <a:off x="9772650" y="4476750"/>
            <a:ext cx="2171700" cy="771525"/>
          </a:xfrm>
          <a:prstGeom prst="rect">
            <a:avLst/>
          </a:prstGeom>
          <a:noFill/>
        </p:spPr>
        <p:txBody>
          <a:bodyPr wrap="square" lIns="28575" rIns="28575" tIns="9525" bIns="9525" anchor="ctr">
            <a:spAutoFit/>
          </a:bodyPr>
          <a:lstStyle/>
          <a:p>
            <a:pPr algn="l">
              <a:lnSpc>
                <a:spcPct val="115000"/>
              </a:lnSpc>
            </a:pPr>
            <a:r>
              <a:rPr sz="860" b="0">
                <a:solidFill>
                  <a:srgbClr val="2E2E2E"/>
                </a:solidFill>
                <a:latin typeface="Calibri"/>
              </a:rPr>
              <a:t>▸  Incumbent scale in 'North America' and 'Capillary Blood Collection Containers' (42.9% of segment) remains the principal barrier.</a:t>
            </a:r>
          </a:p>
        </p:txBody>
      </p:sp>
      <p:sp>
        <p:nvSpPr>
          <p:cNvPr id="58" name="Rectangle 5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0" name="Rounded Rectangle 5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1" name="Rounded Rectangle 6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2" name="Rounded Rectangle 6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114550"/>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Competitor</a:t>
            </a:r>
          </a:p>
        </p:txBody>
      </p:sp>
      <p:sp>
        <p:nvSpPr>
          <p:cNvPr id="7" name="TextBox 6"/>
          <p:cNvSpPr txBox="1"/>
          <p:nvPr/>
        </p:nvSpPr>
        <p:spPr>
          <a:xfrm>
            <a:off x="1219200" y="2362200"/>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Market Share by Leading Players</a:t>
            </a:r>
          </a:p>
        </p:txBody>
      </p:sp>
      <p:sp>
        <p:nvSpPr>
          <p:cNvPr id="8" name="TextBox 7"/>
          <p:cNvSpPr txBox="1"/>
          <p:nvPr/>
        </p:nvSpPr>
        <p:spPr>
          <a:xfrm>
            <a:off x="1219200" y="2886075"/>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Industry Structure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Advice for Vendors &amp; Suppliers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Value Share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Share by Product Type</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Share by Region</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22</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Industry Structure Landscape</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Industry structure sizing Tier 1, 2 and 3 players against the global market total, highlighting concentration</a:t>
            </a:r>
          </a:p>
        </p:txBody>
      </p:sp>
      <p:sp>
        <p:nvSpPr>
          <p:cNvPr id="11" name="Rounded Rectangle 10"/>
          <p:cNvSpPr/>
          <p:nvPr/>
        </p:nvSpPr>
        <p:spPr>
          <a:xfrm>
            <a:off x="142875" y="904875"/>
            <a:ext cx="7543800" cy="5762625"/>
          </a:xfrm>
          <a:prstGeom prst="roundRect">
            <a:avLst>
              <a:gd name="adj" fmla="val 132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8125" y="962025"/>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Industry Structure Market Size by Tier (US$ Mn)  2026</a:t>
            </a:r>
          </a:p>
        </p:txBody>
      </p:sp>
      <p:sp>
        <p:nvSpPr>
          <p:cNvPr id="13" name="Freeform 12"/>
          <p:cNvSpPr/>
          <p:nvPr/>
        </p:nvSpPr>
        <p:spPr>
          <a:xfrm>
            <a:off x="828675" y="1285875"/>
            <a:ext cx="6172200" cy="5248275"/>
          </a:xfrm>
          <a:custGeom>
            <a:avLst/>
            <a:gdLst/>
            <a:ahLst/>
            <a:cxnLst/>
            <a:rect l="l" t="t" r="r" b="b"/>
            <a:pathLst>
              <a:path w="648" h="551">
                <a:moveTo>
                  <a:pt x="648" y="0"/>
                </a:moveTo>
                <a:lnTo>
                  <a:pt x="648" y="27"/>
                </a:lnTo>
                <a:lnTo>
                  <a:pt x="648" y="83"/>
                </a:lnTo>
                <a:lnTo>
                  <a:pt x="583" y="138"/>
                </a:lnTo>
                <a:lnTo>
                  <a:pt x="583" y="193"/>
                </a:lnTo>
                <a:lnTo>
                  <a:pt x="519" y="248"/>
                </a:lnTo>
                <a:lnTo>
                  <a:pt x="519" y="303"/>
                </a:lnTo>
                <a:lnTo>
                  <a:pt x="467" y="358"/>
                </a:lnTo>
                <a:lnTo>
                  <a:pt x="467" y="413"/>
                </a:lnTo>
                <a:lnTo>
                  <a:pt x="421" y="468"/>
                </a:lnTo>
                <a:lnTo>
                  <a:pt x="421" y="524"/>
                </a:lnTo>
                <a:lnTo>
                  <a:pt x="421" y="551"/>
                </a:lnTo>
                <a:lnTo>
                  <a:pt x="227" y="551"/>
                </a:lnTo>
                <a:lnTo>
                  <a:pt x="227" y="524"/>
                </a:lnTo>
                <a:lnTo>
                  <a:pt x="227" y="468"/>
                </a:lnTo>
                <a:lnTo>
                  <a:pt x="181" y="413"/>
                </a:lnTo>
                <a:lnTo>
                  <a:pt x="181" y="358"/>
                </a:lnTo>
                <a:lnTo>
                  <a:pt x="129" y="303"/>
                </a:lnTo>
                <a:lnTo>
                  <a:pt x="129" y="248"/>
                </a:lnTo>
                <a:lnTo>
                  <a:pt x="65" y="193"/>
                </a:lnTo>
                <a:lnTo>
                  <a:pt x="65" y="138"/>
                </a:lnTo>
                <a:lnTo>
                  <a:pt x="0" y="83"/>
                </a:lnTo>
                <a:lnTo>
                  <a:pt x="0" y="27"/>
                </a:lnTo>
                <a:lnTo>
                  <a:pt x="0" y="0"/>
                </a:lnTo>
                <a:close/>
              </a:path>
            </a:pathLst>
          </a:custGeom>
          <a:solidFill>
            <a:srgbClr val="DC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6389" y="1632261"/>
            <a:ext cx="6176772"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6389" y="1903419"/>
            <a:ext cx="6176772"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6389" y="1546536"/>
            <a:ext cx="6176772"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389" y="122268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Total Market</a:t>
            </a:r>
          </a:p>
          <a:p>
            <a:pPr algn="ctr">
              <a:lnSpc>
                <a:spcPct val="100000"/>
              </a:lnSpc>
            </a:pPr>
            <a:r>
              <a:rPr sz="950" b="0">
                <a:solidFill>
                  <a:srgbClr val="0B2E4A"/>
                </a:solidFill>
                <a:latin typeface="Calibri"/>
              </a:rPr>
              <a:t>~2,306 US$ Mn</a:t>
            </a:r>
          </a:p>
        </p:txBody>
      </p:sp>
      <p:sp>
        <p:nvSpPr>
          <p:cNvPr id="18" name="TextBox 17"/>
          <p:cNvSpPr txBox="1"/>
          <p:nvPr/>
        </p:nvSpPr>
        <p:spPr>
          <a:xfrm>
            <a:off x="826389" y="1632261"/>
            <a:ext cx="6176772" cy="356883"/>
          </a:xfrm>
          <a:prstGeom prst="rect">
            <a:avLst/>
          </a:prstGeom>
          <a:noFill/>
        </p:spPr>
        <p:txBody>
          <a:bodyPr wrap="square" lIns="28575" rIns="28575" tIns="9525" bIns="9525" anchor="ctr">
            <a:spAutoFit/>
          </a:bodyPr>
          <a:lstStyle/>
          <a:p>
            <a:pPr algn="ctr"/>
            <a:r>
              <a:rPr sz="950" b="1">
                <a:solidFill>
                  <a:srgbClr val="FFFFFF"/>
                </a:solidFill>
                <a:latin typeface="Calibri"/>
              </a:rPr>
              <a:t>100%</a:t>
            </a:r>
          </a:p>
        </p:txBody>
      </p:sp>
      <p:sp>
        <p:nvSpPr>
          <p:cNvPr id="19" name="Rectangle 18"/>
          <p:cNvSpPr/>
          <p:nvPr/>
        </p:nvSpPr>
        <p:spPr>
          <a:xfrm>
            <a:off x="1444066" y="2681916"/>
            <a:ext cx="4941418"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444066" y="2953074"/>
            <a:ext cx="4941418"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44066" y="2596191"/>
            <a:ext cx="4941418"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389" y="2272341"/>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1</a:t>
            </a:r>
          </a:p>
          <a:p>
            <a:pPr algn="ctr">
              <a:lnSpc>
                <a:spcPct val="100000"/>
              </a:lnSpc>
            </a:pPr>
            <a:r>
              <a:rPr sz="950" b="0">
                <a:solidFill>
                  <a:srgbClr val="0B2E4A"/>
                </a:solidFill>
                <a:latin typeface="Calibri"/>
              </a:rPr>
              <a:t>~1,199 US$ Mn</a:t>
            </a:r>
          </a:p>
        </p:txBody>
      </p:sp>
      <p:sp>
        <p:nvSpPr>
          <p:cNvPr id="23" name="TextBox 22"/>
          <p:cNvSpPr txBox="1"/>
          <p:nvPr/>
        </p:nvSpPr>
        <p:spPr>
          <a:xfrm>
            <a:off x="1444066" y="2681916"/>
            <a:ext cx="4941418" cy="356883"/>
          </a:xfrm>
          <a:prstGeom prst="rect">
            <a:avLst/>
          </a:prstGeom>
          <a:noFill/>
        </p:spPr>
        <p:txBody>
          <a:bodyPr wrap="square" lIns="28575" rIns="28575" tIns="9525" bIns="9525" anchor="ctr">
            <a:spAutoFit/>
          </a:bodyPr>
          <a:lstStyle/>
          <a:p>
            <a:pPr algn="ctr"/>
            <a:r>
              <a:rPr sz="950" b="1">
                <a:solidFill>
                  <a:srgbClr val="FFFFFF"/>
                </a:solidFill>
                <a:latin typeface="Calibri"/>
              </a:rPr>
              <a:t>~51-53%</a:t>
            </a:r>
          </a:p>
        </p:txBody>
      </p:sp>
      <p:sp>
        <p:nvSpPr>
          <p:cNvPr id="24" name="Rectangle 23"/>
          <p:cNvSpPr/>
          <p:nvPr/>
        </p:nvSpPr>
        <p:spPr>
          <a:xfrm>
            <a:off x="2061743" y="3731571"/>
            <a:ext cx="3706063"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061743" y="4002729"/>
            <a:ext cx="3706063"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061743" y="3645846"/>
            <a:ext cx="3706063"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389" y="332199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2</a:t>
            </a:r>
          </a:p>
          <a:p>
            <a:pPr algn="ctr">
              <a:lnSpc>
                <a:spcPct val="100000"/>
              </a:lnSpc>
            </a:pPr>
            <a:r>
              <a:rPr sz="950" b="0">
                <a:solidFill>
                  <a:srgbClr val="0B2E4A"/>
                </a:solidFill>
                <a:latin typeface="Calibri"/>
              </a:rPr>
              <a:t>~507.3 US$ Mn</a:t>
            </a:r>
          </a:p>
        </p:txBody>
      </p:sp>
      <p:sp>
        <p:nvSpPr>
          <p:cNvPr id="28" name="TextBox 27"/>
          <p:cNvSpPr txBox="1"/>
          <p:nvPr/>
        </p:nvSpPr>
        <p:spPr>
          <a:xfrm>
            <a:off x="2061743" y="3731571"/>
            <a:ext cx="3706063" cy="356883"/>
          </a:xfrm>
          <a:prstGeom prst="rect">
            <a:avLst/>
          </a:prstGeom>
          <a:noFill/>
        </p:spPr>
        <p:txBody>
          <a:bodyPr wrap="square" lIns="28575" rIns="28575" tIns="9525" bIns="9525" anchor="ctr">
            <a:spAutoFit/>
          </a:bodyPr>
          <a:lstStyle/>
          <a:p>
            <a:pPr algn="ctr"/>
            <a:r>
              <a:rPr sz="950" b="1">
                <a:solidFill>
                  <a:srgbClr val="FFFFFF"/>
                </a:solidFill>
                <a:latin typeface="Calibri"/>
              </a:rPr>
              <a:t>~21-23%</a:t>
            </a:r>
          </a:p>
        </p:txBody>
      </p:sp>
      <p:sp>
        <p:nvSpPr>
          <p:cNvPr id="29" name="Rectangle 28"/>
          <p:cNvSpPr/>
          <p:nvPr/>
        </p:nvSpPr>
        <p:spPr>
          <a:xfrm>
            <a:off x="2555885" y="4781226"/>
            <a:ext cx="2717780"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555885" y="5052384"/>
            <a:ext cx="2717780"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555885" y="4695501"/>
            <a:ext cx="2717780"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6389" y="4371651"/>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Tier 3</a:t>
            </a:r>
          </a:p>
          <a:p>
            <a:pPr algn="ctr">
              <a:lnSpc>
                <a:spcPct val="100000"/>
              </a:lnSpc>
            </a:pPr>
            <a:r>
              <a:rPr sz="950" b="0">
                <a:solidFill>
                  <a:srgbClr val="0B2E4A"/>
                </a:solidFill>
                <a:latin typeface="Calibri"/>
              </a:rPr>
              <a:t>~230.6 US$ Mn</a:t>
            </a:r>
          </a:p>
        </p:txBody>
      </p:sp>
      <p:sp>
        <p:nvSpPr>
          <p:cNvPr id="33" name="TextBox 32"/>
          <p:cNvSpPr txBox="1"/>
          <p:nvPr/>
        </p:nvSpPr>
        <p:spPr>
          <a:xfrm>
            <a:off x="2555885" y="4781226"/>
            <a:ext cx="2717780" cy="356883"/>
          </a:xfrm>
          <a:prstGeom prst="rect">
            <a:avLst/>
          </a:prstGeom>
          <a:noFill/>
        </p:spPr>
        <p:txBody>
          <a:bodyPr wrap="square" lIns="28575" rIns="28575" tIns="9525" bIns="9525" anchor="ctr">
            <a:spAutoFit/>
          </a:bodyPr>
          <a:lstStyle/>
          <a:p>
            <a:pPr algn="ctr"/>
            <a:r>
              <a:rPr sz="950" b="1">
                <a:solidFill>
                  <a:srgbClr val="FFFFFF"/>
                </a:solidFill>
                <a:latin typeface="Calibri"/>
              </a:rPr>
              <a:t>~9-11%</a:t>
            </a:r>
          </a:p>
        </p:txBody>
      </p:sp>
      <p:sp>
        <p:nvSpPr>
          <p:cNvPr id="34" name="Rectangle 33"/>
          <p:cNvSpPr/>
          <p:nvPr/>
        </p:nvSpPr>
        <p:spPr>
          <a:xfrm>
            <a:off x="2988259" y="5830881"/>
            <a:ext cx="1853032" cy="356883"/>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988259" y="6102039"/>
            <a:ext cx="1853032" cy="17145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988259" y="5745156"/>
            <a:ext cx="1853032" cy="1714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6389" y="5421306"/>
            <a:ext cx="6176772" cy="304800"/>
          </a:xfrm>
          <a:prstGeom prst="rect">
            <a:avLst/>
          </a:prstGeom>
          <a:noFill/>
        </p:spPr>
        <p:txBody>
          <a:bodyPr wrap="square" lIns="28575" rIns="28575" tIns="9525" bIns="9525" anchor="b">
            <a:spAutoFit/>
          </a:bodyPr>
          <a:lstStyle/>
          <a:p>
            <a:pPr algn="ctr">
              <a:lnSpc>
                <a:spcPct val="100000"/>
              </a:lnSpc>
            </a:pPr>
            <a:r>
              <a:rPr sz="1050" b="1">
                <a:solidFill>
                  <a:srgbClr val="0B2E4A"/>
                </a:solidFill>
                <a:latin typeface="Calibri"/>
              </a:rPr>
              <a:t>Others</a:t>
            </a:r>
          </a:p>
          <a:p>
            <a:pPr algn="ctr">
              <a:lnSpc>
                <a:spcPct val="100000"/>
              </a:lnSpc>
            </a:pPr>
            <a:r>
              <a:rPr sz="950" b="0">
                <a:solidFill>
                  <a:srgbClr val="0B2E4A"/>
                </a:solidFill>
                <a:latin typeface="Calibri"/>
              </a:rPr>
              <a:t>~368.9 US$ Mn</a:t>
            </a:r>
          </a:p>
        </p:txBody>
      </p:sp>
      <p:sp>
        <p:nvSpPr>
          <p:cNvPr id="38" name="TextBox 37"/>
          <p:cNvSpPr txBox="1"/>
          <p:nvPr/>
        </p:nvSpPr>
        <p:spPr>
          <a:xfrm>
            <a:off x="2988259" y="5830881"/>
            <a:ext cx="1853032" cy="356883"/>
          </a:xfrm>
          <a:prstGeom prst="rect">
            <a:avLst/>
          </a:prstGeom>
          <a:noFill/>
        </p:spPr>
        <p:txBody>
          <a:bodyPr wrap="square" lIns="28575" rIns="28575" tIns="9525" bIns="9525" anchor="ctr">
            <a:spAutoFit/>
          </a:bodyPr>
          <a:lstStyle/>
          <a:p>
            <a:pPr algn="ctr"/>
            <a:r>
              <a:rPr sz="950" b="1">
                <a:solidFill>
                  <a:srgbClr val="FFFFFF"/>
                </a:solidFill>
                <a:latin typeface="Calibri"/>
              </a:rPr>
              <a:t>~15-17%</a:t>
            </a:r>
          </a:p>
        </p:txBody>
      </p:sp>
      <p:sp>
        <p:nvSpPr>
          <p:cNvPr id="39" name="Rounded Rectangle 38"/>
          <p:cNvSpPr/>
          <p:nvPr/>
        </p:nvSpPr>
        <p:spPr>
          <a:xfrm>
            <a:off x="7800975" y="904875"/>
            <a:ext cx="4248150" cy="2857500"/>
          </a:xfrm>
          <a:prstGeom prst="roundRect">
            <a:avLst>
              <a:gd name="adj" fmla="val 2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34325" y="990600"/>
            <a:ext cx="3981450" cy="209550"/>
          </a:xfrm>
          <a:prstGeom prst="rect">
            <a:avLst/>
          </a:prstGeom>
          <a:noFill/>
        </p:spPr>
        <p:txBody>
          <a:bodyPr wrap="square" lIns="0" rIns="19050" tIns="9525" bIns="9525">
            <a:spAutoFit/>
          </a:bodyPr>
          <a:lstStyle/>
          <a:p>
            <a:pPr algn="l"/>
            <a:r>
              <a:rPr sz="1300" b="1">
                <a:solidFill>
                  <a:srgbClr val="0B2E4A"/>
                </a:solidFill>
                <a:latin typeface="Calibri"/>
              </a:rPr>
              <a:t>Tier Composition</a:t>
            </a:r>
          </a:p>
        </p:txBody>
      </p:sp>
      <p:sp>
        <p:nvSpPr>
          <p:cNvPr id="41" name="Rectangle 40"/>
          <p:cNvSpPr/>
          <p:nvPr/>
        </p:nvSpPr>
        <p:spPr>
          <a:xfrm>
            <a:off x="7934325" y="1228725"/>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34325" y="1314450"/>
            <a:ext cx="3981450" cy="23717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(~51-53%): Company A, Company B, Company C, Company D.</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2 (~21-23%): Company E, Company F.</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3 (~9-11%): Company G, Company H.</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Others (~15-17%): a long tail of regional and niche suppliers.</a:t>
            </a:r>
          </a:p>
        </p:txBody>
      </p:sp>
      <p:sp>
        <p:nvSpPr>
          <p:cNvPr id="43" name="Rounded Rectangle 42"/>
          <p:cNvSpPr/>
          <p:nvPr/>
        </p:nvSpPr>
        <p:spPr>
          <a:xfrm>
            <a:off x="7800975" y="3876675"/>
            <a:ext cx="4248150" cy="2790825"/>
          </a:xfrm>
          <a:prstGeom prst="roundRect">
            <a:avLst>
              <a:gd name="adj" fmla="val 273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34325" y="3962400"/>
            <a:ext cx="3981450" cy="209550"/>
          </a:xfrm>
          <a:prstGeom prst="rect">
            <a:avLst/>
          </a:prstGeom>
          <a:noFill/>
        </p:spPr>
        <p:txBody>
          <a:bodyPr wrap="square" lIns="0" rIns="19050" tIns="9525" bIns="9525">
            <a:spAutoFit/>
          </a:bodyPr>
          <a:lstStyle/>
          <a:p>
            <a:pPr algn="l"/>
            <a:r>
              <a:rPr sz="1300" b="1">
                <a:solidFill>
                  <a:srgbClr val="0B2E4A"/>
                </a:solidFill>
                <a:latin typeface="Calibri"/>
              </a:rPr>
              <a:t>How the Industry Is Structured</a:t>
            </a:r>
          </a:p>
        </p:txBody>
      </p:sp>
      <p:sp>
        <p:nvSpPr>
          <p:cNvPr id="45" name="Rectangle 44"/>
          <p:cNvSpPr/>
          <p:nvPr/>
        </p:nvSpPr>
        <p:spPr>
          <a:xfrm>
            <a:off x="7934325" y="4200525"/>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34325" y="4286250"/>
            <a:ext cx="3981450" cy="2305050"/>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The Capillary Blood Collection Devices Market is structured across three competitive tiers plus a long tail, on a ~2,306 US$ Mn base (2026).</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1 (~51-53%) top / global players sets pricing and innovation benchmarks and holds the largest single block of value.</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2 (~21-23%) competes on niche strengths and regional depth; Tier 3 (~9-11%) is emerging and local.</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Tier sizing is derived from market modelling and expert validation; totals may differ from headline figures due to rounding.</a:t>
            </a:r>
          </a:p>
        </p:txBody>
      </p:sp>
      <p:sp>
        <p:nvSpPr>
          <p:cNvPr id="47" name="Rectangle 4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49" name="Rounded Rectangle 4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0" name="Rounded Rectangle 4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1" name="Rounded Rectangle 5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Advice for Market Vendors / Suppliers</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Strategic advice for vendors and suppliers on pricing, product, geography, channel and competitive risk</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Strategic advice for vendors and suppliers where to compete, how to price, and which risks to manage across the Capillary Blood Collection Devices Market.</a:t>
            </a:r>
          </a:p>
        </p:txBody>
      </p:sp>
      <p:sp>
        <p:nvSpPr>
          <p:cNvPr id="12" name="Rounded Rectangle 11"/>
          <p:cNvSpPr/>
          <p:nvPr/>
        </p:nvSpPr>
        <p:spPr>
          <a:xfrm>
            <a:off x="142875" y="1219200"/>
            <a:ext cx="5857875"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6225" y="1304925"/>
            <a:ext cx="5591175" cy="209550"/>
          </a:xfrm>
          <a:prstGeom prst="rect">
            <a:avLst/>
          </a:prstGeom>
          <a:noFill/>
        </p:spPr>
        <p:txBody>
          <a:bodyPr wrap="square" lIns="0" rIns="19050" tIns="9525" bIns="9525">
            <a:spAutoFit/>
          </a:bodyPr>
          <a:lstStyle/>
          <a:p>
            <a:pPr algn="l"/>
            <a:r>
              <a:rPr sz="1300" b="1">
                <a:solidFill>
                  <a:srgbClr val="0B2E4A"/>
                </a:solidFill>
                <a:latin typeface="Calibri"/>
              </a:rPr>
              <a:t>Pricing &amp; Margin Strategy</a:t>
            </a:r>
          </a:p>
        </p:txBody>
      </p:sp>
      <p:sp>
        <p:nvSpPr>
          <p:cNvPr id="14" name="Rectangle 13"/>
          <p:cNvSpPr/>
          <p:nvPr/>
        </p:nvSpPr>
        <p:spPr>
          <a:xfrm>
            <a:off x="276225" y="1543050"/>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225" y="1628775"/>
            <a:ext cx="5591175" cy="22288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Hold price discipline: with the top three players at ~41% share, avoid value-destructive discounting compete on mix and service, not headline price.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toward higher-value formulations (e.g. 'Capillary Blood Collection Containers') to lift blended ASP and defend margin as input costs move.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Set transparent, corridor-based regional pricing to limit grey-market arbitrage.</a:t>
            </a:r>
          </a:p>
        </p:txBody>
      </p:sp>
      <p:sp>
        <p:nvSpPr>
          <p:cNvPr id="16" name="Rounded Rectangle 15"/>
          <p:cNvSpPr/>
          <p:nvPr/>
        </p:nvSpPr>
        <p:spPr>
          <a:xfrm>
            <a:off x="6191250" y="1219200"/>
            <a:ext cx="5857875" cy="2714625"/>
          </a:xfrm>
          <a:prstGeom prst="roundRect">
            <a:avLst>
              <a:gd name="adj" fmla="val 280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24600" y="1304925"/>
            <a:ext cx="5591175" cy="209550"/>
          </a:xfrm>
          <a:prstGeom prst="rect">
            <a:avLst/>
          </a:prstGeom>
          <a:noFill/>
        </p:spPr>
        <p:txBody>
          <a:bodyPr wrap="square" lIns="0" rIns="19050" tIns="9525" bIns="9525">
            <a:spAutoFit/>
          </a:bodyPr>
          <a:lstStyle/>
          <a:p>
            <a:pPr algn="l"/>
            <a:r>
              <a:rPr sz="1300" b="1">
                <a:solidFill>
                  <a:srgbClr val="0B2E4A"/>
                </a:solidFill>
                <a:latin typeface="Calibri"/>
              </a:rPr>
              <a:t>Product &amp; Innovation</a:t>
            </a:r>
          </a:p>
        </p:txBody>
      </p:sp>
      <p:sp>
        <p:nvSpPr>
          <p:cNvPr id="18" name="Rectangle 17"/>
          <p:cNvSpPr/>
          <p:nvPr/>
        </p:nvSpPr>
        <p:spPr>
          <a:xfrm>
            <a:off x="6324600" y="1543050"/>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4600" y="1628775"/>
            <a:ext cx="5591175" cy="222885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Prioritise R&amp;D in the fastest-growing formulations a differentiated portfolio is the clearest route to out-growing the ~7.9% market CAGR.</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Pursue certification and clinical validation to build switching costs and support premium positioning.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Localise formats and pack sizes to each channel and geography.</a:t>
            </a:r>
          </a:p>
        </p:txBody>
      </p:sp>
      <p:sp>
        <p:nvSpPr>
          <p:cNvPr id="20" name="Rounded Rectangle 19"/>
          <p:cNvSpPr/>
          <p:nvPr/>
        </p:nvSpPr>
        <p:spPr>
          <a:xfrm>
            <a:off x="142875" y="4029075"/>
            <a:ext cx="5857875" cy="2619375"/>
          </a:xfrm>
          <a:prstGeom prst="roundRect">
            <a:avLst>
              <a:gd name="adj" fmla="val 29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6225" y="4114800"/>
            <a:ext cx="5591175" cy="209550"/>
          </a:xfrm>
          <a:prstGeom prst="rect">
            <a:avLst/>
          </a:prstGeom>
          <a:noFill/>
        </p:spPr>
        <p:txBody>
          <a:bodyPr wrap="square" lIns="0" rIns="19050" tIns="9525" bIns="9525">
            <a:spAutoFit/>
          </a:bodyPr>
          <a:lstStyle/>
          <a:p>
            <a:pPr algn="l"/>
            <a:r>
              <a:rPr sz="1300" b="1">
                <a:solidFill>
                  <a:srgbClr val="0B2E4A"/>
                </a:solidFill>
                <a:latin typeface="Calibri"/>
              </a:rPr>
              <a:t>Geographic &amp; Channel Expansion</a:t>
            </a:r>
          </a:p>
        </p:txBody>
      </p:sp>
      <p:sp>
        <p:nvSpPr>
          <p:cNvPr id="22" name="Rectangle 21"/>
          <p:cNvSpPr/>
          <p:nvPr/>
        </p:nvSpPr>
        <p:spPr>
          <a:xfrm>
            <a:off x="276225" y="4352925"/>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6225" y="4438650"/>
            <a:ext cx="5591175" cy="21336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Expand selectively into under-penetrated regions where the leaders are thin, rather than head-on in saturated markets.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Balance retail, hospital/clinic and online channels online is the fastest-shifting route to end customers.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Build reliable distribution and logistics partnerships to convert demand into fulfilled volume.</a:t>
            </a:r>
          </a:p>
        </p:txBody>
      </p:sp>
      <p:sp>
        <p:nvSpPr>
          <p:cNvPr id="24" name="Rounded Rectangle 23"/>
          <p:cNvSpPr/>
          <p:nvPr/>
        </p:nvSpPr>
        <p:spPr>
          <a:xfrm>
            <a:off x="6191250" y="4029075"/>
            <a:ext cx="5857875" cy="2619375"/>
          </a:xfrm>
          <a:prstGeom prst="roundRect">
            <a:avLst>
              <a:gd name="adj" fmla="val 29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4600" y="4114800"/>
            <a:ext cx="5591175" cy="209550"/>
          </a:xfrm>
          <a:prstGeom prst="rect">
            <a:avLst/>
          </a:prstGeom>
          <a:noFill/>
        </p:spPr>
        <p:txBody>
          <a:bodyPr wrap="square" lIns="0" rIns="19050" tIns="9525" bIns="9525">
            <a:spAutoFit/>
          </a:bodyPr>
          <a:lstStyle/>
          <a:p>
            <a:pPr algn="l"/>
            <a:r>
              <a:rPr sz="1300" b="1">
                <a:solidFill>
                  <a:srgbClr val="0B2E4A"/>
                </a:solidFill>
                <a:latin typeface="Calibri"/>
              </a:rPr>
              <a:t>Competitive &amp; Risk Positioning</a:t>
            </a:r>
          </a:p>
        </p:txBody>
      </p:sp>
      <p:sp>
        <p:nvSpPr>
          <p:cNvPr id="26" name="Rectangle 25"/>
          <p:cNvSpPr/>
          <p:nvPr/>
        </p:nvSpPr>
        <p:spPr>
          <a:xfrm>
            <a:off x="6324600" y="4352925"/>
            <a:ext cx="5591175"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4600" y="4438650"/>
            <a:ext cx="5591175" cy="2133600"/>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Benchmark relentlessly against 'Company A' (~16.4% share) match on service and lead on innovation to take share.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to cut dependence on a few large accounts and single-region exposure.</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Stress-test for regulatory, currency and supply shocks; keep flexible capacity and dual sourcing.</a:t>
            </a:r>
          </a:p>
        </p:txBody>
      </p:sp>
      <p:sp>
        <p:nvSpPr>
          <p:cNvPr id="28" name="Rectangle 27"/>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0" name="Rounded Rectangle 29">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1" name="Rounded Rectangle 30">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2" name="Rounded Rectangle 31">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Company Value Share (Global)</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value share by company in the global market, 2025, highlighting leadership and the long tail</a:t>
            </a:r>
          </a:p>
        </p:txBody>
      </p:sp>
      <p:sp>
        <p:nvSpPr>
          <p:cNvPr id="11" name="Rounded Rectangle 10"/>
          <p:cNvSpPr/>
          <p:nvPr/>
        </p:nvSpPr>
        <p:spPr>
          <a:xfrm>
            <a:off x="8953500" y="228600"/>
            <a:ext cx="1428750" cy="419100"/>
          </a:xfrm>
          <a:prstGeom prst="roundRect">
            <a:avLst>
              <a:gd name="adj" fmla="val 22000"/>
            </a:avLst>
          </a:prstGeom>
          <a:solidFill>
            <a:srgbClr val="D9E6F2"/>
          </a:solidFill>
          <a:ln w="635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1000" b="1">
                <a:solidFill>
                  <a:srgbClr val="0B2E4A"/>
                </a:solidFill>
                <a:latin typeface="Calibri"/>
              </a:rPr>
              <a:t>Global</a:t>
            </a:r>
          </a:p>
        </p:txBody>
      </p:sp>
      <p:sp>
        <p:nvSpPr>
          <p:cNvPr id="12" name="Rounded Rectangle 11"/>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Target market value share by key companies leadership, concentration and how the competitive mix shifts by region.</a:t>
            </a:r>
          </a:p>
        </p:txBody>
      </p:sp>
      <p:sp>
        <p:nvSpPr>
          <p:cNvPr id="13" name="Rounded Rectangle 12"/>
          <p:cNvSpPr/>
          <p:nvPr/>
        </p:nvSpPr>
        <p:spPr>
          <a:xfrm>
            <a:off x="142875" y="1219200"/>
            <a:ext cx="7543800" cy="5448300"/>
          </a:xfrm>
          <a:prstGeom prst="roundRect">
            <a:avLst>
              <a:gd name="adj" fmla="val 1398"/>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125" y="1276350"/>
            <a:ext cx="73533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Global Value Share by Key Company (US$ Mn, 2026)</a:t>
            </a:r>
          </a:p>
        </p:txBody>
      </p:sp>
      <p:graphicFrame>
        <p:nvGraphicFramePr>
          <p:cNvPr id="15" name="Chart 14"/>
          <p:cNvGraphicFramePr>
            <a:graphicFrameLocks noGrp="1"/>
          </p:cNvGraphicFramePr>
          <p:nvPr/>
        </p:nvGraphicFramePr>
        <p:xfrm>
          <a:off x="238125" y="1504950"/>
          <a:ext cx="7353300" cy="5105400"/>
        </p:xfrm>
        <a:graphic>
          <a:graphicData uri="http://schemas.openxmlformats.org/drawingml/2006/chart">
            <c:chart xmlns:c="http://schemas.openxmlformats.org/drawingml/2006/chart" r:id="rId3"/>
          </a:graphicData>
        </a:graphic>
      </p:graphicFrame>
      <p:sp>
        <p:nvSpPr>
          <p:cNvPr id="16" name="TextBox 15"/>
          <p:cNvSpPr txBox="1"/>
          <p:nvPr/>
        </p:nvSpPr>
        <p:spPr>
          <a:xfrm>
            <a:off x="2049780" y="3857625"/>
            <a:ext cx="1524000" cy="400050"/>
          </a:xfrm>
          <a:prstGeom prst="rect">
            <a:avLst/>
          </a:prstGeom>
          <a:noFill/>
        </p:spPr>
        <p:txBody>
          <a:bodyPr wrap="square" lIns="28575" rIns="28575" tIns="9525" bIns="9525" anchor="ctr">
            <a:spAutoFit/>
          </a:bodyPr>
          <a:lstStyle/>
          <a:p>
            <a:pPr algn="ctr"/>
            <a:r>
              <a:rPr sz="1300" b="1">
                <a:solidFill>
                  <a:srgbClr val="2E2E2E"/>
                </a:solidFill>
                <a:latin typeface="Calibri"/>
              </a:rPr>
              <a:t>100% =</a:t>
            </a:r>
          </a:p>
          <a:p>
            <a:pPr algn="ctr"/>
            <a:r>
              <a:rPr sz="1300" b="1">
                <a:solidFill>
                  <a:srgbClr val="2E2E2E"/>
                </a:solidFill>
                <a:latin typeface="Calibri"/>
              </a:rPr>
              <a:t>2,306 US$ Mn</a:t>
            </a:r>
          </a:p>
        </p:txBody>
      </p:sp>
      <p:sp>
        <p:nvSpPr>
          <p:cNvPr id="17" name="Rounded Rectangle 16"/>
          <p:cNvSpPr/>
          <p:nvPr/>
        </p:nvSpPr>
        <p:spPr>
          <a:xfrm>
            <a:off x="7800975" y="1219200"/>
            <a:ext cx="4248150" cy="5448300"/>
          </a:xfrm>
          <a:prstGeom prst="roundRect">
            <a:avLst>
              <a:gd name="adj" fmla="val 17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4325" y="1304925"/>
            <a:ext cx="39814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19" name="Rectangle 18"/>
          <p:cNvSpPr/>
          <p:nvPr/>
        </p:nvSpPr>
        <p:spPr>
          <a:xfrm>
            <a:off x="7934325" y="1543050"/>
            <a:ext cx="39814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34325" y="1628775"/>
            <a:ext cx="3981450" cy="4962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The Capillary Blood Collection Devices Market is moderately consolidated globally: the top three players hold ~41% of value, while a long tail ('Others') accounts for ~30%.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'Company A' leads with ~16.4% share, ahead of 'Company B' at ~14.4% the two set the competitive benchmark for pricing and innovation.</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Tier 1 players collectively command ~52% of the market, underlining meaningful barriers to entry.</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Regional share differs from the global picture use the region selector to see how leadership shifts across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Share gains globally are being driven by capacity expansion, product development and selective M&amp;A among the leading players.</a:t>
            </a:r>
          </a:p>
        </p:txBody>
      </p:sp>
      <p:sp>
        <p:nvSpPr>
          <p:cNvPr id="21" name="Rectangle 20"/>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3" name="Rounded Rectangle 22">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4" name="Rounded Rectangle 23">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5" name="Rounded Rectangle 24">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Company Share by Product Type (Top 3)</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value share within each leading product type, highlighting where leadership differs</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Company value share within each of the leading product types where each player concentrates, and how leadership varies by formulation.</a:t>
            </a:r>
          </a:p>
        </p:txBody>
      </p:sp>
      <p:sp>
        <p:nvSpPr>
          <p:cNvPr id="12" name="Rounded Rectangle 11"/>
          <p:cNvSpPr/>
          <p:nvPr/>
        </p:nvSpPr>
        <p:spPr>
          <a:xfrm>
            <a:off x="14287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Capillary Blood Collection Containers</a:t>
            </a:r>
          </a:p>
        </p:txBody>
      </p:sp>
      <p:graphicFrame>
        <p:nvGraphicFramePr>
          <p:cNvPr id="14" name="Chart 13"/>
          <p:cNvGraphicFramePr>
            <a:graphicFrameLocks noGrp="1"/>
          </p:cNvGraphicFramePr>
          <p:nvPr/>
        </p:nvGraphicFramePr>
        <p:xfrm>
          <a:off x="238125" y="1447800"/>
          <a:ext cx="3638550" cy="3009900"/>
        </p:xfrm>
        <a:graphic>
          <a:graphicData uri="http://schemas.openxmlformats.org/drawingml/2006/chart">
            <c:chart xmlns:c="http://schemas.openxmlformats.org/drawingml/2006/chart" r:id="rId3"/>
          </a:graphicData>
        </a:graphic>
      </p:graphicFrame>
      <p:sp>
        <p:nvSpPr>
          <p:cNvPr id="15" name="Rounded Rectangle 14"/>
          <p:cNvSpPr/>
          <p:nvPr/>
        </p:nvSpPr>
        <p:spPr>
          <a:xfrm>
            <a:off x="412432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1957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Blood Collection Lancets</a:t>
            </a:r>
          </a:p>
        </p:txBody>
      </p:sp>
      <p:graphicFrame>
        <p:nvGraphicFramePr>
          <p:cNvPr id="17" name="Chart 16"/>
          <p:cNvGraphicFramePr>
            <a:graphicFrameLocks noGrp="1"/>
          </p:cNvGraphicFramePr>
          <p:nvPr/>
        </p:nvGraphicFramePr>
        <p:xfrm>
          <a:off x="4219575" y="1447800"/>
          <a:ext cx="3638550" cy="3009900"/>
        </p:xfrm>
        <a:graphic>
          <a:graphicData uri="http://schemas.openxmlformats.org/drawingml/2006/chart">
            <c:chart xmlns:c="http://schemas.openxmlformats.org/drawingml/2006/chart" r:id="rId4"/>
          </a:graphicData>
        </a:graphic>
      </p:graphicFrame>
      <p:sp>
        <p:nvSpPr>
          <p:cNvPr id="18" name="Rounded Rectangle 17"/>
          <p:cNvSpPr/>
          <p:nvPr/>
        </p:nvSpPr>
        <p:spPr>
          <a:xfrm>
            <a:off x="8105775" y="1162050"/>
            <a:ext cx="39433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1025" y="12192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Integrated Capillary Blood Collection Devices</a:t>
            </a:r>
          </a:p>
        </p:txBody>
      </p:sp>
      <p:graphicFrame>
        <p:nvGraphicFramePr>
          <p:cNvPr id="20" name="Chart 19"/>
          <p:cNvGraphicFramePr>
            <a:graphicFrameLocks noGrp="1"/>
          </p:cNvGraphicFramePr>
          <p:nvPr/>
        </p:nvGraphicFramePr>
        <p:xfrm>
          <a:off x="8201025" y="1447800"/>
          <a:ext cx="3752850" cy="3009900"/>
        </p:xfrm>
        <a:graphic>
          <a:graphicData uri="http://schemas.openxmlformats.org/drawingml/2006/chart">
            <c:chart xmlns:c="http://schemas.openxmlformats.org/drawingml/2006/chart" r:id="rId5"/>
          </a:graphicData>
        </a:graphic>
      </p:graphicFrame>
      <p:sp>
        <p:nvSpPr>
          <p:cNvPr id="21" name="Rounded Rectangle 20"/>
          <p:cNvSpPr/>
          <p:nvPr/>
        </p:nvSpPr>
        <p:spPr>
          <a:xfrm>
            <a:off x="142875" y="4610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958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3" name="Rectangle 22"/>
          <p:cNvSpPr/>
          <p:nvPr/>
        </p:nvSpPr>
        <p:spPr>
          <a:xfrm>
            <a:off x="276225" y="4933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501967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Capillary Blood Collection Containers: 'Company A' leads at ~12.8%, ahead of 'Company D' (~12.7%); the top three hold ~38% and a long tail ('Others') ~27%.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Blood Collection Lancets: 'Company C' leads at ~14.9%, ahead of 'Company B' (~14.8%); the top three hold ~43% and a long tail ('Others') ~23%.</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Integrated Capillary Blood Collection Devices: 'Company A' leads at ~17.8%, ahead of 'Company B' (~16.9%); the top three hold ~48% and a long tail ('Others') ~20%.</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Leadership shifts across formulations a strong position in one product type does not carry over to the others, so product-level targeting is essential.</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competitor figures are indicative derived from market modelling and expert validation, not company disclosures.</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Company Share by Region (Top 3)</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Company value share within the largest regions, highlighting where leadership shifts across geographies</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Company value share within each of the largest regions where each player concentrates, and how leadership varies by geography.</a:t>
            </a:r>
          </a:p>
        </p:txBody>
      </p:sp>
      <p:sp>
        <p:nvSpPr>
          <p:cNvPr id="12" name="Rounded Rectangle 11"/>
          <p:cNvSpPr/>
          <p:nvPr/>
        </p:nvSpPr>
        <p:spPr>
          <a:xfrm>
            <a:off x="14287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North America</a:t>
            </a:r>
          </a:p>
        </p:txBody>
      </p:sp>
      <p:graphicFrame>
        <p:nvGraphicFramePr>
          <p:cNvPr id="14" name="Chart 13"/>
          <p:cNvGraphicFramePr>
            <a:graphicFrameLocks noGrp="1"/>
          </p:cNvGraphicFramePr>
          <p:nvPr/>
        </p:nvGraphicFramePr>
        <p:xfrm>
          <a:off x="238125" y="1447800"/>
          <a:ext cx="3638550" cy="3009900"/>
        </p:xfrm>
        <a:graphic>
          <a:graphicData uri="http://schemas.openxmlformats.org/drawingml/2006/chart">
            <c:chart xmlns:c="http://schemas.openxmlformats.org/drawingml/2006/chart" r:id="rId3"/>
          </a:graphicData>
        </a:graphic>
      </p:graphicFrame>
      <p:sp>
        <p:nvSpPr>
          <p:cNvPr id="15" name="Rounded Rectangle 14"/>
          <p:cNvSpPr/>
          <p:nvPr/>
        </p:nvSpPr>
        <p:spPr>
          <a:xfrm>
            <a:off x="4124325" y="1162050"/>
            <a:ext cx="38290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19575" y="12192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Western Europe</a:t>
            </a:r>
          </a:p>
        </p:txBody>
      </p:sp>
      <p:graphicFrame>
        <p:nvGraphicFramePr>
          <p:cNvPr id="17" name="Chart 16"/>
          <p:cNvGraphicFramePr>
            <a:graphicFrameLocks noGrp="1"/>
          </p:cNvGraphicFramePr>
          <p:nvPr/>
        </p:nvGraphicFramePr>
        <p:xfrm>
          <a:off x="4219575" y="1447800"/>
          <a:ext cx="3638550" cy="3009900"/>
        </p:xfrm>
        <a:graphic>
          <a:graphicData uri="http://schemas.openxmlformats.org/drawingml/2006/chart">
            <c:chart xmlns:c="http://schemas.openxmlformats.org/drawingml/2006/chart" r:id="rId4"/>
          </a:graphicData>
        </a:graphic>
      </p:graphicFrame>
      <p:sp>
        <p:nvSpPr>
          <p:cNvPr id="18" name="Rounded Rectangle 17"/>
          <p:cNvSpPr/>
          <p:nvPr/>
        </p:nvSpPr>
        <p:spPr>
          <a:xfrm>
            <a:off x="8105775" y="1162050"/>
            <a:ext cx="3943350" cy="3352800"/>
          </a:xfrm>
          <a:prstGeom prst="roundRect">
            <a:avLst>
              <a:gd name="adj" fmla="val 2272"/>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01025" y="12192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East Asia</a:t>
            </a:r>
          </a:p>
        </p:txBody>
      </p:sp>
      <p:graphicFrame>
        <p:nvGraphicFramePr>
          <p:cNvPr id="20" name="Chart 19"/>
          <p:cNvGraphicFramePr>
            <a:graphicFrameLocks noGrp="1"/>
          </p:cNvGraphicFramePr>
          <p:nvPr/>
        </p:nvGraphicFramePr>
        <p:xfrm>
          <a:off x="8201025" y="1447800"/>
          <a:ext cx="3752850" cy="3009900"/>
        </p:xfrm>
        <a:graphic>
          <a:graphicData uri="http://schemas.openxmlformats.org/drawingml/2006/chart">
            <c:chart xmlns:c="http://schemas.openxmlformats.org/drawingml/2006/chart" r:id="rId5"/>
          </a:graphicData>
        </a:graphic>
      </p:graphicFrame>
      <p:sp>
        <p:nvSpPr>
          <p:cNvPr id="21" name="Rounded Rectangle 20"/>
          <p:cNvSpPr/>
          <p:nvPr/>
        </p:nvSpPr>
        <p:spPr>
          <a:xfrm>
            <a:off x="142875" y="4610100"/>
            <a:ext cx="11906250" cy="2057400"/>
          </a:xfrm>
          <a:prstGeom prst="roundRect">
            <a:avLst>
              <a:gd name="adj" fmla="val 370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6225" y="4695825"/>
            <a:ext cx="11639550" cy="209550"/>
          </a:xfrm>
          <a:prstGeom prst="rect">
            <a:avLst/>
          </a:prstGeom>
          <a:noFill/>
        </p:spPr>
        <p:txBody>
          <a:bodyPr wrap="square" lIns="0" rIns="19050" tIns="9525" bIns="9525">
            <a:spAutoFit/>
          </a:bodyPr>
          <a:lstStyle/>
          <a:p>
            <a:pPr algn="l"/>
            <a:r>
              <a:rPr sz="1300" b="1">
                <a:solidFill>
                  <a:srgbClr val="0B2E4A"/>
                </a:solidFill>
                <a:latin typeface="Calibri"/>
              </a:rPr>
              <a:t>Company Share Key Takeaways</a:t>
            </a:r>
          </a:p>
        </p:txBody>
      </p:sp>
      <p:sp>
        <p:nvSpPr>
          <p:cNvPr id="23" name="Rectangle 22"/>
          <p:cNvSpPr/>
          <p:nvPr/>
        </p:nvSpPr>
        <p:spPr>
          <a:xfrm>
            <a:off x="276225" y="49339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6225" y="5019675"/>
            <a:ext cx="11639550" cy="15716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North America: 'Company A' leads at ~18.4%, ahead of 'Company B' (~13.5%); the top three hold ~41% and a long tail ('Others') ~27%.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Western Europe: 'Company A' leads at ~17.1%, ahead of 'Company D' (~12.6%); the top three hold ~41% and a long tail ('Others') ~21%.</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East Asia: 'Company C' leads at ~14.6%, ahead of 'Company B' (~13.5%); the top three hold ~41% and a long tail ('Others') ~24%.</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Leadership is not uniform across geographies a strong position in one region does not carry over to the others, so region-level go-to-market planning is essential.</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Note: competitor figures are indicative derived from market modelling and expert validation, not company disclosures.</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Who Shaped Growth</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Ranking of the players that shaped growth, by value share, growth role and signature move</a:t>
            </a:r>
          </a:p>
        </p:txBody>
      </p:sp>
      <p:sp>
        <p:nvSpPr>
          <p:cNvPr id="11" name="TextBox 10"/>
          <p:cNvSpPr txBox="1"/>
          <p:nvPr/>
        </p:nvSpPr>
        <p:spPr>
          <a:xfrm>
            <a:off x="142875" y="819150"/>
            <a:ext cx="11906250" cy="171450"/>
          </a:xfrm>
          <a:prstGeom prst="rect">
            <a:avLst/>
          </a:prstGeom>
          <a:noFill/>
        </p:spPr>
        <p:txBody>
          <a:bodyPr wrap="square" lIns="28575" rIns="28575" tIns="9525" bIns="9525" anchor="ctr">
            <a:spAutoFit/>
          </a:bodyPr>
          <a:lstStyle/>
          <a:p>
            <a:pPr algn="l"/>
            <a:r>
              <a:rPr sz="1050" b="0">
                <a:solidFill>
                  <a:srgbClr val="6C7A89"/>
                </a:solidFill>
                <a:latin typeface="Calibri"/>
              </a:rPr>
              <a:t>A framework to identify the companies that most influenced annual Capillary Blood Collection Devices Market growth, ranked by growth-shaping impact.</a:t>
            </a:r>
          </a:p>
        </p:txBody>
      </p:sp>
      <p:sp>
        <p:nvSpPr>
          <p:cNvPr id="12" name="Rounded Rectangle 11"/>
          <p:cNvSpPr/>
          <p:nvPr/>
        </p:nvSpPr>
        <p:spPr>
          <a:xfrm>
            <a:off x="3857625" y="1028700"/>
            <a:ext cx="4476750" cy="419100"/>
          </a:xfrm>
          <a:prstGeom prst="roundRect">
            <a:avLst>
              <a:gd name="adj" fmla="val 1702"/>
            </a:avLst>
          </a:prstGeom>
          <a:solidFill>
            <a:srgbClr val="F4F8FB"/>
          </a:solidFill>
          <a:ln w="12700">
            <a:solidFill>
              <a:srgbClr val="CF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71925" y="1085850"/>
            <a:ext cx="4248150" cy="152400"/>
          </a:xfrm>
          <a:prstGeom prst="rect">
            <a:avLst/>
          </a:prstGeom>
          <a:noFill/>
        </p:spPr>
        <p:txBody>
          <a:bodyPr wrap="square" lIns="28575" rIns="28575" tIns="9525" bIns="9525" anchor="ctr">
            <a:spAutoFit/>
          </a:bodyPr>
          <a:lstStyle/>
          <a:p>
            <a:pPr algn="ctr"/>
            <a:r>
              <a:rPr sz="1000" b="1">
                <a:solidFill>
                  <a:srgbClr val="0B2E4A"/>
                </a:solidFill>
                <a:latin typeface="Calibri"/>
              </a:rPr>
              <a:t>RANKED BY GROWTH-SHAPING IMPACT</a:t>
            </a:r>
          </a:p>
        </p:txBody>
      </p:sp>
      <p:sp>
        <p:nvSpPr>
          <p:cNvPr id="14" name="TextBox 13"/>
          <p:cNvSpPr txBox="1"/>
          <p:nvPr/>
        </p:nvSpPr>
        <p:spPr>
          <a:xfrm>
            <a:off x="3971925" y="1247775"/>
            <a:ext cx="4248150" cy="152400"/>
          </a:xfrm>
          <a:prstGeom prst="rect">
            <a:avLst/>
          </a:prstGeom>
          <a:noFill/>
        </p:spPr>
        <p:txBody>
          <a:bodyPr wrap="square" lIns="28575" rIns="28575" tIns="9525" bIns="9525" anchor="ctr">
            <a:spAutoFit/>
          </a:bodyPr>
          <a:lstStyle/>
          <a:p>
            <a:pPr algn="ctr"/>
            <a:r>
              <a:rPr sz="850" b="0">
                <a:solidFill>
                  <a:srgbClr val="6C7A89"/>
                </a:solidFill>
                <a:latin typeface="Calibri"/>
              </a:rPr>
              <a:t>Ranked by overall contribution to category growth, not share alone.</a:t>
            </a:r>
          </a:p>
        </p:txBody>
      </p:sp>
      <p:cxnSp>
        <p:nvCxnSpPr>
          <p:cNvPr id="15" name="Connector 14"/>
          <p:cNvCxnSpPr/>
          <p:nvPr/>
        </p:nvCxnSpPr>
        <p:spPr>
          <a:xfrm>
            <a:off x="428625" y="1238250"/>
            <a:ext cx="3257550"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05825" y="1238250"/>
            <a:ext cx="3257550" cy="0"/>
          </a:xfrm>
          <a:prstGeom prst="line">
            <a:avLst/>
          </a:prstGeom>
          <a:ln w="12700">
            <a:solidFill>
              <a:srgbClr val="C4D0D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23875" y="1676400"/>
            <a:ext cx="11106150" cy="0"/>
          </a:xfrm>
          <a:prstGeom prst="line">
            <a:avLst/>
          </a:prstGeom>
          <a:ln w="25400">
            <a:solidFill>
              <a:srgbClr val="0B2E4A"/>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11630025" y="1609725"/>
            <a:ext cx="171450" cy="133350"/>
          </a:xfrm>
          <a:custGeom>
            <a:avLst/>
            <a:gdLst/>
            <a:ahLst/>
            <a:cxnLst/>
            <a:rect l="l" t="t" r="r" b="b"/>
            <a:pathLst>
              <a:path w="18" h="14">
                <a:moveTo>
                  <a:pt x="0" y="0"/>
                </a:moveTo>
                <a:lnTo>
                  <a:pt x="18" y="7"/>
                </a:lnTo>
                <a:lnTo>
                  <a:pt x="0" y="14"/>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52525" y="1533525"/>
            <a:ext cx="285750" cy="285750"/>
          </a:xfrm>
          <a:prstGeom prst="ellipse">
            <a:avLst/>
          </a:prstGeom>
          <a:solidFill>
            <a:srgbClr val="0E72AE"/>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525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1</a:t>
            </a:r>
          </a:p>
        </p:txBody>
      </p:sp>
      <p:sp>
        <p:nvSpPr>
          <p:cNvPr id="21" name="Rounded Rectangle 20"/>
          <p:cNvSpPr/>
          <p:nvPr/>
        </p:nvSpPr>
        <p:spPr>
          <a:xfrm>
            <a:off x="142875" y="1885950"/>
            <a:ext cx="2305050" cy="2038350"/>
          </a:xfrm>
          <a:prstGeom prst="roundRect">
            <a:avLst>
              <a:gd name="adj" fmla="val 3719"/>
            </a:avLst>
          </a:prstGeom>
          <a:solidFill>
            <a:srgbClr val="FFFFFF"/>
          </a:solidFill>
          <a:ln w="2032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42875" y="1885950"/>
            <a:ext cx="2305050" cy="323850"/>
          </a:xfrm>
          <a:prstGeom prst="roundRect">
            <a:avLst>
              <a:gd name="adj" fmla="val 3719"/>
            </a:avLst>
          </a:prstGeom>
          <a:solidFill>
            <a:srgbClr val="0E72AE"/>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71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71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25" name="TextBox 24"/>
          <p:cNvSpPr txBox="1"/>
          <p:nvPr/>
        </p:nvSpPr>
        <p:spPr>
          <a:xfrm>
            <a:off x="5238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A</a:t>
            </a:r>
          </a:p>
        </p:txBody>
      </p:sp>
      <p:sp>
        <p:nvSpPr>
          <p:cNvPr id="26" name="TextBox 25"/>
          <p:cNvSpPr txBox="1"/>
          <p:nvPr/>
        </p:nvSpPr>
        <p:spPr>
          <a:xfrm>
            <a:off x="2381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27" name="TextBox 26"/>
          <p:cNvSpPr txBox="1"/>
          <p:nvPr/>
        </p:nvSpPr>
        <p:spPr>
          <a:xfrm>
            <a:off x="4286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16.4%</a:t>
            </a:r>
          </a:p>
        </p:txBody>
      </p:sp>
      <p:cxnSp>
        <p:nvCxnSpPr>
          <p:cNvPr id="28" name="Connector 27"/>
          <p:cNvCxnSpPr/>
          <p:nvPr/>
        </p:nvCxnSpPr>
        <p:spPr>
          <a:xfrm>
            <a:off x="2381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381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30" name="TextBox 29"/>
          <p:cNvSpPr txBox="1"/>
          <p:nvPr/>
        </p:nvSpPr>
        <p:spPr>
          <a:xfrm>
            <a:off x="4286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31" name="TextBox 30"/>
          <p:cNvSpPr txBox="1"/>
          <p:nvPr/>
        </p:nvSpPr>
        <p:spPr>
          <a:xfrm>
            <a:off x="428625" y="2667000"/>
            <a:ext cx="1924050" cy="142875"/>
          </a:xfrm>
          <a:prstGeom prst="rect">
            <a:avLst/>
          </a:prstGeom>
          <a:noFill/>
        </p:spPr>
        <p:txBody>
          <a:bodyPr wrap="square" lIns="28575" rIns="28575" tIns="9525" bIns="9525" anchor="ctr">
            <a:spAutoFit/>
          </a:bodyPr>
          <a:lstStyle/>
          <a:p>
            <a:pPr algn="l"/>
            <a:r>
              <a:rPr sz="900" b="1">
                <a:solidFill>
                  <a:srgbClr val="0E72AE"/>
                </a:solidFill>
                <a:latin typeface="Calibri"/>
              </a:rPr>
              <a:t>Market leader</a:t>
            </a:r>
          </a:p>
        </p:txBody>
      </p:sp>
      <p:cxnSp>
        <p:nvCxnSpPr>
          <p:cNvPr id="32" name="Connector 31"/>
          <p:cNvCxnSpPr/>
          <p:nvPr/>
        </p:nvCxnSpPr>
        <p:spPr>
          <a:xfrm>
            <a:off x="2381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381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34" name="TextBox 33"/>
          <p:cNvSpPr txBox="1"/>
          <p:nvPr/>
        </p:nvSpPr>
        <p:spPr>
          <a:xfrm>
            <a:off x="4286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35" name="TextBox 34"/>
          <p:cNvSpPr txBox="1"/>
          <p:nvPr/>
        </p:nvSpPr>
        <p:spPr>
          <a:xfrm>
            <a:off x="4286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Expanded reach across its core segment</a:t>
            </a:r>
          </a:p>
        </p:txBody>
      </p:sp>
      <p:cxnSp>
        <p:nvCxnSpPr>
          <p:cNvPr id="36" name="Connector 35"/>
          <p:cNvCxnSpPr/>
          <p:nvPr/>
        </p:nvCxnSpPr>
        <p:spPr>
          <a:xfrm>
            <a:off x="2381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381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38" name="TextBox 37"/>
          <p:cNvSpPr txBox="1"/>
          <p:nvPr/>
        </p:nvSpPr>
        <p:spPr>
          <a:xfrm>
            <a:off x="4286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39" name="TextBox 38"/>
          <p:cNvSpPr txBox="1"/>
          <p:nvPr/>
        </p:nvSpPr>
        <p:spPr>
          <a:xfrm>
            <a:off x="4286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New launch</a:t>
            </a:r>
          </a:p>
        </p:txBody>
      </p:sp>
      <p:sp>
        <p:nvSpPr>
          <p:cNvPr id="40" name="Oval 39"/>
          <p:cNvSpPr/>
          <p:nvPr/>
        </p:nvSpPr>
        <p:spPr>
          <a:xfrm>
            <a:off x="3552825" y="1533525"/>
            <a:ext cx="285750" cy="285750"/>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528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2</a:t>
            </a:r>
          </a:p>
        </p:txBody>
      </p:sp>
      <p:sp>
        <p:nvSpPr>
          <p:cNvPr id="42" name="Rounded Rectangle 41"/>
          <p:cNvSpPr/>
          <p:nvPr/>
        </p:nvSpPr>
        <p:spPr>
          <a:xfrm>
            <a:off x="2543175" y="1885950"/>
            <a:ext cx="2305050" cy="2038350"/>
          </a:xfrm>
          <a:prstGeom prst="roundRect">
            <a:avLst>
              <a:gd name="adj" fmla="val 3719"/>
            </a:avLst>
          </a:prstGeom>
          <a:solidFill>
            <a:srgbClr val="FFFFFF"/>
          </a:solidFill>
          <a:ln w="2032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543175" y="1885950"/>
            <a:ext cx="2305050" cy="323850"/>
          </a:xfrm>
          <a:prstGeom prst="roundRect">
            <a:avLst>
              <a:gd name="adj" fmla="val 3719"/>
            </a:avLst>
          </a:prstGeom>
          <a:solidFill>
            <a:srgbClr val="A35313"/>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6574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574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46" name="TextBox 45"/>
          <p:cNvSpPr txBox="1"/>
          <p:nvPr/>
        </p:nvSpPr>
        <p:spPr>
          <a:xfrm>
            <a:off x="29241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B</a:t>
            </a:r>
          </a:p>
        </p:txBody>
      </p:sp>
      <p:sp>
        <p:nvSpPr>
          <p:cNvPr id="47" name="TextBox 46"/>
          <p:cNvSpPr txBox="1"/>
          <p:nvPr/>
        </p:nvSpPr>
        <p:spPr>
          <a:xfrm>
            <a:off x="26384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48" name="TextBox 47"/>
          <p:cNvSpPr txBox="1"/>
          <p:nvPr/>
        </p:nvSpPr>
        <p:spPr>
          <a:xfrm>
            <a:off x="28289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14.4%</a:t>
            </a:r>
          </a:p>
        </p:txBody>
      </p:sp>
      <p:cxnSp>
        <p:nvCxnSpPr>
          <p:cNvPr id="49" name="Connector 48"/>
          <p:cNvCxnSpPr/>
          <p:nvPr/>
        </p:nvCxnSpPr>
        <p:spPr>
          <a:xfrm>
            <a:off x="26384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6384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1" name="TextBox 50"/>
          <p:cNvSpPr txBox="1"/>
          <p:nvPr/>
        </p:nvSpPr>
        <p:spPr>
          <a:xfrm>
            <a:off x="28289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52" name="TextBox 51"/>
          <p:cNvSpPr txBox="1"/>
          <p:nvPr/>
        </p:nvSpPr>
        <p:spPr>
          <a:xfrm>
            <a:off x="2828925" y="2667000"/>
            <a:ext cx="1924050" cy="142875"/>
          </a:xfrm>
          <a:prstGeom prst="rect">
            <a:avLst/>
          </a:prstGeom>
          <a:noFill/>
        </p:spPr>
        <p:txBody>
          <a:bodyPr wrap="square" lIns="28575" rIns="28575" tIns="9525" bIns="9525" anchor="ctr">
            <a:spAutoFit/>
          </a:bodyPr>
          <a:lstStyle/>
          <a:p>
            <a:pPr algn="l"/>
            <a:r>
              <a:rPr sz="900" b="1">
                <a:solidFill>
                  <a:srgbClr val="A35313"/>
                </a:solidFill>
                <a:latin typeface="Calibri"/>
              </a:rPr>
              <a:t>Portfolio expander</a:t>
            </a:r>
          </a:p>
        </p:txBody>
      </p:sp>
      <p:cxnSp>
        <p:nvCxnSpPr>
          <p:cNvPr id="53" name="Connector 52"/>
          <p:cNvCxnSpPr/>
          <p:nvPr/>
        </p:nvCxnSpPr>
        <p:spPr>
          <a:xfrm>
            <a:off x="26384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6384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5" name="TextBox 54"/>
          <p:cNvSpPr txBox="1"/>
          <p:nvPr/>
        </p:nvSpPr>
        <p:spPr>
          <a:xfrm>
            <a:off x="28289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56" name="TextBox 55"/>
          <p:cNvSpPr txBox="1"/>
          <p:nvPr/>
        </p:nvSpPr>
        <p:spPr>
          <a:xfrm>
            <a:off x="28289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Drove new customer adoption</a:t>
            </a:r>
          </a:p>
        </p:txBody>
      </p:sp>
      <p:cxnSp>
        <p:nvCxnSpPr>
          <p:cNvPr id="57" name="Connector 56"/>
          <p:cNvCxnSpPr/>
          <p:nvPr/>
        </p:nvCxnSpPr>
        <p:spPr>
          <a:xfrm>
            <a:off x="26384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26384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59" name="TextBox 58"/>
          <p:cNvSpPr txBox="1"/>
          <p:nvPr/>
        </p:nvSpPr>
        <p:spPr>
          <a:xfrm>
            <a:off x="28289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60" name="TextBox 59"/>
          <p:cNvSpPr txBox="1"/>
          <p:nvPr/>
        </p:nvSpPr>
        <p:spPr>
          <a:xfrm>
            <a:off x="28289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Channel expansion</a:t>
            </a:r>
          </a:p>
        </p:txBody>
      </p:sp>
      <p:sp>
        <p:nvSpPr>
          <p:cNvPr id="61" name="Oval 60"/>
          <p:cNvSpPr/>
          <p:nvPr/>
        </p:nvSpPr>
        <p:spPr>
          <a:xfrm>
            <a:off x="5953125" y="1533525"/>
            <a:ext cx="285750" cy="285750"/>
          </a:xfrm>
          <a:prstGeom prst="ellipse">
            <a:avLst/>
          </a:prstGeom>
          <a:solidFill>
            <a:srgbClr val="69B1E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531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3</a:t>
            </a:r>
          </a:p>
        </p:txBody>
      </p:sp>
      <p:sp>
        <p:nvSpPr>
          <p:cNvPr id="63" name="Rounded Rectangle 62"/>
          <p:cNvSpPr/>
          <p:nvPr/>
        </p:nvSpPr>
        <p:spPr>
          <a:xfrm>
            <a:off x="4943475" y="1885950"/>
            <a:ext cx="2305050" cy="2038350"/>
          </a:xfrm>
          <a:prstGeom prst="roundRect">
            <a:avLst>
              <a:gd name="adj" fmla="val 3719"/>
            </a:avLst>
          </a:prstGeom>
          <a:solidFill>
            <a:srgbClr val="FFFFFF"/>
          </a:solidFill>
          <a:ln w="2032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943475" y="1885950"/>
            <a:ext cx="2305050" cy="323850"/>
          </a:xfrm>
          <a:prstGeom prst="roundRect">
            <a:avLst>
              <a:gd name="adj" fmla="val 3719"/>
            </a:avLst>
          </a:prstGeom>
          <a:solidFill>
            <a:srgbClr val="69B1E0"/>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0577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0577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67" name="TextBox 66"/>
          <p:cNvSpPr txBox="1"/>
          <p:nvPr/>
        </p:nvSpPr>
        <p:spPr>
          <a:xfrm>
            <a:off x="53244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C</a:t>
            </a:r>
          </a:p>
        </p:txBody>
      </p:sp>
      <p:sp>
        <p:nvSpPr>
          <p:cNvPr id="68" name="TextBox 67"/>
          <p:cNvSpPr txBox="1"/>
          <p:nvPr/>
        </p:nvSpPr>
        <p:spPr>
          <a:xfrm>
            <a:off x="50387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69" name="TextBox 68"/>
          <p:cNvSpPr txBox="1"/>
          <p:nvPr/>
        </p:nvSpPr>
        <p:spPr>
          <a:xfrm>
            <a:off x="52292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9.9%</a:t>
            </a:r>
          </a:p>
        </p:txBody>
      </p:sp>
      <p:cxnSp>
        <p:nvCxnSpPr>
          <p:cNvPr id="70" name="Connector 69"/>
          <p:cNvCxnSpPr/>
          <p:nvPr/>
        </p:nvCxnSpPr>
        <p:spPr>
          <a:xfrm>
            <a:off x="50387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0387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72" name="TextBox 71"/>
          <p:cNvSpPr txBox="1"/>
          <p:nvPr/>
        </p:nvSpPr>
        <p:spPr>
          <a:xfrm>
            <a:off x="52292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73" name="TextBox 72"/>
          <p:cNvSpPr txBox="1"/>
          <p:nvPr/>
        </p:nvSpPr>
        <p:spPr>
          <a:xfrm>
            <a:off x="5229225" y="2667000"/>
            <a:ext cx="1924050" cy="142875"/>
          </a:xfrm>
          <a:prstGeom prst="rect">
            <a:avLst/>
          </a:prstGeom>
          <a:noFill/>
        </p:spPr>
        <p:txBody>
          <a:bodyPr wrap="square" lIns="28575" rIns="28575" tIns="9525" bIns="9525" anchor="ctr">
            <a:spAutoFit/>
          </a:bodyPr>
          <a:lstStyle/>
          <a:p>
            <a:pPr algn="l"/>
            <a:r>
              <a:rPr sz="900" b="1">
                <a:solidFill>
                  <a:srgbClr val="69B1E0"/>
                </a:solidFill>
                <a:latin typeface="Calibri"/>
              </a:rPr>
              <a:t>Access builder</a:t>
            </a:r>
          </a:p>
        </p:txBody>
      </p:sp>
      <p:cxnSp>
        <p:nvCxnSpPr>
          <p:cNvPr id="74" name="Connector 73"/>
          <p:cNvCxnSpPr/>
          <p:nvPr/>
        </p:nvCxnSpPr>
        <p:spPr>
          <a:xfrm>
            <a:off x="50387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387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76" name="TextBox 75"/>
          <p:cNvSpPr txBox="1"/>
          <p:nvPr/>
        </p:nvSpPr>
        <p:spPr>
          <a:xfrm>
            <a:off x="52292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77" name="TextBox 76"/>
          <p:cNvSpPr txBox="1"/>
          <p:nvPr/>
        </p:nvSpPr>
        <p:spPr>
          <a:xfrm>
            <a:off x="52292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Won through wider channel availability</a:t>
            </a:r>
          </a:p>
        </p:txBody>
      </p:sp>
      <p:cxnSp>
        <p:nvCxnSpPr>
          <p:cNvPr id="78" name="Connector 77"/>
          <p:cNvCxnSpPr/>
          <p:nvPr/>
        </p:nvCxnSpPr>
        <p:spPr>
          <a:xfrm>
            <a:off x="50387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50387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80" name="TextBox 79"/>
          <p:cNvSpPr txBox="1"/>
          <p:nvPr/>
        </p:nvSpPr>
        <p:spPr>
          <a:xfrm>
            <a:off x="52292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81" name="TextBox 80"/>
          <p:cNvSpPr txBox="1"/>
          <p:nvPr/>
        </p:nvSpPr>
        <p:spPr>
          <a:xfrm>
            <a:off x="52292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Pricing strategy</a:t>
            </a:r>
          </a:p>
        </p:txBody>
      </p:sp>
      <p:sp>
        <p:nvSpPr>
          <p:cNvPr id="82" name="Oval 81"/>
          <p:cNvSpPr/>
          <p:nvPr/>
        </p:nvSpPr>
        <p:spPr>
          <a:xfrm>
            <a:off x="8353425" y="1533525"/>
            <a:ext cx="285750" cy="285750"/>
          </a:xfrm>
          <a:prstGeom prst="ellipse">
            <a:avLst/>
          </a:prstGeom>
          <a:solidFill>
            <a:srgbClr val="6F3CC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3534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4</a:t>
            </a:r>
          </a:p>
        </p:txBody>
      </p:sp>
      <p:sp>
        <p:nvSpPr>
          <p:cNvPr id="84" name="Rounded Rectangle 83"/>
          <p:cNvSpPr/>
          <p:nvPr/>
        </p:nvSpPr>
        <p:spPr>
          <a:xfrm>
            <a:off x="7343775" y="1885950"/>
            <a:ext cx="2305050" cy="2038350"/>
          </a:xfrm>
          <a:prstGeom prst="roundRect">
            <a:avLst>
              <a:gd name="adj" fmla="val 3719"/>
            </a:avLst>
          </a:prstGeom>
          <a:solidFill>
            <a:srgbClr val="FFFFFF"/>
          </a:solidFill>
          <a:ln w="2032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343775" y="1885950"/>
            <a:ext cx="2305050" cy="323850"/>
          </a:xfrm>
          <a:prstGeom prst="roundRect">
            <a:avLst>
              <a:gd name="adj" fmla="val 3719"/>
            </a:avLst>
          </a:prstGeom>
          <a:solidFill>
            <a:srgbClr val="6F3CC2"/>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4580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74580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88" name="TextBox 87"/>
          <p:cNvSpPr txBox="1"/>
          <p:nvPr/>
        </p:nvSpPr>
        <p:spPr>
          <a:xfrm>
            <a:off x="77247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D</a:t>
            </a:r>
          </a:p>
        </p:txBody>
      </p:sp>
      <p:sp>
        <p:nvSpPr>
          <p:cNvPr id="89" name="TextBox 88"/>
          <p:cNvSpPr txBox="1"/>
          <p:nvPr/>
        </p:nvSpPr>
        <p:spPr>
          <a:xfrm>
            <a:off x="74390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90" name="TextBox 89"/>
          <p:cNvSpPr txBox="1"/>
          <p:nvPr/>
        </p:nvSpPr>
        <p:spPr>
          <a:xfrm>
            <a:off x="76295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7.0%</a:t>
            </a:r>
          </a:p>
        </p:txBody>
      </p:sp>
      <p:cxnSp>
        <p:nvCxnSpPr>
          <p:cNvPr id="91" name="Connector 90"/>
          <p:cNvCxnSpPr/>
          <p:nvPr/>
        </p:nvCxnSpPr>
        <p:spPr>
          <a:xfrm>
            <a:off x="74390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390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93" name="TextBox 92"/>
          <p:cNvSpPr txBox="1"/>
          <p:nvPr/>
        </p:nvSpPr>
        <p:spPr>
          <a:xfrm>
            <a:off x="76295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94" name="TextBox 93"/>
          <p:cNvSpPr txBox="1"/>
          <p:nvPr/>
        </p:nvSpPr>
        <p:spPr>
          <a:xfrm>
            <a:off x="7629525" y="2667000"/>
            <a:ext cx="1924050" cy="142875"/>
          </a:xfrm>
          <a:prstGeom prst="rect">
            <a:avLst/>
          </a:prstGeom>
          <a:noFill/>
        </p:spPr>
        <p:txBody>
          <a:bodyPr wrap="square" lIns="28575" rIns="28575" tIns="9525" bIns="9525" anchor="ctr">
            <a:spAutoFit/>
          </a:bodyPr>
          <a:lstStyle/>
          <a:p>
            <a:pPr algn="l"/>
            <a:r>
              <a:rPr sz="900" b="1">
                <a:solidFill>
                  <a:srgbClr val="6F3CC2"/>
                </a:solidFill>
                <a:latin typeface="Calibri"/>
              </a:rPr>
              <a:t>Premiumiser</a:t>
            </a:r>
          </a:p>
        </p:txBody>
      </p:sp>
      <p:cxnSp>
        <p:nvCxnSpPr>
          <p:cNvPr id="95" name="Connector 94"/>
          <p:cNvCxnSpPr/>
          <p:nvPr/>
        </p:nvCxnSpPr>
        <p:spPr>
          <a:xfrm>
            <a:off x="74390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74390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97" name="TextBox 96"/>
          <p:cNvSpPr txBox="1"/>
          <p:nvPr/>
        </p:nvSpPr>
        <p:spPr>
          <a:xfrm>
            <a:off x="76295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98" name="TextBox 97"/>
          <p:cNvSpPr txBox="1"/>
          <p:nvPr/>
        </p:nvSpPr>
        <p:spPr>
          <a:xfrm>
            <a:off x="76295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Supported premium SKU growth</a:t>
            </a:r>
          </a:p>
        </p:txBody>
      </p:sp>
      <p:cxnSp>
        <p:nvCxnSpPr>
          <p:cNvPr id="99" name="Connector 98"/>
          <p:cNvCxnSpPr/>
          <p:nvPr/>
        </p:nvCxnSpPr>
        <p:spPr>
          <a:xfrm>
            <a:off x="74390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74390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01" name="TextBox 100"/>
          <p:cNvSpPr txBox="1"/>
          <p:nvPr/>
        </p:nvSpPr>
        <p:spPr>
          <a:xfrm>
            <a:off x="76295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102" name="TextBox 101"/>
          <p:cNvSpPr txBox="1"/>
          <p:nvPr/>
        </p:nvSpPr>
        <p:spPr>
          <a:xfrm>
            <a:off x="76295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Portfolio/brand investment</a:t>
            </a:r>
          </a:p>
        </p:txBody>
      </p:sp>
      <p:sp>
        <p:nvSpPr>
          <p:cNvPr id="103" name="Oval 102"/>
          <p:cNvSpPr/>
          <p:nvPr/>
        </p:nvSpPr>
        <p:spPr>
          <a:xfrm>
            <a:off x="10753725" y="1533525"/>
            <a:ext cx="285750" cy="285750"/>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0753725" y="1590675"/>
            <a:ext cx="285750" cy="171450"/>
          </a:xfrm>
          <a:prstGeom prst="rect">
            <a:avLst/>
          </a:prstGeom>
          <a:noFill/>
        </p:spPr>
        <p:txBody>
          <a:bodyPr wrap="none" lIns="0" rIns="0" tIns="0" bIns="0" anchor="ctr">
            <a:spAutoFit/>
          </a:bodyPr>
          <a:lstStyle/>
          <a:p>
            <a:pPr algn="ctr"/>
            <a:r>
              <a:rPr sz="1100" b="1">
                <a:solidFill>
                  <a:srgbClr val="FFFFFF"/>
                </a:solidFill>
                <a:latin typeface="Calibri"/>
              </a:rPr>
              <a:t>5</a:t>
            </a:r>
          </a:p>
        </p:txBody>
      </p:sp>
      <p:sp>
        <p:nvSpPr>
          <p:cNvPr id="105" name="Rounded Rectangle 104"/>
          <p:cNvSpPr/>
          <p:nvPr/>
        </p:nvSpPr>
        <p:spPr>
          <a:xfrm>
            <a:off x="9744075" y="1885950"/>
            <a:ext cx="2305050" cy="2038350"/>
          </a:xfrm>
          <a:prstGeom prst="roundRect">
            <a:avLst>
              <a:gd name="adj" fmla="val 3719"/>
            </a:avLst>
          </a:prstGeom>
          <a:solidFill>
            <a:srgbClr val="FFFFFF"/>
          </a:solidFill>
          <a:ln w="2032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9744075" y="1885950"/>
            <a:ext cx="2305050" cy="323850"/>
          </a:xfrm>
          <a:prstGeom prst="roundRect">
            <a:avLst>
              <a:gd name="adj" fmla="val 3719"/>
            </a:avLst>
          </a:prstGeom>
          <a:solidFill>
            <a:srgbClr val="A86F00"/>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858375" y="1933575"/>
            <a:ext cx="228600" cy="228600"/>
          </a:xfrm>
          <a:prstGeom prst="ellipse">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858375" y="1962150"/>
            <a:ext cx="228600" cy="171450"/>
          </a:xfrm>
          <a:prstGeom prst="rect">
            <a:avLst/>
          </a:prstGeom>
          <a:noFill/>
        </p:spPr>
        <p:txBody>
          <a:bodyPr wrap="none" lIns="0" rIns="0" tIns="0" bIns="0" anchor="ctr">
            <a:spAutoFit/>
          </a:bodyPr>
          <a:lstStyle/>
          <a:p>
            <a:pPr algn="ctr"/>
            <a:r>
              <a:rPr sz="1100" b="0">
                <a:solidFill>
                  <a:srgbClr val="2E2E2E"/>
                </a:solidFill>
                <a:latin typeface="Calibri"/>
              </a:rPr>
              <a:t>⚡</a:t>
            </a:r>
          </a:p>
        </p:txBody>
      </p:sp>
      <p:sp>
        <p:nvSpPr>
          <p:cNvPr id="109" name="TextBox 108"/>
          <p:cNvSpPr txBox="1"/>
          <p:nvPr/>
        </p:nvSpPr>
        <p:spPr>
          <a:xfrm>
            <a:off x="10125075" y="1971675"/>
            <a:ext cx="1828800" cy="171450"/>
          </a:xfrm>
          <a:prstGeom prst="rect">
            <a:avLst/>
          </a:prstGeom>
          <a:noFill/>
        </p:spPr>
        <p:txBody>
          <a:bodyPr wrap="square" lIns="28575" rIns="28575" tIns="9525" bIns="9525" anchor="ctr">
            <a:spAutoFit/>
          </a:bodyPr>
          <a:lstStyle/>
          <a:p>
            <a:pPr algn="ctr"/>
            <a:r>
              <a:rPr sz="1050" b="1">
                <a:solidFill>
                  <a:srgbClr val="FFFFFF"/>
                </a:solidFill>
                <a:latin typeface="Calibri"/>
              </a:rPr>
              <a:t>Company E</a:t>
            </a:r>
          </a:p>
        </p:txBody>
      </p:sp>
      <p:sp>
        <p:nvSpPr>
          <p:cNvPr id="110" name="TextBox 109"/>
          <p:cNvSpPr txBox="1"/>
          <p:nvPr/>
        </p:nvSpPr>
        <p:spPr>
          <a:xfrm>
            <a:off x="9839325" y="228600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1" name="TextBox 110"/>
          <p:cNvSpPr txBox="1"/>
          <p:nvPr/>
        </p:nvSpPr>
        <p:spPr>
          <a:xfrm>
            <a:off x="10029825" y="2286000"/>
            <a:ext cx="1924050" cy="142875"/>
          </a:xfrm>
          <a:prstGeom prst="rect">
            <a:avLst/>
          </a:prstGeom>
          <a:noFill/>
        </p:spPr>
        <p:txBody>
          <a:bodyPr wrap="square" lIns="28575" rIns="28575" tIns="9525" bIns="9525" anchor="ctr">
            <a:spAutoFit/>
          </a:bodyPr>
          <a:lstStyle/>
          <a:p>
            <a:pPr algn="l"/>
            <a:r>
              <a:rPr sz="900" b="1">
                <a:solidFill>
                  <a:srgbClr val="2E2E2E"/>
                </a:solidFill>
                <a:latin typeface="Calibri"/>
              </a:rPr>
              <a:t>Value share:  6.9%</a:t>
            </a:r>
          </a:p>
        </p:txBody>
      </p:sp>
      <p:cxnSp>
        <p:nvCxnSpPr>
          <p:cNvPr id="112" name="Connector 111"/>
          <p:cNvCxnSpPr/>
          <p:nvPr/>
        </p:nvCxnSpPr>
        <p:spPr>
          <a:xfrm>
            <a:off x="9839325" y="2476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839325" y="2571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4" name="TextBox 113"/>
          <p:cNvSpPr txBox="1"/>
          <p:nvPr/>
        </p:nvSpPr>
        <p:spPr>
          <a:xfrm>
            <a:off x="10029825" y="2533650"/>
            <a:ext cx="1924050" cy="142875"/>
          </a:xfrm>
          <a:prstGeom prst="rect">
            <a:avLst/>
          </a:prstGeom>
          <a:noFill/>
        </p:spPr>
        <p:txBody>
          <a:bodyPr wrap="square" lIns="28575" rIns="28575" tIns="9525" bIns="9525" anchor="ctr">
            <a:spAutoFit/>
          </a:bodyPr>
          <a:lstStyle/>
          <a:p>
            <a:pPr algn="l"/>
            <a:r>
              <a:rPr sz="850" b="0">
                <a:solidFill>
                  <a:srgbClr val="6C7A89"/>
                </a:solidFill>
                <a:latin typeface="Calibri"/>
              </a:rPr>
              <a:t>Growth role:</a:t>
            </a:r>
          </a:p>
        </p:txBody>
      </p:sp>
      <p:sp>
        <p:nvSpPr>
          <p:cNvPr id="115" name="TextBox 114"/>
          <p:cNvSpPr txBox="1"/>
          <p:nvPr/>
        </p:nvSpPr>
        <p:spPr>
          <a:xfrm>
            <a:off x="10029825" y="2667000"/>
            <a:ext cx="1924050" cy="142875"/>
          </a:xfrm>
          <a:prstGeom prst="rect">
            <a:avLst/>
          </a:prstGeom>
          <a:noFill/>
        </p:spPr>
        <p:txBody>
          <a:bodyPr wrap="square" lIns="28575" rIns="28575" tIns="9525" bIns="9525" anchor="ctr">
            <a:spAutoFit/>
          </a:bodyPr>
          <a:lstStyle/>
          <a:p>
            <a:pPr algn="l"/>
            <a:r>
              <a:rPr sz="900" b="1">
                <a:solidFill>
                  <a:srgbClr val="A86F00"/>
                </a:solidFill>
                <a:latin typeface="Calibri"/>
              </a:rPr>
              <a:t>Disruptor</a:t>
            </a:r>
          </a:p>
        </p:txBody>
      </p:sp>
      <p:cxnSp>
        <p:nvCxnSpPr>
          <p:cNvPr id="116" name="Connector 115"/>
          <p:cNvCxnSpPr/>
          <p:nvPr/>
        </p:nvCxnSpPr>
        <p:spPr>
          <a:xfrm>
            <a:off x="9839325" y="2857500"/>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839325" y="2952750"/>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18" name="TextBox 117"/>
          <p:cNvSpPr txBox="1"/>
          <p:nvPr/>
        </p:nvSpPr>
        <p:spPr>
          <a:xfrm>
            <a:off x="10029825" y="2914650"/>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Why it shaped growth:</a:t>
            </a:r>
          </a:p>
        </p:txBody>
      </p:sp>
      <p:sp>
        <p:nvSpPr>
          <p:cNvPr id="119" name="TextBox 118"/>
          <p:cNvSpPr txBox="1"/>
          <p:nvPr/>
        </p:nvSpPr>
        <p:spPr>
          <a:xfrm>
            <a:off x="10029825" y="3057525"/>
            <a:ext cx="1924050" cy="3810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Strengthened end-user and specifier pull</a:t>
            </a:r>
          </a:p>
        </p:txBody>
      </p:sp>
      <p:cxnSp>
        <p:nvCxnSpPr>
          <p:cNvPr id="120" name="Connector 119"/>
          <p:cNvCxnSpPr/>
          <p:nvPr/>
        </p:nvCxnSpPr>
        <p:spPr>
          <a:xfrm>
            <a:off x="9839325" y="3457575"/>
            <a:ext cx="2114550" cy="0"/>
          </a:xfrm>
          <a:prstGeom prst="line">
            <a:avLst/>
          </a:prstGeom>
          <a:ln w="12700">
            <a:solidFill>
              <a:srgbClr val="E4EAEF"/>
            </a:solidFill>
            <a:prstDash val="sysDot"/>
          </a:ln>
          <a:effectLst/>
        </p:spPr>
        <p:style>
          <a:lnRef idx="2">
            <a:schemeClr val="accent1"/>
          </a:lnRef>
          <a:fillRef idx="0">
            <a:schemeClr val="accent1"/>
          </a:fillRef>
          <a:effectRef idx="1">
            <a:schemeClr val="accent1"/>
          </a:effectRef>
          <a:fontRef idx="minor">
            <a:schemeClr val="tx1"/>
          </a:fontRef>
        </p:style>
      </p:cxnSp>
      <p:sp>
        <p:nvSpPr>
          <p:cNvPr id="121" name="TextBox 120"/>
          <p:cNvSpPr txBox="1"/>
          <p:nvPr/>
        </p:nvSpPr>
        <p:spPr>
          <a:xfrm>
            <a:off x="9839325" y="3552825"/>
            <a:ext cx="171450" cy="142875"/>
          </a:xfrm>
          <a:prstGeom prst="rect">
            <a:avLst/>
          </a:prstGeom>
          <a:noFill/>
        </p:spPr>
        <p:txBody>
          <a:bodyPr wrap="none" lIns="0" rIns="0" tIns="0" bIns="0" anchor="ctr">
            <a:spAutoFit/>
          </a:bodyPr>
          <a:lstStyle/>
          <a:p>
            <a:pPr algn="l"/>
            <a:r>
              <a:rPr sz="950" b="0">
                <a:solidFill>
                  <a:srgbClr val="2E2E2E"/>
                </a:solidFill>
                <a:latin typeface="Calibri"/>
              </a:rPr>
              <a:t>🚀</a:t>
            </a:r>
          </a:p>
        </p:txBody>
      </p:sp>
      <p:sp>
        <p:nvSpPr>
          <p:cNvPr id="122" name="TextBox 121"/>
          <p:cNvSpPr txBox="1"/>
          <p:nvPr/>
        </p:nvSpPr>
        <p:spPr>
          <a:xfrm>
            <a:off x="10029825" y="3514725"/>
            <a:ext cx="1924050" cy="133350"/>
          </a:xfrm>
          <a:prstGeom prst="rect">
            <a:avLst/>
          </a:prstGeom>
          <a:noFill/>
        </p:spPr>
        <p:txBody>
          <a:bodyPr wrap="square" lIns="28575" rIns="28575" tIns="9525" bIns="9525" anchor="ctr">
            <a:spAutoFit/>
          </a:bodyPr>
          <a:lstStyle/>
          <a:p>
            <a:pPr algn="l"/>
            <a:r>
              <a:rPr sz="850" b="1">
                <a:solidFill>
                  <a:srgbClr val="0B2E4A"/>
                </a:solidFill>
                <a:latin typeface="Calibri"/>
              </a:rPr>
              <a:t>Signature move:</a:t>
            </a:r>
          </a:p>
        </p:txBody>
      </p:sp>
      <p:sp>
        <p:nvSpPr>
          <p:cNvPr id="123" name="TextBox 122"/>
          <p:cNvSpPr txBox="1"/>
          <p:nvPr/>
        </p:nvSpPr>
        <p:spPr>
          <a:xfrm>
            <a:off x="10029825" y="3657600"/>
            <a:ext cx="1924050" cy="228600"/>
          </a:xfrm>
          <a:prstGeom prst="rect">
            <a:avLst/>
          </a:prstGeom>
          <a:noFill/>
        </p:spPr>
        <p:txBody>
          <a:bodyPr wrap="square" lIns="28575" rIns="28575" tIns="9525" bIns="9525" anchor="ctr">
            <a:spAutoFit/>
          </a:bodyPr>
          <a:lstStyle/>
          <a:p>
            <a:pPr algn="l">
              <a:lnSpc>
                <a:spcPct val="115000"/>
              </a:lnSpc>
            </a:pPr>
            <a:r>
              <a:rPr sz="850" b="0">
                <a:solidFill>
                  <a:srgbClr val="2E2E2E"/>
                </a:solidFill>
                <a:latin typeface="Calibri"/>
              </a:rPr>
              <a:t>Partnership / acquisition</a:t>
            </a:r>
          </a:p>
        </p:txBody>
      </p:sp>
      <p:sp>
        <p:nvSpPr>
          <p:cNvPr id="124" name="Rounded Rectangle 123"/>
          <p:cNvSpPr/>
          <p:nvPr/>
        </p:nvSpPr>
        <p:spPr>
          <a:xfrm>
            <a:off x="142875" y="4057650"/>
            <a:ext cx="7886700" cy="2667000"/>
          </a:xfrm>
          <a:prstGeom prst="roundRect">
            <a:avLst>
              <a:gd name="adj" fmla="val 1086"/>
            </a:avLst>
          </a:prstGeom>
          <a:solidFill>
            <a:srgbClr val="F7FAFC"/>
          </a:solidFill>
          <a:ln w="12700">
            <a:solidFill>
              <a:srgbClr val="DC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42875" y="4152900"/>
            <a:ext cx="7886700" cy="171450"/>
          </a:xfrm>
          <a:prstGeom prst="rect">
            <a:avLst/>
          </a:prstGeom>
          <a:noFill/>
        </p:spPr>
        <p:txBody>
          <a:bodyPr wrap="square" lIns="28575" rIns="28575" tIns="9525" bIns="9525" anchor="ctr">
            <a:spAutoFit/>
          </a:bodyPr>
          <a:lstStyle/>
          <a:p>
            <a:pPr algn="ctr"/>
            <a:r>
              <a:rPr sz="1000" b="1">
                <a:solidFill>
                  <a:srgbClr val="0B2E4A"/>
                </a:solidFill>
                <a:latin typeface="Calibri"/>
              </a:rPr>
              <a:t>HOW TO DECIDE WHO SHAPED GROWTH</a:t>
            </a:r>
          </a:p>
        </p:txBody>
      </p:sp>
      <p:sp>
        <p:nvSpPr>
          <p:cNvPr id="126" name="Oval 125"/>
          <p:cNvSpPr/>
          <p:nvPr/>
        </p:nvSpPr>
        <p:spPr>
          <a:xfrm>
            <a:off x="815340" y="4429125"/>
            <a:ext cx="400050" cy="400050"/>
          </a:xfrm>
          <a:prstGeom prst="ellipse">
            <a:avLst/>
          </a:prstGeom>
          <a:solidFill>
            <a:srgbClr val="FFFFFF"/>
          </a:solidFill>
          <a:ln w="1270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1534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28" name="TextBox 127"/>
          <p:cNvSpPr txBox="1"/>
          <p:nvPr/>
        </p:nvSpPr>
        <p:spPr>
          <a:xfrm>
            <a:off x="27622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0E72AE"/>
                </a:solidFill>
                <a:latin typeface="Calibri"/>
              </a:rPr>
              <a:t>1. SHARE GAIN</a:t>
            </a:r>
          </a:p>
        </p:txBody>
      </p:sp>
      <p:sp>
        <p:nvSpPr>
          <p:cNvPr id="129" name="TextBox 128"/>
          <p:cNvSpPr txBox="1"/>
          <p:nvPr/>
        </p:nvSpPr>
        <p:spPr>
          <a:xfrm>
            <a:off x="27622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Company gained value or volume share</a:t>
            </a:r>
          </a:p>
        </p:txBody>
      </p:sp>
      <p:sp>
        <p:nvSpPr>
          <p:cNvPr id="130" name="Rounded Rectangle 129"/>
          <p:cNvSpPr/>
          <p:nvPr/>
        </p:nvSpPr>
        <p:spPr>
          <a:xfrm>
            <a:off x="558165" y="5924550"/>
            <a:ext cx="914400" cy="228600"/>
          </a:xfrm>
          <a:prstGeom prst="roundRect">
            <a:avLst>
              <a:gd name="adj" fmla="val 12500"/>
            </a:avLst>
          </a:prstGeom>
          <a:solidFill>
            <a:srgbClr val="FFFFFF"/>
          </a:solidFill>
          <a:ln w="15240">
            <a:solidFill>
              <a:srgbClr val="0E72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58165" y="5981700"/>
            <a:ext cx="914400" cy="133350"/>
          </a:xfrm>
          <a:prstGeom prst="rect">
            <a:avLst/>
          </a:prstGeom>
          <a:noFill/>
        </p:spPr>
        <p:txBody>
          <a:bodyPr wrap="square" lIns="28575" rIns="28575" tIns="9525" bIns="9525" anchor="ctr">
            <a:spAutoFit/>
          </a:bodyPr>
          <a:lstStyle/>
          <a:p>
            <a:pPr algn="ctr"/>
            <a:r>
              <a:rPr sz="800" b="1">
                <a:solidFill>
                  <a:srgbClr val="0E72AE"/>
                </a:solidFill>
                <a:latin typeface="Calibri"/>
              </a:rPr>
              <a:t>0–5 POINTS</a:t>
            </a:r>
          </a:p>
        </p:txBody>
      </p:sp>
      <p:sp>
        <p:nvSpPr>
          <p:cNvPr id="132" name="TextBox 131"/>
          <p:cNvSpPr txBox="1"/>
          <p:nvPr/>
        </p:nvSpPr>
        <p:spPr>
          <a:xfrm>
            <a:off x="175450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33" name="Oval 132"/>
          <p:cNvSpPr/>
          <p:nvPr/>
        </p:nvSpPr>
        <p:spPr>
          <a:xfrm>
            <a:off x="2350770" y="4429125"/>
            <a:ext cx="400050" cy="400050"/>
          </a:xfrm>
          <a:prstGeom prst="ellipse">
            <a:avLst/>
          </a:prstGeom>
          <a:solidFill>
            <a:srgbClr val="FFFFFF"/>
          </a:solidFill>
          <a:ln w="1270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35077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35" name="TextBox 134"/>
          <p:cNvSpPr txBox="1"/>
          <p:nvPr/>
        </p:nvSpPr>
        <p:spPr>
          <a:xfrm>
            <a:off x="181165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A35313"/>
                </a:solidFill>
                <a:latin typeface="Calibri"/>
              </a:rPr>
              <a:t>2. DISTRIBUTION EXPANSION</a:t>
            </a:r>
          </a:p>
        </p:txBody>
      </p:sp>
      <p:sp>
        <p:nvSpPr>
          <p:cNvPr id="136" name="TextBox 135"/>
          <p:cNvSpPr txBox="1"/>
          <p:nvPr/>
        </p:nvSpPr>
        <p:spPr>
          <a:xfrm>
            <a:off x="181165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Expanded channel, retail or e-commerce reach</a:t>
            </a:r>
          </a:p>
        </p:txBody>
      </p:sp>
      <p:sp>
        <p:nvSpPr>
          <p:cNvPr id="137" name="Rounded Rectangle 136"/>
          <p:cNvSpPr/>
          <p:nvPr/>
        </p:nvSpPr>
        <p:spPr>
          <a:xfrm>
            <a:off x="2093595" y="5924550"/>
            <a:ext cx="914400" cy="228600"/>
          </a:xfrm>
          <a:prstGeom prst="roundRect">
            <a:avLst>
              <a:gd name="adj" fmla="val 12500"/>
            </a:avLst>
          </a:prstGeom>
          <a:solidFill>
            <a:srgbClr val="FFFFFF"/>
          </a:solidFill>
          <a:ln w="15240">
            <a:solidFill>
              <a:srgbClr val="A3531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2093595" y="5981700"/>
            <a:ext cx="914400" cy="133350"/>
          </a:xfrm>
          <a:prstGeom prst="rect">
            <a:avLst/>
          </a:prstGeom>
          <a:noFill/>
        </p:spPr>
        <p:txBody>
          <a:bodyPr wrap="square" lIns="28575" rIns="28575" tIns="9525" bIns="9525" anchor="ctr">
            <a:spAutoFit/>
          </a:bodyPr>
          <a:lstStyle/>
          <a:p>
            <a:pPr algn="ctr"/>
            <a:r>
              <a:rPr sz="800" b="1">
                <a:solidFill>
                  <a:srgbClr val="A35313"/>
                </a:solidFill>
                <a:latin typeface="Calibri"/>
              </a:rPr>
              <a:t>0–5 POINTS</a:t>
            </a:r>
          </a:p>
        </p:txBody>
      </p:sp>
      <p:sp>
        <p:nvSpPr>
          <p:cNvPr id="139" name="TextBox 138"/>
          <p:cNvSpPr txBox="1"/>
          <p:nvPr/>
        </p:nvSpPr>
        <p:spPr>
          <a:xfrm>
            <a:off x="328993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40" name="Oval 139"/>
          <p:cNvSpPr/>
          <p:nvPr/>
        </p:nvSpPr>
        <p:spPr>
          <a:xfrm>
            <a:off x="3886200" y="4429125"/>
            <a:ext cx="400050" cy="400050"/>
          </a:xfrm>
          <a:prstGeom prst="ellipse">
            <a:avLst/>
          </a:prstGeom>
          <a:solidFill>
            <a:srgbClr val="FFFFFF"/>
          </a:solidFill>
          <a:ln w="1270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388620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2" name="TextBox 141"/>
          <p:cNvSpPr txBox="1"/>
          <p:nvPr/>
        </p:nvSpPr>
        <p:spPr>
          <a:xfrm>
            <a:off x="334708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69B1E0"/>
                </a:solidFill>
                <a:latin typeface="Calibri"/>
              </a:rPr>
              <a:t>3. INNOVATION / LAUNCHES</a:t>
            </a:r>
          </a:p>
        </p:txBody>
      </p:sp>
      <p:sp>
        <p:nvSpPr>
          <p:cNvPr id="143" name="TextBox 142"/>
          <p:cNvSpPr txBox="1"/>
          <p:nvPr/>
        </p:nvSpPr>
        <p:spPr>
          <a:xfrm>
            <a:off x="334708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New SKUs, pack sizes or product improvements</a:t>
            </a:r>
          </a:p>
        </p:txBody>
      </p:sp>
      <p:sp>
        <p:nvSpPr>
          <p:cNvPr id="144" name="Rounded Rectangle 143"/>
          <p:cNvSpPr/>
          <p:nvPr/>
        </p:nvSpPr>
        <p:spPr>
          <a:xfrm>
            <a:off x="3629025" y="5924550"/>
            <a:ext cx="914400" cy="228600"/>
          </a:xfrm>
          <a:prstGeom prst="roundRect">
            <a:avLst>
              <a:gd name="adj" fmla="val 12500"/>
            </a:avLst>
          </a:prstGeom>
          <a:solidFill>
            <a:srgbClr val="FFFFFF"/>
          </a:solidFill>
          <a:ln w="15240">
            <a:solidFill>
              <a:srgbClr val="69B1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3629025" y="5981700"/>
            <a:ext cx="914400" cy="133350"/>
          </a:xfrm>
          <a:prstGeom prst="rect">
            <a:avLst/>
          </a:prstGeom>
          <a:noFill/>
        </p:spPr>
        <p:txBody>
          <a:bodyPr wrap="square" lIns="28575" rIns="28575" tIns="9525" bIns="9525" anchor="ctr">
            <a:spAutoFit/>
          </a:bodyPr>
          <a:lstStyle/>
          <a:p>
            <a:pPr algn="ctr"/>
            <a:r>
              <a:rPr sz="800" b="1">
                <a:solidFill>
                  <a:srgbClr val="69B1E0"/>
                </a:solidFill>
                <a:latin typeface="Calibri"/>
              </a:rPr>
              <a:t>0–5 POINTS</a:t>
            </a:r>
          </a:p>
        </p:txBody>
      </p:sp>
      <p:sp>
        <p:nvSpPr>
          <p:cNvPr id="146" name="TextBox 145"/>
          <p:cNvSpPr txBox="1"/>
          <p:nvPr/>
        </p:nvSpPr>
        <p:spPr>
          <a:xfrm>
            <a:off x="482536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47" name="Oval 146"/>
          <p:cNvSpPr/>
          <p:nvPr/>
        </p:nvSpPr>
        <p:spPr>
          <a:xfrm>
            <a:off x="5421630" y="4429125"/>
            <a:ext cx="400050" cy="400050"/>
          </a:xfrm>
          <a:prstGeom prst="ellipse">
            <a:avLst/>
          </a:prstGeom>
          <a:solidFill>
            <a:srgbClr val="FFFFFF"/>
          </a:solidFill>
          <a:ln w="1270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42163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49" name="TextBox 148"/>
          <p:cNvSpPr txBox="1"/>
          <p:nvPr/>
        </p:nvSpPr>
        <p:spPr>
          <a:xfrm>
            <a:off x="488251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6F3CC2"/>
                </a:solidFill>
                <a:latin typeface="Calibri"/>
              </a:rPr>
              <a:t>4. BUYER INFLUENCE</a:t>
            </a:r>
          </a:p>
        </p:txBody>
      </p:sp>
      <p:sp>
        <p:nvSpPr>
          <p:cNvPr id="150" name="TextBox 149"/>
          <p:cNvSpPr txBox="1"/>
          <p:nvPr/>
        </p:nvSpPr>
        <p:spPr>
          <a:xfrm>
            <a:off x="488251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Stronger specifier, channel or end-user pull</a:t>
            </a:r>
          </a:p>
        </p:txBody>
      </p:sp>
      <p:sp>
        <p:nvSpPr>
          <p:cNvPr id="151" name="Rounded Rectangle 150"/>
          <p:cNvSpPr/>
          <p:nvPr/>
        </p:nvSpPr>
        <p:spPr>
          <a:xfrm>
            <a:off x="5164455" y="5924550"/>
            <a:ext cx="914400" cy="228600"/>
          </a:xfrm>
          <a:prstGeom prst="roundRect">
            <a:avLst>
              <a:gd name="adj" fmla="val 12500"/>
            </a:avLst>
          </a:prstGeom>
          <a:solidFill>
            <a:srgbClr val="FFFFFF"/>
          </a:solidFill>
          <a:ln w="15240">
            <a:solidFill>
              <a:srgbClr val="6F3C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164455" y="5981700"/>
            <a:ext cx="914400" cy="133350"/>
          </a:xfrm>
          <a:prstGeom prst="rect">
            <a:avLst/>
          </a:prstGeom>
          <a:noFill/>
        </p:spPr>
        <p:txBody>
          <a:bodyPr wrap="square" lIns="28575" rIns="28575" tIns="9525" bIns="9525" anchor="ctr">
            <a:spAutoFit/>
          </a:bodyPr>
          <a:lstStyle/>
          <a:p>
            <a:pPr algn="ctr"/>
            <a:r>
              <a:rPr sz="800" b="1">
                <a:solidFill>
                  <a:srgbClr val="6F3CC2"/>
                </a:solidFill>
                <a:latin typeface="Calibri"/>
              </a:rPr>
              <a:t>0–5 POINTS</a:t>
            </a:r>
          </a:p>
        </p:txBody>
      </p:sp>
      <p:sp>
        <p:nvSpPr>
          <p:cNvPr id="153" name="TextBox 152"/>
          <p:cNvSpPr txBox="1"/>
          <p:nvPr/>
        </p:nvSpPr>
        <p:spPr>
          <a:xfrm>
            <a:off x="6360795" y="4552950"/>
            <a:ext cx="57150" cy="171450"/>
          </a:xfrm>
          <a:prstGeom prst="rect">
            <a:avLst/>
          </a:prstGeom>
          <a:noFill/>
        </p:spPr>
        <p:txBody>
          <a:bodyPr wrap="none" lIns="0" rIns="0" tIns="0" bIns="0" anchor="ctr">
            <a:spAutoFit/>
          </a:bodyPr>
          <a:lstStyle/>
          <a:p>
            <a:pPr algn="ctr"/>
            <a:r>
              <a:rPr sz="700" b="1">
                <a:solidFill>
                  <a:srgbClr val="6C7A89"/>
                </a:solidFill>
                <a:latin typeface="Calibri"/>
              </a:rPr>
              <a:t>+</a:t>
            </a:r>
          </a:p>
        </p:txBody>
      </p:sp>
      <p:sp>
        <p:nvSpPr>
          <p:cNvPr id="154" name="Oval 153"/>
          <p:cNvSpPr/>
          <p:nvPr/>
        </p:nvSpPr>
        <p:spPr>
          <a:xfrm>
            <a:off x="6957060" y="4429125"/>
            <a:ext cx="400050" cy="400050"/>
          </a:xfrm>
          <a:prstGeom prst="ellipse">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6957060" y="4524375"/>
            <a:ext cx="400050" cy="209550"/>
          </a:xfrm>
          <a:prstGeom prst="rect">
            <a:avLst/>
          </a:prstGeom>
          <a:noFill/>
        </p:spPr>
        <p:txBody>
          <a:bodyPr wrap="none" lIns="0" rIns="0" tIns="0" bIns="0" anchor="ctr">
            <a:spAutoFit/>
          </a:bodyPr>
          <a:lstStyle/>
          <a:p>
            <a:pPr algn="ctr"/>
            <a:r>
              <a:rPr sz="1500" b="0">
                <a:solidFill>
                  <a:srgbClr val="2E2E2E"/>
                </a:solidFill>
                <a:latin typeface="Calibri"/>
              </a:rPr>
              <a:t>💲</a:t>
            </a:r>
          </a:p>
        </p:txBody>
      </p:sp>
      <p:sp>
        <p:nvSpPr>
          <p:cNvPr id="156" name="TextBox 155"/>
          <p:cNvSpPr txBox="1"/>
          <p:nvPr/>
        </p:nvSpPr>
        <p:spPr>
          <a:xfrm>
            <a:off x="6417945" y="4895850"/>
            <a:ext cx="1478280" cy="285750"/>
          </a:xfrm>
          <a:prstGeom prst="rect">
            <a:avLst/>
          </a:prstGeom>
          <a:noFill/>
        </p:spPr>
        <p:txBody>
          <a:bodyPr wrap="square" lIns="28575" rIns="28575" tIns="9525" bIns="9525" anchor="ctr">
            <a:spAutoFit/>
          </a:bodyPr>
          <a:lstStyle/>
          <a:p>
            <a:pPr algn="ctr">
              <a:lnSpc>
                <a:spcPct val="115000"/>
              </a:lnSpc>
            </a:pPr>
            <a:r>
              <a:rPr sz="850" b="1">
                <a:solidFill>
                  <a:srgbClr val="A86F00"/>
                </a:solidFill>
                <a:latin typeface="Calibri"/>
              </a:rPr>
              <a:t>5. BRAND / PRICING POWER</a:t>
            </a:r>
          </a:p>
        </p:txBody>
      </p:sp>
      <p:sp>
        <p:nvSpPr>
          <p:cNvPr id="157" name="TextBox 156"/>
          <p:cNvSpPr txBox="1"/>
          <p:nvPr/>
        </p:nvSpPr>
        <p:spPr>
          <a:xfrm>
            <a:off x="6417945" y="5219700"/>
            <a:ext cx="1478280" cy="590550"/>
          </a:xfrm>
          <a:prstGeom prst="rect">
            <a:avLst/>
          </a:prstGeom>
          <a:noFill/>
        </p:spPr>
        <p:txBody>
          <a:bodyPr wrap="square" lIns="28575" rIns="28575" tIns="9525" bIns="9525" anchor="ctr">
            <a:spAutoFit/>
          </a:bodyPr>
          <a:lstStyle/>
          <a:p>
            <a:pPr algn="ctr">
              <a:lnSpc>
                <a:spcPct val="115000"/>
              </a:lnSpc>
            </a:pPr>
            <a:r>
              <a:rPr sz="800" b="0">
                <a:solidFill>
                  <a:srgbClr val="6C7A89"/>
                </a:solidFill>
                <a:latin typeface="Calibri"/>
              </a:rPr>
              <a:t>Premiumisation, positioning or pricing execution</a:t>
            </a:r>
          </a:p>
        </p:txBody>
      </p:sp>
      <p:sp>
        <p:nvSpPr>
          <p:cNvPr id="158" name="Rounded Rectangle 157"/>
          <p:cNvSpPr/>
          <p:nvPr/>
        </p:nvSpPr>
        <p:spPr>
          <a:xfrm>
            <a:off x="6699885" y="5924550"/>
            <a:ext cx="914400" cy="228600"/>
          </a:xfrm>
          <a:prstGeom prst="roundRect">
            <a:avLst>
              <a:gd name="adj" fmla="val 12500"/>
            </a:avLst>
          </a:prstGeom>
          <a:solidFill>
            <a:srgbClr val="FFFFFF"/>
          </a:solidFill>
          <a:ln w="1524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699885" y="5981700"/>
            <a:ext cx="914400" cy="133350"/>
          </a:xfrm>
          <a:prstGeom prst="rect">
            <a:avLst/>
          </a:prstGeom>
          <a:noFill/>
        </p:spPr>
        <p:txBody>
          <a:bodyPr wrap="square" lIns="28575" rIns="28575" tIns="9525" bIns="9525" anchor="ctr">
            <a:spAutoFit/>
          </a:bodyPr>
          <a:lstStyle/>
          <a:p>
            <a:pPr algn="ctr"/>
            <a:r>
              <a:rPr sz="800" b="1">
                <a:solidFill>
                  <a:srgbClr val="A86F00"/>
                </a:solidFill>
                <a:latin typeface="Calibri"/>
              </a:rPr>
              <a:t>0–5 POINTS</a:t>
            </a:r>
          </a:p>
        </p:txBody>
      </p:sp>
      <p:sp>
        <p:nvSpPr>
          <p:cNvPr id="160" name="Rounded Rectangle 159"/>
          <p:cNvSpPr/>
          <p:nvPr/>
        </p:nvSpPr>
        <p:spPr>
          <a:xfrm>
            <a:off x="8191500" y="4057650"/>
            <a:ext cx="3857625" cy="2667000"/>
          </a:xfrm>
          <a:prstGeom prst="roundRect">
            <a:avLst>
              <a:gd name="adj" fmla="val 2222"/>
            </a:avLst>
          </a:prstGeom>
          <a:solidFill>
            <a:srgbClr val="F4FAF9"/>
          </a:solidFill>
          <a:ln w="12700">
            <a:solidFill>
              <a:srgbClr val="CFE3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8191500" y="4152900"/>
            <a:ext cx="3857625" cy="171450"/>
          </a:xfrm>
          <a:prstGeom prst="rect">
            <a:avLst/>
          </a:prstGeom>
          <a:noFill/>
        </p:spPr>
        <p:txBody>
          <a:bodyPr wrap="square" lIns="28575" rIns="28575" tIns="9525" bIns="9525" anchor="ctr">
            <a:spAutoFit/>
          </a:bodyPr>
          <a:lstStyle/>
          <a:p>
            <a:pPr algn="ctr"/>
            <a:r>
              <a:rPr sz="1000" b="1">
                <a:solidFill>
                  <a:srgbClr val="1F6F63"/>
                </a:solidFill>
                <a:latin typeface="Calibri"/>
              </a:rPr>
              <a:t>BEST WAY TO USE THIS SLIDE</a:t>
            </a:r>
          </a:p>
        </p:txBody>
      </p:sp>
      <p:cxnSp>
        <p:nvCxnSpPr>
          <p:cNvPr id="162" name="Connector 161"/>
          <p:cNvCxnSpPr/>
          <p:nvPr/>
        </p:nvCxnSpPr>
        <p:spPr>
          <a:xfrm>
            <a:off x="8343900" y="4381500"/>
            <a:ext cx="3552825" cy="0"/>
          </a:xfrm>
          <a:prstGeom prst="line">
            <a:avLst/>
          </a:prstGeom>
          <a:ln w="12700">
            <a:solidFill>
              <a:srgbClr val="CFE3E0"/>
            </a:solidFill>
          </a:ln>
          <a:effectLst/>
        </p:spPr>
        <p:style>
          <a:lnRef idx="2">
            <a:schemeClr val="accent1"/>
          </a:lnRef>
          <a:fillRef idx="0">
            <a:schemeClr val="accent1"/>
          </a:fillRef>
          <a:effectRef idx="1">
            <a:schemeClr val="accent1"/>
          </a:effectRef>
          <a:fontRef idx="minor">
            <a:schemeClr val="tx1"/>
          </a:fontRef>
        </p:style>
      </p:cxnSp>
      <p:sp>
        <p:nvSpPr>
          <p:cNvPr id="163" name="Oval 162"/>
          <p:cNvSpPr/>
          <p:nvPr/>
        </p:nvSpPr>
        <p:spPr>
          <a:xfrm>
            <a:off x="8372475" y="461962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8372475" y="466725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5" name="TextBox 164"/>
          <p:cNvSpPr txBox="1"/>
          <p:nvPr/>
        </p:nvSpPr>
        <p:spPr>
          <a:xfrm>
            <a:off x="8743950" y="461010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Rank companies by impact on category growth</a:t>
            </a:r>
          </a:p>
        </p:txBody>
      </p:sp>
      <p:sp>
        <p:nvSpPr>
          <p:cNvPr id="166" name="Oval 165"/>
          <p:cNvSpPr/>
          <p:nvPr/>
        </p:nvSpPr>
        <p:spPr>
          <a:xfrm>
            <a:off x="8372475" y="532447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372475" y="537210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68" name="TextBox 167"/>
          <p:cNvSpPr txBox="1"/>
          <p:nvPr/>
        </p:nvSpPr>
        <p:spPr>
          <a:xfrm>
            <a:off x="8743950" y="531495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Mention the one move that explains their impact</a:t>
            </a:r>
          </a:p>
        </p:txBody>
      </p:sp>
      <p:sp>
        <p:nvSpPr>
          <p:cNvPr id="169" name="Oval 168"/>
          <p:cNvSpPr/>
          <p:nvPr/>
        </p:nvSpPr>
        <p:spPr>
          <a:xfrm>
            <a:off x="8372475" y="6029325"/>
            <a:ext cx="285750" cy="285750"/>
          </a:xfrm>
          <a:prstGeom prst="ellipse">
            <a:avLst/>
          </a:prstGeom>
          <a:solidFill>
            <a:srgbClr val="FFFFFF"/>
          </a:solidFill>
          <a:ln w="12700">
            <a:solidFill>
              <a:srgbClr val="1F6F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8372475" y="6076950"/>
            <a:ext cx="285750" cy="190500"/>
          </a:xfrm>
          <a:prstGeom prst="rect">
            <a:avLst/>
          </a:prstGeom>
          <a:noFill/>
        </p:spPr>
        <p:txBody>
          <a:bodyPr wrap="none" lIns="0" rIns="0" tIns="0" bIns="0" anchor="ctr">
            <a:spAutoFit/>
          </a:bodyPr>
          <a:lstStyle/>
          <a:p>
            <a:pPr algn="ctr"/>
            <a:r>
              <a:rPr sz="1200" b="0">
                <a:solidFill>
                  <a:srgbClr val="2E2E2E"/>
                </a:solidFill>
                <a:latin typeface="Calibri"/>
              </a:rPr>
              <a:t>🚫</a:t>
            </a:r>
          </a:p>
        </p:txBody>
      </p:sp>
      <p:sp>
        <p:nvSpPr>
          <p:cNvPr id="171" name="TextBox 170"/>
          <p:cNvSpPr txBox="1"/>
          <p:nvPr/>
        </p:nvSpPr>
        <p:spPr>
          <a:xfrm>
            <a:off x="8743950" y="6019800"/>
            <a:ext cx="3152775" cy="476250"/>
          </a:xfrm>
          <a:prstGeom prst="rect">
            <a:avLst/>
          </a:prstGeom>
          <a:noFill/>
        </p:spPr>
        <p:txBody>
          <a:bodyPr wrap="square" lIns="28575" rIns="28575" tIns="9525" bIns="9525" anchor="ctr">
            <a:spAutoFit/>
          </a:bodyPr>
          <a:lstStyle/>
          <a:p>
            <a:pPr algn="l">
              <a:lnSpc>
                <a:spcPct val="115000"/>
              </a:lnSpc>
            </a:pPr>
            <a:r>
              <a:rPr sz="950" b="0">
                <a:solidFill>
                  <a:srgbClr val="2E2E2E"/>
                </a:solidFill>
                <a:latin typeface="Calibri"/>
              </a:rPr>
              <a:t>Do not rely on market share alone</a:t>
            </a:r>
          </a:p>
        </p:txBody>
      </p:sp>
      <p:sp>
        <p:nvSpPr>
          <p:cNvPr id="172" name="Rectangle 171"/>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74" name="Rounded Rectangle 173">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5" name="Rounded Rectangle 174">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76" name="Rounded Rectangle 175">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Capillary Blood Collection Devices Market Competitive Dashboard View (2026)</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Benchmarking of companies on portfolio, coverage, revenue, share, regional presence and strategy</a:t>
            </a:r>
          </a:p>
        </p:txBody>
      </p:sp>
      <p:sp>
        <p:nvSpPr>
          <p:cNvPr id="11" name="TextBox 10"/>
          <p:cNvSpPr txBox="1"/>
          <p:nvPr/>
        </p:nvSpPr>
        <p:spPr>
          <a:xfrm>
            <a:off x="285750" y="819150"/>
            <a:ext cx="10477500" cy="171450"/>
          </a:xfrm>
          <a:prstGeom prst="rect">
            <a:avLst/>
          </a:prstGeom>
          <a:noFill/>
        </p:spPr>
        <p:txBody>
          <a:bodyPr wrap="square" lIns="0" rIns="19050" tIns="0" bIns="0">
            <a:spAutoFit/>
          </a:bodyPr>
          <a:lstStyle/>
          <a:p>
            <a:pPr algn="l"/>
            <a:r>
              <a:rPr sz="950" b="0">
                <a:solidFill>
                  <a:srgbClr val="6C7A89"/>
                </a:solidFill>
                <a:latin typeface="Calibri"/>
              </a:rPr>
              <a:t>Intensified competition across the leading players portfolio, revenue, share, regional presence and strategy.  All figures 2026.</a:t>
            </a:r>
          </a:p>
        </p:txBody>
      </p:sp>
      <p:sp>
        <p:nvSpPr>
          <p:cNvPr id="12" name="Rounded Rectangle 11"/>
          <p:cNvSpPr/>
          <p:nvPr/>
        </p:nvSpPr>
        <p:spPr>
          <a:xfrm>
            <a:off x="133350" y="1009650"/>
            <a:ext cx="11925300" cy="5219700"/>
          </a:xfrm>
          <a:prstGeom prst="roundRect">
            <a:avLst>
              <a:gd name="adj" fmla="val 145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33350" y="1028700"/>
            <a:ext cx="11925300" cy="361950"/>
          </a:xfrm>
          <a:prstGeom prst="rect">
            <a:avLst/>
          </a:prstGeom>
          <a:solidFill>
            <a:srgbClr val="F1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3350" y="1028700"/>
            <a:ext cx="1143000" cy="518160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33350" y="139065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33350" y="16764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33350" y="25908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3350" y="291465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3350" y="32385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3350" y="41148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33350" y="50673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333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0586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9540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640806"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986212"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31619"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677025"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22431"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67838"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713244"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2058650" y="1028700"/>
            <a:ext cx="0" cy="518160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33350" y="6210300"/>
            <a:ext cx="11925300" cy="0"/>
          </a:xfrm>
          <a:prstGeom prst="line">
            <a:avLst/>
          </a:prstGeom>
          <a:ln w="9525">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71450" y="1390650"/>
            <a:ext cx="1085850" cy="2857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Company / Brand</a:t>
            </a:r>
          </a:p>
        </p:txBody>
      </p:sp>
      <p:sp>
        <p:nvSpPr>
          <p:cNvPr id="35" name="TextBox 34"/>
          <p:cNvSpPr txBox="1"/>
          <p:nvPr/>
        </p:nvSpPr>
        <p:spPr>
          <a:xfrm>
            <a:off x="171450" y="1676400"/>
            <a:ext cx="1085850" cy="9144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Product Portfolio</a:t>
            </a:r>
          </a:p>
        </p:txBody>
      </p:sp>
      <p:sp>
        <p:nvSpPr>
          <p:cNvPr id="36" name="TextBox 35"/>
          <p:cNvSpPr txBox="1"/>
          <p:nvPr/>
        </p:nvSpPr>
        <p:spPr>
          <a:xfrm>
            <a:off x="171450" y="2590800"/>
            <a:ext cx="1085850" cy="3238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Overall Rev (US$ Mn)</a:t>
            </a:r>
          </a:p>
        </p:txBody>
      </p:sp>
      <p:sp>
        <p:nvSpPr>
          <p:cNvPr id="37" name="TextBox 36"/>
          <p:cNvSpPr txBox="1"/>
          <p:nvPr/>
        </p:nvSpPr>
        <p:spPr>
          <a:xfrm>
            <a:off x="171450" y="2914650"/>
            <a:ext cx="1085850" cy="32385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Target Rev (US$ Mn)</a:t>
            </a:r>
          </a:p>
        </p:txBody>
      </p:sp>
      <p:sp>
        <p:nvSpPr>
          <p:cNvPr id="38" name="TextBox 37"/>
          <p:cNvSpPr txBox="1"/>
          <p:nvPr/>
        </p:nvSpPr>
        <p:spPr>
          <a:xfrm>
            <a:off x="171450" y="3238500"/>
            <a:ext cx="1085850" cy="8763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Market Share (%)</a:t>
            </a:r>
          </a:p>
        </p:txBody>
      </p:sp>
      <p:sp>
        <p:nvSpPr>
          <p:cNvPr id="39" name="TextBox 38"/>
          <p:cNvSpPr txBox="1"/>
          <p:nvPr/>
        </p:nvSpPr>
        <p:spPr>
          <a:xfrm>
            <a:off x="171450" y="4114800"/>
            <a:ext cx="1085850" cy="9525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Regional Presence</a:t>
            </a:r>
          </a:p>
        </p:txBody>
      </p:sp>
      <p:sp>
        <p:nvSpPr>
          <p:cNvPr id="40" name="TextBox 39"/>
          <p:cNvSpPr txBox="1"/>
          <p:nvPr/>
        </p:nvSpPr>
        <p:spPr>
          <a:xfrm>
            <a:off x="171450" y="5067300"/>
            <a:ext cx="1085850" cy="1143000"/>
          </a:xfrm>
          <a:prstGeom prst="rect">
            <a:avLst/>
          </a:prstGeom>
          <a:noFill/>
        </p:spPr>
        <p:txBody>
          <a:bodyPr wrap="square" lIns="19050" rIns="19050" tIns="9525" bIns="9525" anchor="ctr">
            <a:spAutoFit/>
          </a:bodyPr>
          <a:lstStyle/>
          <a:p>
            <a:pPr algn="l">
              <a:lnSpc>
                <a:spcPct val="100000"/>
              </a:lnSpc>
            </a:pPr>
            <a:r>
              <a:rPr sz="800" b="1">
                <a:solidFill>
                  <a:srgbClr val="0B2E4A"/>
                </a:solidFill>
                <a:latin typeface="Calibri"/>
              </a:rPr>
              <a:t>Strategies</a:t>
            </a:r>
          </a:p>
        </p:txBody>
      </p:sp>
      <p:sp>
        <p:nvSpPr>
          <p:cNvPr id="41" name="TextBox 40"/>
          <p:cNvSpPr txBox="1"/>
          <p:nvPr/>
        </p:nvSpPr>
        <p:spPr>
          <a:xfrm>
            <a:off x="1323975"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A</a:t>
            </a:r>
          </a:p>
        </p:txBody>
      </p:sp>
      <p:cxnSp>
        <p:nvCxnSpPr>
          <p:cNvPr id="42" name="Connector 41"/>
          <p:cNvCxnSpPr/>
          <p:nvPr/>
        </p:nvCxnSpPr>
        <p:spPr>
          <a:xfrm>
            <a:off x="1739503"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323975"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A</a:t>
            </a:r>
          </a:p>
        </p:txBody>
      </p:sp>
      <p:sp>
        <p:nvSpPr>
          <p:cNvPr id="44" name="TextBox 43"/>
          <p:cNvSpPr txBox="1"/>
          <p:nvPr/>
        </p:nvSpPr>
        <p:spPr>
          <a:xfrm>
            <a:off x="1314450"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45" name="TextBox 44"/>
          <p:cNvSpPr txBox="1"/>
          <p:nvPr/>
        </p:nvSpPr>
        <p:spPr>
          <a:xfrm>
            <a:off x="1314450"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46" name="Rectangle 45"/>
          <p:cNvSpPr/>
          <p:nvPr/>
        </p:nvSpPr>
        <p:spPr>
          <a:xfrm>
            <a:off x="1739503"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910953"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082403"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23975"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1,135</a:t>
            </a:r>
          </a:p>
        </p:txBody>
      </p:sp>
      <p:sp>
        <p:nvSpPr>
          <p:cNvPr id="50" name="TextBox 49"/>
          <p:cNvSpPr txBox="1"/>
          <p:nvPr/>
        </p:nvSpPr>
        <p:spPr>
          <a:xfrm>
            <a:off x="1323975"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378.3</a:t>
            </a:r>
          </a:p>
        </p:txBody>
      </p:sp>
      <p:sp>
        <p:nvSpPr>
          <p:cNvPr id="51" name="Oval 50"/>
          <p:cNvSpPr/>
          <p:nvPr/>
        </p:nvSpPr>
        <p:spPr>
          <a:xfrm>
            <a:off x="1720453"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1724025" y="3409950"/>
            <a:ext cx="495300" cy="495300"/>
          </a:xfrm>
          <a:custGeom>
            <a:avLst/>
            <a:gdLst/>
            <a:ahLst/>
            <a:cxnLst/>
            <a:rect l="l" t="t" r="r" b="b"/>
            <a:pathLst>
              <a:path w="52" h="52">
                <a:moveTo>
                  <a:pt x="26" y="26"/>
                </a:moveTo>
                <a:lnTo>
                  <a:pt x="26" y="0"/>
                </a:lnTo>
                <a:lnTo>
                  <a:pt x="29" y="0"/>
                </a:lnTo>
                <a:lnTo>
                  <a:pt x="32" y="1"/>
                </a:lnTo>
                <a:lnTo>
                  <a:pt x="36" y="2"/>
                </a:lnTo>
                <a:lnTo>
                  <a:pt x="39" y="3"/>
                </a:lnTo>
                <a:lnTo>
                  <a:pt x="41" y="5"/>
                </a:lnTo>
                <a:lnTo>
                  <a:pt x="44" y="8"/>
                </a:lnTo>
                <a:lnTo>
                  <a:pt x="46" y="10"/>
                </a:lnTo>
                <a:lnTo>
                  <a:pt x="48" y="13"/>
                </a:lnTo>
                <a:lnTo>
                  <a:pt x="50" y="16"/>
                </a:lnTo>
                <a:lnTo>
                  <a:pt x="51" y="19"/>
                </a:lnTo>
                <a:lnTo>
                  <a:pt x="51" y="23"/>
                </a:lnTo>
                <a:lnTo>
                  <a:pt x="52" y="26"/>
                </a:lnTo>
                <a:lnTo>
                  <a:pt x="51" y="29"/>
                </a:lnTo>
                <a:lnTo>
                  <a:pt x="51" y="33"/>
                </a:lnTo>
                <a:lnTo>
                  <a:pt x="50" y="36"/>
                </a:lnTo>
                <a:lnTo>
                  <a:pt x="48" y="39"/>
                </a:lnTo>
                <a:lnTo>
                  <a:pt x="46" y="42"/>
                </a:lnTo>
                <a:lnTo>
                  <a:pt x="44" y="44"/>
                </a:lnTo>
                <a:lnTo>
                  <a:pt x="41" y="47"/>
                </a:lnTo>
                <a:lnTo>
                  <a:pt x="39" y="49"/>
                </a:lnTo>
                <a:lnTo>
                  <a:pt x="36" y="50"/>
                </a:lnTo>
                <a:lnTo>
                  <a:pt x="32" y="51"/>
                </a:lnTo>
                <a:lnTo>
                  <a:pt x="29" y="52"/>
                </a:lnTo>
                <a:lnTo>
                  <a:pt x="26" y="52"/>
                </a:lnTo>
                <a:lnTo>
                  <a:pt x="22" y="52"/>
                </a:lnTo>
                <a:lnTo>
                  <a:pt x="19" y="51"/>
                </a:lnTo>
                <a:lnTo>
                  <a:pt x="16" y="50"/>
                </a:lnTo>
                <a:lnTo>
                  <a:pt x="13" y="49"/>
                </a:lnTo>
                <a:lnTo>
                  <a:pt x="10" y="47"/>
                </a:lnTo>
                <a:lnTo>
                  <a:pt x="7" y="44"/>
                </a:lnTo>
                <a:lnTo>
                  <a:pt x="5" y="42"/>
                </a:lnTo>
                <a:lnTo>
                  <a:pt x="3" y="39"/>
                </a:lnTo>
                <a:lnTo>
                  <a:pt x="2" y="36"/>
                </a:lnTo>
                <a:lnTo>
                  <a:pt x="1" y="33"/>
                </a:lnTo>
                <a:lnTo>
                  <a:pt x="0" y="29"/>
                </a:lnTo>
                <a:lnTo>
                  <a:pt x="0" y="26"/>
                </a:lnTo>
                <a:lnTo>
                  <a:pt x="0" y="23"/>
                </a:lnTo>
                <a:lnTo>
                  <a:pt x="1" y="19"/>
                </a:lnTo>
                <a:lnTo>
                  <a:pt x="2" y="16"/>
                </a:lnTo>
                <a:lnTo>
                  <a:pt x="3" y="13"/>
                </a:lnTo>
                <a:lnTo>
                  <a:pt x="5" y="10"/>
                </a:lnTo>
                <a:lnTo>
                  <a:pt x="7" y="8"/>
                </a:lnTo>
                <a:lnTo>
                  <a:pt x="10" y="5"/>
                </a:lnTo>
                <a:lnTo>
                  <a:pt x="13" y="3"/>
                </a:lnTo>
                <a:lnTo>
                  <a:pt x="16" y="2"/>
                </a:lnTo>
                <a:lnTo>
                  <a:pt x="19" y="1"/>
                </a:lnTo>
                <a:lnTo>
                  <a:pt x="22" y="0"/>
                </a:lnTo>
                <a:lnTo>
                  <a:pt x="26" y="0"/>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829419"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20453" y="3590925"/>
            <a:ext cx="495300" cy="133350"/>
          </a:xfrm>
          <a:prstGeom prst="rect">
            <a:avLst/>
          </a:prstGeom>
          <a:noFill/>
        </p:spPr>
        <p:txBody>
          <a:bodyPr wrap="square" lIns="28575" rIns="28575" tIns="9525" bIns="9525" anchor="ctr">
            <a:spAutoFit/>
          </a:bodyPr>
          <a:lstStyle/>
          <a:p>
            <a:pPr algn="ctr"/>
            <a:r>
              <a:rPr sz="750" b="1">
                <a:solidFill>
                  <a:srgbClr val="0B2E4A"/>
                </a:solidFill>
                <a:latin typeface="Calibri"/>
              </a:rPr>
              <a:t>16.4%</a:t>
            </a:r>
          </a:p>
        </p:txBody>
      </p:sp>
      <p:sp>
        <p:nvSpPr>
          <p:cNvPr id="55" name="TextBox 54"/>
          <p:cNvSpPr txBox="1"/>
          <p:nvPr/>
        </p:nvSpPr>
        <p:spPr>
          <a:xfrm>
            <a:off x="1343025"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North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Western Europe  </a:t>
            </a:r>
            <a:r>
              <a:rPr sz="850" b="1">
                <a:solidFill>
                  <a:srgbClr val="9AA3A8"/>
                </a:solidFill>
                <a:latin typeface="Calibri"/>
              </a:rPr>
              <a:t>▲</a:t>
            </a:r>
          </a:p>
        </p:txBody>
      </p:sp>
      <p:sp>
        <p:nvSpPr>
          <p:cNvPr id="56" name="Oval 55"/>
          <p:cNvSpPr/>
          <p:nvPr/>
        </p:nvSpPr>
        <p:spPr>
          <a:xfrm>
            <a:off x="16061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061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58" name="Oval 57"/>
          <p:cNvSpPr/>
          <p:nvPr/>
        </p:nvSpPr>
        <p:spPr>
          <a:xfrm>
            <a:off x="17966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7966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60" name="Oval 59"/>
          <p:cNvSpPr/>
          <p:nvPr/>
        </p:nvSpPr>
        <p:spPr>
          <a:xfrm>
            <a:off x="1987153"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9871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62" name="Oval 61"/>
          <p:cNvSpPr/>
          <p:nvPr/>
        </p:nvSpPr>
        <p:spPr>
          <a:xfrm>
            <a:off x="2177653"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177653"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64" name="Oval 63"/>
          <p:cNvSpPr/>
          <p:nvPr/>
        </p:nvSpPr>
        <p:spPr>
          <a:xfrm>
            <a:off x="1701403"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7014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66" name="Oval 65"/>
          <p:cNvSpPr/>
          <p:nvPr/>
        </p:nvSpPr>
        <p:spPr>
          <a:xfrm>
            <a:off x="1891903"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8919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68" name="Oval 67"/>
          <p:cNvSpPr/>
          <p:nvPr/>
        </p:nvSpPr>
        <p:spPr>
          <a:xfrm>
            <a:off x="2082403"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082403"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70" name="TextBox 69"/>
          <p:cNvSpPr txBox="1"/>
          <p:nvPr/>
        </p:nvSpPr>
        <p:spPr>
          <a:xfrm>
            <a:off x="2669381"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B</a:t>
            </a:r>
          </a:p>
        </p:txBody>
      </p:sp>
      <p:cxnSp>
        <p:nvCxnSpPr>
          <p:cNvPr id="71" name="Connector 70"/>
          <p:cNvCxnSpPr/>
          <p:nvPr/>
        </p:nvCxnSpPr>
        <p:spPr>
          <a:xfrm>
            <a:off x="3084909"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669381"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B</a:t>
            </a:r>
          </a:p>
        </p:txBody>
      </p:sp>
      <p:sp>
        <p:nvSpPr>
          <p:cNvPr id="73" name="TextBox 72"/>
          <p:cNvSpPr txBox="1"/>
          <p:nvPr/>
        </p:nvSpPr>
        <p:spPr>
          <a:xfrm>
            <a:off x="2659856"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74" name="TextBox 73"/>
          <p:cNvSpPr txBox="1"/>
          <p:nvPr/>
        </p:nvSpPr>
        <p:spPr>
          <a:xfrm>
            <a:off x="2659856"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75" name="Rectangle 74"/>
          <p:cNvSpPr/>
          <p:nvPr/>
        </p:nvSpPr>
        <p:spPr>
          <a:xfrm>
            <a:off x="3084909"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3256359"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427809" y="2209800"/>
            <a:ext cx="114300" cy="114300"/>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669381"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1,143</a:t>
            </a:r>
          </a:p>
        </p:txBody>
      </p:sp>
      <p:sp>
        <p:nvSpPr>
          <p:cNvPr id="79" name="TextBox 78"/>
          <p:cNvSpPr txBox="1"/>
          <p:nvPr/>
        </p:nvSpPr>
        <p:spPr>
          <a:xfrm>
            <a:off x="2669381"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331.2</a:t>
            </a:r>
          </a:p>
        </p:txBody>
      </p:sp>
      <p:sp>
        <p:nvSpPr>
          <p:cNvPr id="80" name="Oval 79"/>
          <p:cNvSpPr/>
          <p:nvPr/>
        </p:nvSpPr>
        <p:spPr>
          <a:xfrm>
            <a:off x="3065859"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3067050" y="3409950"/>
            <a:ext cx="495300" cy="495300"/>
          </a:xfrm>
          <a:custGeom>
            <a:avLst/>
            <a:gdLst/>
            <a:ahLst/>
            <a:cxnLst/>
            <a:rect l="l" t="t" r="r" b="b"/>
            <a:pathLst>
              <a:path w="52" h="52">
                <a:moveTo>
                  <a:pt x="26" y="26"/>
                </a:moveTo>
                <a:lnTo>
                  <a:pt x="26" y="0"/>
                </a:lnTo>
                <a:lnTo>
                  <a:pt x="29" y="0"/>
                </a:lnTo>
                <a:lnTo>
                  <a:pt x="33" y="1"/>
                </a:lnTo>
                <a:lnTo>
                  <a:pt x="36" y="2"/>
                </a:lnTo>
                <a:lnTo>
                  <a:pt x="39" y="3"/>
                </a:lnTo>
                <a:lnTo>
                  <a:pt x="42" y="5"/>
                </a:lnTo>
                <a:lnTo>
                  <a:pt x="44" y="8"/>
                </a:lnTo>
                <a:lnTo>
                  <a:pt x="47" y="10"/>
                </a:lnTo>
                <a:lnTo>
                  <a:pt x="48" y="13"/>
                </a:lnTo>
                <a:lnTo>
                  <a:pt x="50" y="16"/>
                </a:lnTo>
                <a:lnTo>
                  <a:pt x="51" y="19"/>
                </a:lnTo>
                <a:lnTo>
                  <a:pt x="52" y="23"/>
                </a:lnTo>
                <a:lnTo>
                  <a:pt x="52" y="26"/>
                </a:lnTo>
                <a:lnTo>
                  <a:pt x="52" y="29"/>
                </a:lnTo>
                <a:lnTo>
                  <a:pt x="51" y="33"/>
                </a:lnTo>
                <a:lnTo>
                  <a:pt x="50" y="36"/>
                </a:lnTo>
                <a:lnTo>
                  <a:pt x="48" y="39"/>
                </a:lnTo>
                <a:lnTo>
                  <a:pt x="46" y="42"/>
                </a:lnTo>
                <a:lnTo>
                  <a:pt x="44" y="44"/>
                </a:lnTo>
                <a:lnTo>
                  <a:pt x="42" y="47"/>
                </a:lnTo>
                <a:lnTo>
                  <a:pt x="39" y="49"/>
                </a:lnTo>
                <a:lnTo>
                  <a:pt x="36" y="50"/>
                </a:lnTo>
                <a:lnTo>
                  <a:pt x="33" y="51"/>
                </a:lnTo>
                <a:lnTo>
                  <a:pt x="29" y="52"/>
                </a:lnTo>
                <a:lnTo>
                  <a:pt x="26" y="52"/>
                </a:lnTo>
                <a:lnTo>
                  <a:pt x="22" y="52"/>
                </a:lnTo>
                <a:lnTo>
                  <a:pt x="19" y="51"/>
                </a:lnTo>
                <a:lnTo>
                  <a:pt x="16" y="50"/>
                </a:lnTo>
                <a:lnTo>
                  <a:pt x="13" y="48"/>
                </a:lnTo>
                <a:lnTo>
                  <a:pt x="10" y="47"/>
                </a:lnTo>
                <a:lnTo>
                  <a:pt x="7" y="44"/>
                </a:lnTo>
                <a:lnTo>
                  <a:pt x="5" y="42"/>
                </a:lnTo>
                <a:lnTo>
                  <a:pt x="3" y="39"/>
                </a:lnTo>
                <a:lnTo>
                  <a:pt x="2" y="36"/>
                </a:lnTo>
                <a:lnTo>
                  <a:pt x="1" y="33"/>
                </a:lnTo>
                <a:lnTo>
                  <a:pt x="0" y="29"/>
                </a:lnTo>
                <a:lnTo>
                  <a:pt x="0" y="26"/>
                </a:lnTo>
                <a:lnTo>
                  <a:pt x="0" y="23"/>
                </a:lnTo>
                <a:lnTo>
                  <a:pt x="1" y="19"/>
                </a:lnTo>
                <a:lnTo>
                  <a:pt x="2" y="16"/>
                </a:lnTo>
                <a:lnTo>
                  <a:pt x="3" y="13"/>
                </a:lnTo>
                <a:lnTo>
                  <a:pt x="5" y="10"/>
                </a:lnTo>
                <a:lnTo>
                  <a:pt x="8" y="8"/>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174825"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65859" y="3590925"/>
            <a:ext cx="495300" cy="133350"/>
          </a:xfrm>
          <a:prstGeom prst="rect">
            <a:avLst/>
          </a:prstGeom>
          <a:noFill/>
        </p:spPr>
        <p:txBody>
          <a:bodyPr wrap="square" lIns="28575" rIns="28575" tIns="9525" bIns="9525" anchor="ctr">
            <a:spAutoFit/>
          </a:bodyPr>
          <a:lstStyle/>
          <a:p>
            <a:pPr algn="ctr"/>
            <a:r>
              <a:rPr sz="750" b="1">
                <a:solidFill>
                  <a:srgbClr val="0B2E4A"/>
                </a:solidFill>
                <a:latin typeface="Calibri"/>
              </a:rPr>
              <a:t>14.4%</a:t>
            </a:r>
          </a:p>
        </p:txBody>
      </p:sp>
      <p:sp>
        <p:nvSpPr>
          <p:cNvPr id="84" name="TextBox 83"/>
          <p:cNvSpPr txBox="1"/>
          <p:nvPr/>
        </p:nvSpPr>
        <p:spPr>
          <a:xfrm>
            <a:off x="2688431"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Latin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Western Europe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Eastern Europe  </a:t>
            </a:r>
            <a:r>
              <a:rPr sz="850" b="1">
                <a:solidFill>
                  <a:srgbClr val="9AA3A8"/>
                </a:solidFill>
                <a:latin typeface="Calibri"/>
              </a:rPr>
              <a:t>▲</a:t>
            </a:r>
          </a:p>
        </p:txBody>
      </p:sp>
      <p:sp>
        <p:nvSpPr>
          <p:cNvPr id="85" name="Oval 84"/>
          <p:cNvSpPr/>
          <p:nvPr/>
        </p:nvSpPr>
        <p:spPr>
          <a:xfrm>
            <a:off x="29515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515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87" name="Oval 86"/>
          <p:cNvSpPr/>
          <p:nvPr/>
        </p:nvSpPr>
        <p:spPr>
          <a:xfrm>
            <a:off x="31420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1420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89" name="Oval 88"/>
          <p:cNvSpPr/>
          <p:nvPr/>
        </p:nvSpPr>
        <p:spPr>
          <a:xfrm>
            <a:off x="33325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3325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91" name="Oval 90"/>
          <p:cNvSpPr/>
          <p:nvPr/>
        </p:nvSpPr>
        <p:spPr>
          <a:xfrm>
            <a:off x="3523059"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3523059"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93" name="Oval 92"/>
          <p:cNvSpPr/>
          <p:nvPr/>
        </p:nvSpPr>
        <p:spPr>
          <a:xfrm>
            <a:off x="3046809"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30468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95" name="Oval 94"/>
          <p:cNvSpPr/>
          <p:nvPr/>
        </p:nvSpPr>
        <p:spPr>
          <a:xfrm>
            <a:off x="3237309"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2373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97" name="Oval 96"/>
          <p:cNvSpPr/>
          <p:nvPr/>
        </p:nvSpPr>
        <p:spPr>
          <a:xfrm>
            <a:off x="3427809"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3427809"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99" name="TextBox 98"/>
          <p:cNvSpPr txBox="1"/>
          <p:nvPr/>
        </p:nvSpPr>
        <p:spPr>
          <a:xfrm>
            <a:off x="4014788"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C</a:t>
            </a:r>
          </a:p>
        </p:txBody>
      </p:sp>
      <p:cxnSp>
        <p:nvCxnSpPr>
          <p:cNvPr id="100" name="Connector 99"/>
          <p:cNvCxnSpPr/>
          <p:nvPr/>
        </p:nvCxnSpPr>
        <p:spPr>
          <a:xfrm>
            <a:off x="4430316"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4014788"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C</a:t>
            </a:r>
          </a:p>
        </p:txBody>
      </p:sp>
      <p:sp>
        <p:nvSpPr>
          <p:cNvPr id="102" name="TextBox 101"/>
          <p:cNvSpPr txBox="1"/>
          <p:nvPr/>
        </p:nvSpPr>
        <p:spPr>
          <a:xfrm>
            <a:off x="4005262"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03" name="TextBox 102"/>
          <p:cNvSpPr txBox="1"/>
          <p:nvPr/>
        </p:nvSpPr>
        <p:spPr>
          <a:xfrm>
            <a:off x="4005262" y="1943100"/>
            <a:ext cx="1307306" cy="190500"/>
          </a:xfrm>
          <a:prstGeom prst="rect">
            <a:avLst/>
          </a:prstGeom>
          <a:noFill/>
        </p:spPr>
        <p:txBody>
          <a:bodyPr wrap="square" lIns="28575" rIns="28575" tIns="9525" bIns="9525" anchor="ctr">
            <a:spAutoFit/>
          </a:bodyPr>
          <a:lstStyle/>
          <a:p>
            <a:pPr algn="ctr"/>
            <a:r>
              <a:rPr sz="1000" b="1">
                <a:solidFill>
                  <a:srgbClr val="E44D3A"/>
                </a:solidFill>
                <a:latin typeface="Calibri"/>
              </a:rPr>
              <a:t>✘ </a:t>
            </a:r>
            <a:r>
              <a:rPr sz="1000" b="1">
                <a:solidFill>
                  <a:srgbClr val="008189"/>
                </a:solidFill>
                <a:latin typeface="Calibri"/>
              </a:rPr>
              <a:t>✔ </a:t>
            </a:r>
            <a:r>
              <a:rPr sz="1000" b="1">
                <a:solidFill>
                  <a:srgbClr val="008189"/>
                </a:solidFill>
                <a:latin typeface="Calibri"/>
              </a:rPr>
              <a:t>✔ </a:t>
            </a:r>
          </a:p>
        </p:txBody>
      </p:sp>
      <p:sp>
        <p:nvSpPr>
          <p:cNvPr id="104" name="Rectangle 103"/>
          <p:cNvSpPr/>
          <p:nvPr/>
        </p:nvSpPr>
        <p:spPr>
          <a:xfrm>
            <a:off x="4430316"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4601766" y="2209800"/>
            <a:ext cx="114300" cy="114300"/>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773216"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014788"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890.8</a:t>
            </a:r>
          </a:p>
        </p:txBody>
      </p:sp>
      <p:sp>
        <p:nvSpPr>
          <p:cNvPr id="108" name="TextBox 107"/>
          <p:cNvSpPr txBox="1"/>
          <p:nvPr/>
        </p:nvSpPr>
        <p:spPr>
          <a:xfrm>
            <a:off x="4014788"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228.4</a:t>
            </a:r>
          </a:p>
        </p:txBody>
      </p:sp>
      <p:sp>
        <p:nvSpPr>
          <p:cNvPr id="109" name="Oval 108"/>
          <p:cNvSpPr/>
          <p:nvPr/>
        </p:nvSpPr>
        <p:spPr>
          <a:xfrm>
            <a:off x="4411266"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Freeform 109"/>
          <p:cNvSpPr/>
          <p:nvPr/>
        </p:nvSpPr>
        <p:spPr>
          <a:xfrm>
            <a:off x="4505325" y="3409950"/>
            <a:ext cx="400050" cy="495300"/>
          </a:xfrm>
          <a:custGeom>
            <a:avLst/>
            <a:gdLst/>
            <a:ahLst/>
            <a:cxnLst/>
            <a:rect l="l" t="t" r="r" b="b"/>
            <a:pathLst>
              <a:path w="42" h="52">
                <a:moveTo>
                  <a:pt x="16" y="26"/>
                </a:moveTo>
                <a:lnTo>
                  <a:pt x="16" y="0"/>
                </a:lnTo>
                <a:lnTo>
                  <a:pt x="20" y="0"/>
                </a:lnTo>
                <a:lnTo>
                  <a:pt x="23" y="1"/>
                </a:lnTo>
                <a:lnTo>
                  <a:pt x="26" y="2"/>
                </a:lnTo>
                <a:lnTo>
                  <a:pt x="30" y="4"/>
                </a:lnTo>
                <a:lnTo>
                  <a:pt x="32" y="6"/>
                </a:lnTo>
                <a:lnTo>
                  <a:pt x="35" y="8"/>
                </a:lnTo>
                <a:lnTo>
                  <a:pt x="37" y="11"/>
                </a:lnTo>
                <a:lnTo>
                  <a:pt x="39" y="14"/>
                </a:lnTo>
                <a:lnTo>
                  <a:pt x="41" y="17"/>
                </a:lnTo>
                <a:lnTo>
                  <a:pt x="42" y="20"/>
                </a:lnTo>
                <a:lnTo>
                  <a:pt x="42" y="24"/>
                </a:lnTo>
                <a:lnTo>
                  <a:pt x="42" y="27"/>
                </a:lnTo>
                <a:lnTo>
                  <a:pt x="42" y="31"/>
                </a:lnTo>
                <a:lnTo>
                  <a:pt x="41" y="34"/>
                </a:lnTo>
                <a:lnTo>
                  <a:pt x="39" y="38"/>
                </a:lnTo>
                <a:lnTo>
                  <a:pt x="38" y="41"/>
                </a:lnTo>
                <a:lnTo>
                  <a:pt x="35" y="43"/>
                </a:lnTo>
                <a:lnTo>
                  <a:pt x="33" y="46"/>
                </a:lnTo>
                <a:lnTo>
                  <a:pt x="30" y="48"/>
                </a:lnTo>
                <a:lnTo>
                  <a:pt x="27" y="50"/>
                </a:lnTo>
                <a:lnTo>
                  <a:pt x="24" y="51"/>
                </a:lnTo>
                <a:lnTo>
                  <a:pt x="20" y="52"/>
                </a:lnTo>
                <a:lnTo>
                  <a:pt x="17" y="52"/>
                </a:lnTo>
                <a:lnTo>
                  <a:pt x="13" y="52"/>
                </a:lnTo>
                <a:lnTo>
                  <a:pt x="10" y="51"/>
                </a:lnTo>
                <a:lnTo>
                  <a:pt x="6" y="50"/>
                </a:lnTo>
                <a:lnTo>
                  <a:pt x="3" y="49"/>
                </a:lnTo>
                <a:lnTo>
                  <a:pt x="0" y="47"/>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4520232"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4411266"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9.9%</a:t>
            </a:r>
          </a:p>
        </p:txBody>
      </p:sp>
      <p:sp>
        <p:nvSpPr>
          <p:cNvPr id="113" name="TextBox 112"/>
          <p:cNvSpPr txBox="1"/>
          <p:nvPr/>
        </p:nvSpPr>
        <p:spPr>
          <a:xfrm>
            <a:off x="4033838"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Western Europe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Eastern Europe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East Asia  </a:t>
            </a:r>
            <a:r>
              <a:rPr sz="850" b="1">
                <a:solidFill>
                  <a:srgbClr val="9AA3A8"/>
                </a:solidFill>
                <a:latin typeface="Calibri"/>
              </a:rPr>
              <a:t>▲</a:t>
            </a:r>
          </a:p>
        </p:txBody>
      </p:sp>
      <p:sp>
        <p:nvSpPr>
          <p:cNvPr id="114" name="Oval 113"/>
          <p:cNvSpPr/>
          <p:nvPr/>
        </p:nvSpPr>
        <p:spPr>
          <a:xfrm>
            <a:off x="42969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42969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16" name="Oval 115"/>
          <p:cNvSpPr/>
          <p:nvPr/>
        </p:nvSpPr>
        <p:spPr>
          <a:xfrm>
            <a:off x="44874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4874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18" name="Oval 117"/>
          <p:cNvSpPr/>
          <p:nvPr/>
        </p:nvSpPr>
        <p:spPr>
          <a:xfrm>
            <a:off x="4677966"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46779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20" name="Oval 119"/>
          <p:cNvSpPr/>
          <p:nvPr/>
        </p:nvSpPr>
        <p:spPr>
          <a:xfrm>
            <a:off x="4868466"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4868466"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22" name="Oval 121"/>
          <p:cNvSpPr/>
          <p:nvPr/>
        </p:nvSpPr>
        <p:spPr>
          <a:xfrm>
            <a:off x="4392216"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3922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24" name="Oval 123"/>
          <p:cNvSpPr/>
          <p:nvPr/>
        </p:nvSpPr>
        <p:spPr>
          <a:xfrm>
            <a:off x="4582716"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827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26" name="Oval 125"/>
          <p:cNvSpPr/>
          <p:nvPr/>
        </p:nvSpPr>
        <p:spPr>
          <a:xfrm>
            <a:off x="4773216"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773216"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28" name="TextBox 127"/>
          <p:cNvSpPr txBox="1"/>
          <p:nvPr/>
        </p:nvSpPr>
        <p:spPr>
          <a:xfrm>
            <a:off x="5360194"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D</a:t>
            </a:r>
          </a:p>
        </p:txBody>
      </p:sp>
      <p:cxnSp>
        <p:nvCxnSpPr>
          <p:cNvPr id="129" name="Connector 128"/>
          <p:cNvCxnSpPr/>
          <p:nvPr/>
        </p:nvCxnSpPr>
        <p:spPr>
          <a:xfrm>
            <a:off x="5775722"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5360194"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D</a:t>
            </a:r>
          </a:p>
        </p:txBody>
      </p:sp>
      <p:sp>
        <p:nvSpPr>
          <p:cNvPr id="131" name="TextBox 130"/>
          <p:cNvSpPr txBox="1"/>
          <p:nvPr/>
        </p:nvSpPr>
        <p:spPr>
          <a:xfrm>
            <a:off x="5350669"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132" name="TextBox 131"/>
          <p:cNvSpPr txBox="1"/>
          <p:nvPr/>
        </p:nvSpPr>
        <p:spPr>
          <a:xfrm>
            <a:off x="5350669"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133" name="Rectangle 132"/>
          <p:cNvSpPr/>
          <p:nvPr/>
        </p:nvSpPr>
        <p:spPr>
          <a:xfrm>
            <a:off x="5775722" y="2209800"/>
            <a:ext cx="114300" cy="114300"/>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947172"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118622"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360194"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698.0</a:t>
            </a:r>
          </a:p>
        </p:txBody>
      </p:sp>
      <p:sp>
        <p:nvSpPr>
          <p:cNvPr id="137" name="TextBox 136"/>
          <p:cNvSpPr txBox="1"/>
          <p:nvPr/>
        </p:nvSpPr>
        <p:spPr>
          <a:xfrm>
            <a:off x="5360194"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160.5</a:t>
            </a:r>
          </a:p>
        </p:txBody>
      </p:sp>
      <p:sp>
        <p:nvSpPr>
          <p:cNvPr id="138" name="Oval 137"/>
          <p:cNvSpPr/>
          <p:nvPr/>
        </p:nvSpPr>
        <p:spPr>
          <a:xfrm>
            <a:off x="5756672"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Freeform 138"/>
          <p:cNvSpPr/>
          <p:nvPr/>
        </p:nvSpPr>
        <p:spPr>
          <a:xfrm>
            <a:off x="6000750" y="3409950"/>
            <a:ext cx="247650" cy="466725"/>
          </a:xfrm>
          <a:custGeom>
            <a:avLst/>
            <a:gdLst/>
            <a:ahLst/>
            <a:cxnLst/>
            <a:rect l="l" t="t" r="r" b="b"/>
            <a:pathLst>
              <a:path w="26" h="49">
                <a:moveTo>
                  <a:pt x="0" y="26"/>
                </a:moveTo>
                <a:lnTo>
                  <a:pt x="0" y="0"/>
                </a:lnTo>
                <a:lnTo>
                  <a:pt x="4" y="0"/>
                </a:lnTo>
                <a:lnTo>
                  <a:pt x="7" y="1"/>
                </a:lnTo>
                <a:lnTo>
                  <a:pt x="10" y="2"/>
                </a:lnTo>
                <a:lnTo>
                  <a:pt x="14" y="4"/>
                </a:lnTo>
                <a:lnTo>
                  <a:pt x="16" y="6"/>
                </a:lnTo>
                <a:lnTo>
                  <a:pt x="19" y="8"/>
                </a:lnTo>
                <a:lnTo>
                  <a:pt x="21" y="11"/>
                </a:lnTo>
                <a:lnTo>
                  <a:pt x="23" y="13"/>
                </a:lnTo>
                <a:lnTo>
                  <a:pt x="25" y="17"/>
                </a:lnTo>
                <a:lnTo>
                  <a:pt x="26" y="20"/>
                </a:lnTo>
                <a:lnTo>
                  <a:pt x="26" y="23"/>
                </a:lnTo>
                <a:lnTo>
                  <a:pt x="26" y="27"/>
                </a:lnTo>
                <a:lnTo>
                  <a:pt x="26" y="30"/>
                </a:lnTo>
                <a:lnTo>
                  <a:pt x="25" y="34"/>
                </a:lnTo>
                <a:lnTo>
                  <a:pt x="24" y="37"/>
                </a:lnTo>
                <a:lnTo>
                  <a:pt x="22" y="40"/>
                </a:lnTo>
                <a:lnTo>
                  <a:pt x="20" y="43"/>
                </a:lnTo>
                <a:lnTo>
                  <a:pt x="18" y="45"/>
                </a:lnTo>
                <a:lnTo>
                  <a:pt x="15" y="47"/>
                </a:lnTo>
                <a:lnTo>
                  <a:pt x="12"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5865638"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5756672"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7.0%</a:t>
            </a:r>
          </a:p>
        </p:txBody>
      </p:sp>
      <p:sp>
        <p:nvSpPr>
          <p:cNvPr id="142" name="TextBox 141"/>
          <p:cNvSpPr txBox="1"/>
          <p:nvPr/>
        </p:nvSpPr>
        <p:spPr>
          <a:xfrm>
            <a:off x="5379244"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Eastern Europe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East Asia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South Asia Pacific  </a:t>
            </a:r>
            <a:r>
              <a:rPr sz="850" b="1">
                <a:solidFill>
                  <a:srgbClr val="9AA3A8"/>
                </a:solidFill>
                <a:latin typeface="Calibri"/>
              </a:rPr>
              <a:t>▲</a:t>
            </a:r>
          </a:p>
        </p:txBody>
      </p:sp>
      <p:sp>
        <p:nvSpPr>
          <p:cNvPr id="143" name="Oval 142"/>
          <p:cNvSpPr/>
          <p:nvPr/>
        </p:nvSpPr>
        <p:spPr>
          <a:xfrm>
            <a:off x="56423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6423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45" name="Oval 144"/>
          <p:cNvSpPr/>
          <p:nvPr/>
        </p:nvSpPr>
        <p:spPr>
          <a:xfrm>
            <a:off x="58328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58328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47" name="Oval 146"/>
          <p:cNvSpPr/>
          <p:nvPr/>
        </p:nvSpPr>
        <p:spPr>
          <a:xfrm>
            <a:off x="60233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0233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49" name="Oval 148"/>
          <p:cNvSpPr/>
          <p:nvPr/>
        </p:nvSpPr>
        <p:spPr>
          <a:xfrm>
            <a:off x="6213872"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213872"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51" name="Oval 150"/>
          <p:cNvSpPr/>
          <p:nvPr/>
        </p:nvSpPr>
        <p:spPr>
          <a:xfrm>
            <a:off x="5737622"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57376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53" name="Oval 152"/>
          <p:cNvSpPr/>
          <p:nvPr/>
        </p:nvSpPr>
        <p:spPr>
          <a:xfrm>
            <a:off x="5928122"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59281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55" name="Oval 154"/>
          <p:cNvSpPr/>
          <p:nvPr/>
        </p:nvSpPr>
        <p:spPr>
          <a:xfrm>
            <a:off x="6118622"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118622"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57" name="TextBox 156"/>
          <p:cNvSpPr txBox="1"/>
          <p:nvPr/>
        </p:nvSpPr>
        <p:spPr>
          <a:xfrm>
            <a:off x="6705600"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E</a:t>
            </a:r>
          </a:p>
        </p:txBody>
      </p:sp>
      <p:cxnSp>
        <p:nvCxnSpPr>
          <p:cNvPr id="158" name="Connector 157"/>
          <p:cNvCxnSpPr/>
          <p:nvPr/>
        </p:nvCxnSpPr>
        <p:spPr>
          <a:xfrm>
            <a:off x="7121128"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6705600"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E</a:t>
            </a:r>
          </a:p>
        </p:txBody>
      </p:sp>
      <p:sp>
        <p:nvSpPr>
          <p:cNvPr id="160" name="TextBox 159"/>
          <p:cNvSpPr txBox="1"/>
          <p:nvPr/>
        </p:nvSpPr>
        <p:spPr>
          <a:xfrm>
            <a:off x="6696075"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161" name="TextBox 160"/>
          <p:cNvSpPr txBox="1"/>
          <p:nvPr/>
        </p:nvSpPr>
        <p:spPr>
          <a:xfrm>
            <a:off x="6696075"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162" name="Rectangle 161"/>
          <p:cNvSpPr/>
          <p:nvPr/>
        </p:nvSpPr>
        <p:spPr>
          <a:xfrm>
            <a:off x="7121128"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7292578"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7464028"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6705600"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763.2</a:t>
            </a:r>
          </a:p>
        </p:txBody>
      </p:sp>
      <p:sp>
        <p:nvSpPr>
          <p:cNvPr id="166" name="TextBox 165"/>
          <p:cNvSpPr txBox="1"/>
          <p:nvPr/>
        </p:nvSpPr>
        <p:spPr>
          <a:xfrm>
            <a:off x="6705600"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159.0</a:t>
            </a:r>
          </a:p>
        </p:txBody>
      </p:sp>
      <p:sp>
        <p:nvSpPr>
          <p:cNvPr id="167" name="Oval 166"/>
          <p:cNvSpPr/>
          <p:nvPr/>
        </p:nvSpPr>
        <p:spPr>
          <a:xfrm>
            <a:off x="7102078"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Freeform 167"/>
          <p:cNvSpPr/>
          <p:nvPr/>
        </p:nvSpPr>
        <p:spPr>
          <a:xfrm>
            <a:off x="7353300" y="3409950"/>
            <a:ext cx="247650" cy="466725"/>
          </a:xfrm>
          <a:custGeom>
            <a:avLst/>
            <a:gdLst/>
            <a:ahLst/>
            <a:cxnLst/>
            <a:rect l="l" t="t" r="r" b="b"/>
            <a:pathLst>
              <a:path w="26" h="49">
                <a:moveTo>
                  <a:pt x="0" y="26"/>
                </a:moveTo>
                <a:lnTo>
                  <a:pt x="0" y="0"/>
                </a:lnTo>
                <a:lnTo>
                  <a:pt x="3" y="0"/>
                </a:lnTo>
                <a:lnTo>
                  <a:pt x="6" y="1"/>
                </a:lnTo>
                <a:lnTo>
                  <a:pt x="10" y="2"/>
                </a:lnTo>
                <a:lnTo>
                  <a:pt x="13" y="4"/>
                </a:lnTo>
                <a:lnTo>
                  <a:pt x="16" y="5"/>
                </a:lnTo>
                <a:lnTo>
                  <a:pt x="18" y="8"/>
                </a:lnTo>
                <a:lnTo>
                  <a:pt x="20" y="10"/>
                </a:lnTo>
                <a:lnTo>
                  <a:pt x="22" y="13"/>
                </a:lnTo>
                <a:lnTo>
                  <a:pt x="24" y="16"/>
                </a:lnTo>
                <a:lnTo>
                  <a:pt x="25" y="20"/>
                </a:lnTo>
                <a:lnTo>
                  <a:pt x="25" y="23"/>
                </a:lnTo>
                <a:lnTo>
                  <a:pt x="26" y="26"/>
                </a:lnTo>
                <a:lnTo>
                  <a:pt x="25" y="30"/>
                </a:lnTo>
                <a:lnTo>
                  <a:pt x="25" y="33"/>
                </a:lnTo>
                <a:lnTo>
                  <a:pt x="23" y="36"/>
                </a:lnTo>
                <a:lnTo>
                  <a:pt x="22" y="39"/>
                </a:lnTo>
                <a:lnTo>
                  <a:pt x="20" y="42"/>
                </a:lnTo>
                <a:lnTo>
                  <a:pt x="18" y="45"/>
                </a:lnTo>
                <a:lnTo>
                  <a:pt x="15" y="47"/>
                </a:lnTo>
                <a:lnTo>
                  <a:pt x="12"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7211044"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7102078"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6.9%</a:t>
            </a:r>
          </a:p>
        </p:txBody>
      </p:sp>
      <p:sp>
        <p:nvSpPr>
          <p:cNvPr id="171" name="TextBox 170"/>
          <p:cNvSpPr txBox="1"/>
          <p:nvPr/>
        </p:nvSpPr>
        <p:spPr>
          <a:xfrm>
            <a:off x="6724650"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East Asia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South Asia Pacific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Middle East &amp; Africa  </a:t>
            </a:r>
            <a:r>
              <a:rPr sz="850" b="1">
                <a:solidFill>
                  <a:srgbClr val="9AA3A8"/>
                </a:solidFill>
                <a:latin typeface="Calibri"/>
              </a:rPr>
              <a:t>▲</a:t>
            </a:r>
          </a:p>
        </p:txBody>
      </p:sp>
      <p:sp>
        <p:nvSpPr>
          <p:cNvPr id="172" name="Oval 171"/>
          <p:cNvSpPr/>
          <p:nvPr/>
        </p:nvSpPr>
        <p:spPr>
          <a:xfrm>
            <a:off x="69877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69877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174" name="Oval 173"/>
          <p:cNvSpPr/>
          <p:nvPr/>
        </p:nvSpPr>
        <p:spPr>
          <a:xfrm>
            <a:off x="71782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1782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176" name="Oval 175"/>
          <p:cNvSpPr/>
          <p:nvPr/>
        </p:nvSpPr>
        <p:spPr>
          <a:xfrm>
            <a:off x="7368778"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73687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178" name="Oval 177"/>
          <p:cNvSpPr/>
          <p:nvPr/>
        </p:nvSpPr>
        <p:spPr>
          <a:xfrm>
            <a:off x="7559278"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7559278"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180" name="Oval 179"/>
          <p:cNvSpPr/>
          <p:nvPr/>
        </p:nvSpPr>
        <p:spPr>
          <a:xfrm>
            <a:off x="7083028"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70830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182" name="Oval 181"/>
          <p:cNvSpPr/>
          <p:nvPr/>
        </p:nvSpPr>
        <p:spPr>
          <a:xfrm>
            <a:off x="7273528"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72735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184" name="Oval 183"/>
          <p:cNvSpPr/>
          <p:nvPr/>
        </p:nvSpPr>
        <p:spPr>
          <a:xfrm>
            <a:off x="7464028"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7464028"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186" name="TextBox 185"/>
          <p:cNvSpPr txBox="1"/>
          <p:nvPr/>
        </p:nvSpPr>
        <p:spPr>
          <a:xfrm>
            <a:off x="8051006"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F</a:t>
            </a:r>
          </a:p>
        </p:txBody>
      </p:sp>
      <p:cxnSp>
        <p:nvCxnSpPr>
          <p:cNvPr id="187" name="Connector 186"/>
          <p:cNvCxnSpPr/>
          <p:nvPr/>
        </p:nvCxnSpPr>
        <p:spPr>
          <a:xfrm>
            <a:off x="8466534"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8051006"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F</a:t>
            </a:r>
          </a:p>
        </p:txBody>
      </p:sp>
      <p:sp>
        <p:nvSpPr>
          <p:cNvPr id="189" name="TextBox 188"/>
          <p:cNvSpPr txBox="1"/>
          <p:nvPr/>
        </p:nvSpPr>
        <p:spPr>
          <a:xfrm>
            <a:off x="8041481"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79C3EC"/>
                </a:solidFill>
                <a:latin typeface="Calibri"/>
              </a:rPr>
              <a:t>✦ </a:t>
            </a:r>
          </a:p>
        </p:txBody>
      </p:sp>
      <p:sp>
        <p:nvSpPr>
          <p:cNvPr id="190" name="TextBox 189"/>
          <p:cNvSpPr txBox="1"/>
          <p:nvPr/>
        </p:nvSpPr>
        <p:spPr>
          <a:xfrm>
            <a:off x="8041481" y="1943100"/>
            <a:ext cx="1307306" cy="190500"/>
          </a:xfrm>
          <a:prstGeom prst="rect">
            <a:avLst/>
          </a:prstGeom>
          <a:noFill/>
        </p:spPr>
        <p:txBody>
          <a:bodyPr wrap="square" lIns="28575" rIns="28575" tIns="9525" bIns="9525" anchor="ctr">
            <a:spAutoFit/>
          </a:bodyPr>
          <a:lstStyle/>
          <a:p>
            <a:pPr algn="ctr"/>
            <a:r>
              <a:rPr sz="1000" b="1">
                <a:solidFill>
                  <a:srgbClr val="E44D3A"/>
                </a:solidFill>
                <a:latin typeface="Calibri"/>
              </a:rPr>
              <a:t>✘ </a:t>
            </a:r>
            <a:r>
              <a:rPr sz="1000" b="1">
                <a:solidFill>
                  <a:srgbClr val="008189"/>
                </a:solidFill>
                <a:latin typeface="Calibri"/>
              </a:rPr>
              <a:t>✔ </a:t>
            </a:r>
            <a:r>
              <a:rPr sz="1000" b="1">
                <a:solidFill>
                  <a:srgbClr val="008189"/>
                </a:solidFill>
                <a:latin typeface="Calibri"/>
              </a:rPr>
              <a:t>✔ </a:t>
            </a:r>
          </a:p>
        </p:txBody>
      </p:sp>
      <p:sp>
        <p:nvSpPr>
          <p:cNvPr id="191" name="Rectangle 190"/>
          <p:cNvSpPr/>
          <p:nvPr/>
        </p:nvSpPr>
        <p:spPr>
          <a:xfrm>
            <a:off x="8466534"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8637984"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8809434" y="2209800"/>
            <a:ext cx="114300" cy="114300"/>
          </a:xfrm>
          <a:prstGeom prst="rect">
            <a:avLst/>
          </a:prstGeom>
          <a:solidFill>
            <a:srgbClr val="FFFFFF"/>
          </a:solidFill>
          <a:ln w="12700">
            <a:solidFill>
              <a:srgbClr val="0B2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8051006"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829.6</a:t>
            </a:r>
          </a:p>
        </p:txBody>
      </p:sp>
      <p:sp>
        <p:nvSpPr>
          <p:cNvPr id="195" name="TextBox 194"/>
          <p:cNvSpPr txBox="1"/>
          <p:nvPr/>
        </p:nvSpPr>
        <p:spPr>
          <a:xfrm>
            <a:off x="8051006"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158.0</a:t>
            </a:r>
          </a:p>
        </p:txBody>
      </p:sp>
      <p:sp>
        <p:nvSpPr>
          <p:cNvPr id="196" name="Oval 195"/>
          <p:cNvSpPr/>
          <p:nvPr/>
        </p:nvSpPr>
        <p:spPr>
          <a:xfrm>
            <a:off x="8447484"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Freeform 196"/>
          <p:cNvSpPr/>
          <p:nvPr/>
        </p:nvSpPr>
        <p:spPr>
          <a:xfrm>
            <a:off x="8696325" y="3409950"/>
            <a:ext cx="247650" cy="466725"/>
          </a:xfrm>
          <a:custGeom>
            <a:avLst/>
            <a:gdLst/>
            <a:ahLst/>
            <a:cxnLst/>
            <a:rect l="l" t="t" r="r" b="b"/>
            <a:pathLst>
              <a:path w="26" h="49">
                <a:moveTo>
                  <a:pt x="0" y="26"/>
                </a:moveTo>
                <a:lnTo>
                  <a:pt x="0" y="0"/>
                </a:lnTo>
                <a:lnTo>
                  <a:pt x="3" y="0"/>
                </a:lnTo>
                <a:lnTo>
                  <a:pt x="7" y="1"/>
                </a:lnTo>
                <a:lnTo>
                  <a:pt x="10" y="2"/>
                </a:lnTo>
                <a:lnTo>
                  <a:pt x="13" y="4"/>
                </a:lnTo>
                <a:lnTo>
                  <a:pt x="16" y="5"/>
                </a:lnTo>
                <a:lnTo>
                  <a:pt x="18" y="8"/>
                </a:lnTo>
                <a:lnTo>
                  <a:pt x="21" y="10"/>
                </a:lnTo>
                <a:lnTo>
                  <a:pt x="22" y="13"/>
                </a:lnTo>
                <a:lnTo>
                  <a:pt x="24" y="16"/>
                </a:lnTo>
                <a:lnTo>
                  <a:pt x="25" y="19"/>
                </a:lnTo>
                <a:lnTo>
                  <a:pt x="26" y="23"/>
                </a:lnTo>
                <a:lnTo>
                  <a:pt x="26" y="26"/>
                </a:lnTo>
                <a:lnTo>
                  <a:pt x="26" y="30"/>
                </a:lnTo>
                <a:lnTo>
                  <a:pt x="25" y="33"/>
                </a:lnTo>
                <a:lnTo>
                  <a:pt x="24" y="36"/>
                </a:lnTo>
                <a:lnTo>
                  <a:pt x="22" y="39"/>
                </a:lnTo>
                <a:lnTo>
                  <a:pt x="20" y="42"/>
                </a:lnTo>
                <a:lnTo>
                  <a:pt x="18" y="44"/>
                </a:lnTo>
                <a:lnTo>
                  <a:pt x="16" y="47"/>
                </a:lnTo>
                <a:lnTo>
                  <a:pt x="13" y="4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8556450"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8447484"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6.9%</a:t>
            </a:r>
          </a:p>
        </p:txBody>
      </p:sp>
      <p:sp>
        <p:nvSpPr>
          <p:cNvPr id="200" name="TextBox 199"/>
          <p:cNvSpPr txBox="1"/>
          <p:nvPr/>
        </p:nvSpPr>
        <p:spPr>
          <a:xfrm>
            <a:off x="8070056"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South Asia Pacific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Middle East &amp; Africa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North America  </a:t>
            </a:r>
            <a:r>
              <a:rPr sz="850" b="1">
                <a:solidFill>
                  <a:srgbClr val="9AA3A8"/>
                </a:solidFill>
                <a:latin typeface="Calibri"/>
              </a:rPr>
              <a:t>▲</a:t>
            </a:r>
          </a:p>
        </p:txBody>
      </p:sp>
      <p:sp>
        <p:nvSpPr>
          <p:cNvPr id="201" name="Oval 200"/>
          <p:cNvSpPr/>
          <p:nvPr/>
        </p:nvSpPr>
        <p:spPr>
          <a:xfrm>
            <a:off x="83331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83331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03" name="Oval 202"/>
          <p:cNvSpPr/>
          <p:nvPr/>
        </p:nvSpPr>
        <p:spPr>
          <a:xfrm>
            <a:off x="85236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85236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05" name="Oval 204"/>
          <p:cNvSpPr/>
          <p:nvPr/>
        </p:nvSpPr>
        <p:spPr>
          <a:xfrm>
            <a:off x="87141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87141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07" name="Oval 206"/>
          <p:cNvSpPr/>
          <p:nvPr/>
        </p:nvSpPr>
        <p:spPr>
          <a:xfrm>
            <a:off x="8904684"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8904684"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09" name="Oval 208"/>
          <p:cNvSpPr/>
          <p:nvPr/>
        </p:nvSpPr>
        <p:spPr>
          <a:xfrm>
            <a:off x="8428434"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84284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11" name="Oval 210"/>
          <p:cNvSpPr/>
          <p:nvPr/>
        </p:nvSpPr>
        <p:spPr>
          <a:xfrm>
            <a:off x="8618934"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86189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13" name="Oval 212"/>
          <p:cNvSpPr/>
          <p:nvPr/>
        </p:nvSpPr>
        <p:spPr>
          <a:xfrm>
            <a:off x="8809434"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809434"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15" name="TextBox 214"/>
          <p:cNvSpPr txBox="1"/>
          <p:nvPr/>
        </p:nvSpPr>
        <p:spPr>
          <a:xfrm>
            <a:off x="9396412"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G</a:t>
            </a:r>
          </a:p>
        </p:txBody>
      </p:sp>
      <p:cxnSp>
        <p:nvCxnSpPr>
          <p:cNvPr id="216" name="Connector 215"/>
          <p:cNvCxnSpPr/>
          <p:nvPr/>
        </p:nvCxnSpPr>
        <p:spPr>
          <a:xfrm>
            <a:off x="9811941"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17" name="TextBox 216"/>
          <p:cNvSpPr txBox="1"/>
          <p:nvPr/>
        </p:nvSpPr>
        <p:spPr>
          <a:xfrm>
            <a:off x="9396412"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G</a:t>
            </a:r>
          </a:p>
        </p:txBody>
      </p:sp>
      <p:sp>
        <p:nvSpPr>
          <p:cNvPr id="218" name="TextBox 217"/>
          <p:cNvSpPr txBox="1"/>
          <p:nvPr/>
        </p:nvSpPr>
        <p:spPr>
          <a:xfrm>
            <a:off x="9386888"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D4D7DA"/>
                </a:solidFill>
                <a:latin typeface="Calibri"/>
              </a:rPr>
              <a:t>✦ </a:t>
            </a:r>
            <a:r>
              <a:rPr sz="1300" b="0">
                <a:solidFill>
                  <a:srgbClr val="D4D7DA"/>
                </a:solidFill>
                <a:latin typeface="Calibri"/>
              </a:rPr>
              <a:t>✦ </a:t>
            </a:r>
          </a:p>
        </p:txBody>
      </p:sp>
      <p:sp>
        <p:nvSpPr>
          <p:cNvPr id="219" name="TextBox 218"/>
          <p:cNvSpPr txBox="1"/>
          <p:nvPr/>
        </p:nvSpPr>
        <p:spPr>
          <a:xfrm>
            <a:off x="9386888"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008189"/>
                </a:solidFill>
                <a:latin typeface="Calibri"/>
              </a:rPr>
              <a:t>✔ </a:t>
            </a:r>
            <a:r>
              <a:rPr sz="1000" b="1">
                <a:solidFill>
                  <a:srgbClr val="E44D3A"/>
                </a:solidFill>
                <a:latin typeface="Calibri"/>
              </a:rPr>
              <a:t>✘ </a:t>
            </a:r>
          </a:p>
        </p:txBody>
      </p:sp>
      <p:sp>
        <p:nvSpPr>
          <p:cNvPr id="220" name="Rectangle 219"/>
          <p:cNvSpPr/>
          <p:nvPr/>
        </p:nvSpPr>
        <p:spPr>
          <a:xfrm>
            <a:off x="9811941" y="2209800"/>
            <a:ext cx="114300" cy="11430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9983391" y="2209800"/>
            <a:ext cx="114300" cy="114300"/>
          </a:xfrm>
          <a:prstGeom prst="rect">
            <a:avLst/>
          </a:prstGeom>
          <a:solidFill>
            <a:srgbClr val="FFFFFF"/>
          </a:solidFill>
          <a:ln w="12700">
            <a:solidFill>
              <a:srgbClr val="79C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0154841"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9396412"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721.1</a:t>
            </a:r>
          </a:p>
        </p:txBody>
      </p:sp>
      <p:sp>
        <p:nvSpPr>
          <p:cNvPr id="224" name="TextBox 223"/>
          <p:cNvSpPr txBox="1"/>
          <p:nvPr/>
        </p:nvSpPr>
        <p:spPr>
          <a:xfrm>
            <a:off x="9396412"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126.5</a:t>
            </a:r>
          </a:p>
        </p:txBody>
      </p:sp>
      <p:sp>
        <p:nvSpPr>
          <p:cNvPr id="225" name="Oval 224"/>
          <p:cNvSpPr/>
          <p:nvPr/>
        </p:nvSpPr>
        <p:spPr>
          <a:xfrm>
            <a:off x="9792891"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Freeform 225"/>
          <p:cNvSpPr/>
          <p:nvPr/>
        </p:nvSpPr>
        <p:spPr>
          <a:xfrm>
            <a:off x="10039350" y="3409950"/>
            <a:ext cx="247650" cy="371475"/>
          </a:xfrm>
          <a:custGeom>
            <a:avLst/>
            <a:gdLst/>
            <a:ahLst/>
            <a:cxnLst/>
            <a:rect l="l" t="t" r="r" b="b"/>
            <a:pathLst>
              <a:path w="26" h="39">
                <a:moveTo>
                  <a:pt x="0" y="26"/>
                </a:moveTo>
                <a:lnTo>
                  <a:pt x="0" y="0"/>
                </a:lnTo>
                <a:lnTo>
                  <a:pt x="4" y="0"/>
                </a:lnTo>
                <a:lnTo>
                  <a:pt x="7" y="1"/>
                </a:lnTo>
                <a:lnTo>
                  <a:pt x="10" y="2"/>
                </a:lnTo>
                <a:lnTo>
                  <a:pt x="13" y="4"/>
                </a:lnTo>
                <a:lnTo>
                  <a:pt x="16" y="5"/>
                </a:lnTo>
                <a:lnTo>
                  <a:pt x="19" y="8"/>
                </a:lnTo>
                <a:lnTo>
                  <a:pt x="21" y="10"/>
                </a:lnTo>
                <a:lnTo>
                  <a:pt x="23" y="13"/>
                </a:lnTo>
                <a:lnTo>
                  <a:pt x="24" y="16"/>
                </a:lnTo>
                <a:lnTo>
                  <a:pt x="25" y="19"/>
                </a:lnTo>
                <a:lnTo>
                  <a:pt x="26" y="23"/>
                </a:lnTo>
                <a:lnTo>
                  <a:pt x="26" y="26"/>
                </a:lnTo>
                <a:lnTo>
                  <a:pt x="26" y="30"/>
                </a:lnTo>
                <a:lnTo>
                  <a:pt x="25" y="33"/>
                </a:lnTo>
                <a:lnTo>
                  <a:pt x="24" y="36"/>
                </a:lnTo>
                <a:lnTo>
                  <a:pt x="23" y="39"/>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9901857"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TextBox 227"/>
          <p:cNvSpPr txBox="1"/>
          <p:nvPr/>
        </p:nvSpPr>
        <p:spPr>
          <a:xfrm>
            <a:off x="9792891"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5.5%</a:t>
            </a:r>
          </a:p>
        </p:txBody>
      </p:sp>
      <p:sp>
        <p:nvSpPr>
          <p:cNvPr id="229" name="TextBox 228"/>
          <p:cNvSpPr txBox="1"/>
          <p:nvPr/>
        </p:nvSpPr>
        <p:spPr>
          <a:xfrm>
            <a:off x="9415462"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Middle East &amp; Africa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North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9AA3A8"/>
                </a:solidFill>
                <a:latin typeface="Calibri"/>
              </a:rPr>
              <a:t>▲</a:t>
            </a:r>
          </a:p>
        </p:txBody>
      </p:sp>
      <p:sp>
        <p:nvSpPr>
          <p:cNvPr id="230" name="Oval 229"/>
          <p:cNvSpPr/>
          <p:nvPr/>
        </p:nvSpPr>
        <p:spPr>
          <a:xfrm>
            <a:off x="96785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6785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32" name="Oval 231"/>
          <p:cNvSpPr/>
          <p:nvPr/>
        </p:nvSpPr>
        <p:spPr>
          <a:xfrm>
            <a:off x="98690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98690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34" name="Oval 233"/>
          <p:cNvSpPr/>
          <p:nvPr/>
        </p:nvSpPr>
        <p:spPr>
          <a:xfrm>
            <a:off x="10059591"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100595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36" name="Oval 235"/>
          <p:cNvSpPr/>
          <p:nvPr/>
        </p:nvSpPr>
        <p:spPr>
          <a:xfrm>
            <a:off x="10250091" y="545782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10250091"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38" name="Oval 237"/>
          <p:cNvSpPr/>
          <p:nvPr/>
        </p:nvSpPr>
        <p:spPr>
          <a:xfrm>
            <a:off x="9773841"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7738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40" name="Oval 239"/>
          <p:cNvSpPr/>
          <p:nvPr/>
        </p:nvSpPr>
        <p:spPr>
          <a:xfrm>
            <a:off x="9964341"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99643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42" name="Oval 241"/>
          <p:cNvSpPr/>
          <p:nvPr/>
        </p:nvSpPr>
        <p:spPr>
          <a:xfrm>
            <a:off x="10154841"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0154841"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44" name="TextBox 243"/>
          <p:cNvSpPr txBox="1"/>
          <p:nvPr/>
        </p:nvSpPr>
        <p:spPr>
          <a:xfrm>
            <a:off x="10741819" y="1047750"/>
            <a:ext cx="1288256" cy="323850"/>
          </a:xfrm>
          <a:prstGeom prst="rect">
            <a:avLst/>
          </a:prstGeom>
          <a:noFill/>
        </p:spPr>
        <p:txBody>
          <a:bodyPr wrap="square" lIns="9525" rIns="9525" tIns="9525" bIns="9525" anchor="ctr">
            <a:spAutoFit/>
          </a:bodyPr>
          <a:lstStyle/>
          <a:p>
            <a:pPr algn="ctr">
              <a:lnSpc>
                <a:spcPct val="95000"/>
              </a:lnSpc>
            </a:pPr>
            <a:r>
              <a:rPr sz="850" b="1">
                <a:solidFill>
                  <a:srgbClr val="2E2E2E"/>
                </a:solidFill>
                <a:latin typeface="Calibri"/>
              </a:rPr>
              <a:t>Company H</a:t>
            </a:r>
          </a:p>
        </p:txBody>
      </p:sp>
      <p:cxnSp>
        <p:nvCxnSpPr>
          <p:cNvPr id="245" name="Connector 244"/>
          <p:cNvCxnSpPr/>
          <p:nvPr/>
        </p:nvCxnSpPr>
        <p:spPr>
          <a:xfrm>
            <a:off x="11157347" y="1362075"/>
            <a:ext cx="457200" cy="0"/>
          </a:xfrm>
          <a:prstGeom prst="line">
            <a:avLst/>
          </a:prstGeom>
          <a:ln w="19050">
            <a:solidFill>
              <a:srgbClr val="0E72AE"/>
            </a:solidFill>
          </a:ln>
          <a:effectLst/>
        </p:spPr>
        <p:style>
          <a:lnRef idx="2">
            <a:schemeClr val="accent1"/>
          </a:lnRef>
          <a:fillRef idx="0">
            <a:schemeClr val="accent1"/>
          </a:fillRef>
          <a:effectRef idx="1">
            <a:schemeClr val="accent1"/>
          </a:effectRef>
          <a:fontRef idx="minor">
            <a:schemeClr val="tx1"/>
          </a:fontRef>
        </p:style>
      </p:cxnSp>
      <p:sp>
        <p:nvSpPr>
          <p:cNvPr id="246" name="TextBox 245"/>
          <p:cNvSpPr txBox="1"/>
          <p:nvPr/>
        </p:nvSpPr>
        <p:spPr>
          <a:xfrm>
            <a:off x="10741819" y="1390650"/>
            <a:ext cx="1288256" cy="285750"/>
          </a:xfrm>
          <a:prstGeom prst="rect">
            <a:avLst/>
          </a:prstGeom>
          <a:noFill/>
        </p:spPr>
        <p:txBody>
          <a:bodyPr wrap="square" lIns="28575" rIns="28575" tIns="9525" bIns="9525" anchor="ctr">
            <a:spAutoFit/>
          </a:bodyPr>
          <a:lstStyle/>
          <a:p>
            <a:pPr algn="ctr"/>
            <a:r>
              <a:rPr sz="750" b="0">
                <a:solidFill>
                  <a:srgbClr val="AFB4B9"/>
                </a:solidFill>
                <a:latin typeface="Calibri"/>
              </a:rPr>
              <a:t>Brand H</a:t>
            </a:r>
          </a:p>
        </p:txBody>
      </p:sp>
      <p:sp>
        <p:nvSpPr>
          <p:cNvPr id="247" name="TextBox 246"/>
          <p:cNvSpPr txBox="1"/>
          <p:nvPr/>
        </p:nvSpPr>
        <p:spPr>
          <a:xfrm>
            <a:off x="10732294" y="1714500"/>
            <a:ext cx="1307306" cy="209550"/>
          </a:xfrm>
          <a:prstGeom prst="rect">
            <a:avLst/>
          </a:prstGeom>
          <a:noFill/>
        </p:spPr>
        <p:txBody>
          <a:bodyPr wrap="square" lIns="0" rIns="0" tIns="0" bIns="0" anchor="ctr">
            <a:spAutoFit/>
          </a:bodyPr>
          <a:lstStyle/>
          <a:p>
            <a:pPr algn="ctr"/>
            <a:r>
              <a:rPr sz="1300" b="0">
                <a:solidFill>
                  <a:srgbClr val="0B2E4A"/>
                </a:solidFill>
                <a:latin typeface="Calibri"/>
              </a:rPr>
              <a:t>✦ </a:t>
            </a:r>
            <a:r>
              <a:rPr sz="1300" b="0">
                <a:solidFill>
                  <a:srgbClr val="69B1E0"/>
                </a:solidFill>
                <a:latin typeface="Calibri"/>
              </a:rPr>
              <a:t>✦ </a:t>
            </a:r>
            <a:r>
              <a:rPr sz="1300" b="0">
                <a:solidFill>
                  <a:srgbClr val="A86F00"/>
                </a:solidFill>
                <a:latin typeface="Calibri"/>
              </a:rPr>
              <a:t>✦ </a:t>
            </a:r>
            <a:r>
              <a:rPr sz="1300" b="0">
                <a:solidFill>
                  <a:srgbClr val="D4D7DA"/>
                </a:solidFill>
                <a:latin typeface="Calibri"/>
              </a:rPr>
              <a:t>✦ </a:t>
            </a:r>
          </a:p>
        </p:txBody>
      </p:sp>
      <p:sp>
        <p:nvSpPr>
          <p:cNvPr id="248" name="TextBox 247"/>
          <p:cNvSpPr txBox="1"/>
          <p:nvPr/>
        </p:nvSpPr>
        <p:spPr>
          <a:xfrm>
            <a:off x="10732294" y="1943100"/>
            <a:ext cx="1307306" cy="190500"/>
          </a:xfrm>
          <a:prstGeom prst="rect">
            <a:avLst/>
          </a:prstGeom>
          <a:noFill/>
        </p:spPr>
        <p:txBody>
          <a:bodyPr wrap="square" lIns="28575" rIns="28575" tIns="9525" bIns="9525" anchor="ctr">
            <a:spAutoFit/>
          </a:bodyPr>
          <a:lstStyle/>
          <a:p>
            <a:pPr algn="ctr"/>
            <a:r>
              <a:rPr sz="1000" b="1">
                <a:solidFill>
                  <a:srgbClr val="008189"/>
                </a:solidFill>
                <a:latin typeface="Calibri"/>
              </a:rPr>
              <a:t>✔ </a:t>
            </a:r>
            <a:r>
              <a:rPr sz="1000" b="1">
                <a:solidFill>
                  <a:srgbClr val="E44D3A"/>
                </a:solidFill>
                <a:latin typeface="Calibri"/>
              </a:rPr>
              <a:t>✘ </a:t>
            </a:r>
            <a:r>
              <a:rPr sz="1000" b="1">
                <a:solidFill>
                  <a:srgbClr val="008189"/>
                </a:solidFill>
                <a:latin typeface="Calibri"/>
              </a:rPr>
              <a:t>✔ </a:t>
            </a:r>
          </a:p>
        </p:txBody>
      </p:sp>
      <p:sp>
        <p:nvSpPr>
          <p:cNvPr id="249" name="Rectangle 248"/>
          <p:cNvSpPr/>
          <p:nvPr/>
        </p:nvSpPr>
        <p:spPr>
          <a:xfrm>
            <a:off x="11157347" y="2209800"/>
            <a:ext cx="114300" cy="114300"/>
          </a:xfrm>
          <a:prstGeom prst="rect">
            <a:avLst/>
          </a:prstGeom>
          <a:solidFill>
            <a:srgbClr val="FFFFFF"/>
          </a:solidFill>
          <a:ln w="12700">
            <a:solidFill>
              <a:srgbClr val="A86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1328797" y="2209800"/>
            <a:ext cx="114300" cy="114300"/>
          </a:xfrm>
          <a:prstGeom prst="rect">
            <a:avLst/>
          </a:prstGeom>
          <a:solidFill>
            <a:srgbClr val="79C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1500247" y="2209800"/>
            <a:ext cx="114300" cy="11430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741819" y="259080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468.5</a:t>
            </a:r>
          </a:p>
        </p:txBody>
      </p:sp>
      <p:sp>
        <p:nvSpPr>
          <p:cNvPr id="253" name="TextBox 252"/>
          <p:cNvSpPr txBox="1"/>
          <p:nvPr/>
        </p:nvSpPr>
        <p:spPr>
          <a:xfrm>
            <a:off x="10741819" y="2914650"/>
            <a:ext cx="1288256" cy="323850"/>
          </a:xfrm>
          <a:prstGeom prst="rect">
            <a:avLst/>
          </a:prstGeom>
          <a:noFill/>
        </p:spPr>
        <p:txBody>
          <a:bodyPr wrap="square" lIns="28575" rIns="28575" tIns="9525" bIns="9525" anchor="ctr">
            <a:spAutoFit/>
          </a:bodyPr>
          <a:lstStyle/>
          <a:p>
            <a:pPr algn="ctr"/>
            <a:r>
              <a:rPr sz="850" b="0">
                <a:solidFill>
                  <a:srgbClr val="2E2E2E"/>
                </a:solidFill>
                <a:latin typeface="Calibri"/>
              </a:rPr>
              <a:t>76.2</a:t>
            </a:r>
          </a:p>
        </p:txBody>
      </p:sp>
      <p:sp>
        <p:nvSpPr>
          <p:cNvPr id="254" name="Oval 253"/>
          <p:cNvSpPr/>
          <p:nvPr/>
        </p:nvSpPr>
        <p:spPr>
          <a:xfrm>
            <a:off x="11138297" y="3409950"/>
            <a:ext cx="495300" cy="495300"/>
          </a:xfrm>
          <a:prstGeom prst="ellipse">
            <a:avLst/>
          </a:prstGeom>
          <a:solidFill>
            <a:srgbClr val="E4E9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Freeform 254"/>
          <p:cNvSpPr/>
          <p:nvPr/>
        </p:nvSpPr>
        <p:spPr>
          <a:xfrm>
            <a:off x="11382375" y="3409950"/>
            <a:ext cx="238125" cy="247650"/>
          </a:xfrm>
          <a:custGeom>
            <a:avLst/>
            <a:gdLst/>
            <a:ahLst/>
            <a:cxnLst/>
            <a:rect l="l" t="t" r="r" b="b"/>
            <a:pathLst>
              <a:path w="25" h="26">
                <a:moveTo>
                  <a:pt x="0" y="26"/>
                </a:moveTo>
                <a:lnTo>
                  <a:pt x="0" y="0"/>
                </a:lnTo>
                <a:lnTo>
                  <a:pt x="4" y="0"/>
                </a:lnTo>
                <a:lnTo>
                  <a:pt x="8" y="1"/>
                </a:lnTo>
                <a:lnTo>
                  <a:pt x="11" y="2"/>
                </a:lnTo>
                <a:lnTo>
                  <a:pt x="14" y="4"/>
                </a:lnTo>
                <a:lnTo>
                  <a:pt x="17" y="6"/>
                </a:lnTo>
                <a:lnTo>
                  <a:pt x="20" y="9"/>
                </a:lnTo>
                <a:lnTo>
                  <a:pt x="22" y="12"/>
                </a:lnTo>
                <a:lnTo>
                  <a:pt x="24" y="15"/>
                </a:lnTo>
                <a:lnTo>
                  <a:pt x="25" y="18"/>
                </a:lnTo>
                <a:close/>
              </a:path>
            </a:pathLst>
          </a:cu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11247263" y="3518916"/>
            <a:ext cx="277368" cy="2773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1138297" y="3590925"/>
            <a:ext cx="495300" cy="133350"/>
          </a:xfrm>
          <a:prstGeom prst="rect">
            <a:avLst/>
          </a:prstGeom>
          <a:noFill/>
        </p:spPr>
        <p:txBody>
          <a:bodyPr wrap="none" lIns="0" rIns="0" tIns="0" bIns="0" anchor="ctr">
            <a:spAutoFit/>
          </a:bodyPr>
          <a:lstStyle/>
          <a:p>
            <a:pPr algn="ctr"/>
            <a:r>
              <a:rPr sz="750" b="1">
                <a:solidFill>
                  <a:srgbClr val="0B2E4A"/>
                </a:solidFill>
                <a:latin typeface="Calibri"/>
              </a:rPr>
              <a:t>3.3%</a:t>
            </a:r>
          </a:p>
        </p:txBody>
      </p:sp>
      <p:sp>
        <p:nvSpPr>
          <p:cNvPr id="258" name="TextBox 257"/>
          <p:cNvSpPr txBox="1"/>
          <p:nvPr/>
        </p:nvSpPr>
        <p:spPr>
          <a:xfrm>
            <a:off x="10760869" y="4152900"/>
            <a:ext cx="1259681" cy="876300"/>
          </a:xfrm>
          <a:prstGeom prst="rect">
            <a:avLst/>
          </a:prstGeom>
          <a:noFill/>
        </p:spPr>
        <p:txBody>
          <a:bodyPr wrap="square" lIns="28575" rIns="28575" tIns="9525" bIns="9525" anchor="ctr">
            <a:spAutoFit/>
          </a:bodyPr>
          <a:lstStyle/>
          <a:p>
            <a:pPr algn="l">
              <a:lnSpc>
                <a:spcPct val="100000"/>
              </a:lnSpc>
              <a:spcBef>
                <a:spcPts val="0"/>
              </a:spcBef>
              <a:spcAft>
                <a:spcPts val="300"/>
              </a:spcAft>
            </a:pPr>
            <a:r>
              <a:rPr sz="750" b="0">
                <a:solidFill>
                  <a:srgbClr val="2E2E2E"/>
                </a:solidFill>
                <a:latin typeface="Calibri"/>
              </a:rPr>
              <a:t>North America  </a:t>
            </a:r>
            <a:r>
              <a:rPr sz="850" b="1">
                <a:solidFill>
                  <a:srgbClr val="0E72AE"/>
                </a:solidFill>
                <a:latin typeface="Calibri"/>
              </a:rPr>
              <a:t>▲</a:t>
            </a:r>
          </a:p>
          <a:p>
            <a:pPr algn="l">
              <a:lnSpc>
                <a:spcPct val="100000"/>
              </a:lnSpc>
              <a:spcBef>
                <a:spcPts val="0"/>
              </a:spcBef>
              <a:spcAft>
                <a:spcPts val="300"/>
              </a:spcAft>
            </a:pPr>
            <a:r>
              <a:rPr sz="750" b="0">
                <a:solidFill>
                  <a:srgbClr val="2E2E2E"/>
                </a:solidFill>
                <a:latin typeface="Calibri"/>
              </a:rPr>
              <a:t>Latin America  </a:t>
            </a:r>
            <a:r>
              <a:rPr sz="850" b="1">
                <a:solidFill>
                  <a:srgbClr val="A86F00"/>
                </a:solidFill>
                <a:latin typeface="Calibri"/>
              </a:rPr>
              <a:t>▲</a:t>
            </a:r>
          </a:p>
          <a:p>
            <a:pPr algn="l">
              <a:lnSpc>
                <a:spcPct val="100000"/>
              </a:lnSpc>
              <a:spcBef>
                <a:spcPts val="0"/>
              </a:spcBef>
              <a:spcAft>
                <a:spcPts val="300"/>
              </a:spcAft>
            </a:pPr>
            <a:r>
              <a:rPr sz="750" b="0">
                <a:solidFill>
                  <a:srgbClr val="2E2E2E"/>
                </a:solidFill>
                <a:latin typeface="Calibri"/>
              </a:rPr>
              <a:t>Western Europe  </a:t>
            </a:r>
            <a:r>
              <a:rPr sz="850" b="1">
                <a:solidFill>
                  <a:srgbClr val="9AA3A8"/>
                </a:solidFill>
                <a:latin typeface="Calibri"/>
              </a:rPr>
              <a:t>▲</a:t>
            </a:r>
          </a:p>
        </p:txBody>
      </p:sp>
      <p:sp>
        <p:nvSpPr>
          <p:cNvPr id="259" name="Oval 258"/>
          <p:cNvSpPr/>
          <p:nvPr/>
        </p:nvSpPr>
        <p:spPr>
          <a:xfrm>
            <a:off x="110239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10239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61" name="Oval 260"/>
          <p:cNvSpPr/>
          <p:nvPr/>
        </p:nvSpPr>
        <p:spPr>
          <a:xfrm>
            <a:off x="112144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12144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63" name="Oval 262"/>
          <p:cNvSpPr/>
          <p:nvPr/>
        </p:nvSpPr>
        <p:spPr>
          <a:xfrm>
            <a:off x="114049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114049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65" name="Oval 264"/>
          <p:cNvSpPr/>
          <p:nvPr/>
        </p:nvSpPr>
        <p:spPr>
          <a:xfrm>
            <a:off x="11595497" y="545782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11595497" y="5457825"/>
            <a:ext cx="152400" cy="152400"/>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67" name="Oval 266"/>
          <p:cNvSpPr/>
          <p:nvPr/>
        </p:nvSpPr>
        <p:spPr>
          <a:xfrm>
            <a:off x="11119247"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111192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69" name="Oval 268"/>
          <p:cNvSpPr/>
          <p:nvPr/>
        </p:nvSpPr>
        <p:spPr>
          <a:xfrm>
            <a:off x="11309747" y="5667375"/>
            <a:ext cx="152400" cy="152400"/>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113097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71" name="Oval 270"/>
          <p:cNvSpPr/>
          <p:nvPr/>
        </p:nvSpPr>
        <p:spPr>
          <a:xfrm>
            <a:off x="11500247" y="5667375"/>
            <a:ext cx="152400" cy="152400"/>
          </a:xfrm>
          <a:prstGeom prst="ellipse">
            <a:avLst/>
          </a:prstGeom>
          <a:solidFill>
            <a:srgbClr val="C9CD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TextBox 271"/>
          <p:cNvSpPr txBox="1"/>
          <p:nvPr/>
        </p:nvSpPr>
        <p:spPr>
          <a:xfrm>
            <a:off x="11500247" y="5667375"/>
            <a:ext cx="152400" cy="152400"/>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73" name="Oval 272"/>
          <p:cNvSpPr/>
          <p:nvPr/>
        </p:nvSpPr>
        <p:spPr>
          <a:xfrm>
            <a:off x="28575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28575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E</a:t>
            </a:r>
          </a:p>
        </p:txBody>
      </p:sp>
      <p:sp>
        <p:nvSpPr>
          <p:cNvPr id="275" name="TextBox 274"/>
          <p:cNvSpPr txBox="1"/>
          <p:nvPr/>
        </p:nvSpPr>
        <p:spPr>
          <a:xfrm>
            <a:off x="44767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Expansion</a:t>
            </a:r>
          </a:p>
        </p:txBody>
      </p:sp>
      <p:sp>
        <p:nvSpPr>
          <p:cNvPr id="276" name="Oval 275"/>
          <p:cNvSpPr/>
          <p:nvPr/>
        </p:nvSpPr>
        <p:spPr>
          <a:xfrm>
            <a:off x="100488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00488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I</a:t>
            </a:r>
          </a:p>
        </p:txBody>
      </p:sp>
      <p:sp>
        <p:nvSpPr>
          <p:cNvPr id="278" name="TextBox 277"/>
          <p:cNvSpPr txBox="1"/>
          <p:nvPr/>
        </p:nvSpPr>
        <p:spPr>
          <a:xfrm>
            <a:off x="116681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R&amp;D Investment</a:t>
            </a:r>
          </a:p>
        </p:txBody>
      </p:sp>
      <p:sp>
        <p:nvSpPr>
          <p:cNvPr id="279" name="Oval 278"/>
          <p:cNvSpPr/>
          <p:nvPr/>
        </p:nvSpPr>
        <p:spPr>
          <a:xfrm>
            <a:off x="193833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TextBox 279"/>
          <p:cNvSpPr txBox="1"/>
          <p:nvPr/>
        </p:nvSpPr>
        <p:spPr>
          <a:xfrm>
            <a:off x="193833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F</a:t>
            </a:r>
          </a:p>
        </p:txBody>
      </p:sp>
      <p:sp>
        <p:nvSpPr>
          <p:cNvPr id="281" name="TextBox 280"/>
          <p:cNvSpPr txBox="1"/>
          <p:nvPr/>
        </p:nvSpPr>
        <p:spPr>
          <a:xfrm>
            <a:off x="210026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Financial Aid</a:t>
            </a:r>
          </a:p>
        </p:txBody>
      </p:sp>
      <p:sp>
        <p:nvSpPr>
          <p:cNvPr id="282" name="Oval 281"/>
          <p:cNvSpPr/>
          <p:nvPr/>
        </p:nvSpPr>
        <p:spPr>
          <a:xfrm>
            <a:off x="2828925"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TextBox 282"/>
          <p:cNvSpPr txBox="1"/>
          <p:nvPr/>
        </p:nvSpPr>
        <p:spPr>
          <a:xfrm>
            <a:off x="2828925"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P</a:t>
            </a:r>
          </a:p>
        </p:txBody>
      </p:sp>
      <p:sp>
        <p:nvSpPr>
          <p:cNvPr id="284" name="TextBox 283"/>
          <p:cNvSpPr txBox="1"/>
          <p:nvPr/>
        </p:nvSpPr>
        <p:spPr>
          <a:xfrm>
            <a:off x="2990850"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Product Development</a:t>
            </a:r>
          </a:p>
        </p:txBody>
      </p:sp>
      <p:sp>
        <p:nvSpPr>
          <p:cNvPr id="285" name="Oval 284"/>
          <p:cNvSpPr/>
          <p:nvPr/>
        </p:nvSpPr>
        <p:spPr>
          <a:xfrm>
            <a:off x="3976688"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3976688"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A</a:t>
            </a:r>
          </a:p>
        </p:txBody>
      </p:sp>
      <p:sp>
        <p:nvSpPr>
          <p:cNvPr id="287" name="TextBox 286"/>
          <p:cNvSpPr txBox="1"/>
          <p:nvPr/>
        </p:nvSpPr>
        <p:spPr>
          <a:xfrm>
            <a:off x="4138612"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Acquisition</a:t>
            </a:r>
          </a:p>
        </p:txBody>
      </p:sp>
      <p:sp>
        <p:nvSpPr>
          <p:cNvPr id="288" name="Oval 287"/>
          <p:cNvSpPr/>
          <p:nvPr/>
        </p:nvSpPr>
        <p:spPr>
          <a:xfrm>
            <a:off x="478155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Box 288"/>
          <p:cNvSpPr txBox="1"/>
          <p:nvPr/>
        </p:nvSpPr>
        <p:spPr>
          <a:xfrm>
            <a:off x="478155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L</a:t>
            </a:r>
          </a:p>
        </p:txBody>
      </p:sp>
      <p:sp>
        <p:nvSpPr>
          <p:cNvPr id="290" name="TextBox 289"/>
          <p:cNvSpPr txBox="1"/>
          <p:nvPr/>
        </p:nvSpPr>
        <p:spPr>
          <a:xfrm>
            <a:off x="494347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Product Launch</a:t>
            </a:r>
          </a:p>
        </p:txBody>
      </p:sp>
      <p:sp>
        <p:nvSpPr>
          <p:cNvPr id="291" name="Oval 290"/>
          <p:cNvSpPr/>
          <p:nvPr/>
        </p:nvSpPr>
        <p:spPr>
          <a:xfrm>
            <a:off x="5715000" y="6248400"/>
            <a:ext cx="142875" cy="142875"/>
          </a:xfrm>
          <a:prstGeom prst="ellipse">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5715000" y="6248400"/>
            <a:ext cx="142875" cy="142875"/>
          </a:xfrm>
          <a:prstGeom prst="rect">
            <a:avLst/>
          </a:prstGeom>
          <a:noFill/>
        </p:spPr>
        <p:txBody>
          <a:bodyPr wrap="none" lIns="0" rIns="0" tIns="0" bIns="0" anchor="ctr">
            <a:spAutoFit/>
          </a:bodyPr>
          <a:lstStyle/>
          <a:p>
            <a:pPr algn="ctr"/>
            <a:r>
              <a:rPr sz="700" b="1">
                <a:solidFill>
                  <a:srgbClr val="FFFFFF"/>
                </a:solidFill>
                <a:latin typeface="Calibri"/>
              </a:rPr>
              <a:t>C</a:t>
            </a:r>
          </a:p>
        </p:txBody>
      </p:sp>
      <p:sp>
        <p:nvSpPr>
          <p:cNvPr id="293" name="TextBox 292"/>
          <p:cNvSpPr txBox="1"/>
          <p:nvPr/>
        </p:nvSpPr>
        <p:spPr>
          <a:xfrm>
            <a:off x="5876925" y="6238875"/>
            <a:ext cx="1238250" cy="161925"/>
          </a:xfrm>
          <a:prstGeom prst="rect">
            <a:avLst/>
          </a:prstGeom>
          <a:noFill/>
        </p:spPr>
        <p:txBody>
          <a:bodyPr wrap="square" lIns="0" rIns="0" tIns="0" bIns="0" anchor="ctr">
            <a:spAutoFit/>
          </a:bodyPr>
          <a:lstStyle/>
          <a:p>
            <a:pPr algn="l"/>
            <a:r>
              <a:rPr sz="750" b="0">
                <a:solidFill>
                  <a:srgbClr val="2E2E2E"/>
                </a:solidFill>
                <a:latin typeface="Calibri"/>
              </a:rPr>
              <a:t>Certification</a:t>
            </a:r>
          </a:p>
        </p:txBody>
      </p:sp>
      <p:sp>
        <p:nvSpPr>
          <p:cNvPr id="294" name="TextBox 293"/>
          <p:cNvSpPr txBox="1"/>
          <p:nvPr/>
        </p:nvSpPr>
        <p:spPr>
          <a:xfrm>
            <a:off x="285750" y="6419850"/>
            <a:ext cx="11239500" cy="104775"/>
          </a:xfrm>
          <a:prstGeom prst="rect">
            <a:avLst/>
          </a:prstGeom>
          <a:noFill/>
        </p:spPr>
        <p:txBody>
          <a:bodyPr wrap="square" lIns="0" rIns="0" tIns="0" bIns="0">
            <a:spAutoFit/>
          </a:bodyPr>
          <a:lstStyle/>
          <a:p>
            <a:pPr algn="l"/>
            <a:r>
              <a:rPr sz="700" b="1">
                <a:solidFill>
                  <a:srgbClr val="A35313"/>
                </a:solidFill>
                <a:latin typeface="Calibri"/>
              </a:rPr>
              <a:t>Note: Market Share indicates the contribution of target revenue in Market</a:t>
            </a:r>
          </a:p>
        </p:txBody>
      </p:sp>
      <p:sp>
        <p:nvSpPr>
          <p:cNvPr id="295" name="TextBox 294"/>
          <p:cNvSpPr txBox="1"/>
          <p:nvPr/>
        </p:nvSpPr>
        <p:spPr>
          <a:xfrm>
            <a:off x="285750" y="6524625"/>
            <a:ext cx="11239500" cy="104775"/>
          </a:xfrm>
          <a:prstGeom prst="rect">
            <a:avLst/>
          </a:prstGeom>
          <a:noFill/>
        </p:spPr>
        <p:txBody>
          <a:bodyPr wrap="square" lIns="0" rIns="0" tIns="0" bIns="0">
            <a:spAutoFit/>
          </a:bodyPr>
          <a:lstStyle/>
          <a:p>
            <a:pPr algn="l"/>
            <a:r>
              <a:rPr sz="700" b="1">
                <a:solidFill>
                  <a:srgbClr val="A35313"/>
                </a:solidFill>
                <a:latin typeface="Calibri"/>
              </a:rPr>
              <a:t>Revenue represents sales of the company from target market</a:t>
            </a:r>
          </a:p>
        </p:txBody>
      </p:sp>
      <p:sp>
        <p:nvSpPr>
          <p:cNvPr id="296" name="TextBox 295"/>
          <p:cNvSpPr txBox="1"/>
          <p:nvPr/>
        </p:nvSpPr>
        <p:spPr>
          <a:xfrm>
            <a:off x="285750" y="6629400"/>
            <a:ext cx="11239500" cy="104775"/>
          </a:xfrm>
          <a:prstGeom prst="rect">
            <a:avLst/>
          </a:prstGeom>
          <a:noFill/>
        </p:spPr>
        <p:txBody>
          <a:bodyPr wrap="square" lIns="0" rIns="0" tIns="0" bIns="0">
            <a:spAutoFit/>
          </a:bodyPr>
          <a:lstStyle/>
          <a:p>
            <a:pPr algn="l"/>
            <a:r>
              <a:rPr sz="700" b="1">
                <a:solidFill>
                  <a:srgbClr val="A35313"/>
                </a:solidFill>
                <a:latin typeface="Calibri"/>
              </a:rPr>
              <a:t>Note: competitor figures are indicative derived from market modelling and expert validation, not company disclosures.</a:t>
            </a:r>
          </a:p>
        </p:txBody>
      </p:sp>
      <p:sp>
        <p:nvSpPr>
          <p:cNvPr id="297" name="Rectangle 296"/>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99" name="Rounded Rectangle 298">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0" name="Rounded Rectangle 299">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01" name="Rounded Rectangle 300">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228600"/>
            <a:ext cx="7239000" cy="582930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mi_logo_fmi.png"/>
          <p:cNvPicPr>
            <a:picLocks noChangeAspect="1"/>
          </p:cNvPicPr>
          <p:nvPr/>
        </p:nvPicPr>
        <p:blipFill>
          <a:blip r:embed="rId2"/>
          <a:stretch>
            <a:fillRect/>
          </a:stretch>
        </p:blipFill>
        <p:spPr>
          <a:xfrm>
            <a:off x="266700" y="266700"/>
            <a:ext cx="478775" cy="266700"/>
          </a:xfrm>
          <a:prstGeom prst="rect">
            <a:avLst/>
          </a:prstGeom>
        </p:spPr>
      </p:pic>
      <p:sp>
        <p:nvSpPr>
          <p:cNvPr id="6" name="TextBox 5"/>
          <p:cNvSpPr txBox="1"/>
          <p:nvPr/>
        </p:nvSpPr>
        <p:spPr>
          <a:xfrm>
            <a:off x="1219200" y="2114550"/>
            <a:ext cx="6667500" cy="209550"/>
          </a:xfrm>
          <a:prstGeom prst="rect">
            <a:avLst/>
          </a:prstGeom>
          <a:noFill/>
        </p:spPr>
        <p:txBody>
          <a:bodyPr wrap="square" lIns="0" rIns="19050" tIns="0" bIns="0">
            <a:spAutoFit/>
          </a:bodyPr>
          <a:lstStyle/>
          <a:p>
            <a:pPr algn="l"/>
            <a:r>
              <a:rPr sz="1250" b="1">
                <a:solidFill>
                  <a:srgbClr val="0E72AE"/>
                </a:solidFill>
                <a:latin typeface="Calibri"/>
              </a:rPr>
              <a:t>Capillary Blood Collection Devices Market Competitor</a:t>
            </a:r>
          </a:p>
        </p:txBody>
      </p:sp>
      <p:sp>
        <p:nvSpPr>
          <p:cNvPr id="7" name="TextBox 6"/>
          <p:cNvSpPr txBox="1"/>
          <p:nvPr/>
        </p:nvSpPr>
        <p:spPr>
          <a:xfrm>
            <a:off x="1219200" y="2362200"/>
            <a:ext cx="6667500" cy="371475"/>
          </a:xfrm>
          <a:prstGeom prst="rect">
            <a:avLst/>
          </a:prstGeom>
          <a:noFill/>
        </p:spPr>
        <p:txBody>
          <a:bodyPr wrap="square" lIns="0" rIns="19050" tIns="0" bIns="0" anchor="t">
            <a:spAutoFit/>
          </a:bodyPr>
          <a:lstStyle/>
          <a:p>
            <a:pPr algn="l">
              <a:lnSpc>
                <a:spcPct val="102000"/>
              </a:lnSpc>
            </a:pPr>
            <a:r>
              <a:rPr sz="2500" b="1">
                <a:solidFill>
                  <a:srgbClr val="0B2E4A"/>
                </a:solidFill>
                <a:latin typeface="Calibri"/>
              </a:rPr>
              <a:t>Company Profiles &amp; Strategic Benchmarking</a:t>
            </a:r>
          </a:p>
        </p:txBody>
      </p:sp>
      <p:sp>
        <p:nvSpPr>
          <p:cNvPr id="8" name="TextBox 7"/>
          <p:cNvSpPr txBox="1"/>
          <p:nvPr/>
        </p:nvSpPr>
        <p:spPr>
          <a:xfrm>
            <a:off x="1219200" y="2886075"/>
            <a:ext cx="6667500" cy="1362075"/>
          </a:xfrm>
          <a:prstGeom prst="rect">
            <a:avLst/>
          </a:prstGeom>
          <a:noFill/>
        </p:spPr>
        <p:txBody>
          <a:bodyPr wrap="square" lIns="28575" rIns="28575" tIns="9525" bIns="9525">
            <a:spAutoFit/>
          </a:bodyPr>
          <a:lstStyle/>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Snapshot</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Penetration &amp; Win</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SWOT Analysis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Key Financials</a:t>
            </a:r>
          </a:p>
          <a:p>
            <a:pPr algn="l">
              <a:lnSpc>
                <a:spcPct val="110000"/>
              </a:lnSpc>
              <a:spcBef>
                <a:spcPts val="0"/>
              </a:spcBef>
              <a:spcAft>
                <a:spcPts val="800"/>
              </a:spcAft>
            </a:pPr>
            <a:r>
              <a:rPr sz="1200" b="1">
                <a:solidFill>
                  <a:srgbClr val="A86F00"/>
                </a:solidFill>
                <a:latin typeface="Calibri"/>
              </a:rPr>
              <a:t>➤  </a:t>
            </a:r>
            <a:r>
              <a:rPr sz="1250" b="0">
                <a:solidFill>
                  <a:srgbClr val="2E2E2E"/>
                </a:solidFill>
                <a:latin typeface="Calibri"/>
              </a:rPr>
              <a:t>Company A Strategy Analysis</a:t>
            </a:r>
          </a:p>
        </p:txBody>
      </p:sp>
      <p:sp>
        <p:nvSpPr>
          <p:cNvPr id="9" name="Rectangle 8"/>
          <p:cNvSpPr/>
          <p:nvPr/>
        </p:nvSpPr>
        <p:spPr>
          <a:xfrm>
            <a:off x="381000" y="6172200"/>
            <a:ext cx="11430000" cy="438150"/>
          </a:xfrm>
          <a:prstGeom prst="rect">
            <a:avLst/>
          </a:prstGeom>
          <a:solidFill>
            <a:srgbClr val="EE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66700" rIns="76200" tIns="19050" bIns="19050"/>
          <a:lstStyle/>
          <a:p>
            <a:pPr algn="l"/>
            <a:r>
              <a:rPr sz="1500" b="1">
                <a:solidFill>
                  <a:srgbClr val="0B2E4A"/>
                </a:solidFill>
                <a:latin typeface="Calibri"/>
              </a:rPr>
              <a:t>Section 23</a:t>
            </a:r>
          </a:p>
        </p:txBody>
      </p:sp>
      <p:sp>
        <p:nvSpPr>
          <p:cNvPr id="10" name="Rectangle 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12" name="Rounded Rectangle 11">
            <a:hlinkClick action="ppaction://hlinksldjump" r:id="rId3"/>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3" name="Rounded Rectangle 12">
            <a:hlinkClick action="ppaction://hlinksldjump" r:id="rId4"/>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14" name="Rounded Rectangle 13">
            <a:hlinkClick action="ppaction://hlinksldjump" r:id="rId5"/>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A Executive Market Snapshot (1/5)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total market, addressable opportunity and share of market by end-market, region and product</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A: market, addressable opportunity and SOM splits by end-market, region and product.</a:t>
            </a:r>
          </a:p>
        </p:txBody>
      </p:sp>
      <p:sp>
        <p:nvSpPr>
          <p:cNvPr id="12" name="Rounded Rectangle 11"/>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4,933</a:t>
            </a:r>
          </a:p>
          <a:p>
            <a:pPr algn="ctr"/>
            <a:r>
              <a:rPr sz="750" b="0">
                <a:solidFill>
                  <a:srgbClr val="6C7A89"/>
                </a:solidFill>
                <a:latin typeface="Calibri"/>
              </a:rPr>
              <a:t>Total market</a:t>
            </a:r>
          </a:p>
        </p:txBody>
      </p:sp>
      <p:sp>
        <p:nvSpPr>
          <p:cNvPr id="13" name="Rounded Rectangle 12"/>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2,565</a:t>
            </a:r>
          </a:p>
          <a:p>
            <a:pPr algn="ctr"/>
            <a:r>
              <a:rPr sz="750" b="0">
                <a:solidFill>
                  <a:srgbClr val="6C7A89"/>
                </a:solidFill>
                <a:latin typeface="Calibri"/>
              </a:rPr>
              <a:t>Addressable</a:t>
            </a:r>
          </a:p>
        </p:txBody>
      </p:sp>
      <p:sp>
        <p:nvSpPr>
          <p:cNvPr id="14" name="Rounded Rectangle 13"/>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809.3</a:t>
            </a:r>
          </a:p>
          <a:p>
            <a:pPr algn="ctr"/>
            <a:r>
              <a:rPr sz="750" b="0">
                <a:solidFill>
                  <a:srgbClr val="6C7A89"/>
                </a:solidFill>
                <a:latin typeface="Calibri"/>
              </a:rPr>
              <a:t>32% of SAM</a:t>
            </a:r>
          </a:p>
        </p:txBody>
      </p:sp>
      <p:sp>
        <p:nvSpPr>
          <p:cNvPr id="15" name="Rounded Rectangle 14"/>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1.00</a:t>
            </a:r>
          </a:p>
          <a:p>
            <a:pPr algn="ctr"/>
            <a:r>
              <a:rPr sz="750" b="0">
                <a:solidFill>
                  <a:srgbClr val="6C7A89"/>
                </a:solidFill>
                <a:latin typeface="Calibri"/>
              </a:rPr>
              <a:t>Order momentum</a:t>
            </a:r>
          </a:p>
        </p:txBody>
      </p:sp>
      <p:sp>
        <p:nvSpPr>
          <p:cNvPr id="16" name="Rounded Rectangle 15"/>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12%</a:t>
            </a:r>
          </a:p>
          <a:p>
            <a:pPr algn="ctr"/>
            <a:r>
              <a:rPr sz="750" b="0">
                <a:solidFill>
                  <a:srgbClr val="6C7A89"/>
                </a:solidFill>
                <a:latin typeface="Calibri"/>
              </a:rPr>
              <a:t>Profitability</a:t>
            </a:r>
          </a:p>
        </p:txBody>
      </p:sp>
      <p:sp>
        <p:nvSpPr>
          <p:cNvPr id="17" name="Rounded Rectangle 16"/>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9" name="Chart 18"/>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20" name="Rounded Rectangle 19"/>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2" name="Chart 21"/>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3" name="Rounded Rectangle 22"/>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5" name="Chart 24"/>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6" name="Rounded Rectangle 25"/>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8" name="Rectangle 27"/>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A captures ~32% of a US$ Mn SAM, with its strongest end-market in 'Infectious Disease Testing'.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'Middle East &amp; Africa' is the largest SOM region; 'South Asia Pacific' shows the highest SAM penetration (~67%).</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1.00 book-to-bill and ~12%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~18% win rate with a +6% ASP premium and 2.9x pipeline coverage.</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A Regional Penetration &amp; Win Position (2/5)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Regional penetration and competitive positioning highlighting growth potential, win rates and sales efficiency</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A: SOM vs SAM by region, win position, TAM/SAM/SOM and go-to-market benchmarks.</a:t>
            </a:r>
          </a:p>
        </p:txBody>
      </p:sp>
      <p:sp>
        <p:nvSpPr>
          <p:cNvPr id="12" name="Rounded Rectangle 11"/>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4" name="Chart 13"/>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5" name="Rounded Rectangle 14"/>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7" name="Connector 16"/>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20" name="TextBox 19"/>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1" name="TextBox 20"/>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2" name="TextBox 21"/>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3" name="TextBox 22"/>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4" name="TextBox 23"/>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5" name="Oval 24"/>
          <p:cNvSpPr/>
          <p:nvPr/>
        </p:nvSpPr>
        <p:spPr>
          <a:xfrm>
            <a:off x="7359287"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45037"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A</a:t>
            </a:r>
          </a:p>
        </p:txBody>
      </p:sp>
      <p:sp>
        <p:nvSpPr>
          <p:cNvPr id="27" name="Oval 26"/>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9" name="Oval 28"/>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1" name="Rounded Rectangle 30"/>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3" name="Rectangle 32"/>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4,933 US$ Mn</a:t>
            </a:r>
          </a:p>
        </p:txBody>
      </p:sp>
      <p:sp>
        <p:nvSpPr>
          <p:cNvPr id="34" name="Rectangle 33"/>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52% of TAM  ·  2,565 US$ Mn</a:t>
            </a:r>
          </a:p>
        </p:txBody>
      </p:sp>
      <p:sp>
        <p:nvSpPr>
          <p:cNvPr id="35" name="Rectangle 34"/>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32% of SAM  ·  809.3 US$ Mn</a:t>
            </a:r>
          </a:p>
        </p:txBody>
      </p:sp>
      <p:sp>
        <p:nvSpPr>
          <p:cNvPr id="36" name="Rounded Rectangle 35"/>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8" name="Rectangle 37"/>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40" name="Rectangle 39"/>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2" name="TextBox 41"/>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3" name="Rectangle 42"/>
          <p:cNvSpPr/>
          <p:nvPr/>
        </p:nvSpPr>
        <p:spPr>
          <a:xfrm>
            <a:off x="7381875" y="4134485"/>
            <a:ext cx="1597914"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81875" y="4254500"/>
            <a:ext cx="3018282"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6" name="Rectangle 45"/>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9" name="Rectangle 48"/>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81875" y="4927600"/>
            <a:ext cx="3906012"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3" name="Rectangle 52"/>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'South Asia Pacific'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~18% win rate with a +6% ASP premium signals value recognition; 2.9x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~95-day sales cycle and ~30% conversion support faster share capture.</a:t>
            </a:r>
          </a:p>
        </p:txBody>
      </p:sp>
      <p:sp>
        <p:nvSpPr>
          <p:cNvPr id="55" name="Rectangle 5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7" name="Rounded Rectangle 56">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9" name="Rounded Rectangle 58">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A SWOT Analysis (3/5)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SWOT assessment of Company A: strengths, weaknesses, opportunities and threats shaping its competitive position</a:t>
            </a:r>
          </a:p>
        </p:txBody>
      </p:sp>
      <p:sp>
        <p:nvSpPr>
          <p:cNvPr id="11" name="TextBox 10"/>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A: strengths, weaknesses, opportunities and threats (indicative).</a:t>
            </a:r>
          </a:p>
        </p:txBody>
      </p:sp>
      <p:cxnSp>
        <p:nvCxnSpPr>
          <p:cNvPr id="12" name="Connector 11"/>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7" name="TextBox 26"/>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8" name="TextBox 27"/>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9" name="TextBox 28"/>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30" name="TextBox 29"/>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1" name="Rectangle 30"/>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~18% win rate with a +6% ASP premium clear value recognition.</a:t>
            </a:r>
          </a:p>
        </p:txBody>
      </p:sp>
      <p:sp>
        <p:nvSpPr>
          <p:cNvPr id="34" name="Oval 33"/>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'Middle East &amp; Africa'.</a:t>
            </a:r>
          </a:p>
        </p:txBody>
      </p:sp>
      <p:sp>
        <p:nvSpPr>
          <p:cNvPr id="36" name="Oval 35"/>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1.00 book-to-bill and ~12% EBITDA signal healthy momentum.</a:t>
            </a:r>
          </a:p>
        </p:txBody>
      </p:sp>
      <p:sp>
        <p:nvSpPr>
          <p:cNvPr id="38" name="TextBox 37"/>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9" name="Rectangle 38"/>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~16.4% share leaves a scale gap versus the market leader.</a:t>
            </a:r>
          </a:p>
        </p:txBody>
      </p:sp>
      <p:sp>
        <p:nvSpPr>
          <p:cNvPr id="42" name="Oval 41"/>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'South Asia Pacific', thin elsewhere.</a:t>
            </a:r>
          </a:p>
        </p:txBody>
      </p:sp>
      <p:sp>
        <p:nvSpPr>
          <p:cNvPr id="44" name="Oval 43"/>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6" name="TextBox 45"/>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7" name="Rectangle 46"/>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~2.9x pipeline needed to convert.</a:t>
            </a:r>
          </a:p>
        </p:txBody>
      </p:sp>
      <p:sp>
        <p:nvSpPr>
          <p:cNvPr id="50" name="Oval 49"/>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2" name="Oval 51"/>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4" name="TextBox 53"/>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5" name="Rectangle 54"/>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'Capillary Blood Collection Containers' and adjacent high-value lines.</a:t>
            </a:r>
          </a:p>
        </p:txBody>
      </p:sp>
      <p:sp>
        <p:nvSpPr>
          <p:cNvPr id="58" name="Oval 57"/>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60" name="Oval 59"/>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2" name="TextBox 61"/>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3" name="Rectangle 6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5" name="Rounded Rectangle 6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A Key Financials (4/5)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A's financial performance, key ratios and pricing, highlighting margin and momentum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A (all figures indicative, USD Mn unless noted).</a:t>
            </a:r>
          </a:p>
        </p:txBody>
      </p:sp>
      <p:sp>
        <p:nvSpPr>
          <p:cNvPr id="12" name="Rounded Rectangle 11"/>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Financial Performance</a:t>
            </a:r>
          </a:p>
        </p:txBody>
      </p:sp>
      <p:graphicFrame>
        <p:nvGraphicFramePr>
          <p:cNvPr id="14" name="Table 13"/>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1,894</a:t>
                      </a:r>
                    </a:p>
                  </a:txBody>
                  <a:tcPr marL="85725" marR="38100" marT="19050" marB="19050" anchor="ctr">
                    <a:solidFill>
                      <a:srgbClr val="FFFFFF"/>
                    </a:solidFill>
                  </a:tcPr>
                </a:tc>
                <a:tc>
                  <a:txBody>
                    <a:bodyPr wrap="none"/>
                    <a:lstStyle/>
                    <a:p>
                      <a:pPr algn="l"/>
                      <a:r>
                        <a:rPr sz="900" b="0">
                          <a:solidFill>
                            <a:srgbClr val="2E2E2E"/>
                          </a:solidFill>
                          <a:latin typeface="Calibri"/>
                        </a:rPr>
                        <a:t>2,039</a:t>
                      </a:r>
                    </a:p>
                  </a:txBody>
                  <a:tcPr marL="85725" marR="38100" marT="19050" marB="19050" anchor="ctr">
                    <a:solidFill>
                      <a:srgbClr val="FFFFFF"/>
                    </a:solidFill>
                  </a:tcPr>
                </a:tc>
                <a:tc>
                  <a:txBody>
                    <a:bodyPr wrap="none"/>
                    <a:lstStyle/>
                    <a:p>
                      <a:pPr algn="l"/>
                      <a:r>
                        <a:rPr sz="900" b="0">
                          <a:solidFill>
                            <a:srgbClr val="2E2E2E"/>
                          </a:solidFill>
                          <a:latin typeface="Calibri"/>
                        </a:rPr>
                        <a:t>2,185</a:t>
                      </a:r>
                    </a:p>
                  </a:txBody>
                  <a:tcPr marL="85725" marR="38100" marT="19050" marB="19050" anchor="ctr">
                    <a:solidFill>
                      <a:srgbClr val="FFFFFF"/>
                    </a:solidFill>
                  </a:tcPr>
                </a:tc>
                <a:tc>
                  <a:txBody>
                    <a:bodyPr wrap="none"/>
                    <a:lstStyle/>
                    <a:p>
                      <a:pPr algn="l"/>
                      <a:r>
                        <a:rPr sz="900" b="0">
                          <a:solidFill>
                            <a:srgbClr val="2E2E2E"/>
                          </a:solidFill>
                          <a:latin typeface="Calibri"/>
                        </a:rPr>
                        <a:t>2,331</a:t>
                      </a:r>
                    </a:p>
                  </a:txBody>
                  <a:tcPr marL="85725" marR="38100" marT="19050" marB="19050" anchor="ctr">
                    <a:solidFill>
                      <a:srgbClr val="FFFFFF"/>
                    </a:solidFill>
                  </a:tcPr>
                </a:tc>
                <a:tc>
                  <a:txBody>
                    <a:bodyPr wrap="none"/>
                    <a:lstStyle/>
                    <a:p>
                      <a:pPr algn="l"/>
                      <a:r>
                        <a:rPr sz="900" b="0">
                          <a:solidFill>
                            <a:srgbClr val="2E2E2E"/>
                          </a:solidFill>
                          <a:latin typeface="Calibri"/>
                        </a:rPr>
                        <a:t>2,476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643.9</a:t>
                      </a:r>
                    </a:p>
                  </a:txBody>
                  <a:tcPr marL="85725" marR="38100" marT="19050" marB="19050" anchor="ctr">
                    <a:solidFill>
                      <a:srgbClr val="F5F8FA"/>
                    </a:solidFill>
                  </a:tcPr>
                </a:tc>
                <a:tc>
                  <a:txBody>
                    <a:bodyPr wrap="none"/>
                    <a:lstStyle/>
                    <a:p>
                      <a:pPr algn="l"/>
                      <a:r>
                        <a:rPr sz="900" b="0">
                          <a:solidFill>
                            <a:srgbClr val="2E2E2E"/>
                          </a:solidFill>
                          <a:latin typeface="Calibri"/>
                        </a:rPr>
                        <a:t>693.4</a:t>
                      </a:r>
                    </a:p>
                  </a:txBody>
                  <a:tcPr marL="85725" marR="38100" marT="19050" marB="19050" anchor="ctr">
                    <a:solidFill>
                      <a:srgbClr val="F5F8FA"/>
                    </a:solidFill>
                  </a:tcPr>
                </a:tc>
                <a:tc>
                  <a:txBody>
                    <a:bodyPr wrap="none"/>
                    <a:lstStyle/>
                    <a:p>
                      <a:pPr algn="l"/>
                      <a:r>
                        <a:rPr sz="900" b="0">
                          <a:solidFill>
                            <a:srgbClr val="2E2E2E"/>
                          </a:solidFill>
                          <a:latin typeface="Calibri"/>
                        </a:rPr>
                        <a:t>742.9</a:t>
                      </a:r>
                    </a:p>
                  </a:txBody>
                  <a:tcPr marL="85725" marR="38100" marT="19050" marB="19050" anchor="ctr">
                    <a:solidFill>
                      <a:srgbClr val="F5F8FA"/>
                    </a:solidFill>
                  </a:tcPr>
                </a:tc>
                <a:tc>
                  <a:txBody>
                    <a:bodyPr wrap="none"/>
                    <a:lstStyle/>
                    <a:p>
                      <a:pPr algn="l"/>
                      <a:r>
                        <a:rPr sz="900" b="0">
                          <a:solidFill>
                            <a:srgbClr val="2E2E2E"/>
                          </a:solidFill>
                          <a:latin typeface="Calibri"/>
                        </a:rPr>
                        <a:t>792.4</a:t>
                      </a:r>
                    </a:p>
                  </a:txBody>
                  <a:tcPr marL="85725" marR="38100" marT="19050" marB="19050" anchor="ctr">
                    <a:solidFill>
                      <a:srgbClr val="F5F8FA"/>
                    </a:solidFill>
                  </a:tcPr>
                </a:tc>
                <a:tc>
                  <a:txBody>
                    <a:bodyPr wrap="none"/>
                    <a:lstStyle/>
                    <a:p>
                      <a:pPr algn="l"/>
                      <a:r>
                        <a:rPr sz="900" b="0">
                          <a:solidFill>
                            <a:srgbClr val="2E2E2E"/>
                          </a:solidFill>
                          <a:latin typeface="Calibri"/>
                        </a:rPr>
                        <a:t>842.0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303.0</a:t>
                      </a:r>
                    </a:p>
                  </a:txBody>
                  <a:tcPr marL="85725" marR="38100" marT="19050" marB="19050" anchor="ctr">
                    <a:solidFill>
                      <a:srgbClr val="FFFFFF"/>
                    </a:solidFill>
                  </a:tcPr>
                </a:tc>
                <a:tc>
                  <a:txBody>
                    <a:bodyPr wrap="none"/>
                    <a:lstStyle/>
                    <a:p>
                      <a:pPr algn="l"/>
                      <a:r>
                        <a:rPr sz="900" b="0">
                          <a:solidFill>
                            <a:srgbClr val="2E2E2E"/>
                          </a:solidFill>
                          <a:latin typeface="Calibri"/>
                        </a:rPr>
                        <a:t>326.3</a:t>
                      </a:r>
                    </a:p>
                  </a:txBody>
                  <a:tcPr marL="85725" marR="38100" marT="19050" marB="19050" anchor="ctr">
                    <a:solidFill>
                      <a:srgbClr val="FFFFFF"/>
                    </a:solidFill>
                  </a:tcPr>
                </a:tc>
                <a:tc>
                  <a:txBody>
                    <a:bodyPr wrap="none"/>
                    <a:lstStyle/>
                    <a:p>
                      <a:pPr algn="l"/>
                      <a:r>
                        <a:rPr sz="900" b="0">
                          <a:solidFill>
                            <a:srgbClr val="2E2E2E"/>
                          </a:solidFill>
                          <a:latin typeface="Calibri"/>
                        </a:rPr>
                        <a:t>349.6</a:t>
                      </a:r>
                    </a:p>
                  </a:txBody>
                  <a:tcPr marL="85725" marR="38100" marT="19050" marB="19050" anchor="ctr">
                    <a:solidFill>
                      <a:srgbClr val="FFFFFF"/>
                    </a:solidFill>
                  </a:tcPr>
                </a:tc>
                <a:tc>
                  <a:txBody>
                    <a:bodyPr wrap="none"/>
                    <a:lstStyle/>
                    <a:p>
                      <a:pPr algn="l"/>
                      <a:r>
                        <a:rPr sz="900" b="0">
                          <a:solidFill>
                            <a:srgbClr val="2E2E2E"/>
                          </a:solidFill>
                          <a:latin typeface="Calibri"/>
                        </a:rPr>
                        <a:t>372.9</a:t>
                      </a:r>
                    </a:p>
                  </a:txBody>
                  <a:tcPr marL="85725" marR="38100" marT="19050" marB="19050" anchor="ctr">
                    <a:solidFill>
                      <a:srgbClr val="FFFFFF"/>
                    </a:solidFill>
                  </a:tcPr>
                </a:tc>
                <a:tc>
                  <a:txBody>
                    <a:bodyPr wrap="none"/>
                    <a:lstStyle/>
                    <a:p>
                      <a:pPr algn="l"/>
                      <a:r>
                        <a:rPr sz="900" b="0">
                          <a:solidFill>
                            <a:srgbClr val="2E2E2E"/>
                          </a:solidFill>
                          <a:latin typeface="Calibri"/>
                        </a:rPr>
                        <a:t>396.2</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227.2</a:t>
                      </a:r>
                    </a:p>
                  </a:txBody>
                  <a:tcPr marL="85725" marR="38100" marT="19050" marB="19050" anchor="ctr">
                    <a:solidFill>
                      <a:srgbClr val="F5F8FA"/>
                    </a:solidFill>
                  </a:tcPr>
                </a:tc>
                <a:tc>
                  <a:txBody>
                    <a:bodyPr wrap="none"/>
                    <a:lstStyle/>
                    <a:p>
                      <a:pPr algn="l"/>
                      <a:r>
                        <a:rPr sz="900" b="0">
                          <a:solidFill>
                            <a:srgbClr val="2E2E2E"/>
                          </a:solidFill>
                          <a:latin typeface="Calibri"/>
                        </a:rPr>
                        <a:t>244.7</a:t>
                      </a:r>
                    </a:p>
                  </a:txBody>
                  <a:tcPr marL="85725" marR="38100" marT="19050" marB="19050" anchor="ctr">
                    <a:solidFill>
                      <a:srgbClr val="F5F8FA"/>
                    </a:solidFill>
                  </a:tcPr>
                </a:tc>
                <a:tc>
                  <a:txBody>
                    <a:bodyPr wrap="none"/>
                    <a:lstStyle/>
                    <a:p>
                      <a:pPr algn="l"/>
                      <a:r>
                        <a:rPr sz="900" b="0">
                          <a:solidFill>
                            <a:srgbClr val="2E2E2E"/>
                          </a:solidFill>
                          <a:latin typeface="Calibri"/>
                        </a:rPr>
                        <a:t>262.2</a:t>
                      </a:r>
                    </a:p>
                  </a:txBody>
                  <a:tcPr marL="85725" marR="38100" marT="19050" marB="19050" anchor="ctr">
                    <a:solidFill>
                      <a:srgbClr val="F5F8FA"/>
                    </a:solidFill>
                  </a:tcPr>
                </a:tc>
                <a:tc>
                  <a:txBody>
                    <a:bodyPr wrap="none"/>
                    <a:lstStyle/>
                    <a:p>
                      <a:pPr algn="l"/>
                      <a:r>
                        <a:rPr sz="900" b="0">
                          <a:solidFill>
                            <a:srgbClr val="2E2E2E"/>
                          </a:solidFill>
                          <a:latin typeface="Calibri"/>
                        </a:rPr>
                        <a:t>279.7</a:t>
                      </a:r>
                    </a:p>
                  </a:txBody>
                  <a:tcPr marL="85725" marR="38100" marT="19050" marB="19050" anchor="ctr">
                    <a:solidFill>
                      <a:srgbClr val="F5F8FA"/>
                    </a:solidFill>
                  </a:tcPr>
                </a:tc>
                <a:tc>
                  <a:txBody>
                    <a:bodyPr wrap="none"/>
                    <a:lstStyle/>
                    <a:p>
                      <a:pPr algn="l"/>
                      <a:r>
                        <a:rPr sz="900" b="0">
                          <a:solidFill>
                            <a:srgbClr val="2E2E2E"/>
                          </a:solidFill>
                          <a:latin typeface="Calibri"/>
                        </a:rPr>
                        <a:t>297.2</a:t>
                      </a:r>
                    </a:p>
                  </a:txBody>
                  <a:tcPr marL="85725" marR="38100" marT="19050" marB="19050" anchor="ctr">
                    <a:solidFill>
                      <a:srgbClr val="F5F8FA"/>
                    </a:solidFill>
                  </a:tcPr>
                </a:tc>
              </a:tr>
            </a:tbl>
          </a:graphicData>
        </a:graphic>
      </p:graphicFrame>
      <p:sp>
        <p:nvSpPr>
          <p:cNvPr id="15" name="TextBox 14"/>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Key Ratios</a:t>
            </a:r>
          </a:p>
        </p:txBody>
      </p:sp>
      <p:graphicFrame>
        <p:nvGraphicFramePr>
          <p:cNvPr id="18" name="Table 17"/>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c>
                  <a:txBody>
                    <a:bodyPr wrap="none"/>
                    <a:lstStyle/>
                    <a:p>
                      <a:pPr algn="l"/>
                      <a:r>
                        <a:rPr sz="900" b="0">
                          <a:solidFill>
                            <a:srgbClr val="2E2E2E"/>
                          </a:solidFill>
                          <a:latin typeface="Calibri"/>
                        </a:rPr>
                        <a:t>34.0%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c>
                  <a:txBody>
                    <a:bodyPr wrap="none"/>
                    <a:lstStyle/>
                    <a:p>
                      <a:pPr algn="l"/>
                      <a:r>
                        <a:rPr sz="900" b="0">
                          <a:solidFill>
                            <a:srgbClr val="2E2E2E"/>
                          </a:solidFill>
                          <a:latin typeface="Calibri"/>
                        </a:rPr>
                        <a:t>12.0%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12.0%</a:t>
                      </a:r>
                    </a:p>
                  </a:txBody>
                  <a:tcPr marL="85725" marR="38100" marT="19050" marB="19050" anchor="ctr">
                    <a:solidFill>
                      <a:srgbClr val="F5F8FA"/>
                    </a:solidFill>
                  </a:tcPr>
                </a:tc>
                <a:tc>
                  <a:txBody>
                    <a:bodyPr wrap="none"/>
                    <a:lstStyle/>
                    <a:p>
                      <a:pPr algn="l"/>
                      <a:r>
                        <a:rPr sz="900" b="0">
                          <a:solidFill>
                            <a:srgbClr val="2E2E2E"/>
                          </a:solidFill>
                          <a:latin typeface="Calibri"/>
                        </a:rPr>
                        <a:t>13.0%</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7.0%</a:t>
                      </a:r>
                    </a:p>
                  </a:txBody>
                  <a:tcPr marL="85725" marR="38100" marT="19050" marB="19050" anchor="ctr">
                    <a:solidFill>
                      <a:srgbClr val="FFFFFF"/>
                    </a:solidFill>
                  </a:tcPr>
                </a:tc>
                <a:tc>
                  <a:txBody>
                    <a:bodyPr wrap="none"/>
                    <a:lstStyle/>
                    <a:p>
                      <a:pPr algn="l"/>
                      <a:r>
                        <a:rPr sz="900" b="0">
                          <a:solidFill>
                            <a:srgbClr val="2E2E2E"/>
                          </a:solidFill>
                          <a:latin typeface="Calibri"/>
                        </a:rPr>
                        <a:t>7.4%</a:t>
                      </a:r>
                    </a:p>
                  </a:txBody>
                  <a:tcPr marL="85725" marR="38100" marT="19050" marB="19050" anchor="ctr">
                    <a:solidFill>
                      <a:srgbClr val="FFFFFF"/>
                    </a:solidFill>
                  </a:tcPr>
                </a:tc>
                <a:tc>
                  <a:txBody>
                    <a:bodyPr wrap="none"/>
                    <a:lstStyle/>
                    <a:p>
                      <a:pPr algn="l"/>
                      <a:r>
                        <a:rPr sz="900" b="0">
                          <a:solidFill>
                            <a:srgbClr val="2E2E2E"/>
                          </a:solidFill>
                          <a:latin typeface="Calibri"/>
                        </a:rPr>
                        <a:t>7.8%</a:t>
                      </a:r>
                    </a:p>
                  </a:txBody>
                  <a:tcPr marL="85725" marR="38100" marT="19050" marB="19050" anchor="ctr">
                    <a:solidFill>
                      <a:srgbClr val="FFFFFF"/>
                    </a:solidFill>
                  </a:tcPr>
                </a:tc>
                <a:tc>
                  <a:txBody>
                    <a:bodyPr wrap="none"/>
                    <a:lstStyle/>
                    <a:p>
                      <a:pPr algn="l"/>
                      <a:r>
                        <a:rPr sz="900" b="0">
                          <a:solidFill>
                            <a:srgbClr val="2E2E2E"/>
                          </a:solidFill>
                          <a:latin typeface="Calibri"/>
                        </a:rPr>
                        <a:t>8.2%</a:t>
                      </a:r>
                    </a:p>
                  </a:txBody>
                  <a:tcPr marL="85725" marR="38100" marT="19050" marB="19050" anchor="ctr">
                    <a:solidFill>
                      <a:srgbClr val="FFFFFF"/>
                    </a:solidFill>
                  </a:tcPr>
                </a:tc>
                <a:tc>
                  <a:txBody>
                    <a:bodyPr wrap="none"/>
                    <a:lstStyle/>
                    <a:p>
                      <a:pPr algn="l"/>
                      <a:r>
                        <a:rPr sz="900" b="0">
                          <a:solidFill>
                            <a:srgbClr val="2E2E2E"/>
                          </a:solidFill>
                          <a:latin typeface="Calibri"/>
                        </a:rPr>
                        <a:t>8.6%</a:t>
                      </a:r>
                    </a:p>
                  </a:txBody>
                  <a:tcPr marL="85725" marR="38100" marT="19050" marB="19050" anchor="ctr">
                    <a:solidFill>
                      <a:srgbClr val="FFFFFF"/>
                    </a:solidFill>
                  </a:tcPr>
                </a:tc>
              </a:tr>
            </a:tbl>
          </a:graphicData>
        </a:graphic>
      </p:graphicFrame>
      <p:sp>
        <p:nvSpPr>
          <p:cNvPr id="19" name="TextBox 18"/>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ounded Rectangle 19"/>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A Pricing Analysis (US$/Units)</a:t>
            </a:r>
          </a:p>
        </p:txBody>
      </p:sp>
      <p:graphicFrame>
        <p:nvGraphicFramePr>
          <p:cNvPr id="22" name="Table 21"/>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4.00</a:t>
                      </a:r>
                    </a:p>
                  </a:txBody>
                  <a:tcPr marL="85725" marR="38100" marT="19050" marB="19050" anchor="ctr">
                    <a:solidFill>
                      <a:srgbClr val="FFFFFF"/>
                    </a:solidFill>
                  </a:tcPr>
                </a:tc>
                <a:tc>
                  <a:txBody>
                    <a:bodyPr wrap="none"/>
                    <a:lstStyle/>
                    <a:p>
                      <a:pPr algn="l"/>
                      <a:r>
                        <a:rPr sz="900" b="0">
                          <a:solidFill>
                            <a:srgbClr val="2E2E2E"/>
                          </a:solidFill>
                          <a:latin typeface="Calibri"/>
                        </a:rPr>
                        <a:t>5.20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4.60</a:t>
                      </a:r>
                    </a:p>
                  </a:txBody>
                  <a:tcPr marL="85725" marR="38100" marT="19050" marB="19050" anchor="ctr">
                    <a:solidFill>
                      <a:srgbClr val="F5F8FA"/>
                    </a:solidFill>
                  </a:tcPr>
                </a:tc>
                <a:tc>
                  <a:txBody>
                    <a:bodyPr wrap="none"/>
                    <a:lstStyle/>
                    <a:p>
                      <a:pPr algn="l"/>
                      <a:r>
                        <a:rPr sz="900" b="0">
                          <a:solidFill>
                            <a:srgbClr val="2E2E2E"/>
                          </a:solidFill>
                          <a:latin typeface="Calibri"/>
                        </a:rPr>
                        <a:t>5.90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5.20</a:t>
                      </a:r>
                    </a:p>
                  </a:txBody>
                  <a:tcPr marL="85725" marR="38100" marT="19050" marB="19050" anchor="ctr">
                    <a:solidFill>
                      <a:srgbClr val="FFFFFF"/>
                    </a:solidFill>
                  </a:tcPr>
                </a:tc>
                <a:tc>
                  <a:txBody>
                    <a:bodyPr wrap="none"/>
                    <a:lstStyle/>
                    <a:p>
                      <a:pPr algn="l"/>
                      <a:r>
                        <a:rPr sz="900" b="0">
                          <a:solidFill>
                            <a:srgbClr val="2E2E2E"/>
                          </a:solidFill>
                          <a:latin typeface="Calibri"/>
                        </a:rPr>
                        <a:t>6.60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5.80</a:t>
                      </a:r>
                    </a:p>
                  </a:txBody>
                  <a:tcPr marL="85725" marR="38100" marT="19050" marB="19050" anchor="ctr">
                    <a:solidFill>
                      <a:srgbClr val="F5F8FA"/>
                    </a:solidFill>
                  </a:tcPr>
                </a:tc>
                <a:tc>
                  <a:txBody>
                    <a:bodyPr wrap="none"/>
                    <a:lstStyle/>
                    <a:p>
                      <a:pPr algn="l"/>
                      <a:r>
                        <a:rPr sz="900" b="0">
                          <a:solidFill>
                            <a:srgbClr val="2E2E2E"/>
                          </a:solidFill>
                          <a:latin typeface="Calibri"/>
                        </a:rPr>
                        <a:t>7.30</a:t>
                      </a:r>
                    </a:p>
                  </a:txBody>
                  <a:tcPr marL="85725" marR="38100" marT="19050" marB="19050" anchor="ctr">
                    <a:solidFill>
                      <a:srgbClr val="F5F8FA"/>
                    </a:solidFill>
                  </a:tcPr>
                </a:tc>
              </a:tr>
            </a:tbl>
          </a:graphicData>
        </a:graphic>
      </p:graphicFrame>
      <p:sp>
        <p:nvSpPr>
          <p:cNvPr id="23" name="TextBox 22"/>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A Strategy Analysis (5/5)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A's strategic priorities and the competitive moves that support them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A: strategic priorities and the competitive moves that support them (indicative).</a:t>
            </a:r>
          </a:p>
        </p:txBody>
      </p:sp>
      <p:sp>
        <p:nvSpPr>
          <p:cNvPr id="12" name="Rounded Rectangle 11"/>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16.4%</a:t>
            </a:r>
          </a:p>
          <a:p>
            <a:pPr algn="ctr"/>
            <a:r>
              <a:rPr sz="750" b="0">
                <a:solidFill>
                  <a:srgbClr val="6C7A89"/>
                </a:solidFill>
                <a:latin typeface="Calibri"/>
              </a:rPr>
              <a:t>of global value</a:t>
            </a:r>
          </a:p>
        </p:txBody>
      </p:sp>
      <p:sp>
        <p:nvSpPr>
          <p:cNvPr id="13" name="Rounded Rectangle 12"/>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18%</a:t>
            </a:r>
          </a:p>
          <a:p>
            <a:pPr algn="ctr"/>
            <a:r>
              <a:rPr sz="750" b="0">
                <a:solidFill>
                  <a:srgbClr val="6C7A89"/>
                </a:solidFill>
                <a:latin typeface="Calibri"/>
              </a:rPr>
              <a:t>deals won</a:t>
            </a:r>
          </a:p>
        </p:txBody>
      </p:sp>
      <p:sp>
        <p:nvSpPr>
          <p:cNvPr id="14" name="Rounded Rectangle 13"/>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+6%</a:t>
            </a:r>
          </a:p>
          <a:p>
            <a:pPr algn="ctr"/>
            <a:r>
              <a:rPr sz="750" b="0">
                <a:solidFill>
                  <a:srgbClr val="6C7A89"/>
                </a:solidFill>
                <a:latin typeface="Calibri"/>
              </a:rPr>
              <a:t>vs peers</a:t>
            </a:r>
          </a:p>
        </p:txBody>
      </p:sp>
      <p:sp>
        <p:nvSpPr>
          <p:cNvPr id="15" name="Rounded Rectangle 14"/>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1.00</a:t>
            </a:r>
          </a:p>
          <a:p>
            <a:pPr algn="ctr"/>
            <a:r>
              <a:rPr sz="750" b="0">
                <a:solidFill>
                  <a:srgbClr val="6C7A89"/>
                </a:solidFill>
                <a:latin typeface="Calibri"/>
              </a:rPr>
              <a:t>order momentum</a:t>
            </a:r>
          </a:p>
        </p:txBody>
      </p:sp>
      <p:sp>
        <p:nvSpPr>
          <p:cNvPr id="16" name="Rounded Rectangle 15"/>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12%</a:t>
            </a:r>
          </a:p>
          <a:p>
            <a:pPr algn="ctr"/>
            <a:r>
              <a:rPr sz="750" b="0">
                <a:solidFill>
                  <a:srgbClr val="6C7A89"/>
                </a:solidFill>
                <a:latin typeface="Calibri"/>
              </a:rPr>
              <a:t>profitability</a:t>
            </a:r>
          </a:p>
        </p:txBody>
      </p:sp>
      <p:sp>
        <p:nvSpPr>
          <p:cNvPr id="17" name="Rounded Rectangle 16"/>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9" name="Rectangle 18"/>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'Infectious Disease Testing' Company A's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~18% win rate and +6%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'South Asia Pacific' (~67%)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1.00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1" name="Rounded Rectangle 20"/>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3" name="Rectangle 22"/>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'Capillary Blood Collection Containers'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'Middle East &amp; Africa'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~95-day sales cycle and ~30% conversion speed share capture.</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B Executive Market Snapshot (1/5)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total market, addressable opportunity and share of market by end-market, region and product</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B: market, addressable opportunity and SOM splits by end-market, region and product.</a:t>
            </a:r>
          </a:p>
        </p:txBody>
      </p:sp>
      <p:sp>
        <p:nvSpPr>
          <p:cNvPr id="12" name="Rounded Rectangle 11"/>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4,933</a:t>
            </a:r>
          </a:p>
          <a:p>
            <a:pPr algn="ctr"/>
            <a:r>
              <a:rPr sz="750" b="0">
                <a:solidFill>
                  <a:srgbClr val="6C7A89"/>
                </a:solidFill>
                <a:latin typeface="Calibri"/>
              </a:rPr>
              <a:t>Total market</a:t>
            </a:r>
          </a:p>
        </p:txBody>
      </p:sp>
      <p:sp>
        <p:nvSpPr>
          <p:cNvPr id="13" name="Rounded Rectangle 12"/>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2,713</a:t>
            </a:r>
          </a:p>
          <a:p>
            <a:pPr algn="ctr"/>
            <a:r>
              <a:rPr sz="750" b="0">
                <a:solidFill>
                  <a:srgbClr val="6C7A89"/>
                </a:solidFill>
                <a:latin typeface="Calibri"/>
              </a:rPr>
              <a:t>Addressable</a:t>
            </a:r>
          </a:p>
        </p:txBody>
      </p:sp>
      <p:sp>
        <p:nvSpPr>
          <p:cNvPr id="14" name="Rounded Rectangle 13"/>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708.5</a:t>
            </a:r>
          </a:p>
          <a:p>
            <a:pPr algn="ctr"/>
            <a:r>
              <a:rPr sz="750" b="0">
                <a:solidFill>
                  <a:srgbClr val="6C7A89"/>
                </a:solidFill>
                <a:latin typeface="Calibri"/>
              </a:rPr>
              <a:t>26% of SAM</a:t>
            </a:r>
          </a:p>
        </p:txBody>
      </p:sp>
      <p:sp>
        <p:nvSpPr>
          <p:cNvPr id="15" name="Rounded Rectangle 14"/>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1.04</a:t>
            </a:r>
          </a:p>
          <a:p>
            <a:pPr algn="ctr"/>
            <a:r>
              <a:rPr sz="750" b="0">
                <a:solidFill>
                  <a:srgbClr val="6C7A89"/>
                </a:solidFill>
                <a:latin typeface="Calibri"/>
              </a:rPr>
              <a:t>Order momentum</a:t>
            </a:r>
          </a:p>
        </p:txBody>
      </p:sp>
      <p:sp>
        <p:nvSpPr>
          <p:cNvPr id="16" name="Rounded Rectangle 15"/>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14%</a:t>
            </a:r>
          </a:p>
          <a:p>
            <a:pPr algn="ctr"/>
            <a:r>
              <a:rPr sz="750" b="0">
                <a:solidFill>
                  <a:srgbClr val="6C7A89"/>
                </a:solidFill>
                <a:latin typeface="Calibri"/>
              </a:rPr>
              <a:t>Profitability</a:t>
            </a:r>
          </a:p>
        </p:txBody>
      </p:sp>
      <p:sp>
        <p:nvSpPr>
          <p:cNvPr id="17" name="Rounded Rectangle 16"/>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9" name="Chart 18"/>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20" name="Rounded Rectangle 19"/>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2" name="Chart 21"/>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3" name="Rounded Rectangle 22"/>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5" name="Chart 24"/>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6" name="Rounded Rectangle 25"/>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8" name="Rectangle 27"/>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B captures ~26% of a US$ Mn SAM, with its strongest end-market in 'Infectious Disease Testing'.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'South Asia Pacific' is the largest SOM region; 'East Asia' shows the highest SAM penetration (~76%).</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1.04 book-to-bill and ~14%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~21% win rate with a +5% ASP premium and 2.7x pipeline coverage.</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B Regional Penetration &amp; Win Position (2/5)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Regional penetration and competitive positioning highlighting growth potential, win rates and sales efficiency</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B: SOM vs SAM by region, win position, TAM/SAM/SOM and go-to-market benchmarks.</a:t>
            </a:r>
          </a:p>
        </p:txBody>
      </p:sp>
      <p:sp>
        <p:nvSpPr>
          <p:cNvPr id="12" name="Rounded Rectangle 11"/>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4" name="Chart 13"/>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5" name="Rounded Rectangle 14"/>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7" name="Connector 16"/>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20" name="TextBox 19"/>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1" name="TextBox 20"/>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2" name="TextBox 21"/>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3" name="TextBox 22"/>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4" name="TextBox 23"/>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5" name="Oval 24"/>
          <p:cNvSpPr/>
          <p:nvPr/>
        </p:nvSpPr>
        <p:spPr>
          <a:xfrm>
            <a:off x="7629688"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15438"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B</a:t>
            </a:r>
          </a:p>
        </p:txBody>
      </p:sp>
      <p:sp>
        <p:nvSpPr>
          <p:cNvPr id="27" name="Oval 26"/>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9" name="Oval 28"/>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1" name="Rounded Rectangle 30"/>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3" name="Rectangle 32"/>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4,933 US$ Mn</a:t>
            </a:r>
          </a:p>
        </p:txBody>
      </p:sp>
      <p:sp>
        <p:nvSpPr>
          <p:cNvPr id="34" name="Rectangle 33"/>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55% of TAM  ·  2,713 US$ Mn</a:t>
            </a:r>
          </a:p>
        </p:txBody>
      </p:sp>
      <p:sp>
        <p:nvSpPr>
          <p:cNvPr id="35" name="Rectangle 34"/>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26% of SAM  ·  708.5 US$ Mn</a:t>
            </a:r>
          </a:p>
        </p:txBody>
      </p:sp>
      <p:sp>
        <p:nvSpPr>
          <p:cNvPr id="36" name="Rounded Rectangle 35"/>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8" name="Rectangle 37"/>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40" name="Rectangle 39"/>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2" name="TextBox 41"/>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3" name="Rectangle 42"/>
          <p:cNvSpPr/>
          <p:nvPr/>
        </p:nvSpPr>
        <p:spPr>
          <a:xfrm>
            <a:off x="7381875" y="4134485"/>
            <a:ext cx="1686687"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81875" y="4254500"/>
            <a:ext cx="310705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6" name="Rectangle 45"/>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9" name="Rectangle 48"/>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81875" y="4927600"/>
            <a:ext cx="3728466"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3" name="Rectangle 52"/>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'East Asia'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~21% win rate with a +5% ASP premium signals value recognition; 2.7x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~90-day sales cycle and ~34% conversion support faster share capture.</a:t>
            </a:r>
          </a:p>
        </p:txBody>
      </p:sp>
      <p:sp>
        <p:nvSpPr>
          <p:cNvPr id="55" name="Rectangle 5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7" name="Rounded Rectangle 56">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9" name="Rounded Rectangle 58">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B SWOT Analysis (3/5)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SWOT assessment of Company B: strengths, weaknesses, opportunities and threats shaping its competitive position</a:t>
            </a:r>
          </a:p>
        </p:txBody>
      </p:sp>
      <p:sp>
        <p:nvSpPr>
          <p:cNvPr id="11" name="TextBox 10"/>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B: strengths, weaknesses, opportunities and threats (indicative).</a:t>
            </a:r>
          </a:p>
        </p:txBody>
      </p:sp>
      <p:cxnSp>
        <p:nvCxnSpPr>
          <p:cNvPr id="12" name="Connector 11"/>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7" name="TextBox 26"/>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8" name="TextBox 27"/>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9" name="TextBox 28"/>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30" name="TextBox 29"/>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1" name="Rectangle 30"/>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~21% win rate with a +5% ASP premium clear value recognition.</a:t>
            </a:r>
          </a:p>
        </p:txBody>
      </p:sp>
      <p:sp>
        <p:nvSpPr>
          <p:cNvPr id="34" name="Oval 33"/>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'South Asia Pacific'.</a:t>
            </a:r>
          </a:p>
        </p:txBody>
      </p:sp>
      <p:sp>
        <p:nvSpPr>
          <p:cNvPr id="36" name="Oval 35"/>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1.04 book-to-bill and ~14% EBITDA signal healthy momentum.</a:t>
            </a:r>
          </a:p>
        </p:txBody>
      </p:sp>
      <p:sp>
        <p:nvSpPr>
          <p:cNvPr id="38" name="TextBox 37"/>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9" name="Rectangle 38"/>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~14.4% share leaves a scale gap versus the market leader.</a:t>
            </a:r>
          </a:p>
        </p:txBody>
      </p:sp>
      <p:sp>
        <p:nvSpPr>
          <p:cNvPr id="42" name="Oval 41"/>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'East Asia', thin elsewhere.</a:t>
            </a:r>
          </a:p>
        </p:txBody>
      </p:sp>
      <p:sp>
        <p:nvSpPr>
          <p:cNvPr id="44" name="Oval 43"/>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6" name="TextBox 45"/>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7" name="Rectangle 46"/>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~2.7x pipeline needed to convert.</a:t>
            </a:r>
          </a:p>
        </p:txBody>
      </p:sp>
      <p:sp>
        <p:nvSpPr>
          <p:cNvPr id="50" name="Oval 49"/>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2" name="Oval 51"/>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4" name="TextBox 53"/>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5" name="Rectangle 54"/>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'Capillary Blood Collection Containers' and adjacent high-value lines.</a:t>
            </a:r>
          </a:p>
        </p:txBody>
      </p:sp>
      <p:sp>
        <p:nvSpPr>
          <p:cNvPr id="58" name="Oval 57"/>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60" name="Oval 59"/>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2" name="TextBox 61"/>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3" name="Rectangle 6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5" name="Rounded Rectangle 6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B Key Financials (4/5)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B's financial performance, key ratios and pricing, highlighting margin and momentum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B (all figures indicative, USD Mn unless noted).</a:t>
            </a:r>
          </a:p>
        </p:txBody>
      </p:sp>
      <p:sp>
        <p:nvSpPr>
          <p:cNvPr id="12" name="Rounded Rectangle 11"/>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Financial Performance</a:t>
            </a:r>
          </a:p>
        </p:txBody>
      </p:sp>
      <p:graphicFrame>
        <p:nvGraphicFramePr>
          <p:cNvPr id="14" name="Table 13"/>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1,907</a:t>
                      </a:r>
                    </a:p>
                  </a:txBody>
                  <a:tcPr marL="85725" marR="38100" marT="19050" marB="19050" anchor="ctr">
                    <a:solidFill>
                      <a:srgbClr val="FFFFFF"/>
                    </a:solidFill>
                  </a:tcPr>
                </a:tc>
                <a:tc>
                  <a:txBody>
                    <a:bodyPr wrap="none"/>
                    <a:lstStyle/>
                    <a:p>
                      <a:pPr algn="l"/>
                      <a:r>
                        <a:rPr sz="900" b="0">
                          <a:solidFill>
                            <a:srgbClr val="2E2E2E"/>
                          </a:solidFill>
                          <a:latin typeface="Calibri"/>
                        </a:rPr>
                        <a:t>2,053</a:t>
                      </a:r>
                    </a:p>
                  </a:txBody>
                  <a:tcPr marL="85725" marR="38100" marT="19050" marB="19050" anchor="ctr">
                    <a:solidFill>
                      <a:srgbClr val="FFFFFF"/>
                    </a:solidFill>
                  </a:tcPr>
                </a:tc>
                <a:tc>
                  <a:txBody>
                    <a:bodyPr wrap="none"/>
                    <a:lstStyle/>
                    <a:p>
                      <a:pPr algn="l"/>
                      <a:r>
                        <a:rPr sz="900" b="0">
                          <a:solidFill>
                            <a:srgbClr val="2E2E2E"/>
                          </a:solidFill>
                          <a:latin typeface="Calibri"/>
                        </a:rPr>
                        <a:t>2,200</a:t>
                      </a:r>
                    </a:p>
                  </a:txBody>
                  <a:tcPr marL="85725" marR="38100" marT="19050" marB="19050" anchor="ctr">
                    <a:solidFill>
                      <a:srgbClr val="FFFFFF"/>
                    </a:solidFill>
                  </a:tcPr>
                </a:tc>
                <a:tc>
                  <a:txBody>
                    <a:bodyPr wrap="none"/>
                    <a:lstStyle/>
                    <a:p>
                      <a:pPr algn="l"/>
                      <a:r>
                        <a:rPr sz="900" b="0">
                          <a:solidFill>
                            <a:srgbClr val="2E2E2E"/>
                          </a:solidFill>
                          <a:latin typeface="Calibri"/>
                        </a:rPr>
                        <a:t>2,347</a:t>
                      </a:r>
                    </a:p>
                  </a:txBody>
                  <a:tcPr marL="85725" marR="38100" marT="19050" marB="19050" anchor="ctr">
                    <a:solidFill>
                      <a:srgbClr val="FFFFFF"/>
                    </a:solidFill>
                  </a:tcPr>
                </a:tc>
                <a:tc>
                  <a:txBody>
                    <a:bodyPr wrap="none"/>
                    <a:lstStyle/>
                    <a:p>
                      <a:pPr algn="l"/>
                      <a:r>
                        <a:rPr sz="900" b="0">
                          <a:solidFill>
                            <a:srgbClr val="2E2E2E"/>
                          </a:solidFill>
                          <a:latin typeface="Calibri"/>
                        </a:rPr>
                        <a:t>2,493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657.8</a:t>
                      </a:r>
                    </a:p>
                  </a:txBody>
                  <a:tcPr marL="85725" marR="38100" marT="19050" marB="19050" anchor="ctr">
                    <a:solidFill>
                      <a:srgbClr val="F5F8FA"/>
                    </a:solidFill>
                  </a:tcPr>
                </a:tc>
                <a:tc>
                  <a:txBody>
                    <a:bodyPr wrap="none"/>
                    <a:lstStyle/>
                    <a:p>
                      <a:pPr algn="l"/>
                      <a:r>
                        <a:rPr sz="900" b="0">
                          <a:solidFill>
                            <a:srgbClr val="2E2E2E"/>
                          </a:solidFill>
                          <a:latin typeface="Calibri"/>
                        </a:rPr>
                        <a:t>708.4</a:t>
                      </a:r>
                    </a:p>
                  </a:txBody>
                  <a:tcPr marL="85725" marR="38100" marT="19050" marB="19050" anchor="ctr">
                    <a:solidFill>
                      <a:srgbClr val="F5F8FA"/>
                    </a:solidFill>
                  </a:tcPr>
                </a:tc>
                <a:tc>
                  <a:txBody>
                    <a:bodyPr wrap="none"/>
                    <a:lstStyle/>
                    <a:p>
                      <a:pPr algn="l"/>
                      <a:r>
                        <a:rPr sz="900" b="0">
                          <a:solidFill>
                            <a:srgbClr val="2E2E2E"/>
                          </a:solidFill>
                          <a:latin typeface="Calibri"/>
                        </a:rPr>
                        <a:t>759.0</a:t>
                      </a:r>
                    </a:p>
                  </a:txBody>
                  <a:tcPr marL="85725" marR="38100" marT="19050" marB="19050" anchor="ctr">
                    <a:solidFill>
                      <a:srgbClr val="F5F8FA"/>
                    </a:solidFill>
                  </a:tcPr>
                </a:tc>
                <a:tc>
                  <a:txBody>
                    <a:bodyPr wrap="none"/>
                    <a:lstStyle/>
                    <a:p>
                      <a:pPr algn="l"/>
                      <a:r>
                        <a:rPr sz="900" b="0">
                          <a:solidFill>
                            <a:srgbClr val="2E2E2E"/>
                          </a:solidFill>
                          <a:latin typeface="Calibri"/>
                        </a:rPr>
                        <a:t>809.6</a:t>
                      </a:r>
                    </a:p>
                  </a:txBody>
                  <a:tcPr marL="85725" marR="38100" marT="19050" marB="19050" anchor="ctr">
                    <a:solidFill>
                      <a:srgbClr val="F5F8FA"/>
                    </a:solidFill>
                  </a:tcPr>
                </a:tc>
                <a:tc>
                  <a:txBody>
                    <a:bodyPr wrap="none"/>
                    <a:lstStyle/>
                    <a:p>
                      <a:pPr algn="l"/>
                      <a:r>
                        <a:rPr sz="900" b="0">
                          <a:solidFill>
                            <a:srgbClr val="2E2E2E"/>
                          </a:solidFill>
                          <a:latin typeface="Calibri"/>
                        </a:rPr>
                        <a:t>860.1</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312.7</a:t>
                      </a:r>
                    </a:p>
                  </a:txBody>
                  <a:tcPr marL="85725" marR="38100" marT="19050" marB="19050" anchor="ctr">
                    <a:solidFill>
                      <a:srgbClr val="FFFFFF"/>
                    </a:solidFill>
                  </a:tcPr>
                </a:tc>
                <a:tc>
                  <a:txBody>
                    <a:bodyPr wrap="none"/>
                    <a:lstStyle/>
                    <a:p>
                      <a:pPr algn="l"/>
                      <a:r>
                        <a:rPr sz="900" b="0">
                          <a:solidFill>
                            <a:srgbClr val="2E2E2E"/>
                          </a:solidFill>
                          <a:latin typeface="Calibri"/>
                        </a:rPr>
                        <a:t>336.7</a:t>
                      </a:r>
                    </a:p>
                  </a:txBody>
                  <a:tcPr marL="85725" marR="38100" marT="19050" marB="19050" anchor="ctr">
                    <a:solidFill>
                      <a:srgbClr val="FFFFFF"/>
                    </a:solidFill>
                  </a:tcPr>
                </a:tc>
                <a:tc>
                  <a:txBody>
                    <a:bodyPr wrap="none"/>
                    <a:lstStyle/>
                    <a:p>
                      <a:pPr algn="l"/>
                      <a:r>
                        <a:rPr sz="900" b="0">
                          <a:solidFill>
                            <a:srgbClr val="2E2E2E"/>
                          </a:solidFill>
                          <a:latin typeface="Calibri"/>
                        </a:rPr>
                        <a:t>360.8</a:t>
                      </a:r>
                    </a:p>
                  </a:txBody>
                  <a:tcPr marL="85725" marR="38100" marT="19050" marB="19050" anchor="ctr">
                    <a:solidFill>
                      <a:srgbClr val="FFFFFF"/>
                    </a:solidFill>
                  </a:tcPr>
                </a:tc>
                <a:tc>
                  <a:txBody>
                    <a:bodyPr wrap="none"/>
                    <a:lstStyle/>
                    <a:p>
                      <a:pPr algn="l"/>
                      <a:r>
                        <a:rPr sz="900" b="0">
                          <a:solidFill>
                            <a:srgbClr val="2E2E2E"/>
                          </a:solidFill>
                          <a:latin typeface="Calibri"/>
                        </a:rPr>
                        <a:t>384.8</a:t>
                      </a:r>
                    </a:p>
                  </a:txBody>
                  <a:tcPr marL="85725" marR="38100" marT="19050" marB="19050" anchor="ctr">
                    <a:solidFill>
                      <a:srgbClr val="FFFFFF"/>
                    </a:solidFill>
                  </a:tcPr>
                </a:tc>
                <a:tc>
                  <a:txBody>
                    <a:bodyPr wrap="none"/>
                    <a:lstStyle/>
                    <a:p>
                      <a:pPr algn="l"/>
                      <a:r>
                        <a:rPr sz="900" b="0">
                          <a:solidFill>
                            <a:srgbClr val="2E2E2E"/>
                          </a:solidFill>
                          <a:latin typeface="Calibri"/>
                        </a:rPr>
                        <a:t>408.9</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234.5</a:t>
                      </a:r>
                    </a:p>
                  </a:txBody>
                  <a:tcPr marL="85725" marR="38100" marT="19050" marB="19050" anchor="ctr">
                    <a:solidFill>
                      <a:srgbClr val="F5F8FA"/>
                    </a:solidFill>
                  </a:tcPr>
                </a:tc>
                <a:tc>
                  <a:txBody>
                    <a:bodyPr wrap="none"/>
                    <a:lstStyle/>
                    <a:p>
                      <a:pPr algn="l"/>
                      <a:r>
                        <a:rPr sz="900" b="0">
                          <a:solidFill>
                            <a:srgbClr val="2E2E2E"/>
                          </a:solidFill>
                          <a:latin typeface="Calibri"/>
                        </a:rPr>
                        <a:t>252.5</a:t>
                      </a:r>
                    </a:p>
                  </a:txBody>
                  <a:tcPr marL="85725" marR="38100" marT="19050" marB="19050" anchor="ctr">
                    <a:solidFill>
                      <a:srgbClr val="F5F8FA"/>
                    </a:solidFill>
                  </a:tcPr>
                </a:tc>
                <a:tc>
                  <a:txBody>
                    <a:bodyPr wrap="none"/>
                    <a:lstStyle/>
                    <a:p>
                      <a:pPr algn="l"/>
                      <a:r>
                        <a:rPr sz="900" b="0">
                          <a:solidFill>
                            <a:srgbClr val="2E2E2E"/>
                          </a:solidFill>
                          <a:latin typeface="Calibri"/>
                        </a:rPr>
                        <a:t>270.6</a:t>
                      </a:r>
                    </a:p>
                  </a:txBody>
                  <a:tcPr marL="85725" marR="38100" marT="19050" marB="19050" anchor="ctr">
                    <a:solidFill>
                      <a:srgbClr val="F5F8FA"/>
                    </a:solidFill>
                  </a:tcPr>
                </a:tc>
                <a:tc>
                  <a:txBody>
                    <a:bodyPr wrap="none"/>
                    <a:lstStyle/>
                    <a:p>
                      <a:pPr algn="l"/>
                      <a:r>
                        <a:rPr sz="900" b="0">
                          <a:solidFill>
                            <a:srgbClr val="2E2E2E"/>
                          </a:solidFill>
                          <a:latin typeface="Calibri"/>
                        </a:rPr>
                        <a:t>288.6</a:t>
                      </a:r>
                    </a:p>
                  </a:txBody>
                  <a:tcPr marL="85725" marR="38100" marT="19050" marB="19050" anchor="ctr">
                    <a:solidFill>
                      <a:srgbClr val="F5F8FA"/>
                    </a:solidFill>
                  </a:tcPr>
                </a:tc>
                <a:tc>
                  <a:txBody>
                    <a:bodyPr wrap="none"/>
                    <a:lstStyle/>
                    <a:p>
                      <a:pPr algn="l"/>
                      <a:r>
                        <a:rPr sz="900" b="0">
                          <a:solidFill>
                            <a:srgbClr val="2E2E2E"/>
                          </a:solidFill>
                          <a:latin typeface="Calibri"/>
                        </a:rPr>
                        <a:t>306.7</a:t>
                      </a:r>
                    </a:p>
                  </a:txBody>
                  <a:tcPr marL="85725" marR="38100" marT="19050" marB="19050" anchor="ctr">
                    <a:solidFill>
                      <a:srgbClr val="F5F8FA"/>
                    </a:solidFill>
                  </a:tcPr>
                </a:tc>
              </a:tr>
            </a:tbl>
          </a:graphicData>
        </a:graphic>
      </p:graphicFrame>
      <p:sp>
        <p:nvSpPr>
          <p:cNvPr id="15" name="TextBox 14"/>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Key Ratios</a:t>
            </a:r>
          </a:p>
        </p:txBody>
      </p:sp>
      <p:graphicFrame>
        <p:nvGraphicFramePr>
          <p:cNvPr id="18" name="Table 17"/>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c>
                  <a:txBody>
                    <a:bodyPr wrap="none"/>
                    <a:lstStyle/>
                    <a:p>
                      <a:pPr algn="l"/>
                      <a:r>
                        <a:rPr sz="900" b="0">
                          <a:solidFill>
                            <a:srgbClr val="2E2E2E"/>
                          </a:solidFill>
                          <a:latin typeface="Calibri"/>
                        </a:rPr>
                        <a:t>34.5%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c>
                  <a:txBody>
                    <a:bodyPr wrap="none"/>
                    <a:lstStyle/>
                    <a:p>
                      <a:pPr algn="l"/>
                      <a:r>
                        <a:rPr sz="900" b="0">
                          <a:solidFill>
                            <a:srgbClr val="2E2E2E"/>
                          </a:solidFill>
                          <a:latin typeface="Calibri"/>
                        </a:rPr>
                        <a:t>16.4%</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c>
                  <a:txBody>
                    <a:bodyPr wrap="none"/>
                    <a:lstStyle/>
                    <a:p>
                      <a:pPr algn="l"/>
                      <a:r>
                        <a:rPr sz="900" b="0">
                          <a:solidFill>
                            <a:srgbClr val="2E2E2E"/>
                          </a:solidFill>
                          <a:latin typeface="Calibri"/>
                        </a:rPr>
                        <a:t>12.3%</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13.0%</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17.0%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7.5%</a:t>
                      </a:r>
                    </a:p>
                  </a:txBody>
                  <a:tcPr marL="85725" marR="38100" marT="19050" marB="19050" anchor="ctr">
                    <a:solidFill>
                      <a:srgbClr val="FFFFFF"/>
                    </a:solidFill>
                  </a:tcPr>
                </a:tc>
                <a:tc>
                  <a:txBody>
                    <a:bodyPr wrap="none"/>
                    <a:lstStyle/>
                    <a:p>
                      <a:pPr algn="l"/>
                      <a:r>
                        <a:rPr sz="900" b="0">
                          <a:solidFill>
                            <a:srgbClr val="2E2E2E"/>
                          </a:solidFill>
                          <a:latin typeface="Calibri"/>
                        </a:rPr>
                        <a:t>7.9%</a:t>
                      </a:r>
                    </a:p>
                  </a:txBody>
                  <a:tcPr marL="85725" marR="38100" marT="19050" marB="19050" anchor="ctr">
                    <a:solidFill>
                      <a:srgbClr val="FFFFFF"/>
                    </a:solidFill>
                  </a:tcPr>
                </a:tc>
                <a:tc>
                  <a:txBody>
                    <a:bodyPr wrap="none"/>
                    <a:lstStyle/>
                    <a:p>
                      <a:pPr algn="l"/>
                      <a:r>
                        <a:rPr sz="900" b="0">
                          <a:solidFill>
                            <a:srgbClr val="2E2E2E"/>
                          </a:solidFill>
                          <a:latin typeface="Calibri"/>
                        </a:rPr>
                        <a:t>8.3%</a:t>
                      </a:r>
                    </a:p>
                  </a:txBody>
                  <a:tcPr marL="85725" marR="38100" marT="19050" marB="19050" anchor="ctr">
                    <a:solidFill>
                      <a:srgbClr val="FFFFFF"/>
                    </a:solidFill>
                  </a:tcPr>
                </a:tc>
                <a:tc>
                  <a:txBody>
                    <a:bodyPr wrap="none"/>
                    <a:lstStyle/>
                    <a:p>
                      <a:pPr algn="l"/>
                      <a:r>
                        <a:rPr sz="900" b="0">
                          <a:solidFill>
                            <a:srgbClr val="2E2E2E"/>
                          </a:solidFill>
                          <a:latin typeface="Calibri"/>
                        </a:rPr>
                        <a:t>8.7%</a:t>
                      </a:r>
                    </a:p>
                  </a:txBody>
                  <a:tcPr marL="85725" marR="38100" marT="19050" marB="19050" anchor="ctr">
                    <a:solidFill>
                      <a:srgbClr val="FFFFFF"/>
                    </a:solidFill>
                  </a:tcPr>
                </a:tc>
                <a:tc>
                  <a:txBody>
                    <a:bodyPr wrap="none"/>
                    <a:lstStyle/>
                    <a:p>
                      <a:pPr algn="l"/>
                      <a:r>
                        <a:rPr sz="900" b="0">
                          <a:solidFill>
                            <a:srgbClr val="2E2E2E"/>
                          </a:solidFill>
                          <a:latin typeface="Calibri"/>
                        </a:rPr>
                        <a:t>9.1%</a:t>
                      </a:r>
                    </a:p>
                  </a:txBody>
                  <a:tcPr marL="85725" marR="38100" marT="19050" marB="19050" anchor="ctr">
                    <a:solidFill>
                      <a:srgbClr val="FFFFFF"/>
                    </a:solidFill>
                  </a:tcPr>
                </a:tc>
              </a:tr>
            </a:tbl>
          </a:graphicData>
        </a:graphic>
      </p:graphicFrame>
      <p:sp>
        <p:nvSpPr>
          <p:cNvPr id="19" name="TextBox 18"/>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ounded Rectangle 19"/>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B Pricing Analysis (US$/Units)</a:t>
            </a:r>
          </a:p>
        </p:txBody>
      </p:sp>
      <p:graphicFrame>
        <p:nvGraphicFramePr>
          <p:cNvPr id="22" name="Table 21"/>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4.20</a:t>
                      </a:r>
                    </a:p>
                  </a:txBody>
                  <a:tcPr marL="85725" marR="38100" marT="19050" marB="19050" anchor="ctr">
                    <a:solidFill>
                      <a:srgbClr val="FFFFFF"/>
                    </a:solidFill>
                  </a:tcPr>
                </a:tc>
                <a:tc>
                  <a:txBody>
                    <a:bodyPr wrap="none"/>
                    <a:lstStyle/>
                    <a:p>
                      <a:pPr algn="l"/>
                      <a:r>
                        <a:rPr sz="900" b="0">
                          <a:solidFill>
                            <a:srgbClr val="2E2E2E"/>
                          </a:solidFill>
                          <a:latin typeface="Calibri"/>
                        </a:rPr>
                        <a:t>5.45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4.80</a:t>
                      </a:r>
                    </a:p>
                  </a:txBody>
                  <a:tcPr marL="85725" marR="38100" marT="19050" marB="19050" anchor="ctr">
                    <a:solidFill>
                      <a:srgbClr val="F5F8FA"/>
                    </a:solidFill>
                  </a:tcPr>
                </a:tc>
                <a:tc>
                  <a:txBody>
                    <a:bodyPr wrap="none"/>
                    <a:lstStyle/>
                    <a:p>
                      <a:pPr algn="l"/>
                      <a:r>
                        <a:rPr sz="900" b="0">
                          <a:solidFill>
                            <a:srgbClr val="2E2E2E"/>
                          </a:solidFill>
                          <a:latin typeface="Calibri"/>
                        </a:rPr>
                        <a:t>6.15</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5.40</a:t>
                      </a:r>
                    </a:p>
                  </a:txBody>
                  <a:tcPr marL="85725" marR="38100" marT="19050" marB="19050" anchor="ctr">
                    <a:solidFill>
                      <a:srgbClr val="FFFFFF"/>
                    </a:solidFill>
                  </a:tcPr>
                </a:tc>
                <a:tc>
                  <a:txBody>
                    <a:bodyPr wrap="none"/>
                    <a:lstStyle/>
                    <a:p>
                      <a:pPr algn="l"/>
                      <a:r>
                        <a:rPr sz="900" b="0">
                          <a:solidFill>
                            <a:srgbClr val="2E2E2E"/>
                          </a:solidFill>
                          <a:latin typeface="Calibri"/>
                        </a:rPr>
                        <a:t>6.85</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6.00</a:t>
                      </a:r>
                    </a:p>
                  </a:txBody>
                  <a:tcPr marL="85725" marR="38100" marT="19050" marB="19050" anchor="ctr">
                    <a:solidFill>
                      <a:srgbClr val="F5F8FA"/>
                    </a:solidFill>
                  </a:tcPr>
                </a:tc>
                <a:tc>
                  <a:txBody>
                    <a:bodyPr wrap="none"/>
                    <a:lstStyle/>
                    <a:p>
                      <a:pPr algn="l"/>
                      <a:r>
                        <a:rPr sz="900" b="0">
                          <a:solidFill>
                            <a:srgbClr val="2E2E2E"/>
                          </a:solidFill>
                          <a:latin typeface="Calibri"/>
                        </a:rPr>
                        <a:t>7.55</a:t>
                      </a:r>
                    </a:p>
                  </a:txBody>
                  <a:tcPr marL="85725" marR="38100" marT="19050" marB="19050" anchor="ctr">
                    <a:solidFill>
                      <a:srgbClr val="F5F8FA"/>
                    </a:solidFill>
                  </a:tcPr>
                </a:tc>
              </a:tr>
            </a:tbl>
          </a:graphicData>
        </a:graphic>
      </p:graphicFrame>
      <p:sp>
        <p:nvSpPr>
          <p:cNvPr id="23" name="TextBox 22"/>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B Strategy Analysis (5/5)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B's strategic priorities and the competitive moves that support them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B: strategic priorities and the competitive moves that support them (indicative).</a:t>
            </a:r>
          </a:p>
        </p:txBody>
      </p:sp>
      <p:sp>
        <p:nvSpPr>
          <p:cNvPr id="12" name="Rounded Rectangle 11"/>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14.4%</a:t>
            </a:r>
          </a:p>
          <a:p>
            <a:pPr algn="ctr"/>
            <a:r>
              <a:rPr sz="750" b="0">
                <a:solidFill>
                  <a:srgbClr val="6C7A89"/>
                </a:solidFill>
                <a:latin typeface="Calibri"/>
              </a:rPr>
              <a:t>of global value</a:t>
            </a:r>
          </a:p>
        </p:txBody>
      </p:sp>
      <p:sp>
        <p:nvSpPr>
          <p:cNvPr id="13" name="Rounded Rectangle 12"/>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21%</a:t>
            </a:r>
          </a:p>
          <a:p>
            <a:pPr algn="ctr"/>
            <a:r>
              <a:rPr sz="750" b="0">
                <a:solidFill>
                  <a:srgbClr val="6C7A89"/>
                </a:solidFill>
                <a:latin typeface="Calibri"/>
              </a:rPr>
              <a:t>deals won</a:t>
            </a:r>
          </a:p>
        </p:txBody>
      </p:sp>
      <p:sp>
        <p:nvSpPr>
          <p:cNvPr id="14" name="Rounded Rectangle 13"/>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+5%</a:t>
            </a:r>
          </a:p>
          <a:p>
            <a:pPr algn="ctr"/>
            <a:r>
              <a:rPr sz="750" b="0">
                <a:solidFill>
                  <a:srgbClr val="6C7A89"/>
                </a:solidFill>
                <a:latin typeface="Calibri"/>
              </a:rPr>
              <a:t>vs peers</a:t>
            </a:r>
          </a:p>
        </p:txBody>
      </p:sp>
      <p:sp>
        <p:nvSpPr>
          <p:cNvPr id="15" name="Rounded Rectangle 14"/>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1.04</a:t>
            </a:r>
          </a:p>
          <a:p>
            <a:pPr algn="ctr"/>
            <a:r>
              <a:rPr sz="750" b="0">
                <a:solidFill>
                  <a:srgbClr val="6C7A89"/>
                </a:solidFill>
                <a:latin typeface="Calibri"/>
              </a:rPr>
              <a:t>order momentum</a:t>
            </a:r>
          </a:p>
        </p:txBody>
      </p:sp>
      <p:sp>
        <p:nvSpPr>
          <p:cNvPr id="16" name="Rounded Rectangle 15"/>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14%</a:t>
            </a:r>
          </a:p>
          <a:p>
            <a:pPr algn="ctr"/>
            <a:r>
              <a:rPr sz="750" b="0">
                <a:solidFill>
                  <a:srgbClr val="6C7A89"/>
                </a:solidFill>
                <a:latin typeface="Calibri"/>
              </a:rPr>
              <a:t>profitability</a:t>
            </a:r>
          </a:p>
        </p:txBody>
      </p:sp>
      <p:sp>
        <p:nvSpPr>
          <p:cNvPr id="17" name="Rounded Rectangle 16"/>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9" name="Rectangle 18"/>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'Infectious Disease Testing' Company B's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~21% win rate and +5%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'East Asia' (~76%)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1.04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1" name="Rounded Rectangle 20"/>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3" name="Rectangle 22"/>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'Capillary Blood Collection Containers'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'South Asia Pacific'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~90-day sales cycle and ~34% conversion speed share capture.</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9" name="Rounded Rectangle 28">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C Executive Market Snapshot (1/5)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Overview of total market, addressable opportunity and share of market by end-market, region and product</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Executive snapshot and strategic positioning Company C: market, addressable opportunity and SOM splits by end-market, region and product.</a:t>
            </a:r>
          </a:p>
        </p:txBody>
      </p:sp>
      <p:sp>
        <p:nvSpPr>
          <p:cNvPr id="12" name="Rounded Rectangle 11"/>
          <p:cNvSpPr/>
          <p:nvPr/>
        </p:nvSpPr>
        <p:spPr>
          <a:xfrm>
            <a:off x="1428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TAM (US$ MN)</a:t>
            </a:r>
          </a:p>
          <a:p>
            <a:pPr algn="ctr"/>
            <a:r>
              <a:rPr sz="1500" b="1">
                <a:solidFill>
                  <a:srgbClr val="0E72AE"/>
                </a:solidFill>
                <a:latin typeface="Calibri"/>
              </a:rPr>
              <a:t>4,933</a:t>
            </a:r>
          </a:p>
          <a:p>
            <a:pPr algn="ctr"/>
            <a:r>
              <a:rPr sz="750" b="0">
                <a:solidFill>
                  <a:srgbClr val="6C7A89"/>
                </a:solidFill>
                <a:latin typeface="Calibri"/>
              </a:rPr>
              <a:t>Total market</a:t>
            </a:r>
          </a:p>
        </p:txBody>
      </p:sp>
      <p:sp>
        <p:nvSpPr>
          <p:cNvPr id="13" name="Rounded Rectangle 12"/>
          <p:cNvSpPr/>
          <p:nvPr/>
        </p:nvSpPr>
        <p:spPr>
          <a:xfrm>
            <a:off x="254317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SAM (US$ MN)</a:t>
            </a:r>
          </a:p>
          <a:p>
            <a:pPr algn="ctr"/>
            <a:r>
              <a:rPr sz="1500" b="1">
                <a:solidFill>
                  <a:srgbClr val="0E72AE"/>
                </a:solidFill>
                <a:latin typeface="Calibri"/>
              </a:rPr>
              <a:t>2,861</a:t>
            </a:r>
          </a:p>
          <a:p>
            <a:pPr algn="ctr"/>
            <a:r>
              <a:rPr sz="750" b="0">
                <a:solidFill>
                  <a:srgbClr val="6C7A89"/>
                </a:solidFill>
                <a:latin typeface="Calibri"/>
              </a:rPr>
              <a:t>Addressable</a:t>
            </a:r>
          </a:p>
        </p:txBody>
      </p:sp>
      <p:sp>
        <p:nvSpPr>
          <p:cNvPr id="14" name="Rounded Rectangle 13"/>
          <p:cNvSpPr/>
          <p:nvPr/>
        </p:nvSpPr>
        <p:spPr>
          <a:xfrm>
            <a:off x="49530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SOM (US$ MN)</a:t>
            </a:r>
          </a:p>
          <a:p>
            <a:pPr algn="ctr"/>
            <a:r>
              <a:rPr sz="1500" b="1">
                <a:solidFill>
                  <a:srgbClr val="0E72AE"/>
                </a:solidFill>
                <a:latin typeface="Calibri"/>
              </a:rPr>
              <a:t>488.6</a:t>
            </a:r>
          </a:p>
          <a:p>
            <a:pPr algn="ctr"/>
            <a:r>
              <a:rPr sz="750" b="0">
                <a:solidFill>
                  <a:srgbClr val="6C7A89"/>
                </a:solidFill>
                <a:latin typeface="Calibri"/>
              </a:rPr>
              <a:t>17% of SAM</a:t>
            </a:r>
          </a:p>
        </p:txBody>
      </p:sp>
      <p:sp>
        <p:nvSpPr>
          <p:cNvPr id="15" name="Rounded Rectangle 14"/>
          <p:cNvSpPr/>
          <p:nvPr/>
        </p:nvSpPr>
        <p:spPr>
          <a:xfrm>
            <a:off x="7353300"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1.08</a:t>
            </a:r>
          </a:p>
          <a:p>
            <a:pPr algn="ctr"/>
            <a:r>
              <a:rPr sz="750" b="0">
                <a:solidFill>
                  <a:srgbClr val="6C7A89"/>
                </a:solidFill>
                <a:latin typeface="Calibri"/>
              </a:rPr>
              <a:t>Order momentum</a:t>
            </a:r>
          </a:p>
        </p:txBody>
      </p:sp>
      <p:sp>
        <p:nvSpPr>
          <p:cNvPr id="16" name="Rounded Rectangle 15"/>
          <p:cNvSpPr/>
          <p:nvPr/>
        </p:nvSpPr>
        <p:spPr>
          <a:xfrm>
            <a:off x="9763125" y="120015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15%</a:t>
            </a:r>
          </a:p>
          <a:p>
            <a:pPr algn="ctr"/>
            <a:r>
              <a:rPr sz="750" b="0">
                <a:solidFill>
                  <a:srgbClr val="6C7A89"/>
                </a:solidFill>
                <a:latin typeface="Calibri"/>
              </a:rPr>
              <a:t>Profitability</a:t>
            </a:r>
          </a:p>
        </p:txBody>
      </p:sp>
      <p:sp>
        <p:nvSpPr>
          <p:cNvPr id="17" name="Rounded Rectangle 16"/>
          <p:cNvSpPr/>
          <p:nvPr/>
        </p:nvSpPr>
        <p:spPr>
          <a:xfrm>
            <a:off x="14287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812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End-Market (US$ Mn)</a:t>
            </a:r>
          </a:p>
        </p:txBody>
      </p:sp>
      <p:graphicFrame>
        <p:nvGraphicFramePr>
          <p:cNvPr id="19" name="Chart 18"/>
          <p:cNvGraphicFramePr>
            <a:graphicFrameLocks noGrp="1"/>
          </p:cNvGraphicFramePr>
          <p:nvPr/>
        </p:nvGraphicFramePr>
        <p:xfrm>
          <a:off x="238125" y="2247900"/>
          <a:ext cx="3638550" cy="2381250"/>
        </p:xfrm>
        <a:graphic>
          <a:graphicData uri="http://schemas.openxmlformats.org/drawingml/2006/chart">
            <c:chart xmlns:c="http://schemas.openxmlformats.org/drawingml/2006/chart" r:id="rId3"/>
          </a:graphicData>
        </a:graphic>
      </p:graphicFrame>
      <p:sp>
        <p:nvSpPr>
          <p:cNvPr id="20" name="Rounded Rectangle 19"/>
          <p:cNvSpPr/>
          <p:nvPr/>
        </p:nvSpPr>
        <p:spPr>
          <a:xfrm>
            <a:off x="4124325" y="1962150"/>
            <a:ext cx="38290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19575" y="2019300"/>
            <a:ext cx="36385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Region (US$ Mn)</a:t>
            </a:r>
          </a:p>
        </p:txBody>
      </p:sp>
      <p:graphicFrame>
        <p:nvGraphicFramePr>
          <p:cNvPr id="22" name="Chart 21"/>
          <p:cNvGraphicFramePr>
            <a:graphicFrameLocks noGrp="1"/>
          </p:cNvGraphicFramePr>
          <p:nvPr/>
        </p:nvGraphicFramePr>
        <p:xfrm>
          <a:off x="4219575" y="2247900"/>
          <a:ext cx="3638550" cy="2381250"/>
        </p:xfrm>
        <a:graphic>
          <a:graphicData uri="http://schemas.openxmlformats.org/drawingml/2006/chart">
            <c:chart xmlns:c="http://schemas.openxmlformats.org/drawingml/2006/chart" r:id="rId4"/>
          </a:graphicData>
        </a:graphic>
      </p:graphicFrame>
      <p:sp>
        <p:nvSpPr>
          <p:cNvPr id="23" name="Rounded Rectangle 22"/>
          <p:cNvSpPr/>
          <p:nvPr/>
        </p:nvSpPr>
        <p:spPr>
          <a:xfrm>
            <a:off x="8105775" y="1962150"/>
            <a:ext cx="3943350" cy="2724150"/>
          </a:xfrm>
          <a:prstGeom prst="roundRect">
            <a:avLst>
              <a:gd name="adj" fmla="val 2797"/>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1025" y="2019300"/>
            <a:ext cx="3752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by Product Line (US$ Mn)</a:t>
            </a:r>
          </a:p>
        </p:txBody>
      </p:sp>
      <p:graphicFrame>
        <p:nvGraphicFramePr>
          <p:cNvPr id="25" name="Chart 24"/>
          <p:cNvGraphicFramePr>
            <a:graphicFrameLocks noGrp="1"/>
          </p:cNvGraphicFramePr>
          <p:nvPr/>
        </p:nvGraphicFramePr>
        <p:xfrm>
          <a:off x="8201025" y="2247900"/>
          <a:ext cx="3752850" cy="2381250"/>
        </p:xfrm>
        <a:graphic>
          <a:graphicData uri="http://schemas.openxmlformats.org/drawingml/2006/chart">
            <c:chart xmlns:c="http://schemas.openxmlformats.org/drawingml/2006/chart" r:id="rId5"/>
          </a:graphicData>
        </a:graphic>
      </p:graphicFrame>
      <p:sp>
        <p:nvSpPr>
          <p:cNvPr id="26" name="Rounded Rectangle 25"/>
          <p:cNvSpPr/>
          <p:nvPr/>
        </p:nvSpPr>
        <p:spPr>
          <a:xfrm>
            <a:off x="142875" y="4800600"/>
            <a:ext cx="11906250" cy="1885950"/>
          </a:xfrm>
          <a:prstGeom prst="roundRect">
            <a:avLst>
              <a:gd name="adj" fmla="val 404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6225" y="48863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28" name="Rectangle 27"/>
          <p:cNvSpPr/>
          <p:nvPr/>
        </p:nvSpPr>
        <p:spPr>
          <a:xfrm>
            <a:off x="276225" y="51244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6225" y="5210175"/>
            <a:ext cx="11639550" cy="140017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Market Position: Company C captures ~17% of a US$ Mn SAM, with its strongest end-market in 'Infectious Disease Testing'.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Geographic Balance: 'East Asia' is the largest SOM region; 'East Asia' shows the highest SAM penetration (~54%).</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Growth Trajectory: a 1.08 book-to-bill and ~15% EBITDA margin point to a path to capture more of the addressable market.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Competitive Edge: ~24% win rate with a +4% ASP premium and 2.5x pipeline coverage.</a:t>
            </a:r>
          </a:p>
        </p:txBody>
      </p:sp>
      <p:sp>
        <p:nvSpPr>
          <p:cNvPr id="30" name="Rectangle 29"/>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32" name="Rounded Rectangle 31">
            <a:hlinkClick action="ppaction://hlinksldjump" r:id="rId7"/>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3" name="Rounded Rectangle 32">
            <a:hlinkClick action="ppaction://hlinksldjump" r:id="rId8"/>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34" name="Rounded Rectangle 33">
            <a:hlinkClick action="ppaction://hlinksldjump" r:id="rId9"/>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C Regional Penetration &amp; Win Position (2/5)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Regional penetration and competitive positioning highlighting growth potential, win rates and sales efficiency</a:t>
            </a:r>
          </a:p>
        </p:txBody>
      </p:sp>
      <p:sp>
        <p:nvSpPr>
          <p:cNvPr id="11" name="Rounded Rectangle 10"/>
          <p:cNvSpPr/>
          <p:nvPr/>
        </p:nvSpPr>
        <p:spPr>
          <a:xfrm>
            <a:off x="142875" y="857250"/>
            <a:ext cx="11906250" cy="266700"/>
          </a:xfrm>
          <a:prstGeom prst="roundRect">
            <a:avLst>
              <a:gd name="adj" fmla="val 28571"/>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Regional penetration and competitive positioning Company C: SOM vs SAM by region, win position, TAM/SAM/SOM and go-to-market benchmarks.</a:t>
            </a:r>
          </a:p>
        </p:txBody>
      </p:sp>
      <p:sp>
        <p:nvSpPr>
          <p:cNvPr id="12" name="Rounded Rectangle 11"/>
          <p:cNvSpPr/>
          <p:nvPr/>
        </p:nvSpPr>
        <p:spPr>
          <a:xfrm>
            <a:off x="142875" y="1162050"/>
            <a:ext cx="590550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192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SOM vs SAM Penetration by Region</a:t>
            </a:r>
          </a:p>
        </p:txBody>
      </p:sp>
      <p:graphicFrame>
        <p:nvGraphicFramePr>
          <p:cNvPr id="14" name="Chart 13"/>
          <p:cNvGraphicFramePr>
            <a:graphicFrameLocks noGrp="1"/>
          </p:cNvGraphicFramePr>
          <p:nvPr/>
        </p:nvGraphicFramePr>
        <p:xfrm>
          <a:off x="238125" y="1447800"/>
          <a:ext cx="5715000" cy="2019300"/>
        </p:xfrm>
        <a:graphic>
          <a:graphicData uri="http://schemas.openxmlformats.org/drawingml/2006/chart">
            <c:chart xmlns:c="http://schemas.openxmlformats.org/drawingml/2006/chart" r:id="rId3"/>
          </a:graphicData>
        </a:graphic>
      </p:graphicFrame>
      <p:sp>
        <p:nvSpPr>
          <p:cNvPr id="15" name="Rounded Rectangle 14"/>
          <p:cNvSpPr/>
          <p:nvPr/>
        </p:nvSpPr>
        <p:spPr>
          <a:xfrm>
            <a:off x="6162675" y="1162050"/>
            <a:ext cx="5886450" cy="2362200"/>
          </a:xfrm>
          <a:prstGeom prst="roundRect">
            <a:avLst>
              <a:gd name="adj" fmla="val 322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7925" y="12192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Competitive Win Position</a:t>
            </a:r>
          </a:p>
        </p:txBody>
      </p:sp>
      <p:cxnSp>
        <p:nvCxnSpPr>
          <p:cNvPr id="17" name="Connector 16"/>
          <p:cNvCxnSpPr/>
          <p:nvPr/>
        </p:nvCxnSpPr>
        <p:spPr>
          <a:xfrm>
            <a:off x="6581775" y="3181350"/>
            <a:ext cx="5257800" cy="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581775" y="1543050"/>
            <a:ext cx="0" cy="1638300"/>
          </a:xfrm>
          <a:prstGeom prst="line">
            <a:avLst/>
          </a:prstGeom>
          <a:ln w="12700">
            <a:solidFill>
              <a:srgbClr val="D7E0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67475" y="3200400"/>
            <a:ext cx="228600" cy="114300"/>
          </a:xfrm>
          <a:prstGeom prst="rect">
            <a:avLst/>
          </a:prstGeom>
          <a:noFill/>
        </p:spPr>
        <p:txBody>
          <a:bodyPr wrap="none" lIns="0" rIns="0" tIns="0" bIns="0">
            <a:spAutoFit/>
          </a:bodyPr>
          <a:lstStyle/>
          <a:p>
            <a:pPr algn="ctr"/>
            <a:r>
              <a:rPr sz="700" b="0">
                <a:solidFill>
                  <a:srgbClr val="6C7A89"/>
                </a:solidFill>
                <a:latin typeface="Calibri"/>
              </a:rPr>
              <a:t>0</a:t>
            </a:r>
          </a:p>
        </p:txBody>
      </p:sp>
      <p:sp>
        <p:nvSpPr>
          <p:cNvPr id="20" name="TextBox 19"/>
          <p:cNvSpPr txBox="1"/>
          <p:nvPr/>
        </p:nvSpPr>
        <p:spPr>
          <a:xfrm>
            <a:off x="7969704" y="3200400"/>
            <a:ext cx="228600" cy="114300"/>
          </a:xfrm>
          <a:prstGeom prst="rect">
            <a:avLst/>
          </a:prstGeom>
          <a:noFill/>
        </p:spPr>
        <p:txBody>
          <a:bodyPr wrap="none" lIns="0" rIns="0" tIns="0" bIns="0">
            <a:spAutoFit/>
          </a:bodyPr>
          <a:lstStyle/>
          <a:p>
            <a:pPr algn="ctr"/>
            <a:r>
              <a:rPr sz="700" b="0">
                <a:solidFill>
                  <a:srgbClr val="6C7A89"/>
                </a:solidFill>
                <a:latin typeface="Calibri"/>
              </a:rPr>
              <a:t>1</a:t>
            </a:r>
          </a:p>
        </p:txBody>
      </p:sp>
      <p:sp>
        <p:nvSpPr>
          <p:cNvPr id="21" name="TextBox 20"/>
          <p:cNvSpPr txBox="1"/>
          <p:nvPr/>
        </p:nvSpPr>
        <p:spPr>
          <a:xfrm>
            <a:off x="9471932" y="3200400"/>
            <a:ext cx="228600" cy="114300"/>
          </a:xfrm>
          <a:prstGeom prst="rect">
            <a:avLst/>
          </a:prstGeom>
          <a:noFill/>
        </p:spPr>
        <p:txBody>
          <a:bodyPr wrap="none" lIns="0" rIns="0" tIns="0" bIns="0">
            <a:spAutoFit/>
          </a:bodyPr>
          <a:lstStyle/>
          <a:p>
            <a:pPr algn="ctr"/>
            <a:r>
              <a:rPr sz="700" b="0">
                <a:solidFill>
                  <a:srgbClr val="6C7A89"/>
                </a:solidFill>
                <a:latin typeface="Calibri"/>
              </a:rPr>
              <a:t>2</a:t>
            </a:r>
          </a:p>
        </p:txBody>
      </p:sp>
      <p:sp>
        <p:nvSpPr>
          <p:cNvPr id="22" name="TextBox 21"/>
          <p:cNvSpPr txBox="1"/>
          <p:nvPr/>
        </p:nvSpPr>
        <p:spPr>
          <a:xfrm>
            <a:off x="10974161" y="3200400"/>
            <a:ext cx="228600" cy="114300"/>
          </a:xfrm>
          <a:prstGeom prst="rect">
            <a:avLst/>
          </a:prstGeom>
          <a:noFill/>
        </p:spPr>
        <p:txBody>
          <a:bodyPr wrap="none" lIns="0" rIns="0" tIns="0" bIns="0">
            <a:spAutoFit/>
          </a:bodyPr>
          <a:lstStyle/>
          <a:p>
            <a:pPr algn="ctr"/>
            <a:r>
              <a:rPr sz="700" b="0">
                <a:solidFill>
                  <a:srgbClr val="6C7A89"/>
                </a:solidFill>
                <a:latin typeface="Calibri"/>
              </a:rPr>
              <a:t>3</a:t>
            </a:r>
          </a:p>
        </p:txBody>
      </p:sp>
      <p:sp>
        <p:nvSpPr>
          <p:cNvPr id="23" name="TextBox 22"/>
          <p:cNvSpPr txBox="1"/>
          <p:nvPr/>
        </p:nvSpPr>
        <p:spPr>
          <a:xfrm>
            <a:off x="6581775" y="3314700"/>
            <a:ext cx="5257800" cy="114300"/>
          </a:xfrm>
          <a:prstGeom prst="rect">
            <a:avLst/>
          </a:prstGeom>
          <a:noFill/>
        </p:spPr>
        <p:txBody>
          <a:bodyPr wrap="square" lIns="28575" rIns="28575" tIns="9525" bIns="9525">
            <a:spAutoFit/>
          </a:bodyPr>
          <a:lstStyle/>
          <a:p>
            <a:pPr algn="ctr"/>
            <a:r>
              <a:rPr sz="800" b="0">
                <a:solidFill>
                  <a:srgbClr val="6C7A89"/>
                </a:solidFill>
                <a:latin typeface="Calibri"/>
              </a:rPr>
              <a:t>Win Rate %</a:t>
            </a:r>
          </a:p>
        </p:txBody>
      </p:sp>
      <p:sp>
        <p:nvSpPr>
          <p:cNvPr id="24" name="TextBox 23"/>
          <p:cNvSpPr txBox="1"/>
          <p:nvPr/>
        </p:nvSpPr>
        <p:spPr>
          <a:xfrm rot="16200000">
            <a:off x="6029325" y="2286000"/>
            <a:ext cx="571500" cy="152400"/>
          </a:xfrm>
          <a:prstGeom prst="rect">
            <a:avLst/>
          </a:prstGeom>
          <a:noFill/>
        </p:spPr>
        <p:txBody>
          <a:bodyPr wrap="square" lIns="28575" rIns="28575" tIns="9525" bIns="9525">
            <a:spAutoFit/>
          </a:bodyPr>
          <a:lstStyle/>
          <a:p>
            <a:pPr algn="ctr"/>
            <a:r>
              <a:rPr sz="800" b="0">
                <a:solidFill>
                  <a:srgbClr val="6C7A89"/>
                </a:solidFill>
                <a:latin typeface="Calibri"/>
              </a:rPr>
              <a:t>ASP vs Peer</a:t>
            </a:r>
          </a:p>
        </p:txBody>
      </p:sp>
      <p:sp>
        <p:nvSpPr>
          <p:cNvPr id="25" name="Oval 24"/>
          <p:cNvSpPr/>
          <p:nvPr/>
        </p:nvSpPr>
        <p:spPr>
          <a:xfrm>
            <a:off x="7900089" y="1869758"/>
            <a:ext cx="247650" cy="247650"/>
          </a:xfrm>
          <a:prstGeom prst="ellipse">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5839" y="1907858"/>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Company C</a:t>
            </a:r>
          </a:p>
        </p:txBody>
      </p:sp>
      <p:sp>
        <p:nvSpPr>
          <p:cNvPr id="27" name="Oval 26"/>
          <p:cNvSpPr/>
          <p:nvPr/>
        </p:nvSpPr>
        <p:spPr>
          <a:xfrm>
            <a:off x="9283609" y="1800225"/>
            <a:ext cx="304800" cy="304800"/>
          </a:xfrm>
          <a:prstGeom prst="ellipse">
            <a:avLst/>
          </a:prstGeom>
          <a:solidFill>
            <a:srgbClr val="8C8C8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26509" y="186690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Industry Avg.</a:t>
            </a:r>
          </a:p>
        </p:txBody>
      </p:sp>
      <p:sp>
        <p:nvSpPr>
          <p:cNvPr id="29" name="Oval 28"/>
          <p:cNvSpPr/>
          <p:nvPr/>
        </p:nvSpPr>
        <p:spPr>
          <a:xfrm>
            <a:off x="10513967" y="2647950"/>
            <a:ext cx="247650" cy="247650"/>
          </a:xfrm>
          <a:prstGeom prst="ellipse">
            <a:avLst/>
          </a:prstGeom>
          <a:solidFill>
            <a:srgbClr val="0E72A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706100" y="2686050"/>
            <a:ext cx="1428750" cy="171450"/>
          </a:xfrm>
          <a:prstGeom prst="rect">
            <a:avLst/>
          </a:prstGeom>
          <a:noFill/>
        </p:spPr>
        <p:txBody>
          <a:bodyPr wrap="square" lIns="28575" rIns="28575" tIns="9525" bIns="9525" anchor="ctr">
            <a:spAutoFit/>
          </a:bodyPr>
          <a:lstStyle/>
          <a:p>
            <a:pPr algn="l"/>
            <a:r>
              <a:rPr sz="950" b="1">
                <a:solidFill>
                  <a:srgbClr val="2E2E2E"/>
                </a:solidFill>
                <a:latin typeface="Calibri"/>
              </a:rPr>
              <a:t>Market Leader</a:t>
            </a:r>
          </a:p>
        </p:txBody>
      </p:sp>
      <p:sp>
        <p:nvSpPr>
          <p:cNvPr id="31" name="Rounded Rectangle 30"/>
          <p:cNvSpPr/>
          <p:nvPr/>
        </p:nvSpPr>
        <p:spPr>
          <a:xfrm>
            <a:off x="142875" y="3600450"/>
            <a:ext cx="590550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8125" y="365760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TAM · SAM · SOM (US$ Mn)</a:t>
            </a:r>
          </a:p>
        </p:txBody>
      </p:sp>
      <p:sp>
        <p:nvSpPr>
          <p:cNvPr id="33" name="Rectangle 32"/>
          <p:cNvSpPr/>
          <p:nvPr/>
        </p:nvSpPr>
        <p:spPr>
          <a:xfrm>
            <a:off x="238125" y="3886200"/>
            <a:ext cx="5715000" cy="387350"/>
          </a:xfrm>
          <a:prstGeom prst="rect">
            <a:avLst/>
          </a:prstGeom>
          <a:solidFill>
            <a:srgbClr val="0A2E4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TAM  ·  100%  ·  4,933 US$ Mn</a:t>
            </a:r>
          </a:p>
        </p:txBody>
      </p:sp>
      <p:sp>
        <p:nvSpPr>
          <p:cNvPr id="34" name="Rectangle 33"/>
          <p:cNvSpPr/>
          <p:nvPr/>
        </p:nvSpPr>
        <p:spPr>
          <a:xfrm>
            <a:off x="238125" y="4387850"/>
            <a:ext cx="4400550" cy="387350"/>
          </a:xfrm>
          <a:prstGeom prst="rect">
            <a:avLst/>
          </a:prstGeom>
          <a:solidFill>
            <a:srgbClr val="1668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SAM  ·  58% of TAM  ·  2,861 US$ Mn</a:t>
            </a:r>
          </a:p>
        </p:txBody>
      </p:sp>
      <p:sp>
        <p:nvSpPr>
          <p:cNvPr id="35" name="Rectangle 34"/>
          <p:cNvSpPr/>
          <p:nvPr/>
        </p:nvSpPr>
        <p:spPr>
          <a:xfrm>
            <a:off x="238125" y="4889500"/>
            <a:ext cx="3086100" cy="387350"/>
          </a:xfrm>
          <a:prstGeom prst="rect">
            <a:avLst/>
          </a:prstGeom>
          <a:solidFill>
            <a:srgbClr val="29ABE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57150" tIns="19050" bIns="19050"/>
          <a:lstStyle/>
          <a:p>
            <a:pPr algn="l"/>
            <a:r>
              <a:rPr sz="1150" b="1">
                <a:solidFill>
                  <a:srgbClr val="FFFFFF"/>
                </a:solidFill>
                <a:latin typeface="Calibri"/>
              </a:rPr>
              <a:t>SOM  ·  17% of SAM  ·  488.6 US$ Mn</a:t>
            </a:r>
          </a:p>
        </p:txBody>
      </p:sp>
      <p:sp>
        <p:nvSpPr>
          <p:cNvPr id="36" name="Rounded Rectangle 35"/>
          <p:cNvSpPr/>
          <p:nvPr/>
        </p:nvSpPr>
        <p:spPr>
          <a:xfrm>
            <a:off x="6162675" y="3600450"/>
            <a:ext cx="5886450" cy="1733550"/>
          </a:xfrm>
          <a:prstGeom prst="roundRect">
            <a:avLst>
              <a:gd name="adj" fmla="val 439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7925" y="3657600"/>
            <a:ext cx="56959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Go-to-Market Benchmarks (Target vs Actual)</a:t>
            </a:r>
          </a:p>
        </p:txBody>
      </p:sp>
      <p:sp>
        <p:nvSpPr>
          <p:cNvPr id="38" name="Rectangle 37"/>
          <p:cNvSpPr/>
          <p:nvPr/>
        </p:nvSpPr>
        <p:spPr>
          <a:xfrm>
            <a:off x="10391775" y="3905250"/>
            <a:ext cx="95250" cy="952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0607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Target</a:t>
            </a:r>
          </a:p>
        </p:txBody>
      </p:sp>
      <p:sp>
        <p:nvSpPr>
          <p:cNvPr id="40" name="Rectangle 39"/>
          <p:cNvSpPr/>
          <p:nvPr/>
        </p:nvSpPr>
        <p:spPr>
          <a:xfrm>
            <a:off x="11134725" y="3905250"/>
            <a:ext cx="95250" cy="95250"/>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249025" y="3876675"/>
            <a:ext cx="571500" cy="133350"/>
          </a:xfrm>
          <a:prstGeom prst="rect">
            <a:avLst/>
          </a:prstGeom>
          <a:noFill/>
        </p:spPr>
        <p:txBody>
          <a:bodyPr wrap="square" lIns="28575" rIns="28575" tIns="9525" bIns="9525">
            <a:spAutoFit/>
          </a:bodyPr>
          <a:lstStyle/>
          <a:p>
            <a:pPr algn="l"/>
            <a:r>
              <a:rPr sz="800" b="0">
                <a:solidFill>
                  <a:srgbClr val="2E2E2E"/>
                </a:solidFill>
                <a:latin typeface="Calibri"/>
              </a:rPr>
              <a:t>Actual</a:t>
            </a:r>
          </a:p>
        </p:txBody>
      </p:sp>
      <p:sp>
        <p:nvSpPr>
          <p:cNvPr id="42" name="TextBox 41"/>
          <p:cNvSpPr txBox="1"/>
          <p:nvPr/>
        </p:nvSpPr>
        <p:spPr>
          <a:xfrm>
            <a:off x="6276975" y="41306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Conversion (%)</a:t>
            </a:r>
          </a:p>
        </p:txBody>
      </p:sp>
      <p:sp>
        <p:nvSpPr>
          <p:cNvPr id="43" name="Rectangle 42"/>
          <p:cNvSpPr/>
          <p:nvPr/>
        </p:nvSpPr>
        <p:spPr>
          <a:xfrm>
            <a:off x="7381875" y="4134485"/>
            <a:ext cx="1775460"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81875" y="4254500"/>
            <a:ext cx="3195828"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6975" y="446722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Sales Cycle (Days)</a:t>
            </a:r>
          </a:p>
        </p:txBody>
      </p:sp>
      <p:sp>
        <p:nvSpPr>
          <p:cNvPr id="46" name="Rectangle 45"/>
          <p:cNvSpPr/>
          <p:nvPr/>
        </p:nvSpPr>
        <p:spPr>
          <a:xfrm>
            <a:off x="7381875" y="4471035"/>
            <a:ext cx="3817239"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381875" y="4591050"/>
            <a:ext cx="2219325"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76975" y="4803775"/>
            <a:ext cx="1066800" cy="228600"/>
          </a:xfrm>
          <a:prstGeom prst="rect">
            <a:avLst/>
          </a:prstGeom>
          <a:noFill/>
        </p:spPr>
        <p:txBody>
          <a:bodyPr wrap="square" lIns="28575" rIns="28575" tIns="9525" bIns="9525" anchor="ctr">
            <a:spAutoFit/>
          </a:bodyPr>
          <a:lstStyle/>
          <a:p>
            <a:pPr algn="l"/>
            <a:r>
              <a:rPr sz="850" b="0">
                <a:solidFill>
                  <a:srgbClr val="2E2E2E"/>
                </a:solidFill>
                <a:latin typeface="Calibri"/>
              </a:rPr>
              <a:t>Pipeline Coverage</a:t>
            </a:r>
          </a:p>
        </p:txBody>
      </p:sp>
      <p:sp>
        <p:nvSpPr>
          <p:cNvPr id="49" name="Rectangle 48"/>
          <p:cNvSpPr/>
          <p:nvPr/>
        </p:nvSpPr>
        <p:spPr>
          <a:xfrm>
            <a:off x="7381875" y="4807585"/>
            <a:ext cx="2130552" cy="100965"/>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81875" y="4927600"/>
            <a:ext cx="3550920" cy="100965"/>
          </a:xfrm>
          <a:prstGeom prst="rect">
            <a:avLst/>
          </a:pr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42875" y="5410200"/>
            <a:ext cx="11906250" cy="1257300"/>
          </a:xfrm>
          <a:prstGeom prst="roundRect">
            <a:avLst>
              <a:gd name="adj" fmla="val 6060"/>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6225" y="5495925"/>
            <a:ext cx="11639550" cy="209550"/>
          </a:xfrm>
          <a:prstGeom prst="rect">
            <a:avLst/>
          </a:prstGeom>
          <a:noFill/>
        </p:spPr>
        <p:txBody>
          <a:bodyPr wrap="square" lIns="0" rIns="19050" tIns="9525" bIns="9525">
            <a:spAutoFit/>
          </a:bodyPr>
          <a:lstStyle/>
          <a:p>
            <a:pPr algn="l"/>
            <a:r>
              <a:rPr sz="1300" b="1">
                <a:solidFill>
                  <a:srgbClr val="0B2E4A"/>
                </a:solidFill>
                <a:latin typeface="Calibri"/>
              </a:rPr>
              <a:t>Key Takeaways</a:t>
            </a:r>
          </a:p>
        </p:txBody>
      </p:sp>
      <p:sp>
        <p:nvSpPr>
          <p:cNvPr id="53" name="Rectangle 52"/>
          <p:cNvSpPr/>
          <p:nvPr/>
        </p:nvSpPr>
        <p:spPr>
          <a:xfrm>
            <a:off x="276225" y="5734050"/>
            <a:ext cx="116395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76225" y="5819775"/>
            <a:ext cx="11639550" cy="771525"/>
          </a:xfrm>
          <a:prstGeom prst="rect">
            <a:avLst/>
          </a:prstGeom>
          <a:noFill/>
        </p:spPr>
        <p:txBody>
          <a:bodyPr wrap="square" lIns="0" rIns="19050" tIns="9525" bIns="9525">
            <a:spAutoFit/>
          </a:bodyPr>
          <a:lstStyle/>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Regional Opportunity: 'East Asia' shows the highest SAM penetration; lower-penetration regions are the growth headroom.</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Competitive Edge: ~24% win rate with a +4% ASP premium signals value recognition; 2.5x pipeline coverage underpins growth.</a:t>
            </a:r>
          </a:p>
          <a:p>
            <a:pPr algn="l">
              <a:lnSpc>
                <a:spcPct val="110000"/>
              </a:lnSpc>
              <a:spcBef>
                <a:spcPts val="0"/>
              </a:spcBef>
              <a:spcAft>
                <a:spcPts val="500"/>
              </a:spcAft>
            </a:pPr>
            <a:r>
              <a:rPr sz="990" b="0">
                <a:solidFill>
                  <a:srgbClr val="0E72AE"/>
                </a:solidFill>
                <a:latin typeface="Calibri"/>
              </a:rPr>
              <a:t>▪  </a:t>
            </a:r>
            <a:r>
              <a:rPr sz="1100" b="0">
                <a:solidFill>
                  <a:srgbClr val="2E2E2E"/>
                </a:solidFill>
                <a:latin typeface="Calibri"/>
              </a:rPr>
              <a:t>Sales Efficiency: a ~85-day sales cycle and ~38% conversion support faster share capture.</a:t>
            </a:r>
          </a:p>
        </p:txBody>
      </p:sp>
      <p:sp>
        <p:nvSpPr>
          <p:cNvPr id="55" name="Rectangle 5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57" name="Rounded Rectangle 56">
            <a:hlinkClick action="ppaction://hlinksldjump" r:id="rId5"/>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8" name="Rounded Rectangle 57">
            <a:hlinkClick action="ppaction://hlinksldjump" r:id="rId6"/>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59" name="Rounded Rectangle 58">
            <a:hlinkClick action="ppaction://hlinksldjump" r:id="rId7"/>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C SWOT Analysis (3/5)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SWOT assessment of Company C: strengths, weaknesses, opportunities and threats shaping its competitive position</a:t>
            </a:r>
          </a:p>
        </p:txBody>
      </p:sp>
      <p:sp>
        <p:nvSpPr>
          <p:cNvPr id="11" name="TextBox 10"/>
          <p:cNvSpPr txBox="1"/>
          <p:nvPr/>
        </p:nvSpPr>
        <p:spPr>
          <a:xfrm>
            <a:off x="142875" y="857250"/>
            <a:ext cx="11906250" cy="171450"/>
          </a:xfrm>
          <a:prstGeom prst="rect">
            <a:avLst/>
          </a:prstGeom>
          <a:noFill/>
        </p:spPr>
        <p:txBody>
          <a:bodyPr wrap="square" lIns="28575" rIns="28575" tIns="9525" bIns="9525" anchor="ctr">
            <a:spAutoFit/>
          </a:bodyPr>
          <a:lstStyle/>
          <a:p>
            <a:pPr algn="l"/>
            <a:r>
              <a:rPr sz="1150" b="0">
                <a:solidFill>
                  <a:srgbClr val="2E2E2E"/>
                </a:solidFill>
                <a:latin typeface="Calibri"/>
              </a:rPr>
              <a:t>SWOT assessment Company C: strengths, weaknesses, opportunities and threats (indicative).</a:t>
            </a:r>
          </a:p>
        </p:txBody>
      </p:sp>
      <p:cxnSp>
        <p:nvCxnSpPr>
          <p:cNvPr id="12" name="Connector 11"/>
          <p:cNvCxnSpPr/>
          <p:nvPr/>
        </p:nvCxnSpPr>
        <p:spPr>
          <a:xfrm>
            <a:off x="3810000" y="3867150"/>
            <a:ext cx="4572000" cy="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96000" y="1809750"/>
            <a:ext cx="0" cy="4114800"/>
          </a:xfrm>
          <a:prstGeom prst="line">
            <a:avLst/>
          </a:prstGeom>
          <a:ln w="17780">
            <a:solidFill>
              <a:srgbClr val="B9C4CE"/>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3757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29612" y="38147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43612" y="17573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3612" y="5872162"/>
            <a:ext cx="104775" cy="104775"/>
          </a:xfrm>
          <a:prstGeom prst="ellipse">
            <a:avLst/>
          </a:prstGeom>
          <a:solidFill>
            <a:srgbClr val="B9C4CE"/>
          </a:solidFill>
          <a:ln w="12700">
            <a:solidFill>
              <a:srgbClr val="B9C4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24400" y="2495550"/>
            <a:ext cx="1257300" cy="1257300"/>
          </a:xfrm>
          <a:prstGeom prst="roundRect">
            <a:avLst>
              <a:gd name="adj" fmla="val 12121"/>
            </a:avLst>
          </a:prstGeom>
          <a:noFill/>
          <a:ln w="19050">
            <a:solidFill>
              <a:srgbClr val="69B1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0300" y="2495550"/>
            <a:ext cx="1257300" cy="1257300"/>
          </a:xfrm>
          <a:prstGeom prst="roundRect">
            <a:avLst>
              <a:gd name="adj" fmla="val 12121"/>
            </a:avLst>
          </a:prstGeom>
          <a:noFill/>
          <a:ln w="19050">
            <a:solidFill>
              <a:srgbClr val="0B2E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24400" y="3981450"/>
            <a:ext cx="1257300" cy="1257300"/>
          </a:xfrm>
          <a:prstGeom prst="roundRect">
            <a:avLst>
              <a:gd name="adj" fmla="val 12121"/>
            </a:avLst>
          </a:prstGeom>
          <a:noFill/>
          <a:ln w="19050">
            <a:solidFill>
              <a:srgbClr val="A3531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10300" y="3981450"/>
            <a:ext cx="1257300" cy="1257300"/>
          </a:xfrm>
          <a:prstGeom prst="roundRect">
            <a:avLst>
              <a:gd name="adj" fmla="val 12121"/>
            </a:avLst>
          </a:prstGeom>
          <a:noFill/>
          <a:ln w="19050">
            <a:solidFill>
              <a:srgbClr val="A86F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5524500" y="2914650"/>
            <a:ext cx="1143000" cy="838200"/>
          </a:xfrm>
          <a:custGeom>
            <a:avLst/>
            <a:gdLst/>
            <a:ahLst/>
            <a:cxnLst/>
            <a:rect l="l" t="t" r="r" b="b"/>
            <a:pathLst>
              <a:path w="120" h="88">
                <a:moveTo>
                  <a:pt x="0" y="0"/>
                </a:moveTo>
                <a:lnTo>
                  <a:pt x="120" y="0"/>
                </a:lnTo>
                <a:lnTo>
                  <a:pt x="60" y="88"/>
                </a:lnTo>
                <a:close/>
              </a:path>
            </a:pathLst>
          </a:custGeom>
          <a:solidFill>
            <a:srgbClr val="69B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524500" y="3981450"/>
            <a:ext cx="1143000" cy="838200"/>
          </a:xfrm>
          <a:custGeom>
            <a:avLst/>
            <a:gdLst/>
            <a:ahLst/>
            <a:cxnLst/>
            <a:rect l="l" t="t" r="r" b="b"/>
            <a:pathLst>
              <a:path w="120" h="88">
                <a:moveTo>
                  <a:pt x="0" y="88"/>
                </a:moveTo>
                <a:lnTo>
                  <a:pt x="120" y="88"/>
                </a:lnTo>
                <a:lnTo>
                  <a:pt x="60" y="0"/>
                </a:lnTo>
                <a:close/>
              </a:path>
            </a:pathLst>
          </a:cu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5143500" y="3295650"/>
            <a:ext cx="838200" cy="1143000"/>
          </a:xfrm>
          <a:custGeom>
            <a:avLst/>
            <a:gdLst/>
            <a:ahLst/>
            <a:cxnLst/>
            <a:rect l="l" t="t" r="r" b="b"/>
            <a:pathLst>
              <a:path w="88" h="120">
                <a:moveTo>
                  <a:pt x="0" y="0"/>
                </a:moveTo>
                <a:lnTo>
                  <a:pt x="0" y="120"/>
                </a:lnTo>
                <a:lnTo>
                  <a:pt x="88" y="60"/>
                </a:lnTo>
                <a:close/>
              </a:path>
            </a:pathLst>
          </a:cu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6210300" y="3295650"/>
            <a:ext cx="838200" cy="1143000"/>
          </a:xfrm>
          <a:custGeom>
            <a:avLst/>
            <a:gdLst/>
            <a:ahLst/>
            <a:cxnLst/>
            <a:rect l="l" t="t" r="r" b="b"/>
            <a:pathLst>
              <a:path w="88" h="120">
                <a:moveTo>
                  <a:pt x="88" y="0"/>
                </a:moveTo>
                <a:lnTo>
                  <a:pt x="88" y="120"/>
                </a:lnTo>
                <a:lnTo>
                  <a:pt x="0" y="60"/>
                </a:lnTo>
                <a:close/>
              </a:path>
            </a:pathLst>
          </a:cu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86450" y="3190875"/>
            <a:ext cx="419100" cy="285750"/>
          </a:xfrm>
          <a:prstGeom prst="rect">
            <a:avLst/>
          </a:prstGeom>
          <a:noFill/>
        </p:spPr>
        <p:txBody>
          <a:bodyPr wrap="none" lIns="0" rIns="0" tIns="0" bIns="0" anchor="ctr">
            <a:spAutoFit/>
          </a:bodyPr>
          <a:lstStyle/>
          <a:p>
            <a:pPr algn="ctr"/>
            <a:r>
              <a:rPr sz="2100" b="1">
                <a:solidFill>
                  <a:srgbClr val="1F2933"/>
                </a:solidFill>
                <a:latin typeface="Calibri"/>
              </a:rPr>
              <a:t>S</a:t>
            </a:r>
          </a:p>
        </p:txBody>
      </p:sp>
      <p:sp>
        <p:nvSpPr>
          <p:cNvPr id="27" name="TextBox 26"/>
          <p:cNvSpPr txBox="1"/>
          <p:nvPr/>
        </p:nvSpPr>
        <p:spPr>
          <a:xfrm>
            <a:off x="5886450" y="4257675"/>
            <a:ext cx="419100" cy="285750"/>
          </a:xfrm>
          <a:prstGeom prst="rect">
            <a:avLst/>
          </a:prstGeom>
          <a:noFill/>
        </p:spPr>
        <p:txBody>
          <a:bodyPr wrap="none" lIns="0" rIns="0" tIns="0" bIns="0" anchor="ctr">
            <a:spAutoFit/>
          </a:bodyPr>
          <a:lstStyle/>
          <a:p>
            <a:pPr algn="ctr"/>
            <a:r>
              <a:rPr sz="2100" b="1">
                <a:solidFill>
                  <a:srgbClr val="FFFFFF"/>
                </a:solidFill>
                <a:latin typeface="Calibri"/>
              </a:rPr>
              <a:t>O</a:t>
            </a:r>
          </a:p>
        </p:txBody>
      </p:sp>
      <p:sp>
        <p:nvSpPr>
          <p:cNvPr id="28" name="TextBox 27"/>
          <p:cNvSpPr txBox="1"/>
          <p:nvPr/>
        </p:nvSpPr>
        <p:spPr>
          <a:xfrm>
            <a:off x="53530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T</a:t>
            </a:r>
          </a:p>
        </p:txBody>
      </p:sp>
      <p:sp>
        <p:nvSpPr>
          <p:cNvPr id="29" name="TextBox 28"/>
          <p:cNvSpPr txBox="1"/>
          <p:nvPr/>
        </p:nvSpPr>
        <p:spPr>
          <a:xfrm>
            <a:off x="6419850" y="3724275"/>
            <a:ext cx="419100" cy="285750"/>
          </a:xfrm>
          <a:prstGeom prst="rect">
            <a:avLst/>
          </a:prstGeom>
          <a:noFill/>
        </p:spPr>
        <p:txBody>
          <a:bodyPr wrap="none" lIns="0" rIns="0" tIns="0" bIns="0" anchor="ctr">
            <a:spAutoFit/>
          </a:bodyPr>
          <a:lstStyle/>
          <a:p>
            <a:pPr algn="ctr"/>
            <a:r>
              <a:rPr sz="2100" b="1">
                <a:solidFill>
                  <a:srgbClr val="FFFFFF"/>
                </a:solidFill>
                <a:latin typeface="Calibri"/>
              </a:rPr>
              <a:t>W</a:t>
            </a:r>
          </a:p>
        </p:txBody>
      </p:sp>
      <p:sp>
        <p:nvSpPr>
          <p:cNvPr id="30" name="TextBox 29"/>
          <p:cNvSpPr txBox="1"/>
          <p:nvPr/>
        </p:nvSpPr>
        <p:spPr>
          <a:xfrm>
            <a:off x="190500" y="1162050"/>
            <a:ext cx="3667125" cy="190500"/>
          </a:xfrm>
          <a:prstGeom prst="rect">
            <a:avLst/>
          </a:prstGeom>
          <a:noFill/>
        </p:spPr>
        <p:txBody>
          <a:bodyPr wrap="square" lIns="28575" rIns="28575" tIns="9525" bIns="9525" anchor="ctr">
            <a:spAutoFit/>
          </a:bodyPr>
          <a:lstStyle/>
          <a:p>
            <a:pPr algn="l"/>
            <a:r>
              <a:rPr sz="1350" b="1">
                <a:solidFill>
                  <a:srgbClr val="0B2E4A"/>
                </a:solidFill>
                <a:latin typeface="Calibri"/>
              </a:rPr>
              <a:t>Strengths</a:t>
            </a:r>
          </a:p>
        </p:txBody>
      </p:sp>
      <p:sp>
        <p:nvSpPr>
          <p:cNvPr id="31" name="Rectangle 30"/>
          <p:cNvSpPr/>
          <p:nvPr/>
        </p:nvSpPr>
        <p:spPr>
          <a:xfrm>
            <a:off x="190500" y="1371600"/>
            <a:ext cx="1428750" cy="19050"/>
          </a:xfrm>
          <a:prstGeom prst="rect">
            <a:avLst/>
          </a:prstGeom>
          <a:solidFill>
            <a:srgbClr val="0B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04788" y="14811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3375"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~24% win rate with a +4% ASP premium clear value recognition.</a:t>
            </a:r>
          </a:p>
        </p:txBody>
      </p:sp>
      <p:sp>
        <p:nvSpPr>
          <p:cNvPr id="34" name="Oval 33"/>
          <p:cNvSpPr/>
          <p:nvPr/>
        </p:nvSpPr>
        <p:spPr>
          <a:xfrm>
            <a:off x="204788" y="195738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375"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Balanced SOM across regions and end-markets; strongest in 'East Asia'.</a:t>
            </a:r>
          </a:p>
        </p:txBody>
      </p:sp>
      <p:sp>
        <p:nvSpPr>
          <p:cNvPr id="36" name="Oval 35"/>
          <p:cNvSpPr/>
          <p:nvPr/>
        </p:nvSpPr>
        <p:spPr>
          <a:xfrm>
            <a:off x="204788" y="2433638"/>
            <a:ext cx="66675" cy="66675"/>
          </a:xfrm>
          <a:prstGeom prst="ellipse">
            <a:avLst/>
          </a:prstGeom>
          <a:solidFill>
            <a:srgbClr val="0B2E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3375"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1.08 book-to-bill and ~15% EBITDA signal healthy momentum.</a:t>
            </a:r>
          </a:p>
        </p:txBody>
      </p:sp>
      <p:sp>
        <p:nvSpPr>
          <p:cNvPr id="38" name="TextBox 37"/>
          <p:cNvSpPr txBox="1"/>
          <p:nvPr/>
        </p:nvSpPr>
        <p:spPr>
          <a:xfrm>
            <a:off x="8334375" y="1162050"/>
            <a:ext cx="3667125" cy="190500"/>
          </a:xfrm>
          <a:prstGeom prst="rect">
            <a:avLst/>
          </a:prstGeom>
          <a:noFill/>
        </p:spPr>
        <p:txBody>
          <a:bodyPr wrap="square" lIns="28575" rIns="28575" tIns="9525" bIns="9525" anchor="ctr">
            <a:spAutoFit/>
          </a:bodyPr>
          <a:lstStyle/>
          <a:p>
            <a:pPr algn="l"/>
            <a:r>
              <a:rPr sz="1350" b="1">
                <a:solidFill>
                  <a:srgbClr val="082238"/>
                </a:solidFill>
                <a:latin typeface="Calibri"/>
              </a:rPr>
              <a:t>Weaknesses</a:t>
            </a:r>
          </a:p>
        </p:txBody>
      </p:sp>
      <p:sp>
        <p:nvSpPr>
          <p:cNvPr id="39" name="Rectangle 38"/>
          <p:cNvSpPr/>
          <p:nvPr/>
        </p:nvSpPr>
        <p:spPr>
          <a:xfrm>
            <a:off x="8334375" y="1371600"/>
            <a:ext cx="1428750" cy="19050"/>
          </a:xfrm>
          <a:prstGeom prst="rect">
            <a:avLst/>
          </a:prstGeom>
          <a:solidFill>
            <a:srgbClr val="08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348662" y="14811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77250" y="14478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~9.9% share leaves a scale gap versus the market leader.</a:t>
            </a:r>
          </a:p>
        </p:txBody>
      </p:sp>
      <p:sp>
        <p:nvSpPr>
          <p:cNvPr id="42" name="Oval 41"/>
          <p:cNvSpPr/>
          <p:nvPr/>
        </p:nvSpPr>
        <p:spPr>
          <a:xfrm>
            <a:off x="8348662" y="195738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77250" y="19240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Uneven SAM penetration strong in 'East Asia', thin elsewhere.</a:t>
            </a:r>
          </a:p>
        </p:txBody>
      </p:sp>
      <p:sp>
        <p:nvSpPr>
          <p:cNvPr id="44" name="Oval 43"/>
          <p:cNvSpPr/>
          <p:nvPr/>
        </p:nvSpPr>
        <p:spPr>
          <a:xfrm>
            <a:off x="8348662" y="2433638"/>
            <a:ext cx="66675" cy="66675"/>
          </a:xfrm>
          <a:prstGeom prst="ellipse">
            <a:avLst/>
          </a:prstGeom>
          <a:solidFill>
            <a:srgbClr val="08223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77250" y="24003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Reliance on a few large accounts/regions raises concentration risk.</a:t>
            </a:r>
          </a:p>
        </p:txBody>
      </p:sp>
      <p:sp>
        <p:nvSpPr>
          <p:cNvPr id="46" name="TextBox 45"/>
          <p:cNvSpPr txBox="1"/>
          <p:nvPr/>
        </p:nvSpPr>
        <p:spPr>
          <a:xfrm>
            <a:off x="190500" y="4038600"/>
            <a:ext cx="3667125" cy="190500"/>
          </a:xfrm>
          <a:prstGeom prst="rect">
            <a:avLst/>
          </a:prstGeom>
          <a:noFill/>
        </p:spPr>
        <p:txBody>
          <a:bodyPr wrap="square" lIns="28575" rIns="28575" tIns="9525" bIns="9525" anchor="ctr">
            <a:spAutoFit/>
          </a:bodyPr>
          <a:lstStyle/>
          <a:p>
            <a:pPr algn="l"/>
            <a:r>
              <a:rPr sz="1350" b="1">
                <a:solidFill>
                  <a:srgbClr val="A35313"/>
                </a:solidFill>
                <a:latin typeface="Calibri"/>
              </a:rPr>
              <a:t>Threats</a:t>
            </a:r>
          </a:p>
        </p:txBody>
      </p:sp>
      <p:sp>
        <p:nvSpPr>
          <p:cNvPr id="47" name="Rectangle 46"/>
          <p:cNvSpPr/>
          <p:nvPr/>
        </p:nvSpPr>
        <p:spPr>
          <a:xfrm>
            <a:off x="190500" y="4248150"/>
            <a:ext cx="1428750" cy="19050"/>
          </a:xfrm>
          <a:prstGeom prst="rect">
            <a:avLst/>
          </a:prstGeom>
          <a:solidFill>
            <a:srgbClr val="A35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04788" y="43576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3375"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Intense competition ~2.5x pipeline needed to convert.</a:t>
            </a:r>
          </a:p>
        </p:txBody>
      </p:sp>
      <p:sp>
        <p:nvSpPr>
          <p:cNvPr id="50" name="Oval 49"/>
          <p:cNvSpPr/>
          <p:nvPr/>
        </p:nvSpPr>
        <p:spPr>
          <a:xfrm>
            <a:off x="204788" y="483393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33375"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Input-cost inflation and price pressure can squeeze margin.</a:t>
            </a:r>
          </a:p>
        </p:txBody>
      </p:sp>
      <p:sp>
        <p:nvSpPr>
          <p:cNvPr id="52" name="Oval 51"/>
          <p:cNvSpPr/>
          <p:nvPr/>
        </p:nvSpPr>
        <p:spPr>
          <a:xfrm>
            <a:off x="204788" y="5310188"/>
            <a:ext cx="66675" cy="66675"/>
          </a:xfrm>
          <a:prstGeom prst="ellipse">
            <a:avLst/>
          </a:prstGeom>
          <a:solidFill>
            <a:srgbClr val="A3531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3375"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Tier-1 incumbents and regulation raise barriers and switching friction.</a:t>
            </a:r>
          </a:p>
        </p:txBody>
      </p:sp>
      <p:sp>
        <p:nvSpPr>
          <p:cNvPr id="54" name="TextBox 53"/>
          <p:cNvSpPr txBox="1"/>
          <p:nvPr/>
        </p:nvSpPr>
        <p:spPr>
          <a:xfrm>
            <a:off x="8334375" y="4038600"/>
            <a:ext cx="3667125" cy="190500"/>
          </a:xfrm>
          <a:prstGeom prst="rect">
            <a:avLst/>
          </a:prstGeom>
          <a:noFill/>
        </p:spPr>
        <p:txBody>
          <a:bodyPr wrap="square" lIns="28575" rIns="28575" tIns="9525" bIns="9525" anchor="ctr">
            <a:spAutoFit/>
          </a:bodyPr>
          <a:lstStyle/>
          <a:p>
            <a:pPr algn="l"/>
            <a:r>
              <a:rPr sz="1350" b="1">
                <a:solidFill>
                  <a:srgbClr val="A86F00"/>
                </a:solidFill>
                <a:latin typeface="Calibri"/>
              </a:rPr>
              <a:t>Opportunities</a:t>
            </a:r>
          </a:p>
        </p:txBody>
      </p:sp>
      <p:sp>
        <p:nvSpPr>
          <p:cNvPr id="55" name="Rectangle 54"/>
          <p:cNvSpPr/>
          <p:nvPr/>
        </p:nvSpPr>
        <p:spPr>
          <a:xfrm>
            <a:off x="8334375" y="4248150"/>
            <a:ext cx="1428750" cy="19050"/>
          </a:xfrm>
          <a:prstGeom prst="rect">
            <a:avLst/>
          </a:prstGeom>
          <a:solidFill>
            <a:srgbClr val="A86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8348662" y="43576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77250" y="43243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Premiumisation headroom in 'Capillary Blood Collection Containers' and adjacent high-value lines.</a:t>
            </a:r>
          </a:p>
        </p:txBody>
      </p:sp>
      <p:sp>
        <p:nvSpPr>
          <p:cNvPr id="58" name="Oval 57"/>
          <p:cNvSpPr/>
          <p:nvPr/>
        </p:nvSpPr>
        <p:spPr>
          <a:xfrm>
            <a:off x="8348662" y="483393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77250" y="480060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Under-penetrated regions offer share-capture runway.</a:t>
            </a:r>
          </a:p>
        </p:txBody>
      </p:sp>
      <p:sp>
        <p:nvSpPr>
          <p:cNvPr id="60" name="Oval 59"/>
          <p:cNvSpPr/>
          <p:nvPr/>
        </p:nvSpPr>
        <p:spPr>
          <a:xfrm>
            <a:off x="8348662" y="5310188"/>
            <a:ext cx="66675" cy="66675"/>
          </a:xfrm>
          <a:prstGeom prst="ellipse">
            <a:avLst/>
          </a:prstGeom>
          <a:solidFill>
            <a:srgbClr val="A86F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77250" y="5276850"/>
            <a:ext cx="3505200" cy="457200"/>
          </a:xfrm>
          <a:prstGeom prst="rect">
            <a:avLst/>
          </a:prstGeom>
          <a:noFill/>
        </p:spPr>
        <p:txBody>
          <a:bodyPr wrap="square" lIns="28575" rIns="28575" tIns="9525" bIns="9525" anchor="ctr">
            <a:spAutoFit/>
          </a:bodyPr>
          <a:lstStyle/>
          <a:p>
            <a:pPr algn="l">
              <a:lnSpc>
                <a:spcPct val="115000"/>
              </a:lnSpc>
            </a:pPr>
            <a:r>
              <a:rPr sz="900" b="0">
                <a:solidFill>
                  <a:srgbClr val="2E2E2E"/>
                </a:solidFill>
                <a:latin typeface="Calibri"/>
              </a:rPr>
              <a:t>Channel shift to online and clinics opens new demand pools.</a:t>
            </a:r>
          </a:p>
        </p:txBody>
      </p:sp>
      <p:sp>
        <p:nvSpPr>
          <p:cNvPr id="62" name="TextBox 61"/>
          <p:cNvSpPr txBox="1"/>
          <p:nvPr/>
        </p:nvSpPr>
        <p:spPr>
          <a:xfrm>
            <a:off x="5334000" y="6553200"/>
            <a:ext cx="6715125" cy="133350"/>
          </a:xfrm>
          <a:prstGeom prst="rect">
            <a:avLst/>
          </a:prstGeom>
          <a:noFill/>
        </p:spPr>
        <p:txBody>
          <a:bodyPr wrap="square" lIns="28575" rIns="28575" tIns="9525" bIns="9525" anchor="ctr">
            <a:spAutoFit/>
          </a:bodyPr>
          <a:lstStyle/>
          <a:p>
            <a:pPr algn="l"/>
            <a:r>
              <a:rPr sz="800" b="0">
                <a:solidFill>
                  <a:srgbClr val="C0392B"/>
                </a:solidFill>
                <a:latin typeface="Calibri"/>
              </a:rPr>
              <a:t>Note: competitor figures are indicative derived from market modelling and expert validation, not company disclosures.</a:t>
            </a:r>
          </a:p>
        </p:txBody>
      </p:sp>
      <p:sp>
        <p:nvSpPr>
          <p:cNvPr id="63" name="Rectangle 62"/>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65" name="Rounded Rectangle 64">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6" name="Rounded Rectangle 65">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67" name="Rounded Rectangle 66">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C Key Financials (4/5)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C's financial performance, key ratios and pricing, highlighting margin and momentum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Key financials and pricing Company C (all figures indicative, USD Mn unless noted).</a:t>
            </a:r>
          </a:p>
        </p:txBody>
      </p:sp>
      <p:sp>
        <p:nvSpPr>
          <p:cNvPr id="12" name="Rounded Rectangle 11"/>
          <p:cNvSpPr/>
          <p:nvPr/>
        </p:nvSpPr>
        <p:spPr>
          <a:xfrm>
            <a:off x="142875" y="1219200"/>
            <a:ext cx="5905500" cy="2000250"/>
          </a:xfrm>
          <a:prstGeom prst="roundRect">
            <a:avLst>
              <a:gd name="adj" fmla="val 3809"/>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8125" y="12763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Financial Performance</a:t>
            </a:r>
          </a:p>
        </p:txBody>
      </p:sp>
      <p:graphicFrame>
        <p:nvGraphicFramePr>
          <p:cNvPr id="14" name="Table 13"/>
          <p:cNvGraphicFramePr>
            <a:graphicFrameLocks noGrp="1"/>
          </p:cNvGraphicFramePr>
          <p:nvPr/>
        </p:nvGraphicFramePr>
        <p:xfrm>
          <a:off x="238125" y="1504950"/>
          <a:ext cx="5715000" cy="904875"/>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USD Mn</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Revenue</a:t>
                      </a:r>
                    </a:p>
                  </a:txBody>
                  <a:tcPr marL="85725" marR="38100" marT="19050" marB="19050" anchor="ctr">
                    <a:solidFill>
                      <a:srgbClr val="FFFFFF"/>
                    </a:solidFill>
                  </a:tcPr>
                </a:tc>
                <a:tc>
                  <a:txBody>
                    <a:bodyPr wrap="none"/>
                    <a:lstStyle/>
                    <a:p>
                      <a:pPr algn="l"/>
                      <a:r>
                        <a:rPr sz="900" b="0">
                          <a:solidFill>
                            <a:srgbClr val="2E2E2E"/>
                          </a:solidFill>
                          <a:latin typeface="Calibri"/>
                        </a:rPr>
                        <a:t>1,486</a:t>
                      </a:r>
                    </a:p>
                  </a:txBody>
                  <a:tcPr marL="85725" marR="38100" marT="19050" marB="19050" anchor="ctr">
                    <a:solidFill>
                      <a:srgbClr val="FFFFFF"/>
                    </a:solidFill>
                  </a:tcPr>
                </a:tc>
                <a:tc>
                  <a:txBody>
                    <a:bodyPr wrap="none"/>
                    <a:lstStyle/>
                    <a:p>
                      <a:pPr algn="l"/>
                      <a:r>
                        <a:rPr sz="900" b="0">
                          <a:solidFill>
                            <a:srgbClr val="2E2E2E"/>
                          </a:solidFill>
                          <a:latin typeface="Calibri"/>
                        </a:rPr>
                        <a:t>1,601</a:t>
                      </a:r>
                    </a:p>
                  </a:txBody>
                  <a:tcPr marL="85725" marR="38100" marT="19050" marB="19050" anchor="ctr">
                    <a:solidFill>
                      <a:srgbClr val="FFFFFF"/>
                    </a:solidFill>
                  </a:tcPr>
                </a:tc>
                <a:tc>
                  <a:txBody>
                    <a:bodyPr wrap="none"/>
                    <a:lstStyle/>
                    <a:p>
                      <a:pPr algn="l"/>
                      <a:r>
                        <a:rPr sz="900" b="0">
                          <a:solidFill>
                            <a:srgbClr val="2E2E2E"/>
                          </a:solidFill>
                          <a:latin typeface="Calibri"/>
                        </a:rPr>
                        <a:t>1,715</a:t>
                      </a:r>
                    </a:p>
                  </a:txBody>
                  <a:tcPr marL="85725" marR="38100" marT="19050" marB="19050" anchor="ctr">
                    <a:solidFill>
                      <a:srgbClr val="FFFFFF"/>
                    </a:solidFill>
                  </a:tcPr>
                </a:tc>
                <a:tc>
                  <a:txBody>
                    <a:bodyPr wrap="none"/>
                    <a:lstStyle/>
                    <a:p>
                      <a:pPr algn="l"/>
                      <a:r>
                        <a:rPr sz="900" b="0">
                          <a:solidFill>
                            <a:srgbClr val="2E2E2E"/>
                          </a:solidFill>
                          <a:latin typeface="Calibri"/>
                        </a:rPr>
                        <a:t>1,829</a:t>
                      </a:r>
                    </a:p>
                  </a:txBody>
                  <a:tcPr marL="85725" marR="38100" marT="19050" marB="19050" anchor="ctr">
                    <a:solidFill>
                      <a:srgbClr val="FFFFFF"/>
                    </a:solidFill>
                  </a:tcPr>
                </a:tc>
                <a:tc>
                  <a:txBody>
                    <a:bodyPr wrap="none"/>
                    <a:lstStyle/>
                    <a:p>
                      <a:pPr algn="l"/>
                      <a:r>
                        <a:rPr sz="900" b="0">
                          <a:solidFill>
                            <a:srgbClr val="2E2E2E"/>
                          </a:solidFill>
                          <a:latin typeface="Calibri"/>
                        </a:rPr>
                        <a:t>1,944</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Gross Profit</a:t>
                      </a:r>
                    </a:p>
                  </a:txBody>
                  <a:tcPr marL="85725" marR="38100" marT="19050" marB="19050" anchor="ctr">
                    <a:solidFill>
                      <a:srgbClr val="F5F8FA"/>
                    </a:solidFill>
                  </a:tcPr>
                </a:tc>
                <a:tc>
                  <a:txBody>
                    <a:bodyPr wrap="none"/>
                    <a:lstStyle/>
                    <a:p>
                      <a:pPr algn="l"/>
                      <a:r>
                        <a:rPr sz="900" b="0">
                          <a:solidFill>
                            <a:srgbClr val="2E2E2E"/>
                          </a:solidFill>
                          <a:latin typeface="Calibri"/>
                        </a:rPr>
                        <a:t>520.3</a:t>
                      </a:r>
                    </a:p>
                  </a:txBody>
                  <a:tcPr marL="85725" marR="38100" marT="19050" marB="19050" anchor="ctr">
                    <a:solidFill>
                      <a:srgbClr val="F5F8FA"/>
                    </a:solidFill>
                  </a:tcPr>
                </a:tc>
                <a:tc>
                  <a:txBody>
                    <a:bodyPr wrap="none"/>
                    <a:lstStyle/>
                    <a:p>
                      <a:pPr algn="l"/>
                      <a:r>
                        <a:rPr sz="900" b="0">
                          <a:solidFill>
                            <a:srgbClr val="2E2E2E"/>
                          </a:solidFill>
                          <a:latin typeface="Calibri"/>
                        </a:rPr>
                        <a:t>560.3</a:t>
                      </a:r>
                    </a:p>
                  </a:txBody>
                  <a:tcPr marL="85725" marR="38100" marT="19050" marB="19050" anchor="ctr">
                    <a:solidFill>
                      <a:srgbClr val="F5F8FA"/>
                    </a:solidFill>
                  </a:tcPr>
                </a:tc>
                <a:tc>
                  <a:txBody>
                    <a:bodyPr wrap="none"/>
                    <a:lstStyle/>
                    <a:p>
                      <a:pPr algn="l"/>
                      <a:r>
                        <a:rPr sz="900" b="0">
                          <a:solidFill>
                            <a:srgbClr val="2E2E2E"/>
                          </a:solidFill>
                          <a:latin typeface="Calibri"/>
                        </a:rPr>
                        <a:t>600.3</a:t>
                      </a:r>
                    </a:p>
                  </a:txBody>
                  <a:tcPr marL="85725" marR="38100" marT="19050" marB="19050" anchor="ctr">
                    <a:solidFill>
                      <a:srgbClr val="F5F8FA"/>
                    </a:solidFill>
                  </a:tcPr>
                </a:tc>
                <a:tc>
                  <a:txBody>
                    <a:bodyPr wrap="none"/>
                    <a:lstStyle/>
                    <a:p>
                      <a:pPr algn="l"/>
                      <a:r>
                        <a:rPr sz="900" b="0">
                          <a:solidFill>
                            <a:srgbClr val="2E2E2E"/>
                          </a:solidFill>
                          <a:latin typeface="Calibri"/>
                        </a:rPr>
                        <a:t>640.3</a:t>
                      </a:r>
                    </a:p>
                  </a:txBody>
                  <a:tcPr marL="85725" marR="38100" marT="19050" marB="19050" anchor="ctr">
                    <a:solidFill>
                      <a:srgbClr val="F5F8FA"/>
                    </a:solidFill>
                  </a:tcPr>
                </a:tc>
                <a:tc>
                  <a:txBody>
                    <a:bodyPr wrap="none"/>
                    <a:lstStyle/>
                    <a:p>
                      <a:pPr algn="l"/>
                      <a:r>
                        <a:rPr sz="900" b="0">
                          <a:solidFill>
                            <a:srgbClr val="2E2E2E"/>
                          </a:solidFill>
                          <a:latin typeface="Calibri"/>
                        </a:rPr>
                        <a:t>680.3</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Pre-Tax Profit</a:t>
                      </a:r>
                    </a:p>
                  </a:txBody>
                  <a:tcPr marL="85725" marR="38100" marT="19050" marB="19050" anchor="ctr">
                    <a:solidFill>
                      <a:srgbClr val="FFFFFF"/>
                    </a:solidFill>
                  </a:tcPr>
                </a:tc>
                <a:tc>
                  <a:txBody>
                    <a:bodyPr wrap="none"/>
                    <a:lstStyle/>
                    <a:p>
                      <a:pPr algn="l"/>
                      <a:r>
                        <a:rPr sz="900" b="0">
                          <a:solidFill>
                            <a:srgbClr val="2E2E2E"/>
                          </a:solidFill>
                          <a:latin typeface="Calibri"/>
                        </a:rPr>
                        <a:t>249.7</a:t>
                      </a:r>
                    </a:p>
                  </a:txBody>
                  <a:tcPr marL="85725" marR="38100" marT="19050" marB="19050" anchor="ctr">
                    <a:solidFill>
                      <a:srgbClr val="FFFFFF"/>
                    </a:solidFill>
                  </a:tcPr>
                </a:tc>
                <a:tc>
                  <a:txBody>
                    <a:bodyPr wrap="none"/>
                    <a:lstStyle/>
                    <a:p>
                      <a:pPr algn="l"/>
                      <a:r>
                        <a:rPr sz="900" b="0">
                          <a:solidFill>
                            <a:srgbClr val="2E2E2E"/>
                          </a:solidFill>
                          <a:latin typeface="Calibri"/>
                        </a:rPr>
                        <a:t>268.9</a:t>
                      </a:r>
                    </a:p>
                  </a:txBody>
                  <a:tcPr marL="85725" marR="38100" marT="19050" marB="19050" anchor="ctr">
                    <a:solidFill>
                      <a:srgbClr val="FFFFFF"/>
                    </a:solidFill>
                  </a:tcPr>
                </a:tc>
                <a:tc>
                  <a:txBody>
                    <a:bodyPr wrap="none"/>
                    <a:lstStyle/>
                    <a:p>
                      <a:pPr algn="l"/>
                      <a:r>
                        <a:rPr sz="900" b="0">
                          <a:solidFill>
                            <a:srgbClr val="2E2E2E"/>
                          </a:solidFill>
                          <a:latin typeface="Calibri"/>
                        </a:rPr>
                        <a:t>288.1</a:t>
                      </a:r>
                    </a:p>
                  </a:txBody>
                  <a:tcPr marL="85725" marR="38100" marT="19050" marB="19050" anchor="ctr">
                    <a:solidFill>
                      <a:srgbClr val="FFFFFF"/>
                    </a:solidFill>
                  </a:tcPr>
                </a:tc>
                <a:tc>
                  <a:txBody>
                    <a:bodyPr wrap="none"/>
                    <a:lstStyle/>
                    <a:p>
                      <a:pPr algn="l"/>
                      <a:r>
                        <a:rPr sz="900" b="0">
                          <a:solidFill>
                            <a:srgbClr val="2E2E2E"/>
                          </a:solidFill>
                          <a:latin typeface="Calibri"/>
                        </a:rPr>
                        <a:t>307.4</a:t>
                      </a:r>
                    </a:p>
                  </a:txBody>
                  <a:tcPr marL="85725" marR="38100" marT="19050" marB="19050" anchor="ctr">
                    <a:solidFill>
                      <a:srgbClr val="FFFFFF"/>
                    </a:solidFill>
                  </a:tcPr>
                </a:tc>
                <a:tc>
                  <a:txBody>
                    <a:bodyPr wrap="none"/>
                    <a:lstStyle/>
                    <a:p>
                      <a:pPr algn="l"/>
                      <a:r>
                        <a:rPr sz="900" b="0">
                          <a:solidFill>
                            <a:srgbClr val="2E2E2E"/>
                          </a:solidFill>
                          <a:latin typeface="Calibri"/>
                        </a:rPr>
                        <a:t>326.6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Profit After Tax / Net Profit</a:t>
                      </a:r>
                    </a:p>
                  </a:txBody>
                  <a:tcPr marL="85725" marR="38100" marT="19050" marB="19050" anchor="ctr">
                    <a:solidFill>
                      <a:srgbClr val="F5F8FA"/>
                    </a:solidFill>
                  </a:tcPr>
                </a:tc>
                <a:tc>
                  <a:txBody>
                    <a:bodyPr wrap="none"/>
                    <a:lstStyle/>
                    <a:p>
                      <a:pPr algn="l"/>
                      <a:r>
                        <a:rPr sz="900" b="0">
                          <a:solidFill>
                            <a:srgbClr val="2E2E2E"/>
                          </a:solidFill>
                          <a:latin typeface="Calibri"/>
                        </a:rPr>
                        <a:t>187.3</a:t>
                      </a:r>
                    </a:p>
                  </a:txBody>
                  <a:tcPr marL="85725" marR="38100" marT="19050" marB="19050" anchor="ctr">
                    <a:solidFill>
                      <a:srgbClr val="F5F8FA"/>
                    </a:solidFill>
                  </a:tcPr>
                </a:tc>
                <a:tc>
                  <a:txBody>
                    <a:bodyPr wrap="none"/>
                    <a:lstStyle/>
                    <a:p>
                      <a:pPr algn="l"/>
                      <a:r>
                        <a:rPr sz="900" b="0">
                          <a:solidFill>
                            <a:srgbClr val="2E2E2E"/>
                          </a:solidFill>
                          <a:latin typeface="Calibri"/>
                        </a:rPr>
                        <a:t>201.7</a:t>
                      </a:r>
                    </a:p>
                  </a:txBody>
                  <a:tcPr marL="85725" marR="38100" marT="19050" marB="19050" anchor="ctr">
                    <a:solidFill>
                      <a:srgbClr val="F5F8FA"/>
                    </a:solidFill>
                  </a:tcPr>
                </a:tc>
                <a:tc>
                  <a:txBody>
                    <a:bodyPr wrap="none"/>
                    <a:lstStyle/>
                    <a:p>
                      <a:pPr algn="l"/>
                      <a:r>
                        <a:rPr sz="900" b="0">
                          <a:solidFill>
                            <a:srgbClr val="2E2E2E"/>
                          </a:solidFill>
                          <a:latin typeface="Calibri"/>
                        </a:rPr>
                        <a:t>216.1</a:t>
                      </a:r>
                    </a:p>
                  </a:txBody>
                  <a:tcPr marL="85725" marR="38100" marT="19050" marB="19050" anchor="ctr">
                    <a:solidFill>
                      <a:srgbClr val="F5F8FA"/>
                    </a:solidFill>
                  </a:tcPr>
                </a:tc>
                <a:tc>
                  <a:txBody>
                    <a:bodyPr wrap="none"/>
                    <a:lstStyle/>
                    <a:p>
                      <a:pPr algn="l"/>
                      <a:r>
                        <a:rPr sz="900" b="0">
                          <a:solidFill>
                            <a:srgbClr val="2E2E2E"/>
                          </a:solidFill>
                          <a:latin typeface="Calibri"/>
                        </a:rPr>
                        <a:t>230.5</a:t>
                      </a:r>
                    </a:p>
                  </a:txBody>
                  <a:tcPr marL="85725" marR="38100" marT="19050" marB="19050" anchor="ctr">
                    <a:solidFill>
                      <a:srgbClr val="F5F8FA"/>
                    </a:solidFill>
                  </a:tcPr>
                </a:tc>
                <a:tc>
                  <a:txBody>
                    <a:bodyPr wrap="none"/>
                    <a:lstStyle/>
                    <a:p>
                      <a:pPr algn="l"/>
                      <a:r>
                        <a:rPr sz="900" b="0">
                          <a:solidFill>
                            <a:srgbClr val="2E2E2E"/>
                          </a:solidFill>
                          <a:latin typeface="Calibri"/>
                        </a:rPr>
                        <a:t>244.9</a:t>
                      </a:r>
                    </a:p>
                  </a:txBody>
                  <a:tcPr marL="85725" marR="38100" marT="19050" marB="19050" anchor="ctr">
                    <a:solidFill>
                      <a:srgbClr val="F5F8FA"/>
                    </a:solidFill>
                  </a:tcPr>
                </a:tc>
              </a:tr>
            </a:tbl>
          </a:graphicData>
        </a:graphic>
      </p:graphicFrame>
      <p:sp>
        <p:nvSpPr>
          <p:cNvPr id="15" name="TextBox 14"/>
          <p:cNvSpPr txBox="1"/>
          <p:nvPr/>
        </p:nvSpPr>
        <p:spPr>
          <a:xfrm>
            <a:off x="219075" y="30765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16" name="Rounded Rectangle 15"/>
          <p:cNvSpPr/>
          <p:nvPr/>
        </p:nvSpPr>
        <p:spPr>
          <a:xfrm>
            <a:off x="142875" y="3352800"/>
            <a:ext cx="5905500" cy="3333750"/>
          </a:xfrm>
          <a:prstGeom prst="roundRect">
            <a:avLst>
              <a:gd name="adj" fmla="val 2285"/>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125" y="3409950"/>
            <a:ext cx="571500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Key Ratios</a:t>
            </a:r>
          </a:p>
        </p:txBody>
      </p:sp>
      <p:graphicFrame>
        <p:nvGraphicFramePr>
          <p:cNvPr id="18" name="Table 17"/>
          <p:cNvGraphicFramePr>
            <a:graphicFrameLocks noGrp="1"/>
          </p:cNvGraphicFramePr>
          <p:nvPr/>
        </p:nvGraphicFramePr>
        <p:xfrm>
          <a:off x="238125" y="3638550"/>
          <a:ext cx="5715000" cy="1085850"/>
        </p:xfrm>
        <a:graphic>
          <a:graphicData uri="http://schemas.openxmlformats.org/drawingml/2006/table">
            <a:tbl>
              <a:tblPr>
                <a:tableStyleId>{5C22544A-7EE6-4342-B048-85BDC9FD1C3A}</a:tableStyleId>
              </a:tblPr>
              <a:tblGrid>
                <a:gridCol w="1714500"/>
                <a:gridCol w="800100"/>
                <a:gridCol w="800100"/>
                <a:gridCol w="800100"/>
                <a:gridCol w="800100"/>
                <a:gridCol w="800100"/>
              </a:tblGrid>
              <a:tr h="180975">
                <a:tc>
                  <a:txBody>
                    <a:bodyPr wrap="none"/>
                    <a:lstStyle/>
                    <a:p>
                      <a:pPr algn="l"/>
                      <a:r>
                        <a:rPr sz="900" b="1">
                          <a:solidFill>
                            <a:srgbClr val="0B2E4A"/>
                          </a:solidFill>
                          <a:latin typeface="Calibri"/>
                        </a:rPr>
                        <a:t>Key Ratios</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2021</a:t>
                      </a:r>
                    </a:p>
                  </a:txBody>
                  <a:tcPr marL="85725" marR="38100" marT="19050" marB="19050" anchor="ctr">
                    <a:solidFill>
                      <a:srgbClr val="E0E8EF"/>
                    </a:solidFill>
                  </a:tcPr>
                </a:tc>
                <a:tc>
                  <a:txBody>
                    <a:bodyPr wrap="none"/>
                    <a:lstStyle/>
                    <a:p>
                      <a:pPr algn="l"/>
                      <a:r>
                        <a:rPr sz="900" b="1">
                          <a:solidFill>
                            <a:srgbClr val="0B2E4A"/>
                          </a:solidFill>
                          <a:latin typeface="Calibri"/>
                        </a:rPr>
                        <a:t>2022</a:t>
                      </a:r>
                    </a:p>
                  </a:txBody>
                  <a:tcPr marL="85725" marR="38100" marT="19050" marB="19050" anchor="ctr">
                    <a:solidFill>
                      <a:srgbClr val="E0E8EF"/>
                    </a:solidFill>
                  </a:tcPr>
                </a:tc>
                <a:tc>
                  <a:txBody>
                    <a:bodyPr wrap="none"/>
                    <a:lstStyle/>
                    <a:p>
                      <a:pPr algn="l"/>
                      <a:r>
                        <a:rPr sz="900" b="1">
                          <a:solidFill>
                            <a:srgbClr val="0B2E4A"/>
                          </a:solidFill>
                          <a:latin typeface="Calibri"/>
                        </a:rPr>
                        <a:t>2023</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Gross Margin (%)</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c>
                  <a:txBody>
                    <a:bodyPr wrap="none"/>
                    <a:lstStyle/>
                    <a:p>
                      <a:pPr algn="l"/>
                      <a:r>
                        <a:rPr sz="900" b="0">
                          <a:solidFill>
                            <a:srgbClr val="2E2E2E"/>
                          </a:solidFill>
                          <a:latin typeface="Calibri"/>
                        </a:rPr>
                        <a:t>35.0%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Pre-Tax Margin (%)</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c>
                  <a:txBody>
                    <a:bodyPr wrap="none"/>
                    <a:lstStyle/>
                    <a:p>
                      <a:pPr algn="l"/>
                      <a:r>
                        <a:rPr sz="900" b="0">
                          <a:solidFill>
                            <a:srgbClr val="2E2E2E"/>
                          </a:solidFill>
                          <a:latin typeface="Calibri"/>
                        </a:rPr>
                        <a:t>16.8%</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Net Margin (%)</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c>
                  <a:txBody>
                    <a:bodyPr wrap="none"/>
                    <a:lstStyle/>
                    <a:p>
                      <a:pPr algn="l"/>
                      <a:r>
                        <a:rPr sz="900" b="0">
                          <a:solidFill>
                            <a:srgbClr val="2E2E2E"/>
                          </a:solidFill>
                          <a:latin typeface="Calibri"/>
                        </a:rPr>
                        <a:t>12.6%</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Return on Equity (%)</a:t>
                      </a:r>
                    </a:p>
                  </a:txBody>
                  <a:tcPr marL="85725" marR="38100" marT="19050" marB="19050" anchor="ctr">
                    <a:solidFill>
                      <a:srgbClr val="F5F8FA"/>
                    </a:solidFill>
                  </a:tcPr>
                </a:tc>
                <a:tc>
                  <a:txBody>
                    <a:bodyPr wrap="none"/>
                    <a:lstStyle/>
                    <a:p>
                      <a:pPr algn="l"/>
                      <a:r>
                        <a:rPr sz="900" b="0">
                          <a:solidFill>
                            <a:srgbClr val="2E2E2E"/>
                          </a:solidFill>
                          <a:latin typeface="Calibri"/>
                        </a:rPr>
                        <a:t>14.0%</a:t>
                      </a:r>
                    </a:p>
                  </a:txBody>
                  <a:tcPr marL="85725" marR="38100" marT="19050" marB="19050" anchor="ctr">
                    <a:solidFill>
                      <a:srgbClr val="F5F8FA"/>
                    </a:solidFill>
                  </a:tcPr>
                </a:tc>
                <a:tc>
                  <a:txBody>
                    <a:bodyPr wrap="none"/>
                    <a:lstStyle/>
                    <a:p>
                      <a:pPr algn="l"/>
                      <a:r>
                        <a:rPr sz="900" b="0">
                          <a:solidFill>
                            <a:srgbClr val="2E2E2E"/>
                          </a:solidFill>
                          <a:latin typeface="Calibri"/>
                        </a:rPr>
                        <a:t>15.0%</a:t>
                      </a:r>
                    </a:p>
                  </a:txBody>
                  <a:tcPr marL="85725" marR="38100" marT="19050" marB="19050" anchor="ctr">
                    <a:solidFill>
                      <a:srgbClr val="F5F8FA"/>
                    </a:solidFill>
                  </a:tcPr>
                </a:tc>
                <a:tc>
                  <a:txBody>
                    <a:bodyPr wrap="none"/>
                    <a:lstStyle/>
                    <a:p>
                      <a:pPr algn="l"/>
                      <a:r>
                        <a:rPr sz="900" b="0">
                          <a:solidFill>
                            <a:srgbClr val="2E2E2E"/>
                          </a:solidFill>
                          <a:latin typeface="Calibri"/>
                        </a:rPr>
                        <a:t>16.0%</a:t>
                      </a:r>
                    </a:p>
                  </a:txBody>
                  <a:tcPr marL="85725" marR="38100" marT="19050" marB="19050" anchor="ctr">
                    <a:solidFill>
                      <a:srgbClr val="F5F8FA"/>
                    </a:solidFill>
                  </a:tcPr>
                </a:tc>
                <a:tc>
                  <a:txBody>
                    <a:bodyPr wrap="none"/>
                    <a:lstStyle/>
                    <a:p>
                      <a:pPr algn="l"/>
                      <a:r>
                        <a:rPr sz="900" b="0">
                          <a:solidFill>
                            <a:srgbClr val="2E2E2E"/>
                          </a:solidFill>
                          <a:latin typeface="Calibri"/>
                        </a:rPr>
                        <a:t>17.0%</a:t>
                      </a:r>
                    </a:p>
                  </a:txBody>
                  <a:tcPr marL="85725" marR="38100" marT="19050" marB="19050" anchor="ctr">
                    <a:solidFill>
                      <a:srgbClr val="F5F8FA"/>
                    </a:solidFill>
                  </a:tcPr>
                </a:tc>
                <a:tc>
                  <a:txBody>
                    <a:bodyPr wrap="none"/>
                    <a:lstStyle/>
                    <a:p>
                      <a:pPr algn="l"/>
                      <a:r>
                        <a:rPr sz="900" b="0">
                          <a:solidFill>
                            <a:srgbClr val="2E2E2E"/>
                          </a:solidFill>
                          <a:latin typeface="Calibri"/>
                        </a:rPr>
                        <a:t>18.0%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Return on Assets (%)</a:t>
                      </a:r>
                    </a:p>
                  </a:txBody>
                  <a:tcPr marL="85725" marR="38100" marT="19050" marB="19050" anchor="ctr">
                    <a:solidFill>
                      <a:srgbClr val="FFFFFF"/>
                    </a:solidFill>
                  </a:tcPr>
                </a:tc>
                <a:tc>
                  <a:txBody>
                    <a:bodyPr wrap="none"/>
                    <a:lstStyle/>
                    <a:p>
                      <a:pPr algn="l"/>
                      <a:r>
                        <a:rPr sz="900" b="0">
                          <a:solidFill>
                            <a:srgbClr val="2E2E2E"/>
                          </a:solidFill>
                          <a:latin typeface="Calibri"/>
                        </a:rPr>
                        <a:t>8.0%</a:t>
                      </a:r>
                    </a:p>
                  </a:txBody>
                  <a:tcPr marL="85725" marR="38100" marT="19050" marB="19050" anchor="ctr">
                    <a:solidFill>
                      <a:srgbClr val="FFFFFF"/>
                    </a:solidFill>
                  </a:tcPr>
                </a:tc>
                <a:tc>
                  <a:txBody>
                    <a:bodyPr wrap="none"/>
                    <a:lstStyle/>
                    <a:p>
                      <a:pPr algn="l"/>
                      <a:r>
                        <a:rPr sz="900" b="0">
                          <a:solidFill>
                            <a:srgbClr val="2E2E2E"/>
                          </a:solidFill>
                          <a:latin typeface="Calibri"/>
                        </a:rPr>
                        <a:t>8.4%</a:t>
                      </a:r>
                    </a:p>
                  </a:txBody>
                  <a:tcPr marL="85725" marR="38100" marT="19050" marB="19050" anchor="ctr">
                    <a:solidFill>
                      <a:srgbClr val="FFFFFF"/>
                    </a:solidFill>
                  </a:tcPr>
                </a:tc>
                <a:tc>
                  <a:txBody>
                    <a:bodyPr wrap="none"/>
                    <a:lstStyle/>
                    <a:p>
                      <a:pPr algn="l"/>
                      <a:r>
                        <a:rPr sz="900" b="0">
                          <a:solidFill>
                            <a:srgbClr val="2E2E2E"/>
                          </a:solidFill>
                          <a:latin typeface="Calibri"/>
                        </a:rPr>
                        <a:t>8.8%</a:t>
                      </a:r>
                    </a:p>
                  </a:txBody>
                  <a:tcPr marL="85725" marR="38100" marT="19050" marB="19050" anchor="ctr">
                    <a:solidFill>
                      <a:srgbClr val="FFFFFF"/>
                    </a:solidFill>
                  </a:tcPr>
                </a:tc>
                <a:tc>
                  <a:txBody>
                    <a:bodyPr wrap="none"/>
                    <a:lstStyle/>
                    <a:p>
                      <a:pPr algn="l"/>
                      <a:r>
                        <a:rPr sz="900" b="0">
                          <a:solidFill>
                            <a:srgbClr val="2E2E2E"/>
                          </a:solidFill>
                          <a:latin typeface="Calibri"/>
                        </a:rPr>
                        <a:t>9.2%</a:t>
                      </a:r>
                    </a:p>
                  </a:txBody>
                  <a:tcPr marL="85725" marR="38100" marT="19050" marB="19050" anchor="ctr">
                    <a:solidFill>
                      <a:srgbClr val="FFFFFF"/>
                    </a:solidFill>
                  </a:tcPr>
                </a:tc>
                <a:tc>
                  <a:txBody>
                    <a:bodyPr wrap="none"/>
                    <a:lstStyle/>
                    <a:p>
                      <a:pPr algn="l"/>
                      <a:r>
                        <a:rPr sz="900" b="0">
                          <a:solidFill>
                            <a:srgbClr val="2E2E2E"/>
                          </a:solidFill>
                          <a:latin typeface="Calibri"/>
                        </a:rPr>
                        <a:t>9.6%</a:t>
                      </a:r>
                    </a:p>
                  </a:txBody>
                  <a:tcPr marL="85725" marR="38100" marT="19050" marB="19050" anchor="ctr">
                    <a:solidFill>
                      <a:srgbClr val="FFFFFF"/>
                    </a:solidFill>
                  </a:tcPr>
                </a:tc>
              </a:tr>
            </a:tbl>
          </a:graphicData>
        </a:graphic>
      </p:graphicFrame>
      <p:sp>
        <p:nvSpPr>
          <p:cNvPr id="19" name="TextBox 18"/>
          <p:cNvSpPr txBox="1"/>
          <p:nvPr/>
        </p:nvSpPr>
        <p:spPr>
          <a:xfrm>
            <a:off x="219075" y="6543675"/>
            <a:ext cx="5753100" cy="123825"/>
          </a:xfrm>
          <a:prstGeom prst="rect">
            <a:avLst/>
          </a:prstGeom>
          <a:noFill/>
        </p:spPr>
        <p:txBody>
          <a:bodyPr wrap="none">
            <a:spAutoFit/>
          </a:bodyPr>
          <a:lstStyle/>
          <a:p>
            <a:r>
              <a:rPr sz="700" i="1">
                <a:solidFill>
                  <a:srgbClr val="6C7A89"/>
                </a:solidFill>
                <a:latin typeface="Calibri"/>
              </a:rPr>
              <a:t>Source: FMI Analysis, 2026</a:t>
            </a:r>
          </a:p>
        </p:txBody>
      </p:sp>
      <p:sp>
        <p:nvSpPr>
          <p:cNvPr id="20" name="Rounded Rectangle 19"/>
          <p:cNvSpPr/>
          <p:nvPr/>
        </p:nvSpPr>
        <p:spPr>
          <a:xfrm>
            <a:off x="6200775" y="1219200"/>
            <a:ext cx="5848350" cy="5467350"/>
          </a:xfrm>
          <a:prstGeom prst="roundRect">
            <a:avLst>
              <a:gd name="adj" fmla="val 1393"/>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6025" y="1276350"/>
            <a:ext cx="5657850" cy="209550"/>
          </a:xfrm>
          <a:prstGeom prst="rect">
            <a:avLst/>
          </a:prstGeom>
          <a:noFill/>
        </p:spPr>
        <p:txBody>
          <a:bodyPr wrap="square" lIns="0" rIns="19050" tIns="9525" bIns="9525">
            <a:spAutoFit/>
          </a:bodyPr>
          <a:lstStyle/>
          <a:p>
            <a:pPr algn="l">
              <a:lnSpc>
                <a:spcPct val="100000"/>
              </a:lnSpc>
            </a:pPr>
            <a:r>
              <a:rPr sz="1200" b="1">
                <a:solidFill>
                  <a:srgbClr val="2E2E2E"/>
                </a:solidFill>
                <a:latin typeface="Calibri"/>
              </a:rPr>
              <a:t>Company C Pricing Analysis (US$/Units)</a:t>
            </a:r>
          </a:p>
        </p:txBody>
      </p:sp>
      <p:graphicFrame>
        <p:nvGraphicFramePr>
          <p:cNvPr id="22" name="Table 21"/>
          <p:cNvGraphicFramePr>
            <a:graphicFrameLocks noGrp="1"/>
          </p:cNvGraphicFramePr>
          <p:nvPr/>
        </p:nvGraphicFramePr>
        <p:xfrm>
          <a:off x="6296025" y="1504950"/>
          <a:ext cx="5657849" cy="904875"/>
        </p:xfrm>
        <a:graphic>
          <a:graphicData uri="http://schemas.openxmlformats.org/drawingml/2006/table">
            <a:tbl>
              <a:tblPr>
                <a:tableStyleId>{5C22544A-7EE6-4342-B048-85BDC9FD1C3A}</a:tableStyleId>
              </a:tblPr>
              <a:tblGrid>
                <a:gridCol w="1697355"/>
                <a:gridCol w="1980247"/>
                <a:gridCol w="1980247"/>
              </a:tblGrid>
              <a:tr h="180975">
                <a:tc>
                  <a:txBody>
                    <a:bodyPr wrap="none"/>
                    <a:lstStyle/>
                    <a:p>
                      <a:pPr algn="l"/>
                      <a:r>
                        <a:rPr sz="900" b="1">
                          <a:solidFill>
                            <a:srgbClr val="0B2E4A"/>
                          </a:solidFill>
                          <a:latin typeface="Calibri"/>
                        </a:rPr>
                        <a:t>Product Type</a:t>
                      </a:r>
                    </a:p>
                  </a:txBody>
                  <a:tcPr marL="85725" marR="38100" marT="19050" marB="19050" anchor="ctr">
                    <a:solidFill>
                      <a:srgbClr val="E0E8EF"/>
                    </a:solidFill>
                  </a:tcPr>
                </a:tc>
                <a:tc>
                  <a:txBody>
                    <a:bodyPr wrap="none"/>
                    <a:lstStyle/>
                    <a:p>
                      <a:pPr algn="l"/>
                      <a:r>
                        <a:rPr sz="900" b="1">
                          <a:solidFill>
                            <a:srgbClr val="0B2E4A"/>
                          </a:solidFill>
                          <a:latin typeface="Calibri"/>
                        </a:rPr>
                        <a:t>2020</a:t>
                      </a:r>
                    </a:p>
                  </a:txBody>
                  <a:tcPr marL="85725" marR="38100" marT="19050" marB="19050" anchor="ctr">
                    <a:solidFill>
                      <a:srgbClr val="E0E8EF"/>
                    </a:solidFill>
                  </a:tcPr>
                </a:tc>
                <a:tc>
                  <a:txBody>
                    <a:bodyPr wrap="none"/>
                    <a:lstStyle/>
                    <a:p>
                      <a:pPr algn="l"/>
                      <a:r>
                        <a:rPr sz="900" b="1">
                          <a:solidFill>
                            <a:srgbClr val="0B2E4A"/>
                          </a:solidFill>
                          <a:latin typeface="Calibri"/>
                        </a:rPr>
                        <a:t>2024</a:t>
                      </a:r>
                    </a:p>
                  </a:txBody>
                  <a:tcPr marL="85725" marR="38100" marT="19050" marB="19050" anchor="ctr">
                    <a:solidFill>
                      <a:srgbClr val="E0E8EF"/>
                    </a:solidFill>
                  </a:tcPr>
                </a:tc>
              </a:tr>
              <a:tr h="180975">
                <a:tc>
                  <a:txBody>
                    <a:bodyPr wrap="none"/>
                    <a:lstStyle/>
                    <a:p>
                      <a:pPr algn="l"/>
                      <a:r>
                        <a:rPr sz="900" b="1">
                          <a:solidFill>
                            <a:srgbClr val="2E2E2E"/>
                          </a:solidFill>
                          <a:latin typeface="Calibri"/>
                        </a:rPr>
                        <a:t>Capillary Blood Collection Containers</a:t>
                      </a:r>
                    </a:p>
                  </a:txBody>
                  <a:tcPr marL="85725" marR="38100" marT="19050" marB="19050" anchor="ctr">
                    <a:solidFill>
                      <a:srgbClr val="FFFFFF"/>
                    </a:solidFill>
                  </a:tcPr>
                </a:tc>
                <a:tc>
                  <a:txBody>
                    <a:bodyPr wrap="none"/>
                    <a:lstStyle/>
                    <a:p>
                      <a:pPr algn="l"/>
                      <a:r>
                        <a:rPr sz="900" b="0">
                          <a:solidFill>
                            <a:srgbClr val="2E2E2E"/>
                          </a:solidFill>
                          <a:latin typeface="Calibri"/>
                        </a:rPr>
                        <a:t>4.40</a:t>
                      </a:r>
                    </a:p>
                  </a:txBody>
                  <a:tcPr marL="85725" marR="38100" marT="19050" marB="19050" anchor="ctr">
                    <a:solidFill>
                      <a:srgbClr val="FFFFFF"/>
                    </a:solidFill>
                  </a:tcPr>
                </a:tc>
                <a:tc>
                  <a:txBody>
                    <a:bodyPr wrap="none"/>
                    <a:lstStyle/>
                    <a:p>
                      <a:pPr algn="l"/>
                      <a:r>
                        <a:rPr sz="900" b="0">
                          <a:solidFill>
                            <a:srgbClr val="2E2E2E"/>
                          </a:solidFill>
                          <a:latin typeface="Calibri"/>
                        </a:rPr>
                        <a:t>5.70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Blood Collection Lancets</a:t>
                      </a:r>
                    </a:p>
                  </a:txBody>
                  <a:tcPr marL="85725" marR="38100" marT="19050" marB="19050" anchor="ctr">
                    <a:solidFill>
                      <a:srgbClr val="F5F8FA"/>
                    </a:solidFill>
                  </a:tcPr>
                </a:tc>
                <a:tc>
                  <a:txBody>
                    <a:bodyPr wrap="none"/>
                    <a:lstStyle/>
                    <a:p>
                      <a:pPr algn="l"/>
                      <a:r>
                        <a:rPr sz="900" b="0">
                          <a:solidFill>
                            <a:srgbClr val="2E2E2E"/>
                          </a:solidFill>
                          <a:latin typeface="Calibri"/>
                        </a:rPr>
                        <a:t>5.00</a:t>
                      </a:r>
                    </a:p>
                  </a:txBody>
                  <a:tcPr marL="85725" marR="38100" marT="19050" marB="19050" anchor="ctr">
                    <a:solidFill>
                      <a:srgbClr val="F5F8FA"/>
                    </a:solidFill>
                  </a:tcPr>
                </a:tc>
                <a:tc>
                  <a:txBody>
                    <a:bodyPr wrap="none"/>
                    <a:lstStyle/>
                    <a:p>
                      <a:pPr algn="l"/>
                      <a:r>
                        <a:rPr sz="900" b="0">
                          <a:solidFill>
                            <a:srgbClr val="2E2E2E"/>
                          </a:solidFill>
                          <a:latin typeface="Calibri"/>
                        </a:rPr>
                        <a:t>6.40</a:t>
                      </a:r>
                    </a:p>
                  </a:txBody>
                  <a:tcPr marL="85725" marR="38100" marT="19050" marB="19050" anchor="ctr">
                    <a:solidFill>
                      <a:srgbClr val="F5F8FA"/>
                    </a:solidFill>
                  </a:tcPr>
                </a:tc>
              </a:tr>
              <a:tr h="180975">
                <a:tc>
                  <a:txBody>
                    <a:bodyPr wrap="none"/>
                    <a:lstStyle/>
                    <a:p>
                      <a:pPr algn="l"/>
                      <a:r>
                        <a:rPr sz="900" b="1">
                          <a:solidFill>
                            <a:srgbClr val="2E2E2E"/>
                          </a:solidFill>
                          <a:latin typeface="Calibri"/>
                        </a:rPr>
                        <a:t>Integrated Capillary Blood Collection Devices</a:t>
                      </a:r>
                    </a:p>
                  </a:txBody>
                  <a:tcPr marL="85725" marR="38100" marT="19050" marB="19050" anchor="ctr">
                    <a:solidFill>
                      <a:srgbClr val="FFFFFF"/>
                    </a:solidFill>
                  </a:tcPr>
                </a:tc>
                <a:tc>
                  <a:txBody>
                    <a:bodyPr wrap="none"/>
                    <a:lstStyle/>
                    <a:p>
                      <a:pPr algn="l"/>
                      <a:r>
                        <a:rPr sz="900" b="0">
                          <a:solidFill>
                            <a:srgbClr val="2E2E2E"/>
                          </a:solidFill>
                          <a:latin typeface="Calibri"/>
                        </a:rPr>
                        <a:t>5.60</a:t>
                      </a:r>
                    </a:p>
                  </a:txBody>
                  <a:tcPr marL="85725" marR="38100" marT="19050" marB="19050" anchor="ctr">
                    <a:solidFill>
                      <a:srgbClr val="FFFFFF"/>
                    </a:solidFill>
                  </a:tcPr>
                </a:tc>
                <a:tc>
                  <a:txBody>
                    <a:bodyPr wrap="none"/>
                    <a:lstStyle/>
                    <a:p>
                      <a:pPr algn="l"/>
                      <a:r>
                        <a:rPr sz="900" b="0">
                          <a:solidFill>
                            <a:srgbClr val="2E2E2E"/>
                          </a:solidFill>
                          <a:latin typeface="Calibri"/>
                        </a:rPr>
                        <a:t>7.10</a:t>
                      </a:r>
                    </a:p>
                  </a:txBody>
                  <a:tcPr marL="85725" marR="38100" marT="19050" marB="19050" anchor="ctr">
                    <a:solidFill>
                      <a:srgbClr val="FFFFFF"/>
                    </a:solidFill>
                  </a:tcPr>
                </a:tc>
              </a:tr>
              <a:tr h="180975">
                <a:tc>
                  <a:txBody>
                    <a:bodyPr wrap="none"/>
                    <a:lstStyle/>
                    <a:p>
                      <a:pPr algn="l"/>
                      <a:r>
                        <a:rPr sz="900" b="1">
                          <a:solidFill>
                            <a:srgbClr val="2E2E2E"/>
                          </a:solidFill>
                          <a:latin typeface="Calibri"/>
                        </a:rPr>
                        <a:t>Dried Blood Spot Collection Products</a:t>
                      </a:r>
                    </a:p>
                  </a:txBody>
                  <a:tcPr marL="85725" marR="38100" marT="19050" marB="19050" anchor="ctr">
                    <a:solidFill>
                      <a:srgbClr val="F5F8FA"/>
                    </a:solidFill>
                  </a:tcPr>
                </a:tc>
                <a:tc>
                  <a:txBody>
                    <a:bodyPr wrap="none"/>
                    <a:lstStyle/>
                    <a:p>
                      <a:pPr algn="l"/>
                      <a:r>
                        <a:rPr sz="900" b="0">
                          <a:solidFill>
                            <a:srgbClr val="2E2E2E"/>
                          </a:solidFill>
                          <a:latin typeface="Calibri"/>
                        </a:rPr>
                        <a:t>6.20</a:t>
                      </a:r>
                    </a:p>
                  </a:txBody>
                  <a:tcPr marL="85725" marR="38100" marT="19050" marB="19050" anchor="ctr">
                    <a:solidFill>
                      <a:srgbClr val="F5F8FA"/>
                    </a:solidFill>
                  </a:tcPr>
                </a:tc>
                <a:tc>
                  <a:txBody>
                    <a:bodyPr wrap="none"/>
                    <a:lstStyle/>
                    <a:p>
                      <a:pPr algn="l"/>
                      <a:r>
                        <a:rPr sz="900" b="0">
                          <a:solidFill>
                            <a:srgbClr val="2E2E2E"/>
                          </a:solidFill>
                          <a:latin typeface="Calibri"/>
                        </a:rPr>
                        <a:t>7.80</a:t>
                      </a:r>
                    </a:p>
                  </a:txBody>
                  <a:tcPr marL="85725" marR="38100" marT="19050" marB="19050" anchor="ctr">
                    <a:solidFill>
                      <a:srgbClr val="F5F8FA"/>
                    </a:solidFill>
                  </a:tcPr>
                </a:tc>
              </a:tr>
            </a:tbl>
          </a:graphicData>
        </a:graphic>
      </p:graphicFrame>
      <p:sp>
        <p:nvSpPr>
          <p:cNvPr id="23" name="TextBox 22"/>
          <p:cNvSpPr txBox="1"/>
          <p:nvPr/>
        </p:nvSpPr>
        <p:spPr>
          <a:xfrm>
            <a:off x="6276975" y="6543675"/>
            <a:ext cx="5695950" cy="123825"/>
          </a:xfrm>
          <a:prstGeom prst="rect">
            <a:avLst/>
          </a:prstGeom>
          <a:noFill/>
        </p:spPr>
        <p:txBody>
          <a:bodyPr wrap="none">
            <a:spAutoFit/>
          </a:bodyPr>
          <a:lstStyle/>
          <a:p>
            <a:r>
              <a:rPr sz="700" i="1">
                <a:solidFill>
                  <a:srgbClr val="6C7A89"/>
                </a:solidFill>
                <a:latin typeface="Calibri"/>
              </a:rPr>
              <a:t>Source: FMI Analysis, 2026</a:t>
            </a:r>
          </a:p>
        </p:txBody>
      </p:sp>
      <p:sp>
        <p:nvSpPr>
          <p:cNvPr id="24" name="Rectangle 23"/>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6" name="Rounded Rectangle 25">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7" name="Rounded Rectangle 26">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6"/>
          </p:cNvPr>
          <p:cNvSpPr/>
          <p:nvPr/>
        </p:nvSpPr>
        <p:spPr>
          <a:xfrm>
            <a:off x="11077575"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3825" y="85725"/>
            <a:ext cx="11944350" cy="714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1925" y="838200"/>
            <a:ext cx="3352800" cy="28575"/>
          </a:xfrm>
          <a:prstGeom prst="rect">
            <a:avLst/>
          </a:prstGeom>
          <a:solidFill>
            <a:srgbClr val="0081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00450" y="838200"/>
            <a:ext cx="3495675" cy="28575"/>
          </a:xfrm>
          <a:prstGeom prst="rect">
            <a:avLst/>
          </a:prstGeom>
          <a:solidFill>
            <a:srgbClr val="9E7E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72325" y="838200"/>
            <a:ext cx="3352800" cy="28575"/>
          </a:xfrm>
          <a:prstGeom prst="rect">
            <a:avLst/>
          </a:prstGeom>
          <a:solidFill>
            <a:srgbClr val="4031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0025" y="219075"/>
            <a:ext cx="612125" cy="36195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mi_logo_fmi.png"/>
          <p:cNvPicPr>
            <a:picLocks noChangeAspect="1"/>
          </p:cNvPicPr>
          <p:nvPr/>
        </p:nvPicPr>
        <p:blipFill>
          <a:blip r:embed="rId2"/>
          <a:stretch>
            <a:fillRect/>
          </a:stretch>
        </p:blipFill>
        <p:spPr>
          <a:xfrm>
            <a:off x="266700" y="266700"/>
            <a:ext cx="478775" cy="266700"/>
          </a:xfrm>
          <a:prstGeom prst="rect">
            <a:avLst/>
          </a:prstGeom>
        </p:spPr>
      </p:pic>
      <p:sp>
        <p:nvSpPr>
          <p:cNvPr id="9" name="TextBox 8"/>
          <p:cNvSpPr txBox="1"/>
          <p:nvPr/>
        </p:nvSpPr>
        <p:spPr>
          <a:xfrm>
            <a:off x="1009650" y="171450"/>
            <a:ext cx="7829550" cy="304800"/>
          </a:xfrm>
          <a:prstGeom prst="rect">
            <a:avLst/>
          </a:prstGeom>
          <a:noFill/>
        </p:spPr>
        <p:txBody>
          <a:bodyPr wrap="square" lIns="28575" rIns="28575" tIns="0" bIns="0" anchor="b">
            <a:spAutoFit/>
          </a:bodyPr>
          <a:lstStyle/>
          <a:p>
            <a:pPr algn="l"/>
            <a:r>
              <a:rPr sz="1650" b="1">
                <a:solidFill>
                  <a:srgbClr val="000000"/>
                </a:solidFill>
                <a:latin typeface="Calibri"/>
              </a:rPr>
              <a:t>Company C Strategy Analysis (5/5)</a:t>
            </a:r>
          </a:p>
        </p:txBody>
      </p:sp>
      <p:sp>
        <p:nvSpPr>
          <p:cNvPr id="10" name="TextBox 9"/>
          <p:cNvSpPr txBox="1"/>
          <p:nvPr/>
        </p:nvSpPr>
        <p:spPr>
          <a:xfrm>
            <a:off x="1009650" y="476250"/>
            <a:ext cx="7829550" cy="228600"/>
          </a:xfrm>
          <a:prstGeom prst="rect">
            <a:avLst/>
          </a:prstGeom>
          <a:noFill/>
        </p:spPr>
        <p:txBody>
          <a:bodyPr wrap="square" lIns="28575" rIns="28575" tIns="0" bIns="0" anchor="t">
            <a:spAutoFit/>
          </a:bodyPr>
          <a:lstStyle/>
          <a:p>
            <a:pPr algn="l"/>
            <a:r>
              <a:rPr sz="1100" b="0" i="1">
                <a:solidFill>
                  <a:srgbClr val="252423"/>
                </a:solidFill>
                <a:latin typeface="Calibri"/>
              </a:rPr>
              <a:t>Analysis of Company C's strategic priorities and the competitive moves that support them</a:t>
            </a:r>
          </a:p>
        </p:txBody>
      </p:sp>
      <p:sp>
        <p:nvSpPr>
          <p:cNvPr id="11" name="Rounded Rectangle 10"/>
          <p:cNvSpPr/>
          <p:nvPr/>
        </p:nvSpPr>
        <p:spPr>
          <a:xfrm>
            <a:off x="142875" y="857250"/>
            <a:ext cx="11906250" cy="285750"/>
          </a:xfrm>
          <a:prstGeom prst="roundRect">
            <a:avLst>
              <a:gd name="adj" fmla="val 2666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114300" rIns="114300" tIns="57150" bIns="57150"/>
          <a:lstStyle/>
          <a:p>
            <a:pPr algn="l">
              <a:lnSpc>
                <a:spcPct val="112000"/>
              </a:lnSpc>
            </a:pPr>
            <a:r>
              <a:rPr sz="750" b="0">
                <a:solidFill>
                  <a:srgbClr val="2E2E2E"/>
                </a:solidFill>
                <a:latin typeface="Calibri"/>
              </a:rPr>
              <a:t>Strategy analysis Company C: strategic priorities and the competitive moves that support them (indicative).</a:t>
            </a:r>
          </a:p>
        </p:txBody>
      </p:sp>
      <p:sp>
        <p:nvSpPr>
          <p:cNvPr id="12" name="Rounded Rectangle 11"/>
          <p:cNvSpPr/>
          <p:nvPr/>
        </p:nvSpPr>
        <p:spPr>
          <a:xfrm>
            <a:off x="1428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MARKET SHARE</a:t>
            </a:r>
          </a:p>
          <a:p>
            <a:pPr algn="ctr"/>
            <a:r>
              <a:rPr sz="1500" b="1">
                <a:solidFill>
                  <a:srgbClr val="0E72AE"/>
                </a:solidFill>
                <a:latin typeface="Calibri"/>
              </a:rPr>
              <a:t>9.9%</a:t>
            </a:r>
          </a:p>
          <a:p>
            <a:pPr algn="ctr"/>
            <a:r>
              <a:rPr sz="750" b="0">
                <a:solidFill>
                  <a:srgbClr val="6C7A89"/>
                </a:solidFill>
                <a:latin typeface="Calibri"/>
              </a:rPr>
              <a:t>of global value</a:t>
            </a:r>
          </a:p>
        </p:txBody>
      </p:sp>
      <p:sp>
        <p:nvSpPr>
          <p:cNvPr id="13" name="Rounded Rectangle 12"/>
          <p:cNvSpPr/>
          <p:nvPr/>
        </p:nvSpPr>
        <p:spPr>
          <a:xfrm>
            <a:off x="254317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WIN RATE</a:t>
            </a:r>
          </a:p>
          <a:p>
            <a:pPr algn="ctr"/>
            <a:r>
              <a:rPr sz="1500" b="1">
                <a:solidFill>
                  <a:srgbClr val="0E72AE"/>
                </a:solidFill>
                <a:latin typeface="Calibri"/>
              </a:rPr>
              <a:t>24%</a:t>
            </a:r>
          </a:p>
          <a:p>
            <a:pPr algn="ctr"/>
            <a:r>
              <a:rPr sz="750" b="0">
                <a:solidFill>
                  <a:srgbClr val="6C7A89"/>
                </a:solidFill>
                <a:latin typeface="Calibri"/>
              </a:rPr>
              <a:t>deals won</a:t>
            </a:r>
          </a:p>
        </p:txBody>
      </p:sp>
      <p:sp>
        <p:nvSpPr>
          <p:cNvPr id="14" name="Rounded Rectangle 13"/>
          <p:cNvSpPr/>
          <p:nvPr/>
        </p:nvSpPr>
        <p:spPr>
          <a:xfrm>
            <a:off x="49530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ASP PREMIUM</a:t>
            </a:r>
          </a:p>
          <a:p>
            <a:pPr algn="ctr"/>
            <a:r>
              <a:rPr sz="1500" b="1">
                <a:solidFill>
                  <a:srgbClr val="0E72AE"/>
                </a:solidFill>
                <a:latin typeface="Calibri"/>
              </a:rPr>
              <a:t>+4%</a:t>
            </a:r>
          </a:p>
          <a:p>
            <a:pPr algn="ctr"/>
            <a:r>
              <a:rPr sz="750" b="0">
                <a:solidFill>
                  <a:srgbClr val="6C7A89"/>
                </a:solidFill>
                <a:latin typeface="Calibri"/>
              </a:rPr>
              <a:t>vs peers</a:t>
            </a:r>
          </a:p>
        </p:txBody>
      </p:sp>
      <p:sp>
        <p:nvSpPr>
          <p:cNvPr id="15" name="Rounded Rectangle 14"/>
          <p:cNvSpPr/>
          <p:nvPr/>
        </p:nvSpPr>
        <p:spPr>
          <a:xfrm>
            <a:off x="7353300"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BOOK-TO-BILL</a:t>
            </a:r>
          </a:p>
          <a:p>
            <a:pPr algn="ctr"/>
            <a:r>
              <a:rPr sz="1500" b="1">
                <a:solidFill>
                  <a:srgbClr val="0E72AE"/>
                </a:solidFill>
                <a:latin typeface="Calibri"/>
              </a:rPr>
              <a:t>1.08</a:t>
            </a:r>
          </a:p>
          <a:p>
            <a:pPr algn="ctr"/>
            <a:r>
              <a:rPr sz="750" b="0">
                <a:solidFill>
                  <a:srgbClr val="6C7A89"/>
                </a:solidFill>
                <a:latin typeface="Calibri"/>
              </a:rPr>
              <a:t>order momentum</a:t>
            </a:r>
          </a:p>
        </p:txBody>
      </p:sp>
      <p:sp>
        <p:nvSpPr>
          <p:cNvPr id="16" name="Rounded Rectangle 15"/>
          <p:cNvSpPr/>
          <p:nvPr/>
        </p:nvSpPr>
        <p:spPr>
          <a:xfrm>
            <a:off x="9763125" y="1219200"/>
            <a:ext cx="2276475" cy="628650"/>
          </a:xfrm>
          <a:prstGeom prst="roundRect">
            <a:avLst>
              <a:gd name="adj" fmla="val 8000"/>
            </a:avLst>
          </a:prstGeom>
          <a:solidFill>
            <a:srgbClr val="EAF6FB"/>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square" lIns="28575" rIns="28575" tIns="9525" bIns="9525"/>
          <a:lstStyle/>
          <a:p>
            <a:pPr algn="ctr"/>
            <a:r>
              <a:rPr sz="800" b="1">
                <a:solidFill>
                  <a:srgbClr val="6C7A89"/>
                </a:solidFill>
                <a:latin typeface="Calibri"/>
              </a:rPr>
              <a:t>EBITDA MARGIN</a:t>
            </a:r>
          </a:p>
          <a:p>
            <a:pPr algn="ctr"/>
            <a:r>
              <a:rPr sz="1500" b="1">
                <a:solidFill>
                  <a:srgbClr val="0E72AE"/>
                </a:solidFill>
                <a:latin typeface="Calibri"/>
              </a:rPr>
              <a:t>15%</a:t>
            </a:r>
          </a:p>
          <a:p>
            <a:pPr algn="ctr"/>
            <a:r>
              <a:rPr sz="750" b="0">
                <a:solidFill>
                  <a:srgbClr val="6C7A89"/>
                </a:solidFill>
                <a:latin typeface="Calibri"/>
              </a:rPr>
              <a:t>profitability</a:t>
            </a:r>
          </a:p>
        </p:txBody>
      </p:sp>
      <p:sp>
        <p:nvSpPr>
          <p:cNvPr id="17" name="Rounded Rectangle 16"/>
          <p:cNvSpPr/>
          <p:nvPr/>
        </p:nvSpPr>
        <p:spPr>
          <a:xfrm>
            <a:off x="142875" y="1981200"/>
            <a:ext cx="590550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6225" y="2066925"/>
            <a:ext cx="5638800" cy="209550"/>
          </a:xfrm>
          <a:prstGeom prst="rect">
            <a:avLst/>
          </a:prstGeom>
          <a:noFill/>
        </p:spPr>
        <p:txBody>
          <a:bodyPr wrap="square" lIns="0" rIns="19050" tIns="9525" bIns="9525">
            <a:spAutoFit/>
          </a:bodyPr>
          <a:lstStyle/>
          <a:p>
            <a:pPr algn="l"/>
            <a:r>
              <a:rPr sz="1300" b="1">
                <a:solidFill>
                  <a:srgbClr val="0B2E4A"/>
                </a:solidFill>
                <a:latin typeface="Calibri"/>
              </a:rPr>
              <a:t>Strategic Priorities</a:t>
            </a:r>
          </a:p>
        </p:txBody>
      </p:sp>
      <p:sp>
        <p:nvSpPr>
          <p:cNvPr id="19" name="Rectangle 18"/>
          <p:cNvSpPr/>
          <p:nvPr/>
        </p:nvSpPr>
        <p:spPr>
          <a:xfrm>
            <a:off x="276225" y="2305050"/>
            <a:ext cx="563880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225" y="2390775"/>
            <a:ext cx="563880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Defend and extend leadership in 'Infectious Disease Testing' Company C's strongest end-market while scaling the next-best applications.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Convert its ~24% win rate and +4% ASP premium into share gains through value-based selling.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Raise SAM penetration beyond 'East Asia' (~54%) into lower-penetration regions.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Sustain a 1.08 book-to-bill with disciplined capacity and channel investment.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Protect margin through corridor-based pricing and cost discipline as input prices move.</a:t>
            </a:r>
          </a:p>
        </p:txBody>
      </p:sp>
      <p:sp>
        <p:nvSpPr>
          <p:cNvPr id="21" name="Rounded Rectangle 20"/>
          <p:cNvSpPr/>
          <p:nvPr/>
        </p:nvSpPr>
        <p:spPr>
          <a:xfrm>
            <a:off x="6200775" y="1981200"/>
            <a:ext cx="5848350" cy="4686300"/>
          </a:xfrm>
          <a:prstGeom prst="roundRect">
            <a:avLst>
              <a:gd name="adj" fmla="val 1626"/>
            </a:avLst>
          </a:prstGeom>
          <a:solidFill>
            <a:srgbClr val="FFFFFF"/>
          </a:solidFill>
          <a:ln w="9525">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4125" y="2066925"/>
            <a:ext cx="5581650" cy="209550"/>
          </a:xfrm>
          <a:prstGeom prst="rect">
            <a:avLst/>
          </a:prstGeom>
          <a:noFill/>
        </p:spPr>
        <p:txBody>
          <a:bodyPr wrap="square" lIns="0" rIns="19050" tIns="9525" bIns="9525">
            <a:spAutoFit/>
          </a:bodyPr>
          <a:lstStyle/>
          <a:p>
            <a:pPr algn="l"/>
            <a:r>
              <a:rPr sz="1300" b="1">
                <a:solidFill>
                  <a:srgbClr val="0B2E4A"/>
                </a:solidFill>
                <a:latin typeface="Calibri"/>
              </a:rPr>
              <a:t>Competitive Moves</a:t>
            </a:r>
          </a:p>
        </p:txBody>
      </p:sp>
      <p:sp>
        <p:nvSpPr>
          <p:cNvPr id="23" name="Rectangle 22"/>
          <p:cNvSpPr/>
          <p:nvPr/>
        </p:nvSpPr>
        <p:spPr>
          <a:xfrm>
            <a:off x="6334125" y="2305050"/>
            <a:ext cx="5581650" cy="19050"/>
          </a:xfrm>
          <a:prstGeom prst="rect">
            <a:avLst/>
          </a:prstGeom>
          <a:solidFill>
            <a:srgbClr val="0E7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4125" y="2390775"/>
            <a:ext cx="5581650" cy="4200525"/>
          </a:xfrm>
          <a:prstGeom prst="rect">
            <a:avLst/>
          </a:prstGeom>
          <a:noFill/>
        </p:spPr>
        <p:txBody>
          <a:bodyPr wrap="square" lIns="0" rIns="19050" tIns="9525" bIns="9525">
            <a:spAutoFit/>
          </a:bodyPr>
          <a:lstStyle/>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Premiumise the portfolio around 'Capillary Blood Collection Containers' and adjacent high-value lines to lift blended pricing.</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Deepen presence in 'East Asia' (largest SOM region) and build out under-served geographies.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Invest in R&amp;D, certification and selective M&amp;A to move up the price ladder and widen the moat.</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Diversify the customer base and secure supply to de-risk concentration and input-cost shocks.</a:t>
            </a:r>
          </a:p>
          <a:p>
            <a:pPr algn="l">
              <a:lnSpc>
                <a:spcPct val="110000"/>
              </a:lnSpc>
              <a:spcBef>
                <a:spcPts val="0"/>
              </a:spcBef>
              <a:spcAft>
                <a:spcPts val="500"/>
              </a:spcAft>
            </a:pPr>
            <a:r>
              <a:rPr sz="1000" b="0">
                <a:solidFill>
                  <a:srgbClr val="0E72AE"/>
                </a:solidFill>
                <a:latin typeface="Calibri"/>
              </a:rPr>
              <a:t>▪  </a:t>
            </a:r>
            <a:r>
              <a:rPr sz="1150" b="0">
                <a:solidFill>
                  <a:srgbClr val="2E2E2E"/>
                </a:solidFill>
                <a:latin typeface="Calibri"/>
              </a:rPr>
              <a:t>Sharpen go-to-market a ~85-day sales cycle and ~38% conversion speed share capture.</a:t>
            </a:r>
          </a:p>
        </p:txBody>
      </p:sp>
      <p:sp>
        <p:nvSpPr>
          <p:cNvPr id="25" name="Rectangle 24"/>
          <p:cNvSpPr/>
          <p:nvPr/>
        </p:nvSpPr>
        <p:spPr>
          <a:xfrm>
            <a:off x="0" y="6724650"/>
            <a:ext cx="12192000" cy="133350"/>
          </a:xfrm>
          <a:prstGeom prst="rect">
            <a:avLst/>
          </a:prstGeom>
          <a:solidFill>
            <a:srgbClr val="0667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2400" y="6734175"/>
            <a:ext cx="11887200" cy="114300"/>
          </a:xfrm>
          <a:prstGeom prst="rect">
            <a:avLst/>
          </a:prstGeom>
          <a:noFill/>
        </p:spPr>
        <p:txBody>
          <a:bodyPr wrap="square" lIns="28575" rIns="28575" tIns="9525" bIns="9525" anchor="ctr">
            <a:spAutoFit/>
          </a:bodyPr>
          <a:lstStyle/>
          <a:p>
            <a:pPr algn="l"/>
            <a:r>
              <a:rPr sz="700" b="0">
                <a:solidFill>
                  <a:srgbClr val="FFFFFF"/>
                </a:solidFill>
                <a:latin typeface="Calibri"/>
              </a:rPr>
              <a:t>©2026 Future Market Insights, All Rights Reserved</a:t>
            </a:r>
          </a:p>
        </p:txBody>
      </p:sp>
      <p:sp>
        <p:nvSpPr>
          <p:cNvPr id="27" name="Rounded Rectangle 26">
            <a:hlinkClick action="ppaction://hlinksldjump" r:id="rId4"/>
          </p:cNvPr>
          <p:cNvSpPr/>
          <p:nvPr/>
        </p:nvSpPr>
        <p:spPr>
          <a:xfrm>
            <a:off x="11391900" y="228600"/>
            <a:ext cx="53340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
        <p:nvSpPr>
          <p:cNvPr id="28" name="Rounded Rectangle 27">
            <a:hlinkClick action="ppaction://hlinksldjump" r:id="rId5"/>
          </p:cNvPr>
          <p:cNvSpPr/>
          <p:nvPr/>
        </p:nvSpPr>
        <p:spPr>
          <a:xfrm>
            <a:off x="10801350" y="228600"/>
            <a:ext cx="247650" cy="419100"/>
          </a:xfrm>
          <a:prstGeom prst="roundRect">
            <a:avLst>
              <a:gd name="adj" fmla="val 22000"/>
            </a:avLst>
          </a:prstGeom>
          <a:solidFill>
            <a:srgbClr val="EEF2F5"/>
          </a:solidFill>
          <a:ln w="6350">
            <a:solidFill>
              <a:srgbClr val="C6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0B2E4A"/>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Custom 70">
      <a:dk1>
        <a:sysClr val="windowText" lastClr="000000"/>
      </a:dk1>
      <a:lt1>
        <a:sysClr val="window" lastClr="FFFFFF"/>
      </a:lt1>
      <a:dk2>
        <a:srgbClr val="000000"/>
      </a:dk2>
      <a:lt2>
        <a:srgbClr val="F8F8F8"/>
      </a:lt2>
      <a:accent1>
        <a:srgbClr val="3D85C6"/>
      </a:accent1>
      <a:accent2>
        <a:srgbClr val="9E7E0A"/>
      </a:accent2>
      <a:accent3>
        <a:srgbClr val="40315E"/>
      </a:accent3>
      <a:accent4>
        <a:srgbClr val="008189"/>
      </a:accent4>
      <a:accent5>
        <a:srgbClr val="A35313"/>
      </a:accent5>
      <a:accent6>
        <a:srgbClr val="5F5F5F"/>
      </a:accent6>
      <a:hlink>
        <a:srgbClr val="5F5F5F"/>
      </a:hlink>
      <a:folHlink>
        <a:srgbClr val="919191"/>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