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0" r:id="rId4"/>
    <p:sldId id="262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8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ali Patil" userId="2a404755-b381-4501-b42c-11444dea4494" providerId="ADAL" clId="{548B5D68-BEDC-484D-BA5A-196BE058B057}"/>
    <pc:docChg chg="delSld">
      <pc:chgData name="Sayali Patil" userId="2a404755-b381-4501-b42c-11444dea4494" providerId="ADAL" clId="{548B5D68-BEDC-484D-BA5A-196BE058B057}" dt="2026-09-29T05:34:12.766" v="0" actId="47"/>
      <pc:docMkLst>
        <pc:docMk/>
      </pc:docMkLst>
      <pc:sldChg chg="del">
        <pc:chgData name="Sayali Patil" userId="2a404755-b381-4501-b42c-11444dea4494" providerId="ADAL" clId="{548B5D68-BEDC-484D-BA5A-196BE058B057}" dt="2026-09-29T05:34:12.766" v="0" actId="47"/>
        <pc:sldMkLst>
          <pc:docMk/>
          <pc:sldMk cId="0" sldId="258"/>
        </pc:sldMkLst>
      </pc:sldChg>
      <pc:sldChg chg="del">
        <pc:chgData name="Sayali Patil" userId="2a404755-b381-4501-b42c-11444dea4494" providerId="ADAL" clId="{548B5D68-BEDC-484D-BA5A-196BE058B057}" dt="2026-09-29T05:34:12.766" v="0" actId="47"/>
        <pc:sldMkLst>
          <pc:docMk/>
          <pc:sldMk cId="0" sldId="259"/>
        </pc:sldMkLst>
      </pc:sldChg>
      <pc:sldChg chg="del">
        <pc:chgData name="Sayali Patil" userId="2a404755-b381-4501-b42c-11444dea4494" providerId="ADAL" clId="{548B5D68-BEDC-484D-BA5A-196BE058B057}" dt="2026-09-29T05:34:12.766" v="0" actId="47"/>
        <pc:sldMkLst>
          <pc:docMk/>
          <pc:sldMk cId="0" sldId="261"/>
        </pc:sldMkLst>
      </pc:sldChg>
      <pc:sldChg chg="del">
        <pc:chgData name="Sayali Patil" userId="2a404755-b381-4501-b42c-11444dea4494" providerId="ADAL" clId="{548B5D68-BEDC-484D-BA5A-196BE058B057}" dt="2026-09-29T05:34:12.766" v="0" actId="47"/>
        <pc:sldMkLst>
          <pc:docMk/>
          <pc:sldMk cId="0" sldId="263"/>
        </pc:sldMkLst>
      </pc:sldChg>
      <pc:sldChg chg="del">
        <pc:chgData name="Sayali Patil" userId="2a404755-b381-4501-b42c-11444dea4494" providerId="ADAL" clId="{548B5D68-BEDC-484D-BA5A-196BE058B057}" dt="2026-09-29T05:34:12.766" v="0" actId="47"/>
        <pc:sldMkLst>
          <pc:docMk/>
          <pc:sldMk cId="0" sldId="264"/>
        </pc:sldMkLst>
      </pc:sldChg>
      <pc:sldChg chg="del">
        <pc:chgData name="Sayali Patil" userId="2a404755-b381-4501-b42c-11444dea4494" providerId="ADAL" clId="{548B5D68-BEDC-484D-BA5A-196BE058B057}" dt="2026-09-29T05:34:12.766" v="0" actId="47"/>
        <pc:sldMkLst>
          <pc:docMk/>
          <pc:sldMk cId="0" sldId="265"/>
        </pc:sldMkLst>
      </pc:sldChg>
      <pc:sldChg chg="del">
        <pc:chgData name="Sayali Patil" userId="2a404755-b381-4501-b42c-11444dea4494" providerId="ADAL" clId="{548B5D68-BEDC-484D-BA5A-196BE058B057}" dt="2026-09-29T05:34:12.766" v="0" actId="47"/>
        <pc:sldMkLst>
          <pc:docMk/>
          <pc:sldMk cId="0" sldId="266"/>
        </pc:sldMkLst>
      </pc:sldChg>
      <pc:sldChg chg="del">
        <pc:chgData name="Sayali Patil" userId="2a404755-b381-4501-b42c-11444dea4494" providerId="ADAL" clId="{548B5D68-BEDC-484D-BA5A-196BE058B057}" dt="2026-09-29T05:34:12.766" v="0" actId="47"/>
        <pc:sldMkLst>
          <pc:docMk/>
          <pc:sldMk cId="0" sldId="26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Chocolate-Based</c:v>
                </c:pt>
              </c:strCache>
            </c:strRef>
          </c:tx>
          <c:spPr>
            <a:solidFill>
              <a:srgbClr val="1F3A6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Plain Croissants</c:v>
                </c:pt>
                <c:pt idx="1">
                  <c:v>Filled Sweet</c:v>
                </c:pt>
                <c:pt idx="2">
                  <c:v>Savory Croissants</c:v>
                </c:pt>
                <c:pt idx="3">
                  <c:v>Specialty-Format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16.666666666666668</c:v>
                </c:pt>
                <c:pt idx="2">
                  <c:v>16.666666666666668</c:v>
                </c:pt>
                <c:pt idx="3">
                  <c:v>16.666666666666668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18-4E63-A44D-9BA29C45D8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Nut-Based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Plain Croissants</c:v>
                </c:pt>
                <c:pt idx="1">
                  <c:v>Filled Sweet</c:v>
                </c:pt>
                <c:pt idx="2">
                  <c:v>Savory Croissants</c:v>
                </c:pt>
                <c:pt idx="3">
                  <c:v>Specialty-Format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16.666666666666668</c:v>
                </c:pt>
                <c:pt idx="2">
                  <c:v>16.666666666666668</c:v>
                </c:pt>
                <c:pt idx="3">
                  <c:v>16.666666666666668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18-4E63-A44D-9BA29C45D8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Cream &amp; Custard</c:v>
                </c:pt>
              </c:strCache>
            </c:strRef>
          </c:tx>
          <c:spPr>
            <a:solidFill>
              <a:srgbClr val="6FA8D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Plain Croissants</c:v>
                </c:pt>
                <c:pt idx="1">
                  <c:v>Filled Sweet</c:v>
                </c:pt>
                <c:pt idx="2">
                  <c:v>Savory Croissants</c:v>
                </c:pt>
                <c:pt idx="3">
                  <c:v>Specialty-Format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16.666666666666668</c:v>
                </c:pt>
                <c:pt idx="2">
                  <c:v>16.666666666666668</c:v>
                </c:pt>
                <c:pt idx="3">
                  <c:v>16.666666666666668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C18-4E63-A44D-9BA29C45D82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Fruit-Based</c:v>
                </c:pt>
              </c:strCache>
            </c:strRef>
          </c:tx>
          <c:spPr>
            <a:solidFill>
              <a:srgbClr val="9FC5E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Plain Croissants</c:v>
                </c:pt>
                <c:pt idx="1">
                  <c:v>Filled Sweet</c:v>
                </c:pt>
                <c:pt idx="2">
                  <c:v>Savory Croissants</c:v>
                </c:pt>
                <c:pt idx="3">
                  <c:v>Specialty-Format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16.666666666666668</c:v>
                </c:pt>
                <c:pt idx="2">
                  <c:v>16.666666666666668</c:v>
                </c:pt>
                <c:pt idx="3">
                  <c:v>16.666666666666668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C18-4E63-A44D-9BA29C45D82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Savory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Plain Croissants</c:v>
                </c:pt>
                <c:pt idx="1">
                  <c:v>Filled Sweet</c:v>
                </c:pt>
                <c:pt idx="2">
                  <c:v>Savory Croissants</c:v>
                </c:pt>
                <c:pt idx="3">
                  <c:v>Specialty-Format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16.666666666666668</c:v>
                </c:pt>
                <c:pt idx="2">
                  <c:v>16.666666666666668</c:v>
                </c:pt>
                <c:pt idx="3">
                  <c:v>16.666666666666668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18-4E63-A44D-9BA29C45D82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No Filling</c:v>
                </c:pt>
              </c:strCache>
            </c:strRef>
          </c:tx>
          <c:spPr>
            <a:solidFill>
              <a:srgbClr val="5B7DB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Plain Croissants</c:v>
                </c:pt>
                <c:pt idx="1">
                  <c:v>Filled Sweet</c:v>
                </c:pt>
                <c:pt idx="2">
                  <c:v>Savory Croissants</c:v>
                </c:pt>
                <c:pt idx="3">
                  <c:v>Specialty-Format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16.666666666666668</c:v>
                </c:pt>
                <c:pt idx="1">
                  <c:v>16.666666666666668</c:v>
                </c:pt>
                <c:pt idx="2">
                  <c:v>16.666666666666668</c:v>
                </c:pt>
                <c:pt idx="3">
                  <c:v>16.666666666666668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C18-4E63-A44D-9BA29C45D8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421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&quot;XX&quot;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14213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370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  Product Type × Filling Type – snapshot. All values masked (XX).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  Product Type × Filling Type – share matrix and mix chart, 2026E. All values masked (XX).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  Product Type × Filling Type – opportunity matrix, ranked cells and attractiveness scorecard. All values masked (XX).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XX: Cross-sectional Assessment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70383" y="3183605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 × Filling Type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Type × Packaging Format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 Application × Sales Channel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931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4937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cross-section: Snapshot  ·  Value matrix 2026E  ·  Value matrix 2036F &amp; CAGR  ·  Market share 2026E  ·  Absolute $ opportunity &amp; attractiveness   |   All figures masked (XX)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4846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Snapshot: Product Type × Filling Type, 2026E vs 2036F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value (US$ Mn) for each product type segment across filling type segments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Future Market Insights (FMI) analysis, 2026   |   Note: All figures masked as XX in this sample framework; complete data set provided in the full report / Excel playbook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885260"/>
              </p:ext>
            </p:extLst>
          </p:nvPr>
        </p:nvGraphicFramePr>
        <p:xfrm>
          <a:off x="457200" y="1463040"/>
          <a:ext cx="11274552" cy="272491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23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8460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Chocolate-Based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Cream &amp; Custard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4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9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2036F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2036F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2036F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2036F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2036F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2036F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2036F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Sweet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Savory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Specialty-Format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6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4008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773168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accounts for the largest share of the global croissants market by product type (US$ XX Mn, XX% in 2026E), with XX the leading filling type segment at US$ XX Mn.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 is the single largest cross-sectional cell (US$ XX Mn, 2026E) while XX × XX records the fastest growth at a CAGR of XX% over 2026–2036.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Combined, the top three product type × filling type cells generate an absolute $ opportunity of US$ XX Mn by 2036F.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4846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Analysis: Product Type × Filling Type, 2026E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share of global market value; each row sums to 100% across all filling type sub-segments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1908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Future Market Insights (FMI) analysis, 2026   |   Note: All figures masked as XX in this sample framework; complete data set provided in the full report / Excel playbook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772975"/>
              </p:ext>
            </p:extLst>
          </p:nvPr>
        </p:nvGraphicFramePr>
        <p:xfrm>
          <a:off x="457200" y="1298448"/>
          <a:ext cx="11274552" cy="223990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142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82502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Chocolate-Based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Cream &amp; Custard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8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Chocolate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Milk Chocolate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Hazelnut Chocolate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Hazelnut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Pistachio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Custard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 Cream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Cheese-Based Sweet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Strawberry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Spinach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Mushroom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Cheese-Based Savory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Filling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Croissants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Sweet Croissants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Savory Croissants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Specialty-Format Croissants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Filling Type share of total 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556829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Type mix by product type, 2026E (% share)</a:t>
            </a:r>
            <a:endParaRPr lang="en-US" sz="11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645423319"/>
              </p:ext>
            </p:extLst>
          </p:nvPr>
        </p:nvGraphicFramePr>
        <p:xfrm>
          <a:off x="457200" y="3813048"/>
          <a:ext cx="7498080" cy="2478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8412480" y="367588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insights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3968496"/>
            <a:ext cx="3136392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holds the highest share of XX at XX% (2026E), driven by XX.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is the most concentrated product type segment, with XX% of its sales via XX.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gains XX bps of share across all product type segments by 2036F.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4846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$ Opportunity &amp; Attractiveness: Product Type × Filling Type, 2026–2036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matrix – each cell shows incremental value 2026E→2036F (US$ Mn) and value CAGR (%); attractiveness index scored 1–5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258481"/>
              </p:ext>
            </p:extLst>
          </p:nvPr>
        </p:nvGraphicFramePr>
        <p:xfrm>
          <a:off x="457200" y="1325880"/>
          <a:ext cx="7464492" cy="3598162"/>
        </p:xfrm>
        <a:graphic>
          <a:graphicData uri="http://schemas.openxmlformats.org/drawingml/2006/table">
            <a:tbl>
              <a:tblPr/>
              <a:tblGrid>
                <a:gridCol w="1866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3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5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3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64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5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Chocolate-Based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Cream &amp; Custard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A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5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5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Sweet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5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Savory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5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Specialty-Format Croissants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5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XX 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XX%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9C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8246113" y="1452103"/>
            <a:ext cx="3618977" cy="35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opportunity cells, 2026–2036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07637" y="1931751"/>
            <a:ext cx="365760" cy="378669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Text 8"/>
          <p:cNvSpPr txBox="1"/>
          <p:nvPr/>
        </p:nvSpPr>
        <p:spPr>
          <a:xfrm>
            <a:off x="8207637" y="1931751"/>
            <a:ext cx="365760" cy="37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64837" y="1893884"/>
            <a:ext cx="3220191" cy="47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XX Mn  ·  CAGR XX%  ·  Index XX/5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07637" y="2436643"/>
            <a:ext cx="365760" cy="378669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4" name="Text 11"/>
          <p:cNvSpPr txBox="1"/>
          <p:nvPr/>
        </p:nvSpPr>
        <p:spPr>
          <a:xfrm>
            <a:off x="8207637" y="2436643"/>
            <a:ext cx="365760" cy="37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64837" y="2398776"/>
            <a:ext cx="3220191" cy="47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XX Mn  ·  CAGR XX%  ·  Index XX/5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07637" y="2941535"/>
            <a:ext cx="365760" cy="378669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Text 14"/>
          <p:cNvSpPr txBox="1"/>
          <p:nvPr/>
        </p:nvSpPr>
        <p:spPr>
          <a:xfrm>
            <a:off x="8207637" y="2941535"/>
            <a:ext cx="365760" cy="37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664837" y="2903668"/>
            <a:ext cx="3220191" cy="47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XX Mn  ·  CAGR XX%  ·  Index XX/5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07637" y="3446427"/>
            <a:ext cx="365760" cy="378669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 17"/>
          <p:cNvSpPr txBox="1"/>
          <p:nvPr/>
        </p:nvSpPr>
        <p:spPr>
          <a:xfrm>
            <a:off x="8207637" y="3446427"/>
            <a:ext cx="365760" cy="37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664837" y="3408560"/>
            <a:ext cx="3220191" cy="47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XX Mn  ·  CAGR XX%  ·  Index XX/5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07637" y="3951320"/>
            <a:ext cx="365760" cy="378669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3" name="Text 20"/>
          <p:cNvSpPr txBox="1"/>
          <p:nvPr/>
        </p:nvSpPr>
        <p:spPr>
          <a:xfrm>
            <a:off x="8207637" y="3951320"/>
            <a:ext cx="365760" cy="37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664837" y="3913453"/>
            <a:ext cx="3220191" cy="47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XX Mn  ·  CAGR XX%  ·  Index XX/5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57200" y="5152644"/>
            <a:ext cx="2316480" cy="1490472"/>
          </a:xfrm>
          <a:prstGeom prst="roundRect">
            <a:avLst>
              <a:gd name="adj" fmla="val 4908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8" name="Text 24"/>
          <p:cNvSpPr txBox="1"/>
          <p:nvPr/>
        </p:nvSpPr>
        <p:spPr>
          <a:xfrm>
            <a:off x="594360" y="5244084"/>
            <a:ext cx="204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pool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594360" y="5518404"/>
            <a:ext cx="204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 adds US$ XX Mn of incremental value by 2036F – XX% of the total product type × filling type opportunity.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2956560" y="5152644"/>
            <a:ext cx="2316480" cy="1490472"/>
          </a:xfrm>
          <a:prstGeom prst="roundRect">
            <a:avLst>
              <a:gd name="adj" fmla="val 4908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1" name="Text 27"/>
          <p:cNvSpPr txBox="1"/>
          <p:nvPr/>
        </p:nvSpPr>
        <p:spPr>
          <a:xfrm>
            <a:off x="3093720" y="5244084"/>
            <a:ext cx="204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growth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3093720" y="5518404"/>
            <a:ext cx="204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× XX expands at a CAGR of XX%, XX bps above the global market, on rising demand from XX.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455920" y="5152644"/>
            <a:ext cx="2316480" cy="1490472"/>
          </a:xfrm>
          <a:prstGeom prst="roundRect">
            <a:avLst>
              <a:gd name="adj" fmla="val 4908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4" name="Text 30"/>
          <p:cNvSpPr txBox="1"/>
          <p:nvPr/>
        </p:nvSpPr>
        <p:spPr>
          <a:xfrm>
            <a:off x="5593080" y="5244084"/>
            <a:ext cx="204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play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5593080" y="5518404"/>
            <a:ext cx="204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Attractiveness index ranks XX highest (XX/5); XX scores lowest (XX/5) and is a deprioritised cell.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1227</Words>
  <Application>Microsoft Office PowerPoint</Application>
  <PresentationFormat>Widescreen</PresentationFormat>
  <Paragraphs>360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Croissants Market – Cross-sectional Assessment</dc:title>
  <dc:subject>PptxGenJS Presentation</dc:subject>
  <dc:creator>PptxGenJS</dc:creator>
  <cp:lastModifiedBy>Sayali Patil</cp:lastModifiedBy>
  <cp:revision>3</cp:revision>
  <dcterms:created xsi:type="dcterms:W3CDTF">2026-09-21T10:41:44Z</dcterms:created>
  <dcterms:modified xsi:type="dcterms:W3CDTF">2026-09-29T05:34:17Z</dcterms:modified>
</cp:coreProperties>
</file>