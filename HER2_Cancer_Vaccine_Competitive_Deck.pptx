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handoutMasterIdLst>
    <p:handoutMasterId r:id="rId19"/>
  </p:handoutMasterIdLst>
  <p:sldIdLst>
    <p:sldId id="455" r:id="rId5"/>
    <p:sldId id="456" r:id="rId6"/>
    <p:sldId id="457" r:id="rId7"/>
    <p:sldId id="458" r:id="rId8"/>
    <p:sldId id="459" r:id="rId9"/>
    <p:sldId id="460" r:id="rId10"/>
    <p:sldId id="461" r:id="rId11"/>
    <p:sldId id="462" r:id="rId12"/>
    <p:sldId id="463" r:id="rId13"/>
    <p:sldId id="464" r:id="rId14"/>
    <p:sldId id="465" r:id="rId15"/>
    <p:sldId id="466" r:id="rId16"/>
    <p:sldId id="467" r:id="rId17"/>
  </p:sldIdLst>
  <p:sldSz cx="12192000" cy="6858000"/>
  <p:notesSz cx="6858000" cy="9144000"/>
  <p:defaultTextStyle>
    <a:defPPr>
      <a:defRPr lang="en-US"/>
    </a:defPPr>
    <a:lvl1pPr marL="0" algn="l" defTabSz="966517" rtl="0" eaLnBrk="1" latinLnBrk="0" hangingPunct="1">
      <a:defRPr sz="1902" kern="1200">
        <a:solidFill>
          <a:schemeClr val="tx1"/>
        </a:solidFill>
        <a:latin typeface="+mn-lt"/>
        <a:ea typeface="+mn-ea"/>
        <a:cs typeface="+mn-cs"/>
      </a:defRPr>
    </a:lvl1pPr>
    <a:lvl2pPr marL="483259" algn="l" defTabSz="966517" rtl="0" eaLnBrk="1" latinLnBrk="0" hangingPunct="1">
      <a:defRPr sz="1902" kern="1200">
        <a:solidFill>
          <a:schemeClr val="tx1"/>
        </a:solidFill>
        <a:latin typeface="+mn-lt"/>
        <a:ea typeface="+mn-ea"/>
        <a:cs typeface="+mn-cs"/>
      </a:defRPr>
    </a:lvl2pPr>
    <a:lvl3pPr marL="966517" algn="l" defTabSz="966517" rtl="0" eaLnBrk="1" latinLnBrk="0" hangingPunct="1">
      <a:defRPr sz="1902" kern="1200">
        <a:solidFill>
          <a:schemeClr val="tx1"/>
        </a:solidFill>
        <a:latin typeface="+mn-lt"/>
        <a:ea typeface="+mn-ea"/>
        <a:cs typeface="+mn-cs"/>
      </a:defRPr>
    </a:lvl3pPr>
    <a:lvl4pPr marL="1449775" algn="l" defTabSz="966517" rtl="0" eaLnBrk="1" latinLnBrk="0" hangingPunct="1">
      <a:defRPr sz="1902" kern="1200">
        <a:solidFill>
          <a:schemeClr val="tx1"/>
        </a:solidFill>
        <a:latin typeface="+mn-lt"/>
        <a:ea typeface="+mn-ea"/>
        <a:cs typeface="+mn-cs"/>
      </a:defRPr>
    </a:lvl4pPr>
    <a:lvl5pPr marL="1933034" algn="l" defTabSz="966517" rtl="0" eaLnBrk="1" latinLnBrk="0" hangingPunct="1">
      <a:defRPr sz="1902" kern="1200">
        <a:solidFill>
          <a:schemeClr val="tx1"/>
        </a:solidFill>
        <a:latin typeface="+mn-lt"/>
        <a:ea typeface="+mn-ea"/>
        <a:cs typeface="+mn-cs"/>
      </a:defRPr>
    </a:lvl5pPr>
    <a:lvl6pPr marL="2416292" algn="l" defTabSz="966517" rtl="0" eaLnBrk="1" latinLnBrk="0" hangingPunct="1">
      <a:defRPr sz="1902" kern="1200">
        <a:solidFill>
          <a:schemeClr val="tx1"/>
        </a:solidFill>
        <a:latin typeface="+mn-lt"/>
        <a:ea typeface="+mn-ea"/>
        <a:cs typeface="+mn-cs"/>
      </a:defRPr>
    </a:lvl6pPr>
    <a:lvl7pPr marL="2899551" algn="l" defTabSz="966517" rtl="0" eaLnBrk="1" latinLnBrk="0" hangingPunct="1">
      <a:defRPr sz="1902" kern="1200">
        <a:solidFill>
          <a:schemeClr val="tx1"/>
        </a:solidFill>
        <a:latin typeface="+mn-lt"/>
        <a:ea typeface="+mn-ea"/>
        <a:cs typeface="+mn-cs"/>
      </a:defRPr>
    </a:lvl7pPr>
    <a:lvl8pPr marL="3382810" algn="l" defTabSz="966517" rtl="0" eaLnBrk="1" latinLnBrk="0" hangingPunct="1">
      <a:defRPr sz="1902" kern="1200">
        <a:solidFill>
          <a:schemeClr val="tx1"/>
        </a:solidFill>
        <a:latin typeface="+mn-lt"/>
        <a:ea typeface="+mn-ea"/>
        <a:cs typeface="+mn-cs"/>
      </a:defRPr>
    </a:lvl8pPr>
    <a:lvl9pPr marL="3866068" algn="l" defTabSz="966517" rtl="0" eaLnBrk="1" latinLnBrk="0" hangingPunct="1">
      <a:defRPr sz="1902"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Kunal Gunbote" initials="KG" lastIdx="1" clrIdx="6">
    <p:extLst>
      <p:ext uri="{19B8F6BF-5375-455C-9EA6-DF929625EA0E}">
        <p15:presenceInfo xmlns:p15="http://schemas.microsoft.com/office/powerpoint/2012/main" userId="S-1-5-21-1159362702-2669330398-3134130338-4935" providerId="AD"/>
      </p:ext>
    </p:extLst>
  </p:cmAuthor>
  <p:cmAuthor id="1" name="Sagar Walame" initials="SW" lastIdx="1" clrIdx="0">
    <p:extLst>
      <p:ext uri="{19B8F6BF-5375-455C-9EA6-DF929625EA0E}">
        <p15:presenceInfo xmlns:p15="http://schemas.microsoft.com/office/powerpoint/2012/main" userId="S-1-5-21-1159362702-2669330398-3134130338-92087" providerId="AD"/>
      </p:ext>
    </p:extLst>
  </p:cmAuthor>
  <p:cmAuthor id="2" name="Himanshu Kabra" initials="HK" lastIdx="24" clrIdx="2">
    <p:extLst>
      <p:ext uri="{19B8F6BF-5375-455C-9EA6-DF929625EA0E}">
        <p15:presenceInfo xmlns:p15="http://schemas.microsoft.com/office/powerpoint/2012/main" userId="S-1-5-21-1159362702-2669330398-3134130338-2214" providerId="AD"/>
      </p:ext>
    </p:extLst>
  </p:cmAuthor>
  <p:cmAuthor id="4" name="Nandita Patra" initials="NP" lastIdx="9" clrIdx="3">
    <p:extLst>
      <p:ext uri="{19B8F6BF-5375-455C-9EA6-DF929625EA0E}">
        <p15:presenceInfo xmlns:p15="http://schemas.microsoft.com/office/powerpoint/2012/main" userId="S-1-5-21-1159362702-2669330398-3134130338-4988" providerId="AD"/>
      </p:ext>
    </p:extLst>
  </p:cmAuthor>
  <p:cmAuthor id="5" name="Suraj Pawar" initials="SP" lastIdx="13" clrIdx="4">
    <p:extLst>
      <p:ext uri="{19B8F6BF-5375-455C-9EA6-DF929625EA0E}">
        <p15:presenceInfo xmlns:p15="http://schemas.microsoft.com/office/powerpoint/2012/main" userId="S-1-5-21-1159362702-2669330398-3134130338-2470" providerId="AD"/>
      </p:ext>
    </p:extLst>
  </p:cmAuthor>
  <p:cmAuthor id="6" name="Amarendra Mummaneni" initials="AM" lastIdx="30" clrIdx="5">
    <p:extLst>
      <p:ext uri="{19B8F6BF-5375-455C-9EA6-DF929625EA0E}">
        <p15:presenceInfo xmlns:p15="http://schemas.microsoft.com/office/powerpoint/2012/main" userId="S-1-5-21-1159362702-2669330398-3134130338-492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F8FD"/>
    <a:srgbClr val="BFBFBF"/>
    <a:srgbClr val="EEEEEE"/>
    <a:srgbClr val="FBEEBF"/>
    <a:srgbClr val="000000"/>
    <a:srgbClr val="DEFEE0"/>
    <a:srgbClr val="CDDFF0"/>
    <a:srgbClr val="EFF4E8"/>
    <a:srgbClr val="D9D9D9"/>
    <a:srgbClr val="EFFD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40" autoAdjust="0"/>
    <p:restoredTop sz="94434" autoAdjust="0"/>
  </p:normalViewPr>
  <p:slideViewPr>
    <p:cSldViewPr snapToGrid="0">
      <p:cViewPr varScale="1">
        <p:scale>
          <a:sx n="109" d="100"/>
          <a:sy n="109" d="100"/>
        </p:scale>
        <p:origin x="948" y="11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67" d="100"/>
          <a:sy n="67" d="100"/>
        </p:scale>
        <p:origin x="237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yali Patil" userId="2a404755-b381-4501-b42c-11444dea4494" providerId="ADAL" clId="{548B5D68-BEDC-484D-BA5A-196BE058B057}"/>
    <pc:docChg chg="delSld">
      <pc:chgData name="Sayali Patil" userId="2a404755-b381-4501-b42c-11444dea4494" providerId="ADAL" clId="{548B5D68-BEDC-484D-BA5A-196BE058B057}" dt="2026-09-30T09:54:01.139" v="0" actId="47"/>
      <pc:docMkLst>
        <pc:docMk/>
      </pc:docMkLst>
      <pc:sldChg chg="del">
        <pc:chgData name="Sayali Patil" userId="2a404755-b381-4501-b42c-11444dea4494" providerId="ADAL" clId="{548B5D68-BEDC-484D-BA5A-196BE058B057}" dt="2026-09-30T09:54:01.139" v="0" actId="47"/>
        <pc:sldMkLst>
          <pc:docMk/>
          <pc:sldMk cId="0" sldId="468"/>
        </pc:sldMkLst>
      </pc:sldChg>
      <pc:sldChg chg="del">
        <pc:chgData name="Sayali Patil" userId="2a404755-b381-4501-b42c-11444dea4494" providerId="ADAL" clId="{548B5D68-BEDC-484D-BA5A-196BE058B057}" dt="2026-09-30T09:54:01.139" v="0" actId="47"/>
        <pc:sldMkLst>
          <pc:docMk/>
          <pc:sldMk cId="0" sldId="469"/>
        </pc:sldMkLst>
      </pc:sldChg>
      <pc:sldChg chg="del">
        <pc:chgData name="Sayali Patil" userId="2a404755-b381-4501-b42c-11444dea4494" providerId="ADAL" clId="{548B5D68-BEDC-484D-BA5A-196BE058B057}" dt="2026-09-30T09:54:01.139" v="0" actId="47"/>
        <pc:sldMkLst>
          <pc:docMk/>
          <pc:sldMk cId="0" sldId="4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910D5F0-DEDB-4207-AC6F-C9348E117F27}" type="datetimeFigureOut">
              <a:rPr lang="en-US" smtClean="0"/>
              <a:t>9/30/2026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111557-1D5D-4225-BD05-2D0922FA8B0F}" type="slidenum">
              <a:rPr lang="en-US" smtClean="0"/>
              <a:t>‹#›</a:t>
            </a:fld>
            <a:endParaRPr lang="en-US"/>
          </a:p>
        </p:txBody>
      </p:sp>
    </p:spTree>
    <p:extLst>
      <p:ext uri="{BB962C8B-B14F-4D97-AF65-F5344CB8AC3E}">
        <p14:creationId xmlns:p14="http://schemas.microsoft.com/office/powerpoint/2010/main" val="41096193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45B71E-CD0B-4E6E-93BA-185C491C3A0E}" type="datetimeFigureOut">
              <a:rPr lang="en-US" smtClean="0"/>
              <a:t>9/30/2026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A87B0E-8739-48F7-AADE-F1C531232472}" type="slidenum">
              <a:rPr lang="en-US" smtClean="0"/>
              <a:t>‹#›</a:t>
            </a:fld>
            <a:endParaRPr lang="en-US" dirty="0"/>
          </a:p>
        </p:txBody>
      </p:sp>
    </p:spTree>
    <p:extLst>
      <p:ext uri="{BB962C8B-B14F-4D97-AF65-F5344CB8AC3E}">
        <p14:creationId xmlns:p14="http://schemas.microsoft.com/office/powerpoint/2010/main" val="1896158448"/>
      </p:ext>
    </p:extLst>
  </p:cSld>
  <p:clrMap bg1="lt1" tx1="dk1" bg2="lt2" tx2="dk2" accent1="accent1" accent2="accent2" accent3="accent3" accent4="accent4" accent5="accent5" accent6="accent6" hlink="hlink" folHlink="folHlink"/>
  <p:notesStyle>
    <a:lvl1pPr marL="0" algn="l" defTabSz="966517" rtl="0" eaLnBrk="1" latinLnBrk="0" hangingPunct="1">
      <a:defRPr sz="1268" kern="1200">
        <a:solidFill>
          <a:schemeClr val="tx1"/>
        </a:solidFill>
        <a:latin typeface="+mn-lt"/>
        <a:ea typeface="+mn-ea"/>
        <a:cs typeface="+mn-cs"/>
      </a:defRPr>
    </a:lvl1pPr>
    <a:lvl2pPr marL="483259" algn="l" defTabSz="966517" rtl="0" eaLnBrk="1" latinLnBrk="0" hangingPunct="1">
      <a:defRPr sz="1268" kern="1200">
        <a:solidFill>
          <a:schemeClr val="tx1"/>
        </a:solidFill>
        <a:latin typeface="+mn-lt"/>
        <a:ea typeface="+mn-ea"/>
        <a:cs typeface="+mn-cs"/>
      </a:defRPr>
    </a:lvl2pPr>
    <a:lvl3pPr marL="966517" algn="l" defTabSz="966517" rtl="0" eaLnBrk="1" latinLnBrk="0" hangingPunct="1">
      <a:defRPr sz="1268" kern="1200">
        <a:solidFill>
          <a:schemeClr val="tx1"/>
        </a:solidFill>
        <a:latin typeface="+mn-lt"/>
        <a:ea typeface="+mn-ea"/>
        <a:cs typeface="+mn-cs"/>
      </a:defRPr>
    </a:lvl3pPr>
    <a:lvl4pPr marL="1449775" algn="l" defTabSz="966517" rtl="0" eaLnBrk="1" latinLnBrk="0" hangingPunct="1">
      <a:defRPr sz="1268" kern="1200">
        <a:solidFill>
          <a:schemeClr val="tx1"/>
        </a:solidFill>
        <a:latin typeface="+mn-lt"/>
        <a:ea typeface="+mn-ea"/>
        <a:cs typeface="+mn-cs"/>
      </a:defRPr>
    </a:lvl4pPr>
    <a:lvl5pPr marL="1933034" algn="l" defTabSz="966517" rtl="0" eaLnBrk="1" latinLnBrk="0" hangingPunct="1">
      <a:defRPr sz="1268" kern="1200">
        <a:solidFill>
          <a:schemeClr val="tx1"/>
        </a:solidFill>
        <a:latin typeface="+mn-lt"/>
        <a:ea typeface="+mn-ea"/>
        <a:cs typeface="+mn-cs"/>
      </a:defRPr>
    </a:lvl5pPr>
    <a:lvl6pPr marL="2416292" algn="l" defTabSz="966517" rtl="0" eaLnBrk="1" latinLnBrk="0" hangingPunct="1">
      <a:defRPr sz="1268" kern="1200">
        <a:solidFill>
          <a:schemeClr val="tx1"/>
        </a:solidFill>
        <a:latin typeface="+mn-lt"/>
        <a:ea typeface="+mn-ea"/>
        <a:cs typeface="+mn-cs"/>
      </a:defRPr>
    </a:lvl6pPr>
    <a:lvl7pPr marL="2899551" algn="l" defTabSz="966517" rtl="0" eaLnBrk="1" latinLnBrk="0" hangingPunct="1">
      <a:defRPr sz="1268" kern="1200">
        <a:solidFill>
          <a:schemeClr val="tx1"/>
        </a:solidFill>
        <a:latin typeface="+mn-lt"/>
        <a:ea typeface="+mn-ea"/>
        <a:cs typeface="+mn-cs"/>
      </a:defRPr>
    </a:lvl7pPr>
    <a:lvl8pPr marL="3382810" algn="l" defTabSz="966517" rtl="0" eaLnBrk="1" latinLnBrk="0" hangingPunct="1">
      <a:defRPr sz="1268" kern="1200">
        <a:solidFill>
          <a:schemeClr val="tx1"/>
        </a:solidFill>
        <a:latin typeface="+mn-lt"/>
        <a:ea typeface="+mn-ea"/>
        <a:cs typeface="+mn-cs"/>
      </a:defRPr>
    </a:lvl8pPr>
    <a:lvl9pPr marL="3866068" algn="l" defTabSz="966517" rtl="0" eaLnBrk="1" latinLnBrk="0" hangingPunct="1">
      <a:defRPr sz="126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t>Cover. Deck scope: therapeutic cancer vaccines with HER2 relevance in breast and gastric or gastroesophageal junction cancer. Evidence cut-off 23 Sep 2026. Imugene (HER-Vaxx) and OBI Pharma (adagloxad simolenin) were removed from the roster after verification because their relevant trials are terminated and no active program was found.</a:t>
            </a:r>
          </a:p>
        </p:txBody>
      </p:sp>
      <p:sp>
        <p:nvSpPr>
          <p:cNvPr id="4" name="Slide Number Placeholder 3"/>
          <p:cNvSpPr>
            <a:spLocks noGrp="1"/>
          </p:cNvSpPr>
          <p:nvPr>
            <p:ph type="sldNum" sz="quarter" idx="10"/>
          </p:nvPr>
        </p:nvSpPr>
        <p:spPr/>
        <p:txBody>
          <a:bodyPr/>
          <a:lstStyle/>
          <a:p>
            <a:fld id="{A7A87B0E-8739-48F7-AADE-F1C531232472}" type="slidenum">
              <a:rPr lang="en-US" smtClean="0"/>
              <a:t>1</a:t>
            </a:fld>
            <a:endParaRPr lang="en-US" dirty="0"/>
          </a:p>
        </p:txBody>
      </p:sp>
    </p:spTree>
    <p:extLst>
      <p:ext uri="{BB962C8B-B14F-4D97-AF65-F5344CB8AC3E}">
        <p14:creationId xmlns:p14="http://schemas.microsoft.com/office/powerpoint/2010/main" val="2683913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notes. Metrics count only HER2-directed therapeutic vaccine candidates with a verifiable active or recently active trial. Direct candidates: GLSI-100 (Phase III, NCT05232916), AST-301 (Phase II gastric, NCT05771584), WOKVAC (Phase II, NCT03384914), HER2 DC1 (Phase II, NCT05325632 and NCT03384914), ES2B-C001 (Phase I, NCT06746688), H2NVAC (Phase Ib, NCT04144023). Bria-IMT (NCT06072612) is counted separately as an indirect Phase III because it is an allogeneic whole-cell vaccine derived from a HER2-overexpressing cell line and is not HER2-selected. Country count: FLAMINGO-01 lists 11 countries (US, Spain, France, Germany, Italy, Poland, Romania, Ireland, Portugal, Belgium, Austria) per the company release of 20 Jul 2026, plus Taiwan for Cornerstone-003; UK approval was announced 22 Jul 2026 and is treated as pending activation. Removed from roster: Imugene (nextHERIZON NCT05311176 terminated for slow enrolment and organisational priorities; HERIZON completed) and OBI Pharma (GLORIA Phase III terminated after second interim analysis, announced 23 Apr 2025; target Globo H, not HER2). Discrepancy: ClinicalTrials.gov may still show GLORIA as active, not recruiting; the company announcement of termination is treated as the latest status. Greenwich efficacy figures quoted in public releases come from an open-label arm and are company-reported; they are not used as metrics 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notes. Full circle = documented direct program in an active or recently completed trial. Half circle = indirect relevance or broader eligibility: for example Bria-IMT is not HER2-selected, AdaptVac contributes the VLP platform to ES2B-C001, Aston holds a terminated HER2-low breast trial, HER2-positive trials that accept IHC 2+/ISH+ patients score half on IHC 2+. IHC 2+ column combines 2+/ISH-negative (HER2-low) and 2+/ISH-positive (HER2-positive); slide 6 separates them per trial. H2NVAC eligibility is HER2-expressing DCIS with no IHC-level criteria published, hence half circles. Merck and Moderna (intismeran autogene) and BioNTech with Roche Genentech (autogene cevumeran) are individualized neoantigen mRNA programs with no breast or gastric HER2 trial found. No leader status is assigned because no market share exists.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notes. Incidence: IARC GLOBOCAN 2024 (published 8 Jul 2026) fact sheets for World, US, Europe, China, Japan and Republic of Korea; Taiwan from the Health Promotion Administration 2022 cancer registry (latest published national year; female breast 17,366, stomach 4,377). Rest of World is a residual (World minus listed geographies) and is an analyst estimate because Taiwan and GLOBOCAN totals are compiled differently. Stomach cancer (ICD-10 C16) includes cardia tumours at the gastroesophageal junction; GEJ adenocarcinoma coded as oesophagus is excluded, so the gastric/GEJ pool is conservative. Breast HER2 split: HER2-positive 15 percent (Australian state-wide ISH programme: 15.8 percent of early breast cancer) split into IHC 3+ 12 percent and IHC 2+/ISH+ 3 percent as an analyst estimate; HER2-negative 85 percent split with Schettini et al., npj Breast Cancer 2021 (n = 3,689: IHC 0 40.3 percent, 1+ 40.4 percent, 2+ 19.3 percent). Gastric: HER2-low 21 to 28 percent in published cohorts (Tempus 24.9 percent, Italian series 28.3 percent, Japanese series 21 percent), HER2-positive about 19 to 23 percent; midpoints of 25 and 20 percent are analyst estimates. Groups are mutually exclusive and sum to 100 percent, so no double counting occurs.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notes. Placement is based only on registry or company-verified phase. GLSI-100: Phase III NCT05232916, recruiting. Bria-IMT: Phase III NCT06072612; placed under Other because it is an allogeneic whole-cell vaccine that expresses HER2 and PRAME among other antigens. AST-301: Phase II gastric NCT05771584 listed as recruiting (verification required on current status); breast Phase II NCT05163223 terminated for difficulty recruiting. WOKVAC and HER2 DC1: randomized Phase II NCT03384914, active not recruiting, n = 119; DC1 also in NATASHA NCT05325632, recruiting. ES2B-C001: Phase I NCT06746688, 450 microgram cohort opened May 2026. H2NVAC: Phase Ib NCT04144023, recruiting, status verified Mar 2026. Preclinical row lists only disclosed preclinical HER2 work (AST-301 combination with pembrolizumab and HER2 ADC, AACR 2023 and 2024). Benchmarks: sipuleucel-T (Provenge, Dendreon) FDA approved 2010 for prostate cancer; talimogene laherparepvec (Imlygic, Amgen) FDA approved 2015 for melanoma. These are not HER2 products and are shown only as commercial references. Intismeran autogene met Phase III endpoints in melanoma on 19 Aug 2026; the autogene cevumeran colorectal Phase II was terminated on 28 Aug 2026.</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notes. Scoring criteria are stated on the slide. Pipeline breadth: 3 = two or more HER2 vaccine candidates or indications in clinic; 2 = one candidate spanning more than one HER2 population; 1 = one candidate, one population. Geography: 3 = active sites on two or more continents; 2 = several countries in one region; 1 = one country. Scale: 3 = cash or raise of USD 50 M or more in last 12 months, or big-pharma owner; 2 = USD 10 to 50 M; 1 = below USD 10 M. Leadership: 3 = trial led by named academic steering committee or cooperative group; 2 = academic inventor or institutional collaboration; 1 = none disclosed. Partnerships: 3 = pharma partner; 2 = licence or academic partner; 1 = none. Evidence: Greenwich cash about USD 8.9 M at 30 Jun 2026 and burn of USD 2 to 4 M per quarter (company preliminary, unaudited). ExpreS2ion rights issue about SEK 32.4 M gross (Apr 2026), cash SEK 34.4 M at 30 Jun 2026. BriaCell USD 30 M offering priced 13 Jan 2026 and USD 4.7 M on 31 May 2026. Aston Sci. last disclosed round USD 22.7 M Series C (2022); private. AdaptVac is 34 percent owned by ExpreS2ion and 66 percent by NextGen Vaccines. BriaCell geographic footprint not verified at site level, so n/a.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notes. Eligibility wording follows registry and company descriptions. FLAMINGO-01 enrols HER2-positive breast cancer with residual disease or high-risk pCR after neoadjuvant and adjuvant trastuzumab-based therapy; IHC-level wording (IHC 3+ or IHC 2+/ISH+) follows ASCO/CAP convention and needs protocol verification. Cornerstone-003 enrols gastric cancer with HER2 expression, including HER2-low and overexpression, after standard adjuvant therapy; exclusion of IHC 0 is implied, verification required. ES2B-C001 enrols advanced HER2-positive or HER2-low breast cancer; a May 2025 amendment allows concurrent HER2 ADC such as trastuzumab deruxtecan in selected patients. GLSI-100 Phase IIb: 46 HER2 3+ HLA-A*02 patients treated vs 50 placebo; the 80 percent recurrence reduction is company-reported. AST-301 Phase 1 (UW, PI Disis): 66 HER2-positive advanced breast cancer patients with 10-year follow-up presented at ASCO 2021. Bria-IMT antigens include HER2 and PRAME; the cell line SV-BR-1 is ER/PR negative and strongly HER2 positive. H2NVAC IHC criteria are not published in the registry summary.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notes. Momentum scale: 3 = major recent clinical milestone or pivotal activity in the last 12 months; 2 = active but earlier-stage progress; 1 = limited recent activity; n/a = insufficient evidence. GLSI-100: about 140 sites enrolling (Dec 2025), plans for 170 to 180 sites, UK approval 22 Jul 2026, DSMB May 2026 recommended continuation; Phase III vials manufactured for all patients (company). AST-301: registry status recruiting, last dated company activity found is the BIO 2025 licensing listing; breast trial terminated for recruitment difficulty. ES2B-C001: Phase I primary readout targeted end-2026 and Phase II start mid-2027 subject to partnering or financing (company, Q2 2026 report). Bria-IMT: interim OS analysis at 144 deaths; topline guided for 2026 but not reported by 23 Sep 2026. Completed or terminated programs removed from roster: HER-Vaxx (Imugene) nextHERIZON terminated; adagloxad simolenin (OBI Pharma) GLORIA terminated. Recruitment is concentrated in the US and Europe; Taiwan is the only Asian site location verified for a direct HER2 vaccine trial.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notes. Composite = sum of weight x score, computed only where all five factors are scored; H2NVAC is not composited because biomarker criteria are not published. Criteria: Clinical validation 3 = randomized efficacy data or pivotal trial enrolling, 2 = long-term or pilot efficacy or survival signal, 1 = safety or immunogenicity only. Biomarker breadth 3 = admits both HER2-low and HER2-positive or is not HER2-restricted, 2 = one HER2 category (e.g. HER2-positive), 1 = one category further restricted (e.g. by HLA). Manufacturing 3 = synthetic or off-the-shelf with commercial-scale lot documented, 2 = off-the-shelf without documented scale, 1 = autologous per-patient. Combination 3 = combination with standard-of-care agent in an active protocol, 2 = sequential use or preclinical combination data, 1 = none documented. Trial execution and partnering 3 = multinational or 10+ site pivotal enrolment, 2 = active multi-site trial or licence partner, 1 = single site, stalled or terminated trial. GLSI-100 biomarker breadth scored 2 because FLAMINGO-01 is HER2-positive only; HLA restriction is being lifted in the blinded arms per the Jul 2026 redesign. Bria-IMT scores high on breadth because it is not HER2-selected, which is also why it is classed as indirect.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notes. Only dated, verifiable developments are listed. Terminations of the removed programs (Imugene nextHERIZON, registry status verified Feb 2024; OBI GLORIA, announced 23 Apr 2025) are excluded because the companies are no longer active in HER2 vaccines. Aston Cornerstone-001 termination is not dated in the sources found and is therefore not logged. BriaCell also raised USD 4.7 M on 31 May 2026 (not listed for space). Greenwich preliminary Q2 2026 cash of about USD 8.9 M is unaudited. ExpreS2ion rights issue outcome dated May 2026 per the Redeye note of 5 May 2026 and the Q2 2026 report.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notes. Counts are derived directly from the fifteen events on slide 9; events with two type codes are counted under both types, so type totals exceed fifteen. Functions and sources are single-coded. No partnership, licensing or manufacturing event was verified for a HER2 vaccine developer in the window, which is itself the main business-development finding. Addressable population references use IARC GLOBOCAN 2024 and the analyst-estimated HER2 splits shown on slide 3 and appendix A2. Pricing statements are qualitative; no HER2 vaccine price exists.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notes. Basis: verified pipeline presence and trial eligibility only; no market share exists because no HER2 therapeutic vaccine is commercial. Direct HER2 programs counted: GLSI-100, AST-301, WOKVAC, HER2 DC1, ES2B-C001, H2NVAC (6); Bria-IMT counted as 1 indirect. Maturity markers: 3 = late-stage or pivotal (Greenwich Phase III; BriaCell Phase III, indirect); 2 = mid-stage (Aston Phase II gastric, Moffitt Phase II, UW Phase II); 1 = early-stage or platform (ExpreS2ion Phase I, Mayo Phase Ib, AdaptVac licensor). Eligibility coding: full circle only where protocol or registry wording includes the group. FLAMINGO-01 and NCT03384914 state HER2-positive without IHC-level wording, so IHC 2+/ISH+ is coded partial for Greenwich and UW; NATASHA (Moffitt) states HER2+ per ASCO/CAP, which defines HER2-positive as IHC 3+ or IHC 2+/ISH+, so Moffitt is coded full. Cornerstone-003 (Aston) states HER2 expression including low expression and overexpression; IHC 3+ and HER2-low are coded full, IHC 2+/ISH+ partial. ES2B-C001 enrols HER2-positive or HER2-low. H2NVAC states HER2-expressing DCIS without IHC criteria, so partial. Bria-IMT is not HER2-selected, so partial across groups. Quarter circle: Aston AST-301 HER2-low breast trial NCT05163223 terminated for recruitment difficulty. Exits named on rows in orange (not as columns): Imugene HER-Vaxx (B-cell peptide, HER2-overexpressing gastric; nextHERIZON NCT05311176 terminated) and OBI Pharma adagloxad simolenin (Globo H-KLH conjugate, not HER2; GLORIA enrolled TNBC defined as HER2 IHC 0 or 1+; terminated Apr 2025). Moderna, Merck, BioNTech and Roche Genentech are not columns because no HER2 breast or gastric vaccine program was verified. Whitespace rule applied in order: Low = 3 or more developers with direct programs; High = no direct program, or only one early-stage program; otherwise Medium. Breast shares are from appendix A2 (IHC 0, 1+, 2+/ISH- from Schettini et al. 2021 applied to 85% HER2-negative; 2+/ISH+ and 3+ split is AE).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notes. Pools = world 2024 incidence (IARC GLOBOCAN 2024: breast 2,434,087; stomach 980,286) x HER2 share. Breast: IHC 3+ 12% (AE), IHC 2+/ISH+ 3% (AE), IHC 1+ 34.3% and IHC 2+/ISH- 16.4% from Schettini et al. 2021 applied to 85% HER2-negative (15.8% HER2-positive in an Australian state-wide ISH programme supports the 15% total). Gastric: HER2-positive about 20% (AE midpoint of 19 to 23% in published cohorts, IHC 3+ and 2+/ISH+ not split, n/a), HER2-low about 25% (AE midpoint of 21 to 28%: Japanese series 21%, Tempus 24.9%, Italian series 28.3%); gastric stomach counts exclude GEJ tumours coded to oesophagus. The HER2-low breast row is the sum of IHC 1+ and 2+/ISH- and must not be added again. The cross-cutting row overlaps all other rows by construction. Maturity tags: Greenwich GLSI-100 Phase III (NCT05232916); Moffitt DC1 Phase II (NCT05325632, NCT03384914); UW WOKVAC Phase II (NCT03384914); ExpreS2ion ES2B-C001 Phase I (NCT06746688); Aston AST-301 Phase II gastric (NCT05771584, status verification required); BriaCell Bria-IMT Phase III (NCT06072612, not HER2-selected). Eligibility: FLAMINGO-01 and NCT03384914 state HER2-positive; IHC 2+/ISH+ inclusion is assumed only where ASCO/CAP criteria are cited (NATASHA). Cornerstone-003 includes HER2-low expression and overexpression in gastric cancer; its IHC-level definition was not available, so the gastric HER2-low row uses trial-specific wording. Undated items (Aston Cornerstone-001 termination) are not logged as movements.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TextBox 5"/>
          <p:cNvSpPr txBox="1"/>
          <p:nvPr userDrawn="1"/>
        </p:nvSpPr>
        <p:spPr>
          <a:xfrm>
            <a:off x="0" y="2"/>
            <a:ext cx="12192000" cy="6824625"/>
          </a:xfrm>
          <a:prstGeom prst="rect">
            <a:avLst/>
          </a:prstGeom>
          <a:solidFill>
            <a:schemeClr val="bg1"/>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8" name="Picture 7"/>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3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
        <p:nvSpPr>
          <p:cNvPr id="10" name="TextBox 9"/>
          <p:cNvSpPr txBox="1"/>
          <p:nvPr userDrawn="1"/>
        </p:nvSpPr>
        <p:spPr>
          <a:xfrm>
            <a:off x="829068" y="6616282"/>
            <a:ext cx="1984839" cy="230832"/>
          </a:xfrm>
          <a:prstGeom prst="rect">
            <a:avLst/>
          </a:prstGeom>
          <a:noFill/>
        </p:spPr>
        <p:txBody>
          <a:bodyPr wrap="none" rtlCol="0">
            <a:spAutoFit/>
          </a:bodyPr>
          <a:lstStyle/>
          <a:p>
            <a:r>
              <a:rPr lang="en-US" sz="900" dirty="0">
                <a:solidFill>
                  <a:schemeClr val="bg1"/>
                </a:solidFill>
              </a:rPr>
              <a:t>Source@ Future Market Insights, 2026</a:t>
            </a:r>
            <a:endParaRPr lang="en-IN" sz="900" dirty="0">
              <a:solidFill>
                <a:schemeClr val="bg1"/>
              </a:solidFill>
            </a:endParaRPr>
          </a:p>
        </p:txBody>
      </p:sp>
      <p:sp>
        <p:nvSpPr>
          <p:cNvPr id="12"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
        <p:nvSpPr>
          <p:cNvPr id="13" name="Rectangle 12"/>
          <p:cNvSpPr/>
          <p:nvPr userDrawn="1"/>
        </p:nvSpPr>
        <p:spPr>
          <a:xfrm>
            <a:off x="371630" y="6559883"/>
            <a:ext cx="11448743" cy="57528"/>
          </a:xfrm>
          <a:prstGeom prst="rect">
            <a:avLst/>
          </a:prstGeom>
          <a:solidFill>
            <a:schemeClr val="bg1"/>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Tree>
    <p:extLst>
      <p:ext uri="{BB962C8B-B14F-4D97-AF65-F5344CB8AC3E}">
        <p14:creationId xmlns:p14="http://schemas.microsoft.com/office/powerpoint/2010/main" val="1285309565"/>
      </p:ext>
    </p:extLst>
  </p:cSld>
  <p:clrMapOvr>
    <a:masterClrMapping/>
  </p:clrMapOvr>
  <p:extLst>
    <p:ext uri="{DCECCB84-F9BA-43D5-87BE-67443E8EF086}">
      <p15:sldGuideLst xmlns:p15="http://schemas.microsoft.com/office/powerpoint/2012/main">
        <p15:guide id="1" orient="horz" pos="72" userDrawn="1">
          <p15:clr>
            <a:srgbClr val="FBAE40"/>
          </p15:clr>
        </p15:guide>
        <p15:guide id="2" pos="96" userDrawn="1">
          <p15:clr>
            <a:srgbClr val="FBAE40"/>
          </p15:clr>
        </p15:guide>
        <p15:guide id="3" pos="7552" userDrawn="1">
          <p15:clr>
            <a:srgbClr val="FBAE40"/>
          </p15:clr>
        </p15:guide>
        <p15:guide id="4" orient="horz" pos="4248" userDrawn="1">
          <p15:clr>
            <a:srgbClr val="FBAE40"/>
          </p15:clr>
        </p15:guide>
        <p15:guide id="5" orient="horz" pos="403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9" name="Slide Number Placeholder 5"/>
          <p:cNvSpPr>
            <a:spLocks noGrp="1"/>
          </p:cNvSpPr>
          <p:nvPr userDrawn="1">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4" name="Rectangle 3"/>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
        <p:nvSpPr>
          <p:cNvPr id="11" name="Rectangle 10"/>
          <p:cNvSpPr/>
          <p:nvPr userDrawn="1"/>
        </p:nvSpPr>
        <p:spPr>
          <a:xfrm>
            <a:off x="8645236" y="0"/>
            <a:ext cx="3546764"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
        <p:nvSpPr>
          <p:cNvPr id="12" name="Rectangle 11"/>
          <p:cNvSpPr/>
          <p:nvPr userDrawn="1"/>
        </p:nvSpPr>
        <p:spPr>
          <a:xfrm rot="5400000">
            <a:off x="5271899" y="-810653"/>
            <a:ext cx="2926080" cy="10914122"/>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sp>
        <p:nvSpPr>
          <p:cNvPr id="13" name="Rectangle 12"/>
          <p:cNvSpPr/>
          <p:nvPr userDrawn="1"/>
        </p:nvSpPr>
        <p:spPr>
          <a:xfrm rot="5400000">
            <a:off x="1403070" y="2763754"/>
            <a:ext cx="422240" cy="1752737"/>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902"/>
          </a:p>
        </p:txBody>
      </p:sp>
      <p:cxnSp>
        <p:nvCxnSpPr>
          <p:cNvPr id="6" name="Straight Connector 5"/>
          <p:cNvCxnSpPr/>
          <p:nvPr userDrawn="1"/>
        </p:nvCxnSpPr>
        <p:spPr>
          <a:xfrm flipV="1">
            <a:off x="-6113" y="6314741"/>
            <a:ext cx="1009180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501725" y="4939555"/>
            <a:ext cx="775854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1658200" y="5164120"/>
            <a:ext cx="7732467" cy="385042"/>
          </a:xfrm>
          <a:prstGeom prst="rect">
            <a:avLst/>
          </a:prstGeom>
          <a:noFill/>
        </p:spPr>
        <p:txBody>
          <a:bodyPr wrap="square" rtlCol="0">
            <a:spAutoFit/>
          </a:bodyPr>
          <a:lstStyle/>
          <a:p>
            <a:endParaRPr lang="en-IN" sz="1902" dirty="0"/>
          </a:p>
        </p:txBody>
      </p:sp>
      <p:sp>
        <p:nvSpPr>
          <p:cNvPr id="10" name="TextBox 9"/>
          <p:cNvSpPr txBox="1"/>
          <p:nvPr userDrawn="1"/>
        </p:nvSpPr>
        <p:spPr>
          <a:xfrm>
            <a:off x="152402" y="6477502"/>
            <a:ext cx="1984839" cy="230832"/>
          </a:xfrm>
          <a:prstGeom prst="rect">
            <a:avLst/>
          </a:prstGeom>
          <a:noFill/>
        </p:spPr>
        <p:txBody>
          <a:bodyPr wrap="none" rtlCol="0">
            <a:spAutoFit/>
          </a:bodyPr>
          <a:lstStyle/>
          <a:p>
            <a:r>
              <a:rPr lang="en-US" sz="900" dirty="0"/>
              <a:t>Source@ Future Market Insights, 2026</a:t>
            </a:r>
            <a:endParaRPr lang="en-IN" sz="900" dirty="0"/>
          </a:p>
        </p:txBody>
      </p:sp>
    </p:spTree>
    <p:extLst>
      <p:ext uri="{BB962C8B-B14F-4D97-AF65-F5344CB8AC3E}">
        <p14:creationId xmlns:p14="http://schemas.microsoft.com/office/powerpoint/2010/main" val="286358336"/>
      </p:ext>
    </p:extLst>
  </p:cSld>
  <p:clrMapOvr>
    <a:masterClrMapping/>
  </p:clrMapOvr>
  <p:extLst>
    <p:ext uri="{DCECCB84-F9BA-43D5-87BE-67443E8EF086}">
      <p15:sldGuideLst xmlns:p15="http://schemas.microsoft.com/office/powerpoint/2012/main">
        <p15:guide id="1" orient="horz" pos="72" userDrawn="1">
          <p15:clr>
            <a:srgbClr val="FBAE40"/>
          </p15:clr>
        </p15:guide>
        <p15:guide id="2" pos="96" userDrawn="1">
          <p15:clr>
            <a:srgbClr val="FBAE40"/>
          </p15:clr>
        </p15:guide>
        <p15:guide id="3" pos="7552" userDrawn="1">
          <p15:clr>
            <a:srgbClr val="FBAE40"/>
          </p15:clr>
        </p15:guide>
        <p15:guide id="4" orient="horz" pos="4248" userDrawn="1">
          <p15:clr>
            <a:srgbClr val="FBAE40"/>
          </p15:clr>
        </p15:guide>
        <p15:guide id="5" orient="horz" pos="40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2399" y="1442127"/>
            <a:ext cx="11855752" cy="1333368"/>
          </a:xfrm>
          <a:prstGeom prst="rect">
            <a:avLst/>
          </a:prstGeom>
        </p:spPr>
      </p:pic>
      <p:sp>
        <p:nvSpPr>
          <p:cNvPr id="2" name="Title 1"/>
          <p:cNvSpPr>
            <a:spLocks noGrp="1"/>
          </p:cNvSpPr>
          <p:nvPr>
            <p:ph type="title"/>
          </p:nvPr>
        </p:nvSpPr>
        <p:spPr bwMode="gray">
          <a:xfrm>
            <a:off x="164550" y="1560854"/>
            <a:ext cx="7529743" cy="1097280"/>
          </a:xfrm>
          <a:noFill/>
          <a:ln>
            <a:noFill/>
          </a:ln>
        </p:spPr>
        <p:txBody>
          <a:bodyPr vert="horz" lIns="91440" tIns="91440" rIns="91440" bIns="91440" rtlCol="0" anchor="b" anchorCtr="0">
            <a:noAutofit/>
          </a:bodyPr>
          <a:lstStyle>
            <a:lvl1pPr algn="l">
              <a:defRPr lang="en-US" sz="2000" b="0" dirty="0"/>
            </a:lvl1pPr>
          </a:lstStyle>
          <a:p>
            <a:pPr lvl="0"/>
            <a:r>
              <a:rPr lang="en-US" noProof="0"/>
              <a:t>Click to edit Master title style</a:t>
            </a:r>
            <a:endParaRPr lang="en-GB" noProof="0" dirty="0"/>
          </a:p>
        </p:txBody>
      </p:sp>
      <p:sp>
        <p:nvSpPr>
          <p:cNvPr id="3" name="Text Placeholder 2"/>
          <p:cNvSpPr>
            <a:spLocks noGrp="1"/>
          </p:cNvSpPr>
          <p:nvPr>
            <p:ph type="body" idx="1"/>
          </p:nvPr>
        </p:nvSpPr>
        <p:spPr bwMode="gray">
          <a:xfrm>
            <a:off x="152400" y="3069662"/>
            <a:ext cx="11819998" cy="1049336"/>
          </a:xfrm>
        </p:spPr>
        <p:txBody>
          <a:bodyPr>
            <a:noAutofit/>
          </a:bodyPr>
          <a:lstStyle>
            <a:lvl1pPr marL="0" indent="0" algn="l">
              <a:buNone/>
              <a:defRPr sz="2501" b="1">
                <a:solidFill>
                  <a:schemeClr val="tx1"/>
                </a:solidFill>
                <a:latin typeface="+mn-lt"/>
              </a:defRPr>
            </a:lvl1pPr>
            <a:lvl2pPr marL="457214" indent="0">
              <a:buNone/>
              <a:defRPr sz="2000">
                <a:solidFill>
                  <a:schemeClr val="tx1">
                    <a:tint val="75000"/>
                  </a:schemeClr>
                </a:solidFill>
              </a:defRPr>
            </a:lvl2pPr>
            <a:lvl3pPr marL="914427" indent="0">
              <a:buNone/>
              <a:defRPr sz="1800">
                <a:solidFill>
                  <a:schemeClr val="tx1">
                    <a:tint val="75000"/>
                  </a:schemeClr>
                </a:solidFill>
              </a:defRPr>
            </a:lvl3pPr>
            <a:lvl4pPr marL="1371641" indent="0">
              <a:buNone/>
              <a:defRPr sz="1600">
                <a:solidFill>
                  <a:schemeClr val="tx1">
                    <a:tint val="75000"/>
                  </a:schemeClr>
                </a:solidFill>
              </a:defRPr>
            </a:lvl4pPr>
            <a:lvl5pPr marL="1828855" indent="0">
              <a:buNone/>
              <a:defRPr sz="1600">
                <a:solidFill>
                  <a:schemeClr val="tx1">
                    <a:tint val="75000"/>
                  </a:schemeClr>
                </a:solidFill>
              </a:defRPr>
            </a:lvl5pPr>
            <a:lvl6pPr marL="2286068" indent="0">
              <a:buNone/>
              <a:defRPr sz="1600">
                <a:solidFill>
                  <a:schemeClr val="tx1">
                    <a:tint val="75000"/>
                  </a:schemeClr>
                </a:solidFill>
              </a:defRPr>
            </a:lvl6pPr>
            <a:lvl7pPr marL="2743281" indent="0">
              <a:buNone/>
              <a:defRPr sz="1600">
                <a:solidFill>
                  <a:schemeClr val="tx1">
                    <a:tint val="75000"/>
                  </a:schemeClr>
                </a:solidFill>
              </a:defRPr>
            </a:lvl7pPr>
            <a:lvl8pPr marL="3200495" indent="0">
              <a:buNone/>
              <a:defRPr sz="1600">
                <a:solidFill>
                  <a:schemeClr val="tx1">
                    <a:tint val="75000"/>
                  </a:schemeClr>
                </a:solidFill>
              </a:defRPr>
            </a:lvl8pPr>
            <a:lvl9pPr marL="3657708" indent="0">
              <a:buNone/>
              <a:defRPr sz="1600">
                <a:solidFill>
                  <a:schemeClr val="tx1">
                    <a:tint val="75000"/>
                  </a:schemeClr>
                </a:solidFill>
              </a:defRPr>
            </a:lvl9pPr>
          </a:lstStyle>
          <a:p>
            <a:pPr lvl="0"/>
            <a:r>
              <a:rPr lang="en-US" noProof="0"/>
              <a:t>Click to edit Master text styles</a:t>
            </a:r>
          </a:p>
        </p:txBody>
      </p:sp>
      <p:grpSp>
        <p:nvGrpSpPr>
          <p:cNvPr id="18" name="Group 17"/>
          <p:cNvGrpSpPr/>
          <p:nvPr userDrawn="1"/>
        </p:nvGrpSpPr>
        <p:grpSpPr bwMode="gray">
          <a:xfrm flipH="1">
            <a:off x="152400" y="2821784"/>
            <a:ext cx="11853333" cy="182880"/>
            <a:chOff x="114300" y="958850"/>
            <a:chExt cx="8890000" cy="304800"/>
          </a:xfrm>
        </p:grpSpPr>
        <p:sp>
          <p:nvSpPr>
            <p:cNvPr id="19" name="Rectangle 18"/>
            <p:cNvSpPr/>
            <p:nvPr/>
          </p:nvSpPr>
          <p:spPr bwMode="gray">
            <a:xfrm>
              <a:off x="114302" y="958850"/>
              <a:ext cx="8889998" cy="102297"/>
            </a:xfrm>
            <a:prstGeom prst="rect">
              <a:avLst/>
            </a:prstGeom>
            <a:gradFill flip="none" rotWithShape="1">
              <a:gsLst>
                <a:gs pos="0">
                  <a:srgbClr val="47AD0B"/>
                </a:gs>
                <a:gs pos="95000">
                  <a:schemeClr val="bg1"/>
                </a:gs>
                <a:gs pos="100000">
                  <a:schemeClr val="bg1"/>
                </a:gs>
              </a:gsLst>
              <a:path path="circle">
                <a:fillToRect l="100000" t="100000"/>
              </a:path>
              <a:tileRect r="-100000" b="-100000"/>
            </a:gradFill>
            <a:ln/>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sz="2397" noProof="0" dirty="0">
                <a:solidFill>
                  <a:srgbClr val="FFC000"/>
                </a:solidFill>
              </a:endParaRPr>
            </a:p>
          </p:txBody>
        </p:sp>
        <p:sp>
          <p:nvSpPr>
            <p:cNvPr id="20" name="Rectangle 19"/>
            <p:cNvSpPr/>
            <p:nvPr/>
          </p:nvSpPr>
          <p:spPr bwMode="gray">
            <a:xfrm>
              <a:off x="114300" y="1060101"/>
              <a:ext cx="8889998" cy="102297"/>
            </a:xfrm>
            <a:prstGeom prst="rect">
              <a:avLst/>
            </a:prstGeom>
            <a:gradFill flip="none" rotWithShape="1">
              <a:gsLst>
                <a:gs pos="0">
                  <a:srgbClr val="FF4E00"/>
                </a:gs>
                <a:gs pos="95000">
                  <a:schemeClr val="bg1"/>
                </a:gs>
                <a:gs pos="100000">
                  <a:schemeClr val="bg1"/>
                </a:gs>
              </a:gsLst>
              <a:lin ang="10800000" scaled="1"/>
              <a:tileRect/>
            </a:gradFill>
            <a:ln/>
            <a:effectLst/>
          </p:spPr>
          <p:style>
            <a:lnRef idx="0">
              <a:schemeClr val="accent4"/>
            </a:lnRef>
            <a:fillRef idx="3">
              <a:schemeClr val="accent4"/>
            </a:fillRef>
            <a:effectRef idx="3">
              <a:schemeClr val="accent4"/>
            </a:effectRef>
            <a:fontRef idx="minor">
              <a:schemeClr val="lt1"/>
            </a:fontRef>
          </p:style>
          <p:txBody>
            <a:bodyPr rtlCol="0" anchor="ctr"/>
            <a:lstStyle/>
            <a:p>
              <a:pPr lvl="0" algn="ctr"/>
              <a:endParaRPr lang="en-GB" sz="2397" noProof="0" dirty="0">
                <a:solidFill>
                  <a:srgbClr val="FFC000"/>
                </a:solidFill>
              </a:endParaRPr>
            </a:p>
          </p:txBody>
        </p:sp>
        <p:sp>
          <p:nvSpPr>
            <p:cNvPr id="21" name="Rectangle 20"/>
            <p:cNvSpPr/>
            <p:nvPr/>
          </p:nvSpPr>
          <p:spPr bwMode="gray">
            <a:xfrm>
              <a:off x="114300" y="1161353"/>
              <a:ext cx="8889998" cy="102297"/>
            </a:xfrm>
            <a:prstGeom prst="rect">
              <a:avLst/>
            </a:prstGeom>
            <a:gradFill flip="none" rotWithShape="1">
              <a:gsLst>
                <a:gs pos="0">
                  <a:srgbClr val="90278E"/>
                </a:gs>
                <a:gs pos="95000">
                  <a:schemeClr val="bg1"/>
                </a:gs>
                <a:gs pos="100000">
                  <a:schemeClr val="bg1"/>
                </a:gs>
              </a:gsLst>
              <a:lin ang="10800000" scaled="1"/>
              <a:tileRect/>
            </a:gradFill>
            <a:ln/>
            <a:effectLst/>
          </p:spPr>
          <p:style>
            <a:lnRef idx="0">
              <a:schemeClr val="accent4"/>
            </a:lnRef>
            <a:fillRef idx="3">
              <a:schemeClr val="accent4"/>
            </a:fillRef>
            <a:effectRef idx="3">
              <a:schemeClr val="accent4"/>
            </a:effectRef>
            <a:fontRef idx="minor">
              <a:schemeClr val="lt1"/>
            </a:fontRef>
          </p:style>
          <p:txBody>
            <a:bodyPr rtlCol="0" anchor="ctr"/>
            <a:lstStyle/>
            <a:p>
              <a:pPr lvl="0" algn="ctr"/>
              <a:endParaRPr lang="en-GB" sz="2397" noProof="0" dirty="0">
                <a:solidFill>
                  <a:srgbClr val="FFC000"/>
                </a:solidFill>
              </a:endParaRPr>
            </a:p>
          </p:txBody>
        </p:sp>
      </p:grpSp>
      <p:sp>
        <p:nvSpPr>
          <p:cNvPr id="32"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Tree>
    <p:extLst>
      <p:ext uri="{BB962C8B-B14F-4D97-AF65-F5344CB8AC3E}">
        <p14:creationId xmlns:p14="http://schemas.microsoft.com/office/powerpoint/2010/main" val="641346208"/>
      </p:ext>
    </p:extLst>
  </p:cSld>
  <p:clrMapOvr>
    <a:masterClrMapping/>
  </p:clrMapOvr>
  <p:extLst>
    <p:ext uri="{DCECCB84-F9BA-43D5-87BE-67443E8EF086}">
      <p15:sldGuideLst xmlns:p15="http://schemas.microsoft.com/office/powerpoint/2012/main">
        <p15:guide id="1" orient="horz" pos="72" userDrawn="1">
          <p15:clr>
            <a:srgbClr val="FBAE40"/>
          </p15:clr>
        </p15:guide>
        <p15:guide id="2" pos="96" userDrawn="1">
          <p15:clr>
            <a:srgbClr val="FBAE40"/>
          </p15:clr>
        </p15:guide>
        <p15:guide id="3" pos="7552" userDrawn="1">
          <p15:clr>
            <a:srgbClr val="FBAE40"/>
          </p15:clr>
        </p15:guide>
        <p15:guide id="4" orient="horz" pos="4248" userDrawn="1">
          <p15:clr>
            <a:srgbClr val="FBAE40"/>
          </p15:clr>
        </p15:guide>
        <p15:guide id="5" orient="horz" pos="40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6"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39"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Tree>
    <p:extLst>
      <p:ext uri="{BB962C8B-B14F-4D97-AF65-F5344CB8AC3E}">
        <p14:creationId xmlns:p14="http://schemas.microsoft.com/office/powerpoint/2010/main" val="2098548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39"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Tree>
    <p:extLst>
      <p:ext uri="{BB962C8B-B14F-4D97-AF65-F5344CB8AC3E}">
        <p14:creationId xmlns:p14="http://schemas.microsoft.com/office/powerpoint/2010/main" val="2829230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400" y="152401"/>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1181999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7"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3" name="Freeform 2"/>
          <p:cNvSpPr/>
          <p:nvPr userDrawn="1"/>
        </p:nvSpPr>
        <p:spPr>
          <a:xfrm>
            <a:off x="157241" y="1132242"/>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104401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2_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400" y="152401"/>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1181999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7"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3" name="Freeform 2"/>
          <p:cNvSpPr/>
          <p:nvPr userDrawn="1"/>
        </p:nvSpPr>
        <p:spPr>
          <a:xfrm>
            <a:off x="157241" y="1132242"/>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6" name="Text Placeholder 2"/>
          <p:cNvSpPr>
            <a:spLocks noGrp="1"/>
          </p:cNvSpPr>
          <p:nvPr>
            <p:ph type="body" idx="13"/>
          </p:nvPr>
        </p:nvSpPr>
        <p:spPr bwMode="gray">
          <a:xfrm>
            <a:off x="152400" y="3683000"/>
            <a:ext cx="1181999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7" name="Freeform 6"/>
          <p:cNvSpPr/>
          <p:nvPr userDrawn="1"/>
        </p:nvSpPr>
        <p:spPr>
          <a:xfrm>
            <a:off x="157241" y="3710342"/>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159688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11815156"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1181999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262322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6208907" y="1613579"/>
            <a:ext cx="5763491"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6232913"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767847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3768436"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4178181" y="1613579"/>
            <a:ext cx="3768436"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4178181" y="1143000"/>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417818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8203961" y="1613579"/>
            <a:ext cx="3768436"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8203961" y="1143000"/>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820396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938573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376843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86858" y="1125788"/>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2400" y="1140546"/>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4178181" y="1613579"/>
            <a:ext cx="376843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4212639" y="1128782"/>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417818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8203961" y="1613579"/>
            <a:ext cx="376843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8238418" y="1143001"/>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dirty="0"/>
              <a:t>Click to edit Master text styles</a:t>
            </a:r>
          </a:p>
        </p:txBody>
      </p:sp>
      <p:sp>
        <p:nvSpPr>
          <p:cNvPr id="16" name="Freeform 15"/>
          <p:cNvSpPr/>
          <p:nvPr userDrawn="1"/>
        </p:nvSpPr>
        <p:spPr>
          <a:xfrm>
            <a:off x="820396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7"/>
          </p:nvPr>
        </p:nvSpPr>
        <p:spPr bwMode="gray">
          <a:xfrm>
            <a:off x="152400" y="4572003"/>
            <a:ext cx="11815156"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376845" y="4066996"/>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157241" y="4101421"/>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273984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376843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4178181" y="1613579"/>
            <a:ext cx="778937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4178181" y="1143000"/>
            <a:ext cx="778937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4178181" y="1143000"/>
            <a:ext cx="778937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7"/>
          </p:nvPr>
        </p:nvSpPr>
        <p:spPr bwMode="gray">
          <a:xfrm>
            <a:off x="152400" y="4572003"/>
            <a:ext cx="11815156"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152400" y="4101421"/>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157241" y="4101421"/>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1491150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3768436"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376843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376843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4178181" y="1613579"/>
            <a:ext cx="778937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4178181" y="1143000"/>
            <a:ext cx="778937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4178181" y="1143000"/>
            <a:ext cx="778937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7"/>
          </p:nvPr>
        </p:nvSpPr>
        <p:spPr bwMode="gray">
          <a:xfrm>
            <a:off x="4178181" y="4572003"/>
            <a:ext cx="7789377"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4178181" y="4101421"/>
            <a:ext cx="7789377"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4183022" y="4101421"/>
            <a:ext cx="7789377"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543274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5763491"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6204065" y="1613579"/>
            <a:ext cx="5763491"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6204065"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4065"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7"/>
          </p:nvPr>
        </p:nvSpPr>
        <p:spPr bwMode="gray">
          <a:xfrm>
            <a:off x="152400" y="4572003"/>
            <a:ext cx="11815156"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152400" y="4101421"/>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157241" y="4101421"/>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451159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1181515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7"/>
          </p:nvPr>
        </p:nvSpPr>
        <p:spPr bwMode="gray">
          <a:xfrm>
            <a:off x="152400" y="4572003"/>
            <a:ext cx="11815156"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152400" y="4101421"/>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157241" y="4101421"/>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1173537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bwMode="gray">
          <a:xfrm>
            <a:off x="152400" y="1613579"/>
            <a:ext cx="11815156" cy="228600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170336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7" name="Content Placeholder 2"/>
          <p:cNvSpPr>
            <a:spLocks noGrp="1"/>
          </p:cNvSpPr>
          <p:nvPr>
            <p:ph idx="17"/>
          </p:nvPr>
        </p:nvSpPr>
        <p:spPr bwMode="gray">
          <a:xfrm>
            <a:off x="152400" y="4572003"/>
            <a:ext cx="11815156" cy="1635125"/>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18"/>
          </p:nvPr>
        </p:nvSpPr>
        <p:spPr bwMode="gray">
          <a:xfrm>
            <a:off x="152400" y="4101421"/>
            <a:ext cx="118151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157241" y="4101421"/>
            <a:ext cx="118151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279652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6208907" y="1613579"/>
            <a:ext cx="5763491" cy="4593546"/>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52400"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3810973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78476" y="1106971"/>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78476" y="3812828"/>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36438778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4590288"/>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3"/>
          </p:nvPr>
        </p:nvSpPr>
        <p:spPr bwMode="gray">
          <a:xfrm>
            <a:off x="6208907"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6208907"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6208907"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6208907"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4190623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0" name="Content Placeholder 2"/>
          <p:cNvSpPr>
            <a:spLocks noGrp="1"/>
          </p:cNvSpPr>
          <p:nvPr>
            <p:ph idx="13"/>
          </p:nvPr>
        </p:nvSpPr>
        <p:spPr bwMode="gray">
          <a:xfrm>
            <a:off x="6208907"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4"/>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6208907"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6208907"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6208907"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41777733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52400"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6208907"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41489650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6208907"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10654935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52400"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6208907" y="1613579"/>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9"/>
          </p:nvPr>
        </p:nvSpPr>
        <p:spPr bwMode="gray">
          <a:xfrm>
            <a:off x="6208907" y="4286475"/>
            <a:ext cx="5763491"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20"/>
          </p:nvPr>
        </p:nvSpPr>
        <p:spPr bwMode="gray">
          <a:xfrm>
            <a:off x="6208907" y="3815896"/>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6208907" y="3815896"/>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15365957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81"/>
            <a:ext cx="5763491" cy="2246579"/>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519983"/>
            <a:ext cx="5763491" cy="1735719"/>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52400" y="4028164"/>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4036328"/>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6208907" y="1613581"/>
            <a:ext cx="5763491" cy="2246579"/>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6208907" y="1143000"/>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6208907" y="1143000"/>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9"/>
          </p:nvPr>
        </p:nvSpPr>
        <p:spPr bwMode="gray">
          <a:xfrm>
            <a:off x="6208907" y="4519983"/>
            <a:ext cx="5763491" cy="1735719"/>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20"/>
          </p:nvPr>
        </p:nvSpPr>
        <p:spPr bwMode="gray">
          <a:xfrm>
            <a:off x="6208907" y="4028164"/>
            <a:ext cx="5763491"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6208907" y="4036328"/>
            <a:ext cx="5763491"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3281994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3" name="Content Placeholder 2"/>
          <p:cNvSpPr>
            <a:spLocks noGrp="1"/>
          </p:cNvSpPr>
          <p:nvPr userDrawn="1">
            <p:ph idx="1"/>
          </p:nvPr>
        </p:nvSpPr>
        <p:spPr bwMode="gray">
          <a:xfrm>
            <a:off x="152400" y="1613579"/>
            <a:ext cx="387927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152400" y="1143000"/>
            <a:ext cx="387927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157241" y="1143000"/>
            <a:ext cx="387927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152400" y="4286475"/>
            <a:ext cx="387927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152400" y="3815896"/>
            <a:ext cx="387927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157241" y="3815896"/>
            <a:ext cx="387927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4344041" y="1613579"/>
            <a:ext cx="387927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4344041" y="1143000"/>
            <a:ext cx="387927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4344041" y="1143000"/>
            <a:ext cx="387927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9"/>
          </p:nvPr>
        </p:nvSpPr>
        <p:spPr bwMode="gray">
          <a:xfrm>
            <a:off x="4344041" y="4286475"/>
            <a:ext cx="387927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20"/>
          </p:nvPr>
        </p:nvSpPr>
        <p:spPr bwMode="gray">
          <a:xfrm>
            <a:off x="4344041" y="3815896"/>
            <a:ext cx="387927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4344041" y="3815896"/>
            <a:ext cx="387927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20" name="Content Placeholder 2"/>
          <p:cNvSpPr>
            <a:spLocks noGrp="1"/>
          </p:cNvSpPr>
          <p:nvPr>
            <p:ph idx="21"/>
          </p:nvPr>
        </p:nvSpPr>
        <p:spPr bwMode="gray">
          <a:xfrm>
            <a:off x="8530841" y="1613579"/>
            <a:ext cx="3441556" cy="4590288"/>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1" name="Text Placeholder 2"/>
          <p:cNvSpPr>
            <a:spLocks noGrp="1"/>
          </p:cNvSpPr>
          <p:nvPr>
            <p:ph type="body" idx="22"/>
          </p:nvPr>
        </p:nvSpPr>
        <p:spPr bwMode="gray">
          <a:xfrm>
            <a:off x="8530841" y="1143000"/>
            <a:ext cx="3441556"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2" name="Freeform 21"/>
          <p:cNvSpPr/>
          <p:nvPr userDrawn="1"/>
        </p:nvSpPr>
        <p:spPr>
          <a:xfrm>
            <a:off x="8530841" y="1143000"/>
            <a:ext cx="3441556"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Tree>
    <p:extLst>
      <p:ext uri="{BB962C8B-B14F-4D97-AF65-F5344CB8AC3E}">
        <p14:creationId xmlns:p14="http://schemas.microsoft.com/office/powerpoint/2010/main" val="1959555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6" name="Rectangle 5"/>
          <p:cNvSpPr/>
          <p:nvPr userDrawn="1"/>
        </p:nvSpPr>
        <p:spPr>
          <a:xfrm>
            <a:off x="152402" y="1613578"/>
            <a:ext cx="2269507"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3" name="Content Placeholder 2"/>
          <p:cNvSpPr>
            <a:spLocks noGrp="1"/>
          </p:cNvSpPr>
          <p:nvPr userDrawn="1">
            <p:ph idx="1"/>
          </p:nvPr>
        </p:nvSpPr>
        <p:spPr bwMode="gray">
          <a:xfrm>
            <a:off x="3143224" y="1613579"/>
            <a:ext cx="5266268"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3143224" y="1143000"/>
            <a:ext cx="526626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3148065" y="1143000"/>
            <a:ext cx="526626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4" name="Content Placeholder 2"/>
          <p:cNvSpPr>
            <a:spLocks noGrp="1"/>
          </p:cNvSpPr>
          <p:nvPr>
            <p:ph idx="15"/>
          </p:nvPr>
        </p:nvSpPr>
        <p:spPr bwMode="gray">
          <a:xfrm>
            <a:off x="3143224" y="4286475"/>
            <a:ext cx="5266268"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5" name="Text Placeholder 2"/>
          <p:cNvSpPr>
            <a:spLocks noGrp="1"/>
          </p:cNvSpPr>
          <p:nvPr>
            <p:ph type="body" idx="16"/>
          </p:nvPr>
        </p:nvSpPr>
        <p:spPr bwMode="gray">
          <a:xfrm>
            <a:off x="3143224" y="3815896"/>
            <a:ext cx="526626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6" name="Freeform 15"/>
          <p:cNvSpPr/>
          <p:nvPr userDrawn="1"/>
        </p:nvSpPr>
        <p:spPr>
          <a:xfrm>
            <a:off x="3148065" y="3815896"/>
            <a:ext cx="526626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8726166" y="1613579"/>
            <a:ext cx="324623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8726166" y="1143000"/>
            <a:ext cx="324623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8726166" y="1143000"/>
            <a:ext cx="324623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7" name="Content Placeholder 2"/>
          <p:cNvSpPr>
            <a:spLocks noGrp="1"/>
          </p:cNvSpPr>
          <p:nvPr>
            <p:ph idx="19"/>
          </p:nvPr>
        </p:nvSpPr>
        <p:spPr bwMode="gray">
          <a:xfrm>
            <a:off x="8726166" y="4286475"/>
            <a:ext cx="324623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p:cNvSpPr>
            <a:spLocks noGrp="1"/>
          </p:cNvSpPr>
          <p:nvPr>
            <p:ph type="body" idx="20"/>
          </p:nvPr>
        </p:nvSpPr>
        <p:spPr bwMode="gray">
          <a:xfrm>
            <a:off x="8726166" y="3815896"/>
            <a:ext cx="324623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9" name="Freeform 18"/>
          <p:cNvSpPr/>
          <p:nvPr userDrawn="1"/>
        </p:nvSpPr>
        <p:spPr>
          <a:xfrm>
            <a:off x="8726166" y="3815896"/>
            <a:ext cx="324623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5" name="Text Placeholder 4"/>
          <p:cNvSpPr>
            <a:spLocks noGrp="1"/>
          </p:cNvSpPr>
          <p:nvPr>
            <p:ph type="body" sz="quarter" idx="21"/>
          </p:nvPr>
        </p:nvSpPr>
        <p:spPr>
          <a:xfrm>
            <a:off x="219995" y="1659298"/>
            <a:ext cx="2134315" cy="822960"/>
          </a:xfrm>
        </p:spPr>
        <p:txBody>
          <a:bodyPr anchor="ctr"/>
          <a:lstStyle>
            <a:lvl1pPr marL="0" indent="0" algn="ctr">
              <a:buNone/>
              <a:defRPr sz="1200" b="1">
                <a:solidFill>
                  <a:schemeClr val="bg1"/>
                </a:solidFill>
              </a:defRPr>
            </a:lvl1pPr>
            <a:lvl2pPr marL="457213" indent="0">
              <a:buNone/>
              <a:defRPr/>
            </a:lvl2pPr>
            <a:lvl3pPr marL="914427" indent="0">
              <a:buNone/>
              <a:defRPr/>
            </a:lvl3pPr>
            <a:lvl4pPr marL="1371641" indent="0">
              <a:buNone/>
              <a:defRPr/>
            </a:lvl4pPr>
            <a:lvl5pPr marL="1828854" indent="0">
              <a:buNone/>
              <a:defRPr/>
            </a:lvl5pPr>
          </a:lstStyle>
          <a:p>
            <a:pPr lvl="0"/>
            <a:r>
              <a:rPr lang="en-US"/>
              <a:t>Click to edit Master text styles</a:t>
            </a:r>
          </a:p>
        </p:txBody>
      </p:sp>
      <p:sp>
        <p:nvSpPr>
          <p:cNvPr id="7" name="Isosceles Triangle 6"/>
          <p:cNvSpPr/>
          <p:nvPr userDrawn="1"/>
        </p:nvSpPr>
        <p:spPr>
          <a:xfrm rot="5400000">
            <a:off x="2208943" y="1899828"/>
            <a:ext cx="914400" cy="3419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24" name="Rectangle 23"/>
          <p:cNvSpPr/>
          <p:nvPr userDrawn="1"/>
        </p:nvSpPr>
        <p:spPr>
          <a:xfrm>
            <a:off x="152402" y="4286475"/>
            <a:ext cx="2269507"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27" name="Text Placeholder 4"/>
          <p:cNvSpPr>
            <a:spLocks noGrp="1"/>
          </p:cNvSpPr>
          <p:nvPr>
            <p:ph type="body" sz="quarter" idx="22"/>
          </p:nvPr>
        </p:nvSpPr>
        <p:spPr>
          <a:xfrm>
            <a:off x="219995" y="4332195"/>
            <a:ext cx="2134315" cy="822960"/>
          </a:xfrm>
        </p:spPr>
        <p:txBody>
          <a:bodyPr anchor="ctr"/>
          <a:lstStyle>
            <a:lvl1pPr marL="0" indent="0" algn="ctr">
              <a:buNone/>
              <a:defRPr sz="1200" b="1">
                <a:solidFill>
                  <a:schemeClr val="bg1"/>
                </a:solidFill>
              </a:defRPr>
            </a:lvl1pPr>
            <a:lvl2pPr marL="457213" indent="0">
              <a:buNone/>
              <a:defRPr/>
            </a:lvl2pPr>
            <a:lvl3pPr marL="914427" indent="0">
              <a:buNone/>
              <a:defRPr/>
            </a:lvl3pPr>
            <a:lvl4pPr marL="1371641" indent="0">
              <a:buNone/>
              <a:defRPr/>
            </a:lvl4pPr>
            <a:lvl5pPr marL="1828854" indent="0">
              <a:buNone/>
              <a:defRPr/>
            </a:lvl5pPr>
          </a:lstStyle>
          <a:p>
            <a:pPr lvl="0"/>
            <a:r>
              <a:rPr lang="en-US"/>
              <a:t>Click to edit Master text styles</a:t>
            </a:r>
          </a:p>
        </p:txBody>
      </p:sp>
      <p:sp>
        <p:nvSpPr>
          <p:cNvPr id="28" name="Isosceles Triangle 27"/>
          <p:cNvSpPr/>
          <p:nvPr userDrawn="1"/>
        </p:nvSpPr>
        <p:spPr>
          <a:xfrm rot="5400000">
            <a:off x="2208943" y="4572725"/>
            <a:ext cx="914400" cy="3419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Tree>
    <p:extLst>
      <p:ext uri="{BB962C8B-B14F-4D97-AF65-F5344CB8AC3E}">
        <p14:creationId xmlns:p14="http://schemas.microsoft.com/office/powerpoint/2010/main" val="1475540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6" name="Rectangle 5"/>
          <p:cNvSpPr/>
          <p:nvPr userDrawn="1"/>
        </p:nvSpPr>
        <p:spPr>
          <a:xfrm>
            <a:off x="152402" y="1613578"/>
            <a:ext cx="2269507" cy="914400"/>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3" name="Content Placeholder 2"/>
          <p:cNvSpPr>
            <a:spLocks noGrp="1"/>
          </p:cNvSpPr>
          <p:nvPr userDrawn="1">
            <p:ph idx="1"/>
          </p:nvPr>
        </p:nvSpPr>
        <p:spPr bwMode="gray">
          <a:xfrm>
            <a:off x="3143224" y="1613579"/>
            <a:ext cx="5266268"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25" name="Text Placeholder 2"/>
          <p:cNvSpPr>
            <a:spLocks noGrp="1"/>
          </p:cNvSpPr>
          <p:nvPr>
            <p:ph type="body" idx="12"/>
          </p:nvPr>
        </p:nvSpPr>
        <p:spPr bwMode="gray">
          <a:xfrm>
            <a:off x="3143224" y="1143000"/>
            <a:ext cx="5266268"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26"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
        <p:nvSpPr>
          <p:cNvPr id="13" name="Freeform 12"/>
          <p:cNvSpPr/>
          <p:nvPr userDrawn="1"/>
        </p:nvSpPr>
        <p:spPr>
          <a:xfrm>
            <a:off x="3148065" y="1143000"/>
            <a:ext cx="5266268"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10" name="Content Placeholder 2"/>
          <p:cNvSpPr>
            <a:spLocks noGrp="1"/>
          </p:cNvSpPr>
          <p:nvPr>
            <p:ph idx="17"/>
          </p:nvPr>
        </p:nvSpPr>
        <p:spPr bwMode="gray">
          <a:xfrm>
            <a:off x="8726166" y="1613579"/>
            <a:ext cx="3246233" cy="1920240"/>
          </a:xfrm>
          <a:ln>
            <a:noFill/>
          </a:ln>
        </p:spPr>
        <p:txBody>
          <a:bodyPr lIns="91440"/>
          <a:lstStyle>
            <a:lvl1pPr marL="228609" indent="-228609" algn="just">
              <a:lnSpc>
                <a:spcPts val="1600"/>
              </a:lnSpc>
              <a:spcBef>
                <a:spcPts val="800"/>
              </a:spcBef>
              <a:spcAft>
                <a:spcPts val="800"/>
              </a:spcAft>
              <a:buFont typeface="Wingdings" panose="05000000000000000000" pitchFamily="2" charset="2"/>
              <a:buChar char="q"/>
              <a:defRPr sz="1200"/>
            </a:lvl1pPr>
            <a:lvl2pPr marL="457218" indent="-228609" algn="just">
              <a:lnSpc>
                <a:spcPts val="1500"/>
              </a:lnSpc>
              <a:spcBef>
                <a:spcPts val="700"/>
              </a:spcBef>
              <a:spcAft>
                <a:spcPts val="700"/>
              </a:spcAft>
              <a:buFont typeface="Wingdings" panose="05000000000000000000" pitchFamily="2" charset="2"/>
              <a:buChar char="Ø"/>
              <a:defRPr sz="1100"/>
            </a:lvl2pPr>
            <a:lvl3pPr marL="685826" indent="-228609" algn="just">
              <a:lnSpc>
                <a:spcPts val="1400"/>
              </a:lnSpc>
              <a:spcBef>
                <a:spcPts val="600"/>
              </a:spcBef>
              <a:spcAft>
                <a:spcPts val="600"/>
              </a:spcAft>
              <a:buFont typeface="Wingdings" panose="05000000000000000000" pitchFamily="2" charset="2"/>
              <a:buChar char="§"/>
              <a:defRPr sz="1000"/>
            </a:lvl3pPr>
            <a:lvl4pPr marL="914436" indent="-228609" algn="just">
              <a:lnSpc>
                <a:spcPts val="1400"/>
              </a:lnSpc>
              <a:spcBef>
                <a:spcPts val="500"/>
              </a:spcBef>
              <a:spcAft>
                <a:spcPts val="500"/>
              </a:spcAft>
              <a:buFont typeface="Courier New" panose="02070309020205020404" pitchFamily="49" charset="0"/>
              <a:buChar char="o"/>
              <a:defRPr sz="900"/>
            </a:lvl4pPr>
            <a:lvl5pPr marL="1143044" indent="-228609" algn="just">
              <a:lnSpc>
                <a:spcPts val="1400"/>
              </a:lnSpc>
              <a:spcBef>
                <a:spcPts val="400"/>
              </a:spcBef>
              <a:spcAft>
                <a:spcPts val="400"/>
              </a:spcAft>
              <a:defRPr sz="8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1" name="Text Placeholder 2"/>
          <p:cNvSpPr>
            <a:spLocks noGrp="1"/>
          </p:cNvSpPr>
          <p:nvPr>
            <p:ph type="body" idx="18"/>
          </p:nvPr>
        </p:nvSpPr>
        <p:spPr bwMode="gray">
          <a:xfrm>
            <a:off x="8726166" y="1143000"/>
            <a:ext cx="3246233" cy="470578"/>
          </a:xfrm>
        </p:spPr>
        <p:txBody>
          <a:bodyPr anchor="b">
            <a:noAutofit/>
          </a:bodyPr>
          <a:lstStyle>
            <a:lvl1pPr marL="0" indent="0" algn="ctr">
              <a:buNone/>
              <a:defRPr sz="1300" b="1"/>
            </a:lvl1pPr>
            <a:lvl2pPr marL="457214" indent="0">
              <a:buNone/>
              <a:defRPr sz="2000" b="1"/>
            </a:lvl2pPr>
            <a:lvl3pPr marL="914427" indent="0">
              <a:buNone/>
              <a:defRPr sz="1800" b="1"/>
            </a:lvl3pPr>
            <a:lvl4pPr marL="1371641" indent="0">
              <a:buNone/>
              <a:defRPr sz="1600" b="1"/>
            </a:lvl4pPr>
            <a:lvl5pPr marL="1828855" indent="0">
              <a:buNone/>
              <a:defRPr sz="1600" b="1"/>
            </a:lvl5pPr>
            <a:lvl6pPr marL="2286068" indent="0">
              <a:buNone/>
              <a:defRPr sz="1600" b="1"/>
            </a:lvl6pPr>
            <a:lvl7pPr marL="2743281" indent="0">
              <a:buNone/>
              <a:defRPr sz="1600" b="1"/>
            </a:lvl7pPr>
            <a:lvl8pPr marL="3200495" indent="0">
              <a:buNone/>
              <a:defRPr sz="1600" b="1"/>
            </a:lvl8pPr>
            <a:lvl9pPr marL="3657708" indent="0">
              <a:buNone/>
              <a:defRPr sz="1600" b="1"/>
            </a:lvl9pPr>
          </a:lstStyle>
          <a:p>
            <a:pPr lvl="0"/>
            <a:r>
              <a:rPr lang="en-US" noProof="0"/>
              <a:t>Click to edit Master text styles</a:t>
            </a:r>
          </a:p>
        </p:txBody>
      </p:sp>
      <p:sp>
        <p:nvSpPr>
          <p:cNvPr id="12" name="Freeform 11"/>
          <p:cNvSpPr/>
          <p:nvPr userDrawn="1"/>
        </p:nvSpPr>
        <p:spPr>
          <a:xfrm>
            <a:off x="8726166" y="1143000"/>
            <a:ext cx="3246233" cy="475488"/>
          </a:xfrm>
          <a:custGeom>
            <a:avLst/>
            <a:gdLst>
              <a:gd name="connsiteX0" fmla="*/ 0 w 9767454"/>
              <a:gd name="connsiteY0" fmla="*/ 0 h 484909"/>
              <a:gd name="connsiteX1" fmla="*/ 0 w 9767454"/>
              <a:gd name="connsiteY1" fmla="*/ 484909 h 484909"/>
              <a:gd name="connsiteX2" fmla="*/ 9767454 w 9767454"/>
              <a:gd name="connsiteY2" fmla="*/ 484909 h 484909"/>
            </a:gdLst>
            <a:ahLst/>
            <a:cxnLst>
              <a:cxn ang="0">
                <a:pos x="connsiteX0" y="connsiteY0"/>
              </a:cxn>
              <a:cxn ang="0">
                <a:pos x="connsiteX1" y="connsiteY1"/>
              </a:cxn>
              <a:cxn ang="0">
                <a:pos x="connsiteX2" y="connsiteY2"/>
              </a:cxn>
            </a:cxnLst>
            <a:rect l="l" t="t" r="r" b="b"/>
            <a:pathLst>
              <a:path w="9767454" h="484909">
                <a:moveTo>
                  <a:pt x="0" y="0"/>
                </a:moveTo>
                <a:lnTo>
                  <a:pt x="0" y="484909"/>
                </a:lnTo>
                <a:lnTo>
                  <a:pt x="9767454" y="484909"/>
                </a:lnTo>
              </a:path>
            </a:pathLst>
          </a:custGeom>
          <a:noFill/>
          <a:ln w="28575">
            <a:solidFill>
              <a:srgbClr val="00818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lvl="0" algn="ctr"/>
            <a:endParaRPr lang="en-GB" sz="1013"/>
          </a:p>
        </p:txBody>
      </p:sp>
      <p:sp>
        <p:nvSpPr>
          <p:cNvPr id="5" name="Text Placeholder 4"/>
          <p:cNvSpPr>
            <a:spLocks noGrp="1"/>
          </p:cNvSpPr>
          <p:nvPr>
            <p:ph type="body" sz="quarter" idx="21"/>
          </p:nvPr>
        </p:nvSpPr>
        <p:spPr>
          <a:xfrm>
            <a:off x="219995" y="1659298"/>
            <a:ext cx="2134315" cy="822960"/>
          </a:xfrm>
        </p:spPr>
        <p:txBody>
          <a:bodyPr anchor="ctr"/>
          <a:lstStyle>
            <a:lvl1pPr marL="0" indent="0" algn="ctr">
              <a:buNone/>
              <a:defRPr sz="1200" b="1">
                <a:solidFill>
                  <a:schemeClr val="bg1"/>
                </a:solidFill>
              </a:defRPr>
            </a:lvl1pPr>
            <a:lvl2pPr marL="457213" indent="0">
              <a:buNone/>
              <a:defRPr/>
            </a:lvl2pPr>
            <a:lvl3pPr marL="914427" indent="0">
              <a:buNone/>
              <a:defRPr/>
            </a:lvl3pPr>
            <a:lvl4pPr marL="1371641" indent="0">
              <a:buNone/>
              <a:defRPr/>
            </a:lvl4pPr>
            <a:lvl5pPr marL="1828854" indent="0">
              <a:buNone/>
              <a:defRPr/>
            </a:lvl5pPr>
          </a:lstStyle>
          <a:p>
            <a:pPr lvl="0"/>
            <a:r>
              <a:rPr lang="en-US"/>
              <a:t>Click to edit Master text styles</a:t>
            </a:r>
          </a:p>
        </p:txBody>
      </p:sp>
      <p:sp>
        <p:nvSpPr>
          <p:cNvPr id="7" name="Isosceles Triangle 6"/>
          <p:cNvSpPr/>
          <p:nvPr userDrawn="1"/>
        </p:nvSpPr>
        <p:spPr>
          <a:xfrm rot="5400000">
            <a:off x="2208943" y="1899828"/>
            <a:ext cx="914400" cy="3419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Tree>
    <p:extLst>
      <p:ext uri="{BB962C8B-B14F-4D97-AF65-F5344CB8AC3E}">
        <p14:creationId xmlns:p14="http://schemas.microsoft.com/office/powerpoint/2010/main" val="21669991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Title 1"/>
          <p:cNvSpPr>
            <a:spLocks noGrp="1"/>
          </p:cNvSpPr>
          <p:nvPr userDrawn="1">
            <p:ph type="title"/>
          </p:nvPr>
        </p:nvSpPr>
        <p:spPr bwMode="gray">
          <a:xfrm>
            <a:off x="152400" y="152400"/>
            <a:ext cx="9975273" cy="731520"/>
          </a:xfrm>
        </p:spPr>
        <p:txBody>
          <a:bodyPr>
            <a:noAutofit/>
          </a:bodyPr>
          <a:lstStyle>
            <a:lvl1pPr>
              <a:defRPr sz="2200"/>
            </a:lvl1pPr>
          </a:lstStyle>
          <a:p>
            <a:r>
              <a:rPr lang="en-US" noProof="0"/>
              <a:t>Click to edit Master title style</a:t>
            </a:r>
            <a:endParaRPr lang="en-GB" noProof="0" dirty="0"/>
          </a:p>
        </p:txBody>
      </p:sp>
      <p:sp>
        <p:nvSpPr>
          <p:cNvPr id="15" name="Slide Number Placeholder 5"/>
          <p:cNvSpPr>
            <a:spLocks noGrp="1"/>
          </p:cNvSpPr>
          <p:nvPr>
            <p:ph type="sldNum" sz="quarter" idx="4"/>
          </p:nvPr>
        </p:nvSpPr>
        <p:spPr bwMode="gray">
          <a:xfrm>
            <a:off x="11613319" y="6423705"/>
            <a:ext cx="359080" cy="269876"/>
          </a:xfrm>
          <a:prstGeom prst="rect">
            <a:avLst/>
          </a:prstGeom>
        </p:spPr>
        <p:txBody>
          <a:bodyPr lIns="0" tIns="0" rIns="0" bIns="0" anchor="ctr" anchorCtr="0"/>
          <a:lstStyle>
            <a:lvl1pPr algn="ctr">
              <a:defRPr sz="1000">
                <a:solidFill>
                  <a:schemeClr val="tx1"/>
                </a:solidFill>
                <a:latin typeface="+mn-lt"/>
              </a:defRPr>
            </a:lvl1pPr>
          </a:lstStyle>
          <a:p>
            <a:fld id="{4B17068C-EB94-40A3-A5F2-664CDD77FDAC}" type="slidenum">
              <a:rPr lang="en-GB" smtClean="0"/>
              <a:pPr/>
              <a:t>‹#›</a:t>
            </a:fld>
            <a:endParaRPr lang="en-GB" dirty="0"/>
          </a:p>
        </p:txBody>
      </p:sp>
    </p:spTree>
    <p:extLst>
      <p:ext uri="{BB962C8B-B14F-4D97-AF65-F5344CB8AC3E}">
        <p14:creationId xmlns:p14="http://schemas.microsoft.com/office/powerpoint/2010/main" val="3227209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 name="Rectangle 35"/>
          <p:cNvSpPr/>
          <p:nvPr userDrawn="1"/>
        </p:nvSpPr>
        <p:spPr>
          <a:xfrm>
            <a:off x="0" y="909507"/>
            <a:ext cx="12192000" cy="130628"/>
          </a:xfrm>
          <a:prstGeom prst="rect">
            <a:avLst/>
          </a:prstGeom>
          <a:solidFill>
            <a:schemeClr val="accent1">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37" name="Rectangle 36"/>
          <p:cNvSpPr/>
          <p:nvPr userDrawn="1"/>
        </p:nvSpPr>
        <p:spPr>
          <a:xfrm>
            <a:off x="0" y="1"/>
            <a:ext cx="12192000" cy="940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902"/>
          </a:p>
        </p:txBody>
      </p:sp>
      <p:sp>
        <p:nvSpPr>
          <p:cNvPr id="11" name="Freeform 10"/>
          <p:cNvSpPr/>
          <p:nvPr userDrawn="1"/>
        </p:nvSpPr>
        <p:spPr bwMode="gray">
          <a:xfrm>
            <a:off x="152400" y="6420652"/>
            <a:ext cx="11887200" cy="0"/>
          </a:xfrm>
          <a:custGeom>
            <a:avLst/>
            <a:gdLst>
              <a:gd name="connsiteX0" fmla="*/ 12039600 w 12039600"/>
              <a:gd name="connsiteY0" fmla="*/ 0 h 0"/>
              <a:gd name="connsiteX1" fmla="*/ 0 w 12039600"/>
              <a:gd name="connsiteY1" fmla="*/ 0 h 0"/>
            </a:gdLst>
            <a:ahLst/>
            <a:cxnLst>
              <a:cxn ang="0">
                <a:pos x="connsiteX0" y="connsiteY0"/>
              </a:cxn>
              <a:cxn ang="0">
                <a:pos x="connsiteX1" y="connsiteY1"/>
              </a:cxn>
            </a:cxnLst>
            <a:rect l="l" t="t" r="r" b="b"/>
            <a:pathLst>
              <a:path w="12039600">
                <a:moveTo>
                  <a:pt x="12039600" y="0"/>
                </a:moveTo>
                <a:lnTo>
                  <a:pt x="0" y="0"/>
                </a:lnTo>
              </a:path>
            </a:pathLst>
          </a:cu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013"/>
          </a:p>
        </p:txBody>
      </p:sp>
      <p:sp>
        <p:nvSpPr>
          <p:cNvPr id="3" name="Text Placeholder 2"/>
          <p:cNvSpPr>
            <a:spLocks noGrp="1"/>
          </p:cNvSpPr>
          <p:nvPr userDrawn="1">
            <p:ph type="body" idx="1"/>
          </p:nvPr>
        </p:nvSpPr>
        <p:spPr bwMode="gray">
          <a:xfrm>
            <a:off x="152400" y="1257301"/>
            <a:ext cx="11836400" cy="4963051"/>
          </a:xfrm>
          <a:prstGeom prst="rect">
            <a:avLst/>
          </a:prstGeom>
        </p:spPr>
        <p:txBody>
          <a:bodyPr vert="horz" lIns="0" tIns="91440" rIns="91440" bIns="9144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2" name="Title Placeholder 1"/>
          <p:cNvSpPr>
            <a:spLocks noGrp="1"/>
          </p:cNvSpPr>
          <p:nvPr userDrawn="1">
            <p:ph type="title"/>
          </p:nvPr>
        </p:nvSpPr>
        <p:spPr bwMode="gray">
          <a:xfrm>
            <a:off x="152400" y="152400"/>
            <a:ext cx="9975273" cy="723900"/>
          </a:xfrm>
          <a:prstGeom prst="rect">
            <a:avLst/>
          </a:prstGeom>
        </p:spPr>
        <p:txBody>
          <a:bodyPr vert="horz" lIns="0" tIns="91440" rIns="91440" bIns="91440" rtlCol="0" anchor="b" anchorCtr="0">
            <a:noAutofit/>
          </a:bodyPr>
          <a:lstStyle/>
          <a:p>
            <a:r>
              <a:rPr lang="en-US" noProof="0"/>
              <a:t>Click to edit Master title style</a:t>
            </a:r>
            <a:endParaRPr lang="en-GB" noProof="0" dirty="0"/>
          </a:p>
        </p:txBody>
      </p:sp>
      <p:sp>
        <p:nvSpPr>
          <p:cNvPr id="16" name="Rectangle 15"/>
          <p:cNvSpPr/>
          <p:nvPr userDrawn="1"/>
        </p:nvSpPr>
        <p:spPr bwMode="gray">
          <a:xfrm>
            <a:off x="-1299342" y="876303"/>
            <a:ext cx="1090332" cy="418887"/>
          </a:xfrm>
          <a:prstGeom prst="rect">
            <a:avLst/>
          </a:prstGeom>
          <a:solidFill>
            <a:srgbClr val="2A5F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7" name="Rectangle 16"/>
          <p:cNvSpPr/>
          <p:nvPr userDrawn="1"/>
        </p:nvSpPr>
        <p:spPr bwMode="gray">
          <a:xfrm>
            <a:off x="-1299342" y="1429860"/>
            <a:ext cx="1090332" cy="418887"/>
          </a:xfrm>
          <a:prstGeom prst="rect">
            <a:avLst/>
          </a:prstGeom>
          <a:solidFill>
            <a:srgbClr val="8E14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8" name="Rectangle 17"/>
          <p:cNvSpPr/>
          <p:nvPr userDrawn="1"/>
        </p:nvSpPr>
        <p:spPr bwMode="gray">
          <a:xfrm>
            <a:off x="-1299342" y="1983417"/>
            <a:ext cx="1090332" cy="418887"/>
          </a:xfrm>
          <a:prstGeom prst="rect">
            <a:avLst/>
          </a:prstGeom>
          <a:solidFill>
            <a:srgbClr val="9E7E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19" name="Rectangle 18"/>
          <p:cNvSpPr/>
          <p:nvPr userDrawn="1"/>
        </p:nvSpPr>
        <p:spPr bwMode="gray">
          <a:xfrm>
            <a:off x="-1299342" y="2536974"/>
            <a:ext cx="1090332" cy="418887"/>
          </a:xfrm>
          <a:prstGeom prst="rect">
            <a:avLst/>
          </a:prstGeom>
          <a:solidFill>
            <a:srgbClr val="40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0" name="Rectangle 19"/>
          <p:cNvSpPr/>
          <p:nvPr userDrawn="1"/>
        </p:nvSpPr>
        <p:spPr bwMode="gray">
          <a:xfrm>
            <a:off x="-1299342" y="3090531"/>
            <a:ext cx="1090332" cy="418887"/>
          </a:xfrm>
          <a:prstGeom prst="rect">
            <a:avLst/>
          </a:prstGeom>
          <a:solidFill>
            <a:srgbClr val="008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1" name="Rectangle 20"/>
          <p:cNvSpPr/>
          <p:nvPr userDrawn="1"/>
        </p:nvSpPr>
        <p:spPr bwMode="gray">
          <a:xfrm>
            <a:off x="-1299342" y="3644088"/>
            <a:ext cx="1090332" cy="418887"/>
          </a:xfrm>
          <a:prstGeom prst="rect">
            <a:avLst/>
          </a:prstGeom>
          <a:solidFill>
            <a:srgbClr val="A353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2" name="Rectangle 21"/>
          <p:cNvSpPr/>
          <p:nvPr userDrawn="1"/>
        </p:nvSpPr>
        <p:spPr bwMode="gray">
          <a:xfrm>
            <a:off x="-1299342" y="4197645"/>
            <a:ext cx="1090332" cy="418887"/>
          </a:xfrm>
          <a:prstGeom prst="rect">
            <a:avLst/>
          </a:prstGeom>
          <a:solidFill>
            <a:srgbClr val="7B84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3" name="Rectangle 22"/>
          <p:cNvSpPr/>
          <p:nvPr userDrawn="1"/>
        </p:nvSpPr>
        <p:spPr bwMode="gray">
          <a:xfrm>
            <a:off x="-1299342" y="4751202"/>
            <a:ext cx="1090332" cy="418887"/>
          </a:xfrm>
          <a:prstGeom prst="rect">
            <a:avLst/>
          </a:prstGeom>
          <a:solidFill>
            <a:srgbClr val="7B1A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4" name="Rectangle 23"/>
          <p:cNvSpPr/>
          <p:nvPr userDrawn="1"/>
        </p:nvSpPr>
        <p:spPr bwMode="gray">
          <a:xfrm>
            <a:off x="12416658" y="876303"/>
            <a:ext cx="1090332" cy="418887"/>
          </a:xfrm>
          <a:prstGeom prst="rect">
            <a:avLst/>
          </a:prstGeom>
          <a:solidFill>
            <a:srgbClr val="7AAB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5" name="Rectangle 24"/>
          <p:cNvSpPr/>
          <p:nvPr userDrawn="1"/>
        </p:nvSpPr>
        <p:spPr bwMode="gray">
          <a:xfrm>
            <a:off x="12416658" y="1429860"/>
            <a:ext cx="1090332" cy="418887"/>
          </a:xfrm>
          <a:prstGeom prst="rect">
            <a:avLst/>
          </a:prstGeom>
          <a:solidFill>
            <a:srgbClr val="E54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6" name="Rectangle 25"/>
          <p:cNvSpPr/>
          <p:nvPr userDrawn="1"/>
        </p:nvSpPr>
        <p:spPr bwMode="gray">
          <a:xfrm>
            <a:off x="12416658" y="1983417"/>
            <a:ext cx="1090332" cy="418887"/>
          </a:xfrm>
          <a:prstGeom prst="rect">
            <a:avLst/>
          </a:prstGeom>
          <a:solidFill>
            <a:srgbClr val="F3CE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7" name="Rectangle 26"/>
          <p:cNvSpPr/>
          <p:nvPr userDrawn="1"/>
        </p:nvSpPr>
        <p:spPr bwMode="gray">
          <a:xfrm>
            <a:off x="12416658" y="2536974"/>
            <a:ext cx="1090332" cy="418887"/>
          </a:xfrm>
          <a:prstGeom prst="rect">
            <a:avLst/>
          </a:prstGeom>
          <a:solidFill>
            <a:srgbClr val="A08E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8" name="Rectangle 27"/>
          <p:cNvSpPr/>
          <p:nvPr userDrawn="1"/>
        </p:nvSpPr>
        <p:spPr bwMode="gray">
          <a:xfrm>
            <a:off x="12416658" y="3090531"/>
            <a:ext cx="1090332" cy="418887"/>
          </a:xfrm>
          <a:prstGeom prst="rect">
            <a:avLst/>
          </a:prstGeom>
          <a:solidFill>
            <a:srgbClr val="4BF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9" name="Rectangle 28"/>
          <p:cNvSpPr/>
          <p:nvPr userDrawn="1"/>
        </p:nvSpPr>
        <p:spPr bwMode="gray">
          <a:xfrm>
            <a:off x="12416658" y="3644088"/>
            <a:ext cx="1090332" cy="418887"/>
          </a:xfrm>
          <a:prstGeom prst="rect">
            <a:avLst/>
          </a:prstGeom>
          <a:solidFill>
            <a:srgbClr val="EEA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0" name="Rectangle 29"/>
          <p:cNvSpPr/>
          <p:nvPr userDrawn="1"/>
        </p:nvSpPr>
        <p:spPr bwMode="gray">
          <a:xfrm>
            <a:off x="12416658" y="4197645"/>
            <a:ext cx="1090332" cy="418887"/>
          </a:xfrm>
          <a:prstGeom prst="rect">
            <a:avLst/>
          </a:prstGeom>
          <a:solidFill>
            <a:srgbClr val="D5D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1" name="Rectangle 30"/>
          <p:cNvSpPr/>
          <p:nvPr userDrawn="1"/>
        </p:nvSpPr>
        <p:spPr bwMode="gray">
          <a:xfrm>
            <a:off x="12416658" y="4751202"/>
            <a:ext cx="1090332" cy="418887"/>
          </a:xfrm>
          <a:prstGeom prst="rect">
            <a:avLst/>
          </a:prstGeom>
          <a:solidFill>
            <a:srgbClr val="E89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2" name="Rectangle 31"/>
          <p:cNvSpPr/>
          <p:nvPr userDrawn="1"/>
        </p:nvSpPr>
        <p:spPr bwMode="gray">
          <a:xfrm>
            <a:off x="-1299342" y="5304759"/>
            <a:ext cx="1090332" cy="418887"/>
          </a:xfrm>
          <a:prstGeom prst="rect">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3" name="Rectangle 32"/>
          <p:cNvSpPr/>
          <p:nvPr userDrawn="1"/>
        </p:nvSpPr>
        <p:spPr bwMode="gray">
          <a:xfrm>
            <a:off x="-1299342" y="5858316"/>
            <a:ext cx="1090332" cy="418887"/>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4" name="Rectangle 33"/>
          <p:cNvSpPr/>
          <p:nvPr userDrawn="1"/>
        </p:nvSpPr>
        <p:spPr bwMode="gray">
          <a:xfrm>
            <a:off x="12416658" y="5304759"/>
            <a:ext cx="1090332" cy="418887"/>
          </a:xfrm>
          <a:prstGeom prst="rect">
            <a:avLst/>
          </a:prstGeom>
          <a:solidFill>
            <a:srgbClr val="F197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5" name="Rectangle 34"/>
          <p:cNvSpPr/>
          <p:nvPr userDrawn="1"/>
        </p:nvSpPr>
        <p:spPr bwMode="gray">
          <a:xfrm>
            <a:off x="12416658" y="5858316"/>
            <a:ext cx="1090332" cy="4188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4" name="TextBox 3"/>
          <p:cNvSpPr txBox="1"/>
          <p:nvPr userDrawn="1"/>
        </p:nvSpPr>
        <p:spPr>
          <a:xfrm>
            <a:off x="152402" y="6477502"/>
            <a:ext cx="1984839" cy="230832"/>
          </a:xfrm>
          <a:prstGeom prst="rect">
            <a:avLst/>
          </a:prstGeom>
          <a:noFill/>
        </p:spPr>
        <p:txBody>
          <a:bodyPr wrap="none" rtlCol="0">
            <a:spAutoFit/>
          </a:bodyPr>
          <a:lstStyle/>
          <a:p>
            <a:r>
              <a:rPr lang="en-US" sz="900" dirty="0"/>
              <a:t>Source@ Future Market Insights, 2026</a:t>
            </a:r>
            <a:endParaRPr lang="en-IN" sz="900" dirty="0"/>
          </a:p>
        </p:txBody>
      </p:sp>
      <p:pic>
        <p:nvPicPr>
          <p:cNvPr id="38" name="Picture 37"/>
          <p:cNvPicPr>
            <a:picLocks noChangeAspect="1"/>
          </p:cNvPicPr>
          <p:nvPr userDrawn="1"/>
        </p:nvPicPr>
        <p:blipFill rotWithShape="1">
          <a:blip r:embed="rId31" cstate="print">
            <a:extLst>
              <a:ext uri="{28A0092B-C50C-407E-A947-70E740481C1C}">
                <a14:useLocalDpi xmlns:a14="http://schemas.microsoft.com/office/drawing/2010/main" val="0"/>
              </a:ext>
            </a:extLst>
          </a:blip>
          <a:srcRect l="4561" t="24035" r="4211" b="24386"/>
          <a:stretch/>
        </p:blipFill>
        <p:spPr>
          <a:xfrm>
            <a:off x="10743475" y="165161"/>
            <a:ext cx="1245325" cy="704088"/>
          </a:xfrm>
          <a:prstGeom prst="rect">
            <a:avLst/>
          </a:prstGeom>
        </p:spPr>
      </p:pic>
    </p:spTree>
    <p:extLst>
      <p:ext uri="{BB962C8B-B14F-4D97-AF65-F5344CB8AC3E}">
        <p14:creationId xmlns:p14="http://schemas.microsoft.com/office/powerpoint/2010/main" val="254080810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2" r:id="rId3"/>
    <p:sldLayoutId id="2147483684" r:id="rId4"/>
    <p:sldLayoutId id="2147483716" r:id="rId5"/>
    <p:sldLayoutId id="2147483662" r:id="rId6"/>
    <p:sldLayoutId id="2147483714" r:id="rId7"/>
    <p:sldLayoutId id="2147483675" r:id="rId8"/>
    <p:sldLayoutId id="2147483685" r:id="rId9"/>
    <p:sldLayoutId id="2147483686" r:id="rId10"/>
    <p:sldLayoutId id="2147483687" r:id="rId11"/>
    <p:sldLayoutId id="2147483691" r:id="rId12"/>
    <p:sldLayoutId id="2147483697" r:id="rId13"/>
    <p:sldLayoutId id="2147483688" r:id="rId14"/>
    <p:sldLayoutId id="2147483689" r:id="rId15"/>
    <p:sldLayoutId id="2147483710" r:id="rId16"/>
    <p:sldLayoutId id="2147483707" r:id="rId17"/>
    <p:sldLayoutId id="2147483690" r:id="rId18"/>
    <p:sldLayoutId id="2147483692" r:id="rId19"/>
    <p:sldLayoutId id="2147483693" r:id="rId20"/>
    <p:sldLayoutId id="2147483694" r:id="rId21"/>
    <p:sldLayoutId id="2147483695" r:id="rId22"/>
    <p:sldLayoutId id="2147483709" r:id="rId23"/>
    <p:sldLayoutId id="2147483696" r:id="rId24"/>
    <p:sldLayoutId id="2147483706" r:id="rId25"/>
    <p:sldLayoutId id="2147483698" r:id="rId26"/>
    <p:sldLayoutId id="2147483699" r:id="rId27"/>
    <p:sldLayoutId id="2147483700" r:id="rId28"/>
    <p:sldLayoutId id="2147483665" r:id="rId29"/>
  </p:sldLayoutIdLst>
  <p:hf hdr="0" ftr="0" dt="0"/>
  <p:txStyles>
    <p:titleStyle>
      <a:lvl1pPr algn="l" defTabSz="914427" rtl="0" eaLnBrk="1" latinLnBrk="0" hangingPunct="1">
        <a:lnSpc>
          <a:spcPct val="90000"/>
        </a:lnSpc>
        <a:spcBef>
          <a:spcPct val="0"/>
        </a:spcBef>
        <a:buNone/>
        <a:defRPr sz="2300" b="1" kern="1200">
          <a:solidFill>
            <a:schemeClr val="tx1"/>
          </a:solidFill>
          <a:latin typeface="+mn-lt"/>
          <a:ea typeface="+mj-ea"/>
          <a:cs typeface="+mj-cs"/>
        </a:defRPr>
      </a:lvl1pPr>
    </p:titleStyle>
    <p:bodyStyle>
      <a:lvl1pPr marL="228607" indent="-228607" algn="l" defTabSz="914427" rtl="0" eaLnBrk="1" latinLnBrk="0" hangingPunct="1">
        <a:lnSpc>
          <a:spcPct val="90000"/>
        </a:lnSpc>
        <a:spcBef>
          <a:spcPts val="1000"/>
        </a:spcBef>
        <a:buFont typeface="Wingdings" panose="05000000000000000000" pitchFamily="2" charset="2"/>
        <a:buChar char="§"/>
        <a:defRPr sz="1800" kern="1200">
          <a:solidFill>
            <a:schemeClr val="tx1"/>
          </a:solidFill>
          <a:latin typeface="+mn-lt"/>
          <a:ea typeface="+mn-ea"/>
          <a:cs typeface="+mn-cs"/>
        </a:defRPr>
      </a:lvl1pPr>
      <a:lvl2pPr marL="685820" indent="-228607" algn="l" defTabSz="914427" rtl="0" eaLnBrk="1" latinLnBrk="0" hangingPunct="1">
        <a:lnSpc>
          <a:spcPct val="90000"/>
        </a:lnSpc>
        <a:spcBef>
          <a:spcPts val="500"/>
        </a:spcBef>
        <a:buSzPct val="80000"/>
        <a:buFont typeface="Wingdings" panose="05000000000000000000" pitchFamily="2" charset="2"/>
        <a:buChar char=""/>
        <a:defRPr sz="1500" kern="1200">
          <a:solidFill>
            <a:schemeClr val="tx1"/>
          </a:solidFill>
          <a:latin typeface="+mn-lt"/>
          <a:ea typeface="+mn-ea"/>
          <a:cs typeface="+mn-cs"/>
        </a:defRPr>
      </a:lvl2pPr>
      <a:lvl3pPr marL="1143033" indent="-228607" algn="l" defTabSz="914427" rtl="0" eaLnBrk="1" latinLnBrk="0" hangingPunct="1">
        <a:lnSpc>
          <a:spcPct val="90000"/>
        </a:lnSpc>
        <a:spcBef>
          <a:spcPts val="500"/>
        </a:spcBef>
        <a:buFont typeface="Wingdings" panose="05000000000000000000" pitchFamily="2" charset="2"/>
        <a:buChar char="Ø"/>
        <a:defRPr sz="1200" kern="1200">
          <a:solidFill>
            <a:schemeClr val="tx1"/>
          </a:solidFill>
          <a:latin typeface="+mn-lt"/>
          <a:ea typeface="+mn-ea"/>
          <a:cs typeface="+mn-cs"/>
        </a:defRPr>
      </a:lvl3pPr>
      <a:lvl4pPr marL="1600248" indent="-228607" algn="l" defTabSz="914427" rtl="0" eaLnBrk="1" latinLnBrk="0" hangingPunct="1">
        <a:lnSpc>
          <a:spcPct val="90000"/>
        </a:lnSpc>
        <a:spcBef>
          <a:spcPts val="500"/>
        </a:spcBef>
        <a:buSzPct val="80000"/>
        <a:buFont typeface="Wingdings" panose="05000000000000000000" pitchFamily="2" charset="2"/>
        <a:buChar char="q"/>
        <a:defRPr sz="1000" kern="1200">
          <a:solidFill>
            <a:schemeClr val="tx1"/>
          </a:solidFill>
          <a:latin typeface="+mn-lt"/>
          <a:ea typeface="+mn-ea"/>
          <a:cs typeface="+mn-cs"/>
        </a:defRPr>
      </a:lvl4pPr>
      <a:lvl5pPr marL="2057461" indent="-228607" algn="l" defTabSz="914427" rtl="0" eaLnBrk="1" latinLnBrk="0" hangingPunct="1">
        <a:lnSpc>
          <a:spcPct val="90000"/>
        </a:lnSpc>
        <a:spcBef>
          <a:spcPts val="500"/>
        </a:spcBef>
        <a:buFont typeface="Arial" panose="020B0604020202020204" pitchFamily="34" charset="0"/>
        <a:buChar char="•"/>
        <a:defRPr sz="800" kern="1200">
          <a:solidFill>
            <a:schemeClr val="tx1"/>
          </a:solidFill>
          <a:latin typeface="+mn-lt"/>
          <a:ea typeface="+mn-ea"/>
          <a:cs typeface="+mn-cs"/>
        </a:defRPr>
      </a:lvl5pPr>
      <a:lvl6pPr marL="2514675" indent="-228607" algn="l" defTabSz="91442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88" indent="-228607" algn="l" defTabSz="91442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01" indent="-228607" algn="l" defTabSz="91442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15" indent="-228607" algn="l" defTabSz="91442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7" rtl="0" eaLnBrk="1" latinLnBrk="0" hangingPunct="1">
        <a:defRPr sz="1800" kern="1200">
          <a:solidFill>
            <a:schemeClr val="tx1"/>
          </a:solidFill>
          <a:latin typeface="+mn-lt"/>
          <a:ea typeface="+mn-ea"/>
          <a:cs typeface="+mn-cs"/>
        </a:defRPr>
      </a:lvl1pPr>
      <a:lvl2pPr marL="457214" algn="l" defTabSz="914427" rtl="0" eaLnBrk="1" latinLnBrk="0" hangingPunct="1">
        <a:defRPr sz="1800" kern="1200">
          <a:solidFill>
            <a:schemeClr val="tx1"/>
          </a:solidFill>
          <a:latin typeface="+mn-lt"/>
          <a:ea typeface="+mn-ea"/>
          <a:cs typeface="+mn-cs"/>
        </a:defRPr>
      </a:lvl2pPr>
      <a:lvl3pPr marL="914427" algn="l" defTabSz="914427" rtl="0" eaLnBrk="1" latinLnBrk="0" hangingPunct="1">
        <a:defRPr sz="1800" kern="1200">
          <a:solidFill>
            <a:schemeClr val="tx1"/>
          </a:solidFill>
          <a:latin typeface="+mn-lt"/>
          <a:ea typeface="+mn-ea"/>
          <a:cs typeface="+mn-cs"/>
        </a:defRPr>
      </a:lvl3pPr>
      <a:lvl4pPr marL="1371641" algn="l" defTabSz="914427" rtl="0" eaLnBrk="1" latinLnBrk="0" hangingPunct="1">
        <a:defRPr sz="1800" kern="1200">
          <a:solidFill>
            <a:schemeClr val="tx1"/>
          </a:solidFill>
          <a:latin typeface="+mn-lt"/>
          <a:ea typeface="+mn-ea"/>
          <a:cs typeface="+mn-cs"/>
        </a:defRPr>
      </a:lvl4pPr>
      <a:lvl5pPr marL="1828855" algn="l" defTabSz="914427" rtl="0" eaLnBrk="1" latinLnBrk="0" hangingPunct="1">
        <a:defRPr sz="1800" kern="1200">
          <a:solidFill>
            <a:schemeClr val="tx1"/>
          </a:solidFill>
          <a:latin typeface="+mn-lt"/>
          <a:ea typeface="+mn-ea"/>
          <a:cs typeface="+mn-cs"/>
        </a:defRPr>
      </a:lvl5pPr>
      <a:lvl6pPr marL="2286068" algn="l" defTabSz="914427" rtl="0" eaLnBrk="1" latinLnBrk="0" hangingPunct="1">
        <a:defRPr sz="1800" kern="1200">
          <a:solidFill>
            <a:schemeClr val="tx1"/>
          </a:solidFill>
          <a:latin typeface="+mn-lt"/>
          <a:ea typeface="+mn-ea"/>
          <a:cs typeface="+mn-cs"/>
        </a:defRPr>
      </a:lvl6pPr>
      <a:lvl7pPr marL="2743281" algn="l" defTabSz="914427" rtl="0" eaLnBrk="1" latinLnBrk="0" hangingPunct="1">
        <a:defRPr sz="1800" kern="1200">
          <a:solidFill>
            <a:schemeClr val="tx1"/>
          </a:solidFill>
          <a:latin typeface="+mn-lt"/>
          <a:ea typeface="+mn-ea"/>
          <a:cs typeface="+mn-cs"/>
        </a:defRPr>
      </a:lvl7pPr>
      <a:lvl8pPr marL="3200495" algn="l" defTabSz="914427" rtl="0" eaLnBrk="1" latinLnBrk="0" hangingPunct="1">
        <a:defRPr sz="1800" kern="1200">
          <a:solidFill>
            <a:schemeClr val="tx1"/>
          </a:solidFill>
          <a:latin typeface="+mn-lt"/>
          <a:ea typeface="+mn-ea"/>
          <a:cs typeface="+mn-cs"/>
        </a:defRPr>
      </a:lvl8pPr>
      <a:lvl9pPr marL="3657708" algn="l" defTabSz="91442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6" userDrawn="1">
          <p15:clr>
            <a:srgbClr val="F26B43"/>
          </p15:clr>
        </p15:guide>
        <p15:guide id="2" pos="96" userDrawn="1">
          <p15:clr>
            <a:srgbClr val="F26B43"/>
          </p15:clr>
        </p15:guide>
        <p15:guide id="3" pos="7552" userDrawn="1">
          <p15:clr>
            <a:srgbClr val="F26B43"/>
          </p15:clr>
        </p15:guide>
        <p15:guide id="4" orient="horz" pos="4248" userDrawn="1">
          <p15:clr>
            <a:srgbClr val="F26B43"/>
          </p15:clr>
        </p15:guide>
        <p15:guide id="5" orient="horz" pos="4032" userDrawn="1">
          <p15:clr>
            <a:srgbClr val="F26B43"/>
          </p15:clr>
        </p15:guide>
        <p15:guide id="6" orient="horz" pos="552" userDrawn="1">
          <p15:clr>
            <a:srgbClr val="F26B43"/>
          </p15:clr>
        </p15:guide>
        <p15:guide id="8" orient="horz" pos="3910" userDrawn="1">
          <p15:clr>
            <a:srgbClr val="F26B43"/>
          </p15:clr>
        </p15:guide>
        <p15:guide id="9" pos="3744" userDrawn="1">
          <p15:clr>
            <a:srgbClr val="F26B43"/>
          </p15:clr>
        </p15:guide>
        <p15:guide id="10" pos="3904" userDrawn="1">
          <p15:clr>
            <a:srgbClr val="F26B43"/>
          </p15:clr>
        </p15:guide>
        <p15:guide id="11" orient="horz" pos="7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gray">
          <a:xfrm>
            <a:off x="934546" y="262851"/>
            <a:ext cx="5623008" cy="2723272"/>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chemeClr val="tx1"/>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chemeClr val="tx1"/>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chemeClr val="tx1"/>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chemeClr val="tx1"/>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chemeClr val="tx1"/>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chemeClr val="tx1"/>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chemeClr val="tx1"/>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chemeClr val="tx1"/>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it-IT" sz="3600" dirty="0">
                <a:solidFill>
                  <a:schemeClr val="bg1"/>
                </a:solidFill>
                <a:latin typeface="Bell MT" panose="02020503060305020303" pitchFamily="18" charset="0"/>
              </a:rPr>
              <a:t>HER2-Focused Breast and Gastric Cancer Vaccine Market</a:t>
            </a:r>
            <a:endParaRPr lang="en-US" sz="1600"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endParaRPr lang="en-US" dirty="0">
              <a:solidFill>
                <a:schemeClr val="bg1"/>
              </a:solidFill>
              <a:latin typeface="Bell MT" panose="02020503060305020303" pitchFamily="18" charset="0"/>
            </a:endParaRPr>
          </a:p>
          <a:p>
            <a:pPr>
              <a:spcBef>
                <a:spcPts val="0"/>
              </a:spcBef>
            </a:pPr>
            <a:r>
              <a:rPr lang="en-US" sz="2000" dirty="0">
                <a:solidFill>
                  <a:schemeClr val="bg1"/>
                </a:solidFill>
                <a:latin typeface="Bell MT" panose="02020503060305020303" pitchFamily="18" charset="0"/>
              </a:rPr>
              <a:t>Competitive Landscape, Pipeline Assessment and Strategic Outlook</a:t>
            </a:r>
          </a:p>
          <a:p>
            <a:pPr>
              <a:spcBef>
                <a:spcPts val="0"/>
              </a:spcBef>
            </a:pPr>
            <a:endParaRPr lang="en-US" sz="1400" dirty="0">
              <a:solidFill>
                <a:schemeClr val="bg1"/>
              </a:solidFill>
              <a:latin typeface="Bell MT" panose="02020503060305020303" pitchFamily="18" charset="0"/>
            </a:endParaRPr>
          </a:p>
          <a:p>
            <a:pPr>
              <a:spcBef>
                <a:spcPts val="0"/>
              </a:spcBef>
            </a:pPr>
            <a:endParaRPr lang="en-US" sz="1100" dirty="0">
              <a:solidFill>
                <a:schemeClr val="bg1"/>
              </a:solidFill>
              <a:latin typeface="Bell MT" panose="02020503060305020303" pitchFamily="18" charset="0"/>
            </a:endParaRPr>
          </a:p>
          <a:p>
            <a:pPr>
              <a:spcBef>
                <a:spcPts val="0"/>
              </a:spcBef>
            </a:pPr>
            <a:r>
              <a:rPr lang="en-US" dirty="0">
                <a:solidFill>
                  <a:schemeClr val="bg1"/>
                </a:solidFill>
                <a:latin typeface="Bell MT" panose="02020503060305020303" pitchFamily="18" charset="0"/>
              </a:rPr>
              <a:t> </a:t>
            </a:r>
            <a:endParaRPr lang="en-GB" dirty="0">
              <a:solidFill>
                <a:schemeClr val="bg1"/>
              </a:solidFill>
              <a:latin typeface="Bell MT" panose="02020503060305020303" pitchFamily="18" charset="0"/>
            </a:endParaRPr>
          </a:p>
        </p:txBody>
      </p:sp>
      <p:grpSp>
        <p:nvGrpSpPr>
          <p:cNvPr id="9" name="Group 8"/>
          <p:cNvGrpSpPr/>
          <p:nvPr/>
        </p:nvGrpSpPr>
        <p:grpSpPr>
          <a:xfrm>
            <a:off x="9124182" y="262851"/>
            <a:ext cx="2864618" cy="709680"/>
            <a:chOff x="201497" y="6393289"/>
            <a:chExt cx="1281818" cy="33805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8"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4" name="Rectangle 3"/>
          <p:cNvSpPr/>
          <p:nvPr/>
        </p:nvSpPr>
        <p:spPr>
          <a:xfrm>
            <a:off x="934546" y="6015689"/>
            <a:ext cx="2551724" cy="400110"/>
          </a:xfrm>
          <a:prstGeom prst="rect">
            <a:avLst/>
          </a:prstGeom>
        </p:spPr>
        <p:txBody>
          <a:bodyPr wrap="none">
            <a:spAutoFit/>
          </a:bodyPr>
          <a:lstStyle/>
          <a:p>
            <a:r>
              <a:rPr lang="en-US" sz="2000" b="1" dirty="0">
                <a:solidFill>
                  <a:schemeClr val="tx1">
                    <a:lumMod val="85000"/>
                    <a:lumOff val="15000"/>
                  </a:schemeClr>
                </a:solidFill>
                <a:latin typeface="Bell MT" panose="02020503060305020303" pitchFamily="18" charset="0"/>
              </a:rPr>
              <a:t>CI Deck</a:t>
            </a:r>
            <a:r>
              <a:rPr lang="en-US" sz="1600" b="1" dirty="0">
                <a:solidFill>
                  <a:schemeClr val="tx1">
                    <a:lumMod val="85000"/>
                    <a:lumOff val="15000"/>
                  </a:schemeClr>
                </a:solidFill>
                <a:latin typeface="Bell MT" panose="02020503060305020303" pitchFamily="18" charset="0"/>
              </a:rPr>
              <a:t> | </a:t>
            </a:r>
            <a:r>
              <a:rPr lang="en-US" sz="2000" b="1" dirty="0">
                <a:solidFill>
                  <a:schemeClr val="tx1">
                    <a:lumMod val="85000"/>
                    <a:lumOff val="15000"/>
                  </a:schemeClr>
                </a:solidFill>
                <a:latin typeface="Bell MT" panose="02020503060305020303" pitchFamily="18" charset="0"/>
              </a:rPr>
              <a:t>Sep 2026</a:t>
            </a:r>
          </a:p>
        </p:txBody>
      </p:sp>
      <p:pic>
        <p:nvPicPr>
          <p:cNvPr id="3"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extLst>
      <p:ext uri="{BB962C8B-B14F-4D97-AF65-F5344CB8AC3E}">
        <p14:creationId xmlns:p14="http://schemas.microsoft.com/office/powerpoint/2010/main" val="2217628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HER2 cancer vaccines remain a clinical-stage opportunity rather than a commercial market: one direct Phase III program leads, while breast and gastric programs compete across HER2 expression levels and four platforms</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2</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Market in one page: verified pipeline metrics, six evidence-based conclusions and the method behind this deck (evidence cut-off 23 Sep 2026)</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cxnSp>
        <p:nvCxnSpPr>
          <p:cNvPr id="6" name="Connector 5"/>
          <p:cNvCxnSpPr/>
          <p:nvPr/>
        </p:nvCxnSpPr>
        <p:spPr>
          <a:xfrm>
            <a:off x="182880" y="1371600"/>
            <a:ext cx="11823192" cy="0"/>
          </a:xfrm>
          <a:prstGeom prst="line">
            <a:avLst/>
          </a:prstGeom>
          <a:ln w="19050">
            <a:solidFill>
              <a:srgbClr val="0E3A6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28600"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Approved HER2 therapeutic vaccines</a:t>
            </a:r>
          </a:p>
        </p:txBody>
      </p:sp>
      <p:sp>
        <p:nvSpPr>
          <p:cNvPr id="8" name="TextBox 7"/>
          <p:cNvSpPr txBox="1"/>
          <p:nvPr/>
        </p:nvSpPr>
        <p:spPr>
          <a:xfrm>
            <a:off x="228600" y="1627632"/>
            <a:ext cx="1386459" cy="329184"/>
          </a:xfrm>
          <a:prstGeom prst="rect">
            <a:avLst/>
          </a:prstGeom>
          <a:noFill/>
        </p:spPr>
        <p:txBody>
          <a:bodyPr wrap="square" lIns="27432" tIns="9144" rIns="27432" bIns="9144" anchor="t">
            <a:spAutoFit/>
          </a:bodyPr>
          <a:lstStyle/>
          <a:p>
            <a:pPr algn="l"/>
            <a:r>
              <a:rPr sz="1800" b="1" i="0">
                <a:solidFill>
                  <a:srgbClr val="D0692A"/>
                </a:solidFill>
                <a:latin typeface="Calibri"/>
              </a:rPr>
              <a:t>0</a:t>
            </a:r>
          </a:p>
        </p:txBody>
      </p:sp>
      <p:sp>
        <p:nvSpPr>
          <p:cNvPr id="9" name="TextBox 8"/>
          <p:cNvSpPr txBox="1"/>
          <p:nvPr/>
        </p:nvSpPr>
        <p:spPr>
          <a:xfrm>
            <a:off x="228600"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FDA and EMA, breast and gastric</a:t>
            </a:r>
          </a:p>
        </p:txBody>
      </p:sp>
      <p:cxnSp>
        <p:nvCxnSpPr>
          <p:cNvPr id="10" name="Connector 9"/>
          <p:cNvCxnSpPr/>
          <p:nvPr/>
        </p:nvCxnSpPr>
        <p:spPr>
          <a:xfrm>
            <a:off x="1660779"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06499"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Active HER2-directed candidates</a:t>
            </a:r>
          </a:p>
        </p:txBody>
      </p:sp>
      <p:sp>
        <p:nvSpPr>
          <p:cNvPr id="12" name="TextBox 11"/>
          <p:cNvSpPr txBox="1"/>
          <p:nvPr/>
        </p:nvSpPr>
        <p:spPr>
          <a:xfrm>
            <a:off x="1706499"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6</a:t>
            </a:r>
          </a:p>
        </p:txBody>
      </p:sp>
      <p:sp>
        <p:nvSpPr>
          <p:cNvPr id="13" name="TextBox 12"/>
          <p:cNvSpPr txBox="1"/>
          <p:nvPr/>
        </p:nvSpPr>
        <p:spPr>
          <a:xfrm>
            <a:off x="1706499"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plus 1 indirect (Bria-IMT)</a:t>
            </a:r>
          </a:p>
        </p:txBody>
      </p:sp>
      <p:cxnSp>
        <p:nvCxnSpPr>
          <p:cNvPr id="14" name="Connector 13"/>
          <p:cNvCxnSpPr/>
          <p:nvPr/>
        </p:nvCxnSpPr>
        <p:spPr>
          <a:xfrm>
            <a:off x="3138678"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84398"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Phase III programs</a:t>
            </a:r>
          </a:p>
        </p:txBody>
      </p:sp>
      <p:sp>
        <p:nvSpPr>
          <p:cNvPr id="16" name="TextBox 15"/>
          <p:cNvSpPr txBox="1"/>
          <p:nvPr/>
        </p:nvSpPr>
        <p:spPr>
          <a:xfrm>
            <a:off x="3184398"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1 + 1</a:t>
            </a:r>
          </a:p>
        </p:txBody>
      </p:sp>
      <p:sp>
        <p:nvSpPr>
          <p:cNvPr id="17" name="TextBox 16"/>
          <p:cNvSpPr txBox="1"/>
          <p:nvPr/>
        </p:nvSpPr>
        <p:spPr>
          <a:xfrm>
            <a:off x="3184398"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GLSI-100 direct; Bria-IMT indirect</a:t>
            </a:r>
          </a:p>
        </p:txBody>
      </p:sp>
      <p:cxnSp>
        <p:nvCxnSpPr>
          <p:cNvPr id="18" name="Connector 17"/>
          <p:cNvCxnSpPr/>
          <p:nvPr/>
        </p:nvCxnSpPr>
        <p:spPr>
          <a:xfrm>
            <a:off x="4616577"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62297"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Phase II candidates</a:t>
            </a:r>
          </a:p>
        </p:txBody>
      </p:sp>
      <p:sp>
        <p:nvSpPr>
          <p:cNvPr id="20" name="TextBox 19"/>
          <p:cNvSpPr txBox="1"/>
          <p:nvPr/>
        </p:nvSpPr>
        <p:spPr>
          <a:xfrm>
            <a:off x="4662297"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3</a:t>
            </a:r>
          </a:p>
        </p:txBody>
      </p:sp>
      <p:sp>
        <p:nvSpPr>
          <p:cNvPr id="21" name="TextBox 20"/>
          <p:cNvSpPr txBox="1"/>
          <p:nvPr/>
        </p:nvSpPr>
        <p:spPr>
          <a:xfrm>
            <a:off x="4662297"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AST-301, WOKVAC, HER2 DC1</a:t>
            </a:r>
          </a:p>
        </p:txBody>
      </p:sp>
      <p:cxnSp>
        <p:nvCxnSpPr>
          <p:cNvPr id="22" name="Connector 21"/>
          <p:cNvCxnSpPr/>
          <p:nvPr/>
        </p:nvCxnSpPr>
        <p:spPr>
          <a:xfrm>
            <a:off x="6094476"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40196"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Phase I or Ib candidates</a:t>
            </a:r>
          </a:p>
        </p:txBody>
      </p:sp>
      <p:sp>
        <p:nvSpPr>
          <p:cNvPr id="24" name="TextBox 23"/>
          <p:cNvSpPr txBox="1"/>
          <p:nvPr/>
        </p:nvSpPr>
        <p:spPr>
          <a:xfrm>
            <a:off x="6140196"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2</a:t>
            </a:r>
          </a:p>
        </p:txBody>
      </p:sp>
      <p:sp>
        <p:nvSpPr>
          <p:cNvPr id="25" name="TextBox 24"/>
          <p:cNvSpPr txBox="1"/>
          <p:nvPr/>
        </p:nvSpPr>
        <p:spPr>
          <a:xfrm>
            <a:off x="6140196"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ES2B-C001, H2NVAC</a:t>
            </a:r>
          </a:p>
        </p:txBody>
      </p:sp>
      <p:cxnSp>
        <p:nvCxnSpPr>
          <p:cNvPr id="26" name="Connector 25"/>
          <p:cNvCxnSpPr/>
          <p:nvPr/>
        </p:nvCxnSpPr>
        <p:spPr>
          <a:xfrm>
            <a:off x="7572375"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618095"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Breast / gastric-GEJ</a:t>
            </a:r>
          </a:p>
        </p:txBody>
      </p:sp>
      <p:sp>
        <p:nvSpPr>
          <p:cNvPr id="28" name="TextBox 27"/>
          <p:cNvSpPr txBox="1"/>
          <p:nvPr/>
        </p:nvSpPr>
        <p:spPr>
          <a:xfrm>
            <a:off x="7618095"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5 / 1</a:t>
            </a:r>
          </a:p>
        </p:txBody>
      </p:sp>
      <p:sp>
        <p:nvSpPr>
          <p:cNvPr id="29" name="TextBox 28"/>
          <p:cNvSpPr txBox="1"/>
          <p:nvPr/>
        </p:nvSpPr>
        <p:spPr>
          <a:xfrm>
            <a:off x="7618095"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direct candidates by indication</a:t>
            </a:r>
          </a:p>
        </p:txBody>
      </p:sp>
      <p:cxnSp>
        <p:nvCxnSpPr>
          <p:cNvPr id="30" name="Connector 29"/>
          <p:cNvCxnSpPr/>
          <p:nvPr/>
        </p:nvCxnSpPr>
        <p:spPr>
          <a:xfrm>
            <a:off x="9050274"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95994"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Vaccine platforms represented</a:t>
            </a:r>
          </a:p>
        </p:txBody>
      </p:sp>
      <p:sp>
        <p:nvSpPr>
          <p:cNvPr id="32" name="TextBox 31"/>
          <p:cNvSpPr txBox="1"/>
          <p:nvPr/>
        </p:nvSpPr>
        <p:spPr>
          <a:xfrm>
            <a:off x="9095994"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4</a:t>
            </a:r>
          </a:p>
        </p:txBody>
      </p:sp>
      <p:sp>
        <p:nvSpPr>
          <p:cNvPr id="33" name="TextBox 32"/>
          <p:cNvSpPr txBox="1"/>
          <p:nvPr/>
        </p:nvSpPr>
        <p:spPr>
          <a:xfrm>
            <a:off x="9095994"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peptide, DNA, VLP, dendritic cell</a:t>
            </a:r>
          </a:p>
        </p:txBody>
      </p:sp>
      <p:cxnSp>
        <p:nvCxnSpPr>
          <p:cNvPr id="34" name="Connector 33"/>
          <p:cNvCxnSpPr/>
          <p:nvPr/>
        </p:nvCxnSpPr>
        <p:spPr>
          <a:xfrm>
            <a:off x="10528173" y="1444752"/>
            <a:ext cx="0" cy="67665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573893" y="1417320"/>
            <a:ext cx="1386459" cy="228600"/>
          </a:xfrm>
          <a:prstGeom prst="rect">
            <a:avLst/>
          </a:prstGeom>
          <a:noFill/>
        </p:spPr>
        <p:txBody>
          <a:bodyPr wrap="square" lIns="27432" tIns="9144" rIns="27432" bIns="9144" anchor="t">
            <a:spAutoFit/>
          </a:bodyPr>
          <a:lstStyle/>
          <a:p>
            <a:pPr algn="l"/>
            <a:r>
              <a:rPr sz="800" b="0" i="0">
                <a:solidFill>
                  <a:srgbClr val="404040"/>
                </a:solidFill>
                <a:latin typeface="Calibri"/>
              </a:rPr>
              <a:t>Countries with active direct sites</a:t>
            </a:r>
          </a:p>
        </p:txBody>
      </p:sp>
      <p:sp>
        <p:nvSpPr>
          <p:cNvPr id="36" name="TextBox 35"/>
          <p:cNvSpPr txBox="1"/>
          <p:nvPr/>
        </p:nvSpPr>
        <p:spPr>
          <a:xfrm>
            <a:off x="10573893" y="1627632"/>
            <a:ext cx="1386459" cy="329184"/>
          </a:xfrm>
          <a:prstGeom prst="rect">
            <a:avLst/>
          </a:prstGeom>
          <a:noFill/>
        </p:spPr>
        <p:txBody>
          <a:bodyPr wrap="square" lIns="27432" tIns="9144" rIns="27432" bIns="9144" anchor="t">
            <a:spAutoFit/>
          </a:bodyPr>
          <a:lstStyle/>
          <a:p>
            <a:pPr algn="l"/>
            <a:r>
              <a:rPr sz="1800" b="1" i="0">
                <a:solidFill>
                  <a:srgbClr val="0E3A66"/>
                </a:solidFill>
                <a:latin typeface="Calibri"/>
              </a:rPr>
              <a:t>12</a:t>
            </a:r>
          </a:p>
        </p:txBody>
      </p:sp>
      <p:sp>
        <p:nvSpPr>
          <p:cNvPr id="37" name="TextBox 36"/>
          <p:cNvSpPr txBox="1"/>
          <p:nvPr/>
        </p:nvSpPr>
        <p:spPr>
          <a:xfrm>
            <a:off x="10573893" y="1938528"/>
            <a:ext cx="1386459" cy="182880"/>
          </a:xfrm>
          <a:prstGeom prst="rect">
            <a:avLst/>
          </a:prstGeom>
          <a:noFill/>
        </p:spPr>
        <p:txBody>
          <a:bodyPr wrap="square" lIns="27432" tIns="9144" rIns="27432" bIns="9144" anchor="t">
            <a:spAutoFit/>
          </a:bodyPr>
          <a:lstStyle/>
          <a:p>
            <a:pPr algn="l"/>
            <a:r>
              <a:rPr sz="700" b="0" i="1">
                <a:solidFill>
                  <a:srgbClr val="7F7F7F"/>
                </a:solidFill>
                <a:latin typeface="Calibri"/>
              </a:rPr>
              <a:t>AE; UK approved Jul 2026</a:t>
            </a:r>
          </a:p>
        </p:txBody>
      </p:sp>
      <p:cxnSp>
        <p:nvCxnSpPr>
          <p:cNvPr id="38" name="Connector 37"/>
          <p:cNvCxnSpPr/>
          <p:nvPr/>
        </p:nvCxnSpPr>
        <p:spPr>
          <a:xfrm>
            <a:off x="182880" y="2176272"/>
            <a:ext cx="11823192" cy="0"/>
          </a:xfrm>
          <a:prstGeom prst="line">
            <a:avLst/>
          </a:prstGeom>
          <a:ln w="19050">
            <a:solidFill>
              <a:srgbClr val="0E3A66"/>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82880" y="2313432"/>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82880" y="2313432"/>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1</a:t>
            </a:r>
          </a:p>
        </p:txBody>
      </p:sp>
      <p:sp>
        <p:nvSpPr>
          <p:cNvPr id="41" name="Rectangle 40"/>
          <p:cNvSpPr/>
          <p:nvPr/>
        </p:nvSpPr>
        <p:spPr>
          <a:xfrm>
            <a:off x="512064" y="2286000"/>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85216" y="2304288"/>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Commercial maturity: there is no revenue pool to share yet</a:t>
            </a:r>
          </a:p>
        </p:txBody>
      </p:sp>
      <p:sp>
        <p:nvSpPr>
          <p:cNvPr id="43" name="TextBox 42"/>
          <p:cNvSpPr txBox="1"/>
          <p:nvPr/>
        </p:nvSpPr>
        <p:spPr>
          <a:xfrm>
            <a:off x="585216" y="2578608"/>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No FDA- or EMA-approved HER2-targeted therapeutic vaccine exists for breast or gastric cancer as of 23 Sep 2026. Competitive position is therefore measured by phase, trial footprint, eligible patients and partnering, not by market share.</a:t>
            </a:r>
          </a:p>
        </p:txBody>
      </p:sp>
      <p:sp>
        <p:nvSpPr>
          <p:cNvPr id="44" name="Rectangle 43"/>
          <p:cNvSpPr/>
          <p:nvPr/>
        </p:nvSpPr>
        <p:spPr>
          <a:xfrm>
            <a:off x="6231636" y="2313432"/>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31636" y="2313432"/>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2</a:t>
            </a:r>
          </a:p>
        </p:txBody>
      </p:sp>
      <p:sp>
        <p:nvSpPr>
          <p:cNvPr id="46" name="Rectangle 45"/>
          <p:cNvSpPr/>
          <p:nvPr/>
        </p:nvSpPr>
        <p:spPr>
          <a:xfrm>
            <a:off x="6560820" y="2286000"/>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33972" y="2304288"/>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Clinical leadership: GLSI-100 is the only direct HER2 vaccine in Phase III</a:t>
            </a:r>
          </a:p>
        </p:txBody>
      </p:sp>
      <p:sp>
        <p:nvSpPr>
          <p:cNvPr id="48" name="TextBox 47"/>
          <p:cNvSpPr txBox="1"/>
          <p:nvPr/>
        </p:nvSpPr>
        <p:spPr>
          <a:xfrm>
            <a:off x="6633972" y="2578608"/>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Greenwich runs FLAMINGO-01 in 11 countries with about 170 to 180 sites planned, FDA Fast Track since Sep 2025 and a redesigned interim plan reviewed by FDA and EMA in Jul 2026. Bria-IMT is the second Phase III but targets HER2 only indirectly.</a:t>
            </a:r>
          </a:p>
        </p:txBody>
      </p:sp>
      <p:sp>
        <p:nvSpPr>
          <p:cNvPr id="49" name="Rectangle 48"/>
          <p:cNvSpPr/>
          <p:nvPr/>
        </p:nvSpPr>
        <p:spPr>
          <a:xfrm>
            <a:off x="182880" y="3392423"/>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2880" y="3392423"/>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3</a:t>
            </a:r>
          </a:p>
        </p:txBody>
      </p:sp>
      <p:sp>
        <p:nvSpPr>
          <p:cNvPr id="51" name="Rectangle 50"/>
          <p:cNvSpPr/>
          <p:nvPr/>
        </p:nvSpPr>
        <p:spPr>
          <a:xfrm>
            <a:off x="512064" y="3364991"/>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85216" y="3383279"/>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Biomarker expansion: HER2-low is entering vaccine eligibility</a:t>
            </a:r>
          </a:p>
        </p:txBody>
      </p:sp>
      <p:sp>
        <p:nvSpPr>
          <p:cNvPr id="53" name="TextBox 52"/>
          <p:cNvSpPr txBox="1"/>
          <p:nvPr/>
        </p:nvSpPr>
        <p:spPr>
          <a:xfrm>
            <a:off x="585216" y="3657599"/>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ES2B-C001 enrols HER2-positive and HER2-low metastatic breast cancer and AST-301 enrols HER2-low and HER2-overexpressing gastric cancer. The only HER2-low breast vaccine trial with a pivotal-style design (Cornerstone-001) was terminated for poor recruitment.</a:t>
            </a:r>
          </a:p>
        </p:txBody>
      </p:sp>
      <p:sp>
        <p:nvSpPr>
          <p:cNvPr id="54" name="Rectangle 53"/>
          <p:cNvSpPr/>
          <p:nvPr/>
        </p:nvSpPr>
        <p:spPr>
          <a:xfrm>
            <a:off x="6231636" y="3392423"/>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231636" y="3392423"/>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4</a:t>
            </a:r>
          </a:p>
        </p:txBody>
      </p:sp>
      <p:sp>
        <p:nvSpPr>
          <p:cNvPr id="56" name="Rectangle 55"/>
          <p:cNvSpPr/>
          <p:nvPr/>
        </p:nvSpPr>
        <p:spPr>
          <a:xfrm>
            <a:off x="6560820" y="3364991"/>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33972" y="3383279"/>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Platform diversity: four platforms compete and none has won</a:t>
            </a:r>
          </a:p>
        </p:txBody>
      </p:sp>
      <p:sp>
        <p:nvSpPr>
          <p:cNvPr id="58" name="TextBox 57"/>
          <p:cNvSpPr txBox="1"/>
          <p:nvPr/>
        </p:nvSpPr>
        <p:spPr>
          <a:xfrm>
            <a:off x="6633972" y="3657599"/>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Peptide (GLSI-100, H2NVAC), plasmid DNA (AST-301, WOKVAC), virus-like particle (ES2B-C001) and dendritic cell (HER2 DC1) are all in the clinic. No HER2 mRNA vaccine is in the clinic, although mRNA leaders posted a positive Phase III in melanoma in Aug 2026.</a:t>
            </a:r>
          </a:p>
        </p:txBody>
      </p:sp>
      <p:sp>
        <p:nvSpPr>
          <p:cNvPr id="59" name="Rectangle 58"/>
          <p:cNvSpPr/>
          <p:nvPr/>
        </p:nvSpPr>
        <p:spPr>
          <a:xfrm>
            <a:off x="182880" y="4471416"/>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82880" y="4471416"/>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5</a:t>
            </a:r>
          </a:p>
        </p:txBody>
      </p:sp>
      <p:sp>
        <p:nvSpPr>
          <p:cNvPr id="61" name="Rectangle 60"/>
          <p:cNvSpPr/>
          <p:nvPr/>
        </p:nvSpPr>
        <p:spPr>
          <a:xfrm>
            <a:off x="512064" y="4443983"/>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85216" y="4462271"/>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Geography: late-stage activity sits in the US and Europe</a:t>
            </a:r>
          </a:p>
        </p:txBody>
      </p:sp>
      <p:sp>
        <p:nvSpPr>
          <p:cNvPr id="63" name="TextBox 62"/>
          <p:cNvSpPr txBox="1"/>
          <p:nvPr/>
        </p:nvSpPr>
        <p:spPr>
          <a:xfrm>
            <a:off x="585216" y="4736592"/>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FLAMINGO-01 recruits across the US and ten European countries, ES2B-C001 runs in Vienna and academic programs sit in US centres. Asia hosts only the gastric AST-301 trial in Taiwan; no active HER2 vaccine trial was verified in mainland China, Japan or South Korea.</a:t>
            </a:r>
          </a:p>
        </p:txBody>
      </p:sp>
      <p:sp>
        <p:nvSpPr>
          <p:cNvPr id="64" name="Rectangle 63"/>
          <p:cNvSpPr/>
          <p:nvPr/>
        </p:nvSpPr>
        <p:spPr>
          <a:xfrm>
            <a:off x="6231636" y="4471416"/>
            <a:ext cx="274320"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231636" y="4471416"/>
            <a:ext cx="274320" cy="274320"/>
          </a:xfrm>
          <a:prstGeom prst="rect">
            <a:avLst/>
          </a:prstGeom>
          <a:noFill/>
        </p:spPr>
        <p:txBody>
          <a:bodyPr wrap="square" lIns="27432" tIns="9144" rIns="27432" bIns="9144" anchor="ctr">
            <a:spAutoFit/>
          </a:bodyPr>
          <a:lstStyle/>
          <a:p>
            <a:pPr algn="ctr"/>
            <a:r>
              <a:rPr sz="1100" b="1" i="0">
                <a:solidFill>
                  <a:srgbClr val="FFFFFF"/>
                </a:solidFill>
                <a:latin typeface="Calibri"/>
              </a:rPr>
              <a:t>6</a:t>
            </a:r>
          </a:p>
        </p:txBody>
      </p:sp>
      <p:sp>
        <p:nvSpPr>
          <p:cNvPr id="66" name="Rectangle 65"/>
          <p:cNvSpPr/>
          <p:nvPr/>
        </p:nvSpPr>
        <p:spPr>
          <a:xfrm>
            <a:off x="6560820" y="4443983"/>
            <a:ext cx="5445252" cy="987551"/>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633972" y="4462271"/>
            <a:ext cx="5317236" cy="274320"/>
          </a:xfrm>
          <a:prstGeom prst="rect">
            <a:avLst/>
          </a:prstGeom>
          <a:noFill/>
        </p:spPr>
        <p:txBody>
          <a:bodyPr wrap="square" lIns="27432" tIns="9144" rIns="27432" bIns="9144" anchor="t">
            <a:spAutoFit/>
          </a:bodyPr>
          <a:lstStyle/>
          <a:p>
            <a:pPr algn="l"/>
            <a:r>
              <a:rPr sz="1200" b="1" i="0">
                <a:solidFill>
                  <a:srgbClr val="0E3A66"/>
                </a:solidFill>
                <a:latin typeface="Calibri"/>
              </a:rPr>
              <a:t>Success requirement: randomized survival data plus a funding partner</a:t>
            </a:r>
          </a:p>
        </p:txBody>
      </p:sp>
      <p:sp>
        <p:nvSpPr>
          <p:cNvPr id="68" name="TextBox 67"/>
          <p:cNvSpPr txBox="1"/>
          <p:nvPr/>
        </p:nvSpPr>
        <p:spPr>
          <a:xfrm>
            <a:off x="6633972" y="4736592"/>
            <a:ext cx="5317236" cy="676655"/>
          </a:xfrm>
          <a:prstGeom prst="rect">
            <a:avLst/>
          </a:prstGeom>
          <a:noFill/>
        </p:spPr>
        <p:txBody>
          <a:bodyPr wrap="square" lIns="27432" tIns="9144" rIns="27432" bIns="9144" anchor="t">
            <a:spAutoFit/>
          </a:bodyPr>
          <a:lstStyle/>
          <a:p>
            <a:pPr algn="l"/>
            <a:r>
              <a:rPr sz="1050" b="0" i="0">
                <a:solidFill>
                  <a:srgbClr val="262626"/>
                </a:solidFill>
                <a:latin typeface="Calibri"/>
              </a:rPr>
              <a:t>Two relevant programs left the field (Imugene nextHERIZON and OBI GLORIA were terminated) and Aston stopped its breast trial, while the leaders run on small balance sheets. Winners will need a randomized recurrence-free survival readout and a pharma partner.</a:t>
            </a:r>
          </a:p>
        </p:txBody>
      </p:sp>
      <p:cxnSp>
        <p:nvCxnSpPr>
          <p:cNvPr id="69" name="Connector 68"/>
          <p:cNvCxnSpPr/>
          <p:nvPr/>
        </p:nvCxnSpPr>
        <p:spPr>
          <a:xfrm>
            <a:off x="182880" y="5559552"/>
            <a:ext cx="11823192" cy="0"/>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82880" y="5596128"/>
            <a:ext cx="11823192" cy="182880"/>
          </a:xfrm>
          <a:prstGeom prst="rect">
            <a:avLst/>
          </a:prstGeom>
          <a:noFill/>
        </p:spPr>
        <p:txBody>
          <a:bodyPr wrap="square" lIns="27432" tIns="9144" rIns="27432" bIns="9144" anchor="t">
            <a:spAutoFit/>
          </a:bodyPr>
          <a:lstStyle/>
          <a:p>
            <a:pPr algn="l"/>
            <a:r>
              <a:rPr sz="800" b="1" i="0">
                <a:solidFill>
                  <a:srgbClr val="0E3A66"/>
                </a:solidFill>
                <a:latin typeface="Calibri"/>
              </a:rPr>
              <a:t>HOW THIS DECK IS BUILT</a:t>
            </a:r>
          </a:p>
        </p:txBody>
      </p:sp>
      <p:sp>
        <p:nvSpPr>
          <p:cNvPr id="71" name="TextBox 70"/>
          <p:cNvSpPr txBox="1"/>
          <p:nvPr/>
        </p:nvSpPr>
        <p:spPr>
          <a:xfrm>
            <a:off x="182880" y="5760720"/>
            <a:ext cx="11823192" cy="603504"/>
          </a:xfrm>
          <a:prstGeom prst="rect">
            <a:avLst/>
          </a:prstGeom>
          <a:noFill/>
        </p:spPr>
        <p:txBody>
          <a:bodyPr wrap="square" lIns="27432" tIns="9144" rIns="27432" bIns="9144" anchor="t">
            <a:spAutoFit/>
          </a:bodyPr>
          <a:lstStyle/>
          <a:p>
            <a:pPr algn="l"/>
            <a:r>
              <a:rPr sz="850" b="0" i="0">
                <a:solidFill>
                  <a:srgbClr val="262626"/>
                </a:solidFill>
                <a:latin typeface="Calibri"/>
              </a:rPr>
              <a:t>Slides 2 to 4 show who plays where, how the patient pool is structured and where each program sits by platform and phase. Slides 5 to 7 rate every active developer at corporate, offering and execution level with defined 3, 2, 1 or n/a criteria; slide 8 converts these into five success factors. Slides 9 and 10 log dated events from Sep 2023 to Sep 2026 and translate them into actions by function; slides 11 and 12 map pipeline coverage and addressable patients by HER2 segment. Companies whose relevant programs were terminated (Imugene, OBI Pharma) appear only as orange exit notes. Epidemiology uses IARC GLOBOCAN 2024; HER2 splits beyond published data are marked AE.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Who plays where: one late-stage developer, five mid- and early-stage HER2 programs, and a mRNA ecosystem that has not yet entered HER2; no developer covers both breast and gastric cancer with an active trial</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3</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Developer groups and company x segment matrix across indication, HER2 expression level and vaccine platform (active programs only)</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182880" y="1335024"/>
            <a:ext cx="5486400" cy="182880"/>
          </a:xfrm>
          <a:prstGeom prst="rect">
            <a:avLst/>
          </a:prstGeom>
          <a:noFill/>
        </p:spPr>
        <p:txBody>
          <a:bodyPr wrap="square" lIns="27432" tIns="9144" rIns="27432" bIns="9144" anchor="t">
            <a:spAutoFit/>
          </a:bodyPr>
          <a:lstStyle/>
          <a:p>
            <a:pPr algn="l"/>
            <a:r>
              <a:rPr sz="900" b="1" i="0">
                <a:solidFill>
                  <a:srgbClr val="0E3A66"/>
                </a:solidFill>
                <a:latin typeface="Calibri"/>
              </a:rPr>
              <a:t>Developer groups (verified active status, Sep 2026)</a:t>
            </a:r>
          </a:p>
        </p:txBody>
      </p:sp>
      <p:sp>
        <p:nvSpPr>
          <p:cNvPr id="7" name="Rectangle 6"/>
          <p:cNvSpPr/>
          <p:nvPr/>
        </p:nvSpPr>
        <p:spPr>
          <a:xfrm>
            <a:off x="182880" y="1536192"/>
            <a:ext cx="1965960"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536192"/>
            <a:ext cx="1920240" cy="237744"/>
          </a:xfrm>
          <a:prstGeom prst="rect">
            <a:avLst/>
          </a:prstGeom>
          <a:noFill/>
        </p:spPr>
        <p:txBody>
          <a:bodyPr wrap="square" lIns="27432" tIns="9144" rIns="27432" bIns="9144" anchor="ctr">
            <a:spAutoFit/>
          </a:bodyPr>
          <a:lstStyle/>
          <a:p>
            <a:pPr algn="l"/>
            <a:r>
              <a:rPr sz="850" b="1" i="0">
                <a:solidFill>
                  <a:srgbClr val="FFFFFF"/>
                </a:solidFill>
                <a:latin typeface="Calibri"/>
              </a:rPr>
              <a:t>Late-stage direct (1)</a:t>
            </a:r>
          </a:p>
        </p:txBody>
      </p:sp>
      <p:sp>
        <p:nvSpPr>
          <p:cNvPr id="9" name="Rectangle 8"/>
          <p:cNvSpPr/>
          <p:nvPr/>
        </p:nvSpPr>
        <p:spPr>
          <a:xfrm>
            <a:off x="182880" y="1773936"/>
            <a:ext cx="196596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 y="1783080"/>
            <a:ext cx="1901952" cy="365760"/>
          </a:xfrm>
          <a:prstGeom prst="rect">
            <a:avLst/>
          </a:prstGeom>
          <a:noFill/>
        </p:spPr>
        <p:txBody>
          <a:bodyPr wrap="square" lIns="27432" tIns="9144" rIns="27432" bIns="9144" anchor="ctr">
            <a:spAutoFit/>
          </a:bodyPr>
          <a:lstStyle/>
          <a:p>
            <a:pPr algn="l"/>
            <a:r>
              <a:rPr sz="800" b="0" i="0">
                <a:solidFill>
                  <a:srgbClr val="262626"/>
                </a:solidFill>
                <a:latin typeface="Calibri"/>
              </a:rPr>
              <a:t>Greenwich LifeSciences: GLSI-100, Phase III</a:t>
            </a:r>
          </a:p>
        </p:txBody>
      </p:sp>
      <p:sp>
        <p:nvSpPr>
          <p:cNvPr id="11" name="Rectangle 10"/>
          <p:cNvSpPr/>
          <p:nvPr/>
        </p:nvSpPr>
        <p:spPr>
          <a:xfrm>
            <a:off x="2194560" y="1536192"/>
            <a:ext cx="3429000" cy="23774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40280" y="1536192"/>
            <a:ext cx="3383279" cy="237744"/>
          </a:xfrm>
          <a:prstGeom prst="rect">
            <a:avLst/>
          </a:prstGeom>
          <a:noFill/>
        </p:spPr>
        <p:txBody>
          <a:bodyPr wrap="square" lIns="27432" tIns="9144" rIns="27432" bIns="9144" anchor="ctr">
            <a:spAutoFit/>
          </a:bodyPr>
          <a:lstStyle/>
          <a:p>
            <a:pPr algn="l"/>
            <a:r>
              <a:rPr sz="850" b="1" i="0">
                <a:solidFill>
                  <a:srgbClr val="FFFFFF"/>
                </a:solidFill>
                <a:latin typeface="Calibri"/>
              </a:rPr>
              <a:t>Mid-stage direct (3 programs)</a:t>
            </a:r>
          </a:p>
        </p:txBody>
      </p:sp>
      <p:sp>
        <p:nvSpPr>
          <p:cNvPr id="13" name="Rectangle 12"/>
          <p:cNvSpPr/>
          <p:nvPr/>
        </p:nvSpPr>
        <p:spPr>
          <a:xfrm>
            <a:off x="2194560" y="1773936"/>
            <a:ext cx="342900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40280" y="1783080"/>
            <a:ext cx="3364991" cy="365760"/>
          </a:xfrm>
          <a:prstGeom prst="rect">
            <a:avLst/>
          </a:prstGeom>
          <a:noFill/>
        </p:spPr>
        <p:txBody>
          <a:bodyPr wrap="square" lIns="27432" tIns="9144" rIns="27432" bIns="9144" anchor="ctr">
            <a:spAutoFit/>
          </a:bodyPr>
          <a:lstStyle/>
          <a:p>
            <a:pPr algn="l"/>
            <a:r>
              <a:rPr sz="800" b="0" i="0">
                <a:solidFill>
                  <a:srgbClr val="262626"/>
                </a:solidFill>
                <a:latin typeface="Calibri"/>
              </a:rPr>
              <a:t>Aston Sci.: AST-301 | Moffitt Cancer Center: HER2 DC1 | UW Cancer Vaccine Institute: WOKVAC</a:t>
            </a:r>
          </a:p>
        </p:txBody>
      </p:sp>
      <p:sp>
        <p:nvSpPr>
          <p:cNvPr id="15" name="Rectangle 14"/>
          <p:cNvSpPr/>
          <p:nvPr/>
        </p:nvSpPr>
        <p:spPr>
          <a:xfrm>
            <a:off x="5669280" y="1536192"/>
            <a:ext cx="3063240" cy="23774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15000" y="1536192"/>
            <a:ext cx="3017520" cy="237744"/>
          </a:xfrm>
          <a:prstGeom prst="rect">
            <a:avLst/>
          </a:prstGeom>
          <a:noFill/>
        </p:spPr>
        <p:txBody>
          <a:bodyPr wrap="square" lIns="27432" tIns="9144" rIns="27432" bIns="9144" anchor="ctr">
            <a:spAutoFit/>
          </a:bodyPr>
          <a:lstStyle/>
          <a:p>
            <a:pPr algn="l"/>
            <a:r>
              <a:rPr sz="850" b="1" i="0">
                <a:solidFill>
                  <a:srgbClr val="FFFFFF"/>
                </a:solidFill>
                <a:latin typeface="Calibri"/>
              </a:rPr>
              <a:t>Early-stage and platform (3)</a:t>
            </a:r>
          </a:p>
        </p:txBody>
      </p:sp>
      <p:sp>
        <p:nvSpPr>
          <p:cNvPr id="17" name="Rectangle 16"/>
          <p:cNvSpPr/>
          <p:nvPr/>
        </p:nvSpPr>
        <p:spPr>
          <a:xfrm>
            <a:off x="5669280" y="1773936"/>
            <a:ext cx="3063240"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15000" y="1783080"/>
            <a:ext cx="2999232" cy="365760"/>
          </a:xfrm>
          <a:prstGeom prst="rect">
            <a:avLst/>
          </a:prstGeom>
          <a:noFill/>
        </p:spPr>
        <p:txBody>
          <a:bodyPr wrap="square" lIns="27432" tIns="9144" rIns="27432" bIns="9144" anchor="ctr">
            <a:spAutoFit/>
          </a:bodyPr>
          <a:lstStyle/>
          <a:p>
            <a:pPr algn="l"/>
            <a:r>
              <a:rPr sz="800" b="0" i="0">
                <a:solidFill>
                  <a:srgbClr val="262626"/>
                </a:solidFill>
                <a:latin typeface="Calibri"/>
              </a:rPr>
              <a:t>ExpreS2ion: ES2B-C001 | AdaptVac: cVLP platform licensor | Mayo Clinic: H2NVAC</a:t>
            </a:r>
          </a:p>
        </p:txBody>
      </p:sp>
      <p:sp>
        <p:nvSpPr>
          <p:cNvPr id="19" name="Rectangle 18"/>
          <p:cNvSpPr/>
          <p:nvPr/>
        </p:nvSpPr>
        <p:spPr>
          <a:xfrm>
            <a:off x="8778240" y="1536192"/>
            <a:ext cx="3035808"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23960" y="1536192"/>
            <a:ext cx="2990088" cy="237744"/>
          </a:xfrm>
          <a:prstGeom prst="rect">
            <a:avLst/>
          </a:prstGeom>
          <a:noFill/>
        </p:spPr>
        <p:txBody>
          <a:bodyPr wrap="square" lIns="27432" tIns="9144" rIns="27432" bIns="9144" anchor="ctr">
            <a:spAutoFit/>
          </a:bodyPr>
          <a:lstStyle/>
          <a:p>
            <a:pPr algn="l"/>
            <a:r>
              <a:rPr sz="850" b="1" i="0">
                <a:solidFill>
                  <a:srgbClr val="FFFFFF"/>
                </a:solidFill>
                <a:latin typeface="Calibri"/>
              </a:rPr>
              <a:t>Adjacent cancer-vaccine companies (3)</a:t>
            </a:r>
          </a:p>
        </p:txBody>
      </p:sp>
      <p:sp>
        <p:nvSpPr>
          <p:cNvPr id="21" name="Rectangle 20"/>
          <p:cNvSpPr/>
          <p:nvPr/>
        </p:nvSpPr>
        <p:spPr>
          <a:xfrm>
            <a:off x="8778240" y="1773936"/>
            <a:ext cx="3035808" cy="38404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23960" y="1783080"/>
            <a:ext cx="2971800" cy="365760"/>
          </a:xfrm>
          <a:prstGeom prst="rect">
            <a:avLst/>
          </a:prstGeom>
          <a:noFill/>
        </p:spPr>
        <p:txBody>
          <a:bodyPr wrap="square" lIns="27432" tIns="9144" rIns="27432" bIns="9144" anchor="ctr">
            <a:spAutoFit/>
          </a:bodyPr>
          <a:lstStyle/>
          <a:p>
            <a:pPr algn="l"/>
            <a:r>
              <a:rPr sz="800" b="0" i="0">
                <a:solidFill>
                  <a:srgbClr val="262626"/>
                </a:solidFill>
                <a:latin typeface="Calibri"/>
              </a:rPr>
              <a:t>BriaCell: Bria-IMT (indirect HER2) | Merck and Moderna: intismeran | BioNTech and Genentech: autogene cevumeran</a:t>
            </a:r>
          </a:p>
        </p:txBody>
      </p:sp>
      <p:sp>
        <p:nvSpPr>
          <p:cNvPr id="23" name="TextBox 22"/>
          <p:cNvSpPr txBox="1"/>
          <p:nvPr/>
        </p:nvSpPr>
        <p:spPr>
          <a:xfrm>
            <a:off x="182880" y="2240280"/>
            <a:ext cx="8229600" cy="182880"/>
          </a:xfrm>
          <a:prstGeom prst="rect">
            <a:avLst/>
          </a:prstGeom>
          <a:noFill/>
        </p:spPr>
        <p:txBody>
          <a:bodyPr wrap="square" lIns="27432" tIns="9144" rIns="27432" bIns="9144" anchor="t">
            <a:spAutoFit/>
          </a:bodyPr>
          <a:lstStyle/>
          <a:p>
            <a:pPr algn="l"/>
            <a:r>
              <a:rPr sz="900" b="1" i="0">
                <a:solidFill>
                  <a:srgbClr val="0E3A66"/>
                </a:solidFill>
                <a:latin typeface="Calibri"/>
              </a:rPr>
              <a:t>Company x segment matrix (full = documented direct program, half = indirect or broader eligibility, hollow = no verified activity)</a:t>
            </a:r>
          </a:p>
        </p:txBody>
      </p:sp>
      <p:sp>
        <p:nvSpPr>
          <p:cNvPr id="24" name="TextBox 23"/>
          <p:cNvSpPr txBox="1"/>
          <p:nvPr/>
        </p:nvSpPr>
        <p:spPr>
          <a:xfrm>
            <a:off x="3017520" y="2450592"/>
            <a:ext cx="1634282" cy="164592"/>
          </a:xfrm>
          <a:prstGeom prst="rect">
            <a:avLst/>
          </a:prstGeom>
          <a:noFill/>
        </p:spPr>
        <p:txBody>
          <a:bodyPr wrap="square" lIns="27432" tIns="9144" rIns="27432" bIns="9144" anchor="t">
            <a:spAutoFit/>
          </a:bodyPr>
          <a:lstStyle/>
          <a:p>
            <a:pPr algn="ctr"/>
            <a:r>
              <a:rPr sz="800" b="1" i="0">
                <a:solidFill>
                  <a:srgbClr val="0E3A66"/>
                </a:solidFill>
                <a:latin typeface="Calibri"/>
              </a:rPr>
              <a:t>Indication</a:t>
            </a:r>
          </a:p>
        </p:txBody>
      </p:sp>
      <p:cxnSp>
        <p:nvCxnSpPr>
          <p:cNvPr id="25" name="Connector 24"/>
          <p:cNvCxnSpPr/>
          <p:nvPr/>
        </p:nvCxnSpPr>
        <p:spPr>
          <a:xfrm>
            <a:off x="3063239" y="2633472"/>
            <a:ext cx="1542843" cy="0"/>
          </a:xfrm>
          <a:prstGeom prst="line">
            <a:avLst/>
          </a:prstGeom>
          <a:ln w="9525">
            <a:solidFill>
              <a:srgbClr val="0E3A6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51802" y="2450592"/>
            <a:ext cx="3268564" cy="164592"/>
          </a:xfrm>
          <a:prstGeom prst="rect">
            <a:avLst/>
          </a:prstGeom>
          <a:noFill/>
        </p:spPr>
        <p:txBody>
          <a:bodyPr wrap="square" lIns="27432" tIns="9144" rIns="27432" bIns="9144" anchor="t">
            <a:spAutoFit/>
          </a:bodyPr>
          <a:lstStyle/>
          <a:p>
            <a:pPr algn="ctr"/>
            <a:r>
              <a:rPr sz="800" b="1" i="0">
                <a:solidFill>
                  <a:srgbClr val="0E3A66"/>
                </a:solidFill>
                <a:latin typeface="Calibri"/>
              </a:rPr>
              <a:t>HER2 expression</a:t>
            </a:r>
          </a:p>
        </p:txBody>
      </p:sp>
      <p:cxnSp>
        <p:nvCxnSpPr>
          <p:cNvPr id="27" name="Connector 26"/>
          <p:cNvCxnSpPr/>
          <p:nvPr/>
        </p:nvCxnSpPr>
        <p:spPr>
          <a:xfrm>
            <a:off x="4697522" y="2633472"/>
            <a:ext cx="3177124" cy="0"/>
          </a:xfrm>
          <a:prstGeom prst="line">
            <a:avLst/>
          </a:prstGeom>
          <a:ln w="9525">
            <a:solidFill>
              <a:srgbClr val="0E3A6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920366" y="2450592"/>
            <a:ext cx="4085705" cy="164592"/>
          </a:xfrm>
          <a:prstGeom prst="rect">
            <a:avLst/>
          </a:prstGeom>
          <a:noFill/>
        </p:spPr>
        <p:txBody>
          <a:bodyPr wrap="square" lIns="27432" tIns="9144" rIns="27432" bIns="9144" anchor="t">
            <a:spAutoFit/>
          </a:bodyPr>
          <a:lstStyle/>
          <a:p>
            <a:pPr algn="ctr"/>
            <a:r>
              <a:rPr sz="800" b="1" i="0">
                <a:solidFill>
                  <a:srgbClr val="0E3A66"/>
                </a:solidFill>
                <a:latin typeface="Calibri"/>
              </a:rPr>
              <a:t>Vaccine platform</a:t>
            </a:r>
          </a:p>
        </p:txBody>
      </p:sp>
      <p:cxnSp>
        <p:nvCxnSpPr>
          <p:cNvPr id="29" name="Connector 28"/>
          <p:cNvCxnSpPr/>
          <p:nvPr/>
        </p:nvCxnSpPr>
        <p:spPr>
          <a:xfrm>
            <a:off x="7966086" y="2633472"/>
            <a:ext cx="3994266" cy="0"/>
          </a:xfrm>
          <a:prstGeom prst="line">
            <a:avLst/>
          </a:prstGeom>
          <a:ln w="9525">
            <a:solidFill>
              <a:srgbClr val="0E3A6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17520"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Breast</a:t>
            </a:r>
          </a:p>
        </p:txBody>
      </p:sp>
      <p:sp>
        <p:nvSpPr>
          <p:cNvPr id="31" name="TextBox 30"/>
          <p:cNvSpPr txBox="1"/>
          <p:nvPr/>
        </p:nvSpPr>
        <p:spPr>
          <a:xfrm>
            <a:off x="3834661"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Gastric / GEJ</a:t>
            </a:r>
          </a:p>
        </p:txBody>
      </p:sp>
      <p:sp>
        <p:nvSpPr>
          <p:cNvPr id="32" name="TextBox 31"/>
          <p:cNvSpPr txBox="1"/>
          <p:nvPr/>
        </p:nvSpPr>
        <p:spPr>
          <a:xfrm>
            <a:off x="4651802"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HER2 IHC 0</a:t>
            </a:r>
          </a:p>
        </p:txBody>
      </p:sp>
      <p:sp>
        <p:nvSpPr>
          <p:cNvPr id="33" name="TextBox 32"/>
          <p:cNvSpPr txBox="1"/>
          <p:nvPr/>
        </p:nvSpPr>
        <p:spPr>
          <a:xfrm>
            <a:off x="5468943"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HER2 IHC 1+</a:t>
            </a:r>
          </a:p>
        </p:txBody>
      </p:sp>
      <p:sp>
        <p:nvSpPr>
          <p:cNvPr id="34" name="TextBox 33"/>
          <p:cNvSpPr txBox="1"/>
          <p:nvPr/>
        </p:nvSpPr>
        <p:spPr>
          <a:xfrm>
            <a:off x="6286084"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HER2 IHC 2+</a:t>
            </a:r>
          </a:p>
        </p:txBody>
      </p:sp>
      <p:sp>
        <p:nvSpPr>
          <p:cNvPr id="35" name="TextBox 34"/>
          <p:cNvSpPr txBox="1"/>
          <p:nvPr/>
        </p:nvSpPr>
        <p:spPr>
          <a:xfrm>
            <a:off x="7103225"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HER2 IHC 3+</a:t>
            </a:r>
          </a:p>
        </p:txBody>
      </p:sp>
      <p:sp>
        <p:nvSpPr>
          <p:cNvPr id="36" name="TextBox 35"/>
          <p:cNvSpPr txBox="1"/>
          <p:nvPr/>
        </p:nvSpPr>
        <p:spPr>
          <a:xfrm>
            <a:off x="7920366"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DNA</a:t>
            </a:r>
          </a:p>
        </p:txBody>
      </p:sp>
      <p:sp>
        <p:nvSpPr>
          <p:cNvPr id="37" name="TextBox 36"/>
          <p:cNvSpPr txBox="1"/>
          <p:nvPr/>
        </p:nvSpPr>
        <p:spPr>
          <a:xfrm>
            <a:off x="8737507"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mRNA</a:t>
            </a:r>
          </a:p>
        </p:txBody>
      </p:sp>
      <p:sp>
        <p:nvSpPr>
          <p:cNvPr id="38" name="TextBox 37"/>
          <p:cNvSpPr txBox="1"/>
          <p:nvPr/>
        </p:nvSpPr>
        <p:spPr>
          <a:xfrm>
            <a:off x="9554648"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Peptide</a:t>
            </a:r>
          </a:p>
        </p:txBody>
      </p:sp>
      <p:sp>
        <p:nvSpPr>
          <p:cNvPr id="39" name="TextBox 38"/>
          <p:cNvSpPr txBox="1"/>
          <p:nvPr/>
        </p:nvSpPr>
        <p:spPr>
          <a:xfrm>
            <a:off x="10371789"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Protein / VLP</a:t>
            </a:r>
          </a:p>
        </p:txBody>
      </p:sp>
      <p:sp>
        <p:nvSpPr>
          <p:cNvPr id="40" name="TextBox 39"/>
          <p:cNvSpPr txBox="1"/>
          <p:nvPr/>
        </p:nvSpPr>
        <p:spPr>
          <a:xfrm>
            <a:off x="11188930" y="2651760"/>
            <a:ext cx="817141" cy="182880"/>
          </a:xfrm>
          <a:prstGeom prst="rect">
            <a:avLst/>
          </a:prstGeom>
          <a:noFill/>
        </p:spPr>
        <p:txBody>
          <a:bodyPr wrap="square" lIns="27432" tIns="9144" rIns="27432" bIns="9144" anchor="t">
            <a:spAutoFit/>
          </a:bodyPr>
          <a:lstStyle/>
          <a:p>
            <a:pPr algn="ctr"/>
            <a:r>
              <a:rPr sz="800" b="1" i="0">
                <a:solidFill>
                  <a:srgbClr val="262626"/>
                </a:solidFill>
                <a:latin typeface="Calibri"/>
              </a:rPr>
              <a:t>Other platform</a:t>
            </a:r>
          </a:p>
        </p:txBody>
      </p:sp>
      <p:cxnSp>
        <p:nvCxnSpPr>
          <p:cNvPr id="41" name="Connector 40"/>
          <p:cNvCxnSpPr/>
          <p:nvPr/>
        </p:nvCxnSpPr>
        <p:spPr>
          <a:xfrm>
            <a:off x="182880" y="285292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82880" y="2907792"/>
            <a:ext cx="45720" cy="187451"/>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4320" y="2871216"/>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Greenwich LifeSciences</a:t>
            </a:r>
            <a:r>
              <a:rPr sz="750" b="0" i="0">
                <a:solidFill>
                  <a:srgbClr val="595959"/>
                </a:solidFill>
                <a:latin typeface="Calibri"/>
              </a:rPr>
              <a:t>  GLSI-100</a:t>
            </a:r>
          </a:p>
        </p:txBody>
      </p:sp>
      <p:sp>
        <p:nvSpPr>
          <p:cNvPr id="44" name="Oval 43"/>
          <p:cNvSpPr/>
          <p:nvPr/>
        </p:nvSpPr>
        <p:spPr>
          <a:xfrm>
            <a:off x="3357510" y="2932938"/>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4174651"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991792"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5808933"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626074" y="2932938"/>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Chord 48"/>
          <p:cNvSpPr/>
          <p:nvPr/>
        </p:nvSpPr>
        <p:spPr>
          <a:xfrm>
            <a:off x="6626074" y="2932938"/>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443216" y="2932938"/>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260357"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9077498"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894639" y="2932938"/>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0711780"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528921" y="2932938"/>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182880" y="313182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82880" y="3168396"/>
            <a:ext cx="45720" cy="187451"/>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74320" y="3131820"/>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Aston Sci.</a:t>
            </a:r>
            <a:r>
              <a:rPr sz="750" b="0" i="0">
                <a:solidFill>
                  <a:srgbClr val="595959"/>
                </a:solidFill>
                <a:latin typeface="Calibri"/>
              </a:rPr>
              <a:t>  AST-301</a:t>
            </a:r>
          </a:p>
        </p:txBody>
      </p:sp>
      <p:sp>
        <p:nvSpPr>
          <p:cNvPr id="59" name="Oval 58"/>
          <p:cNvSpPr/>
          <p:nvPr/>
        </p:nvSpPr>
        <p:spPr>
          <a:xfrm>
            <a:off x="3357510" y="3193542"/>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Chord 59"/>
          <p:cNvSpPr/>
          <p:nvPr/>
        </p:nvSpPr>
        <p:spPr>
          <a:xfrm>
            <a:off x="3357510" y="3193542"/>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74651" y="319354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991792" y="319354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5808933" y="319354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6626074" y="319354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7443216" y="319354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8260357" y="319354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9077498" y="319354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9894639" y="319354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0711780" y="319354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1528921" y="319354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70"/>
          <p:cNvCxnSpPr/>
          <p:nvPr/>
        </p:nvCxnSpPr>
        <p:spPr>
          <a:xfrm>
            <a:off x="182880" y="3392424"/>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82880" y="3429000"/>
            <a:ext cx="45720" cy="187451"/>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3392424"/>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Moffitt Cancer Center</a:t>
            </a:r>
            <a:r>
              <a:rPr sz="750" b="0" i="0">
                <a:solidFill>
                  <a:srgbClr val="595959"/>
                </a:solidFill>
                <a:latin typeface="Calibri"/>
              </a:rPr>
              <a:t>  HER2 DC1 (dendritic cell)</a:t>
            </a:r>
          </a:p>
        </p:txBody>
      </p:sp>
      <p:sp>
        <p:nvSpPr>
          <p:cNvPr id="74" name="Oval 73"/>
          <p:cNvSpPr/>
          <p:nvPr/>
        </p:nvSpPr>
        <p:spPr>
          <a:xfrm>
            <a:off x="3357510" y="345414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4174651"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4991792"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5808933"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6626074" y="345414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hord 78"/>
          <p:cNvSpPr/>
          <p:nvPr/>
        </p:nvSpPr>
        <p:spPr>
          <a:xfrm>
            <a:off x="6626074" y="345414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7443216" y="345414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260357"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9077498"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894639"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10711780" y="345414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11528921" y="345414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182880" y="365302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82880" y="3689604"/>
            <a:ext cx="45720" cy="187451"/>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74320" y="3653028"/>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UW Cancer Vaccine Institute</a:t>
            </a:r>
            <a:r>
              <a:rPr sz="750" b="0" i="0">
                <a:solidFill>
                  <a:srgbClr val="595959"/>
                </a:solidFill>
                <a:latin typeface="Calibri"/>
              </a:rPr>
              <a:t>  WOKVAC</a:t>
            </a:r>
          </a:p>
        </p:txBody>
      </p:sp>
      <p:sp>
        <p:nvSpPr>
          <p:cNvPr id="89" name="Oval 88"/>
          <p:cNvSpPr/>
          <p:nvPr/>
        </p:nvSpPr>
        <p:spPr>
          <a:xfrm>
            <a:off x="3357510" y="3714750"/>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174651"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4991792"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5808933"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6626074" y="3714750"/>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Chord 93"/>
          <p:cNvSpPr/>
          <p:nvPr/>
        </p:nvSpPr>
        <p:spPr>
          <a:xfrm>
            <a:off x="6626074" y="3714750"/>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7443216" y="3714750"/>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8260357" y="3714750"/>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9077498"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9894639"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0711780"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1528921" y="371475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182880" y="391363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02" name="Rectangle 101"/>
          <p:cNvSpPr/>
          <p:nvPr/>
        </p:nvSpPr>
        <p:spPr>
          <a:xfrm>
            <a:off x="182880" y="3950208"/>
            <a:ext cx="45720" cy="187451"/>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274320" y="3913632"/>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ExpreS2ion Biotechnologies</a:t>
            </a:r>
            <a:r>
              <a:rPr sz="750" b="0" i="0">
                <a:solidFill>
                  <a:srgbClr val="595959"/>
                </a:solidFill>
                <a:latin typeface="Calibri"/>
              </a:rPr>
              <a:t>  ES2B-C001</a:t>
            </a:r>
          </a:p>
        </p:txBody>
      </p:sp>
      <p:sp>
        <p:nvSpPr>
          <p:cNvPr id="104" name="Oval 103"/>
          <p:cNvSpPr/>
          <p:nvPr/>
        </p:nvSpPr>
        <p:spPr>
          <a:xfrm>
            <a:off x="3357510" y="3975354"/>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4174651" y="3975354"/>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Chord 105"/>
          <p:cNvSpPr/>
          <p:nvPr/>
        </p:nvSpPr>
        <p:spPr>
          <a:xfrm>
            <a:off x="4174651" y="3975354"/>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4991792" y="397535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5808933" y="3975354"/>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6626074" y="3975354"/>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7443216" y="3975354"/>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8260357" y="397535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9077498" y="397535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9894639" y="397535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0711780" y="3975354"/>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1528921" y="397535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6" name="Connector 115"/>
          <p:cNvCxnSpPr/>
          <p:nvPr/>
        </p:nvCxnSpPr>
        <p:spPr>
          <a:xfrm>
            <a:off x="182880" y="417423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82880" y="4210812"/>
            <a:ext cx="45720" cy="187451"/>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74320" y="4174235"/>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AdaptVac</a:t>
            </a:r>
            <a:r>
              <a:rPr sz="750" b="0" i="0">
                <a:solidFill>
                  <a:srgbClr val="595959"/>
                </a:solidFill>
                <a:latin typeface="Calibri"/>
              </a:rPr>
              <a:t>  cVLP platform (licensor)</a:t>
            </a:r>
          </a:p>
        </p:txBody>
      </p:sp>
      <p:sp>
        <p:nvSpPr>
          <p:cNvPr id="119" name="Oval 118"/>
          <p:cNvSpPr/>
          <p:nvPr/>
        </p:nvSpPr>
        <p:spPr>
          <a:xfrm>
            <a:off x="3357510" y="4235957"/>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Chord 119"/>
          <p:cNvSpPr/>
          <p:nvPr/>
        </p:nvSpPr>
        <p:spPr>
          <a:xfrm>
            <a:off x="3357510" y="4235957"/>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4174651"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4991792"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5808933" y="4235957"/>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Chord 123"/>
          <p:cNvSpPr/>
          <p:nvPr/>
        </p:nvSpPr>
        <p:spPr>
          <a:xfrm>
            <a:off x="5808933" y="4235957"/>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6626074" y="4235957"/>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Chord 125"/>
          <p:cNvSpPr/>
          <p:nvPr/>
        </p:nvSpPr>
        <p:spPr>
          <a:xfrm>
            <a:off x="6626074" y="4235957"/>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7443216" y="4235957"/>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Chord 127"/>
          <p:cNvSpPr/>
          <p:nvPr/>
        </p:nvSpPr>
        <p:spPr>
          <a:xfrm>
            <a:off x="7443216" y="4235957"/>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8260357"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9077498"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9894639"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0711780" y="4235957"/>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Chord 132"/>
          <p:cNvSpPr/>
          <p:nvPr/>
        </p:nvSpPr>
        <p:spPr>
          <a:xfrm>
            <a:off x="10711780" y="4235957"/>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1528921" y="4235957"/>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5" name="Connector 134"/>
          <p:cNvCxnSpPr/>
          <p:nvPr/>
        </p:nvCxnSpPr>
        <p:spPr>
          <a:xfrm>
            <a:off x="182880" y="443484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36" name="Rectangle 135"/>
          <p:cNvSpPr/>
          <p:nvPr/>
        </p:nvSpPr>
        <p:spPr>
          <a:xfrm>
            <a:off x="182880" y="4471416"/>
            <a:ext cx="45720" cy="187451"/>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274320" y="4434840"/>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Mayo Clinic</a:t>
            </a:r>
            <a:r>
              <a:rPr sz="750" b="0" i="0">
                <a:solidFill>
                  <a:srgbClr val="595959"/>
                </a:solidFill>
                <a:latin typeface="Calibri"/>
              </a:rPr>
              <a:t>  H2NVAC</a:t>
            </a:r>
          </a:p>
        </p:txBody>
      </p:sp>
      <p:sp>
        <p:nvSpPr>
          <p:cNvPr id="138" name="Oval 137"/>
          <p:cNvSpPr/>
          <p:nvPr/>
        </p:nvSpPr>
        <p:spPr>
          <a:xfrm>
            <a:off x="3357510" y="449656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74651"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991792"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808933" y="4496562"/>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Chord 141"/>
          <p:cNvSpPr/>
          <p:nvPr/>
        </p:nvSpPr>
        <p:spPr>
          <a:xfrm>
            <a:off x="5808933" y="4496562"/>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626074" y="4496562"/>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Chord 143"/>
          <p:cNvSpPr/>
          <p:nvPr/>
        </p:nvSpPr>
        <p:spPr>
          <a:xfrm>
            <a:off x="6626074" y="4496562"/>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7443216" y="4496562"/>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Chord 145"/>
          <p:cNvSpPr/>
          <p:nvPr/>
        </p:nvSpPr>
        <p:spPr>
          <a:xfrm>
            <a:off x="7443216" y="4496562"/>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8260357"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077498"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9894639" y="449656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0711780"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1528921" y="4496562"/>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2" name="Connector 151"/>
          <p:cNvCxnSpPr/>
          <p:nvPr/>
        </p:nvCxnSpPr>
        <p:spPr>
          <a:xfrm>
            <a:off x="182880" y="4695444"/>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82880" y="4732020"/>
            <a:ext cx="45720" cy="187451"/>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274320" y="4695444"/>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BriaCell</a:t>
            </a:r>
            <a:r>
              <a:rPr sz="750" b="0" i="0">
                <a:solidFill>
                  <a:srgbClr val="595959"/>
                </a:solidFill>
                <a:latin typeface="Calibri"/>
              </a:rPr>
              <a:t>  Bria-IMT (whole cell)</a:t>
            </a:r>
          </a:p>
        </p:txBody>
      </p:sp>
      <p:sp>
        <p:nvSpPr>
          <p:cNvPr id="155" name="Oval 154"/>
          <p:cNvSpPr/>
          <p:nvPr/>
        </p:nvSpPr>
        <p:spPr>
          <a:xfrm>
            <a:off x="3357510" y="475716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4174651" y="475716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4991792" y="475716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Chord 157"/>
          <p:cNvSpPr/>
          <p:nvPr/>
        </p:nvSpPr>
        <p:spPr>
          <a:xfrm>
            <a:off x="4991792" y="475716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5808933" y="475716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Chord 159"/>
          <p:cNvSpPr/>
          <p:nvPr/>
        </p:nvSpPr>
        <p:spPr>
          <a:xfrm>
            <a:off x="5808933" y="475716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6626074" y="475716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Chord 161"/>
          <p:cNvSpPr/>
          <p:nvPr/>
        </p:nvSpPr>
        <p:spPr>
          <a:xfrm>
            <a:off x="6626074" y="475716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7443216" y="475716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Chord 163"/>
          <p:cNvSpPr/>
          <p:nvPr/>
        </p:nvSpPr>
        <p:spPr>
          <a:xfrm>
            <a:off x="7443216" y="475716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8260357" y="475716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9077498" y="475716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9894639" y="475716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0711780" y="475716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1528921" y="475716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0" name="Connector 169"/>
          <p:cNvCxnSpPr/>
          <p:nvPr/>
        </p:nvCxnSpPr>
        <p:spPr>
          <a:xfrm>
            <a:off x="182880" y="495604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71" name="Rectangle 170"/>
          <p:cNvSpPr/>
          <p:nvPr/>
        </p:nvSpPr>
        <p:spPr>
          <a:xfrm>
            <a:off x="182880" y="4992624"/>
            <a:ext cx="45720" cy="187451"/>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274320" y="4956048"/>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Merck &amp; Co. and Moderna</a:t>
            </a:r>
            <a:r>
              <a:rPr sz="750" b="0" i="0">
                <a:solidFill>
                  <a:srgbClr val="595959"/>
                </a:solidFill>
                <a:latin typeface="Calibri"/>
              </a:rPr>
              <a:t>  intismeran autogene</a:t>
            </a:r>
          </a:p>
        </p:txBody>
      </p:sp>
      <p:sp>
        <p:nvSpPr>
          <p:cNvPr id="173" name="Oval 172"/>
          <p:cNvSpPr/>
          <p:nvPr/>
        </p:nvSpPr>
        <p:spPr>
          <a:xfrm>
            <a:off x="3357510"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4174651"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4991792"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5808933"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6626074"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7443216"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8260357"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9077498" y="5017770"/>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Chord 180"/>
          <p:cNvSpPr/>
          <p:nvPr/>
        </p:nvSpPr>
        <p:spPr>
          <a:xfrm>
            <a:off x="9077498" y="5017770"/>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9894639"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0711780"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1528921" y="5017770"/>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5" name="Connector 184"/>
          <p:cNvCxnSpPr/>
          <p:nvPr/>
        </p:nvCxnSpPr>
        <p:spPr>
          <a:xfrm>
            <a:off x="182880" y="521665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86" name="Rectangle 185"/>
          <p:cNvSpPr/>
          <p:nvPr/>
        </p:nvSpPr>
        <p:spPr>
          <a:xfrm>
            <a:off x="182880" y="5253228"/>
            <a:ext cx="45720" cy="187451"/>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274320" y="5216652"/>
            <a:ext cx="2651760" cy="260603"/>
          </a:xfrm>
          <a:prstGeom prst="rect">
            <a:avLst/>
          </a:prstGeom>
          <a:noFill/>
        </p:spPr>
        <p:txBody>
          <a:bodyPr wrap="square" lIns="27432" tIns="9144" rIns="27432" bIns="9144" anchor="ctr">
            <a:spAutoFit/>
          </a:bodyPr>
          <a:lstStyle/>
          <a:p>
            <a:pPr algn="l"/>
            <a:r>
              <a:rPr sz="850" b="1" i="0">
                <a:solidFill>
                  <a:srgbClr val="262626"/>
                </a:solidFill>
                <a:latin typeface="Calibri"/>
              </a:rPr>
              <a:t>BioNTech and Roche Genentech</a:t>
            </a:r>
            <a:r>
              <a:rPr sz="750" b="0" i="0">
                <a:solidFill>
                  <a:srgbClr val="595959"/>
                </a:solidFill>
                <a:latin typeface="Calibri"/>
              </a:rPr>
              <a:t>  autogene cevumeran</a:t>
            </a:r>
          </a:p>
        </p:txBody>
      </p:sp>
      <p:sp>
        <p:nvSpPr>
          <p:cNvPr id="188" name="Oval 187"/>
          <p:cNvSpPr/>
          <p:nvPr/>
        </p:nvSpPr>
        <p:spPr>
          <a:xfrm>
            <a:off x="3357510"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4174651"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4991792"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5808933"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6626074"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7443216"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8260357"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9077498" y="5278374"/>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Chord 195"/>
          <p:cNvSpPr/>
          <p:nvPr/>
        </p:nvSpPr>
        <p:spPr>
          <a:xfrm>
            <a:off x="9077498" y="5278374"/>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9894639"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10711780"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11528921" y="527837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0" name="Connector 199"/>
          <p:cNvCxnSpPr/>
          <p:nvPr/>
        </p:nvCxnSpPr>
        <p:spPr>
          <a:xfrm>
            <a:off x="182880" y="547725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201" name="Rectangle 200"/>
          <p:cNvSpPr/>
          <p:nvPr/>
        </p:nvSpPr>
        <p:spPr>
          <a:xfrm>
            <a:off x="182880" y="5559552"/>
            <a:ext cx="109728" cy="109728"/>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329184" y="5513832"/>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Late-stage direct</a:t>
            </a:r>
          </a:p>
        </p:txBody>
      </p:sp>
      <p:sp>
        <p:nvSpPr>
          <p:cNvPr id="203" name="Rectangle 202"/>
          <p:cNvSpPr/>
          <p:nvPr/>
        </p:nvSpPr>
        <p:spPr>
          <a:xfrm>
            <a:off x="1600200" y="5559552"/>
            <a:ext cx="109728"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1746504" y="5513832"/>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Mid-stage direct</a:t>
            </a:r>
          </a:p>
        </p:txBody>
      </p:sp>
      <p:sp>
        <p:nvSpPr>
          <p:cNvPr id="205" name="Rectangle 204"/>
          <p:cNvSpPr/>
          <p:nvPr/>
        </p:nvSpPr>
        <p:spPr>
          <a:xfrm>
            <a:off x="2971800" y="5559552"/>
            <a:ext cx="109728" cy="109728"/>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3118104" y="5513832"/>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Early-stage and platform</a:t>
            </a:r>
          </a:p>
        </p:txBody>
      </p:sp>
      <p:sp>
        <p:nvSpPr>
          <p:cNvPr id="207" name="Rectangle 206"/>
          <p:cNvSpPr/>
          <p:nvPr/>
        </p:nvSpPr>
        <p:spPr>
          <a:xfrm>
            <a:off x="4754880" y="5559552"/>
            <a:ext cx="109728" cy="109728"/>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4901184" y="5513832"/>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Adjacent</a:t>
            </a:r>
          </a:p>
        </p:txBody>
      </p:sp>
      <p:sp>
        <p:nvSpPr>
          <p:cNvPr id="209" name="TextBox 208"/>
          <p:cNvSpPr txBox="1"/>
          <p:nvPr/>
        </p:nvSpPr>
        <p:spPr>
          <a:xfrm>
            <a:off x="5760720" y="5513832"/>
            <a:ext cx="6217920" cy="182880"/>
          </a:xfrm>
          <a:prstGeom prst="rect">
            <a:avLst/>
          </a:prstGeom>
          <a:noFill/>
        </p:spPr>
        <p:txBody>
          <a:bodyPr wrap="square" lIns="27432" tIns="9144" rIns="27432" bIns="9144" anchor="t">
            <a:spAutoFit/>
          </a:bodyPr>
          <a:lstStyle/>
          <a:p>
            <a:pPr algn="l"/>
            <a:r>
              <a:rPr sz="750" b="0" i="1">
                <a:solidFill>
                  <a:srgbClr val="404040"/>
                </a:solidFill>
                <a:latin typeface="Calibri"/>
              </a:rPr>
              <a:t>IHC 2+ combines 2+/ISH-negative and 2+/ISH-positive; slide 6 separates them by trial.</a:t>
            </a:r>
          </a:p>
        </p:txBody>
      </p:sp>
      <p:sp>
        <p:nvSpPr>
          <p:cNvPr id="210" name="TextBox 209"/>
          <p:cNvSpPr txBox="1"/>
          <p:nvPr/>
        </p:nvSpPr>
        <p:spPr>
          <a:xfrm>
            <a:off x="182880" y="5742432"/>
            <a:ext cx="11823192" cy="164592"/>
          </a:xfrm>
          <a:prstGeom prst="rect">
            <a:avLst/>
          </a:prstGeom>
          <a:noFill/>
        </p:spPr>
        <p:txBody>
          <a:bodyPr wrap="square" lIns="27432" tIns="9144" rIns="27432" bIns="9144" anchor="t">
            <a:spAutoFit/>
          </a:bodyPr>
          <a:lstStyle/>
          <a:p>
            <a:pPr algn="l"/>
            <a:r>
              <a:rPr sz="800" b="1" i="0">
                <a:solidFill>
                  <a:srgbClr val="0E3A66"/>
                </a:solidFill>
                <a:latin typeface="Calibri"/>
              </a:rPr>
              <a:t>READING</a:t>
            </a:r>
          </a:p>
        </p:txBody>
      </p:sp>
      <p:sp>
        <p:nvSpPr>
          <p:cNvPr id="211" name="TextBox 210"/>
          <p:cNvSpPr txBox="1"/>
          <p:nvPr/>
        </p:nvSpPr>
        <p:spPr>
          <a:xfrm>
            <a:off x="182880" y="5888736"/>
            <a:ext cx="11823192" cy="502920"/>
          </a:xfrm>
          <a:prstGeom prst="rect">
            <a:avLst/>
          </a:prstGeom>
          <a:noFill/>
        </p:spPr>
        <p:txBody>
          <a:bodyPr wrap="square" lIns="27432" tIns="9144" rIns="27432" bIns="9144" anchor="t">
            <a:spAutoFit/>
          </a:bodyPr>
          <a:lstStyle/>
          <a:p>
            <a:pPr algn="l"/>
            <a:r>
              <a:rPr sz="850" b="0" i="0">
                <a:solidFill>
                  <a:srgbClr val="262626"/>
                </a:solidFill>
                <a:latin typeface="Calibri"/>
              </a:rPr>
              <a:t>Read across a row for breadth and down a column for contestability. Breast HER2 3+ is crowded with four direct programs, whereas gastric cancer has one active vaccine (AST-301) and HER2 IHC 0 has no direct program at all. HER2-low (IHC 1+ and 2+) is covered only by ES2B-C001 and AST-301, and the mRNA column shows capability without a HER2 program, which is the clearest whitespace for platform owners.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The addressable pool is set by HER2 biology, not by vaccine demand: about 2.43 M breast and 0.98 M gastric cases a year feed five HER2 groups, but active vaccine programs reach only the HER2-positive and HER2-low segments</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4</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Patient and market architecture from identification to treatment setting, with the developers and programs active at each stage (incidence: IARC GLOBOCAN 2024)</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cxnSp>
        <p:nvCxnSpPr>
          <p:cNvPr id="6" name="Connector 5"/>
          <p:cNvCxnSpPr/>
          <p:nvPr/>
        </p:nvCxnSpPr>
        <p:spPr>
          <a:xfrm>
            <a:off x="182880" y="1371600"/>
            <a:ext cx="11823192" cy="0"/>
          </a:xfrm>
          <a:prstGeom prst="line">
            <a:avLst/>
          </a:prstGeom>
          <a:ln w="19050">
            <a:solidFill>
              <a:srgbClr val="0E3A6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37744" y="1399032"/>
            <a:ext cx="2273198" cy="201168"/>
          </a:xfrm>
          <a:prstGeom prst="rect">
            <a:avLst/>
          </a:prstGeom>
          <a:noFill/>
        </p:spPr>
        <p:txBody>
          <a:bodyPr wrap="square" lIns="27432" tIns="9144" rIns="27432" bIns="9144" anchor="t">
            <a:spAutoFit/>
          </a:bodyPr>
          <a:lstStyle/>
          <a:p>
            <a:pPr algn="l"/>
            <a:r>
              <a:rPr sz="850" b="0" i="0">
                <a:solidFill>
                  <a:srgbClr val="404040"/>
                </a:solidFill>
                <a:latin typeface="Calibri"/>
              </a:rPr>
              <a:t>Breast cancer, new cases 2024</a:t>
            </a:r>
          </a:p>
        </p:txBody>
      </p:sp>
      <p:sp>
        <p:nvSpPr>
          <p:cNvPr id="8" name="TextBox 7"/>
          <p:cNvSpPr txBox="1"/>
          <p:nvPr/>
        </p:nvSpPr>
        <p:spPr>
          <a:xfrm>
            <a:off x="237744" y="1581912"/>
            <a:ext cx="2273198" cy="310896"/>
          </a:xfrm>
          <a:prstGeom prst="rect">
            <a:avLst/>
          </a:prstGeom>
          <a:noFill/>
        </p:spPr>
        <p:txBody>
          <a:bodyPr wrap="square" lIns="27432" tIns="9144" rIns="27432" bIns="9144" anchor="t">
            <a:spAutoFit/>
          </a:bodyPr>
          <a:lstStyle/>
          <a:p>
            <a:pPr algn="l"/>
            <a:r>
              <a:rPr sz="1800" b="1" i="0">
                <a:solidFill>
                  <a:srgbClr val="0E3A66"/>
                </a:solidFill>
                <a:latin typeface="Calibri"/>
              </a:rPr>
              <a:t>2.43 M</a:t>
            </a:r>
          </a:p>
        </p:txBody>
      </p:sp>
      <p:sp>
        <p:nvSpPr>
          <p:cNvPr id="9" name="TextBox 8"/>
          <p:cNvSpPr txBox="1"/>
          <p:nvPr/>
        </p:nvSpPr>
        <p:spPr>
          <a:xfrm>
            <a:off x="237744" y="1865376"/>
            <a:ext cx="2273198" cy="182880"/>
          </a:xfrm>
          <a:prstGeom prst="rect">
            <a:avLst/>
          </a:prstGeom>
          <a:noFill/>
        </p:spPr>
        <p:txBody>
          <a:bodyPr wrap="square" lIns="27432" tIns="9144" rIns="27432" bIns="9144" anchor="t">
            <a:spAutoFit/>
          </a:bodyPr>
          <a:lstStyle/>
          <a:p>
            <a:pPr algn="l"/>
            <a:r>
              <a:rPr sz="700" b="0" i="1">
                <a:solidFill>
                  <a:srgbClr val="7F7F7F"/>
                </a:solidFill>
                <a:latin typeface="Calibri"/>
              </a:rPr>
              <a:t>female, world, GLOBOCAN 2024</a:t>
            </a:r>
          </a:p>
        </p:txBody>
      </p:sp>
      <p:cxnSp>
        <p:nvCxnSpPr>
          <p:cNvPr id="10" name="Connector 9"/>
          <p:cNvCxnSpPr/>
          <p:nvPr/>
        </p:nvCxnSpPr>
        <p:spPr>
          <a:xfrm>
            <a:off x="2547518" y="1426464"/>
            <a:ext cx="0" cy="58521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602382" y="1399032"/>
            <a:ext cx="2273198" cy="201168"/>
          </a:xfrm>
          <a:prstGeom prst="rect">
            <a:avLst/>
          </a:prstGeom>
          <a:noFill/>
        </p:spPr>
        <p:txBody>
          <a:bodyPr wrap="square" lIns="27432" tIns="9144" rIns="27432" bIns="9144" anchor="t">
            <a:spAutoFit/>
          </a:bodyPr>
          <a:lstStyle/>
          <a:p>
            <a:pPr algn="l"/>
            <a:r>
              <a:rPr sz="850" b="0" i="0">
                <a:solidFill>
                  <a:srgbClr val="404040"/>
                </a:solidFill>
                <a:latin typeface="Calibri"/>
              </a:rPr>
              <a:t>Stomach cancer, new cases 2024</a:t>
            </a:r>
          </a:p>
        </p:txBody>
      </p:sp>
      <p:sp>
        <p:nvSpPr>
          <p:cNvPr id="12" name="TextBox 11"/>
          <p:cNvSpPr txBox="1"/>
          <p:nvPr/>
        </p:nvSpPr>
        <p:spPr>
          <a:xfrm>
            <a:off x="2602382" y="1581912"/>
            <a:ext cx="2273198" cy="310896"/>
          </a:xfrm>
          <a:prstGeom prst="rect">
            <a:avLst/>
          </a:prstGeom>
          <a:noFill/>
        </p:spPr>
        <p:txBody>
          <a:bodyPr wrap="square" lIns="27432" tIns="9144" rIns="27432" bIns="9144" anchor="t">
            <a:spAutoFit/>
          </a:bodyPr>
          <a:lstStyle/>
          <a:p>
            <a:pPr algn="l"/>
            <a:r>
              <a:rPr sz="1800" b="1" i="0">
                <a:solidFill>
                  <a:srgbClr val="0E3A66"/>
                </a:solidFill>
                <a:latin typeface="Calibri"/>
              </a:rPr>
              <a:t>0.98 M</a:t>
            </a:r>
          </a:p>
        </p:txBody>
      </p:sp>
      <p:sp>
        <p:nvSpPr>
          <p:cNvPr id="13" name="TextBox 12"/>
          <p:cNvSpPr txBox="1"/>
          <p:nvPr/>
        </p:nvSpPr>
        <p:spPr>
          <a:xfrm>
            <a:off x="2602382" y="1865376"/>
            <a:ext cx="2273198" cy="182880"/>
          </a:xfrm>
          <a:prstGeom prst="rect">
            <a:avLst/>
          </a:prstGeom>
          <a:noFill/>
        </p:spPr>
        <p:txBody>
          <a:bodyPr wrap="square" lIns="27432" tIns="9144" rIns="27432" bIns="9144" anchor="t">
            <a:spAutoFit/>
          </a:bodyPr>
          <a:lstStyle/>
          <a:p>
            <a:pPr algn="l"/>
            <a:r>
              <a:rPr sz="700" b="0" i="1">
                <a:solidFill>
                  <a:srgbClr val="7F7F7F"/>
                </a:solidFill>
                <a:latin typeface="Calibri"/>
              </a:rPr>
              <a:t>both sexes, world, GLOBOCAN 2024</a:t>
            </a:r>
          </a:p>
        </p:txBody>
      </p:sp>
      <p:cxnSp>
        <p:nvCxnSpPr>
          <p:cNvPr id="14" name="Connector 13"/>
          <p:cNvCxnSpPr/>
          <p:nvPr/>
        </p:nvCxnSpPr>
        <p:spPr>
          <a:xfrm>
            <a:off x="4912156" y="1426464"/>
            <a:ext cx="0" cy="58521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7020" y="1399032"/>
            <a:ext cx="2273198" cy="201168"/>
          </a:xfrm>
          <a:prstGeom prst="rect">
            <a:avLst/>
          </a:prstGeom>
          <a:noFill/>
        </p:spPr>
        <p:txBody>
          <a:bodyPr wrap="square" lIns="27432" tIns="9144" rIns="27432" bIns="9144" anchor="t">
            <a:spAutoFit/>
          </a:bodyPr>
          <a:lstStyle/>
          <a:p>
            <a:pPr algn="l"/>
            <a:r>
              <a:rPr sz="850" b="0" i="0">
                <a:solidFill>
                  <a:srgbClr val="404040"/>
                </a:solidFill>
                <a:latin typeface="Calibri"/>
              </a:rPr>
              <a:t>Breast HER2-low share</a:t>
            </a:r>
          </a:p>
        </p:txBody>
      </p:sp>
      <p:sp>
        <p:nvSpPr>
          <p:cNvPr id="16" name="TextBox 15"/>
          <p:cNvSpPr txBox="1"/>
          <p:nvPr/>
        </p:nvSpPr>
        <p:spPr>
          <a:xfrm>
            <a:off x="4967020" y="1581912"/>
            <a:ext cx="2273198" cy="310896"/>
          </a:xfrm>
          <a:prstGeom prst="rect">
            <a:avLst/>
          </a:prstGeom>
          <a:noFill/>
        </p:spPr>
        <p:txBody>
          <a:bodyPr wrap="square" lIns="27432" tIns="9144" rIns="27432" bIns="9144" anchor="t">
            <a:spAutoFit/>
          </a:bodyPr>
          <a:lstStyle/>
          <a:p>
            <a:pPr algn="l"/>
            <a:r>
              <a:rPr sz="1800" b="1" i="0">
                <a:solidFill>
                  <a:srgbClr val="0E3A66"/>
                </a:solidFill>
                <a:latin typeface="Calibri"/>
              </a:rPr>
              <a:t>50.7%</a:t>
            </a:r>
          </a:p>
        </p:txBody>
      </p:sp>
      <p:sp>
        <p:nvSpPr>
          <p:cNvPr id="17" name="TextBox 16"/>
          <p:cNvSpPr txBox="1"/>
          <p:nvPr/>
        </p:nvSpPr>
        <p:spPr>
          <a:xfrm>
            <a:off x="4967020" y="1865376"/>
            <a:ext cx="2273198" cy="182880"/>
          </a:xfrm>
          <a:prstGeom prst="rect">
            <a:avLst/>
          </a:prstGeom>
          <a:noFill/>
        </p:spPr>
        <p:txBody>
          <a:bodyPr wrap="square" lIns="27432" tIns="9144" rIns="27432" bIns="9144" anchor="t">
            <a:spAutoFit/>
          </a:bodyPr>
          <a:lstStyle/>
          <a:p>
            <a:pPr algn="l"/>
            <a:r>
              <a:rPr sz="700" b="0" i="1">
                <a:solidFill>
                  <a:srgbClr val="7F7F7F"/>
                </a:solidFill>
                <a:latin typeface="Calibri"/>
              </a:rPr>
              <a:t>IHC 1+ and 2+/ISH-, AE composite</a:t>
            </a:r>
          </a:p>
        </p:txBody>
      </p:sp>
      <p:cxnSp>
        <p:nvCxnSpPr>
          <p:cNvPr id="18" name="Connector 17"/>
          <p:cNvCxnSpPr/>
          <p:nvPr/>
        </p:nvCxnSpPr>
        <p:spPr>
          <a:xfrm>
            <a:off x="7276795" y="1426464"/>
            <a:ext cx="0" cy="58521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331659" y="1399032"/>
            <a:ext cx="2273198" cy="201168"/>
          </a:xfrm>
          <a:prstGeom prst="rect">
            <a:avLst/>
          </a:prstGeom>
          <a:noFill/>
        </p:spPr>
        <p:txBody>
          <a:bodyPr wrap="square" lIns="27432" tIns="9144" rIns="27432" bIns="9144" anchor="t">
            <a:spAutoFit/>
          </a:bodyPr>
          <a:lstStyle/>
          <a:p>
            <a:pPr algn="l"/>
            <a:r>
              <a:rPr sz="850" b="0" i="0">
                <a:solidFill>
                  <a:srgbClr val="404040"/>
                </a:solidFill>
                <a:latin typeface="Calibri"/>
              </a:rPr>
              <a:t>Breast HER2-positive share</a:t>
            </a:r>
          </a:p>
        </p:txBody>
      </p:sp>
      <p:sp>
        <p:nvSpPr>
          <p:cNvPr id="20" name="TextBox 19"/>
          <p:cNvSpPr txBox="1"/>
          <p:nvPr/>
        </p:nvSpPr>
        <p:spPr>
          <a:xfrm>
            <a:off x="7331659" y="1581912"/>
            <a:ext cx="2273198" cy="310896"/>
          </a:xfrm>
          <a:prstGeom prst="rect">
            <a:avLst/>
          </a:prstGeom>
          <a:noFill/>
        </p:spPr>
        <p:txBody>
          <a:bodyPr wrap="square" lIns="27432" tIns="9144" rIns="27432" bIns="9144" anchor="t">
            <a:spAutoFit/>
          </a:bodyPr>
          <a:lstStyle/>
          <a:p>
            <a:pPr algn="l"/>
            <a:r>
              <a:rPr sz="1800" b="1" i="0">
                <a:solidFill>
                  <a:srgbClr val="0E3A66"/>
                </a:solidFill>
                <a:latin typeface="Calibri"/>
              </a:rPr>
              <a:t>15%</a:t>
            </a:r>
          </a:p>
        </p:txBody>
      </p:sp>
      <p:sp>
        <p:nvSpPr>
          <p:cNvPr id="21" name="TextBox 20"/>
          <p:cNvSpPr txBox="1"/>
          <p:nvPr/>
        </p:nvSpPr>
        <p:spPr>
          <a:xfrm>
            <a:off x="7331659" y="1865376"/>
            <a:ext cx="2273198" cy="182880"/>
          </a:xfrm>
          <a:prstGeom prst="rect">
            <a:avLst/>
          </a:prstGeom>
          <a:noFill/>
        </p:spPr>
        <p:txBody>
          <a:bodyPr wrap="square" lIns="27432" tIns="9144" rIns="27432" bIns="9144" anchor="t">
            <a:spAutoFit/>
          </a:bodyPr>
          <a:lstStyle/>
          <a:p>
            <a:pPr algn="l"/>
            <a:r>
              <a:rPr sz="700" b="0" i="1">
                <a:solidFill>
                  <a:srgbClr val="7F7F7F"/>
                </a:solidFill>
                <a:latin typeface="Calibri"/>
              </a:rPr>
              <a:t>IHC 3+ and 2+/ISH+, registry based</a:t>
            </a:r>
          </a:p>
        </p:txBody>
      </p:sp>
      <p:cxnSp>
        <p:nvCxnSpPr>
          <p:cNvPr id="22" name="Connector 21"/>
          <p:cNvCxnSpPr/>
          <p:nvPr/>
        </p:nvCxnSpPr>
        <p:spPr>
          <a:xfrm>
            <a:off x="9641433" y="1426464"/>
            <a:ext cx="0" cy="585216"/>
          </a:xfrm>
          <a:prstGeom prst="line">
            <a:avLst/>
          </a:prstGeom>
          <a:ln w="9525">
            <a:solidFill>
              <a:srgbClr val="D0D7E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96297" y="1399032"/>
            <a:ext cx="2273198" cy="201168"/>
          </a:xfrm>
          <a:prstGeom prst="rect">
            <a:avLst/>
          </a:prstGeom>
          <a:noFill/>
        </p:spPr>
        <p:txBody>
          <a:bodyPr wrap="square" lIns="27432" tIns="9144" rIns="27432" bIns="9144" anchor="t">
            <a:spAutoFit/>
          </a:bodyPr>
          <a:lstStyle/>
          <a:p>
            <a:pPr algn="l"/>
            <a:r>
              <a:rPr sz="850" b="0" i="0">
                <a:solidFill>
                  <a:srgbClr val="404040"/>
                </a:solidFill>
                <a:latin typeface="Calibri"/>
              </a:rPr>
              <a:t>Gastric HER2-low / HER2-positive</a:t>
            </a:r>
          </a:p>
        </p:txBody>
      </p:sp>
      <p:sp>
        <p:nvSpPr>
          <p:cNvPr id="24" name="TextBox 23"/>
          <p:cNvSpPr txBox="1"/>
          <p:nvPr/>
        </p:nvSpPr>
        <p:spPr>
          <a:xfrm>
            <a:off x="9696297" y="1581912"/>
            <a:ext cx="2273198" cy="310896"/>
          </a:xfrm>
          <a:prstGeom prst="rect">
            <a:avLst/>
          </a:prstGeom>
          <a:noFill/>
        </p:spPr>
        <p:txBody>
          <a:bodyPr wrap="square" lIns="27432" tIns="9144" rIns="27432" bIns="9144" anchor="t">
            <a:spAutoFit/>
          </a:bodyPr>
          <a:lstStyle/>
          <a:p>
            <a:pPr algn="l"/>
            <a:r>
              <a:rPr sz="1800" b="1" i="0">
                <a:solidFill>
                  <a:srgbClr val="0E3A66"/>
                </a:solidFill>
                <a:latin typeface="Calibri"/>
              </a:rPr>
              <a:t>25% / 20%</a:t>
            </a:r>
          </a:p>
        </p:txBody>
      </p:sp>
      <p:sp>
        <p:nvSpPr>
          <p:cNvPr id="25" name="TextBox 24"/>
          <p:cNvSpPr txBox="1"/>
          <p:nvPr/>
        </p:nvSpPr>
        <p:spPr>
          <a:xfrm>
            <a:off x="9696297" y="1865376"/>
            <a:ext cx="2273198" cy="182880"/>
          </a:xfrm>
          <a:prstGeom prst="rect">
            <a:avLst/>
          </a:prstGeom>
          <a:noFill/>
        </p:spPr>
        <p:txBody>
          <a:bodyPr wrap="square" lIns="27432" tIns="9144" rIns="27432" bIns="9144" anchor="t">
            <a:spAutoFit/>
          </a:bodyPr>
          <a:lstStyle/>
          <a:p>
            <a:pPr algn="l"/>
            <a:r>
              <a:rPr sz="700" b="0" i="1">
                <a:solidFill>
                  <a:srgbClr val="7F7F7F"/>
                </a:solidFill>
                <a:latin typeface="Calibri"/>
              </a:rPr>
              <a:t>AE midpoints of 21 to 28% and 19 to 23%</a:t>
            </a:r>
          </a:p>
        </p:txBody>
      </p:sp>
      <p:cxnSp>
        <p:nvCxnSpPr>
          <p:cNvPr id="26" name="Connector 25"/>
          <p:cNvCxnSpPr/>
          <p:nvPr/>
        </p:nvCxnSpPr>
        <p:spPr>
          <a:xfrm>
            <a:off x="182880" y="2066543"/>
            <a:ext cx="11823192" cy="0"/>
          </a:xfrm>
          <a:prstGeom prst="line">
            <a:avLst/>
          </a:prstGeom>
          <a:ln w="19050">
            <a:solidFill>
              <a:srgbClr val="0E3A66"/>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82880" y="2157984"/>
            <a:ext cx="2770632" cy="3383280"/>
          </a:xfrm>
          <a:prstGeom prst="rect">
            <a:avLst/>
          </a:prstGeom>
          <a:solidFill>
            <a:srgbClr val="FFFFFF"/>
          </a:solidFill>
          <a:ln w="952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82880" y="2157984"/>
            <a:ext cx="2770632"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 y="2157984"/>
            <a:ext cx="2679191" cy="274320"/>
          </a:xfrm>
          <a:prstGeom prst="rect">
            <a:avLst/>
          </a:prstGeom>
          <a:noFill/>
        </p:spPr>
        <p:txBody>
          <a:bodyPr wrap="square" lIns="27432" tIns="9144" rIns="27432" bIns="9144" anchor="ctr">
            <a:spAutoFit/>
          </a:bodyPr>
          <a:lstStyle/>
          <a:p>
            <a:pPr algn="l"/>
            <a:r>
              <a:rPr sz="1000" b="1" i="0">
                <a:solidFill>
                  <a:srgbClr val="FFFFFF"/>
                </a:solidFill>
                <a:latin typeface="Calibri"/>
              </a:rPr>
              <a:t>1. Patient identification</a:t>
            </a:r>
          </a:p>
        </p:txBody>
      </p:sp>
      <p:sp>
        <p:nvSpPr>
          <p:cNvPr id="30" name="Right Arrow 29"/>
          <p:cNvSpPr/>
          <p:nvPr/>
        </p:nvSpPr>
        <p:spPr>
          <a:xfrm>
            <a:off x="3008376" y="3712463"/>
            <a:ext cx="164592" cy="201168"/>
          </a:xfrm>
          <a:prstGeom prst="rightArrow">
            <a:avLst/>
          </a:prstGeom>
          <a:solidFill>
            <a:srgbClr val="0E3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200400" y="2157984"/>
            <a:ext cx="2770632" cy="3383280"/>
          </a:xfrm>
          <a:prstGeom prst="rect">
            <a:avLst/>
          </a:prstGeom>
          <a:solidFill>
            <a:srgbClr val="FFFFFF"/>
          </a:solidFill>
          <a:ln w="952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200400" y="2157984"/>
            <a:ext cx="2770632"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46120" y="2157984"/>
            <a:ext cx="2679191" cy="274320"/>
          </a:xfrm>
          <a:prstGeom prst="rect">
            <a:avLst/>
          </a:prstGeom>
          <a:noFill/>
        </p:spPr>
        <p:txBody>
          <a:bodyPr wrap="square" lIns="27432" tIns="9144" rIns="27432" bIns="9144" anchor="ctr">
            <a:spAutoFit/>
          </a:bodyPr>
          <a:lstStyle/>
          <a:p>
            <a:pPr algn="l"/>
            <a:r>
              <a:rPr sz="1000" b="1" i="0">
                <a:solidFill>
                  <a:srgbClr val="FFFFFF"/>
                </a:solidFill>
                <a:latin typeface="Calibri"/>
              </a:rPr>
              <a:t>2. Biomarker segmentation</a:t>
            </a:r>
          </a:p>
        </p:txBody>
      </p:sp>
      <p:sp>
        <p:nvSpPr>
          <p:cNvPr id="34" name="Right Arrow 33"/>
          <p:cNvSpPr/>
          <p:nvPr/>
        </p:nvSpPr>
        <p:spPr>
          <a:xfrm>
            <a:off x="6025895" y="3712463"/>
            <a:ext cx="164592" cy="201168"/>
          </a:xfrm>
          <a:prstGeom prst="rightArrow">
            <a:avLst/>
          </a:prstGeom>
          <a:solidFill>
            <a:srgbClr val="0E3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2157984"/>
            <a:ext cx="2770632" cy="3383280"/>
          </a:xfrm>
          <a:prstGeom prst="rect">
            <a:avLst/>
          </a:prstGeom>
          <a:solidFill>
            <a:srgbClr val="FFFFFF"/>
          </a:solidFill>
          <a:ln w="952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17920" y="2157984"/>
            <a:ext cx="2770632"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63640" y="2157984"/>
            <a:ext cx="2679191" cy="274320"/>
          </a:xfrm>
          <a:prstGeom prst="rect">
            <a:avLst/>
          </a:prstGeom>
          <a:noFill/>
        </p:spPr>
        <p:txBody>
          <a:bodyPr wrap="square" lIns="27432" tIns="9144" rIns="27432" bIns="9144" anchor="ctr">
            <a:spAutoFit/>
          </a:bodyPr>
          <a:lstStyle/>
          <a:p>
            <a:pPr algn="l"/>
            <a:r>
              <a:rPr sz="1000" b="1" i="0">
                <a:solidFill>
                  <a:srgbClr val="FFFFFF"/>
                </a:solidFill>
                <a:latin typeface="Calibri"/>
              </a:rPr>
              <a:t>3. Vaccine platform</a:t>
            </a:r>
          </a:p>
        </p:txBody>
      </p:sp>
      <p:sp>
        <p:nvSpPr>
          <p:cNvPr id="38" name="Right Arrow 37"/>
          <p:cNvSpPr/>
          <p:nvPr/>
        </p:nvSpPr>
        <p:spPr>
          <a:xfrm>
            <a:off x="9043416" y="3712463"/>
            <a:ext cx="164592" cy="201168"/>
          </a:xfrm>
          <a:prstGeom prst="rightArrow">
            <a:avLst/>
          </a:prstGeom>
          <a:solidFill>
            <a:srgbClr val="0E3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235440" y="2157984"/>
            <a:ext cx="2770632" cy="3383280"/>
          </a:xfrm>
          <a:prstGeom prst="rect">
            <a:avLst/>
          </a:prstGeom>
          <a:solidFill>
            <a:srgbClr val="FFFFFF"/>
          </a:solidFill>
          <a:ln w="9525">
            <a:solidFill>
              <a:srgbClr val="C9D3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235440" y="2157984"/>
            <a:ext cx="2770632" cy="2743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81160" y="2157984"/>
            <a:ext cx="2679191" cy="274320"/>
          </a:xfrm>
          <a:prstGeom prst="rect">
            <a:avLst/>
          </a:prstGeom>
          <a:noFill/>
        </p:spPr>
        <p:txBody>
          <a:bodyPr wrap="square" lIns="27432" tIns="9144" rIns="27432" bIns="9144" anchor="ctr">
            <a:spAutoFit/>
          </a:bodyPr>
          <a:lstStyle/>
          <a:p>
            <a:pPr algn="l"/>
            <a:r>
              <a:rPr sz="1000" b="1" i="0">
                <a:solidFill>
                  <a:srgbClr val="FFFFFF"/>
                </a:solidFill>
                <a:latin typeface="Calibri"/>
              </a:rPr>
              <a:t>4. Development and treatment setting</a:t>
            </a:r>
          </a:p>
        </p:txBody>
      </p:sp>
      <p:sp>
        <p:nvSpPr>
          <p:cNvPr id="42" name="TextBox 41"/>
          <p:cNvSpPr txBox="1"/>
          <p:nvPr/>
        </p:nvSpPr>
        <p:spPr>
          <a:xfrm>
            <a:off x="256032" y="2468879"/>
            <a:ext cx="2624327" cy="384048"/>
          </a:xfrm>
          <a:prstGeom prst="rect">
            <a:avLst/>
          </a:prstGeom>
          <a:noFill/>
        </p:spPr>
        <p:txBody>
          <a:bodyPr wrap="square" lIns="27432" tIns="9144" rIns="27432" bIns="9144" anchor="t">
            <a:spAutoFit/>
          </a:bodyPr>
          <a:lstStyle/>
          <a:p>
            <a:pPr algn="l"/>
            <a:r>
              <a:rPr sz="800" b="0" i="0">
                <a:solidFill>
                  <a:srgbClr val="404040"/>
                </a:solidFill>
                <a:latin typeface="Calibri"/>
              </a:rPr>
              <a:t>Incident breast and gastric/GEJ cases that receive HER2 testing at diagnosis; testing is routine for breast cancer and for advanced gastric cancer.</a:t>
            </a:r>
          </a:p>
        </p:txBody>
      </p:sp>
      <p:sp>
        <p:nvSpPr>
          <p:cNvPr id="43" name="TextBox 42"/>
          <p:cNvSpPr txBox="1"/>
          <p:nvPr/>
        </p:nvSpPr>
        <p:spPr>
          <a:xfrm>
            <a:off x="256032" y="2871215"/>
            <a:ext cx="1097280" cy="164592"/>
          </a:xfrm>
          <a:prstGeom prst="rect">
            <a:avLst/>
          </a:prstGeom>
          <a:noFill/>
        </p:spPr>
        <p:txBody>
          <a:bodyPr wrap="square" lIns="27432" tIns="9144" rIns="27432" bIns="9144" anchor="t">
            <a:spAutoFit/>
          </a:bodyPr>
          <a:lstStyle/>
          <a:p>
            <a:pPr algn="l"/>
            <a:r>
              <a:rPr sz="750" b="1" i="0">
                <a:solidFill>
                  <a:srgbClr val="0E3A66"/>
                </a:solidFill>
                <a:latin typeface="Calibri"/>
              </a:rPr>
              <a:t>Geography</a:t>
            </a:r>
          </a:p>
        </p:txBody>
      </p:sp>
      <p:sp>
        <p:nvSpPr>
          <p:cNvPr id="44" name="TextBox 43"/>
          <p:cNvSpPr txBox="1"/>
          <p:nvPr/>
        </p:nvSpPr>
        <p:spPr>
          <a:xfrm>
            <a:off x="1371600" y="2871215"/>
            <a:ext cx="731520" cy="164592"/>
          </a:xfrm>
          <a:prstGeom prst="rect">
            <a:avLst/>
          </a:prstGeom>
          <a:noFill/>
        </p:spPr>
        <p:txBody>
          <a:bodyPr wrap="square" lIns="27432" tIns="9144" rIns="27432" bIns="9144" anchor="t">
            <a:spAutoFit/>
          </a:bodyPr>
          <a:lstStyle/>
          <a:p>
            <a:pPr algn="r"/>
            <a:r>
              <a:rPr sz="750" b="1" i="0">
                <a:solidFill>
                  <a:srgbClr val="0E3A66"/>
                </a:solidFill>
                <a:latin typeface="Calibri"/>
              </a:rPr>
              <a:t>Breast</a:t>
            </a:r>
          </a:p>
        </p:txBody>
      </p:sp>
      <p:sp>
        <p:nvSpPr>
          <p:cNvPr id="45" name="TextBox 44"/>
          <p:cNvSpPr txBox="1"/>
          <p:nvPr/>
        </p:nvSpPr>
        <p:spPr>
          <a:xfrm>
            <a:off x="2103120" y="2871215"/>
            <a:ext cx="777240" cy="164592"/>
          </a:xfrm>
          <a:prstGeom prst="rect">
            <a:avLst/>
          </a:prstGeom>
          <a:noFill/>
        </p:spPr>
        <p:txBody>
          <a:bodyPr wrap="square" lIns="27432" tIns="9144" rIns="27432" bIns="9144" anchor="t">
            <a:spAutoFit/>
          </a:bodyPr>
          <a:lstStyle/>
          <a:p>
            <a:pPr algn="r"/>
            <a:r>
              <a:rPr sz="750" b="1" i="0">
                <a:solidFill>
                  <a:srgbClr val="0E3A66"/>
                </a:solidFill>
                <a:latin typeface="Calibri"/>
              </a:rPr>
              <a:t>Gastric</a:t>
            </a:r>
          </a:p>
        </p:txBody>
      </p:sp>
      <p:sp>
        <p:nvSpPr>
          <p:cNvPr id="46" name="TextBox 45"/>
          <p:cNvSpPr txBox="1"/>
          <p:nvPr/>
        </p:nvSpPr>
        <p:spPr>
          <a:xfrm>
            <a:off x="256032" y="3054096"/>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US</a:t>
            </a:r>
          </a:p>
        </p:txBody>
      </p:sp>
      <p:sp>
        <p:nvSpPr>
          <p:cNvPr id="47" name="TextBox 46"/>
          <p:cNvSpPr txBox="1"/>
          <p:nvPr/>
        </p:nvSpPr>
        <p:spPr>
          <a:xfrm>
            <a:off x="1371600" y="3054096"/>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289,475</a:t>
            </a:r>
          </a:p>
        </p:txBody>
      </p:sp>
      <p:sp>
        <p:nvSpPr>
          <p:cNvPr id="48" name="TextBox 47"/>
          <p:cNvSpPr txBox="1"/>
          <p:nvPr/>
        </p:nvSpPr>
        <p:spPr>
          <a:xfrm>
            <a:off x="2103120" y="3054096"/>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27,638</a:t>
            </a:r>
          </a:p>
        </p:txBody>
      </p:sp>
      <p:cxnSp>
        <p:nvCxnSpPr>
          <p:cNvPr id="49" name="Connector 48"/>
          <p:cNvCxnSpPr/>
          <p:nvPr/>
        </p:nvCxnSpPr>
        <p:spPr>
          <a:xfrm>
            <a:off x="256032" y="3236976"/>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56032" y="3250691"/>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Europe</a:t>
            </a:r>
          </a:p>
        </p:txBody>
      </p:sp>
      <p:sp>
        <p:nvSpPr>
          <p:cNvPr id="51" name="TextBox 50"/>
          <p:cNvSpPr txBox="1"/>
          <p:nvPr/>
        </p:nvSpPr>
        <p:spPr>
          <a:xfrm>
            <a:off x="1371600" y="3250691"/>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542,140</a:t>
            </a:r>
          </a:p>
        </p:txBody>
      </p:sp>
      <p:sp>
        <p:nvSpPr>
          <p:cNvPr id="52" name="TextBox 51"/>
          <p:cNvSpPr txBox="1"/>
          <p:nvPr/>
        </p:nvSpPr>
        <p:spPr>
          <a:xfrm>
            <a:off x="2103120" y="3250691"/>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137,501</a:t>
            </a:r>
          </a:p>
        </p:txBody>
      </p:sp>
      <p:cxnSp>
        <p:nvCxnSpPr>
          <p:cNvPr id="53" name="Connector 52"/>
          <p:cNvCxnSpPr/>
          <p:nvPr/>
        </p:nvCxnSpPr>
        <p:spPr>
          <a:xfrm>
            <a:off x="256032" y="3433572"/>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56032" y="3447287"/>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China</a:t>
            </a:r>
          </a:p>
        </p:txBody>
      </p:sp>
      <p:sp>
        <p:nvSpPr>
          <p:cNvPr id="55" name="TextBox 54"/>
          <p:cNvSpPr txBox="1"/>
          <p:nvPr/>
        </p:nvSpPr>
        <p:spPr>
          <a:xfrm>
            <a:off x="1371600" y="3447287"/>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375,808</a:t>
            </a:r>
          </a:p>
        </p:txBody>
      </p:sp>
      <p:sp>
        <p:nvSpPr>
          <p:cNvPr id="56" name="TextBox 55"/>
          <p:cNvSpPr txBox="1"/>
          <p:nvPr/>
        </p:nvSpPr>
        <p:spPr>
          <a:xfrm>
            <a:off x="2103120" y="3447287"/>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341,966</a:t>
            </a:r>
          </a:p>
        </p:txBody>
      </p:sp>
      <p:cxnSp>
        <p:nvCxnSpPr>
          <p:cNvPr id="57" name="Connector 56"/>
          <p:cNvCxnSpPr/>
          <p:nvPr/>
        </p:nvCxnSpPr>
        <p:spPr>
          <a:xfrm>
            <a:off x="256032" y="3630168"/>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56032" y="3643883"/>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Japan</a:t>
            </a:r>
          </a:p>
        </p:txBody>
      </p:sp>
      <p:sp>
        <p:nvSpPr>
          <p:cNvPr id="59" name="TextBox 58"/>
          <p:cNvSpPr txBox="1"/>
          <p:nvPr/>
        </p:nvSpPr>
        <p:spPr>
          <a:xfrm>
            <a:off x="1371600" y="3643883"/>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94,402</a:t>
            </a:r>
          </a:p>
        </p:txBody>
      </p:sp>
      <p:sp>
        <p:nvSpPr>
          <p:cNvPr id="60" name="TextBox 59"/>
          <p:cNvSpPr txBox="1"/>
          <p:nvPr/>
        </p:nvSpPr>
        <p:spPr>
          <a:xfrm>
            <a:off x="2103120" y="3643883"/>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142,506</a:t>
            </a:r>
          </a:p>
        </p:txBody>
      </p:sp>
      <p:cxnSp>
        <p:nvCxnSpPr>
          <p:cNvPr id="61" name="Connector 60"/>
          <p:cNvCxnSpPr/>
          <p:nvPr/>
        </p:nvCxnSpPr>
        <p:spPr>
          <a:xfrm>
            <a:off x="256032" y="3826763"/>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56032" y="3840479"/>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Taiwan (2022)</a:t>
            </a:r>
          </a:p>
        </p:txBody>
      </p:sp>
      <p:sp>
        <p:nvSpPr>
          <p:cNvPr id="63" name="TextBox 62"/>
          <p:cNvSpPr txBox="1"/>
          <p:nvPr/>
        </p:nvSpPr>
        <p:spPr>
          <a:xfrm>
            <a:off x="1371600" y="3840479"/>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17,366</a:t>
            </a:r>
          </a:p>
        </p:txBody>
      </p:sp>
      <p:sp>
        <p:nvSpPr>
          <p:cNvPr id="64" name="TextBox 63"/>
          <p:cNvSpPr txBox="1"/>
          <p:nvPr/>
        </p:nvSpPr>
        <p:spPr>
          <a:xfrm>
            <a:off x="2103120" y="3840479"/>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4,377</a:t>
            </a:r>
          </a:p>
        </p:txBody>
      </p:sp>
      <p:cxnSp>
        <p:nvCxnSpPr>
          <p:cNvPr id="65" name="Connector 64"/>
          <p:cNvCxnSpPr/>
          <p:nvPr/>
        </p:nvCxnSpPr>
        <p:spPr>
          <a:xfrm>
            <a:off x="256032" y="4023359"/>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56032" y="4037075"/>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South Korea</a:t>
            </a:r>
          </a:p>
        </p:txBody>
      </p:sp>
      <p:sp>
        <p:nvSpPr>
          <p:cNvPr id="67" name="TextBox 66"/>
          <p:cNvSpPr txBox="1"/>
          <p:nvPr/>
        </p:nvSpPr>
        <p:spPr>
          <a:xfrm>
            <a:off x="1371600" y="4037075"/>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23,573</a:t>
            </a:r>
          </a:p>
        </p:txBody>
      </p:sp>
      <p:sp>
        <p:nvSpPr>
          <p:cNvPr id="68" name="TextBox 67"/>
          <p:cNvSpPr txBox="1"/>
          <p:nvPr/>
        </p:nvSpPr>
        <p:spPr>
          <a:xfrm>
            <a:off x="2103120" y="4037075"/>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27,423</a:t>
            </a:r>
          </a:p>
        </p:txBody>
      </p:sp>
      <p:cxnSp>
        <p:nvCxnSpPr>
          <p:cNvPr id="69" name="Connector 68"/>
          <p:cNvCxnSpPr/>
          <p:nvPr/>
        </p:nvCxnSpPr>
        <p:spPr>
          <a:xfrm>
            <a:off x="256032" y="4219955"/>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56032" y="4233671"/>
            <a:ext cx="1188720" cy="173736"/>
          </a:xfrm>
          <a:prstGeom prst="rect">
            <a:avLst/>
          </a:prstGeom>
          <a:noFill/>
        </p:spPr>
        <p:txBody>
          <a:bodyPr wrap="square" lIns="27432" tIns="9144" rIns="27432" bIns="9144" anchor="t">
            <a:spAutoFit/>
          </a:bodyPr>
          <a:lstStyle/>
          <a:p>
            <a:pPr algn="l"/>
            <a:r>
              <a:rPr sz="750" b="0" i="0">
                <a:solidFill>
                  <a:srgbClr val="404040"/>
                </a:solidFill>
                <a:latin typeface="Calibri"/>
              </a:rPr>
              <a:t>Rest of World (AE)</a:t>
            </a:r>
          </a:p>
        </p:txBody>
      </p:sp>
      <p:sp>
        <p:nvSpPr>
          <p:cNvPr id="71" name="TextBox 70"/>
          <p:cNvSpPr txBox="1"/>
          <p:nvPr/>
        </p:nvSpPr>
        <p:spPr>
          <a:xfrm>
            <a:off x="1371600" y="4233671"/>
            <a:ext cx="731520" cy="173736"/>
          </a:xfrm>
          <a:prstGeom prst="rect">
            <a:avLst/>
          </a:prstGeom>
          <a:noFill/>
        </p:spPr>
        <p:txBody>
          <a:bodyPr wrap="square" lIns="27432" tIns="9144" rIns="27432" bIns="9144" anchor="t">
            <a:spAutoFit/>
          </a:bodyPr>
          <a:lstStyle/>
          <a:p>
            <a:pPr algn="r"/>
            <a:r>
              <a:rPr sz="750" b="0" i="0">
                <a:solidFill>
                  <a:srgbClr val="404040"/>
                </a:solidFill>
                <a:latin typeface="Calibri"/>
              </a:rPr>
              <a:t>1,091,323</a:t>
            </a:r>
          </a:p>
        </p:txBody>
      </p:sp>
      <p:sp>
        <p:nvSpPr>
          <p:cNvPr id="72" name="TextBox 71"/>
          <p:cNvSpPr txBox="1"/>
          <p:nvPr/>
        </p:nvSpPr>
        <p:spPr>
          <a:xfrm>
            <a:off x="2103120" y="4233671"/>
            <a:ext cx="777240" cy="173736"/>
          </a:xfrm>
          <a:prstGeom prst="rect">
            <a:avLst/>
          </a:prstGeom>
          <a:noFill/>
        </p:spPr>
        <p:txBody>
          <a:bodyPr wrap="square" lIns="27432" tIns="9144" rIns="27432" bIns="9144" anchor="t">
            <a:spAutoFit/>
          </a:bodyPr>
          <a:lstStyle/>
          <a:p>
            <a:pPr algn="r"/>
            <a:r>
              <a:rPr sz="750" b="0" i="0">
                <a:solidFill>
                  <a:srgbClr val="404040"/>
                </a:solidFill>
                <a:latin typeface="Calibri"/>
              </a:rPr>
              <a:t>298,875</a:t>
            </a:r>
          </a:p>
        </p:txBody>
      </p:sp>
      <p:cxnSp>
        <p:nvCxnSpPr>
          <p:cNvPr id="73" name="Connector 72"/>
          <p:cNvCxnSpPr/>
          <p:nvPr/>
        </p:nvCxnSpPr>
        <p:spPr>
          <a:xfrm>
            <a:off x="256032" y="4416551"/>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56032" y="4430267"/>
            <a:ext cx="1188720" cy="173736"/>
          </a:xfrm>
          <a:prstGeom prst="rect">
            <a:avLst/>
          </a:prstGeom>
          <a:noFill/>
        </p:spPr>
        <p:txBody>
          <a:bodyPr wrap="square" lIns="27432" tIns="9144" rIns="27432" bIns="9144" anchor="t">
            <a:spAutoFit/>
          </a:bodyPr>
          <a:lstStyle/>
          <a:p>
            <a:pPr algn="l"/>
            <a:r>
              <a:rPr sz="750" b="1" i="0">
                <a:solidFill>
                  <a:srgbClr val="404040"/>
                </a:solidFill>
                <a:latin typeface="Calibri"/>
              </a:rPr>
              <a:t>World</a:t>
            </a:r>
          </a:p>
        </p:txBody>
      </p:sp>
      <p:sp>
        <p:nvSpPr>
          <p:cNvPr id="75" name="TextBox 74"/>
          <p:cNvSpPr txBox="1"/>
          <p:nvPr/>
        </p:nvSpPr>
        <p:spPr>
          <a:xfrm>
            <a:off x="1371600" y="4430267"/>
            <a:ext cx="731520" cy="173736"/>
          </a:xfrm>
          <a:prstGeom prst="rect">
            <a:avLst/>
          </a:prstGeom>
          <a:noFill/>
        </p:spPr>
        <p:txBody>
          <a:bodyPr wrap="square" lIns="27432" tIns="9144" rIns="27432" bIns="9144" anchor="t">
            <a:spAutoFit/>
          </a:bodyPr>
          <a:lstStyle/>
          <a:p>
            <a:pPr algn="r"/>
            <a:r>
              <a:rPr sz="750" b="1" i="0">
                <a:solidFill>
                  <a:srgbClr val="404040"/>
                </a:solidFill>
                <a:latin typeface="Calibri"/>
              </a:rPr>
              <a:t>2,434,087</a:t>
            </a:r>
          </a:p>
        </p:txBody>
      </p:sp>
      <p:sp>
        <p:nvSpPr>
          <p:cNvPr id="76" name="TextBox 75"/>
          <p:cNvSpPr txBox="1"/>
          <p:nvPr/>
        </p:nvSpPr>
        <p:spPr>
          <a:xfrm>
            <a:off x="2103120" y="4430267"/>
            <a:ext cx="777240" cy="173736"/>
          </a:xfrm>
          <a:prstGeom prst="rect">
            <a:avLst/>
          </a:prstGeom>
          <a:noFill/>
        </p:spPr>
        <p:txBody>
          <a:bodyPr wrap="square" lIns="27432" tIns="9144" rIns="27432" bIns="9144" anchor="t">
            <a:spAutoFit/>
          </a:bodyPr>
          <a:lstStyle/>
          <a:p>
            <a:pPr algn="r"/>
            <a:r>
              <a:rPr sz="750" b="1" i="0">
                <a:solidFill>
                  <a:srgbClr val="404040"/>
                </a:solidFill>
                <a:latin typeface="Calibri"/>
              </a:rPr>
              <a:t>980,286</a:t>
            </a:r>
          </a:p>
        </p:txBody>
      </p:sp>
      <p:cxnSp>
        <p:nvCxnSpPr>
          <p:cNvPr id="77" name="Connector 76"/>
          <p:cNvCxnSpPr/>
          <p:nvPr/>
        </p:nvCxnSpPr>
        <p:spPr>
          <a:xfrm>
            <a:off x="256032" y="4613147"/>
            <a:ext cx="2624328"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256032" y="4700016"/>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RELEVANT DEVELOPERS</a:t>
            </a:r>
          </a:p>
        </p:txBody>
      </p:sp>
      <p:sp>
        <p:nvSpPr>
          <p:cNvPr id="79" name="TextBox 78"/>
          <p:cNvSpPr txBox="1"/>
          <p:nvPr/>
        </p:nvSpPr>
        <p:spPr>
          <a:xfrm>
            <a:off x="256032" y="4855464"/>
            <a:ext cx="2624327" cy="274320"/>
          </a:xfrm>
          <a:prstGeom prst="rect">
            <a:avLst/>
          </a:prstGeom>
          <a:noFill/>
        </p:spPr>
        <p:txBody>
          <a:bodyPr wrap="square" lIns="27432" tIns="9144" rIns="27432" bIns="9144" anchor="t">
            <a:spAutoFit/>
          </a:bodyPr>
          <a:lstStyle/>
          <a:p>
            <a:pPr algn="l"/>
            <a:r>
              <a:rPr sz="800" b="0" i="0">
                <a:solidFill>
                  <a:srgbClr val="404040"/>
                </a:solidFill>
                <a:latin typeface="Calibri"/>
              </a:rPr>
              <a:t>All; trial eligibility starts from HER2 testing results.</a:t>
            </a:r>
          </a:p>
        </p:txBody>
      </p:sp>
      <p:sp>
        <p:nvSpPr>
          <p:cNvPr id="80" name="TextBox 79"/>
          <p:cNvSpPr txBox="1"/>
          <p:nvPr/>
        </p:nvSpPr>
        <p:spPr>
          <a:xfrm>
            <a:off x="256032" y="5084064"/>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COMMERCIAL IMPLICATION</a:t>
            </a:r>
          </a:p>
        </p:txBody>
      </p:sp>
      <p:sp>
        <p:nvSpPr>
          <p:cNvPr id="81" name="TextBox 80"/>
          <p:cNvSpPr txBox="1"/>
          <p:nvPr/>
        </p:nvSpPr>
        <p:spPr>
          <a:xfrm>
            <a:off x="256032" y="5230368"/>
            <a:ext cx="2624327" cy="310896"/>
          </a:xfrm>
          <a:prstGeom prst="rect">
            <a:avLst/>
          </a:prstGeom>
          <a:noFill/>
        </p:spPr>
        <p:txBody>
          <a:bodyPr wrap="square" lIns="27432" tIns="9144" rIns="27432" bIns="9144" anchor="t">
            <a:spAutoFit/>
          </a:bodyPr>
          <a:lstStyle/>
          <a:p>
            <a:pPr algn="l"/>
            <a:r>
              <a:rPr sz="800" b="0" i="0">
                <a:solidFill>
                  <a:srgbClr val="404040"/>
                </a:solidFill>
                <a:latin typeface="Calibri"/>
              </a:rPr>
              <a:t>Breast volume is 2.5 times gastric; China and Japan hold half of gastric cases.</a:t>
            </a:r>
          </a:p>
        </p:txBody>
      </p:sp>
      <p:sp>
        <p:nvSpPr>
          <p:cNvPr id="82" name="TextBox 81"/>
          <p:cNvSpPr txBox="1"/>
          <p:nvPr/>
        </p:nvSpPr>
        <p:spPr>
          <a:xfrm>
            <a:off x="3273552" y="2468879"/>
            <a:ext cx="2624327" cy="384048"/>
          </a:xfrm>
          <a:prstGeom prst="rect">
            <a:avLst/>
          </a:prstGeom>
          <a:noFill/>
        </p:spPr>
        <p:txBody>
          <a:bodyPr wrap="square" lIns="27432" tIns="9144" rIns="27432" bIns="9144" anchor="t">
            <a:spAutoFit/>
          </a:bodyPr>
          <a:lstStyle/>
          <a:p>
            <a:pPr algn="l"/>
            <a:r>
              <a:rPr sz="800" b="0" i="0">
                <a:solidFill>
                  <a:srgbClr val="404040"/>
                </a:solidFill>
                <a:latin typeface="Calibri"/>
              </a:rPr>
              <a:t>Five mutually exclusive HER2 groups; the vaccine opportunity depends on which groups a trial admits.</a:t>
            </a:r>
          </a:p>
        </p:txBody>
      </p:sp>
      <p:sp>
        <p:nvSpPr>
          <p:cNvPr id="83" name="TextBox 82"/>
          <p:cNvSpPr txBox="1"/>
          <p:nvPr/>
        </p:nvSpPr>
        <p:spPr>
          <a:xfrm>
            <a:off x="3273552" y="2852928"/>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BREAST CANCER, SHARE OF CASES</a:t>
            </a:r>
          </a:p>
        </p:txBody>
      </p:sp>
      <p:sp>
        <p:nvSpPr>
          <p:cNvPr id="84" name="TextBox 83"/>
          <p:cNvSpPr txBox="1"/>
          <p:nvPr/>
        </p:nvSpPr>
        <p:spPr>
          <a:xfrm>
            <a:off x="3273552" y="3026663"/>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0</a:t>
            </a:r>
          </a:p>
        </p:txBody>
      </p:sp>
      <p:sp>
        <p:nvSpPr>
          <p:cNvPr id="85" name="Rectangle 84"/>
          <p:cNvSpPr/>
          <p:nvPr/>
        </p:nvSpPr>
        <p:spPr>
          <a:xfrm>
            <a:off x="4297680" y="3063239"/>
            <a:ext cx="1209751" cy="100584"/>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525719" y="3026663"/>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34.3%</a:t>
            </a:r>
          </a:p>
        </p:txBody>
      </p:sp>
      <p:sp>
        <p:nvSpPr>
          <p:cNvPr id="87" name="TextBox 86"/>
          <p:cNvSpPr txBox="1"/>
          <p:nvPr/>
        </p:nvSpPr>
        <p:spPr>
          <a:xfrm>
            <a:off x="3273552" y="3209544"/>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1+</a:t>
            </a:r>
          </a:p>
        </p:txBody>
      </p:sp>
      <p:sp>
        <p:nvSpPr>
          <p:cNvPr id="88" name="Rectangle 87"/>
          <p:cNvSpPr/>
          <p:nvPr/>
        </p:nvSpPr>
        <p:spPr>
          <a:xfrm>
            <a:off x="4297680" y="3246120"/>
            <a:ext cx="1209751" cy="100584"/>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525719" y="3209544"/>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34.3%</a:t>
            </a:r>
          </a:p>
        </p:txBody>
      </p:sp>
      <p:sp>
        <p:nvSpPr>
          <p:cNvPr id="90" name="TextBox 89"/>
          <p:cNvSpPr txBox="1"/>
          <p:nvPr/>
        </p:nvSpPr>
        <p:spPr>
          <a:xfrm>
            <a:off x="3273552" y="3392424"/>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2+/ISH-</a:t>
            </a:r>
          </a:p>
        </p:txBody>
      </p:sp>
      <p:sp>
        <p:nvSpPr>
          <p:cNvPr id="91" name="Rectangle 90"/>
          <p:cNvSpPr/>
          <p:nvPr/>
        </p:nvSpPr>
        <p:spPr>
          <a:xfrm>
            <a:off x="4297680" y="3429000"/>
            <a:ext cx="578423" cy="100584"/>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894391" y="3392424"/>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16.4%</a:t>
            </a:r>
          </a:p>
        </p:txBody>
      </p:sp>
      <p:sp>
        <p:nvSpPr>
          <p:cNvPr id="93" name="TextBox 92"/>
          <p:cNvSpPr txBox="1"/>
          <p:nvPr/>
        </p:nvSpPr>
        <p:spPr>
          <a:xfrm>
            <a:off x="3273552" y="3575304"/>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2+/ISH+ (AE)</a:t>
            </a:r>
          </a:p>
        </p:txBody>
      </p:sp>
      <p:sp>
        <p:nvSpPr>
          <p:cNvPr id="94" name="Rectangle 93"/>
          <p:cNvSpPr/>
          <p:nvPr/>
        </p:nvSpPr>
        <p:spPr>
          <a:xfrm>
            <a:off x="4297680" y="3611880"/>
            <a:ext cx="105809" cy="100584"/>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421777" y="3575304"/>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3.0%</a:t>
            </a:r>
          </a:p>
        </p:txBody>
      </p:sp>
      <p:sp>
        <p:nvSpPr>
          <p:cNvPr id="96" name="TextBox 95"/>
          <p:cNvSpPr txBox="1"/>
          <p:nvPr/>
        </p:nvSpPr>
        <p:spPr>
          <a:xfrm>
            <a:off x="3273552" y="3758184"/>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3+ (AE)</a:t>
            </a:r>
          </a:p>
        </p:txBody>
      </p:sp>
      <p:sp>
        <p:nvSpPr>
          <p:cNvPr id="97" name="Rectangle 96"/>
          <p:cNvSpPr/>
          <p:nvPr/>
        </p:nvSpPr>
        <p:spPr>
          <a:xfrm>
            <a:off x="4297680" y="3794760"/>
            <a:ext cx="423236" cy="100584"/>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739204" y="3758184"/>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12.0%</a:t>
            </a:r>
          </a:p>
        </p:txBody>
      </p:sp>
      <p:sp>
        <p:nvSpPr>
          <p:cNvPr id="99" name="TextBox 98"/>
          <p:cNvSpPr txBox="1"/>
          <p:nvPr/>
        </p:nvSpPr>
        <p:spPr>
          <a:xfrm>
            <a:off x="3273552" y="3977640"/>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GASTRIC/GEJ, SHARE OF CASES (AE)</a:t>
            </a:r>
          </a:p>
        </p:txBody>
      </p:sp>
      <p:sp>
        <p:nvSpPr>
          <p:cNvPr id="100" name="TextBox 99"/>
          <p:cNvSpPr txBox="1"/>
          <p:nvPr/>
        </p:nvSpPr>
        <p:spPr>
          <a:xfrm>
            <a:off x="3273552" y="4151376"/>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IHC 0</a:t>
            </a:r>
          </a:p>
        </p:txBody>
      </p:sp>
      <p:sp>
        <p:nvSpPr>
          <p:cNvPr id="101" name="Rectangle 100"/>
          <p:cNvSpPr/>
          <p:nvPr/>
        </p:nvSpPr>
        <p:spPr>
          <a:xfrm>
            <a:off x="4297680" y="4187952"/>
            <a:ext cx="1131570" cy="10058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47538" y="4151376"/>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55%</a:t>
            </a:r>
          </a:p>
        </p:txBody>
      </p:sp>
      <p:sp>
        <p:nvSpPr>
          <p:cNvPr id="103" name="TextBox 102"/>
          <p:cNvSpPr txBox="1"/>
          <p:nvPr/>
        </p:nvSpPr>
        <p:spPr>
          <a:xfrm>
            <a:off x="3273552" y="4334256"/>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HER2-low</a:t>
            </a:r>
          </a:p>
        </p:txBody>
      </p:sp>
      <p:sp>
        <p:nvSpPr>
          <p:cNvPr id="104" name="Rectangle 103"/>
          <p:cNvSpPr/>
          <p:nvPr/>
        </p:nvSpPr>
        <p:spPr>
          <a:xfrm>
            <a:off x="4297680" y="4370832"/>
            <a:ext cx="514350" cy="10058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830318" y="4334256"/>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25%</a:t>
            </a:r>
          </a:p>
        </p:txBody>
      </p:sp>
      <p:sp>
        <p:nvSpPr>
          <p:cNvPr id="106" name="TextBox 105"/>
          <p:cNvSpPr txBox="1"/>
          <p:nvPr/>
        </p:nvSpPr>
        <p:spPr>
          <a:xfrm>
            <a:off x="3273552" y="4517136"/>
            <a:ext cx="960120" cy="164592"/>
          </a:xfrm>
          <a:prstGeom prst="rect">
            <a:avLst/>
          </a:prstGeom>
          <a:noFill/>
        </p:spPr>
        <p:txBody>
          <a:bodyPr wrap="square" lIns="27432" tIns="9144" rIns="27432" bIns="9144" anchor="t">
            <a:spAutoFit/>
          </a:bodyPr>
          <a:lstStyle/>
          <a:p>
            <a:pPr algn="l"/>
            <a:r>
              <a:rPr sz="750" b="0" i="0">
                <a:solidFill>
                  <a:srgbClr val="404040"/>
                </a:solidFill>
                <a:latin typeface="Calibri"/>
              </a:rPr>
              <a:t>HER2-positive</a:t>
            </a:r>
          </a:p>
        </p:txBody>
      </p:sp>
      <p:sp>
        <p:nvSpPr>
          <p:cNvPr id="107" name="Rectangle 106"/>
          <p:cNvSpPr/>
          <p:nvPr/>
        </p:nvSpPr>
        <p:spPr>
          <a:xfrm>
            <a:off x="4297680" y="4553712"/>
            <a:ext cx="411480" cy="10058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4727448" y="4517136"/>
            <a:ext cx="457200" cy="164592"/>
          </a:xfrm>
          <a:prstGeom prst="rect">
            <a:avLst/>
          </a:prstGeom>
          <a:noFill/>
        </p:spPr>
        <p:txBody>
          <a:bodyPr wrap="square" lIns="27432" tIns="9144" rIns="27432" bIns="9144" anchor="t">
            <a:spAutoFit/>
          </a:bodyPr>
          <a:lstStyle/>
          <a:p>
            <a:pPr algn="l"/>
            <a:r>
              <a:rPr sz="750" b="1" i="0">
                <a:solidFill>
                  <a:srgbClr val="404040"/>
                </a:solidFill>
                <a:latin typeface="Calibri"/>
              </a:rPr>
              <a:t>20%</a:t>
            </a:r>
          </a:p>
        </p:txBody>
      </p:sp>
      <p:sp>
        <p:nvSpPr>
          <p:cNvPr id="109" name="TextBox 108"/>
          <p:cNvSpPr txBox="1"/>
          <p:nvPr/>
        </p:nvSpPr>
        <p:spPr>
          <a:xfrm>
            <a:off x="3273552" y="4700016"/>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RELEVANT DEVELOPERS</a:t>
            </a:r>
          </a:p>
        </p:txBody>
      </p:sp>
      <p:sp>
        <p:nvSpPr>
          <p:cNvPr id="110" name="TextBox 109"/>
          <p:cNvSpPr txBox="1"/>
          <p:nvPr/>
        </p:nvSpPr>
        <p:spPr>
          <a:xfrm>
            <a:off x="3273552" y="4855464"/>
            <a:ext cx="2624327" cy="274320"/>
          </a:xfrm>
          <a:prstGeom prst="rect">
            <a:avLst/>
          </a:prstGeom>
          <a:noFill/>
        </p:spPr>
        <p:txBody>
          <a:bodyPr wrap="square" lIns="27432" tIns="9144" rIns="27432" bIns="9144" anchor="t">
            <a:spAutoFit/>
          </a:bodyPr>
          <a:lstStyle/>
          <a:p>
            <a:pPr algn="l"/>
            <a:r>
              <a:rPr sz="800" b="0" i="0">
                <a:solidFill>
                  <a:srgbClr val="404040"/>
                </a:solidFill>
                <a:latin typeface="Calibri"/>
              </a:rPr>
              <a:t>HER2-low: ExpreS2ion, Aston Sci. HER2-positive: all direct.</a:t>
            </a:r>
          </a:p>
        </p:txBody>
      </p:sp>
      <p:sp>
        <p:nvSpPr>
          <p:cNvPr id="111" name="TextBox 110"/>
          <p:cNvSpPr txBox="1"/>
          <p:nvPr/>
        </p:nvSpPr>
        <p:spPr>
          <a:xfrm>
            <a:off x="3273552" y="5084064"/>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COMMERCIAL IMPLICATION</a:t>
            </a:r>
          </a:p>
        </p:txBody>
      </p:sp>
      <p:sp>
        <p:nvSpPr>
          <p:cNvPr id="112" name="TextBox 111"/>
          <p:cNvSpPr txBox="1"/>
          <p:nvPr/>
        </p:nvSpPr>
        <p:spPr>
          <a:xfrm>
            <a:off x="3273552" y="5230368"/>
            <a:ext cx="2624327" cy="310896"/>
          </a:xfrm>
          <a:prstGeom prst="rect">
            <a:avLst/>
          </a:prstGeom>
          <a:noFill/>
        </p:spPr>
        <p:txBody>
          <a:bodyPr wrap="square" lIns="27432" tIns="9144" rIns="27432" bIns="9144" anchor="t">
            <a:spAutoFit/>
          </a:bodyPr>
          <a:lstStyle/>
          <a:p>
            <a:pPr algn="l"/>
            <a:r>
              <a:rPr sz="800" b="0" i="0">
                <a:solidFill>
                  <a:srgbClr val="404040"/>
                </a:solidFill>
                <a:latin typeface="Calibri"/>
              </a:rPr>
              <a:t>HER2-low is 3.4 times the HER2-positive breast pool but has one active vaccine.</a:t>
            </a:r>
          </a:p>
        </p:txBody>
      </p:sp>
      <p:sp>
        <p:nvSpPr>
          <p:cNvPr id="113" name="TextBox 112"/>
          <p:cNvSpPr txBox="1"/>
          <p:nvPr/>
        </p:nvSpPr>
        <p:spPr>
          <a:xfrm>
            <a:off x="6291072" y="2468879"/>
            <a:ext cx="2624327" cy="384048"/>
          </a:xfrm>
          <a:prstGeom prst="rect">
            <a:avLst/>
          </a:prstGeom>
          <a:noFill/>
        </p:spPr>
        <p:txBody>
          <a:bodyPr wrap="square" lIns="27432" tIns="9144" rIns="27432" bIns="9144" anchor="t">
            <a:spAutoFit/>
          </a:bodyPr>
          <a:lstStyle/>
          <a:p>
            <a:pPr algn="l"/>
            <a:r>
              <a:rPr sz="800" b="0" i="0">
                <a:solidFill>
                  <a:srgbClr val="404040"/>
                </a:solidFill>
                <a:latin typeface="Calibri"/>
              </a:rPr>
              <a:t>How the HER2 antigen is delivered; drives manufacturing, cost of goods and combination fit.</a:t>
            </a:r>
          </a:p>
        </p:txBody>
      </p:sp>
      <p:sp>
        <p:nvSpPr>
          <p:cNvPr id="114" name="Rectangle 113"/>
          <p:cNvSpPr/>
          <p:nvPr/>
        </p:nvSpPr>
        <p:spPr>
          <a:xfrm>
            <a:off x="6291072" y="2935224"/>
            <a:ext cx="91440" cy="9144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6419088" y="2889504"/>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Plasmid DNA</a:t>
            </a:r>
          </a:p>
        </p:txBody>
      </p:sp>
      <p:sp>
        <p:nvSpPr>
          <p:cNvPr id="116" name="TextBox 115"/>
          <p:cNvSpPr txBox="1"/>
          <p:nvPr/>
        </p:nvSpPr>
        <p:spPr>
          <a:xfrm>
            <a:off x="7269479" y="2889504"/>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AST-301 (Ph II), WOKVAC (Ph II)</a:t>
            </a:r>
          </a:p>
        </p:txBody>
      </p:sp>
      <p:sp>
        <p:nvSpPr>
          <p:cNvPr id="117" name="Rectangle 116"/>
          <p:cNvSpPr/>
          <p:nvPr/>
        </p:nvSpPr>
        <p:spPr>
          <a:xfrm>
            <a:off x="6291072" y="3172968"/>
            <a:ext cx="91440" cy="91440"/>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419088" y="3127248"/>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mRNA</a:t>
            </a:r>
          </a:p>
        </p:txBody>
      </p:sp>
      <p:sp>
        <p:nvSpPr>
          <p:cNvPr id="119" name="TextBox 118"/>
          <p:cNvSpPr txBox="1"/>
          <p:nvPr/>
        </p:nvSpPr>
        <p:spPr>
          <a:xfrm>
            <a:off x="7269479" y="3127248"/>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No HER2 program; adjacent INT only</a:t>
            </a:r>
          </a:p>
        </p:txBody>
      </p:sp>
      <p:sp>
        <p:nvSpPr>
          <p:cNvPr id="120" name="Rectangle 119"/>
          <p:cNvSpPr/>
          <p:nvPr/>
        </p:nvSpPr>
        <p:spPr>
          <a:xfrm>
            <a:off x="6291072" y="3410711"/>
            <a:ext cx="91440" cy="9144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419088" y="3364991"/>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Peptide</a:t>
            </a:r>
          </a:p>
        </p:txBody>
      </p:sp>
      <p:sp>
        <p:nvSpPr>
          <p:cNvPr id="122" name="TextBox 121"/>
          <p:cNvSpPr txBox="1"/>
          <p:nvPr/>
        </p:nvSpPr>
        <p:spPr>
          <a:xfrm>
            <a:off x="7269479" y="3364991"/>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GLSI-100 (Ph III), H2NVAC (Ph Ib)</a:t>
            </a:r>
          </a:p>
        </p:txBody>
      </p:sp>
      <p:sp>
        <p:nvSpPr>
          <p:cNvPr id="123" name="Rectangle 122"/>
          <p:cNvSpPr/>
          <p:nvPr/>
        </p:nvSpPr>
        <p:spPr>
          <a:xfrm>
            <a:off x="6291072" y="3648455"/>
            <a:ext cx="91440" cy="9144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6419088" y="3602735"/>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Protein / VLP</a:t>
            </a:r>
          </a:p>
        </p:txBody>
      </p:sp>
      <p:sp>
        <p:nvSpPr>
          <p:cNvPr id="125" name="TextBox 124"/>
          <p:cNvSpPr txBox="1"/>
          <p:nvPr/>
        </p:nvSpPr>
        <p:spPr>
          <a:xfrm>
            <a:off x="7269479" y="3602735"/>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ES2B-C001 (Ph I)</a:t>
            </a:r>
          </a:p>
        </p:txBody>
      </p:sp>
      <p:sp>
        <p:nvSpPr>
          <p:cNvPr id="126" name="Rectangle 125"/>
          <p:cNvSpPr/>
          <p:nvPr/>
        </p:nvSpPr>
        <p:spPr>
          <a:xfrm>
            <a:off x="6291072" y="3886199"/>
            <a:ext cx="91440" cy="9144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6419088" y="3840479"/>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Dendritic cell</a:t>
            </a:r>
          </a:p>
        </p:txBody>
      </p:sp>
      <p:sp>
        <p:nvSpPr>
          <p:cNvPr id="128" name="TextBox 127"/>
          <p:cNvSpPr txBox="1"/>
          <p:nvPr/>
        </p:nvSpPr>
        <p:spPr>
          <a:xfrm>
            <a:off x="7269479" y="3840479"/>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HER2 DC1, Moffitt (Ph II)</a:t>
            </a:r>
          </a:p>
        </p:txBody>
      </p:sp>
      <p:sp>
        <p:nvSpPr>
          <p:cNvPr id="129" name="Rectangle 128"/>
          <p:cNvSpPr/>
          <p:nvPr/>
        </p:nvSpPr>
        <p:spPr>
          <a:xfrm>
            <a:off x="6291072" y="4123943"/>
            <a:ext cx="91440" cy="91440"/>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6419088" y="4078223"/>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Viral vector</a:t>
            </a:r>
          </a:p>
        </p:txBody>
      </p:sp>
      <p:sp>
        <p:nvSpPr>
          <p:cNvPr id="131" name="TextBox 130"/>
          <p:cNvSpPr txBox="1"/>
          <p:nvPr/>
        </p:nvSpPr>
        <p:spPr>
          <a:xfrm>
            <a:off x="7269479" y="4078223"/>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No active HER2 program verified</a:t>
            </a:r>
          </a:p>
        </p:txBody>
      </p:sp>
      <p:sp>
        <p:nvSpPr>
          <p:cNvPr id="132" name="Rectangle 131"/>
          <p:cNvSpPr/>
          <p:nvPr/>
        </p:nvSpPr>
        <p:spPr>
          <a:xfrm>
            <a:off x="6291072" y="4361687"/>
            <a:ext cx="91440" cy="91440"/>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6419088" y="4315967"/>
            <a:ext cx="868680" cy="182880"/>
          </a:xfrm>
          <a:prstGeom prst="rect">
            <a:avLst/>
          </a:prstGeom>
          <a:noFill/>
        </p:spPr>
        <p:txBody>
          <a:bodyPr wrap="square" lIns="27432" tIns="9144" rIns="27432" bIns="9144" anchor="t">
            <a:spAutoFit/>
          </a:bodyPr>
          <a:lstStyle/>
          <a:p>
            <a:pPr algn="l"/>
            <a:r>
              <a:rPr sz="750" b="1" i="0">
                <a:solidFill>
                  <a:srgbClr val="404040"/>
                </a:solidFill>
                <a:latin typeface="Calibri"/>
              </a:rPr>
              <a:t>Other: whole cell</a:t>
            </a:r>
          </a:p>
        </p:txBody>
      </p:sp>
      <p:sp>
        <p:nvSpPr>
          <p:cNvPr id="134" name="TextBox 133"/>
          <p:cNvSpPr txBox="1"/>
          <p:nvPr/>
        </p:nvSpPr>
        <p:spPr>
          <a:xfrm>
            <a:off x="7269479" y="4315967"/>
            <a:ext cx="1673351" cy="182880"/>
          </a:xfrm>
          <a:prstGeom prst="rect">
            <a:avLst/>
          </a:prstGeom>
          <a:noFill/>
        </p:spPr>
        <p:txBody>
          <a:bodyPr wrap="square" lIns="27432" tIns="9144" rIns="27432" bIns="9144" anchor="t">
            <a:spAutoFit/>
          </a:bodyPr>
          <a:lstStyle/>
          <a:p>
            <a:pPr algn="l"/>
            <a:r>
              <a:rPr sz="750" b="0" i="0">
                <a:solidFill>
                  <a:srgbClr val="404040"/>
                </a:solidFill>
                <a:latin typeface="Calibri"/>
              </a:rPr>
              <a:t>Bria-IMT (Ph III, indirect)</a:t>
            </a:r>
          </a:p>
        </p:txBody>
      </p:sp>
      <p:sp>
        <p:nvSpPr>
          <p:cNvPr id="135" name="TextBox 134"/>
          <p:cNvSpPr txBox="1"/>
          <p:nvPr/>
        </p:nvSpPr>
        <p:spPr>
          <a:xfrm>
            <a:off x="6291072" y="4700016"/>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RELEVANT DEVELOPERS</a:t>
            </a:r>
          </a:p>
        </p:txBody>
      </p:sp>
      <p:sp>
        <p:nvSpPr>
          <p:cNvPr id="136" name="TextBox 135"/>
          <p:cNvSpPr txBox="1"/>
          <p:nvPr/>
        </p:nvSpPr>
        <p:spPr>
          <a:xfrm>
            <a:off x="6291072" y="4855464"/>
            <a:ext cx="2624327" cy="274320"/>
          </a:xfrm>
          <a:prstGeom prst="rect">
            <a:avLst/>
          </a:prstGeom>
          <a:noFill/>
        </p:spPr>
        <p:txBody>
          <a:bodyPr wrap="square" lIns="27432" tIns="9144" rIns="27432" bIns="9144" anchor="t">
            <a:spAutoFit/>
          </a:bodyPr>
          <a:lstStyle/>
          <a:p>
            <a:pPr algn="l"/>
            <a:r>
              <a:rPr sz="800" b="0" i="0">
                <a:solidFill>
                  <a:srgbClr val="404040"/>
                </a:solidFill>
                <a:latin typeface="Calibri"/>
              </a:rPr>
              <a:t>Six direct candidates across four platforms.</a:t>
            </a:r>
          </a:p>
        </p:txBody>
      </p:sp>
      <p:sp>
        <p:nvSpPr>
          <p:cNvPr id="137" name="TextBox 136"/>
          <p:cNvSpPr txBox="1"/>
          <p:nvPr/>
        </p:nvSpPr>
        <p:spPr>
          <a:xfrm>
            <a:off x="6291072" y="5084064"/>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COMMERCIAL IMPLICATION</a:t>
            </a:r>
          </a:p>
        </p:txBody>
      </p:sp>
      <p:sp>
        <p:nvSpPr>
          <p:cNvPr id="138" name="TextBox 137"/>
          <p:cNvSpPr txBox="1"/>
          <p:nvPr/>
        </p:nvSpPr>
        <p:spPr>
          <a:xfrm>
            <a:off x="6291072" y="5230368"/>
            <a:ext cx="2624327" cy="310896"/>
          </a:xfrm>
          <a:prstGeom prst="rect">
            <a:avLst/>
          </a:prstGeom>
          <a:noFill/>
        </p:spPr>
        <p:txBody>
          <a:bodyPr wrap="square" lIns="27432" tIns="9144" rIns="27432" bIns="9144" anchor="t">
            <a:spAutoFit/>
          </a:bodyPr>
          <a:lstStyle/>
          <a:p>
            <a:pPr algn="l"/>
            <a:r>
              <a:rPr sz="800" b="0" i="0">
                <a:solidFill>
                  <a:srgbClr val="404040"/>
                </a:solidFill>
                <a:latin typeface="Calibri"/>
              </a:rPr>
              <a:t>Off-the-shelf peptide and VLP formats scale more easily than cell therapy.</a:t>
            </a:r>
          </a:p>
        </p:txBody>
      </p:sp>
      <p:sp>
        <p:nvSpPr>
          <p:cNvPr id="139" name="TextBox 138"/>
          <p:cNvSpPr txBox="1"/>
          <p:nvPr/>
        </p:nvSpPr>
        <p:spPr>
          <a:xfrm>
            <a:off x="9308592" y="2468879"/>
            <a:ext cx="2624327" cy="384048"/>
          </a:xfrm>
          <a:prstGeom prst="rect">
            <a:avLst/>
          </a:prstGeom>
          <a:noFill/>
        </p:spPr>
        <p:txBody>
          <a:bodyPr wrap="square" lIns="27432" tIns="9144" rIns="27432" bIns="9144" anchor="t">
            <a:spAutoFit/>
          </a:bodyPr>
          <a:lstStyle/>
          <a:p>
            <a:pPr algn="l"/>
            <a:r>
              <a:rPr sz="800" b="0" i="0">
                <a:solidFill>
                  <a:srgbClr val="404040"/>
                </a:solidFill>
                <a:latin typeface="Calibri"/>
              </a:rPr>
              <a:t>Where in the care pathway the vaccine is given and against which standard of care it must add value.</a:t>
            </a:r>
          </a:p>
        </p:txBody>
      </p:sp>
      <p:sp>
        <p:nvSpPr>
          <p:cNvPr id="140" name="TextBox 139"/>
          <p:cNvSpPr txBox="1"/>
          <p:nvPr/>
        </p:nvSpPr>
        <p:spPr>
          <a:xfrm>
            <a:off x="9308592" y="2889504"/>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Neoadjuvant</a:t>
            </a:r>
          </a:p>
        </p:txBody>
      </p:sp>
      <p:sp>
        <p:nvSpPr>
          <p:cNvPr id="141" name="TextBox 140"/>
          <p:cNvSpPr txBox="1"/>
          <p:nvPr/>
        </p:nvSpPr>
        <p:spPr>
          <a:xfrm>
            <a:off x="10168128" y="2889504"/>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HER2 DC1 with THP (NATASHA); H2NVAC pre-surgery DCIS</a:t>
            </a:r>
          </a:p>
        </p:txBody>
      </p:sp>
      <p:sp>
        <p:nvSpPr>
          <p:cNvPr id="142" name="TextBox 141"/>
          <p:cNvSpPr txBox="1"/>
          <p:nvPr/>
        </p:nvSpPr>
        <p:spPr>
          <a:xfrm>
            <a:off x="9308592" y="3182112"/>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Adjuvant</a:t>
            </a:r>
          </a:p>
        </p:txBody>
      </p:sp>
      <p:sp>
        <p:nvSpPr>
          <p:cNvPr id="143" name="TextBox 142"/>
          <p:cNvSpPr txBox="1"/>
          <p:nvPr/>
        </p:nvSpPr>
        <p:spPr>
          <a:xfrm>
            <a:off x="10168128" y="3182112"/>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GLSI-100; WOKVAC and DC1 (NCT03384914)</a:t>
            </a:r>
          </a:p>
        </p:txBody>
      </p:sp>
      <p:sp>
        <p:nvSpPr>
          <p:cNvPr id="144" name="TextBox 143"/>
          <p:cNvSpPr txBox="1"/>
          <p:nvPr/>
        </p:nvSpPr>
        <p:spPr>
          <a:xfrm>
            <a:off x="9308592" y="3474720"/>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Post-adjuvant</a:t>
            </a:r>
          </a:p>
        </p:txBody>
      </p:sp>
      <p:sp>
        <p:nvSpPr>
          <p:cNvPr id="145" name="TextBox 144"/>
          <p:cNvSpPr txBox="1"/>
          <p:nvPr/>
        </p:nvSpPr>
        <p:spPr>
          <a:xfrm>
            <a:off x="10168128" y="3474720"/>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AST-301 after standard adjuvant gastric therapy</a:t>
            </a:r>
          </a:p>
        </p:txBody>
      </p:sp>
      <p:sp>
        <p:nvSpPr>
          <p:cNvPr id="146" name="TextBox 145"/>
          <p:cNvSpPr txBox="1"/>
          <p:nvPr/>
        </p:nvSpPr>
        <p:spPr>
          <a:xfrm>
            <a:off x="9308592" y="3767328"/>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Maintenance</a:t>
            </a:r>
          </a:p>
        </p:txBody>
      </p:sp>
      <p:sp>
        <p:nvSpPr>
          <p:cNvPr id="147" name="TextBox 146"/>
          <p:cNvSpPr txBox="1"/>
          <p:nvPr/>
        </p:nvSpPr>
        <p:spPr>
          <a:xfrm>
            <a:off x="10168128" y="3767328"/>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ES2B-C001 maintenance phase added May 2026</a:t>
            </a:r>
          </a:p>
        </p:txBody>
      </p:sp>
      <p:sp>
        <p:nvSpPr>
          <p:cNvPr id="148" name="TextBox 147"/>
          <p:cNvSpPr txBox="1"/>
          <p:nvPr/>
        </p:nvSpPr>
        <p:spPr>
          <a:xfrm>
            <a:off x="9308592" y="4059936"/>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Metastatic</a:t>
            </a:r>
          </a:p>
        </p:txBody>
      </p:sp>
      <p:sp>
        <p:nvSpPr>
          <p:cNvPr id="149" name="TextBox 148"/>
          <p:cNvSpPr txBox="1"/>
          <p:nvPr/>
        </p:nvSpPr>
        <p:spPr>
          <a:xfrm>
            <a:off x="10168128" y="4059936"/>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ES2B-C001; Bria-IMT with checkpoint inhibitor</a:t>
            </a:r>
          </a:p>
        </p:txBody>
      </p:sp>
      <p:sp>
        <p:nvSpPr>
          <p:cNvPr id="150" name="TextBox 149"/>
          <p:cNvSpPr txBox="1"/>
          <p:nvPr/>
        </p:nvSpPr>
        <p:spPr>
          <a:xfrm>
            <a:off x="9308592" y="4352544"/>
            <a:ext cx="868680" cy="274320"/>
          </a:xfrm>
          <a:prstGeom prst="rect">
            <a:avLst/>
          </a:prstGeom>
          <a:noFill/>
        </p:spPr>
        <p:txBody>
          <a:bodyPr wrap="square" lIns="27432" tIns="9144" rIns="27432" bIns="9144" anchor="t">
            <a:spAutoFit/>
          </a:bodyPr>
          <a:lstStyle/>
          <a:p>
            <a:pPr algn="l"/>
            <a:r>
              <a:rPr sz="750" b="1" i="0">
                <a:solidFill>
                  <a:srgbClr val="404040"/>
                </a:solidFill>
                <a:latin typeface="Calibri"/>
              </a:rPr>
              <a:t>Recurrence prevention</a:t>
            </a:r>
          </a:p>
        </p:txBody>
      </p:sp>
      <p:sp>
        <p:nvSpPr>
          <p:cNvPr id="151" name="TextBox 150"/>
          <p:cNvSpPr txBox="1"/>
          <p:nvPr/>
        </p:nvSpPr>
        <p:spPr>
          <a:xfrm>
            <a:off x="10168128" y="4352544"/>
            <a:ext cx="1783079" cy="274320"/>
          </a:xfrm>
          <a:prstGeom prst="rect">
            <a:avLst/>
          </a:prstGeom>
          <a:noFill/>
        </p:spPr>
        <p:txBody>
          <a:bodyPr wrap="square" lIns="27432" tIns="9144" rIns="27432" bIns="9144" anchor="t">
            <a:spAutoFit/>
          </a:bodyPr>
          <a:lstStyle/>
          <a:p>
            <a:pPr algn="l"/>
            <a:r>
              <a:rPr sz="750" b="0" i="0">
                <a:solidFill>
                  <a:srgbClr val="404040"/>
                </a:solidFill>
                <a:latin typeface="Calibri"/>
              </a:rPr>
              <a:t>GLSI-100 iDFS endpoint after trastuzumab therapy</a:t>
            </a:r>
          </a:p>
        </p:txBody>
      </p:sp>
      <p:sp>
        <p:nvSpPr>
          <p:cNvPr id="152" name="TextBox 151"/>
          <p:cNvSpPr txBox="1"/>
          <p:nvPr/>
        </p:nvSpPr>
        <p:spPr>
          <a:xfrm>
            <a:off x="9308592" y="4700016"/>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RELEVANT DEVELOPERS</a:t>
            </a:r>
          </a:p>
        </p:txBody>
      </p:sp>
      <p:sp>
        <p:nvSpPr>
          <p:cNvPr id="153" name="TextBox 152"/>
          <p:cNvSpPr txBox="1"/>
          <p:nvPr/>
        </p:nvSpPr>
        <p:spPr>
          <a:xfrm>
            <a:off x="9308592" y="4855464"/>
            <a:ext cx="2624327" cy="274320"/>
          </a:xfrm>
          <a:prstGeom prst="rect">
            <a:avLst/>
          </a:prstGeom>
          <a:noFill/>
        </p:spPr>
        <p:txBody>
          <a:bodyPr wrap="square" lIns="27432" tIns="9144" rIns="27432" bIns="9144" anchor="t">
            <a:spAutoFit/>
          </a:bodyPr>
          <a:lstStyle/>
          <a:p>
            <a:pPr algn="l"/>
            <a:r>
              <a:rPr sz="800" b="0" i="0">
                <a:solidFill>
                  <a:srgbClr val="404040"/>
                </a:solidFill>
                <a:latin typeface="Calibri"/>
              </a:rPr>
              <a:t>Adjuvant use dominates the late-stage pipeline.</a:t>
            </a:r>
          </a:p>
        </p:txBody>
      </p:sp>
      <p:sp>
        <p:nvSpPr>
          <p:cNvPr id="154" name="TextBox 153"/>
          <p:cNvSpPr txBox="1"/>
          <p:nvPr/>
        </p:nvSpPr>
        <p:spPr>
          <a:xfrm>
            <a:off x="9308592" y="5084064"/>
            <a:ext cx="2624327" cy="164592"/>
          </a:xfrm>
          <a:prstGeom prst="rect">
            <a:avLst/>
          </a:prstGeom>
          <a:noFill/>
        </p:spPr>
        <p:txBody>
          <a:bodyPr wrap="square" lIns="27432" tIns="9144" rIns="27432" bIns="9144" anchor="t">
            <a:spAutoFit/>
          </a:bodyPr>
          <a:lstStyle/>
          <a:p>
            <a:pPr algn="l"/>
            <a:r>
              <a:rPr sz="750" b="1" i="0">
                <a:solidFill>
                  <a:srgbClr val="0E3A66"/>
                </a:solidFill>
                <a:latin typeface="Calibri"/>
              </a:rPr>
              <a:t>COMMERCIAL IMPLICATION</a:t>
            </a:r>
          </a:p>
        </p:txBody>
      </p:sp>
      <p:sp>
        <p:nvSpPr>
          <p:cNvPr id="155" name="TextBox 154"/>
          <p:cNvSpPr txBox="1"/>
          <p:nvPr/>
        </p:nvSpPr>
        <p:spPr>
          <a:xfrm>
            <a:off x="9308592" y="5230368"/>
            <a:ext cx="2624327" cy="310896"/>
          </a:xfrm>
          <a:prstGeom prst="rect">
            <a:avLst/>
          </a:prstGeom>
          <a:noFill/>
        </p:spPr>
        <p:txBody>
          <a:bodyPr wrap="square" lIns="27432" tIns="9144" rIns="27432" bIns="9144" anchor="t">
            <a:spAutoFit/>
          </a:bodyPr>
          <a:lstStyle/>
          <a:p>
            <a:pPr algn="l"/>
            <a:r>
              <a:rPr sz="800" b="0" i="0">
                <a:solidFill>
                  <a:srgbClr val="404040"/>
                </a:solidFill>
                <a:latin typeface="Calibri"/>
              </a:rPr>
              <a:t>Adjuvant use implies long iDFS trials and preventive pricing.</a:t>
            </a:r>
          </a:p>
        </p:txBody>
      </p:sp>
      <p:sp>
        <p:nvSpPr>
          <p:cNvPr id="156" name="Rectangle 155"/>
          <p:cNvSpPr/>
          <p:nvPr/>
        </p:nvSpPr>
        <p:spPr>
          <a:xfrm>
            <a:off x="182880" y="5596128"/>
            <a:ext cx="11823192" cy="3291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182880" y="5596128"/>
            <a:ext cx="1143000" cy="32918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182880" y="5596128"/>
            <a:ext cx="1143000" cy="329184"/>
          </a:xfrm>
          <a:prstGeom prst="rect">
            <a:avLst/>
          </a:prstGeom>
          <a:noFill/>
        </p:spPr>
        <p:txBody>
          <a:bodyPr wrap="square" lIns="27432" tIns="9144" rIns="27432" bIns="9144" anchor="ctr">
            <a:spAutoFit/>
          </a:bodyPr>
          <a:lstStyle/>
          <a:p>
            <a:pPr algn="ctr"/>
            <a:r>
              <a:rPr sz="850" b="1" i="0">
                <a:solidFill>
                  <a:srgbClr val="FFFFFF"/>
                </a:solidFill>
                <a:latin typeface="Calibri"/>
              </a:rPr>
              <a:t>ENABLERS</a:t>
            </a:r>
          </a:p>
        </p:txBody>
      </p:sp>
      <p:sp>
        <p:nvSpPr>
          <p:cNvPr id="159" name="TextBox 158"/>
          <p:cNvSpPr txBox="1"/>
          <p:nvPr/>
        </p:nvSpPr>
        <p:spPr>
          <a:xfrm>
            <a:off x="1417320" y="5596128"/>
            <a:ext cx="10543032" cy="329184"/>
          </a:xfrm>
          <a:prstGeom prst="rect">
            <a:avLst/>
          </a:prstGeom>
          <a:noFill/>
        </p:spPr>
        <p:txBody>
          <a:bodyPr wrap="square" lIns="27432" tIns="9144" rIns="27432" bIns="9144" anchor="ctr">
            <a:spAutoFit/>
          </a:bodyPr>
          <a:lstStyle/>
          <a:p>
            <a:pPr algn="l"/>
            <a:r>
              <a:rPr sz="850" b="0" i="0">
                <a:solidFill>
                  <a:srgbClr val="262626"/>
                </a:solidFill>
                <a:latin typeface="Calibri"/>
              </a:rPr>
              <a:t>Increasing HER2 biomarker granularity (IHC 0, 1+, 2+ reporting)   |   HER2-low treatment paradigm established by ADCs   |   Improved delivery (VLP display, plasmid, GM-CSF adjuvants)   |   Checkpoint-inhibitor and ADC combination strategies</a:t>
            </a:r>
          </a:p>
        </p:txBody>
      </p:sp>
      <p:sp>
        <p:nvSpPr>
          <p:cNvPr id="160" name="Rectangle 159"/>
          <p:cNvSpPr/>
          <p:nvPr/>
        </p:nvSpPr>
        <p:spPr>
          <a:xfrm>
            <a:off x="182880" y="5961888"/>
            <a:ext cx="11823192" cy="3291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Rectangle 160"/>
          <p:cNvSpPr/>
          <p:nvPr/>
        </p:nvSpPr>
        <p:spPr>
          <a:xfrm>
            <a:off x="182880" y="5961888"/>
            <a:ext cx="1143000" cy="32918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182880" y="5961888"/>
            <a:ext cx="1143000" cy="329184"/>
          </a:xfrm>
          <a:prstGeom prst="rect">
            <a:avLst/>
          </a:prstGeom>
          <a:noFill/>
        </p:spPr>
        <p:txBody>
          <a:bodyPr wrap="square" lIns="27432" tIns="9144" rIns="27432" bIns="9144" anchor="ctr">
            <a:spAutoFit/>
          </a:bodyPr>
          <a:lstStyle/>
          <a:p>
            <a:pPr algn="ctr"/>
            <a:r>
              <a:rPr sz="850" b="1" i="0">
                <a:solidFill>
                  <a:srgbClr val="FFFFFF"/>
                </a:solidFill>
                <a:latin typeface="Calibri"/>
              </a:rPr>
              <a:t>CONSTRAINTS</a:t>
            </a:r>
          </a:p>
        </p:txBody>
      </p:sp>
      <p:sp>
        <p:nvSpPr>
          <p:cNvPr id="163" name="TextBox 162"/>
          <p:cNvSpPr txBox="1"/>
          <p:nvPr/>
        </p:nvSpPr>
        <p:spPr>
          <a:xfrm>
            <a:off x="1417320" y="5961888"/>
            <a:ext cx="10543032" cy="329184"/>
          </a:xfrm>
          <a:prstGeom prst="rect">
            <a:avLst/>
          </a:prstGeom>
          <a:noFill/>
        </p:spPr>
        <p:txBody>
          <a:bodyPr wrap="square" lIns="27432" tIns="9144" rIns="27432" bIns="9144" anchor="ctr">
            <a:spAutoFit/>
          </a:bodyPr>
          <a:lstStyle/>
          <a:p>
            <a:pPr algn="l"/>
            <a:r>
              <a:rPr sz="850" b="0" i="0">
                <a:solidFill>
                  <a:srgbClr val="262626"/>
                </a:solidFill>
                <a:latin typeface="Calibri"/>
              </a:rPr>
              <a:t>No commercial HER2 vaccine   |   Heterogeneous HER2 expression   |   Long iDFS timelines   |   Trial recruitment (two terminations)   |   Immune tolerance   |   Manufacturing scale-up   |   Reimbursement uncertainty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Most HER2 vaccine programs remain clinical-stage, with a single direct Phase III program; platform diversity stays high while mRNA capability sits only with adjacent individualized-neoantigen developers</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5</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Competitive landscape by vaccine platform (columns) and verified development maturity (rows); each entry shows company, candidate, cancer type and current phase</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Rectangle 5"/>
          <p:cNvSpPr/>
          <p:nvPr/>
        </p:nvSpPr>
        <p:spPr>
          <a:xfrm>
            <a:off x="1490472" y="1371600"/>
            <a:ext cx="2059228" cy="27432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36192" y="1371600"/>
            <a:ext cx="1967788" cy="274320"/>
          </a:xfrm>
          <a:prstGeom prst="rect">
            <a:avLst/>
          </a:prstGeom>
          <a:noFill/>
        </p:spPr>
        <p:txBody>
          <a:bodyPr wrap="square" lIns="27432" tIns="9144" rIns="27432" bIns="9144" anchor="ctr">
            <a:spAutoFit/>
          </a:bodyPr>
          <a:lstStyle/>
          <a:p>
            <a:pPr algn="ctr"/>
            <a:r>
              <a:rPr sz="950" b="1" i="0">
                <a:solidFill>
                  <a:srgbClr val="FFFFFF"/>
                </a:solidFill>
                <a:latin typeface="Calibri"/>
              </a:rPr>
              <a:t>Plasmid DNA</a:t>
            </a:r>
          </a:p>
        </p:txBody>
      </p:sp>
      <p:sp>
        <p:nvSpPr>
          <p:cNvPr id="8" name="Rectangle 7"/>
          <p:cNvSpPr/>
          <p:nvPr/>
        </p:nvSpPr>
        <p:spPr>
          <a:xfrm>
            <a:off x="3604564" y="1371600"/>
            <a:ext cx="2059228" cy="2743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0284" y="1371600"/>
            <a:ext cx="1967788" cy="274320"/>
          </a:xfrm>
          <a:prstGeom prst="rect">
            <a:avLst/>
          </a:prstGeom>
          <a:noFill/>
        </p:spPr>
        <p:txBody>
          <a:bodyPr wrap="square" lIns="27432" tIns="9144" rIns="27432" bIns="9144" anchor="ctr">
            <a:spAutoFit/>
          </a:bodyPr>
          <a:lstStyle/>
          <a:p>
            <a:pPr algn="ctr"/>
            <a:r>
              <a:rPr sz="950" b="1" i="0">
                <a:solidFill>
                  <a:srgbClr val="FFFFFF"/>
                </a:solidFill>
                <a:latin typeface="Calibri"/>
              </a:rPr>
              <a:t>Peptide</a:t>
            </a:r>
          </a:p>
        </p:txBody>
      </p:sp>
      <p:sp>
        <p:nvSpPr>
          <p:cNvPr id="10" name="Rectangle 9"/>
          <p:cNvSpPr/>
          <p:nvPr/>
        </p:nvSpPr>
        <p:spPr>
          <a:xfrm>
            <a:off x="5718657" y="1371600"/>
            <a:ext cx="2059228" cy="27432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4377" y="1371600"/>
            <a:ext cx="1967788" cy="274320"/>
          </a:xfrm>
          <a:prstGeom prst="rect">
            <a:avLst/>
          </a:prstGeom>
          <a:noFill/>
        </p:spPr>
        <p:txBody>
          <a:bodyPr wrap="square" lIns="27432" tIns="9144" rIns="27432" bIns="9144" anchor="ctr">
            <a:spAutoFit/>
          </a:bodyPr>
          <a:lstStyle/>
          <a:p>
            <a:pPr algn="ctr"/>
            <a:r>
              <a:rPr sz="950" b="1" i="0">
                <a:solidFill>
                  <a:srgbClr val="FFFFFF"/>
                </a:solidFill>
                <a:latin typeface="Calibri"/>
              </a:rPr>
              <a:t>Protein / VLP</a:t>
            </a:r>
          </a:p>
        </p:txBody>
      </p:sp>
      <p:sp>
        <p:nvSpPr>
          <p:cNvPr id="12" name="Rectangle 11"/>
          <p:cNvSpPr/>
          <p:nvPr/>
        </p:nvSpPr>
        <p:spPr>
          <a:xfrm>
            <a:off x="7832750" y="1371600"/>
            <a:ext cx="2059228" cy="274320"/>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78470" y="1371600"/>
            <a:ext cx="1967788" cy="274320"/>
          </a:xfrm>
          <a:prstGeom prst="rect">
            <a:avLst/>
          </a:prstGeom>
          <a:noFill/>
        </p:spPr>
        <p:txBody>
          <a:bodyPr wrap="square" lIns="27432" tIns="9144" rIns="27432" bIns="9144" anchor="ctr">
            <a:spAutoFit/>
          </a:bodyPr>
          <a:lstStyle/>
          <a:p>
            <a:pPr algn="ctr"/>
            <a:r>
              <a:rPr sz="950" b="1" i="0">
                <a:solidFill>
                  <a:srgbClr val="FFFFFF"/>
                </a:solidFill>
                <a:latin typeface="Calibri"/>
              </a:rPr>
              <a:t>mRNA</a:t>
            </a:r>
          </a:p>
        </p:txBody>
      </p:sp>
      <p:sp>
        <p:nvSpPr>
          <p:cNvPr id="14" name="Rectangle 13"/>
          <p:cNvSpPr/>
          <p:nvPr/>
        </p:nvSpPr>
        <p:spPr>
          <a:xfrm>
            <a:off x="9946843" y="1371600"/>
            <a:ext cx="2059228" cy="27432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992563" y="1371600"/>
            <a:ext cx="1967788" cy="274320"/>
          </a:xfrm>
          <a:prstGeom prst="rect">
            <a:avLst/>
          </a:prstGeom>
          <a:noFill/>
        </p:spPr>
        <p:txBody>
          <a:bodyPr wrap="square" lIns="27432" tIns="9144" rIns="27432" bIns="9144" anchor="ctr">
            <a:spAutoFit/>
          </a:bodyPr>
          <a:lstStyle/>
          <a:p>
            <a:pPr algn="ctr"/>
            <a:r>
              <a:rPr sz="950" b="1" i="0">
                <a:solidFill>
                  <a:srgbClr val="FFFFFF"/>
                </a:solidFill>
                <a:latin typeface="Calibri"/>
              </a:rPr>
              <a:t>Other therapeutic platforms</a:t>
            </a:r>
          </a:p>
        </p:txBody>
      </p:sp>
      <p:sp>
        <p:nvSpPr>
          <p:cNvPr id="16" name="Rectangle 15"/>
          <p:cNvSpPr/>
          <p:nvPr/>
        </p:nvSpPr>
        <p:spPr>
          <a:xfrm>
            <a:off x="182880" y="1700784"/>
            <a:ext cx="1234440" cy="530352"/>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 y="1700784"/>
            <a:ext cx="1143000" cy="530352"/>
          </a:xfrm>
          <a:prstGeom prst="rect">
            <a:avLst/>
          </a:prstGeom>
          <a:noFill/>
        </p:spPr>
        <p:txBody>
          <a:bodyPr wrap="square" lIns="27432" tIns="9144" rIns="27432" bIns="9144" anchor="ctr">
            <a:spAutoFit/>
          </a:bodyPr>
          <a:lstStyle/>
          <a:p>
            <a:pPr algn="l"/>
            <a:r>
              <a:rPr sz="900" b="1" i="0">
                <a:solidFill>
                  <a:srgbClr val="0E3A66"/>
                </a:solidFill>
                <a:latin typeface="Calibri"/>
              </a:rPr>
              <a:t>Phase III</a:t>
            </a:r>
          </a:p>
        </p:txBody>
      </p:sp>
      <p:sp>
        <p:nvSpPr>
          <p:cNvPr id="18" name="Rectangle 17"/>
          <p:cNvSpPr/>
          <p:nvPr/>
        </p:nvSpPr>
        <p:spPr>
          <a:xfrm>
            <a:off x="1490472" y="1700784"/>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04564" y="1700784"/>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41140" y="1728216"/>
            <a:ext cx="1986076" cy="493776"/>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Greenwich LifeSciences | GLSI-100</a:t>
            </a:r>
          </a:p>
          <a:p>
            <a:pPr algn="l">
              <a:spcAft>
                <a:spcPts val="100"/>
              </a:spcAft>
            </a:pPr>
            <a:r>
              <a:rPr sz="750" b="0" i="0">
                <a:solidFill>
                  <a:srgbClr val="404040"/>
                </a:solidFill>
                <a:latin typeface="Calibri"/>
              </a:rPr>
              <a:t>Breast, HER2-positive | Phase III</a:t>
            </a:r>
          </a:p>
        </p:txBody>
      </p:sp>
      <p:sp>
        <p:nvSpPr>
          <p:cNvPr id="21" name="Rectangle 20"/>
          <p:cNvSpPr/>
          <p:nvPr/>
        </p:nvSpPr>
        <p:spPr>
          <a:xfrm>
            <a:off x="5718657" y="1700784"/>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832750" y="1700784"/>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946843" y="1700784"/>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83419" y="1728216"/>
            <a:ext cx="1986076" cy="493776"/>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BriaCell | Bria-IMT (whole cell, indirect)</a:t>
            </a:r>
          </a:p>
          <a:p>
            <a:pPr algn="l">
              <a:spcAft>
                <a:spcPts val="100"/>
              </a:spcAft>
            </a:pPr>
            <a:r>
              <a:rPr sz="750" b="0" i="0">
                <a:solidFill>
                  <a:srgbClr val="404040"/>
                </a:solidFill>
                <a:latin typeface="Calibri"/>
              </a:rPr>
              <a:t>Metastatic breast, all subtypes | Phase III</a:t>
            </a:r>
          </a:p>
        </p:txBody>
      </p:sp>
      <p:sp>
        <p:nvSpPr>
          <p:cNvPr id="25" name="Rectangle 24"/>
          <p:cNvSpPr/>
          <p:nvPr/>
        </p:nvSpPr>
        <p:spPr>
          <a:xfrm>
            <a:off x="182880" y="2267712"/>
            <a:ext cx="1234440" cy="749808"/>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28600" y="2267712"/>
            <a:ext cx="1143000" cy="749808"/>
          </a:xfrm>
          <a:prstGeom prst="rect">
            <a:avLst/>
          </a:prstGeom>
          <a:noFill/>
        </p:spPr>
        <p:txBody>
          <a:bodyPr wrap="square" lIns="27432" tIns="9144" rIns="27432" bIns="9144" anchor="ctr">
            <a:spAutoFit/>
          </a:bodyPr>
          <a:lstStyle/>
          <a:p>
            <a:pPr algn="l"/>
            <a:r>
              <a:rPr sz="900" b="1" i="0">
                <a:solidFill>
                  <a:srgbClr val="0E3A66"/>
                </a:solidFill>
                <a:latin typeface="Calibri"/>
              </a:rPr>
              <a:t>Phase II</a:t>
            </a:r>
          </a:p>
        </p:txBody>
      </p:sp>
      <p:sp>
        <p:nvSpPr>
          <p:cNvPr id="27" name="Rectangle 26"/>
          <p:cNvSpPr/>
          <p:nvPr/>
        </p:nvSpPr>
        <p:spPr>
          <a:xfrm>
            <a:off x="1490472" y="2267712"/>
            <a:ext cx="2059228" cy="749808"/>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527048" y="2295144"/>
            <a:ext cx="1986076" cy="713232"/>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Aston Sci. | AST-301</a:t>
            </a:r>
          </a:p>
          <a:p>
            <a:pPr algn="l">
              <a:spcAft>
                <a:spcPts val="100"/>
              </a:spcAft>
            </a:pPr>
            <a:r>
              <a:rPr sz="750" b="0" i="0">
                <a:solidFill>
                  <a:srgbClr val="404040"/>
                </a:solidFill>
                <a:latin typeface="Calibri"/>
              </a:rPr>
              <a:t>Gastric, HER2-low and positive | Phase II</a:t>
            </a:r>
          </a:p>
          <a:p>
            <a:pPr algn="l">
              <a:spcAft>
                <a:spcPts val="100"/>
              </a:spcAft>
            </a:pPr>
            <a:r>
              <a:rPr sz="800" b="1" i="0">
                <a:solidFill>
                  <a:srgbClr val="262626"/>
                </a:solidFill>
                <a:latin typeface="Calibri"/>
              </a:rPr>
              <a:t>UW Cancer Vaccine Institute | WOKVAC</a:t>
            </a:r>
          </a:p>
          <a:p>
            <a:pPr algn="l">
              <a:spcAft>
                <a:spcPts val="100"/>
              </a:spcAft>
            </a:pPr>
            <a:r>
              <a:rPr sz="750" b="0" i="0">
                <a:solidFill>
                  <a:srgbClr val="404040"/>
                </a:solidFill>
                <a:latin typeface="Calibri"/>
              </a:rPr>
              <a:t>Breast, HER2-positive | Phase II</a:t>
            </a:r>
          </a:p>
        </p:txBody>
      </p:sp>
      <p:sp>
        <p:nvSpPr>
          <p:cNvPr id="29" name="Rectangle 28"/>
          <p:cNvSpPr/>
          <p:nvPr/>
        </p:nvSpPr>
        <p:spPr>
          <a:xfrm>
            <a:off x="3604564" y="2267712"/>
            <a:ext cx="2059228" cy="749808"/>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718657" y="2267712"/>
            <a:ext cx="2059228" cy="749808"/>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832750" y="2267712"/>
            <a:ext cx="2059228" cy="749808"/>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946843" y="2267712"/>
            <a:ext cx="2059228" cy="749808"/>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983419" y="2295144"/>
            <a:ext cx="1986076" cy="713232"/>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Moffitt | HER2 DC1 (dendritic cell)</a:t>
            </a:r>
          </a:p>
          <a:p>
            <a:pPr algn="l">
              <a:spcAft>
                <a:spcPts val="100"/>
              </a:spcAft>
            </a:pPr>
            <a:r>
              <a:rPr sz="750" b="0" i="0">
                <a:solidFill>
                  <a:srgbClr val="404040"/>
                </a:solidFill>
                <a:latin typeface="Calibri"/>
              </a:rPr>
              <a:t>Breast, HER2-positive | Phase II</a:t>
            </a:r>
          </a:p>
        </p:txBody>
      </p:sp>
      <p:sp>
        <p:nvSpPr>
          <p:cNvPr id="34" name="Rectangle 33"/>
          <p:cNvSpPr/>
          <p:nvPr/>
        </p:nvSpPr>
        <p:spPr>
          <a:xfrm>
            <a:off x="182880" y="3054096"/>
            <a:ext cx="1234440" cy="530352"/>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28600" y="3054096"/>
            <a:ext cx="1143000" cy="530352"/>
          </a:xfrm>
          <a:prstGeom prst="rect">
            <a:avLst/>
          </a:prstGeom>
          <a:noFill/>
        </p:spPr>
        <p:txBody>
          <a:bodyPr wrap="square" lIns="27432" tIns="9144" rIns="27432" bIns="9144" anchor="ctr">
            <a:spAutoFit/>
          </a:bodyPr>
          <a:lstStyle/>
          <a:p>
            <a:pPr algn="l"/>
            <a:r>
              <a:rPr sz="900" b="1" i="0">
                <a:solidFill>
                  <a:srgbClr val="0E3A66"/>
                </a:solidFill>
                <a:latin typeface="Calibri"/>
              </a:rPr>
              <a:t>Phase I / I-II</a:t>
            </a:r>
          </a:p>
        </p:txBody>
      </p:sp>
      <p:sp>
        <p:nvSpPr>
          <p:cNvPr id="36" name="Rectangle 35"/>
          <p:cNvSpPr/>
          <p:nvPr/>
        </p:nvSpPr>
        <p:spPr>
          <a:xfrm>
            <a:off x="1490472" y="3054096"/>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604564" y="3054096"/>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41140" y="3081527"/>
            <a:ext cx="1986076" cy="493776"/>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Mayo Clinic | H2NVAC</a:t>
            </a:r>
          </a:p>
          <a:p>
            <a:pPr algn="l">
              <a:spcAft>
                <a:spcPts val="100"/>
              </a:spcAft>
            </a:pPr>
            <a:r>
              <a:rPr sz="750" b="0" i="0">
                <a:solidFill>
                  <a:srgbClr val="404040"/>
                </a:solidFill>
                <a:latin typeface="Calibri"/>
              </a:rPr>
              <a:t>Breast DCIS, HER2-expressing | Phase Ib</a:t>
            </a:r>
          </a:p>
        </p:txBody>
      </p:sp>
      <p:sp>
        <p:nvSpPr>
          <p:cNvPr id="39" name="Rectangle 38"/>
          <p:cNvSpPr/>
          <p:nvPr/>
        </p:nvSpPr>
        <p:spPr>
          <a:xfrm>
            <a:off x="5718657" y="3054096"/>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755233" y="3081527"/>
            <a:ext cx="1986076" cy="493776"/>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ExpreS2ion | ES2B-C001</a:t>
            </a:r>
          </a:p>
          <a:p>
            <a:pPr algn="l">
              <a:spcAft>
                <a:spcPts val="100"/>
              </a:spcAft>
            </a:pPr>
            <a:r>
              <a:rPr sz="750" b="0" i="0">
                <a:solidFill>
                  <a:srgbClr val="404040"/>
                </a:solidFill>
                <a:latin typeface="Calibri"/>
              </a:rPr>
              <a:t>Metastatic breast, HER2+ and HER2-low | Phase I</a:t>
            </a:r>
          </a:p>
        </p:txBody>
      </p:sp>
      <p:sp>
        <p:nvSpPr>
          <p:cNvPr id="41" name="Rectangle 40"/>
          <p:cNvSpPr/>
          <p:nvPr/>
        </p:nvSpPr>
        <p:spPr>
          <a:xfrm>
            <a:off x="7832750" y="3054096"/>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869326" y="3081527"/>
            <a:ext cx="1986076" cy="493776"/>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No HER2 mRNA vaccine in clinic</a:t>
            </a:r>
          </a:p>
          <a:p>
            <a:pPr algn="l">
              <a:spcAft>
                <a:spcPts val="100"/>
              </a:spcAft>
            </a:pPr>
            <a:r>
              <a:rPr sz="750" b="0" i="0">
                <a:solidFill>
                  <a:srgbClr val="404040"/>
                </a:solidFill>
                <a:latin typeface="Calibri"/>
              </a:rPr>
              <a:t>n/a | none verified</a:t>
            </a:r>
          </a:p>
        </p:txBody>
      </p:sp>
      <p:sp>
        <p:nvSpPr>
          <p:cNvPr id="43" name="Rectangle 42"/>
          <p:cNvSpPr/>
          <p:nvPr/>
        </p:nvSpPr>
        <p:spPr>
          <a:xfrm>
            <a:off x="9946843" y="3054096"/>
            <a:ext cx="2059228" cy="530352"/>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82880" y="3621024"/>
            <a:ext cx="1234440" cy="420624"/>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28600" y="3621024"/>
            <a:ext cx="1143000" cy="420624"/>
          </a:xfrm>
          <a:prstGeom prst="rect">
            <a:avLst/>
          </a:prstGeom>
          <a:noFill/>
        </p:spPr>
        <p:txBody>
          <a:bodyPr wrap="square" lIns="27432" tIns="9144" rIns="27432" bIns="9144" anchor="ctr">
            <a:spAutoFit/>
          </a:bodyPr>
          <a:lstStyle/>
          <a:p>
            <a:pPr algn="l"/>
            <a:r>
              <a:rPr sz="900" b="1" i="0">
                <a:solidFill>
                  <a:srgbClr val="0E3A66"/>
                </a:solidFill>
                <a:latin typeface="Calibri"/>
              </a:rPr>
              <a:t>Preclinical</a:t>
            </a:r>
          </a:p>
        </p:txBody>
      </p:sp>
      <p:sp>
        <p:nvSpPr>
          <p:cNvPr id="46" name="Rectangle 45"/>
          <p:cNvSpPr/>
          <p:nvPr/>
        </p:nvSpPr>
        <p:spPr>
          <a:xfrm>
            <a:off x="1490472" y="3621024"/>
            <a:ext cx="2059228" cy="420624"/>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27048" y="3648456"/>
            <a:ext cx="1986076" cy="384048"/>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Aston Sci. | AST-301 combinations</a:t>
            </a:r>
          </a:p>
          <a:p>
            <a:pPr algn="l">
              <a:spcAft>
                <a:spcPts val="100"/>
              </a:spcAft>
            </a:pPr>
            <a:r>
              <a:rPr sz="750" b="0" i="0">
                <a:solidFill>
                  <a:srgbClr val="404040"/>
                </a:solidFill>
                <a:latin typeface="Calibri"/>
              </a:rPr>
              <a:t>Gastric models with pembrolizumab or HER2 ADC</a:t>
            </a:r>
          </a:p>
        </p:txBody>
      </p:sp>
      <p:sp>
        <p:nvSpPr>
          <p:cNvPr id="48" name="Rectangle 47"/>
          <p:cNvSpPr/>
          <p:nvPr/>
        </p:nvSpPr>
        <p:spPr>
          <a:xfrm>
            <a:off x="3604564" y="3621024"/>
            <a:ext cx="2059228" cy="420624"/>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718657" y="3621024"/>
            <a:ext cx="2059228" cy="420624"/>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755233" y="3648456"/>
            <a:ext cx="1986076" cy="384048"/>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AdaptVac | cVLP platform</a:t>
            </a:r>
          </a:p>
          <a:p>
            <a:pPr algn="l">
              <a:spcAft>
                <a:spcPts val="100"/>
              </a:spcAft>
            </a:pPr>
            <a:r>
              <a:rPr sz="750" b="0" i="0">
                <a:solidFill>
                  <a:srgbClr val="404040"/>
                </a:solidFill>
                <a:latin typeface="Calibri"/>
              </a:rPr>
              <a:t>Licensor to ES2B-C001; no own HER2 asset</a:t>
            </a:r>
          </a:p>
        </p:txBody>
      </p:sp>
      <p:sp>
        <p:nvSpPr>
          <p:cNvPr id="51" name="Rectangle 50"/>
          <p:cNvSpPr/>
          <p:nvPr/>
        </p:nvSpPr>
        <p:spPr>
          <a:xfrm>
            <a:off x="7832750" y="3621024"/>
            <a:ext cx="2059228" cy="420624"/>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9946843" y="3621024"/>
            <a:ext cx="2059228" cy="420624"/>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82880" y="4078224"/>
            <a:ext cx="1234440" cy="832103"/>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28600" y="4078224"/>
            <a:ext cx="1143000" cy="832103"/>
          </a:xfrm>
          <a:prstGeom prst="rect">
            <a:avLst/>
          </a:prstGeom>
          <a:noFill/>
        </p:spPr>
        <p:txBody>
          <a:bodyPr wrap="square" lIns="27432" tIns="9144" rIns="27432" bIns="9144" anchor="ctr">
            <a:spAutoFit/>
          </a:bodyPr>
          <a:lstStyle/>
          <a:p>
            <a:pPr algn="l"/>
            <a:r>
              <a:rPr sz="900" b="1" i="0">
                <a:solidFill>
                  <a:srgbClr val="0E3A66"/>
                </a:solidFill>
                <a:latin typeface="Calibri"/>
              </a:rPr>
              <a:t>Adjacent platform / benchmark</a:t>
            </a:r>
          </a:p>
        </p:txBody>
      </p:sp>
      <p:sp>
        <p:nvSpPr>
          <p:cNvPr id="55" name="Rectangle 54"/>
          <p:cNvSpPr/>
          <p:nvPr/>
        </p:nvSpPr>
        <p:spPr>
          <a:xfrm>
            <a:off x="1490472" y="4078224"/>
            <a:ext cx="2059228" cy="832103"/>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604564" y="4078224"/>
            <a:ext cx="2059228" cy="832103"/>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718657" y="4078224"/>
            <a:ext cx="2059228" cy="832103"/>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832750" y="4078224"/>
            <a:ext cx="2059228" cy="832103"/>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869326" y="4105656"/>
            <a:ext cx="1986076" cy="795528"/>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Merck &amp; Co. and Moderna | intismeran autogene</a:t>
            </a:r>
          </a:p>
          <a:p>
            <a:pPr algn="l">
              <a:spcAft>
                <a:spcPts val="100"/>
              </a:spcAft>
            </a:pPr>
            <a:r>
              <a:rPr sz="750" b="0" i="0">
                <a:solidFill>
                  <a:srgbClr val="404040"/>
                </a:solidFill>
                <a:latin typeface="Calibri"/>
              </a:rPr>
              <a:t>Melanoma | Phase III met endpoints Aug 2026</a:t>
            </a:r>
          </a:p>
          <a:p>
            <a:pPr algn="l">
              <a:spcAft>
                <a:spcPts val="100"/>
              </a:spcAft>
            </a:pPr>
            <a:r>
              <a:rPr sz="800" b="1" i="0">
                <a:solidFill>
                  <a:srgbClr val="262626"/>
                </a:solidFill>
                <a:latin typeface="Calibri"/>
              </a:rPr>
              <a:t>BioNTech and Genentech | autogene cevumeran</a:t>
            </a:r>
          </a:p>
          <a:p>
            <a:pPr algn="l">
              <a:spcAft>
                <a:spcPts val="100"/>
              </a:spcAft>
            </a:pPr>
            <a:r>
              <a:rPr sz="750" b="0" i="0">
                <a:solidFill>
                  <a:srgbClr val="404040"/>
                </a:solidFill>
                <a:latin typeface="Calibri"/>
              </a:rPr>
              <a:t>PDAC Phase II ongoing; CRC Phase II ended Aug 2026</a:t>
            </a:r>
          </a:p>
        </p:txBody>
      </p:sp>
      <p:sp>
        <p:nvSpPr>
          <p:cNvPr id="60" name="Rectangle 59"/>
          <p:cNvSpPr/>
          <p:nvPr/>
        </p:nvSpPr>
        <p:spPr>
          <a:xfrm>
            <a:off x="9946843" y="4078224"/>
            <a:ext cx="2059228" cy="832103"/>
          </a:xfrm>
          <a:prstGeom prst="rect">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83419" y="4105656"/>
            <a:ext cx="1986076" cy="795528"/>
          </a:xfrm>
          <a:prstGeom prst="rect">
            <a:avLst/>
          </a:prstGeom>
          <a:noFill/>
        </p:spPr>
        <p:txBody>
          <a:bodyPr wrap="square" lIns="27432" tIns="9144" rIns="27432" bIns="9144" anchor="t">
            <a:spAutoFit/>
          </a:bodyPr>
          <a:lstStyle/>
          <a:p>
            <a:pPr algn="l">
              <a:spcAft>
                <a:spcPts val="100"/>
              </a:spcAft>
            </a:pPr>
            <a:r>
              <a:rPr sz="800" b="1" i="0">
                <a:solidFill>
                  <a:srgbClr val="262626"/>
                </a:solidFill>
                <a:latin typeface="Calibri"/>
              </a:rPr>
              <a:t>Dendreon | sipuleucel-T (Provenge)</a:t>
            </a:r>
          </a:p>
          <a:p>
            <a:pPr algn="l">
              <a:spcAft>
                <a:spcPts val="100"/>
              </a:spcAft>
            </a:pPr>
            <a:r>
              <a:rPr sz="750" b="0" i="0">
                <a:solidFill>
                  <a:srgbClr val="404040"/>
                </a:solidFill>
                <a:latin typeface="Calibri"/>
              </a:rPr>
              <a:t>Prostate | FDA approved 2010, commercial</a:t>
            </a:r>
          </a:p>
          <a:p>
            <a:pPr algn="l">
              <a:spcAft>
                <a:spcPts val="100"/>
              </a:spcAft>
            </a:pPr>
            <a:r>
              <a:rPr sz="800" b="1" i="0">
                <a:solidFill>
                  <a:srgbClr val="262626"/>
                </a:solidFill>
                <a:latin typeface="Calibri"/>
              </a:rPr>
              <a:t>Amgen | talimogene laherparepvec (Imlygic)</a:t>
            </a:r>
          </a:p>
          <a:p>
            <a:pPr algn="l">
              <a:spcAft>
                <a:spcPts val="100"/>
              </a:spcAft>
            </a:pPr>
            <a:r>
              <a:rPr sz="750" b="0" i="0">
                <a:solidFill>
                  <a:srgbClr val="404040"/>
                </a:solidFill>
                <a:latin typeface="Calibri"/>
              </a:rPr>
              <a:t>Melanoma | FDA approved 2015, commercial</a:t>
            </a:r>
          </a:p>
        </p:txBody>
      </p:sp>
      <p:sp>
        <p:nvSpPr>
          <p:cNvPr id="62" name="TextBox 61"/>
          <p:cNvSpPr txBox="1"/>
          <p:nvPr/>
        </p:nvSpPr>
        <p:spPr>
          <a:xfrm>
            <a:off x="1490472" y="5047488"/>
            <a:ext cx="2059228" cy="182880"/>
          </a:xfrm>
          <a:prstGeom prst="rect">
            <a:avLst/>
          </a:prstGeom>
          <a:noFill/>
        </p:spPr>
        <p:txBody>
          <a:bodyPr wrap="square" lIns="27432" tIns="9144" rIns="27432" bIns="9144" anchor="t">
            <a:spAutoFit/>
          </a:bodyPr>
          <a:lstStyle/>
          <a:p>
            <a:pPr algn="l"/>
            <a:r>
              <a:rPr sz="800" b="1" i="0">
                <a:solidFill>
                  <a:srgbClr val="2A6FA8"/>
                </a:solidFill>
                <a:latin typeface="Calibri"/>
              </a:rPr>
              <a:t>PLASMID DNA</a:t>
            </a:r>
          </a:p>
        </p:txBody>
      </p:sp>
      <p:sp>
        <p:nvSpPr>
          <p:cNvPr id="63" name="TextBox 62"/>
          <p:cNvSpPr txBox="1"/>
          <p:nvPr/>
        </p:nvSpPr>
        <p:spPr>
          <a:xfrm>
            <a:off x="1490472" y="5230368"/>
            <a:ext cx="2059228" cy="1143000"/>
          </a:xfrm>
          <a:prstGeom prst="rect">
            <a:avLst/>
          </a:prstGeom>
          <a:noFill/>
        </p:spPr>
        <p:txBody>
          <a:bodyPr wrap="square" lIns="27432" tIns="9144" rIns="27432" bIns="9144" anchor="t">
            <a:spAutoFit/>
          </a:bodyPr>
          <a:lstStyle/>
          <a:p>
            <a:pPr algn="l">
              <a:spcAft>
                <a:spcPts val="200"/>
              </a:spcAft>
            </a:pPr>
            <a:r>
              <a:rPr sz="750" b="0" i="0">
                <a:solidFill>
                  <a:srgbClr val="262626"/>
                </a:solidFill>
                <a:latin typeface="Calibri"/>
              </a:rPr>
              <a:t>Mechanism and relevance: intracellular or multi-antigen HER2 T-cell priming; two academic-origin constructs.</a:t>
            </a:r>
          </a:p>
          <a:p>
            <a:pPr algn="l">
              <a:spcAft>
                <a:spcPts val="200"/>
              </a:spcAft>
            </a:pPr>
            <a:r>
              <a:rPr sz="750" b="0" i="0">
                <a:solidFill>
                  <a:srgbClr val="262626"/>
                </a:solidFill>
                <a:latin typeface="Calibri"/>
              </a:rPr>
              <a:t>Manufacturing: plasmid fermentation, stable and low cost.</a:t>
            </a:r>
          </a:p>
          <a:p>
            <a:pPr algn="l">
              <a:spcAft>
                <a:spcPts val="200"/>
              </a:spcAft>
            </a:pPr>
            <a:r>
              <a:rPr sz="750" b="0" i="0">
                <a:solidFill>
                  <a:srgbClr val="262626"/>
                </a:solidFill>
                <a:latin typeface="Calibri"/>
              </a:rPr>
              <a:t>Issue: modest immunogenicity; breast trial ended on recruitment.</a:t>
            </a:r>
          </a:p>
        </p:txBody>
      </p:sp>
      <p:sp>
        <p:nvSpPr>
          <p:cNvPr id="64" name="TextBox 63"/>
          <p:cNvSpPr txBox="1"/>
          <p:nvPr/>
        </p:nvSpPr>
        <p:spPr>
          <a:xfrm>
            <a:off x="3604564" y="5047488"/>
            <a:ext cx="2059228" cy="182880"/>
          </a:xfrm>
          <a:prstGeom prst="rect">
            <a:avLst/>
          </a:prstGeom>
          <a:noFill/>
        </p:spPr>
        <p:txBody>
          <a:bodyPr wrap="square" lIns="27432" tIns="9144" rIns="27432" bIns="9144" anchor="t">
            <a:spAutoFit/>
          </a:bodyPr>
          <a:lstStyle/>
          <a:p>
            <a:pPr algn="l"/>
            <a:r>
              <a:rPr sz="800" b="1" i="0">
                <a:solidFill>
                  <a:srgbClr val="1F7A8C"/>
                </a:solidFill>
                <a:latin typeface="Calibri"/>
              </a:rPr>
              <a:t>PEPTIDE</a:t>
            </a:r>
          </a:p>
        </p:txBody>
      </p:sp>
      <p:sp>
        <p:nvSpPr>
          <p:cNvPr id="65" name="TextBox 64"/>
          <p:cNvSpPr txBox="1"/>
          <p:nvPr/>
        </p:nvSpPr>
        <p:spPr>
          <a:xfrm>
            <a:off x="3604564" y="5230368"/>
            <a:ext cx="2059228" cy="1143000"/>
          </a:xfrm>
          <a:prstGeom prst="rect">
            <a:avLst/>
          </a:prstGeom>
          <a:noFill/>
        </p:spPr>
        <p:txBody>
          <a:bodyPr wrap="square" lIns="27432" tIns="9144" rIns="27432" bIns="9144" anchor="t">
            <a:spAutoFit/>
          </a:bodyPr>
          <a:lstStyle/>
          <a:p>
            <a:pPr algn="l">
              <a:spcAft>
                <a:spcPts val="200"/>
              </a:spcAft>
            </a:pPr>
            <a:r>
              <a:rPr sz="750" b="0" i="0">
                <a:solidFill>
                  <a:srgbClr val="262626"/>
                </a:solidFill>
                <a:latin typeface="Calibri"/>
              </a:rPr>
              <a:t>Mechanism and relevance: HLA-restricted HER2 epitopes with GM-CSF; the only direct Phase III.</a:t>
            </a:r>
          </a:p>
          <a:p>
            <a:pPr algn="l">
              <a:spcAft>
                <a:spcPts val="200"/>
              </a:spcAft>
            </a:pPr>
            <a:r>
              <a:rPr sz="750" b="0" i="0">
                <a:solidFill>
                  <a:srgbClr val="262626"/>
                </a:solidFill>
                <a:latin typeface="Calibri"/>
              </a:rPr>
              <a:t>Manufacturing: synthetic, commercial-scale lot already produced.</a:t>
            </a:r>
          </a:p>
          <a:p>
            <a:pPr algn="l">
              <a:spcAft>
                <a:spcPts val="200"/>
              </a:spcAft>
            </a:pPr>
            <a:r>
              <a:rPr sz="750" b="0" i="0">
                <a:solidFill>
                  <a:srgbClr val="262626"/>
                </a:solidFill>
                <a:latin typeface="Calibri"/>
              </a:rPr>
              <a:t>Issue: HLA restriction narrows eligibility; being widened in FLAMINGO-01.</a:t>
            </a:r>
          </a:p>
        </p:txBody>
      </p:sp>
      <p:sp>
        <p:nvSpPr>
          <p:cNvPr id="66" name="TextBox 65"/>
          <p:cNvSpPr txBox="1"/>
          <p:nvPr/>
        </p:nvSpPr>
        <p:spPr>
          <a:xfrm>
            <a:off x="5718657" y="5047488"/>
            <a:ext cx="2059228" cy="182880"/>
          </a:xfrm>
          <a:prstGeom prst="rect">
            <a:avLst/>
          </a:prstGeom>
          <a:noFill/>
        </p:spPr>
        <p:txBody>
          <a:bodyPr wrap="square" lIns="27432" tIns="9144" rIns="27432" bIns="9144" anchor="t">
            <a:spAutoFit/>
          </a:bodyPr>
          <a:lstStyle/>
          <a:p>
            <a:pPr algn="l"/>
            <a:r>
              <a:rPr sz="800" b="1" i="0">
                <a:solidFill>
                  <a:srgbClr val="7B5EA7"/>
                </a:solidFill>
                <a:latin typeface="Calibri"/>
              </a:rPr>
              <a:t>PROTEIN / VLP</a:t>
            </a:r>
          </a:p>
        </p:txBody>
      </p:sp>
      <p:sp>
        <p:nvSpPr>
          <p:cNvPr id="67" name="TextBox 66"/>
          <p:cNvSpPr txBox="1"/>
          <p:nvPr/>
        </p:nvSpPr>
        <p:spPr>
          <a:xfrm>
            <a:off x="5718657" y="5230368"/>
            <a:ext cx="2059228" cy="1143000"/>
          </a:xfrm>
          <a:prstGeom prst="rect">
            <a:avLst/>
          </a:prstGeom>
          <a:noFill/>
        </p:spPr>
        <p:txBody>
          <a:bodyPr wrap="square" lIns="27432" tIns="9144" rIns="27432" bIns="9144" anchor="t">
            <a:spAutoFit/>
          </a:bodyPr>
          <a:lstStyle/>
          <a:p>
            <a:pPr algn="l">
              <a:spcAft>
                <a:spcPts val="200"/>
              </a:spcAft>
            </a:pPr>
            <a:r>
              <a:rPr sz="750" b="0" i="0">
                <a:solidFill>
                  <a:srgbClr val="262626"/>
                </a:solidFill>
                <a:latin typeface="Calibri"/>
              </a:rPr>
              <a:t>Mechanism and relevance: full HER2 extracellular domain displayed at high density to induce polyclonal antibodies.</a:t>
            </a:r>
          </a:p>
          <a:p>
            <a:pPr algn="l">
              <a:spcAft>
                <a:spcPts val="200"/>
              </a:spcAft>
            </a:pPr>
            <a:r>
              <a:rPr sz="750" b="0" i="0">
                <a:solidFill>
                  <a:srgbClr val="262626"/>
                </a:solidFill>
                <a:latin typeface="Calibri"/>
              </a:rPr>
              <a:t>Manufacturing: insect-cell protein plus VLP; technology used in a Phase III COVID-19 vaccine.</a:t>
            </a:r>
          </a:p>
          <a:p>
            <a:pPr algn="l">
              <a:spcAft>
                <a:spcPts val="200"/>
              </a:spcAft>
            </a:pPr>
            <a:r>
              <a:rPr sz="750" b="0" i="0">
                <a:solidFill>
                  <a:srgbClr val="262626"/>
                </a:solidFill>
                <a:latin typeface="Calibri"/>
              </a:rPr>
              <a:t>Issue: only Phase I immunogenicity so far; funding is thin.</a:t>
            </a:r>
          </a:p>
        </p:txBody>
      </p:sp>
      <p:sp>
        <p:nvSpPr>
          <p:cNvPr id="68" name="TextBox 67"/>
          <p:cNvSpPr txBox="1"/>
          <p:nvPr/>
        </p:nvSpPr>
        <p:spPr>
          <a:xfrm>
            <a:off x="7832750" y="5047488"/>
            <a:ext cx="2059228" cy="182880"/>
          </a:xfrm>
          <a:prstGeom prst="rect">
            <a:avLst/>
          </a:prstGeom>
          <a:noFill/>
        </p:spPr>
        <p:txBody>
          <a:bodyPr wrap="square" lIns="27432" tIns="9144" rIns="27432" bIns="9144" anchor="t">
            <a:spAutoFit/>
          </a:bodyPr>
          <a:lstStyle/>
          <a:p>
            <a:pPr algn="l"/>
            <a:r>
              <a:rPr sz="800" b="1" i="0">
                <a:solidFill>
                  <a:srgbClr val="C07A2B"/>
                </a:solidFill>
                <a:latin typeface="Calibri"/>
              </a:rPr>
              <a:t>MRNA</a:t>
            </a:r>
          </a:p>
        </p:txBody>
      </p:sp>
      <p:sp>
        <p:nvSpPr>
          <p:cNvPr id="69" name="TextBox 68"/>
          <p:cNvSpPr txBox="1"/>
          <p:nvPr/>
        </p:nvSpPr>
        <p:spPr>
          <a:xfrm>
            <a:off x="7832750" y="5230368"/>
            <a:ext cx="2059228" cy="1143000"/>
          </a:xfrm>
          <a:prstGeom prst="rect">
            <a:avLst/>
          </a:prstGeom>
          <a:noFill/>
        </p:spPr>
        <p:txBody>
          <a:bodyPr wrap="square" lIns="27432" tIns="9144" rIns="27432" bIns="9144" anchor="t">
            <a:spAutoFit/>
          </a:bodyPr>
          <a:lstStyle/>
          <a:p>
            <a:pPr algn="l">
              <a:spcAft>
                <a:spcPts val="200"/>
              </a:spcAft>
            </a:pPr>
            <a:r>
              <a:rPr sz="750" b="0" i="0">
                <a:solidFill>
                  <a:srgbClr val="262626"/>
                </a:solidFill>
                <a:latin typeface="Calibri"/>
              </a:rPr>
              <a:t>Mechanism and relevance: individualized neoantigen mRNA with checkpoint inhibitor; proven in melanoma Phase III.</a:t>
            </a:r>
          </a:p>
          <a:p>
            <a:pPr algn="l">
              <a:spcAft>
                <a:spcPts val="200"/>
              </a:spcAft>
            </a:pPr>
            <a:r>
              <a:rPr sz="750" b="0" i="0">
                <a:solidFill>
                  <a:srgbClr val="262626"/>
                </a:solidFill>
                <a:latin typeface="Calibri"/>
              </a:rPr>
              <a:t>Manufacturing: per-patient sequencing and LNP production.</a:t>
            </a:r>
          </a:p>
          <a:p>
            <a:pPr algn="l">
              <a:spcAft>
                <a:spcPts val="200"/>
              </a:spcAft>
            </a:pPr>
            <a:r>
              <a:rPr sz="750" b="0" i="0">
                <a:solidFill>
                  <a:srgbClr val="262626"/>
                </a:solidFill>
                <a:latin typeface="Calibri"/>
              </a:rPr>
              <a:t>Issue: no HER2 program; value shown with checkpoint combination, not as monotherapy.</a:t>
            </a:r>
          </a:p>
        </p:txBody>
      </p:sp>
      <p:sp>
        <p:nvSpPr>
          <p:cNvPr id="70" name="TextBox 69"/>
          <p:cNvSpPr txBox="1"/>
          <p:nvPr/>
        </p:nvSpPr>
        <p:spPr>
          <a:xfrm>
            <a:off x="9946843" y="5047488"/>
            <a:ext cx="2059228" cy="182880"/>
          </a:xfrm>
          <a:prstGeom prst="rect">
            <a:avLst/>
          </a:prstGeom>
          <a:noFill/>
        </p:spPr>
        <p:txBody>
          <a:bodyPr wrap="square" lIns="27432" tIns="9144" rIns="27432" bIns="9144" anchor="t">
            <a:spAutoFit/>
          </a:bodyPr>
          <a:lstStyle/>
          <a:p>
            <a:pPr algn="l"/>
            <a:r>
              <a:rPr sz="800" b="1" i="0">
                <a:solidFill>
                  <a:srgbClr val="6B6B6B"/>
                </a:solidFill>
                <a:latin typeface="Calibri"/>
              </a:rPr>
              <a:t>OTHER THERAPEUTIC PLATFORMS</a:t>
            </a:r>
          </a:p>
        </p:txBody>
      </p:sp>
      <p:sp>
        <p:nvSpPr>
          <p:cNvPr id="71" name="TextBox 70"/>
          <p:cNvSpPr txBox="1"/>
          <p:nvPr/>
        </p:nvSpPr>
        <p:spPr>
          <a:xfrm>
            <a:off x="9946843" y="5230368"/>
            <a:ext cx="2059228" cy="1143000"/>
          </a:xfrm>
          <a:prstGeom prst="rect">
            <a:avLst/>
          </a:prstGeom>
          <a:noFill/>
        </p:spPr>
        <p:txBody>
          <a:bodyPr wrap="square" lIns="27432" tIns="9144" rIns="27432" bIns="9144" anchor="t">
            <a:spAutoFit/>
          </a:bodyPr>
          <a:lstStyle/>
          <a:p>
            <a:pPr algn="l">
              <a:spcAft>
                <a:spcPts val="200"/>
              </a:spcAft>
            </a:pPr>
            <a:r>
              <a:rPr sz="750" b="0" i="0">
                <a:solidFill>
                  <a:srgbClr val="262626"/>
                </a:solidFill>
                <a:latin typeface="Calibri"/>
              </a:rPr>
              <a:t>Mechanism and relevance: dendritic cell and whole-cell vaccines present many antigens.</a:t>
            </a:r>
          </a:p>
          <a:p>
            <a:pPr algn="l">
              <a:spcAft>
                <a:spcPts val="200"/>
              </a:spcAft>
            </a:pPr>
            <a:r>
              <a:rPr sz="750" b="0" i="0">
                <a:solidFill>
                  <a:srgbClr val="262626"/>
                </a:solidFill>
                <a:latin typeface="Calibri"/>
              </a:rPr>
              <a:t>Manufacturing: autologous cells (DC1) or off-the-shelf cell line (Bria-IMT).</a:t>
            </a:r>
          </a:p>
          <a:p>
            <a:pPr algn="l">
              <a:spcAft>
                <a:spcPts val="200"/>
              </a:spcAft>
            </a:pPr>
            <a:r>
              <a:rPr sz="750" b="0" i="0">
                <a:solidFill>
                  <a:srgbClr val="262626"/>
                </a:solidFill>
                <a:latin typeface="Calibri"/>
              </a:rPr>
              <a:t>Issue: cell-therapy logistics and weak HER2 specificity for whole cell.</a:t>
            </a:r>
          </a:p>
        </p:txBody>
      </p:sp>
      <p:sp>
        <p:nvSpPr>
          <p:cNvPr id="72" name="TextBox 71"/>
          <p:cNvSpPr txBox="1"/>
          <p:nvPr/>
        </p:nvSpPr>
        <p:spPr>
          <a:xfrm>
            <a:off x="182880" y="5047488"/>
            <a:ext cx="1234440" cy="1188720"/>
          </a:xfrm>
          <a:prstGeom prst="rect">
            <a:avLst/>
          </a:prstGeom>
          <a:noFill/>
        </p:spPr>
        <p:txBody>
          <a:bodyPr wrap="square" lIns="27432" tIns="9144" rIns="27432" bIns="9144" anchor="t">
            <a:spAutoFit/>
          </a:bodyPr>
          <a:lstStyle/>
          <a:p>
            <a:pPr algn="l"/>
            <a:r>
              <a:rPr sz="800" b="1" i="0">
                <a:solidFill>
                  <a:srgbClr val="0E3A66"/>
                </a:solidFill>
                <a:latin typeface="Calibri"/>
              </a:rPr>
              <a:t>PLATFORM SUMMARY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Corporate level: the HER2 vaccine field is run by small listed biotechs and academic centres; none of the direct developers has a big-pharma partner, and financing capacity, not science, is the binding constraint</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6</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Eight corporate dimensions for the active direct and highly relevant developers; scores use the criteria stated under each column</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Rectangle 5"/>
          <p:cNvSpPr/>
          <p:nvPr/>
        </p:nvSpPr>
        <p:spPr>
          <a:xfrm>
            <a:off x="182880" y="1353312"/>
            <a:ext cx="11823192"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53312"/>
            <a:ext cx="11731752" cy="237744"/>
          </a:xfrm>
          <a:prstGeom prst="rect">
            <a:avLst/>
          </a:prstGeom>
          <a:noFill/>
        </p:spPr>
        <p:txBody>
          <a:bodyPr wrap="square" lIns="27432" tIns="9144" rIns="27432" bIns="9144" anchor="ctr">
            <a:spAutoFit/>
          </a:bodyPr>
          <a:lstStyle/>
          <a:p>
            <a:pPr algn="l"/>
            <a:r>
              <a:rPr sz="900" b="1" i="0">
                <a:solidFill>
                  <a:srgbClr val="FFFFFF"/>
                </a:solidFill>
                <a:latin typeface="Calibri"/>
              </a:rPr>
              <a:t>LEVEL 1, CORPORATE: WHO THEY ARE</a:t>
            </a:r>
          </a:p>
        </p:txBody>
      </p:sp>
      <p:sp>
        <p:nvSpPr>
          <p:cNvPr id="8" name="TextBox 7"/>
          <p:cNvSpPr txBox="1"/>
          <p:nvPr/>
        </p:nvSpPr>
        <p:spPr>
          <a:xfrm>
            <a:off x="1783080" y="1609344"/>
            <a:ext cx="1143000" cy="274320"/>
          </a:xfrm>
          <a:prstGeom prst="rect">
            <a:avLst/>
          </a:prstGeom>
          <a:noFill/>
        </p:spPr>
        <p:txBody>
          <a:bodyPr wrap="square" lIns="27432" tIns="9144" rIns="27432" bIns="9144" anchor="b">
            <a:spAutoFit/>
          </a:bodyPr>
          <a:lstStyle/>
          <a:p>
            <a:pPr algn="l"/>
            <a:r>
              <a:rPr sz="850" b="1" i="0">
                <a:solidFill>
                  <a:srgbClr val="0E3A66"/>
                </a:solidFill>
                <a:latin typeface="Calibri"/>
              </a:rPr>
              <a:t>Parent and ownership</a:t>
            </a:r>
          </a:p>
        </p:txBody>
      </p:sp>
      <p:sp>
        <p:nvSpPr>
          <p:cNvPr id="9" name="TextBox 8"/>
          <p:cNvSpPr txBox="1"/>
          <p:nvPr/>
        </p:nvSpPr>
        <p:spPr>
          <a:xfrm>
            <a:off x="1783080" y="1892807"/>
            <a:ext cx="1143000" cy="237744"/>
          </a:xfrm>
          <a:prstGeom prst="rect">
            <a:avLst/>
          </a:prstGeom>
          <a:noFill/>
        </p:spPr>
        <p:txBody>
          <a:bodyPr wrap="square" lIns="27432" tIns="9144" rIns="27432" bIns="9144" anchor="t">
            <a:spAutoFit/>
          </a:bodyPr>
          <a:lstStyle/>
          <a:p>
            <a:pPr algn="l"/>
            <a:r>
              <a:rPr sz="700" b="0" i="1">
                <a:solidFill>
                  <a:srgbClr val="595959"/>
                </a:solidFill>
                <a:latin typeface="Calibri"/>
              </a:rPr>
              <a:t>Listed, private, academic</a:t>
            </a:r>
          </a:p>
        </p:txBody>
      </p:sp>
      <p:sp>
        <p:nvSpPr>
          <p:cNvPr id="10" name="TextBox 9"/>
          <p:cNvSpPr txBox="1"/>
          <p:nvPr/>
        </p:nvSpPr>
        <p:spPr>
          <a:xfrm>
            <a:off x="2971800" y="1609344"/>
            <a:ext cx="1371600" cy="274320"/>
          </a:xfrm>
          <a:prstGeom prst="rect">
            <a:avLst/>
          </a:prstGeom>
          <a:noFill/>
        </p:spPr>
        <p:txBody>
          <a:bodyPr wrap="square" lIns="27432" tIns="9144" rIns="27432" bIns="9144" anchor="b">
            <a:spAutoFit/>
          </a:bodyPr>
          <a:lstStyle/>
          <a:p>
            <a:pPr algn="l"/>
            <a:r>
              <a:rPr sz="850" b="1" i="0">
                <a:solidFill>
                  <a:srgbClr val="0E3A66"/>
                </a:solidFill>
                <a:latin typeface="Calibri"/>
              </a:rPr>
              <a:t>Strategic focus</a:t>
            </a:r>
          </a:p>
        </p:txBody>
      </p:sp>
      <p:sp>
        <p:nvSpPr>
          <p:cNvPr id="11" name="TextBox 10"/>
          <p:cNvSpPr txBox="1"/>
          <p:nvPr/>
        </p:nvSpPr>
        <p:spPr>
          <a:xfrm>
            <a:off x="2971800" y="1892807"/>
            <a:ext cx="1371600" cy="237744"/>
          </a:xfrm>
          <a:prstGeom prst="rect">
            <a:avLst/>
          </a:prstGeom>
          <a:noFill/>
        </p:spPr>
        <p:txBody>
          <a:bodyPr wrap="square" lIns="27432" tIns="9144" rIns="27432" bIns="9144" anchor="t">
            <a:spAutoFit/>
          </a:bodyPr>
          <a:lstStyle/>
          <a:p>
            <a:pPr algn="l"/>
            <a:r>
              <a:rPr sz="700" b="0" i="1">
                <a:solidFill>
                  <a:srgbClr val="595959"/>
                </a:solidFill>
                <a:latin typeface="Calibri"/>
              </a:rPr>
              <a:t>Dominant move in latest events</a:t>
            </a:r>
          </a:p>
        </p:txBody>
      </p:sp>
      <p:sp>
        <p:nvSpPr>
          <p:cNvPr id="12" name="TextBox 11"/>
          <p:cNvSpPr txBox="1"/>
          <p:nvPr/>
        </p:nvSpPr>
        <p:spPr>
          <a:xfrm>
            <a:off x="4389120" y="1609344"/>
            <a:ext cx="914400" cy="274320"/>
          </a:xfrm>
          <a:prstGeom prst="rect">
            <a:avLst/>
          </a:prstGeom>
          <a:noFill/>
        </p:spPr>
        <p:txBody>
          <a:bodyPr wrap="square" lIns="27432" tIns="9144" rIns="27432" bIns="9144" anchor="b">
            <a:spAutoFit/>
          </a:bodyPr>
          <a:lstStyle/>
          <a:p>
            <a:pPr algn="l"/>
            <a:r>
              <a:rPr sz="850" b="1" i="0">
                <a:solidFill>
                  <a:srgbClr val="0E3A66"/>
                </a:solidFill>
                <a:latin typeface="Calibri"/>
              </a:rPr>
              <a:t>HER2 pipeline breadth</a:t>
            </a:r>
          </a:p>
        </p:txBody>
      </p:sp>
      <p:sp>
        <p:nvSpPr>
          <p:cNvPr id="13" name="TextBox 12"/>
          <p:cNvSpPr txBox="1"/>
          <p:nvPr/>
        </p:nvSpPr>
        <p:spPr>
          <a:xfrm>
            <a:off x="4389120" y="1892807"/>
            <a:ext cx="914400" cy="237744"/>
          </a:xfrm>
          <a:prstGeom prst="rect">
            <a:avLst/>
          </a:prstGeom>
          <a:noFill/>
        </p:spPr>
        <p:txBody>
          <a:bodyPr wrap="square" lIns="27432" tIns="9144" rIns="27432" bIns="9144" anchor="t">
            <a:spAutoFit/>
          </a:bodyPr>
          <a:lstStyle/>
          <a:p>
            <a:pPr algn="l"/>
            <a:r>
              <a:rPr sz="700" b="0" i="1">
                <a:solidFill>
                  <a:srgbClr val="595959"/>
                </a:solidFill>
                <a:latin typeface="Calibri"/>
              </a:rPr>
              <a:t>3 = 2+ candidates or indications</a:t>
            </a:r>
          </a:p>
        </p:txBody>
      </p:sp>
      <p:sp>
        <p:nvSpPr>
          <p:cNvPr id="14" name="TextBox 13"/>
          <p:cNvSpPr txBox="1"/>
          <p:nvPr/>
        </p:nvSpPr>
        <p:spPr>
          <a:xfrm>
            <a:off x="5349240" y="1609344"/>
            <a:ext cx="914400" cy="274320"/>
          </a:xfrm>
          <a:prstGeom prst="rect">
            <a:avLst/>
          </a:prstGeom>
          <a:noFill/>
        </p:spPr>
        <p:txBody>
          <a:bodyPr wrap="square" lIns="27432" tIns="9144" rIns="27432" bIns="9144" anchor="b">
            <a:spAutoFit/>
          </a:bodyPr>
          <a:lstStyle/>
          <a:p>
            <a:pPr algn="l"/>
            <a:r>
              <a:rPr sz="850" b="1" i="0">
                <a:solidFill>
                  <a:srgbClr val="0E3A66"/>
                </a:solidFill>
                <a:latin typeface="Calibri"/>
              </a:rPr>
              <a:t>Clinical geography</a:t>
            </a:r>
          </a:p>
        </p:txBody>
      </p:sp>
      <p:sp>
        <p:nvSpPr>
          <p:cNvPr id="15" name="TextBox 14"/>
          <p:cNvSpPr txBox="1"/>
          <p:nvPr/>
        </p:nvSpPr>
        <p:spPr>
          <a:xfrm>
            <a:off x="5349240" y="1892807"/>
            <a:ext cx="914400" cy="237744"/>
          </a:xfrm>
          <a:prstGeom prst="rect">
            <a:avLst/>
          </a:prstGeom>
          <a:noFill/>
        </p:spPr>
        <p:txBody>
          <a:bodyPr wrap="square" lIns="27432" tIns="9144" rIns="27432" bIns="9144" anchor="t">
            <a:spAutoFit/>
          </a:bodyPr>
          <a:lstStyle/>
          <a:p>
            <a:pPr algn="l"/>
            <a:r>
              <a:rPr sz="700" b="0" i="1">
                <a:solidFill>
                  <a:srgbClr val="595959"/>
                </a:solidFill>
                <a:latin typeface="Calibri"/>
              </a:rPr>
              <a:t>3 = 2+ continents, 1 = one country</a:t>
            </a:r>
          </a:p>
        </p:txBody>
      </p:sp>
      <p:sp>
        <p:nvSpPr>
          <p:cNvPr id="16" name="TextBox 15"/>
          <p:cNvSpPr txBox="1"/>
          <p:nvPr/>
        </p:nvSpPr>
        <p:spPr>
          <a:xfrm>
            <a:off x="6309359" y="1609344"/>
            <a:ext cx="914400" cy="274320"/>
          </a:xfrm>
          <a:prstGeom prst="rect">
            <a:avLst/>
          </a:prstGeom>
          <a:noFill/>
        </p:spPr>
        <p:txBody>
          <a:bodyPr wrap="square" lIns="27432" tIns="9144" rIns="27432" bIns="9144" anchor="b">
            <a:spAutoFit/>
          </a:bodyPr>
          <a:lstStyle/>
          <a:p>
            <a:pPr algn="l"/>
            <a:r>
              <a:rPr sz="850" b="1" i="0">
                <a:solidFill>
                  <a:srgbClr val="0E3A66"/>
                </a:solidFill>
                <a:latin typeface="Calibri"/>
              </a:rPr>
              <a:t>Scale and financing</a:t>
            </a:r>
          </a:p>
        </p:txBody>
      </p:sp>
      <p:sp>
        <p:nvSpPr>
          <p:cNvPr id="17" name="TextBox 16"/>
          <p:cNvSpPr txBox="1"/>
          <p:nvPr/>
        </p:nvSpPr>
        <p:spPr>
          <a:xfrm>
            <a:off x="6309359" y="1892807"/>
            <a:ext cx="914400" cy="237744"/>
          </a:xfrm>
          <a:prstGeom prst="rect">
            <a:avLst/>
          </a:prstGeom>
          <a:noFill/>
        </p:spPr>
        <p:txBody>
          <a:bodyPr wrap="square" lIns="27432" tIns="9144" rIns="27432" bIns="9144" anchor="t">
            <a:spAutoFit/>
          </a:bodyPr>
          <a:lstStyle/>
          <a:p>
            <a:pPr algn="l"/>
            <a:r>
              <a:rPr sz="700" b="0" i="1">
                <a:solidFill>
                  <a:srgbClr val="595959"/>
                </a:solidFill>
                <a:latin typeface="Calibri"/>
              </a:rPr>
              <a:t>3 = USD 50 M+, 1 = &lt;USD 10 M</a:t>
            </a:r>
          </a:p>
        </p:txBody>
      </p:sp>
      <p:sp>
        <p:nvSpPr>
          <p:cNvPr id="18" name="TextBox 17"/>
          <p:cNvSpPr txBox="1"/>
          <p:nvPr/>
        </p:nvSpPr>
        <p:spPr>
          <a:xfrm>
            <a:off x="7269479" y="1609344"/>
            <a:ext cx="1645920" cy="274320"/>
          </a:xfrm>
          <a:prstGeom prst="rect">
            <a:avLst/>
          </a:prstGeom>
          <a:noFill/>
        </p:spPr>
        <p:txBody>
          <a:bodyPr wrap="square" lIns="27432" tIns="9144" rIns="27432" bIns="9144" anchor="b">
            <a:spAutoFit/>
          </a:bodyPr>
          <a:lstStyle/>
          <a:p>
            <a:pPr algn="l"/>
            <a:r>
              <a:rPr sz="850" b="1" i="0">
                <a:solidFill>
                  <a:srgbClr val="0E3A66"/>
                </a:solidFill>
                <a:latin typeface="Calibri"/>
              </a:rPr>
              <a:t>Latest financing or partnership signal</a:t>
            </a:r>
          </a:p>
        </p:txBody>
      </p:sp>
      <p:sp>
        <p:nvSpPr>
          <p:cNvPr id="19" name="TextBox 18"/>
          <p:cNvSpPr txBox="1"/>
          <p:nvPr/>
        </p:nvSpPr>
        <p:spPr>
          <a:xfrm>
            <a:off x="7269479" y="1892807"/>
            <a:ext cx="1645920" cy="237744"/>
          </a:xfrm>
          <a:prstGeom prst="rect">
            <a:avLst/>
          </a:prstGeom>
          <a:noFill/>
        </p:spPr>
        <p:txBody>
          <a:bodyPr wrap="square" lIns="27432" tIns="9144" rIns="27432" bIns="9144" anchor="t">
            <a:spAutoFit/>
          </a:bodyPr>
          <a:lstStyle/>
          <a:p>
            <a:pPr algn="l"/>
            <a:r>
              <a:rPr sz="700" b="0" i="1">
                <a:solidFill>
                  <a:srgbClr val="595959"/>
                </a:solidFill>
                <a:latin typeface="Calibri"/>
              </a:rPr>
              <a:t>Dated event</a:t>
            </a:r>
          </a:p>
        </p:txBody>
      </p:sp>
      <p:sp>
        <p:nvSpPr>
          <p:cNvPr id="20" name="TextBox 19"/>
          <p:cNvSpPr txBox="1"/>
          <p:nvPr/>
        </p:nvSpPr>
        <p:spPr>
          <a:xfrm>
            <a:off x="8961119" y="1609344"/>
            <a:ext cx="1005839" cy="274320"/>
          </a:xfrm>
          <a:prstGeom prst="rect">
            <a:avLst/>
          </a:prstGeom>
          <a:noFill/>
        </p:spPr>
        <p:txBody>
          <a:bodyPr wrap="square" lIns="27432" tIns="9144" rIns="27432" bIns="9144" anchor="b">
            <a:spAutoFit/>
          </a:bodyPr>
          <a:lstStyle/>
          <a:p>
            <a:pPr algn="l"/>
            <a:r>
              <a:rPr sz="850" b="1" i="0">
                <a:solidFill>
                  <a:srgbClr val="0E3A66"/>
                </a:solidFill>
                <a:latin typeface="Calibri"/>
              </a:rPr>
              <a:t>Leadership and science</a:t>
            </a:r>
          </a:p>
        </p:txBody>
      </p:sp>
      <p:sp>
        <p:nvSpPr>
          <p:cNvPr id="21" name="TextBox 20"/>
          <p:cNvSpPr txBox="1"/>
          <p:nvPr/>
        </p:nvSpPr>
        <p:spPr>
          <a:xfrm>
            <a:off x="8961119" y="1892807"/>
            <a:ext cx="1005839" cy="237744"/>
          </a:xfrm>
          <a:prstGeom prst="rect">
            <a:avLst/>
          </a:prstGeom>
          <a:noFill/>
        </p:spPr>
        <p:txBody>
          <a:bodyPr wrap="square" lIns="27432" tIns="9144" rIns="27432" bIns="9144" anchor="t">
            <a:spAutoFit/>
          </a:bodyPr>
          <a:lstStyle/>
          <a:p>
            <a:pPr algn="l"/>
            <a:r>
              <a:rPr sz="700" b="0" i="1">
                <a:solidFill>
                  <a:srgbClr val="595959"/>
                </a:solidFill>
                <a:latin typeface="Calibri"/>
              </a:rPr>
              <a:t>3 = named steering committee</a:t>
            </a:r>
          </a:p>
        </p:txBody>
      </p:sp>
      <p:sp>
        <p:nvSpPr>
          <p:cNvPr id="22" name="TextBox 21"/>
          <p:cNvSpPr txBox="1"/>
          <p:nvPr/>
        </p:nvSpPr>
        <p:spPr>
          <a:xfrm>
            <a:off x="10012680" y="1609344"/>
            <a:ext cx="1947672" cy="274320"/>
          </a:xfrm>
          <a:prstGeom prst="rect">
            <a:avLst/>
          </a:prstGeom>
          <a:noFill/>
        </p:spPr>
        <p:txBody>
          <a:bodyPr wrap="square" lIns="27432" tIns="9144" rIns="27432" bIns="9144" anchor="b">
            <a:spAutoFit/>
          </a:bodyPr>
          <a:lstStyle/>
          <a:p>
            <a:pPr algn="l"/>
            <a:r>
              <a:rPr sz="850" b="1" i="0">
                <a:solidFill>
                  <a:srgbClr val="0E3A66"/>
                </a:solidFill>
                <a:latin typeface="Calibri"/>
              </a:rPr>
              <a:t>Partnerships</a:t>
            </a:r>
          </a:p>
        </p:txBody>
      </p:sp>
      <p:sp>
        <p:nvSpPr>
          <p:cNvPr id="23" name="TextBox 22"/>
          <p:cNvSpPr txBox="1"/>
          <p:nvPr/>
        </p:nvSpPr>
        <p:spPr>
          <a:xfrm>
            <a:off x="10012680" y="1892807"/>
            <a:ext cx="1947672" cy="237744"/>
          </a:xfrm>
          <a:prstGeom prst="rect">
            <a:avLst/>
          </a:prstGeom>
          <a:noFill/>
        </p:spPr>
        <p:txBody>
          <a:bodyPr wrap="square" lIns="27432" tIns="9144" rIns="27432" bIns="9144" anchor="t">
            <a:spAutoFit/>
          </a:bodyPr>
          <a:lstStyle/>
          <a:p>
            <a:pPr algn="l"/>
            <a:r>
              <a:rPr sz="700" b="0" i="1">
                <a:solidFill>
                  <a:srgbClr val="595959"/>
                </a:solidFill>
                <a:latin typeface="Calibri"/>
              </a:rPr>
              <a:t>3 = pharma, 2 = licence or academic</a:t>
            </a:r>
          </a:p>
        </p:txBody>
      </p:sp>
      <p:cxnSp>
        <p:nvCxnSpPr>
          <p:cNvPr id="24" name="Connector 23"/>
          <p:cNvCxnSpPr/>
          <p:nvPr/>
        </p:nvCxnSpPr>
        <p:spPr>
          <a:xfrm>
            <a:off x="182880" y="2139696"/>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82880" y="2231136"/>
            <a:ext cx="45720" cy="43891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4320" y="2212848"/>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Greenwich LifeSciences</a:t>
            </a:r>
          </a:p>
        </p:txBody>
      </p:sp>
      <p:sp>
        <p:nvSpPr>
          <p:cNvPr id="27" name="TextBox 26"/>
          <p:cNvSpPr txBox="1"/>
          <p:nvPr/>
        </p:nvSpPr>
        <p:spPr>
          <a:xfrm>
            <a:off x="274320" y="2432304"/>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US | GLSI-100</a:t>
            </a:r>
          </a:p>
        </p:txBody>
      </p:sp>
      <p:sp>
        <p:nvSpPr>
          <p:cNvPr id="28" name="TextBox 27"/>
          <p:cNvSpPr txBox="1"/>
          <p:nvPr/>
        </p:nvSpPr>
        <p:spPr>
          <a:xfrm>
            <a:off x="1783080" y="2212848"/>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Listed, Nasdaq: GLSI</a:t>
            </a:r>
          </a:p>
        </p:txBody>
      </p:sp>
      <p:sp>
        <p:nvSpPr>
          <p:cNvPr id="29" name="TextBox 28"/>
          <p:cNvSpPr txBox="1"/>
          <p:nvPr/>
        </p:nvSpPr>
        <p:spPr>
          <a:xfrm>
            <a:off x="2971800" y="2212848"/>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Single-asset Phase III; resize trial for BLA at interim</a:t>
            </a:r>
          </a:p>
        </p:txBody>
      </p:sp>
      <p:sp>
        <p:nvSpPr>
          <p:cNvPr id="30" name="Oval 29"/>
          <p:cNvSpPr/>
          <p:nvPr/>
        </p:nvSpPr>
        <p:spPr>
          <a:xfrm>
            <a:off x="4754880" y="238201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715000" y="2382011"/>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675120" y="238201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372599" y="2382011"/>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69479" y="2212848"/>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USD 8.9 M cash at 30 Jun 2026 (preliminary); seeking licence or royalty financing</a:t>
            </a:r>
          </a:p>
        </p:txBody>
      </p:sp>
      <p:sp>
        <p:nvSpPr>
          <p:cNvPr id="35" name="Oval 34"/>
          <p:cNvSpPr/>
          <p:nvPr/>
        </p:nvSpPr>
        <p:spPr>
          <a:xfrm>
            <a:off x="10035540" y="225399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13848" y="2231136"/>
            <a:ext cx="1764792" cy="475488"/>
          </a:xfrm>
          <a:prstGeom prst="rect">
            <a:avLst/>
          </a:prstGeom>
          <a:noFill/>
        </p:spPr>
        <p:txBody>
          <a:bodyPr wrap="square" lIns="27432" tIns="9144" rIns="27432" bIns="9144" anchor="t">
            <a:spAutoFit/>
          </a:bodyPr>
          <a:lstStyle/>
          <a:p>
            <a:pPr algn="l"/>
            <a:r>
              <a:rPr sz="750" b="0" i="0">
                <a:solidFill>
                  <a:srgbClr val="404040"/>
                </a:solidFill>
                <a:latin typeface="Calibri"/>
              </a:rPr>
              <a:t>None disclosed; seeking strategic partner</a:t>
            </a:r>
          </a:p>
        </p:txBody>
      </p:sp>
      <p:cxnSp>
        <p:nvCxnSpPr>
          <p:cNvPr id="37" name="Connector 36"/>
          <p:cNvCxnSpPr/>
          <p:nvPr/>
        </p:nvCxnSpPr>
        <p:spPr>
          <a:xfrm>
            <a:off x="182880" y="272491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82880" y="2779776"/>
            <a:ext cx="45720" cy="43891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74320" y="2761488"/>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Aston Sci.</a:t>
            </a:r>
          </a:p>
        </p:txBody>
      </p:sp>
      <p:sp>
        <p:nvSpPr>
          <p:cNvPr id="40" name="TextBox 39"/>
          <p:cNvSpPr txBox="1"/>
          <p:nvPr/>
        </p:nvSpPr>
        <p:spPr>
          <a:xfrm>
            <a:off x="274320" y="2980944"/>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KR | AST-301</a:t>
            </a:r>
          </a:p>
        </p:txBody>
      </p:sp>
      <p:sp>
        <p:nvSpPr>
          <p:cNvPr id="41" name="TextBox 40"/>
          <p:cNvSpPr txBox="1"/>
          <p:nvPr/>
        </p:nvSpPr>
        <p:spPr>
          <a:xfrm>
            <a:off x="1783080" y="2761488"/>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Private (Korea)</a:t>
            </a:r>
          </a:p>
        </p:txBody>
      </p:sp>
      <p:sp>
        <p:nvSpPr>
          <p:cNvPr id="42" name="TextBox 41"/>
          <p:cNvSpPr txBox="1"/>
          <p:nvPr/>
        </p:nvSpPr>
        <p:spPr>
          <a:xfrm>
            <a:off x="2971800" y="2761488"/>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Out-license gastric AST-301; breast trial terminated</a:t>
            </a:r>
          </a:p>
        </p:txBody>
      </p:sp>
      <p:sp>
        <p:nvSpPr>
          <p:cNvPr id="43" name="Oval 42"/>
          <p:cNvSpPr/>
          <p:nvPr/>
        </p:nvSpPr>
        <p:spPr>
          <a:xfrm>
            <a:off x="4754880" y="293065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hord 43"/>
          <p:cNvSpPr/>
          <p:nvPr/>
        </p:nvSpPr>
        <p:spPr>
          <a:xfrm>
            <a:off x="4754880" y="293065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715000" y="293065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675120" y="293065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372599" y="293065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Chord 47"/>
          <p:cNvSpPr/>
          <p:nvPr/>
        </p:nvSpPr>
        <p:spPr>
          <a:xfrm>
            <a:off x="9372599" y="293065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69479" y="2761488"/>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USD 22.7 M Series C (2022); licensing listed at BIO 2025</a:t>
            </a:r>
          </a:p>
        </p:txBody>
      </p:sp>
      <p:sp>
        <p:nvSpPr>
          <p:cNvPr id="50" name="Oval 49"/>
          <p:cNvSpPr/>
          <p:nvPr/>
        </p:nvSpPr>
        <p:spPr>
          <a:xfrm>
            <a:off x="10035540" y="280263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Chord 50"/>
          <p:cNvSpPr/>
          <p:nvPr/>
        </p:nvSpPr>
        <p:spPr>
          <a:xfrm>
            <a:off x="10035540" y="280263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13848" y="2779776"/>
            <a:ext cx="1764792" cy="475488"/>
          </a:xfrm>
          <a:prstGeom prst="rect">
            <a:avLst/>
          </a:prstGeom>
          <a:noFill/>
        </p:spPr>
        <p:txBody>
          <a:bodyPr wrap="square" lIns="27432" tIns="9144" rIns="27432" bIns="9144" anchor="t">
            <a:spAutoFit/>
          </a:bodyPr>
          <a:lstStyle/>
          <a:p>
            <a:pPr algn="l"/>
            <a:r>
              <a:rPr sz="750" b="0" i="0">
                <a:solidFill>
                  <a:srgbClr val="404040"/>
                </a:solidFill>
                <a:latin typeface="Calibri"/>
              </a:rPr>
              <a:t>UW-origin construct; out-licensing sought</a:t>
            </a:r>
          </a:p>
        </p:txBody>
      </p:sp>
      <p:cxnSp>
        <p:nvCxnSpPr>
          <p:cNvPr id="53" name="Connector 52"/>
          <p:cNvCxnSpPr/>
          <p:nvPr/>
        </p:nvCxnSpPr>
        <p:spPr>
          <a:xfrm>
            <a:off x="182880" y="327355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82880" y="3328416"/>
            <a:ext cx="45720" cy="43891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4320" y="3310128"/>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ExpreS2ion Biotechnologies</a:t>
            </a:r>
          </a:p>
        </p:txBody>
      </p:sp>
      <p:sp>
        <p:nvSpPr>
          <p:cNvPr id="56" name="TextBox 55"/>
          <p:cNvSpPr txBox="1"/>
          <p:nvPr/>
        </p:nvSpPr>
        <p:spPr>
          <a:xfrm>
            <a:off x="274320" y="3529584"/>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DK | ES2B-C001</a:t>
            </a:r>
          </a:p>
        </p:txBody>
      </p:sp>
      <p:sp>
        <p:nvSpPr>
          <p:cNvPr id="57" name="TextBox 56"/>
          <p:cNvSpPr txBox="1"/>
          <p:nvPr/>
        </p:nvSpPr>
        <p:spPr>
          <a:xfrm>
            <a:off x="1783080" y="3310128"/>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Listed, Nasdaq First North (SE)</a:t>
            </a:r>
          </a:p>
        </p:txBody>
      </p:sp>
      <p:sp>
        <p:nvSpPr>
          <p:cNvPr id="58" name="TextBox 57"/>
          <p:cNvSpPr txBox="1"/>
          <p:nvPr/>
        </p:nvSpPr>
        <p:spPr>
          <a:xfrm>
            <a:off x="2971800" y="3310128"/>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Complete Phase I, partner for Phase II</a:t>
            </a:r>
          </a:p>
        </p:txBody>
      </p:sp>
      <p:sp>
        <p:nvSpPr>
          <p:cNvPr id="59" name="Oval 58"/>
          <p:cNvSpPr/>
          <p:nvPr/>
        </p:nvSpPr>
        <p:spPr>
          <a:xfrm>
            <a:off x="4754880" y="347929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Chord 59"/>
          <p:cNvSpPr/>
          <p:nvPr/>
        </p:nvSpPr>
        <p:spPr>
          <a:xfrm>
            <a:off x="4754880" y="347929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5715000" y="347929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6675120" y="347929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9372599" y="347929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Chord 63"/>
          <p:cNvSpPr/>
          <p:nvPr/>
        </p:nvSpPr>
        <p:spPr>
          <a:xfrm>
            <a:off x="9372599" y="347929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269479" y="3310128"/>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Rights issue SEK 32.4 M gross, Apr 2026 (59.9% subscribed)</a:t>
            </a:r>
          </a:p>
        </p:txBody>
      </p:sp>
      <p:sp>
        <p:nvSpPr>
          <p:cNvPr id="66" name="Oval 65"/>
          <p:cNvSpPr/>
          <p:nvPr/>
        </p:nvSpPr>
        <p:spPr>
          <a:xfrm>
            <a:off x="10035540" y="335127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Chord 66"/>
          <p:cNvSpPr/>
          <p:nvPr/>
        </p:nvSpPr>
        <p:spPr>
          <a:xfrm>
            <a:off x="10035540" y="335127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0213848" y="3328416"/>
            <a:ext cx="1764792" cy="475488"/>
          </a:xfrm>
          <a:prstGeom prst="rect">
            <a:avLst/>
          </a:prstGeom>
          <a:noFill/>
        </p:spPr>
        <p:txBody>
          <a:bodyPr wrap="square" lIns="27432" tIns="9144" rIns="27432" bIns="9144" anchor="t">
            <a:spAutoFit/>
          </a:bodyPr>
          <a:lstStyle/>
          <a:p>
            <a:pPr algn="l"/>
            <a:r>
              <a:rPr sz="750" b="0" i="0">
                <a:solidFill>
                  <a:srgbClr val="404040"/>
                </a:solidFill>
                <a:latin typeface="Calibri"/>
              </a:rPr>
              <a:t>AdaptVac licence; MedUni Vienna</a:t>
            </a:r>
          </a:p>
        </p:txBody>
      </p:sp>
      <p:cxnSp>
        <p:nvCxnSpPr>
          <p:cNvPr id="69" name="Connector 68"/>
          <p:cNvCxnSpPr/>
          <p:nvPr/>
        </p:nvCxnSpPr>
        <p:spPr>
          <a:xfrm>
            <a:off x="182880" y="3822191"/>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82880" y="3877055"/>
            <a:ext cx="45720" cy="43891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74320" y="3858768"/>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AdaptVac</a:t>
            </a:r>
          </a:p>
        </p:txBody>
      </p:sp>
      <p:sp>
        <p:nvSpPr>
          <p:cNvPr id="72" name="TextBox 71"/>
          <p:cNvSpPr txBox="1"/>
          <p:nvPr/>
        </p:nvSpPr>
        <p:spPr>
          <a:xfrm>
            <a:off x="274320" y="4078224"/>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DK | cVLP platform</a:t>
            </a:r>
          </a:p>
        </p:txBody>
      </p:sp>
      <p:sp>
        <p:nvSpPr>
          <p:cNvPr id="73" name="TextBox 72"/>
          <p:cNvSpPr txBox="1"/>
          <p:nvPr/>
        </p:nvSpPr>
        <p:spPr>
          <a:xfrm>
            <a:off x="1783080" y="3858768"/>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Private; 34% ExpreS2ion, 66% NextGen</a:t>
            </a:r>
          </a:p>
        </p:txBody>
      </p:sp>
      <p:sp>
        <p:nvSpPr>
          <p:cNvPr id="74" name="TextBox 73"/>
          <p:cNvSpPr txBox="1"/>
          <p:nvPr/>
        </p:nvSpPr>
        <p:spPr>
          <a:xfrm>
            <a:off x="2971800" y="3858768"/>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Platform licensing</a:t>
            </a:r>
          </a:p>
        </p:txBody>
      </p:sp>
      <p:sp>
        <p:nvSpPr>
          <p:cNvPr id="75" name="Oval 74"/>
          <p:cNvSpPr/>
          <p:nvPr/>
        </p:nvSpPr>
        <p:spPr>
          <a:xfrm>
            <a:off x="4754880" y="402793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509260" y="4014215"/>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sp>
        <p:nvSpPr>
          <p:cNvPr id="77" name="TextBox 76"/>
          <p:cNvSpPr txBox="1"/>
          <p:nvPr/>
        </p:nvSpPr>
        <p:spPr>
          <a:xfrm>
            <a:off x="6469380" y="4014215"/>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sp>
        <p:nvSpPr>
          <p:cNvPr id="78" name="Oval 77"/>
          <p:cNvSpPr/>
          <p:nvPr/>
        </p:nvSpPr>
        <p:spPr>
          <a:xfrm>
            <a:off x="9372599" y="402793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Chord 78"/>
          <p:cNvSpPr/>
          <p:nvPr/>
        </p:nvSpPr>
        <p:spPr>
          <a:xfrm>
            <a:off x="9372599" y="402793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269479" y="3858768"/>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DKK 42.5 M dividend to owners (Apr 2024)</a:t>
            </a:r>
          </a:p>
        </p:txBody>
      </p:sp>
      <p:sp>
        <p:nvSpPr>
          <p:cNvPr id="81" name="Oval 80"/>
          <p:cNvSpPr/>
          <p:nvPr/>
        </p:nvSpPr>
        <p:spPr>
          <a:xfrm>
            <a:off x="10035540" y="389991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Chord 81"/>
          <p:cNvSpPr/>
          <p:nvPr/>
        </p:nvSpPr>
        <p:spPr>
          <a:xfrm>
            <a:off x="10035540" y="389991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0213848" y="3877055"/>
            <a:ext cx="1764792" cy="475488"/>
          </a:xfrm>
          <a:prstGeom prst="rect">
            <a:avLst/>
          </a:prstGeom>
          <a:noFill/>
        </p:spPr>
        <p:txBody>
          <a:bodyPr wrap="square" lIns="27432" tIns="9144" rIns="27432" bIns="9144" anchor="t">
            <a:spAutoFit/>
          </a:bodyPr>
          <a:lstStyle/>
          <a:p>
            <a:pPr algn="l"/>
            <a:r>
              <a:rPr sz="750" b="0" i="0">
                <a:solidFill>
                  <a:srgbClr val="404040"/>
                </a:solidFill>
                <a:latin typeface="Calibri"/>
              </a:rPr>
              <a:t>Licensor to ExpreS2ion; University of Copenhagen ties</a:t>
            </a:r>
          </a:p>
        </p:txBody>
      </p:sp>
      <p:cxnSp>
        <p:nvCxnSpPr>
          <p:cNvPr id="84" name="Connector 83"/>
          <p:cNvCxnSpPr/>
          <p:nvPr/>
        </p:nvCxnSpPr>
        <p:spPr>
          <a:xfrm>
            <a:off x="182880" y="4370831"/>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82880" y="4425695"/>
            <a:ext cx="45720" cy="438912"/>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74320" y="4407407"/>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BriaCell</a:t>
            </a:r>
          </a:p>
        </p:txBody>
      </p:sp>
      <p:sp>
        <p:nvSpPr>
          <p:cNvPr id="87" name="TextBox 86"/>
          <p:cNvSpPr txBox="1"/>
          <p:nvPr/>
        </p:nvSpPr>
        <p:spPr>
          <a:xfrm>
            <a:off x="274320" y="4626864"/>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US/CA | Bria-IMT</a:t>
            </a:r>
          </a:p>
        </p:txBody>
      </p:sp>
      <p:sp>
        <p:nvSpPr>
          <p:cNvPr id="88" name="TextBox 87"/>
          <p:cNvSpPr txBox="1"/>
          <p:nvPr/>
        </p:nvSpPr>
        <p:spPr>
          <a:xfrm>
            <a:off x="1783080" y="4407407"/>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Listed, Nasdaq and TSX</a:t>
            </a:r>
          </a:p>
        </p:txBody>
      </p:sp>
      <p:sp>
        <p:nvSpPr>
          <p:cNvPr id="89" name="TextBox 88"/>
          <p:cNvSpPr txBox="1"/>
          <p:nvPr/>
        </p:nvSpPr>
        <p:spPr>
          <a:xfrm>
            <a:off x="2971800" y="4407407"/>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Phase III interim OS readout in 2026</a:t>
            </a:r>
          </a:p>
        </p:txBody>
      </p:sp>
      <p:sp>
        <p:nvSpPr>
          <p:cNvPr id="90" name="Oval 89"/>
          <p:cNvSpPr/>
          <p:nvPr/>
        </p:nvSpPr>
        <p:spPr>
          <a:xfrm>
            <a:off x="4754880" y="457657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Chord 90"/>
          <p:cNvSpPr/>
          <p:nvPr/>
        </p:nvSpPr>
        <p:spPr>
          <a:xfrm>
            <a:off x="4754880" y="457657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509260" y="4562855"/>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sp>
        <p:nvSpPr>
          <p:cNvPr id="93" name="Oval 92"/>
          <p:cNvSpPr/>
          <p:nvPr/>
        </p:nvSpPr>
        <p:spPr>
          <a:xfrm>
            <a:off x="6675120" y="457657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Chord 93"/>
          <p:cNvSpPr/>
          <p:nvPr/>
        </p:nvSpPr>
        <p:spPr>
          <a:xfrm>
            <a:off x="6675120" y="457657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372599" y="4576571"/>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Chord 95"/>
          <p:cNvSpPr/>
          <p:nvPr/>
        </p:nvSpPr>
        <p:spPr>
          <a:xfrm>
            <a:off x="9372599" y="4576571"/>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269479" y="4407407"/>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USD 30 M offering, Jan 2026; USD 4.7 M, May 2026</a:t>
            </a:r>
          </a:p>
        </p:txBody>
      </p:sp>
      <p:sp>
        <p:nvSpPr>
          <p:cNvPr id="98" name="TextBox 97"/>
          <p:cNvSpPr txBox="1"/>
          <p:nvPr/>
        </p:nvSpPr>
        <p:spPr>
          <a:xfrm>
            <a:off x="9829799" y="4434840"/>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cxnSp>
        <p:nvCxnSpPr>
          <p:cNvPr id="99" name="Connector 98"/>
          <p:cNvCxnSpPr/>
          <p:nvPr/>
        </p:nvCxnSpPr>
        <p:spPr>
          <a:xfrm>
            <a:off x="182880" y="4919471"/>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182880" y="4974335"/>
            <a:ext cx="45720" cy="438912"/>
          </a:xfrm>
          <a:prstGeom prst="rect">
            <a:avLst/>
          </a:prstGeom>
          <a:solidFill>
            <a:srgbClr val="3C8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274320" y="4956047"/>
            <a:ext cx="1463040" cy="228600"/>
          </a:xfrm>
          <a:prstGeom prst="rect">
            <a:avLst/>
          </a:prstGeom>
          <a:noFill/>
        </p:spPr>
        <p:txBody>
          <a:bodyPr wrap="square" lIns="27432" tIns="9144" rIns="27432" bIns="9144" anchor="t">
            <a:spAutoFit/>
          </a:bodyPr>
          <a:lstStyle/>
          <a:p>
            <a:pPr algn="l"/>
            <a:r>
              <a:rPr sz="900" b="1" i="0">
                <a:solidFill>
                  <a:srgbClr val="262626"/>
                </a:solidFill>
                <a:latin typeface="Calibri"/>
              </a:rPr>
              <a:t>Academic sponsors</a:t>
            </a:r>
          </a:p>
        </p:txBody>
      </p:sp>
      <p:sp>
        <p:nvSpPr>
          <p:cNvPr id="102" name="TextBox 101"/>
          <p:cNvSpPr txBox="1"/>
          <p:nvPr/>
        </p:nvSpPr>
        <p:spPr>
          <a:xfrm>
            <a:off x="274320" y="5175503"/>
            <a:ext cx="1463040" cy="182880"/>
          </a:xfrm>
          <a:prstGeom prst="rect">
            <a:avLst/>
          </a:prstGeom>
          <a:noFill/>
        </p:spPr>
        <p:txBody>
          <a:bodyPr wrap="square" lIns="27432" tIns="9144" rIns="27432" bIns="9144" anchor="t">
            <a:spAutoFit/>
          </a:bodyPr>
          <a:lstStyle/>
          <a:p>
            <a:pPr algn="l"/>
            <a:r>
              <a:rPr sz="750" b="0" i="0">
                <a:solidFill>
                  <a:srgbClr val="404040"/>
                </a:solidFill>
                <a:latin typeface="Calibri"/>
              </a:rPr>
              <a:t>Mayo, Moffitt, UW CVI</a:t>
            </a:r>
          </a:p>
        </p:txBody>
      </p:sp>
      <p:sp>
        <p:nvSpPr>
          <p:cNvPr id="103" name="TextBox 102"/>
          <p:cNvSpPr txBox="1"/>
          <p:nvPr/>
        </p:nvSpPr>
        <p:spPr>
          <a:xfrm>
            <a:off x="1783080" y="4956047"/>
            <a:ext cx="1115568" cy="475488"/>
          </a:xfrm>
          <a:prstGeom prst="rect">
            <a:avLst/>
          </a:prstGeom>
          <a:noFill/>
        </p:spPr>
        <p:txBody>
          <a:bodyPr wrap="square" lIns="27432" tIns="9144" rIns="27432" bIns="9144" anchor="t">
            <a:spAutoFit/>
          </a:bodyPr>
          <a:lstStyle/>
          <a:p>
            <a:pPr algn="l"/>
            <a:r>
              <a:rPr sz="750" b="0" i="0">
                <a:solidFill>
                  <a:srgbClr val="404040"/>
                </a:solidFill>
                <a:latin typeface="Calibri"/>
              </a:rPr>
              <a:t>Academic medical centres</a:t>
            </a:r>
          </a:p>
        </p:txBody>
      </p:sp>
      <p:sp>
        <p:nvSpPr>
          <p:cNvPr id="104" name="TextBox 103"/>
          <p:cNvSpPr txBox="1"/>
          <p:nvPr/>
        </p:nvSpPr>
        <p:spPr>
          <a:xfrm>
            <a:off x="2971800" y="4956047"/>
            <a:ext cx="1344168" cy="475488"/>
          </a:xfrm>
          <a:prstGeom prst="rect">
            <a:avLst/>
          </a:prstGeom>
          <a:noFill/>
        </p:spPr>
        <p:txBody>
          <a:bodyPr wrap="square" lIns="27432" tIns="9144" rIns="27432" bIns="9144" anchor="t">
            <a:spAutoFit/>
          </a:bodyPr>
          <a:lstStyle/>
          <a:p>
            <a:pPr algn="l"/>
            <a:r>
              <a:rPr sz="750" b="0" i="0">
                <a:solidFill>
                  <a:srgbClr val="404040"/>
                </a:solidFill>
                <a:latin typeface="Calibri"/>
              </a:rPr>
              <a:t>Investigator-led proof of concept</a:t>
            </a:r>
          </a:p>
        </p:txBody>
      </p:sp>
      <p:sp>
        <p:nvSpPr>
          <p:cNvPr id="105" name="Oval 104"/>
          <p:cNvSpPr/>
          <p:nvPr/>
        </p:nvSpPr>
        <p:spPr>
          <a:xfrm>
            <a:off x="4754880" y="5125211"/>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5715000" y="5125211"/>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69380" y="5111495"/>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sp>
        <p:nvSpPr>
          <p:cNvPr id="108" name="Oval 107"/>
          <p:cNvSpPr/>
          <p:nvPr/>
        </p:nvSpPr>
        <p:spPr>
          <a:xfrm>
            <a:off x="9372599" y="5125211"/>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269479" y="4956047"/>
            <a:ext cx="1618488" cy="475488"/>
          </a:xfrm>
          <a:prstGeom prst="rect">
            <a:avLst/>
          </a:prstGeom>
          <a:noFill/>
        </p:spPr>
        <p:txBody>
          <a:bodyPr wrap="square" lIns="27432" tIns="9144" rIns="27432" bIns="9144" anchor="t">
            <a:spAutoFit/>
          </a:bodyPr>
          <a:lstStyle/>
          <a:p>
            <a:pPr algn="l"/>
            <a:r>
              <a:rPr sz="750" b="0" i="0">
                <a:solidFill>
                  <a:srgbClr val="404040"/>
                </a:solidFill>
                <a:latin typeface="Calibri"/>
              </a:rPr>
              <a:t>DoD collaborator on DC1; ImmunoRestoration on NATASHA</a:t>
            </a:r>
          </a:p>
        </p:txBody>
      </p:sp>
      <p:sp>
        <p:nvSpPr>
          <p:cNvPr id="110" name="Oval 109"/>
          <p:cNvSpPr/>
          <p:nvPr/>
        </p:nvSpPr>
        <p:spPr>
          <a:xfrm>
            <a:off x="10035540" y="499719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Chord 110"/>
          <p:cNvSpPr/>
          <p:nvPr/>
        </p:nvSpPr>
        <p:spPr>
          <a:xfrm>
            <a:off x="10035540" y="499719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0213848" y="4974335"/>
            <a:ext cx="1764792" cy="475488"/>
          </a:xfrm>
          <a:prstGeom prst="rect">
            <a:avLst/>
          </a:prstGeom>
          <a:noFill/>
        </p:spPr>
        <p:txBody>
          <a:bodyPr wrap="square" lIns="27432" tIns="9144" rIns="27432" bIns="9144" anchor="t">
            <a:spAutoFit/>
          </a:bodyPr>
          <a:lstStyle/>
          <a:p>
            <a:pPr algn="l"/>
            <a:r>
              <a:rPr sz="750" b="0" i="0">
                <a:solidFill>
                  <a:srgbClr val="404040"/>
                </a:solidFill>
                <a:latin typeface="Calibri"/>
              </a:rPr>
              <a:t>Grant and collaborator funded</a:t>
            </a:r>
          </a:p>
        </p:txBody>
      </p:sp>
      <p:cxnSp>
        <p:nvCxnSpPr>
          <p:cNvPr id="113" name="Connector 112"/>
          <p:cNvCxnSpPr/>
          <p:nvPr/>
        </p:nvCxnSpPr>
        <p:spPr>
          <a:xfrm>
            <a:off x="182880" y="5468111"/>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196596" y="5536691"/>
            <a:ext cx="118872" cy="118872"/>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65760" y="5513831"/>
            <a:ext cx="1735531" cy="164592"/>
          </a:xfrm>
          <a:prstGeom prst="rect">
            <a:avLst/>
          </a:prstGeom>
          <a:noFill/>
        </p:spPr>
        <p:txBody>
          <a:bodyPr wrap="square" lIns="27432" tIns="9144" rIns="27432" bIns="9144" anchor="t">
            <a:spAutoFit/>
          </a:bodyPr>
          <a:lstStyle/>
          <a:p>
            <a:pPr algn="l"/>
            <a:r>
              <a:rPr sz="750" b="0" i="0">
                <a:solidFill>
                  <a:srgbClr val="404040"/>
                </a:solidFill>
                <a:latin typeface="Calibri"/>
              </a:rPr>
              <a:t>Strong, documented evidence (3)</a:t>
            </a:r>
          </a:p>
        </p:txBody>
      </p:sp>
      <p:sp>
        <p:nvSpPr>
          <p:cNvPr id="116" name="Oval 115"/>
          <p:cNvSpPr/>
          <p:nvPr/>
        </p:nvSpPr>
        <p:spPr>
          <a:xfrm>
            <a:off x="2252167" y="5536691"/>
            <a:ext cx="118872" cy="118872"/>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Chord 116"/>
          <p:cNvSpPr/>
          <p:nvPr/>
        </p:nvSpPr>
        <p:spPr>
          <a:xfrm>
            <a:off x="2252167" y="5536691"/>
            <a:ext cx="118872" cy="118872"/>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2421331" y="5513831"/>
            <a:ext cx="1311249" cy="164592"/>
          </a:xfrm>
          <a:prstGeom prst="rect">
            <a:avLst/>
          </a:prstGeom>
          <a:noFill/>
        </p:spPr>
        <p:txBody>
          <a:bodyPr wrap="square" lIns="27432" tIns="9144" rIns="27432" bIns="9144" anchor="t">
            <a:spAutoFit/>
          </a:bodyPr>
          <a:lstStyle/>
          <a:p>
            <a:pPr algn="l"/>
            <a:r>
              <a:rPr sz="750" b="0" i="0">
                <a:solidFill>
                  <a:srgbClr val="404040"/>
                </a:solidFill>
                <a:latin typeface="Calibri"/>
              </a:rPr>
              <a:t>Moderate or partial (2)</a:t>
            </a:r>
          </a:p>
        </p:txBody>
      </p:sp>
      <p:sp>
        <p:nvSpPr>
          <p:cNvPr id="119" name="Oval 118"/>
          <p:cNvSpPr/>
          <p:nvPr/>
        </p:nvSpPr>
        <p:spPr>
          <a:xfrm>
            <a:off x="3883456" y="5536691"/>
            <a:ext cx="118872" cy="118872"/>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4052620" y="5513831"/>
            <a:ext cx="1417320" cy="164592"/>
          </a:xfrm>
          <a:prstGeom prst="rect">
            <a:avLst/>
          </a:prstGeom>
          <a:noFill/>
        </p:spPr>
        <p:txBody>
          <a:bodyPr wrap="square" lIns="27432" tIns="9144" rIns="27432" bIns="9144" anchor="t">
            <a:spAutoFit/>
          </a:bodyPr>
          <a:lstStyle/>
          <a:p>
            <a:pPr algn="l"/>
            <a:r>
              <a:rPr sz="750" b="0" i="0">
                <a:solidFill>
                  <a:srgbClr val="404040"/>
                </a:solidFill>
                <a:latin typeface="Calibri"/>
              </a:rPr>
              <a:t>Limited or none found (1)</a:t>
            </a:r>
          </a:p>
        </p:txBody>
      </p:sp>
      <p:sp>
        <p:nvSpPr>
          <p:cNvPr id="121" name="TextBox 120"/>
          <p:cNvSpPr txBox="1"/>
          <p:nvPr/>
        </p:nvSpPr>
        <p:spPr>
          <a:xfrm>
            <a:off x="5607100" y="5513831"/>
            <a:ext cx="274320" cy="164592"/>
          </a:xfrm>
          <a:prstGeom prst="rect">
            <a:avLst/>
          </a:prstGeom>
          <a:noFill/>
        </p:spPr>
        <p:txBody>
          <a:bodyPr wrap="square" lIns="27432" tIns="9144" rIns="27432" bIns="9144" anchor="t">
            <a:spAutoFit/>
          </a:bodyPr>
          <a:lstStyle/>
          <a:p>
            <a:pPr algn="l"/>
            <a:r>
              <a:rPr sz="750" b="1" i="0">
                <a:solidFill>
                  <a:srgbClr val="404040"/>
                </a:solidFill>
                <a:latin typeface="Calibri"/>
              </a:rPr>
              <a:t>n/a</a:t>
            </a:r>
          </a:p>
        </p:txBody>
      </p:sp>
      <p:sp>
        <p:nvSpPr>
          <p:cNvPr id="122" name="TextBox 121"/>
          <p:cNvSpPr txBox="1"/>
          <p:nvPr/>
        </p:nvSpPr>
        <p:spPr>
          <a:xfrm>
            <a:off x="5853988" y="5513831"/>
            <a:ext cx="1188720" cy="164592"/>
          </a:xfrm>
          <a:prstGeom prst="rect">
            <a:avLst/>
          </a:prstGeom>
          <a:noFill/>
        </p:spPr>
        <p:txBody>
          <a:bodyPr wrap="square" lIns="27432" tIns="9144" rIns="27432" bIns="9144" anchor="t">
            <a:spAutoFit/>
          </a:bodyPr>
          <a:lstStyle/>
          <a:p>
            <a:pPr algn="l"/>
            <a:r>
              <a:rPr sz="750" b="0" i="0">
                <a:solidFill>
                  <a:srgbClr val="404040"/>
                </a:solidFill>
                <a:latin typeface="Calibri"/>
              </a:rPr>
              <a:t>Not available</a:t>
            </a:r>
          </a:p>
        </p:txBody>
      </p:sp>
      <p:sp>
        <p:nvSpPr>
          <p:cNvPr id="123" name="TextBox 122"/>
          <p:cNvSpPr txBox="1"/>
          <p:nvPr/>
        </p:nvSpPr>
        <p:spPr>
          <a:xfrm>
            <a:off x="182880" y="5760720"/>
            <a:ext cx="11823192" cy="164592"/>
          </a:xfrm>
          <a:prstGeom prst="rect">
            <a:avLst/>
          </a:prstGeom>
          <a:noFill/>
        </p:spPr>
        <p:txBody>
          <a:bodyPr wrap="square" lIns="27432" tIns="9144" rIns="27432" bIns="9144" anchor="t">
            <a:spAutoFit/>
          </a:bodyPr>
          <a:lstStyle/>
          <a:p>
            <a:pPr algn="l"/>
            <a:r>
              <a:rPr sz="800" b="1" i="0">
                <a:solidFill>
                  <a:srgbClr val="0E3A66"/>
                </a:solidFill>
                <a:latin typeface="Calibri"/>
              </a:rPr>
              <a:t>READING</a:t>
            </a:r>
          </a:p>
        </p:txBody>
      </p:sp>
      <p:sp>
        <p:nvSpPr>
          <p:cNvPr id="124" name="TextBox 123"/>
          <p:cNvSpPr txBox="1"/>
          <p:nvPr/>
        </p:nvSpPr>
        <p:spPr>
          <a:xfrm>
            <a:off x="182880" y="5907024"/>
            <a:ext cx="11823192" cy="475488"/>
          </a:xfrm>
          <a:prstGeom prst="rect">
            <a:avLst/>
          </a:prstGeom>
          <a:noFill/>
        </p:spPr>
        <p:txBody>
          <a:bodyPr wrap="square" lIns="27432" tIns="9144" rIns="27432" bIns="9144" anchor="t">
            <a:spAutoFit/>
          </a:bodyPr>
          <a:lstStyle/>
          <a:p>
            <a:pPr algn="l"/>
            <a:r>
              <a:rPr sz="850" b="0" i="0">
                <a:solidFill>
                  <a:srgbClr val="262626"/>
                </a:solidFill>
                <a:latin typeface="Calibri"/>
              </a:rPr>
              <a:t>Ownership splits the field into small listed biotechs (Greenwich, ExpreS2ion, BriaCell), a private Korean developer seeking to out-license (Aston Sci.) and academic centres. Scale scores 1 for every direct developer: the most advanced program runs on under USD 10 M of cash, so partnering or non-dilutive funding is the pivotal corporate event to watch.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Offering level: all direct candidates cover HER2-positive disease, only two reach HER2-low and none is designed for IHC 0; antigens range from a single peptide to the full HER2 extracellular domain</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7</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Ten offering attributes per active candidate, with HER2 eligibility stated at IHC level where trial criteria allow</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Rectangle 5"/>
          <p:cNvSpPr/>
          <p:nvPr/>
        </p:nvSpPr>
        <p:spPr>
          <a:xfrm>
            <a:off x="182880" y="1353312"/>
            <a:ext cx="11823192"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53312"/>
            <a:ext cx="11731752" cy="237744"/>
          </a:xfrm>
          <a:prstGeom prst="rect">
            <a:avLst/>
          </a:prstGeom>
          <a:noFill/>
        </p:spPr>
        <p:txBody>
          <a:bodyPr wrap="square" lIns="27432" tIns="9144" rIns="27432" bIns="9144" anchor="ctr">
            <a:spAutoFit/>
          </a:bodyPr>
          <a:lstStyle/>
          <a:p>
            <a:pPr algn="l"/>
            <a:r>
              <a:rPr sz="900" b="1" i="0">
                <a:solidFill>
                  <a:srgbClr val="FFFFFF"/>
                </a:solidFill>
                <a:latin typeface="Calibri"/>
              </a:rPr>
              <a:t>LEVEL 2, OFFERING: WHAT THEY ARE DEVELOPING</a:t>
            </a:r>
          </a:p>
        </p:txBody>
      </p:sp>
      <p:sp>
        <p:nvSpPr>
          <p:cNvPr id="8" name="TextBox 7"/>
          <p:cNvSpPr txBox="1"/>
          <p:nvPr/>
        </p:nvSpPr>
        <p:spPr>
          <a:xfrm>
            <a:off x="182880" y="1627632"/>
            <a:ext cx="1188720" cy="329184"/>
          </a:xfrm>
          <a:prstGeom prst="rect">
            <a:avLst/>
          </a:prstGeom>
          <a:noFill/>
        </p:spPr>
        <p:txBody>
          <a:bodyPr wrap="square" lIns="27432" tIns="9144" rIns="27432" bIns="9144" anchor="b">
            <a:spAutoFit/>
          </a:bodyPr>
          <a:lstStyle/>
          <a:p>
            <a:pPr algn="l"/>
            <a:r>
              <a:rPr sz="800" b="1" i="0">
                <a:solidFill>
                  <a:srgbClr val="0E3A66"/>
                </a:solidFill>
                <a:latin typeface="Calibri"/>
              </a:rPr>
              <a:t>Candidate and sponsor</a:t>
            </a:r>
          </a:p>
        </p:txBody>
      </p:sp>
      <p:sp>
        <p:nvSpPr>
          <p:cNvPr id="9" name="TextBox 8"/>
          <p:cNvSpPr txBox="1"/>
          <p:nvPr/>
        </p:nvSpPr>
        <p:spPr>
          <a:xfrm>
            <a:off x="1417320" y="1627632"/>
            <a:ext cx="868680" cy="329184"/>
          </a:xfrm>
          <a:prstGeom prst="rect">
            <a:avLst/>
          </a:prstGeom>
          <a:noFill/>
        </p:spPr>
        <p:txBody>
          <a:bodyPr wrap="square" lIns="27432" tIns="9144" rIns="27432" bIns="9144" anchor="b">
            <a:spAutoFit/>
          </a:bodyPr>
          <a:lstStyle/>
          <a:p>
            <a:pPr algn="l"/>
            <a:r>
              <a:rPr sz="800" b="1" i="0">
                <a:solidFill>
                  <a:srgbClr val="0E3A66"/>
                </a:solidFill>
                <a:latin typeface="Calibri"/>
              </a:rPr>
              <a:t>Platform</a:t>
            </a:r>
          </a:p>
        </p:txBody>
      </p:sp>
      <p:sp>
        <p:nvSpPr>
          <p:cNvPr id="10" name="TextBox 9"/>
          <p:cNvSpPr txBox="1"/>
          <p:nvPr/>
        </p:nvSpPr>
        <p:spPr>
          <a:xfrm>
            <a:off x="2331720" y="1627632"/>
            <a:ext cx="1143000" cy="329184"/>
          </a:xfrm>
          <a:prstGeom prst="rect">
            <a:avLst/>
          </a:prstGeom>
          <a:noFill/>
        </p:spPr>
        <p:txBody>
          <a:bodyPr wrap="square" lIns="27432" tIns="9144" rIns="27432" bIns="9144" anchor="b">
            <a:spAutoFit/>
          </a:bodyPr>
          <a:lstStyle/>
          <a:p>
            <a:pPr algn="l"/>
            <a:r>
              <a:rPr sz="800" b="1" i="0">
                <a:solidFill>
                  <a:srgbClr val="0E3A66"/>
                </a:solidFill>
                <a:latin typeface="Calibri"/>
              </a:rPr>
              <a:t>Target antigen or HER2 construct</a:t>
            </a:r>
          </a:p>
        </p:txBody>
      </p:sp>
      <p:sp>
        <p:nvSpPr>
          <p:cNvPr id="11" name="TextBox 10"/>
          <p:cNvSpPr txBox="1"/>
          <p:nvPr/>
        </p:nvSpPr>
        <p:spPr>
          <a:xfrm>
            <a:off x="3520439" y="1627632"/>
            <a:ext cx="822959" cy="329184"/>
          </a:xfrm>
          <a:prstGeom prst="rect">
            <a:avLst/>
          </a:prstGeom>
          <a:noFill/>
        </p:spPr>
        <p:txBody>
          <a:bodyPr wrap="square" lIns="27432" tIns="9144" rIns="27432" bIns="9144" anchor="b">
            <a:spAutoFit/>
          </a:bodyPr>
          <a:lstStyle/>
          <a:p>
            <a:pPr algn="l"/>
            <a:r>
              <a:rPr sz="800" b="1" i="0">
                <a:solidFill>
                  <a:srgbClr val="0E3A66"/>
                </a:solidFill>
                <a:latin typeface="Calibri"/>
              </a:rPr>
              <a:t>Cancer indication</a:t>
            </a:r>
          </a:p>
        </p:txBody>
      </p:sp>
      <p:sp>
        <p:nvSpPr>
          <p:cNvPr id="12" name="TextBox 11"/>
          <p:cNvSpPr txBox="1"/>
          <p:nvPr/>
        </p:nvSpPr>
        <p:spPr>
          <a:xfrm>
            <a:off x="4389120" y="1627632"/>
            <a:ext cx="1554480" cy="329184"/>
          </a:xfrm>
          <a:prstGeom prst="rect">
            <a:avLst/>
          </a:prstGeom>
          <a:noFill/>
        </p:spPr>
        <p:txBody>
          <a:bodyPr wrap="square" lIns="27432" tIns="9144" rIns="27432" bIns="9144" anchor="b">
            <a:spAutoFit/>
          </a:bodyPr>
          <a:lstStyle/>
          <a:p>
            <a:pPr algn="l"/>
            <a:r>
              <a:rPr sz="800" b="1" i="0">
                <a:solidFill>
                  <a:srgbClr val="0E3A66"/>
                </a:solidFill>
                <a:latin typeface="Calibri"/>
              </a:rPr>
              <a:t>HER2-expression eligibility</a:t>
            </a:r>
          </a:p>
        </p:txBody>
      </p:sp>
      <p:sp>
        <p:nvSpPr>
          <p:cNvPr id="13" name="TextBox 12"/>
          <p:cNvSpPr txBox="1"/>
          <p:nvPr/>
        </p:nvSpPr>
        <p:spPr>
          <a:xfrm>
            <a:off x="5989320" y="1627632"/>
            <a:ext cx="1051560" cy="329184"/>
          </a:xfrm>
          <a:prstGeom prst="rect">
            <a:avLst/>
          </a:prstGeom>
          <a:noFill/>
        </p:spPr>
        <p:txBody>
          <a:bodyPr wrap="square" lIns="27432" tIns="9144" rIns="27432" bIns="9144" anchor="b">
            <a:spAutoFit/>
          </a:bodyPr>
          <a:lstStyle/>
          <a:p>
            <a:pPr algn="l"/>
            <a:r>
              <a:rPr sz="800" b="1" i="0">
                <a:solidFill>
                  <a:srgbClr val="0E3A66"/>
                </a:solidFill>
                <a:latin typeface="Calibri"/>
              </a:rPr>
              <a:t>Treatment setting</a:t>
            </a:r>
          </a:p>
        </p:txBody>
      </p:sp>
      <p:sp>
        <p:nvSpPr>
          <p:cNvPr id="14" name="TextBox 13"/>
          <p:cNvSpPr txBox="1"/>
          <p:nvPr/>
        </p:nvSpPr>
        <p:spPr>
          <a:xfrm>
            <a:off x="7086600" y="1627632"/>
            <a:ext cx="1051560" cy="329184"/>
          </a:xfrm>
          <a:prstGeom prst="rect">
            <a:avLst/>
          </a:prstGeom>
          <a:noFill/>
        </p:spPr>
        <p:txBody>
          <a:bodyPr wrap="square" lIns="27432" tIns="9144" rIns="27432" bIns="9144" anchor="b">
            <a:spAutoFit/>
          </a:bodyPr>
          <a:lstStyle/>
          <a:p>
            <a:pPr algn="l"/>
            <a:r>
              <a:rPr sz="800" b="1" i="0">
                <a:solidFill>
                  <a:srgbClr val="0E3A66"/>
                </a:solidFill>
                <a:latin typeface="Calibri"/>
              </a:rPr>
              <a:t>Combination regimen</a:t>
            </a:r>
          </a:p>
        </p:txBody>
      </p:sp>
      <p:sp>
        <p:nvSpPr>
          <p:cNvPr id="15" name="TextBox 14"/>
          <p:cNvSpPr txBox="1"/>
          <p:nvPr/>
        </p:nvSpPr>
        <p:spPr>
          <a:xfrm>
            <a:off x="8183879" y="1627632"/>
            <a:ext cx="822959" cy="329184"/>
          </a:xfrm>
          <a:prstGeom prst="rect">
            <a:avLst/>
          </a:prstGeom>
          <a:noFill/>
        </p:spPr>
        <p:txBody>
          <a:bodyPr wrap="square" lIns="27432" tIns="9144" rIns="27432" bIns="9144" anchor="b">
            <a:spAutoFit/>
          </a:bodyPr>
          <a:lstStyle/>
          <a:p>
            <a:pPr algn="l"/>
            <a:r>
              <a:rPr sz="800" b="1" i="0">
                <a:solidFill>
                  <a:srgbClr val="0E3A66"/>
                </a:solidFill>
                <a:latin typeface="Calibri"/>
              </a:rPr>
              <a:t>Phase and status</a:t>
            </a:r>
          </a:p>
        </p:txBody>
      </p:sp>
      <p:sp>
        <p:nvSpPr>
          <p:cNvPr id="16" name="TextBox 15"/>
          <p:cNvSpPr txBox="1"/>
          <p:nvPr/>
        </p:nvSpPr>
        <p:spPr>
          <a:xfrm>
            <a:off x="9052559" y="1627632"/>
            <a:ext cx="1463039" cy="329184"/>
          </a:xfrm>
          <a:prstGeom prst="rect">
            <a:avLst/>
          </a:prstGeom>
          <a:noFill/>
        </p:spPr>
        <p:txBody>
          <a:bodyPr wrap="square" lIns="27432" tIns="9144" rIns="27432" bIns="9144" anchor="b">
            <a:spAutoFit/>
          </a:bodyPr>
          <a:lstStyle/>
          <a:p>
            <a:pPr algn="l"/>
            <a:r>
              <a:rPr sz="800" b="1" i="0">
                <a:solidFill>
                  <a:srgbClr val="0E3A66"/>
                </a:solidFill>
                <a:latin typeface="Calibri"/>
              </a:rPr>
              <a:t>Clinical proof or primary evidence</a:t>
            </a:r>
          </a:p>
        </p:txBody>
      </p:sp>
      <p:sp>
        <p:nvSpPr>
          <p:cNvPr id="17" name="TextBox 16"/>
          <p:cNvSpPr txBox="1"/>
          <p:nvPr/>
        </p:nvSpPr>
        <p:spPr>
          <a:xfrm>
            <a:off x="10561319" y="1627632"/>
            <a:ext cx="1399032" cy="329184"/>
          </a:xfrm>
          <a:prstGeom prst="rect">
            <a:avLst/>
          </a:prstGeom>
          <a:noFill/>
        </p:spPr>
        <p:txBody>
          <a:bodyPr wrap="square" lIns="27432" tIns="9144" rIns="27432" bIns="9144" anchor="b">
            <a:spAutoFit/>
          </a:bodyPr>
          <a:lstStyle/>
          <a:p>
            <a:pPr algn="l"/>
            <a:r>
              <a:rPr sz="800" b="1" i="0">
                <a:solidFill>
                  <a:srgbClr val="0E3A66"/>
                </a:solidFill>
                <a:latin typeface="Calibri"/>
              </a:rPr>
              <a:t>IP or licensing position</a:t>
            </a:r>
          </a:p>
        </p:txBody>
      </p:sp>
      <p:cxnSp>
        <p:nvCxnSpPr>
          <p:cNvPr id="18" name="Connector 17"/>
          <p:cNvCxnSpPr/>
          <p:nvPr/>
        </p:nvCxnSpPr>
        <p:spPr>
          <a:xfrm>
            <a:off x="182880" y="198424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82880" y="2057400"/>
            <a:ext cx="45720" cy="45720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203911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GLSI-100</a:t>
            </a:r>
          </a:p>
          <a:p>
            <a:pPr algn="l"/>
            <a:r>
              <a:rPr sz="750" b="0" i="0">
                <a:solidFill>
                  <a:srgbClr val="404040"/>
                </a:solidFill>
                <a:latin typeface="Calibri"/>
              </a:rPr>
              <a:t>Greenwich LifeSciences</a:t>
            </a:r>
          </a:p>
        </p:txBody>
      </p:sp>
      <p:sp>
        <p:nvSpPr>
          <p:cNvPr id="21" name="TextBox 20"/>
          <p:cNvSpPr txBox="1"/>
          <p:nvPr/>
        </p:nvSpPr>
        <p:spPr>
          <a:xfrm>
            <a:off x="1417320" y="203911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Peptide + GM-CSF</a:t>
            </a:r>
          </a:p>
        </p:txBody>
      </p:sp>
      <p:sp>
        <p:nvSpPr>
          <p:cNvPr id="22" name="TextBox 21"/>
          <p:cNvSpPr txBox="1"/>
          <p:nvPr/>
        </p:nvSpPr>
        <p:spPr>
          <a:xfrm>
            <a:off x="2331720" y="203911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GP2, 9-amino-acid HER2 transmembrane peptide; HLA-A*02 restricted</a:t>
            </a:r>
          </a:p>
        </p:txBody>
      </p:sp>
      <p:sp>
        <p:nvSpPr>
          <p:cNvPr id="23" name="TextBox 22"/>
          <p:cNvSpPr txBox="1"/>
          <p:nvPr/>
        </p:nvSpPr>
        <p:spPr>
          <a:xfrm>
            <a:off x="3520439" y="203911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Early breast cancer</a:t>
            </a:r>
          </a:p>
        </p:txBody>
      </p:sp>
      <p:sp>
        <p:nvSpPr>
          <p:cNvPr id="24" name="TextBox 23"/>
          <p:cNvSpPr txBox="1"/>
          <p:nvPr/>
        </p:nvSpPr>
        <p:spPr>
          <a:xfrm>
            <a:off x="4389120" y="203911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HER2-positive (IHC 3+ or IHC 2+/ISH+); IHC 0, 1+ and 2+/ISH- not eligible</a:t>
            </a:r>
          </a:p>
        </p:txBody>
      </p:sp>
      <p:sp>
        <p:nvSpPr>
          <p:cNvPr id="25" name="TextBox 24"/>
          <p:cNvSpPr txBox="1"/>
          <p:nvPr/>
        </p:nvSpPr>
        <p:spPr>
          <a:xfrm>
            <a:off x="5989320" y="203911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Adjuvant, after trastuzumab-based therapy; recurrence prevention</a:t>
            </a:r>
          </a:p>
        </p:txBody>
      </p:sp>
      <p:sp>
        <p:nvSpPr>
          <p:cNvPr id="26" name="TextBox 25"/>
          <p:cNvSpPr txBox="1"/>
          <p:nvPr/>
        </p:nvSpPr>
        <p:spPr>
          <a:xfrm>
            <a:off x="7086600" y="203911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Sequential after anti-HER2 therapy</a:t>
            </a:r>
          </a:p>
        </p:txBody>
      </p:sp>
      <p:sp>
        <p:nvSpPr>
          <p:cNvPr id="27" name="TextBox 26"/>
          <p:cNvSpPr txBox="1"/>
          <p:nvPr/>
        </p:nvSpPr>
        <p:spPr>
          <a:xfrm>
            <a:off x="8183879" y="203911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III, recruiting (NCT05232916)</a:t>
            </a:r>
          </a:p>
        </p:txBody>
      </p:sp>
      <p:sp>
        <p:nvSpPr>
          <p:cNvPr id="28" name="TextBox 27"/>
          <p:cNvSpPr txBox="1"/>
          <p:nvPr/>
        </p:nvSpPr>
        <p:spPr>
          <a:xfrm>
            <a:off x="9052559" y="203911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IIb: 46 treated vs 50 placebo; 80% recurrence reduction reported by company</a:t>
            </a:r>
          </a:p>
        </p:txBody>
      </p:sp>
      <p:sp>
        <p:nvSpPr>
          <p:cNvPr id="29" name="TextBox 28"/>
          <p:cNvSpPr txBox="1"/>
          <p:nvPr/>
        </p:nvSpPr>
        <p:spPr>
          <a:xfrm>
            <a:off x="10561319" y="203911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Biologics exclusivity cited; patent filings for non-HLA-A*02 use</a:t>
            </a:r>
          </a:p>
        </p:txBody>
      </p:sp>
      <p:cxnSp>
        <p:nvCxnSpPr>
          <p:cNvPr id="30" name="Connector 29"/>
          <p:cNvCxnSpPr/>
          <p:nvPr/>
        </p:nvCxnSpPr>
        <p:spPr>
          <a:xfrm>
            <a:off x="182880" y="256032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182880" y="2606040"/>
            <a:ext cx="45720" cy="4572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6032" y="258775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AST-301</a:t>
            </a:r>
          </a:p>
          <a:p>
            <a:pPr algn="l"/>
            <a:r>
              <a:rPr sz="750" b="0" i="0">
                <a:solidFill>
                  <a:srgbClr val="404040"/>
                </a:solidFill>
                <a:latin typeface="Calibri"/>
              </a:rPr>
              <a:t>Aston Sci.</a:t>
            </a:r>
          </a:p>
        </p:txBody>
      </p:sp>
      <p:sp>
        <p:nvSpPr>
          <p:cNvPr id="33" name="TextBox 32"/>
          <p:cNvSpPr txBox="1"/>
          <p:nvPr/>
        </p:nvSpPr>
        <p:spPr>
          <a:xfrm>
            <a:off x="1417320" y="258775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Plasmid DNA + rhuGM-CSF</a:t>
            </a:r>
          </a:p>
        </p:txBody>
      </p:sp>
      <p:sp>
        <p:nvSpPr>
          <p:cNvPr id="34" name="TextBox 33"/>
          <p:cNvSpPr txBox="1"/>
          <p:nvPr/>
        </p:nvSpPr>
        <p:spPr>
          <a:xfrm>
            <a:off x="2331720" y="258775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pNGVL3-hICD, HER2 intracellular domain</a:t>
            </a:r>
          </a:p>
        </p:txBody>
      </p:sp>
      <p:sp>
        <p:nvSpPr>
          <p:cNvPr id="35" name="TextBox 34"/>
          <p:cNvSpPr txBox="1"/>
          <p:nvPr/>
        </p:nvSpPr>
        <p:spPr>
          <a:xfrm>
            <a:off x="3520439" y="258775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Gastric cancer</a:t>
            </a:r>
          </a:p>
        </p:txBody>
      </p:sp>
      <p:sp>
        <p:nvSpPr>
          <p:cNvPr id="36" name="TextBox 35"/>
          <p:cNvSpPr txBox="1"/>
          <p:nvPr/>
        </p:nvSpPr>
        <p:spPr>
          <a:xfrm>
            <a:off x="4389120" y="258775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HER2-low (IHC 1+, 2+/ISH-) and overexpressing (IHC 3+, 2+/ISH+); IHC 0 implied excluded</a:t>
            </a:r>
          </a:p>
        </p:txBody>
      </p:sp>
      <p:sp>
        <p:nvSpPr>
          <p:cNvPr id="37" name="TextBox 36"/>
          <p:cNvSpPr txBox="1"/>
          <p:nvPr/>
        </p:nvSpPr>
        <p:spPr>
          <a:xfrm>
            <a:off x="5989320" y="258775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After standard adjuvant therapy</a:t>
            </a:r>
          </a:p>
        </p:txBody>
      </p:sp>
      <p:sp>
        <p:nvSpPr>
          <p:cNvPr id="38" name="TextBox 37"/>
          <p:cNvSpPr txBox="1"/>
          <p:nvPr/>
        </p:nvSpPr>
        <p:spPr>
          <a:xfrm>
            <a:off x="7086600" y="258775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Monotherapy; preclinical with pembrolizumab and HER2 ADC</a:t>
            </a:r>
          </a:p>
        </p:txBody>
      </p:sp>
      <p:sp>
        <p:nvSpPr>
          <p:cNvPr id="39" name="TextBox 38"/>
          <p:cNvSpPr txBox="1"/>
          <p:nvPr/>
        </p:nvSpPr>
        <p:spPr>
          <a:xfrm>
            <a:off x="8183879" y="258775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 (NCT05771584); breast Phase II terminated</a:t>
            </a:r>
          </a:p>
        </p:txBody>
      </p:sp>
      <p:sp>
        <p:nvSpPr>
          <p:cNvPr id="40" name="TextBox 39"/>
          <p:cNvSpPr txBox="1"/>
          <p:nvPr/>
        </p:nvSpPr>
        <p:spPr>
          <a:xfrm>
            <a:off x="9052559" y="258775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1: 66 HER2+ breast patients, 10-year follow-up (ASCO 2021)</a:t>
            </a:r>
          </a:p>
        </p:txBody>
      </p:sp>
      <p:sp>
        <p:nvSpPr>
          <p:cNvPr id="41" name="TextBox 40"/>
          <p:cNvSpPr txBox="1"/>
          <p:nvPr/>
        </p:nvSpPr>
        <p:spPr>
          <a:xfrm>
            <a:off x="10561319" y="258775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University of Washington origin; licence terms n/a</a:t>
            </a:r>
          </a:p>
        </p:txBody>
      </p:sp>
      <p:cxnSp>
        <p:nvCxnSpPr>
          <p:cNvPr id="42" name="Connector 41"/>
          <p:cNvCxnSpPr/>
          <p:nvPr/>
        </p:nvCxnSpPr>
        <p:spPr>
          <a:xfrm>
            <a:off x="182880" y="310896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82880" y="3154680"/>
            <a:ext cx="45720" cy="4572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56032" y="313639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HER2 DC1</a:t>
            </a:r>
          </a:p>
          <a:p>
            <a:pPr algn="l"/>
            <a:r>
              <a:rPr sz="750" b="0" i="0">
                <a:solidFill>
                  <a:srgbClr val="404040"/>
                </a:solidFill>
                <a:latin typeface="Calibri"/>
              </a:rPr>
              <a:t>Moffitt Cancer Center</a:t>
            </a:r>
          </a:p>
        </p:txBody>
      </p:sp>
      <p:sp>
        <p:nvSpPr>
          <p:cNvPr id="45" name="TextBox 44"/>
          <p:cNvSpPr txBox="1"/>
          <p:nvPr/>
        </p:nvSpPr>
        <p:spPr>
          <a:xfrm>
            <a:off x="1417320" y="313639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Autologous dendritic cell</a:t>
            </a:r>
          </a:p>
        </p:txBody>
      </p:sp>
      <p:sp>
        <p:nvSpPr>
          <p:cNvPr id="46" name="TextBox 45"/>
          <p:cNvSpPr txBox="1"/>
          <p:nvPr/>
        </p:nvSpPr>
        <p:spPr>
          <a:xfrm>
            <a:off x="2331720" y="313639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HER2-pulsed type 1 dendritic cells</a:t>
            </a:r>
          </a:p>
        </p:txBody>
      </p:sp>
      <p:sp>
        <p:nvSpPr>
          <p:cNvPr id="47" name="TextBox 46"/>
          <p:cNvSpPr txBox="1"/>
          <p:nvPr/>
        </p:nvSpPr>
        <p:spPr>
          <a:xfrm>
            <a:off x="3520439" y="313639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Breast, stage I to III</a:t>
            </a:r>
          </a:p>
        </p:txBody>
      </p:sp>
      <p:sp>
        <p:nvSpPr>
          <p:cNvPr id="48" name="TextBox 47"/>
          <p:cNvSpPr txBox="1"/>
          <p:nvPr/>
        </p:nvSpPr>
        <p:spPr>
          <a:xfrm>
            <a:off x="4389120" y="313639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HER2-positive per ASCO/CAP (IHC 3+ or IHC 2+/ISH+)</a:t>
            </a:r>
          </a:p>
        </p:txBody>
      </p:sp>
      <p:sp>
        <p:nvSpPr>
          <p:cNvPr id="49" name="TextBox 48"/>
          <p:cNvSpPr txBox="1"/>
          <p:nvPr/>
        </p:nvSpPr>
        <p:spPr>
          <a:xfrm>
            <a:off x="5989320" y="313639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Neoadjuvant (NATASHA); adjuvant with residual disease</a:t>
            </a:r>
          </a:p>
        </p:txBody>
      </p:sp>
      <p:sp>
        <p:nvSpPr>
          <p:cNvPr id="50" name="TextBox 49"/>
          <p:cNvSpPr txBox="1"/>
          <p:nvPr/>
        </p:nvSpPr>
        <p:spPr>
          <a:xfrm>
            <a:off x="7086600" y="313639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Paclitaxel, trastuzumab, pertuzumab (NATASHA)</a:t>
            </a:r>
          </a:p>
        </p:txBody>
      </p:sp>
      <p:sp>
        <p:nvSpPr>
          <p:cNvPr id="51" name="TextBox 50"/>
          <p:cNvSpPr txBox="1"/>
          <p:nvPr/>
        </p:nvSpPr>
        <p:spPr>
          <a:xfrm>
            <a:off x="8183879" y="313639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 (NCT05325632 recruiting; NCT03384914)</a:t>
            </a:r>
          </a:p>
        </p:txBody>
      </p:sp>
      <p:sp>
        <p:nvSpPr>
          <p:cNvPr id="52" name="TextBox 51"/>
          <p:cNvSpPr txBox="1"/>
          <p:nvPr/>
        </p:nvSpPr>
        <p:spPr>
          <a:xfrm>
            <a:off x="9052559" y="313639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Pilot in 30 HER2+/ER- patients: immune activation and tumour regressions (npj Breast Cancer)</a:t>
            </a:r>
          </a:p>
        </p:txBody>
      </p:sp>
      <p:sp>
        <p:nvSpPr>
          <p:cNvPr id="53" name="TextBox 52"/>
          <p:cNvSpPr txBox="1"/>
          <p:nvPr/>
        </p:nvSpPr>
        <p:spPr>
          <a:xfrm>
            <a:off x="10561319" y="313639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Academic; collaborator ImmunoRestoration</a:t>
            </a:r>
          </a:p>
        </p:txBody>
      </p:sp>
      <p:cxnSp>
        <p:nvCxnSpPr>
          <p:cNvPr id="54" name="Connector 53"/>
          <p:cNvCxnSpPr/>
          <p:nvPr/>
        </p:nvCxnSpPr>
        <p:spPr>
          <a:xfrm>
            <a:off x="182880" y="365760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82880" y="3703320"/>
            <a:ext cx="45720" cy="45720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56032" y="368503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WOKVAC</a:t>
            </a:r>
          </a:p>
          <a:p>
            <a:pPr algn="l"/>
            <a:r>
              <a:rPr sz="750" b="0" i="0">
                <a:solidFill>
                  <a:srgbClr val="404040"/>
                </a:solidFill>
                <a:latin typeface="Calibri"/>
              </a:rPr>
              <a:t>UW Cancer Vaccine Institute</a:t>
            </a:r>
          </a:p>
        </p:txBody>
      </p:sp>
      <p:sp>
        <p:nvSpPr>
          <p:cNvPr id="57" name="TextBox 56"/>
          <p:cNvSpPr txBox="1"/>
          <p:nvPr/>
        </p:nvSpPr>
        <p:spPr>
          <a:xfrm>
            <a:off x="1417320" y="368503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Plasmid DNA (pUMVC3)</a:t>
            </a:r>
          </a:p>
        </p:txBody>
      </p:sp>
      <p:sp>
        <p:nvSpPr>
          <p:cNvPr id="58" name="TextBox 57"/>
          <p:cNvSpPr txBox="1"/>
          <p:nvPr/>
        </p:nvSpPr>
        <p:spPr>
          <a:xfrm>
            <a:off x="2331720" y="368503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Multi-antigen: IGFBP2, HER2, IGF1R</a:t>
            </a:r>
          </a:p>
        </p:txBody>
      </p:sp>
      <p:sp>
        <p:nvSpPr>
          <p:cNvPr id="59" name="TextBox 58"/>
          <p:cNvSpPr txBox="1"/>
          <p:nvPr/>
        </p:nvSpPr>
        <p:spPr>
          <a:xfrm>
            <a:off x="3520439" y="368503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Breast, stage I to III</a:t>
            </a:r>
          </a:p>
        </p:txBody>
      </p:sp>
      <p:sp>
        <p:nvSpPr>
          <p:cNvPr id="60" name="TextBox 59"/>
          <p:cNvSpPr txBox="1"/>
          <p:nvPr/>
        </p:nvSpPr>
        <p:spPr>
          <a:xfrm>
            <a:off x="4389120" y="368503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HER2-positive with residual disease; HER2-low and IHC 0 not eligible</a:t>
            </a:r>
          </a:p>
        </p:txBody>
      </p:sp>
      <p:sp>
        <p:nvSpPr>
          <p:cNvPr id="61" name="TextBox 60"/>
          <p:cNvSpPr txBox="1"/>
          <p:nvPr/>
        </p:nvSpPr>
        <p:spPr>
          <a:xfrm>
            <a:off x="5989320" y="368503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Adjuvant, after neoadjuvant therapy</a:t>
            </a:r>
          </a:p>
        </p:txBody>
      </p:sp>
      <p:sp>
        <p:nvSpPr>
          <p:cNvPr id="62" name="TextBox 61"/>
          <p:cNvSpPr txBox="1"/>
          <p:nvPr/>
        </p:nvSpPr>
        <p:spPr>
          <a:xfrm>
            <a:off x="7086600" y="368503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None; randomized vs DC1</a:t>
            </a:r>
          </a:p>
        </p:txBody>
      </p:sp>
      <p:sp>
        <p:nvSpPr>
          <p:cNvPr id="63" name="TextBox 62"/>
          <p:cNvSpPr txBox="1"/>
          <p:nvPr/>
        </p:nvSpPr>
        <p:spPr>
          <a:xfrm>
            <a:off x="8183879" y="368503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 active not recruiting (NCT03384914, n = 119)</a:t>
            </a:r>
          </a:p>
        </p:txBody>
      </p:sp>
      <p:sp>
        <p:nvSpPr>
          <p:cNvPr id="64" name="TextBox 63"/>
          <p:cNvSpPr txBox="1"/>
          <p:nvPr/>
        </p:nvSpPr>
        <p:spPr>
          <a:xfrm>
            <a:off x="9052559" y="368503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n/a; completion estimated Dec 2027</a:t>
            </a:r>
          </a:p>
        </p:txBody>
      </p:sp>
      <p:sp>
        <p:nvSpPr>
          <p:cNvPr id="65" name="TextBox 64"/>
          <p:cNvSpPr txBox="1"/>
          <p:nvPr/>
        </p:nvSpPr>
        <p:spPr>
          <a:xfrm>
            <a:off x="10561319" y="368503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Academic; licence n/a</a:t>
            </a:r>
          </a:p>
        </p:txBody>
      </p:sp>
      <p:cxnSp>
        <p:nvCxnSpPr>
          <p:cNvPr id="66" name="Connector 65"/>
          <p:cNvCxnSpPr/>
          <p:nvPr/>
        </p:nvCxnSpPr>
        <p:spPr>
          <a:xfrm>
            <a:off x="182880" y="420624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82880" y="4251959"/>
            <a:ext cx="45720" cy="45720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56032" y="423367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ES2B-C001</a:t>
            </a:r>
          </a:p>
          <a:p>
            <a:pPr algn="l"/>
            <a:r>
              <a:rPr sz="750" b="0" i="0">
                <a:solidFill>
                  <a:srgbClr val="404040"/>
                </a:solidFill>
                <a:latin typeface="Calibri"/>
              </a:rPr>
              <a:t>ExpreS2ion</a:t>
            </a:r>
          </a:p>
        </p:txBody>
      </p:sp>
      <p:sp>
        <p:nvSpPr>
          <p:cNvPr id="69" name="TextBox 68"/>
          <p:cNvSpPr txBox="1"/>
          <p:nvPr/>
        </p:nvSpPr>
        <p:spPr>
          <a:xfrm>
            <a:off x="1417320" y="423367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Capsid VLP (AdaptVac) +/- Montanide</a:t>
            </a:r>
          </a:p>
        </p:txBody>
      </p:sp>
      <p:sp>
        <p:nvSpPr>
          <p:cNvPr id="70" name="TextBox 69"/>
          <p:cNvSpPr txBox="1"/>
          <p:nvPr/>
        </p:nvSpPr>
        <p:spPr>
          <a:xfrm>
            <a:off x="2331720" y="423367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Full HER2 extracellular domain, polyclonal antibody design</a:t>
            </a:r>
          </a:p>
        </p:txBody>
      </p:sp>
      <p:sp>
        <p:nvSpPr>
          <p:cNvPr id="71" name="TextBox 70"/>
          <p:cNvSpPr txBox="1"/>
          <p:nvPr/>
        </p:nvSpPr>
        <p:spPr>
          <a:xfrm>
            <a:off x="3520439" y="423367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Advanced breast cancer</a:t>
            </a:r>
          </a:p>
        </p:txBody>
      </p:sp>
      <p:sp>
        <p:nvSpPr>
          <p:cNvPr id="72" name="TextBox 71"/>
          <p:cNvSpPr txBox="1"/>
          <p:nvPr/>
        </p:nvSpPr>
        <p:spPr>
          <a:xfrm>
            <a:off x="4389120" y="423367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HER2-positive or HER2-low (IHC 1+, 2+/ISH-); IHC 0 not stated</a:t>
            </a:r>
          </a:p>
        </p:txBody>
      </p:sp>
      <p:sp>
        <p:nvSpPr>
          <p:cNvPr id="73" name="TextBox 72"/>
          <p:cNvSpPr txBox="1"/>
          <p:nvPr/>
        </p:nvSpPr>
        <p:spPr>
          <a:xfrm>
            <a:off x="5989320" y="423367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Metastatic; maintenance phase added May 2026</a:t>
            </a:r>
          </a:p>
        </p:txBody>
      </p:sp>
      <p:sp>
        <p:nvSpPr>
          <p:cNvPr id="74" name="TextBox 73"/>
          <p:cNvSpPr txBox="1"/>
          <p:nvPr/>
        </p:nvSpPr>
        <p:spPr>
          <a:xfrm>
            <a:off x="7086600" y="423367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Optional concurrent HER2 ADC (T-DXd) per amendment</a:t>
            </a:r>
          </a:p>
        </p:txBody>
      </p:sp>
      <p:sp>
        <p:nvSpPr>
          <p:cNvPr id="75" name="TextBox 74"/>
          <p:cNvSpPr txBox="1"/>
          <p:nvPr/>
        </p:nvSpPr>
        <p:spPr>
          <a:xfrm>
            <a:off x="8183879" y="423367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 (NCT06746688), 450 microgram cohort open</a:t>
            </a:r>
          </a:p>
        </p:txBody>
      </p:sp>
      <p:sp>
        <p:nvSpPr>
          <p:cNvPr id="76" name="TextBox 75"/>
          <p:cNvSpPr txBox="1"/>
          <p:nvPr/>
        </p:nvSpPr>
        <p:spPr>
          <a:xfrm>
            <a:off x="9052559" y="423367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Anti-HER2 antibody response in 9 of 9 evaluable patients (preliminary)</a:t>
            </a:r>
          </a:p>
        </p:txBody>
      </p:sp>
      <p:sp>
        <p:nvSpPr>
          <p:cNvPr id="77" name="TextBox 76"/>
          <p:cNvSpPr txBox="1"/>
          <p:nvPr/>
        </p:nvSpPr>
        <p:spPr>
          <a:xfrm>
            <a:off x="10561319" y="423367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Exclusive AdaptVac licence; priority patent filed May 2025</a:t>
            </a:r>
          </a:p>
        </p:txBody>
      </p:sp>
      <p:cxnSp>
        <p:nvCxnSpPr>
          <p:cNvPr id="78" name="Connector 77"/>
          <p:cNvCxnSpPr/>
          <p:nvPr/>
        </p:nvCxnSpPr>
        <p:spPr>
          <a:xfrm>
            <a:off x="182880" y="4754879"/>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182880" y="4800599"/>
            <a:ext cx="45720" cy="45720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56032" y="4782312"/>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H2NVAC</a:t>
            </a:r>
          </a:p>
          <a:p>
            <a:pPr algn="l"/>
            <a:r>
              <a:rPr sz="750" b="0" i="0">
                <a:solidFill>
                  <a:srgbClr val="404040"/>
                </a:solidFill>
                <a:latin typeface="Calibri"/>
              </a:rPr>
              <a:t>Mayo Clinic</a:t>
            </a:r>
          </a:p>
        </p:txBody>
      </p:sp>
      <p:sp>
        <p:nvSpPr>
          <p:cNvPr id="81" name="TextBox 80"/>
          <p:cNvSpPr txBox="1"/>
          <p:nvPr/>
        </p:nvSpPr>
        <p:spPr>
          <a:xfrm>
            <a:off x="1417320" y="4782312"/>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Peptide + GM-CSF</a:t>
            </a:r>
          </a:p>
        </p:txBody>
      </p:sp>
      <p:sp>
        <p:nvSpPr>
          <p:cNvPr id="82" name="TextBox 81"/>
          <p:cNvSpPr txBox="1"/>
          <p:nvPr/>
        </p:nvSpPr>
        <p:spPr>
          <a:xfrm>
            <a:off x="2331720" y="4782312"/>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Four HER2 helper T-cell epitopes</a:t>
            </a:r>
          </a:p>
        </p:txBody>
      </p:sp>
      <p:sp>
        <p:nvSpPr>
          <p:cNvPr id="83" name="TextBox 82"/>
          <p:cNvSpPr txBox="1"/>
          <p:nvPr/>
        </p:nvSpPr>
        <p:spPr>
          <a:xfrm>
            <a:off x="3520439" y="478231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DCIS (pre-invasive breast)</a:t>
            </a:r>
          </a:p>
        </p:txBody>
      </p:sp>
      <p:sp>
        <p:nvSpPr>
          <p:cNvPr id="84" name="TextBox 83"/>
          <p:cNvSpPr txBox="1"/>
          <p:nvPr/>
        </p:nvSpPr>
        <p:spPr>
          <a:xfrm>
            <a:off x="4389120" y="4782312"/>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HER2-expressing DCIS; IHC-level criteria n/a</a:t>
            </a:r>
          </a:p>
        </p:txBody>
      </p:sp>
      <p:sp>
        <p:nvSpPr>
          <p:cNvPr id="85" name="TextBox 84"/>
          <p:cNvSpPr txBox="1"/>
          <p:nvPr/>
        </p:nvSpPr>
        <p:spPr>
          <a:xfrm>
            <a:off x="5989320" y="478231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Neoadjuvant, before surgery</a:t>
            </a:r>
          </a:p>
        </p:txBody>
      </p:sp>
      <p:sp>
        <p:nvSpPr>
          <p:cNvPr id="86" name="TextBox 85"/>
          <p:cNvSpPr txBox="1"/>
          <p:nvPr/>
        </p:nvSpPr>
        <p:spPr>
          <a:xfrm>
            <a:off x="7086600" y="4782312"/>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None</a:t>
            </a:r>
          </a:p>
        </p:txBody>
      </p:sp>
      <p:sp>
        <p:nvSpPr>
          <p:cNvPr id="87" name="TextBox 86"/>
          <p:cNvSpPr txBox="1"/>
          <p:nvPr/>
        </p:nvSpPr>
        <p:spPr>
          <a:xfrm>
            <a:off x="8183879" y="4782312"/>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Ib, recruiting (NCT04144023)</a:t>
            </a:r>
          </a:p>
        </p:txBody>
      </p:sp>
      <p:sp>
        <p:nvSpPr>
          <p:cNvPr id="88" name="TextBox 87"/>
          <p:cNvSpPr txBox="1"/>
          <p:nvPr/>
        </p:nvSpPr>
        <p:spPr>
          <a:xfrm>
            <a:off x="9052559" y="4782312"/>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n/a; primary completion estimated Dec 2027</a:t>
            </a:r>
          </a:p>
        </p:txBody>
      </p:sp>
      <p:sp>
        <p:nvSpPr>
          <p:cNvPr id="89" name="TextBox 88"/>
          <p:cNvSpPr txBox="1"/>
          <p:nvPr/>
        </p:nvSpPr>
        <p:spPr>
          <a:xfrm>
            <a:off x="10561319" y="4782312"/>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Academic; licence n/a</a:t>
            </a:r>
          </a:p>
        </p:txBody>
      </p:sp>
      <p:cxnSp>
        <p:nvCxnSpPr>
          <p:cNvPr id="90" name="Connector 89"/>
          <p:cNvCxnSpPr/>
          <p:nvPr/>
        </p:nvCxnSpPr>
        <p:spPr>
          <a:xfrm>
            <a:off x="182880" y="5303519"/>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182880" y="5349239"/>
            <a:ext cx="45720" cy="457200"/>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256032" y="5330951"/>
            <a:ext cx="1143000" cy="493776"/>
          </a:xfrm>
          <a:prstGeom prst="rect">
            <a:avLst/>
          </a:prstGeom>
          <a:noFill/>
        </p:spPr>
        <p:txBody>
          <a:bodyPr wrap="square" lIns="27432" tIns="9144" rIns="27432" bIns="9144" anchor="t">
            <a:spAutoFit/>
          </a:bodyPr>
          <a:lstStyle/>
          <a:p>
            <a:pPr algn="l"/>
            <a:r>
              <a:rPr sz="900" b="1" i="0">
                <a:solidFill>
                  <a:srgbClr val="262626"/>
                </a:solidFill>
                <a:latin typeface="Calibri"/>
              </a:rPr>
              <a:t>Bria-IMT</a:t>
            </a:r>
          </a:p>
          <a:p>
            <a:pPr algn="l"/>
            <a:r>
              <a:rPr sz="750" b="0" i="0">
                <a:solidFill>
                  <a:srgbClr val="404040"/>
                </a:solidFill>
                <a:latin typeface="Calibri"/>
              </a:rPr>
              <a:t>BriaCell (indirect HER2)</a:t>
            </a:r>
          </a:p>
        </p:txBody>
      </p:sp>
      <p:sp>
        <p:nvSpPr>
          <p:cNvPr id="93" name="TextBox 92"/>
          <p:cNvSpPr txBox="1"/>
          <p:nvPr/>
        </p:nvSpPr>
        <p:spPr>
          <a:xfrm>
            <a:off x="1417320" y="5330951"/>
            <a:ext cx="859536" cy="493776"/>
          </a:xfrm>
          <a:prstGeom prst="rect">
            <a:avLst/>
          </a:prstGeom>
          <a:noFill/>
        </p:spPr>
        <p:txBody>
          <a:bodyPr wrap="square" lIns="27432" tIns="9144" rIns="27432" bIns="9144" anchor="t">
            <a:spAutoFit/>
          </a:bodyPr>
          <a:lstStyle/>
          <a:p>
            <a:pPr algn="l"/>
            <a:r>
              <a:rPr sz="720" b="0" i="0">
                <a:solidFill>
                  <a:srgbClr val="262626"/>
                </a:solidFill>
                <a:latin typeface="Calibri"/>
              </a:rPr>
              <a:t>Allogeneic whole cell, GM-CSF secreting</a:t>
            </a:r>
          </a:p>
        </p:txBody>
      </p:sp>
      <p:sp>
        <p:nvSpPr>
          <p:cNvPr id="94" name="TextBox 93"/>
          <p:cNvSpPr txBox="1"/>
          <p:nvPr/>
        </p:nvSpPr>
        <p:spPr>
          <a:xfrm>
            <a:off x="2331720" y="5330951"/>
            <a:ext cx="1133856" cy="493776"/>
          </a:xfrm>
          <a:prstGeom prst="rect">
            <a:avLst/>
          </a:prstGeom>
          <a:noFill/>
        </p:spPr>
        <p:txBody>
          <a:bodyPr wrap="square" lIns="27432" tIns="9144" rIns="27432" bIns="9144" anchor="t">
            <a:spAutoFit/>
          </a:bodyPr>
          <a:lstStyle/>
          <a:p>
            <a:pPr algn="l"/>
            <a:r>
              <a:rPr sz="720" b="0" i="0">
                <a:solidFill>
                  <a:srgbClr val="262626"/>
                </a:solidFill>
                <a:latin typeface="Calibri"/>
              </a:rPr>
              <a:t>SV-BR-1 cell line antigens incl. HER2 and PRAME</a:t>
            </a:r>
          </a:p>
        </p:txBody>
      </p:sp>
      <p:sp>
        <p:nvSpPr>
          <p:cNvPr id="95" name="TextBox 94"/>
          <p:cNvSpPr txBox="1"/>
          <p:nvPr/>
        </p:nvSpPr>
        <p:spPr>
          <a:xfrm>
            <a:off x="3520439" y="5330951"/>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Metastatic breast cancer</a:t>
            </a:r>
          </a:p>
        </p:txBody>
      </p:sp>
      <p:sp>
        <p:nvSpPr>
          <p:cNvPr id="96" name="TextBox 95"/>
          <p:cNvSpPr txBox="1"/>
          <p:nvPr/>
        </p:nvSpPr>
        <p:spPr>
          <a:xfrm>
            <a:off x="4389120" y="5330951"/>
            <a:ext cx="1545336" cy="493776"/>
          </a:xfrm>
          <a:prstGeom prst="rect">
            <a:avLst/>
          </a:prstGeom>
          <a:noFill/>
        </p:spPr>
        <p:txBody>
          <a:bodyPr wrap="square" lIns="27432" tIns="9144" rIns="27432" bIns="9144" anchor="t">
            <a:spAutoFit/>
          </a:bodyPr>
          <a:lstStyle/>
          <a:p>
            <a:pPr algn="l"/>
            <a:r>
              <a:rPr sz="720" b="0" i="0">
                <a:solidFill>
                  <a:srgbClr val="262626"/>
                </a:solidFill>
                <a:latin typeface="Calibri"/>
              </a:rPr>
              <a:t>Not HER2-selected; all subtypes including HER2-low and post-ADC HER2+</a:t>
            </a:r>
          </a:p>
        </p:txBody>
      </p:sp>
      <p:sp>
        <p:nvSpPr>
          <p:cNvPr id="97" name="TextBox 96"/>
          <p:cNvSpPr txBox="1"/>
          <p:nvPr/>
        </p:nvSpPr>
        <p:spPr>
          <a:xfrm>
            <a:off x="5989320" y="5330951"/>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Metastatic, later line</a:t>
            </a:r>
          </a:p>
        </p:txBody>
      </p:sp>
      <p:sp>
        <p:nvSpPr>
          <p:cNvPr id="98" name="TextBox 97"/>
          <p:cNvSpPr txBox="1"/>
          <p:nvPr/>
        </p:nvSpPr>
        <p:spPr>
          <a:xfrm>
            <a:off x="7086600" y="5330951"/>
            <a:ext cx="1042415" cy="493776"/>
          </a:xfrm>
          <a:prstGeom prst="rect">
            <a:avLst/>
          </a:prstGeom>
          <a:noFill/>
        </p:spPr>
        <p:txBody>
          <a:bodyPr wrap="square" lIns="27432" tIns="9144" rIns="27432" bIns="9144" anchor="t">
            <a:spAutoFit/>
          </a:bodyPr>
          <a:lstStyle/>
          <a:p>
            <a:pPr algn="l"/>
            <a:r>
              <a:rPr sz="720" b="0" i="0">
                <a:solidFill>
                  <a:srgbClr val="262626"/>
                </a:solidFill>
                <a:latin typeface="Calibri"/>
              </a:rPr>
              <a:t>Checkpoint inhibitor, cyclophosphamide, interferon alpha</a:t>
            </a:r>
          </a:p>
        </p:txBody>
      </p:sp>
      <p:sp>
        <p:nvSpPr>
          <p:cNvPr id="99" name="TextBox 98"/>
          <p:cNvSpPr txBox="1"/>
          <p:nvPr/>
        </p:nvSpPr>
        <p:spPr>
          <a:xfrm>
            <a:off x="8183879" y="5330951"/>
            <a:ext cx="81381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III, enrolling (NCT06072612)</a:t>
            </a:r>
          </a:p>
        </p:txBody>
      </p:sp>
      <p:sp>
        <p:nvSpPr>
          <p:cNvPr id="100" name="TextBox 99"/>
          <p:cNvSpPr txBox="1"/>
          <p:nvPr/>
        </p:nvSpPr>
        <p:spPr>
          <a:xfrm>
            <a:off x="9052559" y="5330951"/>
            <a:ext cx="1453895" cy="493776"/>
          </a:xfrm>
          <a:prstGeom prst="rect">
            <a:avLst/>
          </a:prstGeom>
          <a:noFill/>
        </p:spPr>
        <p:txBody>
          <a:bodyPr wrap="square" lIns="27432" tIns="9144" rIns="27432" bIns="9144" anchor="t">
            <a:spAutoFit/>
          </a:bodyPr>
          <a:lstStyle/>
          <a:p>
            <a:pPr algn="l"/>
            <a:r>
              <a:rPr sz="720" b="0" i="0">
                <a:solidFill>
                  <a:srgbClr val="262626"/>
                </a:solidFill>
                <a:latin typeface="Calibri"/>
              </a:rPr>
              <a:t>Phase 1/2 survival data (SABCS 2025, company)</a:t>
            </a:r>
          </a:p>
        </p:txBody>
      </p:sp>
      <p:sp>
        <p:nvSpPr>
          <p:cNvPr id="101" name="TextBox 100"/>
          <p:cNvSpPr txBox="1"/>
          <p:nvPr/>
        </p:nvSpPr>
        <p:spPr>
          <a:xfrm>
            <a:off x="10561319" y="5330951"/>
            <a:ext cx="1389888" cy="493776"/>
          </a:xfrm>
          <a:prstGeom prst="rect">
            <a:avLst/>
          </a:prstGeom>
          <a:noFill/>
        </p:spPr>
        <p:txBody>
          <a:bodyPr wrap="square" lIns="27432" tIns="9144" rIns="27432" bIns="9144" anchor="t">
            <a:spAutoFit/>
          </a:bodyPr>
          <a:lstStyle/>
          <a:p>
            <a:pPr algn="l"/>
            <a:r>
              <a:rPr sz="720" b="0" i="0">
                <a:solidFill>
                  <a:srgbClr val="262626"/>
                </a:solidFill>
                <a:latin typeface="Calibri"/>
              </a:rPr>
              <a:t>Proprietary cell line; whole-cell selection patents</a:t>
            </a:r>
          </a:p>
        </p:txBody>
      </p:sp>
      <p:cxnSp>
        <p:nvCxnSpPr>
          <p:cNvPr id="102" name="Connector 101"/>
          <p:cNvCxnSpPr/>
          <p:nvPr/>
        </p:nvCxnSpPr>
        <p:spPr>
          <a:xfrm>
            <a:off x="182880" y="5852159"/>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82880" y="5897880"/>
            <a:ext cx="11823192" cy="475488"/>
          </a:xfrm>
          <a:prstGeom prst="rect">
            <a:avLst/>
          </a:prstGeom>
          <a:noFill/>
        </p:spPr>
        <p:txBody>
          <a:bodyPr wrap="square" lIns="27432" tIns="9144" rIns="27432" bIns="9144" anchor="t">
            <a:spAutoFit/>
          </a:bodyPr>
          <a:lstStyle/>
          <a:p>
            <a:pPr algn="l"/>
            <a:r>
              <a:rPr sz="850" b="1" i="0">
                <a:solidFill>
                  <a:srgbClr val="0E3A66"/>
                </a:solidFill>
                <a:latin typeface="Calibri"/>
              </a:rPr>
              <a:t>READING  </a:t>
            </a:r>
            <a:r>
              <a:rPr sz="850" b="0" i="0">
                <a:solidFill>
                  <a:srgbClr val="262626"/>
                </a:solidFill>
                <a:latin typeface="Calibri"/>
              </a:rPr>
              <a:t>HER2 IHC 0, the largest breast group at about a third of cases, has no vaccine designed for it. The two HER2-low programs (ES2B-C001, AST-301) are also the only ones testing combination with HER2 ADCs, which makes them the natural licensing targets for ADC owners. IP positions are thin and mostly academic in origin; no composition-of-matter data were verified in this pack, so the IP column needs a patent search.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Execution level: momentum sits with GLSI-100, ES2B-C001 and Bria-IMT, each with dated 2026 milestones; recruitment is concentrated in the US and Europe, and two HER2 vaccine trials stopped for slow enrolment</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8</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Eight execution attributes per active candidate; momentum uses the stated 3, 2, 1 or n/a scale and no regulatory approval is forecast</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Rectangle 5"/>
          <p:cNvSpPr/>
          <p:nvPr/>
        </p:nvSpPr>
        <p:spPr>
          <a:xfrm>
            <a:off x="182880" y="1353312"/>
            <a:ext cx="11823192"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1353312"/>
            <a:ext cx="11731752" cy="237744"/>
          </a:xfrm>
          <a:prstGeom prst="rect">
            <a:avLst/>
          </a:prstGeom>
          <a:noFill/>
        </p:spPr>
        <p:txBody>
          <a:bodyPr wrap="square" lIns="27432" tIns="9144" rIns="27432" bIns="9144" anchor="ctr">
            <a:spAutoFit/>
          </a:bodyPr>
          <a:lstStyle/>
          <a:p>
            <a:pPr algn="l"/>
            <a:r>
              <a:rPr sz="900" b="1" i="0">
                <a:solidFill>
                  <a:srgbClr val="FFFFFF"/>
                </a:solidFill>
                <a:latin typeface="Calibri"/>
              </a:rPr>
              <a:t>LEVEL 3, EXECUTION: HOW THEY ARE ADVANCING</a:t>
            </a:r>
          </a:p>
        </p:txBody>
      </p:sp>
      <p:sp>
        <p:nvSpPr>
          <p:cNvPr id="8" name="TextBox 7"/>
          <p:cNvSpPr txBox="1"/>
          <p:nvPr/>
        </p:nvSpPr>
        <p:spPr>
          <a:xfrm>
            <a:off x="182880" y="1627632"/>
            <a:ext cx="1188720" cy="329184"/>
          </a:xfrm>
          <a:prstGeom prst="rect">
            <a:avLst/>
          </a:prstGeom>
          <a:noFill/>
        </p:spPr>
        <p:txBody>
          <a:bodyPr wrap="square" lIns="27432" tIns="9144" rIns="27432" bIns="9144" anchor="b">
            <a:spAutoFit/>
          </a:bodyPr>
          <a:lstStyle/>
          <a:p>
            <a:pPr algn="l"/>
            <a:r>
              <a:rPr sz="800" b="1" i="0">
                <a:solidFill>
                  <a:srgbClr val="0E3A66"/>
                </a:solidFill>
                <a:latin typeface="Calibri"/>
              </a:rPr>
              <a:t>Candidate</a:t>
            </a:r>
          </a:p>
        </p:txBody>
      </p:sp>
      <p:sp>
        <p:nvSpPr>
          <p:cNvPr id="9" name="TextBox 8"/>
          <p:cNvSpPr txBox="1"/>
          <p:nvPr/>
        </p:nvSpPr>
        <p:spPr>
          <a:xfrm>
            <a:off x="1417320" y="1627632"/>
            <a:ext cx="1280160" cy="329184"/>
          </a:xfrm>
          <a:prstGeom prst="rect">
            <a:avLst/>
          </a:prstGeom>
          <a:noFill/>
        </p:spPr>
        <p:txBody>
          <a:bodyPr wrap="square" lIns="27432" tIns="9144" rIns="27432" bIns="9144" anchor="b">
            <a:spAutoFit/>
          </a:bodyPr>
          <a:lstStyle/>
          <a:p>
            <a:pPr algn="l"/>
            <a:r>
              <a:rPr sz="800" b="1" i="0">
                <a:solidFill>
                  <a:srgbClr val="0E3A66"/>
                </a:solidFill>
                <a:latin typeface="Calibri"/>
              </a:rPr>
              <a:t>Trial footprint</a:t>
            </a:r>
          </a:p>
        </p:txBody>
      </p:sp>
      <p:sp>
        <p:nvSpPr>
          <p:cNvPr id="10" name="TextBox 9"/>
          <p:cNvSpPr txBox="1"/>
          <p:nvPr/>
        </p:nvSpPr>
        <p:spPr>
          <a:xfrm>
            <a:off x="2743200" y="1627632"/>
            <a:ext cx="1188720" cy="329184"/>
          </a:xfrm>
          <a:prstGeom prst="rect">
            <a:avLst/>
          </a:prstGeom>
          <a:noFill/>
        </p:spPr>
        <p:txBody>
          <a:bodyPr wrap="square" lIns="27432" tIns="9144" rIns="27432" bIns="9144" anchor="b">
            <a:spAutoFit/>
          </a:bodyPr>
          <a:lstStyle/>
          <a:p>
            <a:pPr algn="l"/>
            <a:r>
              <a:rPr sz="800" b="1" i="0">
                <a:solidFill>
                  <a:srgbClr val="0E3A66"/>
                </a:solidFill>
                <a:latin typeface="Calibri"/>
              </a:rPr>
              <a:t>Recruitment status</a:t>
            </a:r>
          </a:p>
        </p:txBody>
      </p:sp>
      <p:sp>
        <p:nvSpPr>
          <p:cNvPr id="11" name="TextBox 10"/>
          <p:cNvSpPr txBox="1"/>
          <p:nvPr/>
        </p:nvSpPr>
        <p:spPr>
          <a:xfrm>
            <a:off x="3977639" y="1627632"/>
            <a:ext cx="685800" cy="329184"/>
          </a:xfrm>
          <a:prstGeom prst="rect">
            <a:avLst/>
          </a:prstGeom>
          <a:noFill/>
        </p:spPr>
        <p:txBody>
          <a:bodyPr wrap="square" lIns="27432" tIns="9144" rIns="27432" bIns="9144" anchor="b">
            <a:spAutoFit/>
          </a:bodyPr>
          <a:lstStyle/>
          <a:p>
            <a:pPr algn="ctr"/>
            <a:r>
              <a:rPr sz="800" b="1" i="0">
                <a:solidFill>
                  <a:srgbClr val="0E3A66"/>
                </a:solidFill>
                <a:latin typeface="Calibri"/>
              </a:rPr>
              <a:t>Momentum</a:t>
            </a:r>
          </a:p>
        </p:txBody>
      </p:sp>
      <p:sp>
        <p:nvSpPr>
          <p:cNvPr id="12" name="TextBox 11"/>
          <p:cNvSpPr txBox="1"/>
          <p:nvPr/>
        </p:nvSpPr>
        <p:spPr>
          <a:xfrm>
            <a:off x="4709159" y="1627632"/>
            <a:ext cx="1371600" cy="329184"/>
          </a:xfrm>
          <a:prstGeom prst="rect">
            <a:avLst/>
          </a:prstGeom>
          <a:noFill/>
        </p:spPr>
        <p:txBody>
          <a:bodyPr wrap="square" lIns="27432" tIns="9144" rIns="27432" bIns="9144" anchor="b">
            <a:spAutoFit/>
          </a:bodyPr>
          <a:lstStyle/>
          <a:p>
            <a:pPr algn="l"/>
            <a:r>
              <a:rPr sz="800" b="1" i="0">
                <a:solidFill>
                  <a:srgbClr val="0E3A66"/>
                </a:solidFill>
                <a:latin typeface="Calibri"/>
              </a:rPr>
              <a:t>Next clinical milestone</a:t>
            </a:r>
          </a:p>
        </p:txBody>
      </p:sp>
      <p:sp>
        <p:nvSpPr>
          <p:cNvPr id="13" name="TextBox 12"/>
          <p:cNvSpPr txBox="1"/>
          <p:nvPr/>
        </p:nvSpPr>
        <p:spPr>
          <a:xfrm>
            <a:off x="6126479" y="1627632"/>
            <a:ext cx="1280160" cy="329184"/>
          </a:xfrm>
          <a:prstGeom prst="rect">
            <a:avLst/>
          </a:prstGeom>
          <a:noFill/>
        </p:spPr>
        <p:txBody>
          <a:bodyPr wrap="square" lIns="27432" tIns="9144" rIns="27432" bIns="9144" anchor="b">
            <a:spAutoFit/>
          </a:bodyPr>
          <a:lstStyle/>
          <a:p>
            <a:pPr algn="l"/>
            <a:r>
              <a:rPr sz="800" b="1" i="0">
                <a:solidFill>
                  <a:srgbClr val="0E3A66"/>
                </a:solidFill>
                <a:latin typeface="Calibri"/>
              </a:rPr>
              <a:t>Regulatory interaction or designation</a:t>
            </a:r>
          </a:p>
        </p:txBody>
      </p:sp>
      <p:sp>
        <p:nvSpPr>
          <p:cNvPr id="14" name="TextBox 13"/>
          <p:cNvSpPr txBox="1"/>
          <p:nvPr/>
        </p:nvSpPr>
        <p:spPr>
          <a:xfrm>
            <a:off x="7452359" y="1627632"/>
            <a:ext cx="1280160" cy="329184"/>
          </a:xfrm>
          <a:prstGeom prst="rect">
            <a:avLst/>
          </a:prstGeom>
          <a:noFill/>
        </p:spPr>
        <p:txBody>
          <a:bodyPr wrap="square" lIns="27432" tIns="9144" rIns="27432" bIns="9144" anchor="b">
            <a:spAutoFit/>
          </a:bodyPr>
          <a:lstStyle/>
          <a:p>
            <a:pPr algn="l"/>
            <a:r>
              <a:rPr sz="800" b="1" i="0">
                <a:solidFill>
                  <a:srgbClr val="0E3A66"/>
                </a:solidFill>
                <a:latin typeface="Calibri"/>
              </a:rPr>
              <a:t>Manufacturing readiness</a:t>
            </a:r>
          </a:p>
        </p:txBody>
      </p:sp>
      <p:sp>
        <p:nvSpPr>
          <p:cNvPr id="15" name="TextBox 14"/>
          <p:cNvSpPr txBox="1"/>
          <p:nvPr/>
        </p:nvSpPr>
        <p:spPr>
          <a:xfrm>
            <a:off x="8778239" y="1627632"/>
            <a:ext cx="1143000" cy="329184"/>
          </a:xfrm>
          <a:prstGeom prst="rect">
            <a:avLst/>
          </a:prstGeom>
          <a:noFill/>
        </p:spPr>
        <p:txBody>
          <a:bodyPr wrap="square" lIns="27432" tIns="9144" rIns="27432" bIns="9144" anchor="b">
            <a:spAutoFit/>
          </a:bodyPr>
          <a:lstStyle/>
          <a:p>
            <a:pPr algn="l"/>
            <a:r>
              <a:rPr sz="800" b="1" i="0">
                <a:solidFill>
                  <a:srgbClr val="0E3A66"/>
                </a:solidFill>
                <a:latin typeface="Calibri"/>
              </a:rPr>
              <a:t>Combination strategy</a:t>
            </a:r>
          </a:p>
        </p:txBody>
      </p:sp>
      <p:sp>
        <p:nvSpPr>
          <p:cNvPr id="16" name="TextBox 15"/>
          <p:cNvSpPr txBox="1"/>
          <p:nvPr/>
        </p:nvSpPr>
        <p:spPr>
          <a:xfrm>
            <a:off x="9966959" y="1627632"/>
            <a:ext cx="1993392" cy="329184"/>
          </a:xfrm>
          <a:prstGeom prst="rect">
            <a:avLst/>
          </a:prstGeom>
          <a:noFill/>
        </p:spPr>
        <p:txBody>
          <a:bodyPr wrap="square" lIns="27432" tIns="9144" rIns="27432" bIns="9144" anchor="b">
            <a:spAutoFit/>
          </a:bodyPr>
          <a:lstStyle/>
          <a:p>
            <a:pPr algn="l"/>
            <a:r>
              <a:rPr sz="800" b="1" i="0">
                <a:solidFill>
                  <a:srgbClr val="0E3A66"/>
                </a:solidFill>
                <a:latin typeface="Calibri"/>
              </a:rPr>
              <a:t>Commercial or partnering outlook</a:t>
            </a:r>
          </a:p>
        </p:txBody>
      </p:sp>
      <p:cxnSp>
        <p:nvCxnSpPr>
          <p:cNvPr id="17" name="Connector 16"/>
          <p:cNvCxnSpPr/>
          <p:nvPr/>
        </p:nvCxnSpPr>
        <p:spPr>
          <a:xfrm>
            <a:off x="182880" y="198424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82880" y="2057400"/>
            <a:ext cx="45720" cy="42062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6032" y="2039112"/>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GLSI-100</a:t>
            </a:r>
          </a:p>
          <a:p>
            <a:pPr algn="l"/>
            <a:r>
              <a:rPr sz="750" b="0" i="0">
                <a:solidFill>
                  <a:srgbClr val="404040"/>
                </a:solidFill>
                <a:latin typeface="Calibri"/>
              </a:rPr>
              <a:t>Greenwich</a:t>
            </a:r>
          </a:p>
        </p:txBody>
      </p:sp>
      <p:sp>
        <p:nvSpPr>
          <p:cNvPr id="20" name="TextBox 19"/>
          <p:cNvSpPr txBox="1"/>
          <p:nvPr/>
        </p:nvSpPr>
        <p:spPr>
          <a:xfrm>
            <a:off x="1417320" y="203911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US and 10 EU countries; about 140 sites active, 170 to 180 planned</a:t>
            </a:r>
          </a:p>
        </p:txBody>
      </p:sp>
      <p:sp>
        <p:nvSpPr>
          <p:cNvPr id="21" name="TextBox 20"/>
          <p:cNvSpPr txBox="1"/>
          <p:nvPr/>
        </p:nvSpPr>
        <p:spPr>
          <a:xfrm>
            <a:off x="2743200" y="2039112"/>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Recruiting; open-label non-HLA-A*02 arm fully enrolled (about 250)</a:t>
            </a:r>
          </a:p>
        </p:txBody>
      </p:sp>
      <p:sp>
        <p:nvSpPr>
          <p:cNvPr id="22" name="Oval 21"/>
          <p:cNvSpPr/>
          <p:nvPr/>
        </p:nvSpPr>
        <p:spPr>
          <a:xfrm>
            <a:off x="4274820" y="2199132"/>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9159" y="2039112"/>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Interim analysis 1 at 28 iDFS events; timing n/a</a:t>
            </a:r>
          </a:p>
        </p:txBody>
      </p:sp>
      <p:sp>
        <p:nvSpPr>
          <p:cNvPr id="24" name="TextBox 23"/>
          <p:cNvSpPr txBox="1"/>
          <p:nvPr/>
        </p:nvSpPr>
        <p:spPr>
          <a:xfrm>
            <a:off x="6126479" y="203911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FDA Fast Track (Sep 2025); redesign reviewed by FDA and EMA (Jul 2026)</a:t>
            </a:r>
          </a:p>
        </p:txBody>
      </p:sp>
      <p:sp>
        <p:nvSpPr>
          <p:cNvPr id="25" name="TextBox 24"/>
          <p:cNvSpPr txBox="1"/>
          <p:nvPr/>
        </p:nvSpPr>
        <p:spPr>
          <a:xfrm>
            <a:off x="7452359" y="203911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Phase III vials made for all patients; commercial drug product lot in use (company)</a:t>
            </a:r>
          </a:p>
        </p:txBody>
      </p:sp>
      <p:sp>
        <p:nvSpPr>
          <p:cNvPr id="26" name="TextBox 25"/>
          <p:cNvSpPr txBox="1"/>
          <p:nvPr/>
        </p:nvSpPr>
        <p:spPr>
          <a:xfrm>
            <a:off x="8778239" y="2039112"/>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Sequential after trastuzumab-based therapy</a:t>
            </a:r>
          </a:p>
        </p:txBody>
      </p:sp>
      <p:sp>
        <p:nvSpPr>
          <p:cNvPr id="27" name="TextBox 26"/>
          <p:cNvSpPr txBox="1"/>
          <p:nvPr/>
        </p:nvSpPr>
        <p:spPr>
          <a:xfrm>
            <a:off x="9966959" y="2039112"/>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Seeking licence, royalty or debt funding; BLA possible at interim per company</a:t>
            </a:r>
          </a:p>
        </p:txBody>
      </p:sp>
      <p:cxnSp>
        <p:nvCxnSpPr>
          <p:cNvPr id="28" name="Connector 27"/>
          <p:cNvCxnSpPr/>
          <p:nvPr/>
        </p:nvCxnSpPr>
        <p:spPr>
          <a:xfrm>
            <a:off x="182880" y="2523744"/>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82880" y="2569464"/>
            <a:ext cx="45720" cy="42062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6032" y="2551176"/>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AST-301</a:t>
            </a:r>
          </a:p>
          <a:p>
            <a:pPr algn="l"/>
            <a:r>
              <a:rPr sz="750" b="0" i="0">
                <a:solidFill>
                  <a:srgbClr val="404040"/>
                </a:solidFill>
                <a:latin typeface="Calibri"/>
              </a:rPr>
              <a:t>Aston Sci.</a:t>
            </a:r>
          </a:p>
        </p:txBody>
      </p:sp>
      <p:sp>
        <p:nvSpPr>
          <p:cNvPr id="31" name="TextBox 30"/>
          <p:cNvSpPr txBox="1"/>
          <p:nvPr/>
        </p:nvSpPr>
        <p:spPr>
          <a:xfrm>
            <a:off x="1417320" y="255117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Taiwan (Cornerstone-003)</a:t>
            </a:r>
          </a:p>
        </p:txBody>
      </p:sp>
      <p:sp>
        <p:nvSpPr>
          <p:cNvPr id="32" name="TextBox 31"/>
          <p:cNvSpPr txBox="1"/>
          <p:nvPr/>
        </p:nvSpPr>
        <p:spPr>
          <a:xfrm>
            <a:off x="2743200" y="2551176"/>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Recruiting per registry (verification required); breast trial terminated</a:t>
            </a:r>
          </a:p>
        </p:txBody>
      </p:sp>
      <p:sp>
        <p:nvSpPr>
          <p:cNvPr id="33" name="Oval 32"/>
          <p:cNvSpPr/>
          <p:nvPr/>
        </p:nvSpPr>
        <p:spPr>
          <a:xfrm>
            <a:off x="4274820" y="271119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09159" y="2551176"/>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n/a</a:t>
            </a:r>
          </a:p>
        </p:txBody>
      </p:sp>
      <p:sp>
        <p:nvSpPr>
          <p:cNvPr id="35" name="TextBox 34"/>
          <p:cNvSpPr txBox="1"/>
          <p:nvPr/>
        </p:nvSpPr>
        <p:spPr>
          <a:xfrm>
            <a:off x="6126479" y="255117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TFDA IND for gastric Phase II; FDA IND 2022 for terminated breast trial</a:t>
            </a:r>
          </a:p>
        </p:txBody>
      </p:sp>
      <p:sp>
        <p:nvSpPr>
          <p:cNvPr id="36" name="TextBox 35"/>
          <p:cNvSpPr txBox="1"/>
          <p:nvPr/>
        </p:nvSpPr>
        <p:spPr>
          <a:xfrm>
            <a:off x="7452359" y="255117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Plasmid DNA; readiness n/a</a:t>
            </a:r>
          </a:p>
        </p:txBody>
      </p:sp>
      <p:sp>
        <p:nvSpPr>
          <p:cNvPr id="37" name="TextBox 36"/>
          <p:cNvSpPr txBox="1"/>
          <p:nvPr/>
        </p:nvSpPr>
        <p:spPr>
          <a:xfrm>
            <a:off x="8778239" y="2551176"/>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Preclinical with pembrolizumab and HER2 ADC</a:t>
            </a:r>
          </a:p>
        </p:txBody>
      </p:sp>
      <p:sp>
        <p:nvSpPr>
          <p:cNvPr id="38" name="TextBox 37"/>
          <p:cNvSpPr txBox="1"/>
          <p:nvPr/>
        </p:nvSpPr>
        <p:spPr>
          <a:xfrm>
            <a:off x="9966959" y="2551176"/>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Out-licensing sought (BIO 2025)</a:t>
            </a:r>
          </a:p>
        </p:txBody>
      </p:sp>
      <p:cxnSp>
        <p:nvCxnSpPr>
          <p:cNvPr id="39" name="Connector 38"/>
          <p:cNvCxnSpPr/>
          <p:nvPr/>
        </p:nvCxnSpPr>
        <p:spPr>
          <a:xfrm>
            <a:off x="182880" y="303580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82880" y="3081528"/>
            <a:ext cx="45720" cy="42062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6032" y="3063240"/>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HER2 DC1</a:t>
            </a:r>
          </a:p>
          <a:p>
            <a:pPr algn="l"/>
            <a:r>
              <a:rPr sz="750" b="0" i="0">
                <a:solidFill>
                  <a:srgbClr val="404040"/>
                </a:solidFill>
                <a:latin typeface="Calibri"/>
              </a:rPr>
              <a:t>Moffitt</a:t>
            </a:r>
          </a:p>
        </p:txBody>
      </p:sp>
      <p:sp>
        <p:nvSpPr>
          <p:cNvPr id="42" name="TextBox 41"/>
          <p:cNvSpPr txBox="1"/>
          <p:nvPr/>
        </p:nvSpPr>
        <p:spPr>
          <a:xfrm>
            <a:off x="1417320" y="3063240"/>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Moffitt (NATASHA); 7 US sites in NCT03384914</a:t>
            </a:r>
          </a:p>
        </p:txBody>
      </p:sp>
      <p:sp>
        <p:nvSpPr>
          <p:cNvPr id="43" name="TextBox 42"/>
          <p:cNvSpPr txBox="1"/>
          <p:nvPr/>
        </p:nvSpPr>
        <p:spPr>
          <a:xfrm>
            <a:off x="2743200" y="3063240"/>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NATASHA recruiting; NCT03384914 active not recruiting</a:t>
            </a:r>
          </a:p>
        </p:txBody>
      </p:sp>
      <p:sp>
        <p:nvSpPr>
          <p:cNvPr id="44" name="Oval 43"/>
          <p:cNvSpPr/>
          <p:nvPr/>
        </p:nvSpPr>
        <p:spPr>
          <a:xfrm>
            <a:off x="4274820" y="3223260"/>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Chord 44"/>
          <p:cNvSpPr/>
          <p:nvPr/>
        </p:nvSpPr>
        <p:spPr>
          <a:xfrm>
            <a:off x="4274820" y="3223260"/>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709159" y="3063240"/>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n/a; completion estimated Dec 2027</a:t>
            </a:r>
          </a:p>
        </p:txBody>
      </p:sp>
      <p:sp>
        <p:nvSpPr>
          <p:cNvPr id="47" name="TextBox 46"/>
          <p:cNvSpPr txBox="1"/>
          <p:nvPr/>
        </p:nvSpPr>
        <p:spPr>
          <a:xfrm>
            <a:off x="6126479" y="3063240"/>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FDA-regulated IND study</a:t>
            </a:r>
          </a:p>
        </p:txBody>
      </p:sp>
      <p:sp>
        <p:nvSpPr>
          <p:cNvPr id="48" name="TextBox 47"/>
          <p:cNvSpPr txBox="1"/>
          <p:nvPr/>
        </p:nvSpPr>
        <p:spPr>
          <a:xfrm>
            <a:off x="7452359" y="3063240"/>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Autologous, per-patient leukapheresis</a:t>
            </a:r>
          </a:p>
        </p:txBody>
      </p:sp>
      <p:sp>
        <p:nvSpPr>
          <p:cNvPr id="49" name="TextBox 48"/>
          <p:cNvSpPr txBox="1"/>
          <p:nvPr/>
        </p:nvSpPr>
        <p:spPr>
          <a:xfrm>
            <a:off x="8778239" y="3063240"/>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With paclitaxel, trastuzumab, pertuzumab</a:t>
            </a:r>
          </a:p>
        </p:txBody>
      </p:sp>
      <p:sp>
        <p:nvSpPr>
          <p:cNvPr id="50" name="TextBox 49"/>
          <p:cNvSpPr txBox="1"/>
          <p:nvPr/>
        </p:nvSpPr>
        <p:spPr>
          <a:xfrm>
            <a:off x="9966959" y="3063240"/>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Academic; collaborator ImmunoRestoration</a:t>
            </a:r>
          </a:p>
        </p:txBody>
      </p:sp>
      <p:cxnSp>
        <p:nvCxnSpPr>
          <p:cNvPr id="51" name="Connector 50"/>
          <p:cNvCxnSpPr/>
          <p:nvPr/>
        </p:nvCxnSpPr>
        <p:spPr>
          <a:xfrm>
            <a:off x="182880" y="354787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82880" y="3593592"/>
            <a:ext cx="45720" cy="42062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6032" y="3575304"/>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WOKVAC</a:t>
            </a:r>
          </a:p>
          <a:p>
            <a:pPr algn="l"/>
            <a:r>
              <a:rPr sz="750" b="0" i="0">
                <a:solidFill>
                  <a:srgbClr val="404040"/>
                </a:solidFill>
                <a:latin typeface="Calibri"/>
              </a:rPr>
              <a:t>UW CVI</a:t>
            </a:r>
          </a:p>
        </p:txBody>
      </p:sp>
      <p:sp>
        <p:nvSpPr>
          <p:cNvPr id="54" name="TextBox 53"/>
          <p:cNvSpPr txBox="1"/>
          <p:nvPr/>
        </p:nvSpPr>
        <p:spPr>
          <a:xfrm>
            <a:off x="1417320" y="3575304"/>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7 US sites (shared trial with DC1)</a:t>
            </a:r>
          </a:p>
        </p:txBody>
      </p:sp>
      <p:sp>
        <p:nvSpPr>
          <p:cNvPr id="55" name="TextBox 54"/>
          <p:cNvSpPr txBox="1"/>
          <p:nvPr/>
        </p:nvSpPr>
        <p:spPr>
          <a:xfrm>
            <a:off x="2743200" y="3575304"/>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Active, not recruiting (n = 119)</a:t>
            </a:r>
          </a:p>
        </p:txBody>
      </p:sp>
      <p:sp>
        <p:nvSpPr>
          <p:cNvPr id="56" name="Oval 55"/>
          <p:cNvSpPr/>
          <p:nvPr/>
        </p:nvSpPr>
        <p:spPr>
          <a:xfrm>
            <a:off x="4274820" y="3735324"/>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709159" y="3575304"/>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Study completion estimated Dec 2027</a:t>
            </a:r>
          </a:p>
        </p:txBody>
      </p:sp>
      <p:sp>
        <p:nvSpPr>
          <p:cNvPr id="58" name="TextBox 57"/>
          <p:cNvSpPr txBox="1"/>
          <p:nvPr/>
        </p:nvSpPr>
        <p:spPr>
          <a:xfrm>
            <a:off x="6126479" y="3575304"/>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n/a</a:t>
            </a:r>
          </a:p>
        </p:txBody>
      </p:sp>
      <p:sp>
        <p:nvSpPr>
          <p:cNvPr id="59" name="TextBox 58"/>
          <p:cNvSpPr txBox="1"/>
          <p:nvPr/>
        </p:nvSpPr>
        <p:spPr>
          <a:xfrm>
            <a:off x="7452359" y="3575304"/>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Plasmid DNA; readiness n/a</a:t>
            </a:r>
          </a:p>
        </p:txBody>
      </p:sp>
      <p:sp>
        <p:nvSpPr>
          <p:cNvPr id="60" name="TextBox 59"/>
          <p:cNvSpPr txBox="1"/>
          <p:nvPr/>
        </p:nvSpPr>
        <p:spPr>
          <a:xfrm>
            <a:off x="8778239" y="3575304"/>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None</a:t>
            </a:r>
          </a:p>
        </p:txBody>
      </p:sp>
      <p:sp>
        <p:nvSpPr>
          <p:cNvPr id="61" name="TextBox 60"/>
          <p:cNvSpPr txBox="1"/>
          <p:nvPr/>
        </p:nvSpPr>
        <p:spPr>
          <a:xfrm>
            <a:off x="9966959" y="3575304"/>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n/a</a:t>
            </a:r>
          </a:p>
        </p:txBody>
      </p:sp>
      <p:cxnSp>
        <p:nvCxnSpPr>
          <p:cNvPr id="62" name="Connector 61"/>
          <p:cNvCxnSpPr/>
          <p:nvPr/>
        </p:nvCxnSpPr>
        <p:spPr>
          <a:xfrm>
            <a:off x="182880" y="405993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82880" y="4105656"/>
            <a:ext cx="45720" cy="42062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56032" y="4087368"/>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ES2B-C001</a:t>
            </a:r>
          </a:p>
          <a:p>
            <a:pPr algn="l"/>
            <a:r>
              <a:rPr sz="750" b="0" i="0">
                <a:solidFill>
                  <a:srgbClr val="404040"/>
                </a:solidFill>
                <a:latin typeface="Calibri"/>
              </a:rPr>
              <a:t>ExpreS2ion</a:t>
            </a:r>
          </a:p>
        </p:txBody>
      </p:sp>
      <p:sp>
        <p:nvSpPr>
          <p:cNvPr id="65" name="TextBox 64"/>
          <p:cNvSpPr txBox="1"/>
          <p:nvPr/>
        </p:nvSpPr>
        <p:spPr>
          <a:xfrm>
            <a:off x="1417320" y="4087368"/>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Austria, Medical University of Vienna; referral from five Vienna clinics</a:t>
            </a:r>
          </a:p>
        </p:txBody>
      </p:sp>
      <p:sp>
        <p:nvSpPr>
          <p:cNvPr id="66" name="TextBox 65"/>
          <p:cNvSpPr txBox="1"/>
          <p:nvPr/>
        </p:nvSpPr>
        <p:spPr>
          <a:xfrm>
            <a:off x="2743200" y="4087368"/>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Enrolling; 450 microgram cohort dosed May 2026</a:t>
            </a:r>
          </a:p>
        </p:txBody>
      </p:sp>
      <p:sp>
        <p:nvSpPr>
          <p:cNvPr id="67" name="Oval 66"/>
          <p:cNvSpPr/>
          <p:nvPr/>
        </p:nvSpPr>
        <p:spPr>
          <a:xfrm>
            <a:off x="4274820" y="4247388"/>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Chord 67"/>
          <p:cNvSpPr/>
          <p:nvPr/>
        </p:nvSpPr>
        <p:spPr>
          <a:xfrm>
            <a:off x="4274820" y="4247388"/>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709159" y="4087368"/>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Phase I primary readout end-2026; Phase II mid-2027</a:t>
            </a:r>
          </a:p>
        </p:txBody>
      </p:sp>
      <p:sp>
        <p:nvSpPr>
          <p:cNvPr id="70" name="TextBox 69"/>
          <p:cNvSpPr txBox="1"/>
          <p:nvPr/>
        </p:nvSpPr>
        <p:spPr>
          <a:xfrm>
            <a:off x="6126479" y="4087368"/>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Austrian CTA (Dec 2024); DSMB escalation approval (Mar 2026)</a:t>
            </a:r>
          </a:p>
        </p:txBody>
      </p:sp>
      <p:sp>
        <p:nvSpPr>
          <p:cNvPr id="71" name="TextBox 70"/>
          <p:cNvSpPr txBox="1"/>
          <p:nvPr/>
        </p:nvSpPr>
        <p:spPr>
          <a:xfrm>
            <a:off x="7452359" y="4087368"/>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In-house ExpreS2 protein platform plus AdaptVac VLP</a:t>
            </a:r>
          </a:p>
        </p:txBody>
      </p:sp>
      <p:sp>
        <p:nvSpPr>
          <p:cNvPr id="72" name="TextBox 71"/>
          <p:cNvSpPr txBox="1"/>
          <p:nvPr/>
        </p:nvSpPr>
        <p:spPr>
          <a:xfrm>
            <a:off x="8778239" y="4087368"/>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Optional concurrent HER2 ADC</a:t>
            </a:r>
          </a:p>
        </p:txBody>
      </p:sp>
      <p:sp>
        <p:nvSpPr>
          <p:cNvPr id="73" name="TextBox 72"/>
          <p:cNvSpPr txBox="1"/>
          <p:nvPr/>
        </p:nvSpPr>
        <p:spPr>
          <a:xfrm>
            <a:off x="9966959" y="4087368"/>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Partnering targeted for Phase II; cash SEK 34.4 M (Jun 2026)</a:t>
            </a:r>
          </a:p>
        </p:txBody>
      </p:sp>
      <p:cxnSp>
        <p:nvCxnSpPr>
          <p:cNvPr id="74" name="Connector 73"/>
          <p:cNvCxnSpPr/>
          <p:nvPr/>
        </p:nvCxnSpPr>
        <p:spPr>
          <a:xfrm>
            <a:off x="182880" y="4572000"/>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82880" y="4617720"/>
            <a:ext cx="45720" cy="42062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56032" y="4599432"/>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H2NVAC</a:t>
            </a:r>
          </a:p>
          <a:p>
            <a:pPr algn="l"/>
            <a:r>
              <a:rPr sz="750" b="0" i="0">
                <a:solidFill>
                  <a:srgbClr val="404040"/>
                </a:solidFill>
                <a:latin typeface="Calibri"/>
              </a:rPr>
              <a:t>Mayo Clinic</a:t>
            </a:r>
          </a:p>
        </p:txBody>
      </p:sp>
      <p:sp>
        <p:nvSpPr>
          <p:cNvPr id="77" name="TextBox 76"/>
          <p:cNvSpPr txBox="1"/>
          <p:nvPr/>
        </p:nvSpPr>
        <p:spPr>
          <a:xfrm>
            <a:off x="1417320" y="459943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Rochester MN and Jacksonville FL</a:t>
            </a:r>
          </a:p>
        </p:txBody>
      </p:sp>
      <p:sp>
        <p:nvSpPr>
          <p:cNvPr id="78" name="TextBox 77"/>
          <p:cNvSpPr txBox="1"/>
          <p:nvPr/>
        </p:nvSpPr>
        <p:spPr>
          <a:xfrm>
            <a:off x="2743200" y="4599432"/>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Recruiting (verified Mar 2026)</a:t>
            </a:r>
          </a:p>
        </p:txBody>
      </p:sp>
      <p:sp>
        <p:nvSpPr>
          <p:cNvPr id="79" name="Oval 78"/>
          <p:cNvSpPr/>
          <p:nvPr/>
        </p:nvSpPr>
        <p:spPr>
          <a:xfrm>
            <a:off x="4274820" y="4759452"/>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Chord 79"/>
          <p:cNvSpPr/>
          <p:nvPr/>
        </p:nvSpPr>
        <p:spPr>
          <a:xfrm>
            <a:off x="4274820" y="4759452"/>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709159" y="4599432"/>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Primary completion estimated Dec 2027</a:t>
            </a:r>
          </a:p>
        </p:txBody>
      </p:sp>
      <p:sp>
        <p:nvSpPr>
          <p:cNvPr id="82" name="TextBox 81"/>
          <p:cNvSpPr txBox="1"/>
          <p:nvPr/>
        </p:nvSpPr>
        <p:spPr>
          <a:xfrm>
            <a:off x="6126479" y="459943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NCI-registered US study</a:t>
            </a:r>
          </a:p>
        </p:txBody>
      </p:sp>
      <p:sp>
        <p:nvSpPr>
          <p:cNvPr id="83" name="TextBox 82"/>
          <p:cNvSpPr txBox="1"/>
          <p:nvPr/>
        </p:nvSpPr>
        <p:spPr>
          <a:xfrm>
            <a:off x="7452359" y="4599432"/>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Synthetic peptide; readiness n/a</a:t>
            </a:r>
          </a:p>
        </p:txBody>
      </p:sp>
      <p:sp>
        <p:nvSpPr>
          <p:cNvPr id="84" name="TextBox 83"/>
          <p:cNvSpPr txBox="1"/>
          <p:nvPr/>
        </p:nvSpPr>
        <p:spPr>
          <a:xfrm>
            <a:off x="8778239" y="4599432"/>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None</a:t>
            </a:r>
          </a:p>
        </p:txBody>
      </p:sp>
      <p:sp>
        <p:nvSpPr>
          <p:cNvPr id="85" name="TextBox 84"/>
          <p:cNvSpPr txBox="1"/>
          <p:nvPr/>
        </p:nvSpPr>
        <p:spPr>
          <a:xfrm>
            <a:off x="9966959" y="4599432"/>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Academic; n/a</a:t>
            </a:r>
          </a:p>
        </p:txBody>
      </p:sp>
      <p:cxnSp>
        <p:nvCxnSpPr>
          <p:cNvPr id="86" name="Connector 85"/>
          <p:cNvCxnSpPr/>
          <p:nvPr/>
        </p:nvCxnSpPr>
        <p:spPr>
          <a:xfrm>
            <a:off x="182880" y="5084064"/>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82880" y="5129784"/>
            <a:ext cx="45720" cy="42062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56032" y="5111496"/>
            <a:ext cx="1143000" cy="457200"/>
          </a:xfrm>
          <a:prstGeom prst="rect">
            <a:avLst/>
          </a:prstGeom>
          <a:noFill/>
        </p:spPr>
        <p:txBody>
          <a:bodyPr wrap="square" lIns="27432" tIns="9144" rIns="27432" bIns="9144" anchor="t">
            <a:spAutoFit/>
          </a:bodyPr>
          <a:lstStyle/>
          <a:p>
            <a:pPr algn="l"/>
            <a:r>
              <a:rPr sz="900" b="1" i="0">
                <a:solidFill>
                  <a:srgbClr val="262626"/>
                </a:solidFill>
                <a:latin typeface="Calibri"/>
              </a:rPr>
              <a:t>Bria-IMT</a:t>
            </a:r>
          </a:p>
          <a:p>
            <a:pPr algn="l"/>
            <a:r>
              <a:rPr sz="750" b="0" i="0">
                <a:solidFill>
                  <a:srgbClr val="404040"/>
                </a:solidFill>
                <a:latin typeface="Calibri"/>
              </a:rPr>
              <a:t>BriaCell</a:t>
            </a:r>
          </a:p>
        </p:txBody>
      </p:sp>
      <p:sp>
        <p:nvSpPr>
          <p:cNvPr id="89" name="TextBox 88"/>
          <p:cNvSpPr txBox="1"/>
          <p:nvPr/>
        </p:nvSpPr>
        <p:spPr>
          <a:xfrm>
            <a:off x="1417320" y="511149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US-led multicentre; site count n/a</a:t>
            </a:r>
          </a:p>
        </p:txBody>
      </p:sp>
      <p:sp>
        <p:nvSpPr>
          <p:cNvPr id="90" name="TextBox 89"/>
          <p:cNvSpPr txBox="1"/>
          <p:nvPr/>
        </p:nvSpPr>
        <p:spPr>
          <a:xfrm>
            <a:off x="2743200" y="5111496"/>
            <a:ext cx="1179576" cy="457200"/>
          </a:xfrm>
          <a:prstGeom prst="rect">
            <a:avLst/>
          </a:prstGeom>
          <a:noFill/>
        </p:spPr>
        <p:txBody>
          <a:bodyPr wrap="square" lIns="27432" tIns="9144" rIns="27432" bIns="9144" anchor="t">
            <a:spAutoFit/>
          </a:bodyPr>
          <a:lstStyle/>
          <a:p>
            <a:pPr algn="l"/>
            <a:r>
              <a:rPr sz="720" b="0" i="0">
                <a:solidFill>
                  <a:srgbClr val="262626"/>
                </a:solidFill>
                <a:latin typeface="Calibri"/>
              </a:rPr>
              <a:t>Enrolling; over 230 patients (May 2026)</a:t>
            </a:r>
          </a:p>
        </p:txBody>
      </p:sp>
      <p:sp>
        <p:nvSpPr>
          <p:cNvPr id="91" name="Oval 90"/>
          <p:cNvSpPr/>
          <p:nvPr/>
        </p:nvSpPr>
        <p:spPr>
          <a:xfrm>
            <a:off x="4274820" y="527151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709159" y="5111496"/>
            <a:ext cx="1362456" cy="457200"/>
          </a:xfrm>
          <a:prstGeom prst="rect">
            <a:avLst/>
          </a:prstGeom>
          <a:noFill/>
        </p:spPr>
        <p:txBody>
          <a:bodyPr wrap="square" lIns="27432" tIns="9144" rIns="27432" bIns="9144" anchor="t">
            <a:spAutoFit/>
          </a:bodyPr>
          <a:lstStyle/>
          <a:p>
            <a:pPr algn="l"/>
            <a:r>
              <a:rPr sz="720" b="0" i="0">
                <a:solidFill>
                  <a:srgbClr val="262626"/>
                </a:solidFill>
                <a:latin typeface="Calibri"/>
              </a:rPr>
              <a:t>Interim OS analysis at 144 deaths, guided 2026</a:t>
            </a:r>
          </a:p>
        </p:txBody>
      </p:sp>
      <p:sp>
        <p:nvSpPr>
          <p:cNvPr id="93" name="TextBox 92"/>
          <p:cNvSpPr txBox="1"/>
          <p:nvPr/>
        </p:nvSpPr>
        <p:spPr>
          <a:xfrm>
            <a:off x="6126479" y="511149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FDA Fast Track</a:t>
            </a:r>
          </a:p>
        </p:txBody>
      </p:sp>
      <p:sp>
        <p:nvSpPr>
          <p:cNvPr id="94" name="TextBox 93"/>
          <p:cNvSpPr txBox="1"/>
          <p:nvPr/>
        </p:nvSpPr>
        <p:spPr>
          <a:xfrm>
            <a:off x="7452359" y="5111496"/>
            <a:ext cx="1271016" cy="457200"/>
          </a:xfrm>
          <a:prstGeom prst="rect">
            <a:avLst/>
          </a:prstGeom>
          <a:noFill/>
        </p:spPr>
        <p:txBody>
          <a:bodyPr wrap="square" lIns="27432" tIns="9144" rIns="27432" bIns="9144" anchor="t">
            <a:spAutoFit/>
          </a:bodyPr>
          <a:lstStyle/>
          <a:p>
            <a:pPr algn="l"/>
            <a:r>
              <a:rPr sz="720" b="0" i="0">
                <a:solidFill>
                  <a:srgbClr val="262626"/>
                </a:solidFill>
                <a:latin typeface="Calibri"/>
              </a:rPr>
              <a:t>Off-the-shelf cell line</a:t>
            </a:r>
          </a:p>
        </p:txBody>
      </p:sp>
      <p:sp>
        <p:nvSpPr>
          <p:cNvPr id="95" name="TextBox 94"/>
          <p:cNvSpPr txBox="1"/>
          <p:nvPr/>
        </p:nvSpPr>
        <p:spPr>
          <a:xfrm>
            <a:off x="8778239" y="5111496"/>
            <a:ext cx="1133856" cy="457200"/>
          </a:xfrm>
          <a:prstGeom prst="rect">
            <a:avLst/>
          </a:prstGeom>
          <a:noFill/>
        </p:spPr>
        <p:txBody>
          <a:bodyPr wrap="square" lIns="27432" tIns="9144" rIns="27432" bIns="9144" anchor="t">
            <a:spAutoFit/>
          </a:bodyPr>
          <a:lstStyle/>
          <a:p>
            <a:pPr algn="l"/>
            <a:r>
              <a:rPr sz="720" b="0" i="0">
                <a:solidFill>
                  <a:srgbClr val="262626"/>
                </a:solidFill>
                <a:latin typeface="Calibri"/>
              </a:rPr>
              <a:t>Checkpoint inhibitor combination</a:t>
            </a:r>
          </a:p>
        </p:txBody>
      </p:sp>
      <p:sp>
        <p:nvSpPr>
          <p:cNvPr id="96" name="TextBox 95"/>
          <p:cNvSpPr txBox="1"/>
          <p:nvPr/>
        </p:nvSpPr>
        <p:spPr>
          <a:xfrm>
            <a:off x="9966959" y="5111496"/>
            <a:ext cx="1984248" cy="457200"/>
          </a:xfrm>
          <a:prstGeom prst="rect">
            <a:avLst/>
          </a:prstGeom>
          <a:noFill/>
        </p:spPr>
        <p:txBody>
          <a:bodyPr wrap="square" lIns="27432" tIns="9144" rIns="27432" bIns="9144" anchor="t">
            <a:spAutoFit/>
          </a:bodyPr>
          <a:lstStyle/>
          <a:p>
            <a:pPr algn="l"/>
            <a:r>
              <a:rPr sz="720" b="0" i="0">
                <a:solidFill>
                  <a:srgbClr val="262626"/>
                </a:solidFill>
                <a:latin typeface="Calibri"/>
              </a:rPr>
              <a:t>Equity funded (USD 30 M, Jan 2026)</a:t>
            </a:r>
          </a:p>
        </p:txBody>
      </p:sp>
      <p:cxnSp>
        <p:nvCxnSpPr>
          <p:cNvPr id="97" name="Connector 96"/>
          <p:cNvCxnSpPr/>
          <p:nvPr/>
        </p:nvCxnSpPr>
        <p:spPr>
          <a:xfrm>
            <a:off x="182880" y="559612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196596" y="5655564"/>
            <a:ext cx="118872" cy="118872"/>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365760" y="5632704"/>
            <a:ext cx="2531059" cy="164592"/>
          </a:xfrm>
          <a:prstGeom prst="rect">
            <a:avLst/>
          </a:prstGeom>
          <a:noFill/>
        </p:spPr>
        <p:txBody>
          <a:bodyPr wrap="square" lIns="27432" tIns="9144" rIns="27432" bIns="9144" anchor="t">
            <a:spAutoFit/>
          </a:bodyPr>
          <a:lstStyle/>
          <a:p>
            <a:pPr algn="l"/>
            <a:r>
              <a:rPr sz="750" b="0" i="0">
                <a:solidFill>
                  <a:srgbClr val="404040"/>
                </a:solidFill>
                <a:latin typeface="Calibri"/>
              </a:rPr>
              <a:t>3 = major recent milestone or pivotal activity</a:t>
            </a:r>
          </a:p>
        </p:txBody>
      </p:sp>
      <p:sp>
        <p:nvSpPr>
          <p:cNvPr id="100" name="Oval 99"/>
          <p:cNvSpPr/>
          <p:nvPr/>
        </p:nvSpPr>
        <p:spPr>
          <a:xfrm>
            <a:off x="3047695" y="5655564"/>
            <a:ext cx="118872" cy="118872"/>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Chord 100"/>
          <p:cNvSpPr/>
          <p:nvPr/>
        </p:nvSpPr>
        <p:spPr>
          <a:xfrm>
            <a:off x="3047695" y="5655564"/>
            <a:ext cx="118872" cy="118872"/>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3216859" y="5632704"/>
            <a:ext cx="1894636" cy="164592"/>
          </a:xfrm>
          <a:prstGeom prst="rect">
            <a:avLst/>
          </a:prstGeom>
          <a:noFill/>
        </p:spPr>
        <p:txBody>
          <a:bodyPr wrap="square" lIns="27432" tIns="9144" rIns="27432" bIns="9144" anchor="t">
            <a:spAutoFit/>
          </a:bodyPr>
          <a:lstStyle/>
          <a:p>
            <a:pPr algn="l"/>
            <a:r>
              <a:rPr sz="750" b="0" i="0">
                <a:solidFill>
                  <a:srgbClr val="404040"/>
                </a:solidFill>
                <a:latin typeface="Calibri"/>
              </a:rPr>
              <a:t>2 = active, earlier-stage progress</a:t>
            </a:r>
          </a:p>
        </p:txBody>
      </p:sp>
      <p:sp>
        <p:nvSpPr>
          <p:cNvPr id="103" name="Oval 102"/>
          <p:cNvSpPr/>
          <p:nvPr/>
        </p:nvSpPr>
        <p:spPr>
          <a:xfrm>
            <a:off x="5262372" y="5655564"/>
            <a:ext cx="118872" cy="118872"/>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5431536" y="5632704"/>
            <a:ext cx="1523390" cy="164592"/>
          </a:xfrm>
          <a:prstGeom prst="rect">
            <a:avLst/>
          </a:prstGeom>
          <a:noFill/>
        </p:spPr>
        <p:txBody>
          <a:bodyPr wrap="square" lIns="27432" tIns="9144" rIns="27432" bIns="9144" anchor="t">
            <a:spAutoFit/>
          </a:bodyPr>
          <a:lstStyle/>
          <a:p>
            <a:pPr algn="l"/>
            <a:r>
              <a:rPr sz="750" b="0" i="0">
                <a:solidFill>
                  <a:srgbClr val="404040"/>
                </a:solidFill>
                <a:latin typeface="Calibri"/>
              </a:rPr>
              <a:t>1 = limited recent activity</a:t>
            </a:r>
          </a:p>
        </p:txBody>
      </p:sp>
      <p:sp>
        <p:nvSpPr>
          <p:cNvPr id="105" name="TextBox 104"/>
          <p:cNvSpPr txBox="1"/>
          <p:nvPr/>
        </p:nvSpPr>
        <p:spPr>
          <a:xfrm>
            <a:off x="7092086" y="5632704"/>
            <a:ext cx="274320" cy="164592"/>
          </a:xfrm>
          <a:prstGeom prst="rect">
            <a:avLst/>
          </a:prstGeom>
          <a:noFill/>
        </p:spPr>
        <p:txBody>
          <a:bodyPr wrap="square" lIns="27432" tIns="9144" rIns="27432" bIns="9144" anchor="t">
            <a:spAutoFit/>
          </a:bodyPr>
          <a:lstStyle/>
          <a:p>
            <a:pPr algn="l"/>
            <a:r>
              <a:rPr sz="750" b="1" i="0">
                <a:solidFill>
                  <a:srgbClr val="404040"/>
                </a:solidFill>
                <a:latin typeface="Calibri"/>
              </a:rPr>
              <a:t>n/a</a:t>
            </a:r>
          </a:p>
        </p:txBody>
      </p:sp>
      <p:sp>
        <p:nvSpPr>
          <p:cNvPr id="106" name="TextBox 105"/>
          <p:cNvSpPr txBox="1"/>
          <p:nvPr/>
        </p:nvSpPr>
        <p:spPr>
          <a:xfrm>
            <a:off x="7338974" y="5632704"/>
            <a:ext cx="1188720" cy="164592"/>
          </a:xfrm>
          <a:prstGeom prst="rect">
            <a:avLst/>
          </a:prstGeom>
          <a:noFill/>
        </p:spPr>
        <p:txBody>
          <a:bodyPr wrap="square" lIns="27432" tIns="9144" rIns="27432" bIns="9144" anchor="t">
            <a:spAutoFit/>
          </a:bodyPr>
          <a:lstStyle/>
          <a:p>
            <a:pPr algn="l"/>
            <a:r>
              <a:rPr sz="750" b="0" i="0">
                <a:solidFill>
                  <a:srgbClr val="404040"/>
                </a:solidFill>
                <a:latin typeface="Calibri"/>
              </a:rPr>
              <a:t>insufficient evidence</a:t>
            </a:r>
          </a:p>
        </p:txBody>
      </p:sp>
      <p:sp>
        <p:nvSpPr>
          <p:cNvPr id="107" name="TextBox 106"/>
          <p:cNvSpPr txBox="1"/>
          <p:nvPr/>
        </p:nvSpPr>
        <p:spPr>
          <a:xfrm>
            <a:off x="182880" y="5870448"/>
            <a:ext cx="11823192" cy="502920"/>
          </a:xfrm>
          <a:prstGeom prst="rect">
            <a:avLst/>
          </a:prstGeom>
          <a:noFill/>
        </p:spPr>
        <p:txBody>
          <a:bodyPr wrap="square" lIns="27432" tIns="9144" rIns="27432" bIns="9144" anchor="t">
            <a:spAutoFit/>
          </a:bodyPr>
          <a:lstStyle/>
          <a:p>
            <a:pPr algn="l"/>
            <a:r>
              <a:rPr sz="850" b="1" i="0">
                <a:solidFill>
                  <a:srgbClr val="0E3A66"/>
                </a:solidFill>
                <a:latin typeface="Calibri"/>
              </a:rPr>
              <a:t>READING  </a:t>
            </a:r>
            <a:r>
              <a:rPr sz="850" b="0" i="0">
                <a:solidFill>
                  <a:srgbClr val="262626"/>
                </a:solidFill>
                <a:latin typeface="Calibri"/>
              </a:rPr>
              <a:t>GLSI-100 and Bria-IMT are the only programs with pivotal activity; GLSI-100 recruits in the US and ten European countries. ES2B-C001 is the most active early program. AST-301 and WOKVAC show limited recent activity, and two HER2-directed trials (Cornerstone-001 in HER2-low breast, nextHERIZON in HER2-positive gastric) were terminated for slow recruitment, which makes enrolment capacity a competitive asset in its own right.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What it takes to win: five evidence-defined success factors separate late-stage, HER2-low expansion and academic programs; clinical validation and trial execution explain most of the gap</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9</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Capability matrix across five success factors with explicit 3, 2, 1 criteria; composite is an evidence-readiness score, not a market-share or approval-probability forecast</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2286000" y="1371600"/>
            <a:ext cx="1554480" cy="201168"/>
          </a:xfrm>
          <a:prstGeom prst="rect">
            <a:avLst/>
          </a:prstGeom>
          <a:noFill/>
        </p:spPr>
        <p:txBody>
          <a:bodyPr wrap="square" lIns="27432" tIns="9144" rIns="27432" bIns="9144" anchor="t">
            <a:spAutoFit/>
          </a:bodyPr>
          <a:lstStyle/>
          <a:p>
            <a:pPr algn="l"/>
            <a:r>
              <a:rPr sz="900" b="1" i="0">
                <a:solidFill>
                  <a:srgbClr val="0E3A66"/>
                </a:solidFill>
                <a:latin typeface="Calibri"/>
              </a:rPr>
              <a:t>1. Clinical validation</a:t>
            </a:r>
          </a:p>
        </p:txBody>
      </p:sp>
      <p:sp>
        <p:nvSpPr>
          <p:cNvPr id="7" name="TextBox 6"/>
          <p:cNvSpPr txBox="1"/>
          <p:nvPr/>
        </p:nvSpPr>
        <p:spPr>
          <a:xfrm>
            <a:off x="2286000" y="1572768"/>
            <a:ext cx="1554480" cy="164592"/>
          </a:xfrm>
          <a:prstGeom prst="rect">
            <a:avLst/>
          </a:prstGeom>
          <a:noFill/>
        </p:spPr>
        <p:txBody>
          <a:bodyPr wrap="square" lIns="27432" tIns="9144" rIns="27432" bIns="9144" anchor="t">
            <a:spAutoFit/>
          </a:bodyPr>
          <a:lstStyle/>
          <a:p>
            <a:pPr algn="l"/>
            <a:r>
              <a:rPr sz="750" b="1" i="0">
                <a:solidFill>
                  <a:srgbClr val="404040"/>
                </a:solidFill>
                <a:latin typeface="Calibri"/>
              </a:rPr>
              <a:t>Weight 30%</a:t>
            </a:r>
          </a:p>
        </p:txBody>
      </p:sp>
      <p:sp>
        <p:nvSpPr>
          <p:cNvPr id="8" name="TextBox 7"/>
          <p:cNvSpPr txBox="1"/>
          <p:nvPr/>
        </p:nvSpPr>
        <p:spPr>
          <a:xfrm>
            <a:off x="2286000" y="1737360"/>
            <a:ext cx="1554480" cy="329184"/>
          </a:xfrm>
          <a:prstGeom prst="rect">
            <a:avLst/>
          </a:prstGeom>
          <a:noFill/>
        </p:spPr>
        <p:txBody>
          <a:bodyPr wrap="square" lIns="27432" tIns="9144" rIns="27432" bIns="9144" anchor="t">
            <a:spAutoFit/>
          </a:bodyPr>
          <a:lstStyle/>
          <a:p>
            <a:pPr algn="l"/>
            <a:r>
              <a:rPr sz="700" b="0" i="1">
                <a:solidFill>
                  <a:srgbClr val="404040"/>
                </a:solidFill>
                <a:latin typeface="Calibri"/>
              </a:rPr>
              <a:t>3 = randomized or pivotal; 1 = immunogenicity only</a:t>
            </a:r>
          </a:p>
        </p:txBody>
      </p:sp>
      <p:sp>
        <p:nvSpPr>
          <p:cNvPr id="9" name="TextBox 8"/>
          <p:cNvSpPr txBox="1"/>
          <p:nvPr/>
        </p:nvSpPr>
        <p:spPr>
          <a:xfrm>
            <a:off x="3913632" y="1371600"/>
            <a:ext cx="1554480" cy="201168"/>
          </a:xfrm>
          <a:prstGeom prst="rect">
            <a:avLst/>
          </a:prstGeom>
          <a:noFill/>
        </p:spPr>
        <p:txBody>
          <a:bodyPr wrap="square" lIns="27432" tIns="9144" rIns="27432" bIns="9144" anchor="t">
            <a:spAutoFit/>
          </a:bodyPr>
          <a:lstStyle/>
          <a:p>
            <a:pPr algn="l"/>
            <a:r>
              <a:rPr sz="900" b="1" i="0">
                <a:solidFill>
                  <a:srgbClr val="0E3A66"/>
                </a:solidFill>
                <a:latin typeface="Calibri"/>
              </a:rPr>
              <a:t>2. Biomarker breadth</a:t>
            </a:r>
          </a:p>
        </p:txBody>
      </p:sp>
      <p:sp>
        <p:nvSpPr>
          <p:cNvPr id="10" name="TextBox 9"/>
          <p:cNvSpPr txBox="1"/>
          <p:nvPr/>
        </p:nvSpPr>
        <p:spPr>
          <a:xfrm>
            <a:off x="3913632" y="1572768"/>
            <a:ext cx="1554480" cy="164592"/>
          </a:xfrm>
          <a:prstGeom prst="rect">
            <a:avLst/>
          </a:prstGeom>
          <a:noFill/>
        </p:spPr>
        <p:txBody>
          <a:bodyPr wrap="square" lIns="27432" tIns="9144" rIns="27432" bIns="9144" anchor="t">
            <a:spAutoFit/>
          </a:bodyPr>
          <a:lstStyle/>
          <a:p>
            <a:pPr algn="l"/>
            <a:r>
              <a:rPr sz="750" b="1" i="0">
                <a:solidFill>
                  <a:srgbClr val="404040"/>
                </a:solidFill>
                <a:latin typeface="Calibri"/>
              </a:rPr>
              <a:t>Weight 20%</a:t>
            </a:r>
          </a:p>
        </p:txBody>
      </p:sp>
      <p:sp>
        <p:nvSpPr>
          <p:cNvPr id="11" name="TextBox 10"/>
          <p:cNvSpPr txBox="1"/>
          <p:nvPr/>
        </p:nvSpPr>
        <p:spPr>
          <a:xfrm>
            <a:off x="3913632" y="1737360"/>
            <a:ext cx="1554480" cy="329184"/>
          </a:xfrm>
          <a:prstGeom prst="rect">
            <a:avLst/>
          </a:prstGeom>
          <a:noFill/>
        </p:spPr>
        <p:txBody>
          <a:bodyPr wrap="square" lIns="27432" tIns="9144" rIns="27432" bIns="9144" anchor="t">
            <a:spAutoFit/>
          </a:bodyPr>
          <a:lstStyle/>
          <a:p>
            <a:pPr algn="l"/>
            <a:r>
              <a:rPr sz="700" b="0" i="1">
                <a:solidFill>
                  <a:srgbClr val="404040"/>
                </a:solidFill>
                <a:latin typeface="Calibri"/>
              </a:rPr>
              <a:t>3 = HER2-low and HER2+; 1 = restricted subgroup</a:t>
            </a:r>
          </a:p>
        </p:txBody>
      </p:sp>
      <p:sp>
        <p:nvSpPr>
          <p:cNvPr id="12" name="TextBox 11"/>
          <p:cNvSpPr txBox="1"/>
          <p:nvPr/>
        </p:nvSpPr>
        <p:spPr>
          <a:xfrm>
            <a:off x="5541264" y="1371600"/>
            <a:ext cx="1554480" cy="201168"/>
          </a:xfrm>
          <a:prstGeom prst="rect">
            <a:avLst/>
          </a:prstGeom>
          <a:noFill/>
        </p:spPr>
        <p:txBody>
          <a:bodyPr wrap="square" lIns="27432" tIns="9144" rIns="27432" bIns="9144" anchor="t">
            <a:spAutoFit/>
          </a:bodyPr>
          <a:lstStyle/>
          <a:p>
            <a:pPr algn="l"/>
            <a:r>
              <a:rPr sz="900" b="1" i="0">
                <a:solidFill>
                  <a:srgbClr val="0E3A66"/>
                </a:solidFill>
                <a:latin typeface="Calibri"/>
              </a:rPr>
              <a:t>3. Manufacturability and scale</a:t>
            </a:r>
          </a:p>
        </p:txBody>
      </p:sp>
      <p:sp>
        <p:nvSpPr>
          <p:cNvPr id="13" name="TextBox 12"/>
          <p:cNvSpPr txBox="1"/>
          <p:nvPr/>
        </p:nvSpPr>
        <p:spPr>
          <a:xfrm>
            <a:off x="5541264" y="1572768"/>
            <a:ext cx="1554480" cy="164592"/>
          </a:xfrm>
          <a:prstGeom prst="rect">
            <a:avLst/>
          </a:prstGeom>
          <a:noFill/>
        </p:spPr>
        <p:txBody>
          <a:bodyPr wrap="square" lIns="27432" tIns="9144" rIns="27432" bIns="9144" anchor="t">
            <a:spAutoFit/>
          </a:bodyPr>
          <a:lstStyle/>
          <a:p>
            <a:pPr algn="l"/>
            <a:r>
              <a:rPr sz="750" b="1" i="0">
                <a:solidFill>
                  <a:srgbClr val="404040"/>
                </a:solidFill>
                <a:latin typeface="Calibri"/>
              </a:rPr>
              <a:t>Weight 15%</a:t>
            </a:r>
          </a:p>
        </p:txBody>
      </p:sp>
      <p:sp>
        <p:nvSpPr>
          <p:cNvPr id="14" name="TextBox 13"/>
          <p:cNvSpPr txBox="1"/>
          <p:nvPr/>
        </p:nvSpPr>
        <p:spPr>
          <a:xfrm>
            <a:off x="5541264" y="1737360"/>
            <a:ext cx="1554480" cy="329184"/>
          </a:xfrm>
          <a:prstGeom prst="rect">
            <a:avLst/>
          </a:prstGeom>
          <a:noFill/>
        </p:spPr>
        <p:txBody>
          <a:bodyPr wrap="square" lIns="27432" tIns="9144" rIns="27432" bIns="9144" anchor="t">
            <a:spAutoFit/>
          </a:bodyPr>
          <a:lstStyle/>
          <a:p>
            <a:pPr algn="l"/>
            <a:r>
              <a:rPr sz="700" b="0" i="1">
                <a:solidFill>
                  <a:srgbClr val="404040"/>
                </a:solidFill>
                <a:latin typeface="Calibri"/>
              </a:rPr>
              <a:t>3 = synthetic, commercial lot; 1 = autologous</a:t>
            </a:r>
          </a:p>
        </p:txBody>
      </p:sp>
      <p:sp>
        <p:nvSpPr>
          <p:cNvPr id="15" name="TextBox 14"/>
          <p:cNvSpPr txBox="1"/>
          <p:nvPr/>
        </p:nvSpPr>
        <p:spPr>
          <a:xfrm>
            <a:off x="7168896" y="1371600"/>
            <a:ext cx="1554480" cy="201168"/>
          </a:xfrm>
          <a:prstGeom prst="rect">
            <a:avLst/>
          </a:prstGeom>
          <a:noFill/>
        </p:spPr>
        <p:txBody>
          <a:bodyPr wrap="square" lIns="27432" tIns="9144" rIns="27432" bIns="9144" anchor="t">
            <a:spAutoFit/>
          </a:bodyPr>
          <a:lstStyle/>
          <a:p>
            <a:pPr algn="l"/>
            <a:r>
              <a:rPr sz="900" b="1" i="0">
                <a:solidFill>
                  <a:srgbClr val="0E3A66"/>
                </a:solidFill>
                <a:latin typeface="Calibri"/>
              </a:rPr>
              <a:t>4. Combination compatibility</a:t>
            </a:r>
          </a:p>
        </p:txBody>
      </p:sp>
      <p:sp>
        <p:nvSpPr>
          <p:cNvPr id="16" name="TextBox 15"/>
          <p:cNvSpPr txBox="1"/>
          <p:nvPr/>
        </p:nvSpPr>
        <p:spPr>
          <a:xfrm>
            <a:off x="7168896" y="1572768"/>
            <a:ext cx="1554480" cy="164592"/>
          </a:xfrm>
          <a:prstGeom prst="rect">
            <a:avLst/>
          </a:prstGeom>
          <a:noFill/>
        </p:spPr>
        <p:txBody>
          <a:bodyPr wrap="square" lIns="27432" tIns="9144" rIns="27432" bIns="9144" anchor="t">
            <a:spAutoFit/>
          </a:bodyPr>
          <a:lstStyle/>
          <a:p>
            <a:pPr algn="l"/>
            <a:r>
              <a:rPr sz="750" b="1" i="0">
                <a:solidFill>
                  <a:srgbClr val="404040"/>
                </a:solidFill>
                <a:latin typeface="Calibri"/>
              </a:rPr>
              <a:t>Weight 15%</a:t>
            </a:r>
          </a:p>
        </p:txBody>
      </p:sp>
      <p:sp>
        <p:nvSpPr>
          <p:cNvPr id="17" name="TextBox 16"/>
          <p:cNvSpPr txBox="1"/>
          <p:nvPr/>
        </p:nvSpPr>
        <p:spPr>
          <a:xfrm>
            <a:off x="7168896" y="1737360"/>
            <a:ext cx="1554480" cy="329184"/>
          </a:xfrm>
          <a:prstGeom prst="rect">
            <a:avLst/>
          </a:prstGeom>
          <a:noFill/>
        </p:spPr>
        <p:txBody>
          <a:bodyPr wrap="square" lIns="27432" tIns="9144" rIns="27432" bIns="9144" anchor="t">
            <a:spAutoFit/>
          </a:bodyPr>
          <a:lstStyle/>
          <a:p>
            <a:pPr algn="l"/>
            <a:r>
              <a:rPr sz="700" b="0" i="1">
                <a:solidFill>
                  <a:srgbClr val="404040"/>
                </a:solidFill>
                <a:latin typeface="Calibri"/>
              </a:rPr>
              <a:t>3 = SOC combination in protocol</a:t>
            </a:r>
          </a:p>
        </p:txBody>
      </p:sp>
      <p:sp>
        <p:nvSpPr>
          <p:cNvPr id="18" name="TextBox 17"/>
          <p:cNvSpPr txBox="1"/>
          <p:nvPr/>
        </p:nvSpPr>
        <p:spPr>
          <a:xfrm>
            <a:off x="8796528" y="1371600"/>
            <a:ext cx="1554480" cy="201168"/>
          </a:xfrm>
          <a:prstGeom prst="rect">
            <a:avLst/>
          </a:prstGeom>
          <a:noFill/>
        </p:spPr>
        <p:txBody>
          <a:bodyPr wrap="square" lIns="27432" tIns="9144" rIns="27432" bIns="9144" anchor="t">
            <a:spAutoFit/>
          </a:bodyPr>
          <a:lstStyle/>
          <a:p>
            <a:pPr algn="l"/>
            <a:r>
              <a:rPr sz="900" b="1" i="0">
                <a:solidFill>
                  <a:srgbClr val="0E3A66"/>
                </a:solidFill>
                <a:latin typeface="Calibri"/>
              </a:rPr>
              <a:t>5. Execution and partners</a:t>
            </a:r>
          </a:p>
        </p:txBody>
      </p:sp>
      <p:sp>
        <p:nvSpPr>
          <p:cNvPr id="19" name="TextBox 18"/>
          <p:cNvSpPr txBox="1"/>
          <p:nvPr/>
        </p:nvSpPr>
        <p:spPr>
          <a:xfrm>
            <a:off x="8796528" y="1572768"/>
            <a:ext cx="1554480" cy="164592"/>
          </a:xfrm>
          <a:prstGeom prst="rect">
            <a:avLst/>
          </a:prstGeom>
          <a:noFill/>
        </p:spPr>
        <p:txBody>
          <a:bodyPr wrap="square" lIns="27432" tIns="9144" rIns="27432" bIns="9144" anchor="t">
            <a:spAutoFit/>
          </a:bodyPr>
          <a:lstStyle/>
          <a:p>
            <a:pPr algn="l"/>
            <a:r>
              <a:rPr sz="750" b="1" i="0">
                <a:solidFill>
                  <a:srgbClr val="404040"/>
                </a:solidFill>
                <a:latin typeface="Calibri"/>
              </a:rPr>
              <a:t>Weight 20%</a:t>
            </a:r>
          </a:p>
        </p:txBody>
      </p:sp>
      <p:sp>
        <p:nvSpPr>
          <p:cNvPr id="20" name="TextBox 19"/>
          <p:cNvSpPr txBox="1"/>
          <p:nvPr/>
        </p:nvSpPr>
        <p:spPr>
          <a:xfrm>
            <a:off x="8796528" y="1737360"/>
            <a:ext cx="1554480" cy="329184"/>
          </a:xfrm>
          <a:prstGeom prst="rect">
            <a:avLst/>
          </a:prstGeom>
          <a:noFill/>
        </p:spPr>
        <p:txBody>
          <a:bodyPr wrap="square" lIns="27432" tIns="9144" rIns="27432" bIns="9144" anchor="t">
            <a:spAutoFit/>
          </a:bodyPr>
          <a:lstStyle/>
          <a:p>
            <a:pPr algn="l"/>
            <a:r>
              <a:rPr sz="700" b="0" i="1">
                <a:solidFill>
                  <a:srgbClr val="404040"/>
                </a:solidFill>
                <a:latin typeface="Calibri"/>
              </a:rPr>
              <a:t>3 = multinational pivotal; 1 = stalled or single site</a:t>
            </a:r>
          </a:p>
        </p:txBody>
      </p:sp>
      <p:sp>
        <p:nvSpPr>
          <p:cNvPr id="21" name="TextBox 20"/>
          <p:cNvSpPr txBox="1"/>
          <p:nvPr/>
        </p:nvSpPr>
        <p:spPr>
          <a:xfrm>
            <a:off x="10424160" y="1371600"/>
            <a:ext cx="1581912" cy="201168"/>
          </a:xfrm>
          <a:prstGeom prst="rect">
            <a:avLst/>
          </a:prstGeom>
          <a:noFill/>
        </p:spPr>
        <p:txBody>
          <a:bodyPr wrap="square" lIns="27432" tIns="9144" rIns="27432" bIns="9144" anchor="t">
            <a:spAutoFit/>
          </a:bodyPr>
          <a:lstStyle/>
          <a:p>
            <a:pPr algn="l"/>
            <a:r>
              <a:rPr sz="900" b="1" i="0">
                <a:solidFill>
                  <a:srgbClr val="0E3A66"/>
                </a:solidFill>
                <a:latin typeface="Calibri"/>
              </a:rPr>
              <a:t>Composite</a:t>
            </a:r>
          </a:p>
        </p:txBody>
      </p:sp>
      <p:sp>
        <p:nvSpPr>
          <p:cNvPr id="22" name="TextBox 21"/>
          <p:cNvSpPr txBox="1"/>
          <p:nvPr/>
        </p:nvSpPr>
        <p:spPr>
          <a:xfrm>
            <a:off x="10424160" y="1572768"/>
            <a:ext cx="1581912" cy="329184"/>
          </a:xfrm>
          <a:prstGeom prst="rect">
            <a:avLst/>
          </a:prstGeom>
          <a:noFill/>
        </p:spPr>
        <p:txBody>
          <a:bodyPr wrap="square" lIns="27432" tIns="9144" rIns="27432" bIns="9144" anchor="t">
            <a:spAutoFit/>
          </a:bodyPr>
          <a:lstStyle/>
          <a:p>
            <a:pPr algn="l"/>
            <a:r>
              <a:rPr sz="700" b="0" i="1">
                <a:solidFill>
                  <a:srgbClr val="404040"/>
                </a:solidFill>
                <a:latin typeface="Calibri"/>
              </a:rPr>
              <a:t>weighted, 1 to 3; n/c = not computed</a:t>
            </a:r>
          </a:p>
        </p:txBody>
      </p:sp>
      <p:cxnSp>
        <p:nvCxnSpPr>
          <p:cNvPr id="23" name="Connector 22"/>
          <p:cNvCxnSpPr/>
          <p:nvPr/>
        </p:nvCxnSpPr>
        <p:spPr>
          <a:xfrm>
            <a:off x="182880" y="2103120"/>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82880" y="2194560"/>
            <a:ext cx="45720" cy="256032"/>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2139696"/>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BriaCell | Bria-IMT (indirect)</a:t>
            </a:r>
          </a:p>
        </p:txBody>
      </p:sp>
      <p:sp>
        <p:nvSpPr>
          <p:cNvPr id="26" name="Oval 25"/>
          <p:cNvSpPr/>
          <p:nvPr/>
        </p:nvSpPr>
        <p:spPr>
          <a:xfrm>
            <a:off x="2674620" y="225399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302252" y="225399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929884" y="225399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hord 28"/>
          <p:cNvSpPr/>
          <p:nvPr/>
        </p:nvSpPr>
        <p:spPr>
          <a:xfrm>
            <a:off x="5929884" y="225399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557516" y="225399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9185148" y="225399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0424160" y="2240279"/>
            <a:ext cx="955548"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425428" y="2139696"/>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2.85</a:t>
            </a:r>
          </a:p>
        </p:txBody>
      </p:sp>
      <p:cxnSp>
        <p:nvCxnSpPr>
          <p:cNvPr id="34" name="Connector 33"/>
          <p:cNvCxnSpPr/>
          <p:nvPr/>
        </p:nvCxnSpPr>
        <p:spPr>
          <a:xfrm>
            <a:off x="182880" y="250545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82880" y="2560320"/>
            <a:ext cx="45720"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4320" y="2505456"/>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Greenwich | GLSI-100</a:t>
            </a:r>
          </a:p>
        </p:txBody>
      </p:sp>
      <p:sp>
        <p:nvSpPr>
          <p:cNvPr id="37" name="Oval 36"/>
          <p:cNvSpPr/>
          <p:nvPr/>
        </p:nvSpPr>
        <p:spPr>
          <a:xfrm>
            <a:off x="2674620" y="261975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302252" y="261975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Chord 38"/>
          <p:cNvSpPr/>
          <p:nvPr/>
        </p:nvSpPr>
        <p:spPr>
          <a:xfrm>
            <a:off x="4302252" y="261975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929884" y="261975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557516" y="261975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Chord 41"/>
          <p:cNvSpPr/>
          <p:nvPr/>
        </p:nvSpPr>
        <p:spPr>
          <a:xfrm>
            <a:off x="7557516" y="261975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9185148" y="2619756"/>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424160" y="2606039"/>
            <a:ext cx="888492"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358372" y="2505456"/>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2.65</a:t>
            </a:r>
          </a:p>
        </p:txBody>
      </p:sp>
      <p:cxnSp>
        <p:nvCxnSpPr>
          <p:cNvPr id="46" name="Connector 45"/>
          <p:cNvCxnSpPr/>
          <p:nvPr/>
        </p:nvCxnSpPr>
        <p:spPr>
          <a:xfrm>
            <a:off x="182880" y="2871215"/>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82880" y="2926079"/>
            <a:ext cx="45720" cy="25603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74320" y="2871215"/>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ExpreS2ion | ES2B-C001</a:t>
            </a:r>
          </a:p>
        </p:txBody>
      </p:sp>
      <p:sp>
        <p:nvSpPr>
          <p:cNvPr id="49" name="Oval 48"/>
          <p:cNvSpPr/>
          <p:nvPr/>
        </p:nvSpPr>
        <p:spPr>
          <a:xfrm>
            <a:off x="2674620" y="2985515"/>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4302252" y="2985515"/>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929884" y="298551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hord 51"/>
          <p:cNvSpPr/>
          <p:nvPr/>
        </p:nvSpPr>
        <p:spPr>
          <a:xfrm>
            <a:off x="5929884" y="298551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7557516" y="2985515"/>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85148" y="298551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Chord 54"/>
          <p:cNvSpPr/>
          <p:nvPr/>
        </p:nvSpPr>
        <p:spPr>
          <a:xfrm>
            <a:off x="9185148" y="298551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0424160" y="2971799"/>
            <a:ext cx="687323"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1157204" y="2871215"/>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2.05</a:t>
            </a:r>
          </a:p>
        </p:txBody>
      </p:sp>
      <p:cxnSp>
        <p:nvCxnSpPr>
          <p:cNvPr id="58" name="Connector 57"/>
          <p:cNvCxnSpPr/>
          <p:nvPr/>
        </p:nvCxnSpPr>
        <p:spPr>
          <a:xfrm>
            <a:off x="182880" y="3236975"/>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82880" y="3291839"/>
            <a:ext cx="45720" cy="25603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4320" y="3236975"/>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Aston Sci. | AST-301</a:t>
            </a:r>
          </a:p>
        </p:txBody>
      </p:sp>
      <p:sp>
        <p:nvSpPr>
          <p:cNvPr id="61" name="Oval 60"/>
          <p:cNvSpPr/>
          <p:nvPr/>
        </p:nvSpPr>
        <p:spPr>
          <a:xfrm>
            <a:off x="2674620" y="335127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Chord 61"/>
          <p:cNvSpPr/>
          <p:nvPr/>
        </p:nvSpPr>
        <p:spPr>
          <a:xfrm>
            <a:off x="2674620" y="335127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302252" y="3351275"/>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5929884" y="335127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Chord 64"/>
          <p:cNvSpPr/>
          <p:nvPr/>
        </p:nvSpPr>
        <p:spPr>
          <a:xfrm>
            <a:off x="5929884" y="335127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7557516" y="335127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Chord 66"/>
          <p:cNvSpPr/>
          <p:nvPr/>
        </p:nvSpPr>
        <p:spPr>
          <a:xfrm>
            <a:off x="7557516" y="335127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9185148" y="3351275"/>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10424160" y="3337559"/>
            <a:ext cx="670560"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140440" y="3236975"/>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2.00</a:t>
            </a:r>
          </a:p>
        </p:txBody>
      </p:sp>
      <p:cxnSp>
        <p:nvCxnSpPr>
          <p:cNvPr id="71" name="Connector 70"/>
          <p:cNvCxnSpPr/>
          <p:nvPr/>
        </p:nvCxnSpPr>
        <p:spPr>
          <a:xfrm>
            <a:off x="182880" y="3602735"/>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82880" y="3657599"/>
            <a:ext cx="45720" cy="25603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3602735"/>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Moffitt | HER2 DC1</a:t>
            </a:r>
          </a:p>
        </p:txBody>
      </p:sp>
      <p:sp>
        <p:nvSpPr>
          <p:cNvPr id="74" name="Oval 73"/>
          <p:cNvSpPr/>
          <p:nvPr/>
        </p:nvSpPr>
        <p:spPr>
          <a:xfrm>
            <a:off x="2674620" y="371703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Chord 74"/>
          <p:cNvSpPr/>
          <p:nvPr/>
        </p:nvSpPr>
        <p:spPr>
          <a:xfrm>
            <a:off x="2674620" y="371703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4302252" y="371703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Chord 76"/>
          <p:cNvSpPr/>
          <p:nvPr/>
        </p:nvSpPr>
        <p:spPr>
          <a:xfrm>
            <a:off x="4302252" y="371703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5929884" y="3717035"/>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7557516" y="3717035"/>
            <a:ext cx="137160" cy="137160"/>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9185148" y="3717035"/>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Chord 80"/>
          <p:cNvSpPr/>
          <p:nvPr/>
        </p:nvSpPr>
        <p:spPr>
          <a:xfrm>
            <a:off x="9185148" y="3717035"/>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10424160" y="3703320"/>
            <a:ext cx="670560"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1140440" y="3602735"/>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2.00</a:t>
            </a:r>
          </a:p>
        </p:txBody>
      </p:sp>
      <p:cxnSp>
        <p:nvCxnSpPr>
          <p:cNvPr id="84" name="Connector 83"/>
          <p:cNvCxnSpPr/>
          <p:nvPr/>
        </p:nvCxnSpPr>
        <p:spPr>
          <a:xfrm>
            <a:off x="182880" y="396849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82880" y="4023359"/>
            <a:ext cx="45720" cy="25603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274320" y="3968496"/>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UW CVI | WOKVAC</a:t>
            </a:r>
          </a:p>
        </p:txBody>
      </p:sp>
      <p:sp>
        <p:nvSpPr>
          <p:cNvPr id="87" name="Oval 86"/>
          <p:cNvSpPr/>
          <p:nvPr/>
        </p:nvSpPr>
        <p:spPr>
          <a:xfrm>
            <a:off x="2674620" y="408279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4302252" y="408279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Chord 88"/>
          <p:cNvSpPr/>
          <p:nvPr/>
        </p:nvSpPr>
        <p:spPr>
          <a:xfrm>
            <a:off x="4302252" y="408279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5929884" y="408279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Chord 90"/>
          <p:cNvSpPr/>
          <p:nvPr/>
        </p:nvSpPr>
        <p:spPr>
          <a:xfrm>
            <a:off x="5929884" y="408279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7557516" y="408279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85148" y="408279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Chord 93"/>
          <p:cNvSpPr/>
          <p:nvPr/>
        </p:nvSpPr>
        <p:spPr>
          <a:xfrm>
            <a:off x="9185148" y="408279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0424160" y="4069080"/>
            <a:ext cx="519684"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989564" y="3968496"/>
            <a:ext cx="457200" cy="365760"/>
          </a:xfrm>
          <a:prstGeom prst="rect">
            <a:avLst/>
          </a:prstGeom>
          <a:noFill/>
        </p:spPr>
        <p:txBody>
          <a:bodyPr wrap="square" lIns="27432" tIns="9144" rIns="27432" bIns="9144" anchor="ctr">
            <a:spAutoFit/>
          </a:bodyPr>
          <a:lstStyle/>
          <a:p>
            <a:pPr algn="l"/>
            <a:r>
              <a:rPr sz="900" b="1" i="0">
                <a:solidFill>
                  <a:srgbClr val="0E3A66"/>
                </a:solidFill>
                <a:latin typeface="Calibri"/>
              </a:rPr>
              <a:t>1.55</a:t>
            </a:r>
          </a:p>
        </p:txBody>
      </p:sp>
      <p:cxnSp>
        <p:nvCxnSpPr>
          <p:cNvPr id="97" name="Connector 96"/>
          <p:cNvCxnSpPr/>
          <p:nvPr/>
        </p:nvCxnSpPr>
        <p:spPr>
          <a:xfrm>
            <a:off x="182880" y="433425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82880" y="4389120"/>
            <a:ext cx="45720" cy="25603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74320" y="4334256"/>
            <a:ext cx="2011679" cy="365760"/>
          </a:xfrm>
          <a:prstGeom prst="rect">
            <a:avLst/>
          </a:prstGeom>
          <a:noFill/>
        </p:spPr>
        <p:txBody>
          <a:bodyPr wrap="square" lIns="27432" tIns="9144" rIns="27432" bIns="9144" anchor="ctr">
            <a:spAutoFit/>
          </a:bodyPr>
          <a:lstStyle/>
          <a:p>
            <a:pPr algn="l"/>
            <a:r>
              <a:rPr sz="900" b="1" i="0">
                <a:solidFill>
                  <a:srgbClr val="262626"/>
                </a:solidFill>
                <a:latin typeface="Calibri"/>
              </a:rPr>
              <a:t>Mayo Clinic | H2NVAC</a:t>
            </a:r>
          </a:p>
        </p:txBody>
      </p:sp>
      <p:sp>
        <p:nvSpPr>
          <p:cNvPr id="100" name="Oval 99"/>
          <p:cNvSpPr/>
          <p:nvPr/>
        </p:nvSpPr>
        <p:spPr>
          <a:xfrm>
            <a:off x="2674620" y="444855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4096512" y="4434840"/>
            <a:ext cx="548640" cy="164592"/>
          </a:xfrm>
          <a:prstGeom prst="rect">
            <a:avLst/>
          </a:prstGeom>
          <a:noFill/>
        </p:spPr>
        <p:txBody>
          <a:bodyPr wrap="square" lIns="27432" tIns="9144" rIns="27432" bIns="9144" anchor="ctr">
            <a:spAutoFit/>
          </a:bodyPr>
          <a:lstStyle/>
          <a:p>
            <a:pPr algn="ctr"/>
            <a:r>
              <a:rPr sz="750" b="0" i="0">
                <a:solidFill>
                  <a:srgbClr val="404040"/>
                </a:solidFill>
                <a:latin typeface="Calibri"/>
              </a:rPr>
              <a:t>n/a</a:t>
            </a:r>
          </a:p>
        </p:txBody>
      </p:sp>
      <p:sp>
        <p:nvSpPr>
          <p:cNvPr id="102" name="Oval 101"/>
          <p:cNvSpPr/>
          <p:nvPr/>
        </p:nvSpPr>
        <p:spPr>
          <a:xfrm>
            <a:off x="5929884" y="444855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Chord 102"/>
          <p:cNvSpPr/>
          <p:nvPr/>
        </p:nvSpPr>
        <p:spPr>
          <a:xfrm>
            <a:off x="5929884" y="444855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7557516" y="4448556"/>
            <a:ext cx="137160" cy="137160"/>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185148" y="4448556"/>
            <a:ext cx="137160" cy="137160"/>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Chord 105"/>
          <p:cNvSpPr/>
          <p:nvPr/>
        </p:nvSpPr>
        <p:spPr>
          <a:xfrm>
            <a:off x="9185148" y="4448556"/>
            <a:ext cx="137160" cy="137160"/>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10424160" y="4334256"/>
            <a:ext cx="1097280" cy="365760"/>
          </a:xfrm>
          <a:prstGeom prst="rect">
            <a:avLst/>
          </a:prstGeom>
          <a:noFill/>
        </p:spPr>
        <p:txBody>
          <a:bodyPr wrap="square" lIns="27432" tIns="9144" rIns="27432" bIns="9144" anchor="ctr">
            <a:spAutoFit/>
          </a:bodyPr>
          <a:lstStyle/>
          <a:p>
            <a:pPr algn="l"/>
            <a:r>
              <a:rPr sz="900" b="1" i="0">
                <a:solidFill>
                  <a:srgbClr val="404040"/>
                </a:solidFill>
                <a:latin typeface="Calibri"/>
              </a:rPr>
              <a:t>n/c</a:t>
            </a:r>
          </a:p>
        </p:txBody>
      </p:sp>
      <p:cxnSp>
        <p:nvCxnSpPr>
          <p:cNvPr id="108" name="Connector 107"/>
          <p:cNvCxnSpPr/>
          <p:nvPr/>
        </p:nvCxnSpPr>
        <p:spPr>
          <a:xfrm>
            <a:off x="182880" y="470001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196596" y="4768596"/>
            <a:ext cx="118872" cy="118872"/>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365760" y="4745736"/>
            <a:ext cx="1735531" cy="164592"/>
          </a:xfrm>
          <a:prstGeom prst="rect">
            <a:avLst/>
          </a:prstGeom>
          <a:noFill/>
        </p:spPr>
        <p:txBody>
          <a:bodyPr wrap="square" lIns="27432" tIns="9144" rIns="27432" bIns="9144" anchor="t">
            <a:spAutoFit/>
          </a:bodyPr>
          <a:lstStyle/>
          <a:p>
            <a:pPr algn="l"/>
            <a:r>
              <a:rPr sz="750" b="0" i="0">
                <a:solidFill>
                  <a:srgbClr val="404040"/>
                </a:solidFill>
                <a:latin typeface="Calibri"/>
              </a:rPr>
              <a:t>Strong, documented evidence (3)</a:t>
            </a:r>
          </a:p>
        </p:txBody>
      </p:sp>
      <p:sp>
        <p:nvSpPr>
          <p:cNvPr id="111" name="Oval 110"/>
          <p:cNvSpPr/>
          <p:nvPr/>
        </p:nvSpPr>
        <p:spPr>
          <a:xfrm>
            <a:off x="2252167" y="4768596"/>
            <a:ext cx="118872" cy="118872"/>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Chord 111"/>
          <p:cNvSpPr/>
          <p:nvPr/>
        </p:nvSpPr>
        <p:spPr>
          <a:xfrm>
            <a:off x="2252167" y="4768596"/>
            <a:ext cx="118872" cy="118872"/>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421331" y="4745736"/>
            <a:ext cx="1311249" cy="164592"/>
          </a:xfrm>
          <a:prstGeom prst="rect">
            <a:avLst/>
          </a:prstGeom>
          <a:noFill/>
        </p:spPr>
        <p:txBody>
          <a:bodyPr wrap="square" lIns="27432" tIns="9144" rIns="27432" bIns="9144" anchor="t">
            <a:spAutoFit/>
          </a:bodyPr>
          <a:lstStyle/>
          <a:p>
            <a:pPr algn="l"/>
            <a:r>
              <a:rPr sz="750" b="0" i="0">
                <a:solidFill>
                  <a:srgbClr val="404040"/>
                </a:solidFill>
                <a:latin typeface="Calibri"/>
              </a:rPr>
              <a:t>Moderate or partial (2)</a:t>
            </a:r>
          </a:p>
        </p:txBody>
      </p:sp>
      <p:sp>
        <p:nvSpPr>
          <p:cNvPr id="114" name="Oval 113"/>
          <p:cNvSpPr/>
          <p:nvPr/>
        </p:nvSpPr>
        <p:spPr>
          <a:xfrm>
            <a:off x="3883456" y="4768596"/>
            <a:ext cx="118872" cy="118872"/>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4052620" y="4745736"/>
            <a:ext cx="1417320" cy="164592"/>
          </a:xfrm>
          <a:prstGeom prst="rect">
            <a:avLst/>
          </a:prstGeom>
          <a:noFill/>
        </p:spPr>
        <p:txBody>
          <a:bodyPr wrap="square" lIns="27432" tIns="9144" rIns="27432" bIns="9144" anchor="t">
            <a:spAutoFit/>
          </a:bodyPr>
          <a:lstStyle/>
          <a:p>
            <a:pPr algn="l"/>
            <a:r>
              <a:rPr sz="750" b="0" i="0">
                <a:solidFill>
                  <a:srgbClr val="404040"/>
                </a:solidFill>
                <a:latin typeface="Calibri"/>
              </a:rPr>
              <a:t>Limited or none found (1)</a:t>
            </a:r>
          </a:p>
        </p:txBody>
      </p:sp>
      <p:sp>
        <p:nvSpPr>
          <p:cNvPr id="116" name="TextBox 115"/>
          <p:cNvSpPr txBox="1"/>
          <p:nvPr/>
        </p:nvSpPr>
        <p:spPr>
          <a:xfrm>
            <a:off x="5607100" y="4745736"/>
            <a:ext cx="274320" cy="164592"/>
          </a:xfrm>
          <a:prstGeom prst="rect">
            <a:avLst/>
          </a:prstGeom>
          <a:noFill/>
        </p:spPr>
        <p:txBody>
          <a:bodyPr wrap="square" lIns="27432" tIns="9144" rIns="27432" bIns="9144" anchor="t">
            <a:spAutoFit/>
          </a:bodyPr>
          <a:lstStyle/>
          <a:p>
            <a:pPr algn="l"/>
            <a:r>
              <a:rPr sz="750" b="1" i="0">
                <a:solidFill>
                  <a:srgbClr val="404040"/>
                </a:solidFill>
                <a:latin typeface="Calibri"/>
              </a:rPr>
              <a:t>n/a</a:t>
            </a:r>
          </a:p>
        </p:txBody>
      </p:sp>
      <p:sp>
        <p:nvSpPr>
          <p:cNvPr id="117" name="TextBox 116"/>
          <p:cNvSpPr txBox="1"/>
          <p:nvPr/>
        </p:nvSpPr>
        <p:spPr>
          <a:xfrm>
            <a:off x="5853988" y="4745736"/>
            <a:ext cx="1188720" cy="164592"/>
          </a:xfrm>
          <a:prstGeom prst="rect">
            <a:avLst/>
          </a:prstGeom>
          <a:noFill/>
        </p:spPr>
        <p:txBody>
          <a:bodyPr wrap="square" lIns="27432" tIns="9144" rIns="27432" bIns="9144" anchor="t">
            <a:spAutoFit/>
          </a:bodyPr>
          <a:lstStyle/>
          <a:p>
            <a:pPr algn="l"/>
            <a:r>
              <a:rPr sz="750" b="0" i="0">
                <a:solidFill>
                  <a:srgbClr val="404040"/>
                </a:solidFill>
                <a:latin typeface="Calibri"/>
              </a:rPr>
              <a:t>Not available</a:t>
            </a:r>
          </a:p>
        </p:txBody>
      </p:sp>
      <p:sp>
        <p:nvSpPr>
          <p:cNvPr id="118" name="TextBox 117"/>
          <p:cNvSpPr txBox="1"/>
          <p:nvPr/>
        </p:nvSpPr>
        <p:spPr>
          <a:xfrm>
            <a:off x="6932980" y="4745736"/>
            <a:ext cx="5073091" cy="164592"/>
          </a:xfrm>
          <a:prstGeom prst="rect">
            <a:avLst/>
          </a:prstGeom>
          <a:noFill/>
        </p:spPr>
        <p:txBody>
          <a:bodyPr wrap="square" lIns="27432" tIns="9144" rIns="27432" bIns="9144" anchor="t">
            <a:spAutoFit/>
          </a:bodyPr>
          <a:lstStyle/>
          <a:p>
            <a:pPr algn="l"/>
            <a:r>
              <a:rPr sz="750" b="0" i="1">
                <a:solidFill>
                  <a:srgbClr val="404040"/>
                </a:solidFill>
                <a:latin typeface="Calibri"/>
              </a:rPr>
              <a:t>Bria-IMT ranks first on readiness but is not HER2-selected; it is shown as the benchmark for the direct programs.</a:t>
            </a:r>
          </a:p>
        </p:txBody>
      </p:sp>
      <p:sp>
        <p:nvSpPr>
          <p:cNvPr id="119" name="TextBox 118"/>
          <p:cNvSpPr txBox="1"/>
          <p:nvPr/>
        </p:nvSpPr>
        <p:spPr>
          <a:xfrm>
            <a:off x="182880" y="5047488"/>
            <a:ext cx="11823192" cy="182880"/>
          </a:xfrm>
          <a:prstGeom prst="rect">
            <a:avLst/>
          </a:prstGeom>
          <a:noFill/>
        </p:spPr>
        <p:txBody>
          <a:bodyPr wrap="square" lIns="27432" tIns="9144" rIns="27432" bIns="9144" anchor="t">
            <a:spAutoFit/>
          </a:bodyPr>
          <a:lstStyle/>
          <a:p>
            <a:pPr algn="l"/>
            <a:r>
              <a:rPr sz="800" b="1" i="0">
                <a:solidFill>
                  <a:srgbClr val="0E3A66"/>
                </a:solidFill>
                <a:latin typeface="Calibri"/>
              </a:rPr>
              <a:t>STRATEGIC CLUSTERS</a:t>
            </a:r>
          </a:p>
        </p:txBody>
      </p:sp>
      <p:sp>
        <p:nvSpPr>
          <p:cNvPr id="120" name="Rectangle 119"/>
          <p:cNvSpPr/>
          <p:nvPr/>
        </p:nvSpPr>
        <p:spPr>
          <a:xfrm>
            <a:off x="182880" y="5248656"/>
            <a:ext cx="2887218"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28600" y="5248656"/>
            <a:ext cx="2795778" cy="256032"/>
          </a:xfrm>
          <a:prstGeom prst="rect">
            <a:avLst/>
          </a:prstGeom>
          <a:noFill/>
        </p:spPr>
        <p:txBody>
          <a:bodyPr wrap="square" lIns="27432" tIns="9144" rIns="27432" bIns="9144" anchor="ctr">
            <a:spAutoFit/>
          </a:bodyPr>
          <a:lstStyle/>
          <a:p>
            <a:pPr algn="l"/>
            <a:r>
              <a:rPr sz="850" b="1" i="0">
                <a:solidFill>
                  <a:srgbClr val="FFFFFF"/>
                </a:solidFill>
                <a:latin typeface="Calibri"/>
              </a:rPr>
              <a:t>Late-stage HER2 vaccine developers</a:t>
            </a:r>
          </a:p>
        </p:txBody>
      </p:sp>
      <p:sp>
        <p:nvSpPr>
          <p:cNvPr id="122" name="Rectangle 121"/>
          <p:cNvSpPr/>
          <p:nvPr/>
        </p:nvSpPr>
        <p:spPr>
          <a:xfrm>
            <a:off x="182880" y="5504688"/>
            <a:ext cx="2887218" cy="8412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37744" y="5532120"/>
            <a:ext cx="2777490" cy="804672"/>
          </a:xfrm>
          <a:prstGeom prst="rect">
            <a:avLst/>
          </a:prstGeom>
          <a:noFill/>
        </p:spPr>
        <p:txBody>
          <a:bodyPr wrap="square" lIns="27432" tIns="9144" rIns="27432" bIns="9144" anchor="t">
            <a:spAutoFit/>
          </a:bodyPr>
          <a:lstStyle/>
          <a:p>
            <a:pPr algn="l">
              <a:spcAft>
                <a:spcPts val="200"/>
              </a:spcAft>
            </a:pPr>
            <a:r>
              <a:rPr sz="900" b="1" i="0">
                <a:solidFill>
                  <a:srgbClr val="262626"/>
                </a:solidFill>
                <a:latin typeface="Calibri"/>
              </a:rPr>
              <a:t>Greenwich (GLSI-100)</a:t>
            </a:r>
          </a:p>
          <a:p>
            <a:pPr algn="l">
              <a:spcAft>
                <a:spcPts val="200"/>
              </a:spcAft>
            </a:pPr>
            <a:r>
              <a:rPr sz="900" b="0" i="0">
                <a:solidFill>
                  <a:srgbClr val="404040"/>
                </a:solidFill>
                <a:latin typeface="Calibri"/>
              </a:rPr>
              <a:t>Wins on validation, scale-ready supply and a multinational trial; exposed on biomarker breadth and cash.</a:t>
            </a:r>
          </a:p>
        </p:txBody>
      </p:sp>
      <p:sp>
        <p:nvSpPr>
          <p:cNvPr id="124" name="Rectangle 123"/>
          <p:cNvSpPr/>
          <p:nvPr/>
        </p:nvSpPr>
        <p:spPr>
          <a:xfrm>
            <a:off x="3161538" y="5248656"/>
            <a:ext cx="2887218" cy="256032"/>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3207258" y="5248656"/>
            <a:ext cx="2795778" cy="256032"/>
          </a:xfrm>
          <a:prstGeom prst="rect">
            <a:avLst/>
          </a:prstGeom>
          <a:noFill/>
        </p:spPr>
        <p:txBody>
          <a:bodyPr wrap="square" lIns="27432" tIns="9144" rIns="27432" bIns="9144" anchor="ctr">
            <a:spAutoFit/>
          </a:bodyPr>
          <a:lstStyle/>
          <a:p>
            <a:pPr algn="l"/>
            <a:r>
              <a:rPr sz="850" b="1" i="0">
                <a:solidFill>
                  <a:srgbClr val="FFFFFF"/>
                </a:solidFill>
                <a:latin typeface="Calibri"/>
              </a:rPr>
              <a:t>HER2-expression expansion developers</a:t>
            </a:r>
          </a:p>
        </p:txBody>
      </p:sp>
      <p:sp>
        <p:nvSpPr>
          <p:cNvPr id="126" name="Rectangle 125"/>
          <p:cNvSpPr/>
          <p:nvPr/>
        </p:nvSpPr>
        <p:spPr>
          <a:xfrm>
            <a:off x="3161538" y="5504688"/>
            <a:ext cx="2887218" cy="8412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216402" y="5532120"/>
            <a:ext cx="2777490" cy="804672"/>
          </a:xfrm>
          <a:prstGeom prst="rect">
            <a:avLst/>
          </a:prstGeom>
          <a:noFill/>
        </p:spPr>
        <p:txBody>
          <a:bodyPr wrap="square" lIns="27432" tIns="9144" rIns="27432" bIns="9144" anchor="t">
            <a:spAutoFit/>
          </a:bodyPr>
          <a:lstStyle/>
          <a:p>
            <a:pPr algn="l">
              <a:spcAft>
                <a:spcPts val="200"/>
              </a:spcAft>
            </a:pPr>
            <a:r>
              <a:rPr sz="900" b="1" i="0">
                <a:solidFill>
                  <a:srgbClr val="262626"/>
                </a:solidFill>
                <a:latin typeface="Calibri"/>
              </a:rPr>
              <a:t>ExpreS2ion (ES2B-C001), Aston Sci. (AST-301)</a:t>
            </a:r>
          </a:p>
          <a:p>
            <a:pPr algn="l">
              <a:spcAft>
                <a:spcPts val="200"/>
              </a:spcAft>
            </a:pPr>
            <a:r>
              <a:rPr sz="900" b="0" i="0">
                <a:solidFill>
                  <a:srgbClr val="404040"/>
                </a:solidFill>
                <a:latin typeface="Calibri"/>
              </a:rPr>
              <a:t>Wins on HER2-low eligibility and ADC combinations; needs randomized data and a partner.</a:t>
            </a:r>
          </a:p>
        </p:txBody>
      </p:sp>
      <p:sp>
        <p:nvSpPr>
          <p:cNvPr id="128" name="Rectangle 127"/>
          <p:cNvSpPr/>
          <p:nvPr/>
        </p:nvSpPr>
        <p:spPr>
          <a:xfrm>
            <a:off x="6140196" y="5248656"/>
            <a:ext cx="2887218" cy="256032"/>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6185916" y="5248656"/>
            <a:ext cx="2795778" cy="256032"/>
          </a:xfrm>
          <a:prstGeom prst="rect">
            <a:avLst/>
          </a:prstGeom>
          <a:noFill/>
        </p:spPr>
        <p:txBody>
          <a:bodyPr wrap="square" lIns="27432" tIns="9144" rIns="27432" bIns="9144" anchor="ctr">
            <a:spAutoFit/>
          </a:bodyPr>
          <a:lstStyle/>
          <a:p>
            <a:pPr algn="l"/>
            <a:r>
              <a:rPr sz="850" b="1" i="0">
                <a:solidFill>
                  <a:srgbClr val="FFFFFF"/>
                </a:solidFill>
                <a:latin typeface="Calibri"/>
              </a:rPr>
              <a:t>Platform innovators and academic centres</a:t>
            </a:r>
          </a:p>
        </p:txBody>
      </p:sp>
      <p:sp>
        <p:nvSpPr>
          <p:cNvPr id="130" name="Rectangle 129"/>
          <p:cNvSpPr/>
          <p:nvPr/>
        </p:nvSpPr>
        <p:spPr>
          <a:xfrm>
            <a:off x="6140196" y="5504688"/>
            <a:ext cx="2887218" cy="8412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6195060" y="5532120"/>
            <a:ext cx="2777490" cy="804672"/>
          </a:xfrm>
          <a:prstGeom prst="rect">
            <a:avLst/>
          </a:prstGeom>
          <a:noFill/>
        </p:spPr>
        <p:txBody>
          <a:bodyPr wrap="square" lIns="27432" tIns="9144" rIns="27432" bIns="9144" anchor="t">
            <a:spAutoFit/>
          </a:bodyPr>
          <a:lstStyle/>
          <a:p>
            <a:pPr algn="l">
              <a:spcAft>
                <a:spcPts val="200"/>
              </a:spcAft>
            </a:pPr>
            <a:r>
              <a:rPr sz="900" b="1" i="0">
                <a:solidFill>
                  <a:srgbClr val="262626"/>
                </a:solidFill>
                <a:latin typeface="Calibri"/>
              </a:rPr>
              <a:t>Moffitt DC1, UW WOKVAC, Mayo H2NVAC, AdaptVac</a:t>
            </a:r>
          </a:p>
          <a:p>
            <a:pPr algn="l">
              <a:spcAft>
                <a:spcPts val="200"/>
              </a:spcAft>
            </a:pPr>
            <a:r>
              <a:rPr sz="900" b="0" i="0">
                <a:solidFill>
                  <a:srgbClr val="404040"/>
                </a:solidFill>
                <a:latin typeface="Calibri"/>
              </a:rPr>
              <a:t>Generate mechanism and early efficacy evidence; source of future licences rather than competitors.</a:t>
            </a:r>
          </a:p>
        </p:txBody>
      </p:sp>
      <p:sp>
        <p:nvSpPr>
          <p:cNvPr id="132" name="Rectangle 131"/>
          <p:cNvSpPr/>
          <p:nvPr/>
        </p:nvSpPr>
        <p:spPr>
          <a:xfrm>
            <a:off x="9118854" y="5248656"/>
            <a:ext cx="2887218" cy="256032"/>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9164574" y="5248656"/>
            <a:ext cx="2795778" cy="256032"/>
          </a:xfrm>
          <a:prstGeom prst="rect">
            <a:avLst/>
          </a:prstGeom>
          <a:noFill/>
        </p:spPr>
        <p:txBody>
          <a:bodyPr wrap="square" lIns="27432" tIns="9144" rIns="27432" bIns="9144" anchor="ctr">
            <a:spAutoFit/>
          </a:bodyPr>
          <a:lstStyle/>
          <a:p>
            <a:pPr algn="l"/>
            <a:r>
              <a:rPr sz="850" b="1" i="0">
                <a:solidFill>
                  <a:srgbClr val="FFFFFF"/>
                </a:solidFill>
                <a:latin typeface="Calibri"/>
              </a:rPr>
              <a:t>Broader cancer-vaccine ecosystem</a:t>
            </a:r>
          </a:p>
        </p:txBody>
      </p:sp>
      <p:sp>
        <p:nvSpPr>
          <p:cNvPr id="134" name="Rectangle 133"/>
          <p:cNvSpPr/>
          <p:nvPr/>
        </p:nvSpPr>
        <p:spPr>
          <a:xfrm>
            <a:off x="9118854" y="5504688"/>
            <a:ext cx="2887218" cy="8412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9173718" y="5532120"/>
            <a:ext cx="2777490" cy="804672"/>
          </a:xfrm>
          <a:prstGeom prst="rect">
            <a:avLst/>
          </a:prstGeom>
          <a:noFill/>
        </p:spPr>
        <p:txBody>
          <a:bodyPr wrap="square" lIns="27432" tIns="9144" rIns="27432" bIns="9144" anchor="t">
            <a:spAutoFit/>
          </a:bodyPr>
          <a:lstStyle/>
          <a:p>
            <a:pPr algn="l">
              <a:spcAft>
                <a:spcPts val="200"/>
              </a:spcAft>
            </a:pPr>
            <a:r>
              <a:rPr sz="900" b="1" i="0">
                <a:solidFill>
                  <a:srgbClr val="262626"/>
                </a:solidFill>
                <a:latin typeface="Calibri"/>
              </a:rPr>
              <a:t>BriaCell, Merck and Moderna, BioNTech and Genentech, Dendreon, Amgen</a:t>
            </a:r>
          </a:p>
          <a:p>
            <a:pPr algn="l">
              <a:spcAft>
                <a:spcPts val="200"/>
              </a:spcAft>
            </a:pPr>
            <a:r>
              <a:rPr sz="900" b="0" i="0">
                <a:solidFill>
                  <a:srgbClr val="404040"/>
                </a:solidFill>
                <a:latin typeface="Calibri"/>
              </a:rPr>
              <a:t>Set the regulatory and commercial benchmarks; mRNA owners could enter HER2 through licensing.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What has actually happened: fifteen dated developments from Apr 2024 to Aug 2026 show one Phase III scaling up, one Phase I generating immune data, and mRNA peers moving in opposite directions</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10</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Each row shows what happened, when, the event type, the function that produced it, the evidence source, what it signals and what it implies for HER2 vaccine competitors</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182880" y="1353312"/>
            <a:ext cx="1143000" cy="201168"/>
          </a:xfrm>
          <a:prstGeom prst="rect">
            <a:avLst/>
          </a:prstGeom>
          <a:noFill/>
        </p:spPr>
        <p:txBody>
          <a:bodyPr wrap="square" lIns="27432" tIns="9144" rIns="27432" bIns="9144" anchor="t">
            <a:spAutoFit/>
          </a:bodyPr>
          <a:lstStyle/>
          <a:p>
            <a:pPr algn="l"/>
            <a:r>
              <a:rPr sz="750" b="1" i="0">
                <a:solidFill>
                  <a:srgbClr val="0E3A66"/>
                </a:solidFill>
                <a:latin typeface="Calibri"/>
              </a:rPr>
              <a:t>COMPANY</a:t>
            </a:r>
          </a:p>
        </p:txBody>
      </p:sp>
      <p:sp>
        <p:nvSpPr>
          <p:cNvPr id="7" name="TextBox 6"/>
          <p:cNvSpPr txBox="1"/>
          <p:nvPr/>
        </p:nvSpPr>
        <p:spPr>
          <a:xfrm>
            <a:off x="1371600" y="1353312"/>
            <a:ext cx="914400" cy="201168"/>
          </a:xfrm>
          <a:prstGeom prst="rect">
            <a:avLst/>
          </a:prstGeom>
          <a:noFill/>
        </p:spPr>
        <p:txBody>
          <a:bodyPr wrap="square" lIns="27432" tIns="9144" rIns="27432" bIns="9144" anchor="t">
            <a:spAutoFit/>
          </a:bodyPr>
          <a:lstStyle/>
          <a:p>
            <a:pPr algn="l"/>
            <a:r>
              <a:rPr sz="750" b="1" i="0">
                <a:solidFill>
                  <a:srgbClr val="0E3A66"/>
                </a:solidFill>
                <a:latin typeface="Calibri"/>
              </a:rPr>
              <a:t>CANDIDATE</a:t>
            </a:r>
          </a:p>
        </p:txBody>
      </p:sp>
      <p:sp>
        <p:nvSpPr>
          <p:cNvPr id="8" name="TextBox 7"/>
          <p:cNvSpPr txBox="1"/>
          <p:nvPr/>
        </p:nvSpPr>
        <p:spPr>
          <a:xfrm>
            <a:off x="2331720" y="1353312"/>
            <a:ext cx="2880360" cy="201168"/>
          </a:xfrm>
          <a:prstGeom prst="rect">
            <a:avLst/>
          </a:prstGeom>
          <a:noFill/>
        </p:spPr>
        <p:txBody>
          <a:bodyPr wrap="square" lIns="27432" tIns="9144" rIns="27432" bIns="9144" anchor="t">
            <a:spAutoFit/>
          </a:bodyPr>
          <a:lstStyle/>
          <a:p>
            <a:pPr algn="l"/>
            <a:r>
              <a:rPr sz="750" b="1" i="0">
                <a:solidFill>
                  <a:srgbClr val="0E3A66"/>
                </a:solidFill>
                <a:latin typeface="Calibri"/>
              </a:rPr>
              <a:t>DEVELOPMENT (WHAT HAPPENED)</a:t>
            </a:r>
          </a:p>
        </p:txBody>
      </p:sp>
      <p:sp>
        <p:nvSpPr>
          <p:cNvPr id="9" name="TextBox 8"/>
          <p:cNvSpPr txBox="1"/>
          <p:nvPr/>
        </p:nvSpPr>
        <p:spPr>
          <a:xfrm>
            <a:off x="5257800" y="1353312"/>
            <a:ext cx="612647" cy="201168"/>
          </a:xfrm>
          <a:prstGeom prst="rect">
            <a:avLst/>
          </a:prstGeom>
          <a:noFill/>
        </p:spPr>
        <p:txBody>
          <a:bodyPr wrap="square" lIns="27432" tIns="9144" rIns="27432" bIns="9144" anchor="t">
            <a:spAutoFit/>
          </a:bodyPr>
          <a:lstStyle/>
          <a:p>
            <a:pPr algn="l"/>
            <a:r>
              <a:rPr sz="750" b="1" i="0">
                <a:solidFill>
                  <a:srgbClr val="0E3A66"/>
                </a:solidFill>
                <a:latin typeface="Calibri"/>
              </a:rPr>
              <a:t>DATE</a:t>
            </a:r>
          </a:p>
        </p:txBody>
      </p:sp>
      <p:sp>
        <p:nvSpPr>
          <p:cNvPr id="10" name="TextBox 9"/>
          <p:cNvSpPr txBox="1"/>
          <p:nvPr/>
        </p:nvSpPr>
        <p:spPr>
          <a:xfrm>
            <a:off x="5916168" y="1353312"/>
            <a:ext cx="457200" cy="201168"/>
          </a:xfrm>
          <a:prstGeom prst="rect">
            <a:avLst/>
          </a:prstGeom>
          <a:noFill/>
        </p:spPr>
        <p:txBody>
          <a:bodyPr wrap="square" lIns="27432" tIns="9144" rIns="27432" bIns="9144" anchor="t">
            <a:spAutoFit/>
          </a:bodyPr>
          <a:lstStyle/>
          <a:p>
            <a:pPr algn="l"/>
            <a:r>
              <a:rPr sz="750" b="1" i="0">
                <a:solidFill>
                  <a:srgbClr val="0E3A66"/>
                </a:solidFill>
                <a:latin typeface="Calibri"/>
              </a:rPr>
              <a:t>TYPE</a:t>
            </a:r>
          </a:p>
        </p:txBody>
      </p:sp>
      <p:sp>
        <p:nvSpPr>
          <p:cNvPr id="11" name="TextBox 10"/>
          <p:cNvSpPr txBox="1"/>
          <p:nvPr/>
        </p:nvSpPr>
        <p:spPr>
          <a:xfrm>
            <a:off x="6419088" y="1353312"/>
            <a:ext cx="914400" cy="201168"/>
          </a:xfrm>
          <a:prstGeom prst="rect">
            <a:avLst/>
          </a:prstGeom>
          <a:noFill/>
        </p:spPr>
        <p:txBody>
          <a:bodyPr wrap="square" lIns="27432" tIns="9144" rIns="27432" bIns="9144" anchor="t">
            <a:spAutoFit/>
          </a:bodyPr>
          <a:lstStyle/>
          <a:p>
            <a:pPr algn="l"/>
            <a:r>
              <a:rPr sz="750" b="1" i="0">
                <a:solidFill>
                  <a:srgbClr val="0E3A66"/>
                </a:solidFill>
                <a:latin typeface="Calibri"/>
              </a:rPr>
              <a:t>FUNCTION</a:t>
            </a:r>
          </a:p>
        </p:txBody>
      </p:sp>
      <p:sp>
        <p:nvSpPr>
          <p:cNvPr id="12" name="TextBox 11"/>
          <p:cNvSpPr txBox="1"/>
          <p:nvPr/>
        </p:nvSpPr>
        <p:spPr>
          <a:xfrm>
            <a:off x="7379208" y="1353312"/>
            <a:ext cx="1234439" cy="201168"/>
          </a:xfrm>
          <a:prstGeom prst="rect">
            <a:avLst/>
          </a:prstGeom>
          <a:noFill/>
        </p:spPr>
        <p:txBody>
          <a:bodyPr wrap="square" lIns="27432" tIns="9144" rIns="27432" bIns="9144" anchor="t">
            <a:spAutoFit/>
          </a:bodyPr>
          <a:lstStyle/>
          <a:p>
            <a:pPr algn="l"/>
            <a:r>
              <a:rPr sz="750" b="1" i="0">
                <a:solidFill>
                  <a:srgbClr val="0E3A66"/>
                </a:solidFill>
                <a:latin typeface="Calibri"/>
              </a:rPr>
              <a:t>EVIDENCE SOURCE</a:t>
            </a:r>
          </a:p>
        </p:txBody>
      </p:sp>
      <p:sp>
        <p:nvSpPr>
          <p:cNvPr id="13" name="TextBox 12"/>
          <p:cNvSpPr txBox="1"/>
          <p:nvPr/>
        </p:nvSpPr>
        <p:spPr>
          <a:xfrm>
            <a:off x="8659368" y="1353312"/>
            <a:ext cx="1554480" cy="201168"/>
          </a:xfrm>
          <a:prstGeom prst="rect">
            <a:avLst/>
          </a:prstGeom>
          <a:noFill/>
        </p:spPr>
        <p:txBody>
          <a:bodyPr wrap="square" lIns="27432" tIns="9144" rIns="27432" bIns="9144" anchor="t">
            <a:spAutoFit/>
          </a:bodyPr>
          <a:lstStyle/>
          <a:p>
            <a:pPr algn="l"/>
            <a:r>
              <a:rPr sz="750" b="1" i="0">
                <a:solidFill>
                  <a:srgbClr val="0E3A66"/>
                </a:solidFill>
                <a:latin typeface="Calibri"/>
              </a:rPr>
              <a:t>SIGNAL</a:t>
            </a:r>
          </a:p>
        </p:txBody>
      </p:sp>
      <p:sp>
        <p:nvSpPr>
          <p:cNvPr id="14" name="TextBox 13"/>
          <p:cNvSpPr txBox="1"/>
          <p:nvPr/>
        </p:nvSpPr>
        <p:spPr>
          <a:xfrm>
            <a:off x="10259568" y="1353312"/>
            <a:ext cx="1700784" cy="201168"/>
          </a:xfrm>
          <a:prstGeom prst="rect">
            <a:avLst/>
          </a:prstGeom>
          <a:noFill/>
        </p:spPr>
        <p:txBody>
          <a:bodyPr wrap="square" lIns="27432" tIns="9144" rIns="27432" bIns="9144" anchor="t">
            <a:spAutoFit/>
          </a:bodyPr>
          <a:lstStyle/>
          <a:p>
            <a:pPr algn="l"/>
            <a:r>
              <a:rPr sz="750" b="1" i="0">
                <a:solidFill>
                  <a:srgbClr val="0E3A66"/>
                </a:solidFill>
                <a:latin typeface="Calibri"/>
              </a:rPr>
              <a:t>IMPLICATION</a:t>
            </a:r>
          </a:p>
        </p:txBody>
      </p:sp>
      <p:cxnSp>
        <p:nvCxnSpPr>
          <p:cNvPr id="15" name="Connector 14"/>
          <p:cNvCxnSpPr/>
          <p:nvPr/>
        </p:nvCxnSpPr>
        <p:spPr>
          <a:xfrm>
            <a:off x="182880" y="157276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82880" y="1636776"/>
            <a:ext cx="45720" cy="217627"/>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6032" y="1600200"/>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BioNTech and Genentech</a:t>
            </a:r>
          </a:p>
        </p:txBody>
      </p:sp>
      <p:sp>
        <p:nvSpPr>
          <p:cNvPr id="18" name="TextBox 17"/>
          <p:cNvSpPr txBox="1"/>
          <p:nvPr/>
        </p:nvSpPr>
        <p:spPr>
          <a:xfrm>
            <a:off x="1371600" y="1600200"/>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autogene cevumeran</a:t>
            </a:r>
          </a:p>
        </p:txBody>
      </p:sp>
      <p:sp>
        <p:nvSpPr>
          <p:cNvPr id="19" name="TextBox 18"/>
          <p:cNvSpPr txBox="1"/>
          <p:nvPr/>
        </p:nvSpPr>
        <p:spPr>
          <a:xfrm>
            <a:off x="2331720" y="1600200"/>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Terminated Phase 2 BNT122-01 (adjuvant monotherapy, ctDNA-positive colorectal) after DSMB flagged an overall-survival imbalance; PDAC Phase 2 with checkpoint inhibitor continues</a:t>
            </a:r>
          </a:p>
        </p:txBody>
      </p:sp>
      <p:sp>
        <p:nvSpPr>
          <p:cNvPr id="20" name="TextBox 19"/>
          <p:cNvSpPr txBox="1"/>
          <p:nvPr/>
        </p:nvSpPr>
        <p:spPr>
          <a:xfrm>
            <a:off x="5257800" y="1600200"/>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28 Aug 2026</a:t>
            </a:r>
          </a:p>
        </p:txBody>
      </p:sp>
      <p:sp>
        <p:nvSpPr>
          <p:cNvPr id="21" name="Rectangle 20"/>
          <p:cNvSpPr/>
          <p:nvPr/>
        </p:nvSpPr>
        <p:spPr>
          <a:xfrm>
            <a:off x="5916168" y="1673352"/>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16168" y="1673352"/>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23" name="TextBox 22"/>
          <p:cNvSpPr txBox="1"/>
          <p:nvPr/>
        </p:nvSpPr>
        <p:spPr>
          <a:xfrm>
            <a:off x="6419088" y="1600200"/>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24" name="TextBox 23"/>
          <p:cNvSpPr txBox="1"/>
          <p:nvPr/>
        </p:nvSpPr>
        <p:spPr>
          <a:xfrm>
            <a:off x="7379208" y="1600200"/>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BioNTech statement, 28 Aug 2026</a:t>
            </a:r>
          </a:p>
        </p:txBody>
      </p:sp>
      <p:sp>
        <p:nvSpPr>
          <p:cNvPr id="25" name="TextBox 24"/>
          <p:cNvSpPr txBox="1"/>
          <p:nvPr/>
        </p:nvSpPr>
        <p:spPr>
          <a:xfrm>
            <a:off x="8659368" y="1600200"/>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Monotherapy mRNA vaccines carry efficacy risk in cold tumours</a:t>
            </a:r>
          </a:p>
        </p:txBody>
      </p:sp>
      <p:sp>
        <p:nvSpPr>
          <p:cNvPr id="26" name="TextBox 25"/>
          <p:cNvSpPr txBox="1"/>
          <p:nvPr/>
        </p:nvSpPr>
        <p:spPr>
          <a:xfrm>
            <a:off x="10259568" y="1600200"/>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HER2 programs should pair vaccines with checkpoint or ADC backbones</a:t>
            </a:r>
          </a:p>
        </p:txBody>
      </p:sp>
      <p:cxnSp>
        <p:nvCxnSpPr>
          <p:cNvPr id="27" name="Connector 26"/>
          <p:cNvCxnSpPr/>
          <p:nvPr/>
        </p:nvCxnSpPr>
        <p:spPr>
          <a:xfrm>
            <a:off x="182880" y="1890979"/>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82880" y="1927555"/>
            <a:ext cx="45720" cy="217627"/>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 y="1890979"/>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Merck &amp; Co. and Moderna</a:t>
            </a:r>
          </a:p>
        </p:txBody>
      </p:sp>
      <p:sp>
        <p:nvSpPr>
          <p:cNvPr id="30" name="TextBox 29"/>
          <p:cNvSpPr txBox="1"/>
          <p:nvPr/>
        </p:nvSpPr>
        <p:spPr>
          <a:xfrm>
            <a:off x="1371600" y="1890979"/>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intismeran autogene</a:t>
            </a:r>
          </a:p>
        </p:txBody>
      </p:sp>
      <p:sp>
        <p:nvSpPr>
          <p:cNvPr id="31" name="TextBox 30"/>
          <p:cNvSpPr txBox="1"/>
          <p:nvPr/>
        </p:nvSpPr>
        <p:spPr>
          <a:xfrm>
            <a:off x="2331720" y="1890979"/>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INTerpath-001 Phase 3 met recurrence-free and distant-metastasis-free survival at interim in resected stage IIB to IV melanoma (n = 1,137)</a:t>
            </a:r>
          </a:p>
        </p:txBody>
      </p:sp>
      <p:sp>
        <p:nvSpPr>
          <p:cNvPr id="32" name="TextBox 31"/>
          <p:cNvSpPr txBox="1"/>
          <p:nvPr/>
        </p:nvSpPr>
        <p:spPr>
          <a:xfrm>
            <a:off x="5257800" y="1890979"/>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19 Aug 2026</a:t>
            </a:r>
          </a:p>
        </p:txBody>
      </p:sp>
      <p:sp>
        <p:nvSpPr>
          <p:cNvPr id="33" name="Rectangle 32"/>
          <p:cNvSpPr/>
          <p:nvPr/>
        </p:nvSpPr>
        <p:spPr>
          <a:xfrm>
            <a:off x="5916168" y="1964131"/>
            <a:ext cx="210312"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16168" y="1964131"/>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35" name="TextBox 34"/>
          <p:cNvSpPr txBox="1"/>
          <p:nvPr/>
        </p:nvSpPr>
        <p:spPr>
          <a:xfrm>
            <a:off x="6419088" y="1890979"/>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36" name="TextBox 35"/>
          <p:cNvSpPr txBox="1"/>
          <p:nvPr/>
        </p:nvSpPr>
        <p:spPr>
          <a:xfrm>
            <a:off x="7379208" y="1890979"/>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Merck press release, 19 Aug 2026</a:t>
            </a:r>
          </a:p>
        </p:txBody>
      </p:sp>
      <p:sp>
        <p:nvSpPr>
          <p:cNvPr id="37" name="TextBox 36"/>
          <p:cNvSpPr txBox="1"/>
          <p:nvPr/>
        </p:nvSpPr>
        <p:spPr>
          <a:xfrm>
            <a:off x="8659368" y="1890979"/>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First positive Phase 3 for an mRNA cancer vaccine</a:t>
            </a:r>
          </a:p>
        </p:txBody>
      </p:sp>
      <p:sp>
        <p:nvSpPr>
          <p:cNvPr id="38" name="TextBox 37"/>
          <p:cNvSpPr txBox="1"/>
          <p:nvPr/>
        </p:nvSpPr>
        <p:spPr>
          <a:xfrm>
            <a:off x="10259568" y="1890979"/>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Raises partner appetite for adjuvant vaccine plus checkpoint designs</a:t>
            </a:r>
          </a:p>
        </p:txBody>
      </p:sp>
      <p:cxnSp>
        <p:nvCxnSpPr>
          <p:cNvPr id="39" name="Connector 38"/>
          <p:cNvCxnSpPr/>
          <p:nvPr/>
        </p:nvCxnSpPr>
        <p:spPr>
          <a:xfrm>
            <a:off x="182880" y="2181758"/>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82880" y="2218334"/>
            <a:ext cx="45720" cy="217627"/>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6032" y="2181758"/>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Greenwich LifeSciences</a:t>
            </a:r>
          </a:p>
        </p:txBody>
      </p:sp>
      <p:sp>
        <p:nvSpPr>
          <p:cNvPr id="42" name="TextBox 41"/>
          <p:cNvSpPr txBox="1"/>
          <p:nvPr/>
        </p:nvSpPr>
        <p:spPr>
          <a:xfrm>
            <a:off x="1371600" y="2181758"/>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GLSI-100</a:t>
            </a:r>
          </a:p>
        </p:txBody>
      </p:sp>
      <p:sp>
        <p:nvSpPr>
          <p:cNvPr id="43" name="TextBox 42"/>
          <p:cNvSpPr txBox="1"/>
          <p:nvPr/>
        </p:nvSpPr>
        <p:spPr>
          <a:xfrm>
            <a:off x="2331720" y="2181758"/>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Approval to expand FLAMINGO-01 into the United Kingdom</a:t>
            </a:r>
          </a:p>
        </p:txBody>
      </p:sp>
      <p:sp>
        <p:nvSpPr>
          <p:cNvPr id="44" name="TextBox 43"/>
          <p:cNvSpPr txBox="1"/>
          <p:nvPr/>
        </p:nvSpPr>
        <p:spPr>
          <a:xfrm>
            <a:off x="5257800" y="2181758"/>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22 Jul 2026</a:t>
            </a:r>
          </a:p>
        </p:txBody>
      </p:sp>
      <p:sp>
        <p:nvSpPr>
          <p:cNvPr id="45" name="Rectangle 44"/>
          <p:cNvSpPr/>
          <p:nvPr/>
        </p:nvSpPr>
        <p:spPr>
          <a:xfrm>
            <a:off x="5916168" y="2254910"/>
            <a:ext cx="210312" cy="14630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916168" y="2254910"/>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RG</a:t>
            </a:r>
          </a:p>
        </p:txBody>
      </p:sp>
      <p:sp>
        <p:nvSpPr>
          <p:cNvPr id="47" name="Rectangle 46"/>
          <p:cNvSpPr/>
          <p:nvPr/>
        </p:nvSpPr>
        <p:spPr>
          <a:xfrm>
            <a:off x="6144768" y="2254910"/>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144768" y="2254910"/>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49" name="TextBox 48"/>
          <p:cNvSpPr txBox="1"/>
          <p:nvPr/>
        </p:nvSpPr>
        <p:spPr>
          <a:xfrm>
            <a:off x="6419088" y="2181758"/>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Regulatory</a:t>
            </a:r>
          </a:p>
        </p:txBody>
      </p:sp>
      <p:sp>
        <p:nvSpPr>
          <p:cNvPr id="50" name="TextBox 49"/>
          <p:cNvSpPr txBox="1"/>
          <p:nvPr/>
        </p:nvSpPr>
        <p:spPr>
          <a:xfrm>
            <a:off x="7379208" y="2181758"/>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Greenwich release via GlobeNewswire</a:t>
            </a:r>
          </a:p>
        </p:txBody>
      </p:sp>
      <p:sp>
        <p:nvSpPr>
          <p:cNvPr id="51" name="TextBox 50"/>
          <p:cNvSpPr txBox="1"/>
          <p:nvPr/>
        </p:nvSpPr>
        <p:spPr>
          <a:xfrm>
            <a:off x="8659368" y="2181758"/>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Footprint widening beyond 11 countries</a:t>
            </a:r>
          </a:p>
        </p:txBody>
      </p:sp>
      <p:sp>
        <p:nvSpPr>
          <p:cNvPr id="52" name="TextBox 51"/>
          <p:cNvSpPr txBox="1"/>
          <p:nvPr/>
        </p:nvSpPr>
        <p:spPr>
          <a:xfrm>
            <a:off x="10259568" y="2181758"/>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Competing adjuvant HER2+ trials will share UK and EU sites</a:t>
            </a:r>
          </a:p>
        </p:txBody>
      </p:sp>
      <p:cxnSp>
        <p:nvCxnSpPr>
          <p:cNvPr id="53" name="Connector 52"/>
          <p:cNvCxnSpPr/>
          <p:nvPr/>
        </p:nvCxnSpPr>
        <p:spPr>
          <a:xfrm>
            <a:off x="182880" y="2472537"/>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82880" y="2509113"/>
            <a:ext cx="45720" cy="217627"/>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6032" y="2472537"/>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Greenwich LifeSciences</a:t>
            </a:r>
          </a:p>
        </p:txBody>
      </p:sp>
      <p:sp>
        <p:nvSpPr>
          <p:cNvPr id="56" name="TextBox 55"/>
          <p:cNvSpPr txBox="1"/>
          <p:nvPr/>
        </p:nvSpPr>
        <p:spPr>
          <a:xfrm>
            <a:off x="1371600" y="2472537"/>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GLSI-100</a:t>
            </a:r>
          </a:p>
        </p:txBody>
      </p:sp>
      <p:sp>
        <p:nvSpPr>
          <p:cNvPr id="57" name="TextBox 56"/>
          <p:cNvSpPr txBox="1"/>
          <p:nvPr/>
        </p:nvSpPr>
        <p:spPr>
          <a:xfrm>
            <a:off x="2331720" y="2472537"/>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Redesign reviewed by FDA and EMA: all HLA types in blinded arms, design HR 0.55, first interim at 28 events, up to 2,000 patients</a:t>
            </a:r>
          </a:p>
        </p:txBody>
      </p:sp>
      <p:sp>
        <p:nvSpPr>
          <p:cNvPr id="58" name="TextBox 57"/>
          <p:cNvSpPr txBox="1"/>
          <p:nvPr/>
        </p:nvSpPr>
        <p:spPr>
          <a:xfrm>
            <a:off x="5257800" y="2472537"/>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20 Jul 2026</a:t>
            </a:r>
          </a:p>
        </p:txBody>
      </p:sp>
      <p:sp>
        <p:nvSpPr>
          <p:cNvPr id="59" name="Rectangle 58"/>
          <p:cNvSpPr/>
          <p:nvPr/>
        </p:nvSpPr>
        <p:spPr>
          <a:xfrm>
            <a:off x="5916168" y="2545689"/>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16168" y="2545689"/>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61" name="Rectangle 60"/>
          <p:cNvSpPr/>
          <p:nvPr/>
        </p:nvSpPr>
        <p:spPr>
          <a:xfrm>
            <a:off x="6144768" y="2545689"/>
            <a:ext cx="210312" cy="14630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144768" y="2545689"/>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RG</a:t>
            </a:r>
          </a:p>
        </p:txBody>
      </p:sp>
      <p:sp>
        <p:nvSpPr>
          <p:cNvPr id="63" name="TextBox 62"/>
          <p:cNvSpPr txBox="1"/>
          <p:nvPr/>
        </p:nvSpPr>
        <p:spPr>
          <a:xfrm>
            <a:off x="6419088" y="2472537"/>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64" name="TextBox 63"/>
          <p:cNvSpPr txBox="1"/>
          <p:nvPr/>
        </p:nvSpPr>
        <p:spPr>
          <a:xfrm>
            <a:off x="7379208" y="2472537"/>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Greenwich release, 20 Jul 2026</a:t>
            </a:r>
          </a:p>
        </p:txBody>
      </p:sp>
      <p:sp>
        <p:nvSpPr>
          <p:cNvPr id="65" name="TextBox 64"/>
          <p:cNvSpPr txBox="1"/>
          <p:nvPr/>
        </p:nvSpPr>
        <p:spPr>
          <a:xfrm>
            <a:off x="8659368" y="2472537"/>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Larger, better-powered Phase III with earlier BLA windows</a:t>
            </a:r>
          </a:p>
        </p:txBody>
      </p:sp>
      <p:sp>
        <p:nvSpPr>
          <p:cNvPr id="66" name="TextBox 65"/>
          <p:cNvSpPr txBox="1"/>
          <p:nvPr/>
        </p:nvSpPr>
        <p:spPr>
          <a:xfrm>
            <a:off x="10259568" y="2472537"/>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Sets a large benchmark trial for any HER2+ adjuvant vaccine</a:t>
            </a:r>
          </a:p>
        </p:txBody>
      </p:sp>
      <p:cxnSp>
        <p:nvCxnSpPr>
          <p:cNvPr id="67" name="Connector 66"/>
          <p:cNvCxnSpPr/>
          <p:nvPr/>
        </p:nvCxnSpPr>
        <p:spPr>
          <a:xfrm>
            <a:off x="182880" y="2763316"/>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82880" y="2799892"/>
            <a:ext cx="45720" cy="217627"/>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56032" y="2763316"/>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Greenwich LifeSciences</a:t>
            </a:r>
          </a:p>
        </p:txBody>
      </p:sp>
      <p:sp>
        <p:nvSpPr>
          <p:cNvPr id="70" name="TextBox 69"/>
          <p:cNvSpPr txBox="1"/>
          <p:nvPr/>
        </p:nvSpPr>
        <p:spPr>
          <a:xfrm>
            <a:off x="1371600" y="2763316"/>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GLSI-100</a:t>
            </a:r>
          </a:p>
        </p:txBody>
      </p:sp>
      <p:sp>
        <p:nvSpPr>
          <p:cNvPr id="71" name="TextBox 70"/>
          <p:cNvSpPr txBox="1"/>
          <p:nvPr/>
        </p:nvSpPr>
        <p:spPr>
          <a:xfrm>
            <a:off x="2331720" y="2763316"/>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ASCO LBA538: injection-site immune responses rose over time in the 247-patient open-label non-HLA-A*02 arm</a:t>
            </a:r>
          </a:p>
        </p:txBody>
      </p:sp>
      <p:sp>
        <p:nvSpPr>
          <p:cNvPr id="72" name="TextBox 71"/>
          <p:cNvSpPr txBox="1"/>
          <p:nvPr/>
        </p:nvSpPr>
        <p:spPr>
          <a:xfrm>
            <a:off x="5257800" y="2763316"/>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 Jun 2026</a:t>
            </a:r>
          </a:p>
        </p:txBody>
      </p:sp>
      <p:sp>
        <p:nvSpPr>
          <p:cNvPr id="73" name="Rectangle 72"/>
          <p:cNvSpPr/>
          <p:nvPr/>
        </p:nvSpPr>
        <p:spPr>
          <a:xfrm>
            <a:off x="5916168" y="2836468"/>
            <a:ext cx="210312"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916168" y="2836468"/>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75" name="TextBox 74"/>
          <p:cNvSpPr txBox="1"/>
          <p:nvPr/>
        </p:nvSpPr>
        <p:spPr>
          <a:xfrm>
            <a:off x="6419088" y="2763316"/>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Medical Affairs</a:t>
            </a:r>
          </a:p>
        </p:txBody>
      </p:sp>
      <p:sp>
        <p:nvSpPr>
          <p:cNvPr id="76" name="TextBox 75"/>
          <p:cNvSpPr txBox="1"/>
          <p:nvPr/>
        </p:nvSpPr>
        <p:spPr>
          <a:xfrm>
            <a:off x="7379208" y="2763316"/>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Conference abstract</a:t>
            </a:r>
          </a:p>
          <a:p>
            <a:pPr algn="l"/>
            <a:r>
              <a:rPr sz="650" b="0" i="0">
                <a:solidFill>
                  <a:srgbClr val="404040"/>
                </a:solidFill>
                <a:latin typeface="Calibri"/>
              </a:rPr>
              <a:t>ASCO 2026 poster and release</a:t>
            </a:r>
          </a:p>
        </p:txBody>
      </p:sp>
      <p:sp>
        <p:nvSpPr>
          <p:cNvPr id="77" name="TextBox 76"/>
          <p:cNvSpPr txBox="1"/>
          <p:nvPr/>
        </p:nvSpPr>
        <p:spPr>
          <a:xfrm>
            <a:off x="8659368" y="2763316"/>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Immunogenicity evidence beyond HLA-A*02</a:t>
            </a:r>
          </a:p>
        </p:txBody>
      </p:sp>
      <p:sp>
        <p:nvSpPr>
          <p:cNvPr id="78" name="TextBox 77"/>
          <p:cNvSpPr txBox="1"/>
          <p:nvPr/>
        </p:nvSpPr>
        <p:spPr>
          <a:xfrm>
            <a:off x="10259568" y="2763316"/>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Supports eligibility widening; efficacy remains blinded</a:t>
            </a:r>
          </a:p>
        </p:txBody>
      </p:sp>
      <p:cxnSp>
        <p:nvCxnSpPr>
          <p:cNvPr id="79" name="Connector 78"/>
          <p:cNvCxnSpPr/>
          <p:nvPr/>
        </p:nvCxnSpPr>
        <p:spPr>
          <a:xfrm>
            <a:off x="182880" y="3054096"/>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80" name="Rectangle 79"/>
          <p:cNvSpPr/>
          <p:nvPr/>
        </p:nvSpPr>
        <p:spPr>
          <a:xfrm>
            <a:off x="182880" y="3090672"/>
            <a:ext cx="45720" cy="21762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56032" y="3054096"/>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ExpreS2ion</a:t>
            </a:r>
          </a:p>
        </p:txBody>
      </p:sp>
      <p:sp>
        <p:nvSpPr>
          <p:cNvPr id="82" name="TextBox 81"/>
          <p:cNvSpPr txBox="1"/>
          <p:nvPr/>
        </p:nvSpPr>
        <p:spPr>
          <a:xfrm>
            <a:off x="1371600" y="3054096"/>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ES2B-C001</a:t>
            </a:r>
          </a:p>
        </p:txBody>
      </p:sp>
      <p:sp>
        <p:nvSpPr>
          <p:cNvPr id="83" name="TextBox 82"/>
          <p:cNvSpPr txBox="1"/>
          <p:nvPr/>
        </p:nvSpPr>
        <p:spPr>
          <a:xfrm>
            <a:off x="2331720" y="3054096"/>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Phase I update: anti-HER2 antibodies in 9 of 9 evaluable patients, 450 microgram cohort dosed, maintenance phase added</a:t>
            </a:r>
          </a:p>
        </p:txBody>
      </p:sp>
      <p:sp>
        <p:nvSpPr>
          <p:cNvPr id="84" name="TextBox 83"/>
          <p:cNvSpPr txBox="1"/>
          <p:nvPr/>
        </p:nvSpPr>
        <p:spPr>
          <a:xfrm>
            <a:off x="5257800" y="3054096"/>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19 May 2026</a:t>
            </a:r>
          </a:p>
        </p:txBody>
      </p:sp>
      <p:sp>
        <p:nvSpPr>
          <p:cNvPr id="85" name="Rectangle 84"/>
          <p:cNvSpPr/>
          <p:nvPr/>
        </p:nvSpPr>
        <p:spPr>
          <a:xfrm>
            <a:off x="5916168" y="3127248"/>
            <a:ext cx="210312"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916168" y="3127248"/>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87" name="Rectangle 86"/>
          <p:cNvSpPr/>
          <p:nvPr/>
        </p:nvSpPr>
        <p:spPr>
          <a:xfrm>
            <a:off x="6144768" y="3127248"/>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144768" y="3127248"/>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89" name="TextBox 88"/>
          <p:cNvSpPr txBox="1"/>
          <p:nvPr/>
        </p:nvSpPr>
        <p:spPr>
          <a:xfrm>
            <a:off x="6419088" y="3054096"/>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90" name="TextBox 89"/>
          <p:cNvSpPr txBox="1"/>
          <p:nvPr/>
        </p:nvSpPr>
        <p:spPr>
          <a:xfrm>
            <a:off x="7379208" y="3054096"/>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ExpreS2ion release, 19 May 2026</a:t>
            </a:r>
          </a:p>
        </p:txBody>
      </p:sp>
      <p:sp>
        <p:nvSpPr>
          <p:cNvPr id="91" name="TextBox 90"/>
          <p:cNvSpPr txBox="1"/>
          <p:nvPr/>
        </p:nvSpPr>
        <p:spPr>
          <a:xfrm>
            <a:off x="8659368" y="3054096"/>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Consistent immunogenicity in HER2+ and HER2-low patients</a:t>
            </a:r>
          </a:p>
        </p:txBody>
      </p:sp>
      <p:sp>
        <p:nvSpPr>
          <p:cNvPr id="92" name="TextBox 91"/>
          <p:cNvSpPr txBox="1"/>
          <p:nvPr/>
        </p:nvSpPr>
        <p:spPr>
          <a:xfrm>
            <a:off x="10259568" y="3054096"/>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Readout end-2026 is the next licensing trigger</a:t>
            </a:r>
          </a:p>
        </p:txBody>
      </p:sp>
      <p:cxnSp>
        <p:nvCxnSpPr>
          <p:cNvPr id="93" name="Connector 92"/>
          <p:cNvCxnSpPr/>
          <p:nvPr/>
        </p:nvCxnSpPr>
        <p:spPr>
          <a:xfrm>
            <a:off x="182880" y="3344875"/>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82880" y="3381451"/>
            <a:ext cx="45720" cy="217627"/>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56032" y="3344875"/>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BriaCell</a:t>
            </a:r>
          </a:p>
        </p:txBody>
      </p:sp>
      <p:sp>
        <p:nvSpPr>
          <p:cNvPr id="96" name="TextBox 95"/>
          <p:cNvSpPr txBox="1"/>
          <p:nvPr/>
        </p:nvSpPr>
        <p:spPr>
          <a:xfrm>
            <a:off x="1371600" y="3344875"/>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Bria-IMT</a:t>
            </a:r>
          </a:p>
        </p:txBody>
      </p:sp>
      <p:sp>
        <p:nvSpPr>
          <p:cNvPr id="97" name="TextBox 96"/>
          <p:cNvSpPr txBox="1"/>
          <p:nvPr/>
        </p:nvSpPr>
        <p:spPr>
          <a:xfrm>
            <a:off x="2331720" y="3344875"/>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Phase 3 Bria-ABC passes 230 enrolled; interim OS analysis at 144 deaths guided for 2026</a:t>
            </a:r>
          </a:p>
        </p:txBody>
      </p:sp>
      <p:sp>
        <p:nvSpPr>
          <p:cNvPr id="98" name="TextBox 97"/>
          <p:cNvSpPr txBox="1"/>
          <p:nvPr/>
        </p:nvSpPr>
        <p:spPr>
          <a:xfrm>
            <a:off x="5257800" y="3344875"/>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12 May 2026</a:t>
            </a:r>
          </a:p>
        </p:txBody>
      </p:sp>
      <p:sp>
        <p:nvSpPr>
          <p:cNvPr id="99" name="Rectangle 98"/>
          <p:cNvSpPr/>
          <p:nvPr/>
        </p:nvSpPr>
        <p:spPr>
          <a:xfrm>
            <a:off x="5916168" y="3418027"/>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5916168" y="3418027"/>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101" name="TextBox 100"/>
          <p:cNvSpPr txBox="1"/>
          <p:nvPr/>
        </p:nvSpPr>
        <p:spPr>
          <a:xfrm>
            <a:off x="6419088" y="3344875"/>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102" name="TextBox 101"/>
          <p:cNvSpPr txBox="1"/>
          <p:nvPr/>
        </p:nvSpPr>
        <p:spPr>
          <a:xfrm>
            <a:off x="7379208" y="3344875"/>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BriaCell release, 12 May 2026</a:t>
            </a:r>
          </a:p>
        </p:txBody>
      </p:sp>
      <p:sp>
        <p:nvSpPr>
          <p:cNvPr id="103" name="TextBox 102"/>
          <p:cNvSpPr txBox="1"/>
          <p:nvPr/>
        </p:nvSpPr>
        <p:spPr>
          <a:xfrm>
            <a:off x="8659368" y="3344875"/>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Only other Phase III vaccine in breast cancer</a:t>
            </a:r>
          </a:p>
        </p:txBody>
      </p:sp>
      <p:sp>
        <p:nvSpPr>
          <p:cNvPr id="104" name="TextBox 103"/>
          <p:cNvSpPr txBox="1"/>
          <p:nvPr/>
        </p:nvSpPr>
        <p:spPr>
          <a:xfrm>
            <a:off x="10259568" y="3344875"/>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A positive readout would reset expectations for vaccines in breast cancer</a:t>
            </a:r>
          </a:p>
        </p:txBody>
      </p:sp>
      <p:cxnSp>
        <p:nvCxnSpPr>
          <p:cNvPr id="105" name="Connector 104"/>
          <p:cNvCxnSpPr/>
          <p:nvPr/>
        </p:nvCxnSpPr>
        <p:spPr>
          <a:xfrm>
            <a:off x="182880" y="3635654"/>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82880" y="3672230"/>
            <a:ext cx="45720" cy="21762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56032" y="3635654"/>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ExpreS2ion</a:t>
            </a:r>
          </a:p>
        </p:txBody>
      </p:sp>
      <p:sp>
        <p:nvSpPr>
          <p:cNvPr id="108" name="TextBox 107"/>
          <p:cNvSpPr txBox="1"/>
          <p:nvPr/>
        </p:nvSpPr>
        <p:spPr>
          <a:xfrm>
            <a:off x="1371600" y="3635654"/>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ES2B-C001</a:t>
            </a:r>
          </a:p>
        </p:txBody>
      </p:sp>
      <p:sp>
        <p:nvSpPr>
          <p:cNvPr id="109" name="TextBox 108"/>
          <p:cNvSpPr txBox="1"/>
          <p:nvPr/>
        </p:nvSpPr>
        <p:spPr>
          <a:xfrm>
            <a:off x="2331720" y="3635654"/>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Rights issue closed about 60% subscribed; gross proceeds about SEK 32.4 M</a:t>
            </a:r>
          </a:p>
        </p:txBody>
      </p:sp>
      <p:sp>
        <p:nvSpPr>
          <p:cNvPr id="110" name="TextBox 109"/>
          <p:cNvSpPr txBox="1"/>
          <p:nvPr/>
        </p:nvSpPr>
        <p:spPr>
          <a:xfrm>
            <a:off x="5257800" y="3635654"/>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May 2026</a:t>
            </a:r>
          </a:p>
        </p:txBody>
      </p:sp>
      <p:sp>
        <p:nvSpPr>
          <p:cNvPr id="111" name="Rectangle 110"/>
          <p:cNvSpPr/>
          <p:nvPr/>
        </p:nvSpPr>
        <p:spPr>
          <a:xfrm>
            <a:off x="5916168" y="3708806"/>
            <a:ext cx="210312" cy="14630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5916168" y="3708806"/>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FI</a:t>
            </a:r>
          </a:p>
        </p:txBody>
      </p:sp>
      <p:sp>
        <p:nvSpPr>
          <p:cNvPr id="113" name="TextBox 112"/>
          <p:cNvSpPr txBox="1"/>
          <p:nvPr/>
        </p:nvSpPr>
        <p:spPr>
          <a:xfrm>
            <a:off x="6419088" y="3635654"/>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Executive</a:t>
            </a:r>
          </a:p>
        </p:txBody>
      </p:sp>
      <p:sp>
        <p:nvSpPr>
          <p:cNvPr id="114" name="TextBox 113"/>
          <p:cNvSpPr txBox="1"/>
          <p:nvPr/>
        </p:nvSpPr>
        <p:spPr>
          <a:xfrm>
            <a:off x="7379208" y="3635654"/>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Investor filing</a:t>
            </a:r>
          </a:p>
          <a:p>
            <a:pPr algn="l"/>
            <a:r>
              <a:rPr sz="650" b="0" i="0">
                <a:solidFill>
                  <a:srgbClr val="404040"/>
                </a:solidFill>
                <a:latin typeface="Calibri"/>
              </a:rPr>
              <a:t>Q2 2026 interim report</a:t>
            </a:r>
          </a:p>
        </p:txBody>
      </p:sp>
      <p:sp>
        <p:nvSpPr>
          <p:cNvPr id="115" name="TextBox 114"/>
          <p:cNvSpPr txBox="1"/>
          <p:nvPr/>
        </p:nvSpPr>
        <p:spPr>
          <a:xfrm>
            <a:off x="8659368" y="3635654"/>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Funding bridge to Phase I completion only</a:t>
            </a:r>
          </a:p>
        </p:txBody>
      </p:sp>
      <p:sp>
        <p:nvSpPr>
          <p:cNvPr id="116" name="TextBox 115"/>
          <p:cNvSpPr txBox="1"/>
          <p:nvPr/>
        </p:nvSpPr>
        <p:spPr>
          <a:xfrm>
            <a:off x="10259568" y="3635654"/>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Phase II depends on a partner or new capital</a:t>
            </a:r>
          </a:p>
        </p:txBody>
      </p:sp>
      <p:cxnSp>
        <p:nvCxnSpPr>
          <p:cNvPr id="117" name="Connector 116"/>
          <p:cNvCxnSpPr/>
          <p:nvPr/>
        </p:nvCxnSpPr>
        <p:spPr>
          <a:xfrm>
            <a:off x="182880" y="3926433"/>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82880" y="3963009"/>
            <a:ext cx="45720" cy="21762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256032" y="3926433"/>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ExpreS2ion</a:t>
            </a:r>
          </a:p>
        </p:txBody>
      </p:sp>
      <p:sp>
        <p:nvSpPr>
          <p:cNvPr id="120" name="TextBox 119"/>
          <p:cNvSpPr txBox="1"/>
          <p:nvPr/>
        </p:nvSpPr>
        <p:spPr>
          <a:xfrm>
            <a:off x="1371600" y="3926433"/>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ES2B-C001</a:t>
            </a:r>
          </a:p>
        </p:txBody>
      </p:sp>
      <p:sp>
        <p:nvSpPr>
          <p:cNvPr id="121" name="TextBox 120"/>
          <p:cNvSpPr txBox="1"/>
          <p:nvPr/>
        </p:nvSpPr>
        <p:spPr>
          <a:xfrm>
            <a:off x="2331720" y="3926433"/>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DSMB cleared escalation to 450 microgram and expansion at 150 microgram; 8 of 9 patients met responder criterion</a:t>
            </a:r>
          </a:p>
        </p:txBody>
      </p:sp>
      <p:sp>
        <p:nvSpPr>
          <p:cNvPr id="122" name="TextBox 121"/>
          <p:cNvSpPr txBox="1"/>
          <p:nvPr/>
        </p:nvSpPr>
        <p:spPr>
          <a:xfrm>
            <a:off x="5257800" y="3926433"/>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25 Mar 2026</a:t>
            </a:r>
          </a:p>
        </p:txBody>
      </p:sp>
      <p:sp>
        <p:nvSpPr>
          <p:cNvPr id="123" name="Rectangle 122"/>
          <p:cNvSpPr/>
          <p:nvPr/>
        </p:nvSpPr>
        <p:spPr>
          <a:xfrm>
            <a:off x="5916168" y="3999585"/>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916168" y="3999585"/>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125" name="Rectangle 124"/>
          <p:cNvSpPr/>
          <p:nvPr/>
        </p:nvSpPr>
        <p:spPr>
          <a:xfrm>
            <a:off x="6144768" y="3999585"/>
            <a:ext cx="210312"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6144768" y="3999585"/>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127" name="TextBox 126"/>
          <p:cNvSpPr txBox="1"/>
          <p:nvPr/>
        </p:nvSpPr>
        <p:spPr>
          <a:xfrm>
            <a:off x="6419088" y="3926433"/>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128" name="TextBox 127"/>
          <p:cNvSpPr txBox="1"/>
          <p:nvPr/>
        </p:nvSpPr>
        <p:spPr>
          <a:xfrm>
            <a:off x="7379208" y="3926433"/>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ExpreS2ion MAR disclosure</a:t>
            </a:r>
          </a:p>
        </p:txBody>
      </p:sp>
      <p:sp>
        <p:nvSpPr>
          <p:cNvPr id="129" name="TextBox 128"/>
          <p:cNvSpPr txBox="1"/>
          <p:nvPr/>
        </p:nvSpPr>
        <p:spPr>
          <a:xfrm>
            <a:off x="8659368" y="3926433"/>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Safety supports dose escalation</a:t>
            </a:r>
          </a:p>
        </p:txBody>
      </p:sp>
      <p:sp>
        <p:nvSpPr>
          <p:cNvPr id="130" name="TextBox 129"/>
          <p:cNvSpPr txBox="1"/>
          <p:nvPr/>
        </p:nvSpPr>
        <p:spPr>
          <a:xfrm>
            <a:off x="10259568" y="3926433"/>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Dose selection due before Phase II design</a:t>
            </a:r>
          </a:p>
        </p:txBody>
      </p:sp>
      <p:cxnSp>
        <p:nvCxnSpPr>
          <p:cNvPr id="131" name="Connector 130"/>
          <p:cNvCxnSpPr/>
          <p:nvPr/>
        </p:nvCxnSpPr>
        <p:spPr>
          <a:xfrm>
            <a:off x="182880" y="4217212"/>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32" name="Rectangle 131"/>
          <p:cNvSpPr/>
          <p:nvPr/>
        </p:nvSpPr>
        <p:spPr>
          <a:xfrm>
            <a:off x="182880" y="4253788"/>
            <a:ext cx="45720" cy="217627"/>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56032" y="4217212"/>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BriaCell</a:t>
            </a:r>
          </a:p>
        </p:txBody>
      </p:sp>
      <p:sp>
        <p:nvSpPr>
          <p:cNvPr id="134" name="TextBox 133"/>
          <p:cNvSpPr txBox="1"/>
          <p:nvPr/>
        </p:nvSpPr>
        <p:spPr>
          <a:xfrm>
            <a:off x="1371600" y="4217212"/>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Bria-IMT</a:t>
            </a:r>
          </a:p>
        </p:txBody>
      </p:sp>
      <p:sp>
        <p:nvSpPr>
          <p:cNvPr id="135" name="TextBox 134"/>
          <p:cNvSpPr txBox="1"/>
          <p:nvPr/>
        </p:nvSpPr>
        <p:spPr>
          <a:xfrm>
            <a:off x="2331720" y="4217212"/>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Priced USD 30 M public offering of units</a:t>
            </a:r>
          </a:p>
        </p:txBody>
      </p:sp>
      <p:sp>
        <p:nvSpPr>
          <p:cNvPr id="136" name="TextBox 135"/>
          <p:cNvSpPr txBox="1"/>
          <p:nvPr/>
        </p:nvSpPr>
        <p:spPr>
          <a:xfrm>
            <a:off x="5257800" y="4217212"/>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13 Jan 2026</a:t>
            </a:r>
          </a:p>
        </p:txBody>
      </p:sp>
      <p:sp>
        <p:nvSpPr>
          <p:cNvPr id="137" name="Rectangle 136"/>
          <p:cNvSpPr/>
          <p:nvPr/>
        </p:nvSpPr>
        <p:spPr>
          <a:xfrm>
            <a:off x="5916168" y="4290364"/>
            <a:ext cx="210312" cy="14630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5916168" y="4290364"/>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FI</a:t>
            </a:r>
          </a:p>
        </p:txBody>
      </p:sp>
      <p:sp>
        <p:nvSpPr>
          <p:cNvPr id="139" name="TextBox 138"/>
          <p:cNvSpPr txBox="1"/>
          <p:nvPr/>
        </p:nvSpPr>
        <p:spPr>
          <a:xfrm>
            <a:off x="6419088" y="4217212"/>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Executive</a:t>
            </a:r>
          </a:p>
        </p:txBody>
      </p:sp>
      <p:sp>
        <p:nvSpPr>
          <p:cNvPr id="140" name="TextBox 139"/>
          <p:cNvSpPr txBox="1"/>
          <p:nvPr/>
        </p:nvSpPr>
        <p:spPr>
          <a:xfrm>
            <a:off x="7379208" y="4217212"/>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BriaCell release, 13 Jan 2026</a:t>
            </a:r>
          </a:p>
        </p:txBody>
      </p:sp>
      <p:sp>
        <p:nvSpPr>
          <p:cNvPr id="141" name="TextBox 140"/>
          <p:cNvSpPr txBox="1"/>
          <p:nvPr/>
        </p:nvSpPr>
        <p:spPr>
          <a:xfrm>
            <a:off x="8659368" y="4217212"/>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Funds Phase 3 to interim readout</a:t>
            </a:r>
          </a:p>
        </p:txBody>
      </p:sp>
      <p:sp>
        <p:nvSpPr>
          <p:cNvPr id="142" name="TextBox 141"/>
          <p:cNvSpPr txBox="1"/>
          <p:nvPr/>
        </p:nvSpPr>
        <p:spPr>
          <a:xfrm>
            <a:off x="10259568" y="4217212"/>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Equity-funded pivotal model for small developers</a:t>
            </a:r>
          </a:p>
        </p:txBody>
      </p:sp>
      <p:cxnSp>
        <p:nvCxnSpPr>
          <p:cNvPr id="143" name="Connector 142"/>
          <p:cNvCxnSpPr/>
          <p:nvPr/>
        </p:nvCxnSpPr>
        <p:spPr>
          <a:xfrm>
            <a:off x="182880" y="4507992"/>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44" name="Rectangle 143"/>
          <p:cNvSpPr/>
          <p:nvPr/>
        </p:nvSpPr>
        <p:spPr>
          <a:xfrm>
            <a:off x="182880" y="4544568"/>
            <a:ext cx="45720" cy="217627"/>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256032" y="4507992"/>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Greenwich LifeSciences</a:t>
            </a:r>
          </a:p>
        </p:txBody>
      </p:sp>
      <p:sp>
        <p:nvSpPr>
          <p:cNvPr id="146" name="TextBox 145"/>
          <p:cNvSpPr txBox="1"/>
          <p:nvPr/>
        </p:nvSpPr>
        <p:spPr>
          <a:xfrm>
            <a:off x="1371600" y="4507992"/>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GLSI-100</a:t>
            </a:r>
          </a:p>
        </p:txBody>
      </p:sp>
      <p:sp>
        <p:nvSpPr>
          <p:cNvPr id="147" name="TextBox 146"/>
          <p:cNvSpPr txBox="1"/>
          <p:nvPr/>
        </p:nvSpPr>
        <p:spPr>
          <a:xfrm>
            <a:off x="2331720" y="4507992"/>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About 140 sites enrolling; DSMB (Dec 2025) recommends continuing unchanged; plan to combine HLA types</a:t>
            </a:r>
          </a:p>
        </p:txBody>
      </p:sp>
      <p:sp>
        <p:nvSpPr>
          <p:cNvPr id="148" name="TextBox 147"/>
          <p:cNvSpPr txBox="1"/>
          <p:nvPr/>
        </p:nvSpPr>
        <p:spPr>
          <a:xfrm>
            <a:off x="5257800" y="4507992"/>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22 Dec 2025</a:t>
            </a:r>
          </a:p>
        </p:txBody>
      </p:sp>
      <p:sp>
        <p:nvSpPr>
          <p:cNvPr id="149" name="Rectangle 148"/>
          <p:cNvSpPr/>
          <p:nvPr/>
        </p:nvSpPr>
        <p:spPr>
          <a:xfrm>
            <a:off x="5916168" y="4581144"/>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5916168" y="4581144"/>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151" name="TextBox 150"/>
          <p:cNvSpPr txBox="1"/>
          <p:nvPr/>
        </p:nvSpPr>
        <p:spPr>
          <a:xfrm>
            <a:off x="6419088" y="4507992"/>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152" name="TextBox 151"/>
          <p:cNvSpPr txBox="1"/>
          <p:nvPr/>
        </p:nvSpPr>
        <p:spPr>
          <a:xfrm>
            <a:off x="7379208" y="4507992"/>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Greenwich release, 22 Dec 2025</a:t>
            </a:r>
          </a:p>
        </p:txBody>
      </p:sp>
      <p:sp>
        <p:nvSpPr>
          <p:cNvPr id="153" name="TextBox 152"/>
          <p:cNvSpPr txBox="1"/>
          <p:nvPr/>
        </p:nvSpPr>
        <p:spPr>
          <a:xfrm>
            <a:off x="8659368" y="4507992"/>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Operational scale-up of the only direct Phase III</a:t>
            </a:r>
          </a:p>
        </p:txBody>
      </p:sp>
      <p:sp>
        <p:nvSpPr>
          <p:cNvPr id="154" name="TextBox 153"/>
          <p:cNvSpPr txBox="1"/>
          <p:nvPr/>
        </p:nvSpPr>
        <p:spPr>
          <a:xfrm>
            <a:off x="10259568" y="4507992"/>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Site competition for HER2+ adjuvant patients rises</a:t>
            </a:r>
          </a:p>
        </p:txBody>
      </p:sp>
      <p:cxnSp>
        <p:nvCxnSpPr>
          <p:cNvPr id="155" name="Connector 154"/>
          <p:cNvCxnSpPr/>
          <p:nvPr/>
        </p:nvCxnSpPr>
        <p:spPr>
          <a:xfrm>
            <a:off x="182880" y="4798771"/>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182880" y="4835347"/>
            <a:ext cx="45720" cy="217627"/>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256032" y="4798771"/>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Greenwich LifeSciences</a:t>
            </a:r>
          </a:p>
        </p:txBody>
      </p:sp>
      <p:sp>
        <p:nvSpPr>
          <p:cNvPr id="158" name="TextBox 157"/>
          <p:cNvSpPr txBox="1"/>
          <p:nvPr/>
        </p:nvSpPr>
        <p:spPr>
          <a:xfrm>
            <a:off x="1371600" y="4798771"/>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GLSI-100</a:t>
            </a:r>
          </a:p>
        </p:txBody>
      </p:sp>
      <p:sp>
        <p:nvSpPr>
          <p:cNvPr id="159" name="TextBox 158"/>
          <p:cNvSpPr txBox="1"/>
          <p:nvPr/>
        </p:nvSpPr>
        <p:spPr>
          <a:xfrm>
            <a:off x="2331720" y="4798771"/>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FDA Fast Track for HLA-A*02, HER2-positive breast cancer after standard HER2 therapy</a:t>
            </a:r>
          </a:p>
        </p:txBody>
      </p:sp>
      <p:sp>
        <p:nvSpPr>
          <p:cNvPr id="160" name="TextBox 159"/>
          <p:cNvSpPr txBox="1"/>
          <p:nvPr/>
        </p:nvSpPr>
        <p:spPr>
          <a:xfrm>
            <a:off x="5257800" y="4798771"/>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10 Sep 2025</a:t>
            </a:r>
          </a:p>
        </p:txBody>
      </p:sp>
      <p:sp>
        <p:nvSpPr>
          <p:cNvPr id="161" name="Rectangle 160"/>
          <p:cNvSpPr/>
          <p:nvPr/>
        </p:nvSpPr>
        <p:spPr>
          <a:xfrm>
            <a:off x="5916168" y="4871923"/>
            <a:ext cx="210312" cy="14630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5916168" y="4871923"/>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RG</a:t>
            </a:r>
          </a:p>
        </p:txBody>
      </p:sp>
      <p:sp>
        <p:nvSpPr>
          <p:cNvPr id="163" name="TextBox 162"/>
          <p:cNvSpPr txBox="1"/>
          <p:nvPr/>
        </p:nvSpPr>
        <p:spPr>
          <a:xfrm>
            <a:off x="6419088" y="4798771"/>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Regulatory</a:t>
            </a:r>
          </a:p>
        </p:txBody>
      </p:sp>
      <p:sp>
        <p:nvSpPr>
          <p:cNvPr id="164" name="TextBox 163"/>
          <p:cNvSpPr txBox="1"/>
          <p:nvPr/>
        </p:nvSpPr>
        <p:spPr>
          <a:xfrm>
            <a:off x="7379208" y="4798771"/>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Greenwich release citing FDA letter</a:t>
            </a:r>
          </a:p>
        </p:txBody>
      </p:sp>
      <p:sp>
        <p:nvSpPr>
          <p:cNvPr id="165" name="TextBox 164"/>
          <p:cNvSpPr txBox="1"/>
          <p:nvPr/>
        </p:nvSpPr>
        <p:spPr>
          <a:xfrm>
            <a:off x="8659368" y="4798771"/>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First HER2 vaccine regulatory designation in the set</a:t>
            </a:r>
          </a:p>
        </p:txBody>
      </p:sp>
      <p:sp>
        <p:nvSpPr>
          <p:cNvPr id="166" name="TextBox 165"/>
          <p:cNvSpPr txBox="1"/>
          <p:nvPr/>
        </p:nvSpPr>
        <p:spPr>
          <a:xfrm>
            <a:off x="10259568" y="4798771"/>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Enables rolling review and more FDA interaction</a:t>
            </a:r>
          </a:p>
        </p:txBody>
      </p:sp>
      <p:cxnSp>
        <p:nvCxnSpPr>
          <p:cNvPr id="167" name="Connector 166"/>
          <p:cNvCxnSpPr/>
          <p:nvPr/>
        </p:nvCxnSpPr>
        <p:spPr>
          <a:xfrm>
            <a:off x="182880" y="5089550"/>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68" name="Rectangle 167"/>
          <p:cNvSpPr/>
          <p:nvPr/>
        </p:nvSpPr>
        <p:spPr>
          <a:xfrm>
            <a:off x="182880" y="5126126"/>
            <a:ext cx="45720" cy="21762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256032" y="5089550"/>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ExpreS2ion</a:t>
            </a:r>
          </a:p>
        </p:txBody>
      </p:sp>
      <p:sp>
        <p:nvSpPr>
          <p:cNvPr id="170" name="TextBox 169"/>
          <p:cNvSpPr txBox="1"/>
          <p:nvPr/>
        </p:nvSpPr>
        <p:spPr>
          <a:xfrm>
            <a:off x="1371600" y="5089550"/>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ES2B-C001</a:t>
            </a:r>
          </a:p>
        </p:txBody>
      </p:sp>
      <p:sp>
        <p:nvSpPr>
          <p:cNvPr id="171" name="TextBox 170"/>
          <p:cNvSpPr txBox="1"/>
          <p:nvPr/>
        </p:nvSpPr>
        <p:spPr>
          <a:xfrm>
            <a:off x="2331720" y="5089550"/>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First patient dosed in Phase I at Medical University of Vienna; amendment filed to allow concurrent HER2 ADC</a:t>
            </a:r>
          </a:p>
        </p:txBody>
      </p:sp>
      <p:sp>
        <p:nvSpPr>
          <p:cNvPr id="172" name="TextBox 171"/>
          <p:cNvSpPr txBox="1"/>
          <p:nvPr/>
        </p:nvSpPr>
        <p:spPr>
          <a:xfrm>
            <a:off x="5257800" y="5089550"/>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23 Jun 2025</a:t>
            </a:r>
          </a:p>
        </p:txBody>
      </p:sp>
      <p:sp>
        <p:nvSpPr>
          <p:cNvPr id="173" name="Rectangle 172"/>
          <p:cNvSpPr/>
          <p:nvPr/>
        </p:nvSpPr>
        <p:spPr>
          <a:xfrm>
            <a:off x="5916168" y="5162702"/>
            <a:ext cx="210312"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TextBox 173"/>
          <p:cNvSpPr txBox="1"/>
          <p:nvPr/>
        </p:nvSpPr>
        <p:spPr>
          <a:xfrm>
            <a:off x="5916168" y="5162702"/>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175" name="TextBox 174"/>
          <p:cNvSpPr txBox="1"/>
          <p:nvPr/>
        </p:nvSpPr>
        <p:spPr>
          <a:xfrm>
            <a:off x="6419088" y="5089550"/>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Clinical Development</a:t>
            </a:r>
          </a:p>
        </p:txBody>
      </p:sp>
      <p:sp>
        <p:nvSpPr>
          <p:cNvPr id="176" name="TextBox 175"/>
          <p:cNvSpPr txBox="1"/>
          <p:nvPr/>
        </p:nvSpPr>
        <p:spPr>
          <a:xfrm>
            <a:off x="7379208" y="5089550"/>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ExpreS2ion release, 23 Jun 2025</a:t>
            </a:r>
          </a:p>
        </p:txBody>
      </p:sp>
      <p:sp>
        <p:nvSpPr>
          <p:cNvPr id="177" name="TextBox 176"/>
          <p:cNvSpPr txBox="1"/>
          <p:nvPr/>
        </p:nvSpPr>
        <p:spPr>
          <a:xfrm>
            <a:off x="8659368" y="5089550"/>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First clinical HER2 VLP vaccine</a:t>
            </a:r>
          </a:p>
        </p:txBody>
      </p:sp>
      <p:sp>
        <p:nvSpPr>
          <p:cNvPr id="178" name="TextBox 177"/>
          <p:cNvSpPr txBox="1"/>
          <p:nvPr/>
        </p:nvSpPr>
        <p:spPr>
          <a:xfrm>
            <a:off x="10259568" y="5089550"/>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Positions VLP as an ADC combination partner</a:t>
            </a:r>
          </a:p>
        </p:txBody>
      </p:sp>
      <p:cxnSp>
        <p:nvCxnSpPr>
          <p:cNvPr id="179" name="Connector 178"/>
          <p:cNvCxnSpPr/>
          <p:nvPr/>
        </p:nvCxnSpPr>
        <p:spPr>
          <a:xfrm>
            <a:off x="182880" y="5380329"/>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80" name="Rectangle 179"/>
          <p:cNvSpPr/>
          <p:nvPr/>
        </p:nvSpPr>
        <p:spPr>
          <a:xfrm>
            <a:off x="182880" y="5416905"/>
            <a:ext cx="45720" cy="217627"/>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256032" y="5380329"/>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ExpreS2ion</a:t>
            </a:r>
          </a:p>
        </p:txBody>
      </p:sp>
      <p:sp>
        <p:nvSpPr>
          <p:cNvPr id="182" name="TextBox 181"/>
          <p:cNvSpPr txBox="1"/>
          <p:nvPr/>
        </p:nvSpPr>
        <p:spPr>
          <a:xfrm>
            <a:off x="1371600" y="5380329"/>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ES2B-C001</a:t>
            </a:r>
          </a:p>
        </p:txBody>
      </p:sp>
      <p:sp>
        <p:nvSpPr>
          <p:cNvPr id="183" name="TextBox 182"/>
          <p:cNvSpPr txBox="1"/>
          <p:nvPr/>
        </p:nvSpPr>
        <p:spPr>
          <a:xfrm>
            <a:off x="2331720" y="5380329"/>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Austrian regulator approved the Phase I clinical trial application</a:t>
            </a:r>
          </a:p>
        </p:txBody>
      </p:sp>
      <p:sp>
        <p:nvSpPr>
          <p:cNvPr id="184" name="TextBox 183"/>
          <p:cNvSpPr txBox="1"/>
          <p:nvPr/>
        </p:nvSpPr>
        <p:spPr>
          <a:xfrm>
            <a:off x="5257800" y="5380329"/>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2 Dec 2024</a:t>
            </a:r>
          </a:p>
        </p:txBody>
      </p:sp>
      <p:sp>
        <p:nvSpPr>
          <p:cNvPr id="185" name="Rectangle 184"/>
          <p:cNvSpPr/>
          <p:nvPr/>
        </p:nvSpPr>
        <p:spPr>
          <a:xfrm>
            <a:off x="5916168" y="5453481"/>
            <a:ext cx="210312" cy="14630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5916168" y="5453481"/>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RG</a:t>
            </a:r>
          </a:p>
        </p:txBody>
      </p:sp>
      <p:sp>
        <p:nvSpPr>
          <p:cNvPr id="187" name="TextBox 186"/>
          <p:cNvSpPr txBox="1"/>
          <p:nvPr/>
        </p:nvSpPr>
        <p:spPr>
          <a:xfrm>
            <a:off x="6419088" y="5380329"/>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Regulatory</a:t>
            </a:r>
          </a:p>
        </p:txBody>
      </p:sp>
      <p:sp>
        <p:nvSpPr>
          <p:cNvPr id="188" name="TextBox 187"/>
          <p:cNvSpPr txBox="1"/>
          <p:nvPr/>
        </p:nvSpPr>
        <p:spPr>
          <a:xfrm>
            <a:off x="7379208" y="5380329"/>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Company release</a:t>
            </a:r>
          </a:p>
          <a:p>
            <a:pPr algn="l"/>
            <a:r>
              <a:rPr sz="650" b="0" i="0">
                <a:solidFill>
                  <a:srgbClr val="404040"/>
                </a:solidFill>
                <a:latin typeface="Calibri"/>
              </a:rPr>
              <a:t>ExpreS2ion release, 2 Dec 2024</a:t>
            </a:r>
          </a:p>
        </p:txBody>
      </p:sp>
      <p:sp>
        <p:nvSpPr>
          <p:cNvPr id="189" name="TextBox 188"/>
          <p:cNvSpPr txBox="1"/>
          <p:nvPr/>
        </p:nvSpPr>
        <p:spPr>
          <a:xfrm>
            <a:off x="8659368" y="5380329"/>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Entry into clinic</a:t>
            </a:r>
          </a:p>
        </p:txBody>
      </p:sp>
      <p:sp>
        <p:nvSpPr>
          <p:cNvPr id="190" name="TextBox 189"/>
          <p:cNvSpPr txBox="1"/>
          <p:nvPr/>
        </p:nvSpPr>
        <p:spPr>
          <a:xfrm>
            <a:off x="10259568" y="5380329"/>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Europe-first development path</a:t>
            </a:r>
          </a:p>
        </p:txBody>
      </p:sp>
      <p:cxnSp>
        <p:nvCxnSpPr>
          <p:cNvPr id="191" name="Connector 190"/>
          <p:cNvCxnSpPr/>
          <p:nvPr/>
        </p:nvCxnSpPr>
        <p:spPr>
          <a:xfrm>
            <a:off x="182880" y="5671108"/>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92" name="Rectangle 191"/>
          <p:cNvSpPr/>
          <p:nvPr/>
        </p:nvSpPr>
        <p:spPr>
          <a:xfrm>
            <a:off x="182880" y="5707684"/>
            <a:ext cx="45720" cy="217627"/>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TextBox 192"/>
          <p:cNvSpPr txBox="1"/>
          <p:nvPr/>
        </p:nvSpPr>
        <p:spPr>
          <a:xfrm>
            <a:off x="256032" y="5671108"/>
            <a:ext cx="1097280" cy="290779"/>
          </a:xfrm>
          <a:prstGeom prst="rect">
            <a:avLst/>
          </a:prstGeom>
          <a:noFill/>
        </p:spPr>
        <p:txBody>
          <a:bodyPr wrap="square" lIns="27432" tIns="9144" rIns="27432" bIns="9144" anchor="ctr">
            <a:spAutoFit/>
          </a:bodyPr>
          <a:lstStyle/>
          <a:p>
            <a:pPr algn="l"/>
            <a:r>
              <a:rPr sz="720" b="1" i="0">
                <a:solidFill>
                  <a:srgbClr val="262626"/>
                </a:solidFill>
                <a:latin typeface="Calibri"/>
              </a:rPr>
              <a:t>Aston Sci.</a:t>
            </a:r>
          </a:p>
        </p:txBody>
      </p:sp>
      <p:sp>
        <p:nvSpPr>
          <p:cNvPr id="194" name="TextBox 193"/>
          <p:cNvSpPr txBox="1"/>
          <p:nvPr/>
        </p:nvSpPr>
        <p:spPr>
          <a:xfrm>
            <a:off x="1371600" y="5671108"/>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AST-301</a:t>
            </a:r>
          </a:p>
        </p:txBody>
      </p:sp>
      <p:sp>
        <p:nvSpPr>
          <p:cNvPr id="195" name="TextBox 194"/>
          <p:cNvSpPr txBox="1"/>
          <p:nvPr/>
        </p:nvSpPr>
        <p:spPr>
          <a:xfrm>
            <a:off x="2331720" y="5671108"/>
            <a:ext cx="2880360" cy="290779"/>
          </a:xfrm>
          <a:prstGeom prst="rect">
            <a:avLst/>
          </a:prstGeom>
          <a:noFill/>
        </p:spPr>
        <p:txBody>
          <a:bodyPr wrap="square" lIns="27432" tIns="9144" rIns="27432" bIns="9144" anchor="ctr">
            <a:spAutoFit/>
          </a:bodyPr>
          <a:lstStyle/>
          <a:p>
            <a:pPr algn="l"/>
            <a:r>
              <a:rPr sz="700" b="0" i="0">
                <a:solidFill>
                  <a:srgbClr val="262626"/>
                </a:solidFill>
                <a:latin typeface="Calibri"/>
              </a:rPr>
              <a:t>AACR 2024 preclinical data: AST-301 enhanced HER2 ADC anti-tumour effect in a HER2-expressing gastric model</a:t>
            </a:r>
          </a:p>
        </p:txBody>
      </p:sp>
      <p:sp>
        <p:nvSpPr>
          <p:cNvPr id="196" name="TextBox 195"/>
          <p:cNvSpPr txBox="1"/>
          <p:nvPr/>
        </p:nvSpPr>
        <p:spPr>
          <a:xfrm>
            <a:off x="5257800" y="5671108"/>
            <a:ext cx="612647" cy="290779"/>
          </a:xfrm>
          <a:prstGeom prst="rect">
            <a:avLst/>
          </a:prstGeom>
          <a:noFill/>
        </p:spPr>
        <p:txBody>
          <a:bodyPr wrap="square" lIns="27432" tIns="9144" rIns="27432" bIns="9144" anchor="ctr">
            <a:spAutoFit/>
          </a:bodyPr>
          <a:lstStyle/>
          <a:p>
            <a:pPr algn="l"/>
            <a:r>
              <a:rPr sz="700" b="1" i="0">
                <a:solidFill>
                  <a:srgbClr val="404040"/>
                </a:solidFill>
                <a:latin typeface="Calibri"/>
              </a:rPr>
              <a:t>Apr 2024</a:t>
            </a:r>
          </a:p>
        </p:txBody>
      </p:sp>
      <p:sp>
        <p:nvSpPr>
          <p:cNvPr id="197" name="Rectangle 196"/>
          <p:cNvSpPr/>
          <p:nvPr/>
        </p:nvSpPr>
        <p:spPr>
          <a:xfrm>
            <a:off x="5916168" y="5744260"/>
            <a:ext cx="210312"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5916168" y="5744260"/>
            <a:ext cx="210312"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199" name="TextBox 198"/>
          <p:cNvSpPr txBox="1"/>
          <p:nvPr/>
        </p:nvSpPr>
        <p:spPr>
          <a:xfrm>
            <a:off x="6419088" y="5671108"/>
            <a:ext cx="914400" cy="290779"/>
          </a:xfrm>
          <a:prstGeom prst="rect">
            <a:avLst/>
          </a:prstGeom>
          <a:noFill/>
        </p:spPr>
        <p:txBody>
          <a:bodyPr wrap="square" lIns="27432" tIns="9144" rIns="27432" bIns="9144" anchor="ctr">
            <a:spAutoFit/>
          </a:bodyPr>
          <a:lstStyle/>
          <a:p>
            <a:pPr algn="l"/>
            <a:r>
              <a:rPr sz="700" b="0" i="0">
                <a:solidFill>
                  <a:srgbClr val="404040"/>
                </a:solidFill>
                <a:latin typeface="Calibri"/>
              </a:rPr>
              <a:t>R&amp;D</a:t>
            </a:r>
          </a:p>
        </p:txBody>
      </p:sp>
      <p:sp>
        <p:nvSpPr>
          <p:cNvPr id="200" name="TextBox 199"/>
          <p:cNvSpPr txBox="1"/>
          <p:nvPr/>
        </p:nvSpPr>
        <p:spPr>
          <a:xfrm>
            <a:off x="7379208" y="5671108"/>
            <a:ext cx="1234439" cy="290779"/>
          </a:xfrm>
          <a:prstGeom prst="rect">
            <a:avLst/>
          </a:prstGeom>
          <a:noFill/>
        </p:spPr>
        <p:txBody>
          <a:bodyPr wrap="square" lIns="27432" tIns="9144" rIns="27432" bIns="9144" anchor="ctr">
            <a:spAutoFit/>
          </a:bodyPr>
          <a:lstStyle/>
          <a:p>
            <a:pPr algn="l"/>
            <a:r>
              <a:rPr sz="680" b="1" i="0">
                <a:solidFill>
                  <a:srgbClr val="0E3A66"/>
                </a:solidFill>
                <a:latin typeface="Calibri"/>
              </a:rPr>
              <a:t>Conference abstract</a:t>
            </a:r>
          </a:p>
          <a:p>
            <a:pPr algn="l"/>
            <a:r>
              <a:rPr sz="650" b="0" i="0">
                <a:solidFill>
                  <a:srgbClr val="404040"/>
                </a:solidFill>
                <a:latin typeface="Calibri"/>
              </a:rPr>
              <a:t>AACR 2024 abstract 4113</a:t>
            </a:r>
          </a:p>
        </p:txBody>
      </p:sp>
      <p:sp>
        <p:nvSpPr>
          <p:cNvPr id="201" name="TextBox 200"/>
          <p:cNvSpPr txBox="1"/>
          <p:nvPr/>
        </p:nvSpPr>
        <p:spPr>
          <a:xfrm>
            <a:off x="8659368" y="5671108"/>
            <a:ext cx="1554480" cy="290779"/>
          </a:xfrm>
          <a:prstGeom prst="rect">
            <a:avLst/>
          </a:prstGeom>
          <a:noFill/>
        </p:spPr>
        <p:txBody>
          <a:bodyPr wrap="square" lIns="27432" tIns="9144" rIns="27432" bIns="9144" anchor="ctr">
            <a:spAutoFit/>
          </a:bodyPr>
          <a:lstStyle/>
          <a:p>
            <a:pPr algn="l"/>
            <a:r>
              <a:rPr sz="700" b="0" i="0">
                <a:solidFill>
                  <a:srgbClr val="404040"/>
                </a:solidFill>
                <a:latin typeface="Calibri"/>
              </a:rPr>
              <a:t>Combination rationale with ADCs</a:t>
            </a:r>
          </a:p>
        </p:txBody>
      </p:sp>
      <p:sp>
        <p:nvSpPr>
          <p:cNvPr id="202" name="TextBox 201"/>
          <p:cNvSpPr txBox="1"/>
          <p:nvPr/>
        </p:nvSpPr>
        <p:spPr>
          <a:xfrm>
            <a:off x="10259568" y="5671108"/>
            <a:ext cx="1728216" cy="290779"/>
          </a:xfrm>
          <a:prstGeom prst="rect">
            <a:avLst/>
          </a:prstGeom>
          <a:noFill/>
        </p:spPr>
        <p:txBody>
          <a:bodyPr wrap="square" lIns="27432" tIns="9144" rIns="27432" bIns="9144" anchor="ctr">
            <a:spAutoFit/>
          </a:bodyPr>
          <a:lstStyle/>
          <a:p>
            <a:pPr algn="l"/>
            <a:r>
              <a:rPr sz="700" b="0" i="0">
                <a:solidFill>
                  <a:srgbClr val="404040"/>
                </a:solidFill>
                <a:latin typeface="Calibri"/>
              </a:rPr>
              <a:t>Supports licensing pitch to ADC owners</a:t>
            </a:r>
          </a:p>
        </p:txBody>
      </p:sp>
      <p:cxnSp>
        <p:nvCxnSpPr>
          <p:cNvPr id="203" name="Connector 202"/>
          <p:cNvCxnSpPr/>
          <p:nvPr/>
        </p:nvCxnSpPr>
        <p:spPr>
          <a:xfrm>
            <a:off x="182880" y="5961887"/>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204" name="Rectangle 203"/>
          <p:cNvSpPr/>
          <p:nvPr/>
        </p:nvSpPr>
        <p:spPr>
          <a:xfrm>
            <a:off x="182880" y="6035039"/>
            <a:ext cx="228600" cy="14630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TextBox 204"/>
          <p:cNvSpPr txBox="1"/>
          <p:nvPr/>
        </p:nvSpPr>
        <p:spPr>
          <a:xfrm>
            <a:off x="182880"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CT</a:t>
            </a:r>
          </a:p>
        </p:txBody>
      </p:sp>
      <p:sp>
        <p:nvSpPr>
          <p:cNvPr id="206" name="TextBox 205"/>
          <p:cNvSpPr txBox="1"/>
          <p:nvPr/>
        </p:nvSpPr>
        <p:spPr>
          <a:xfrm>
            <a:off x="438912"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Clinical trial</a:t>
            </a:r>
          </a:p>
        </p:txBody>
      </p:sp>
      <p:sp>
        <p:nvSpPr>
          <p:cNvPr id="207" name="Rectangle 206"/>
          <p:cNvSpPr/>
          <p:nvPr/>
        </p:nvSpPr>
        <p:spPr>
          <a:xfrm>
            <a:off x="1344168" y="6035039"/>
            <a:ext cx="228600" cy="14630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1344168"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RD</a:t>
            </a:r>
          </a:p>
        </p:txBody>
      </p:sp>
      <p:sp>
        <p:nvSpPr>
          <p:cNvPr id="209" name="TextBox 208"/>
          <p:cNvSpPr txBox="1"/>
          <p:nvPr/>
        </p:nvSpPr>
        <p:spPr>
          <a:xfrm>
            <a:off x="1600200"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Readout</a:t>
            </a:r>
          </a:p>
        </p:txBody>
      </p:sp>
      <p:sp>
        <p:nvSpPr>
          <p:cNvPr id="210" name="Rectangle 209"/>
          <p:cNvSpPr/>
          <p:nvPr/>
        </p:nvSpPr>
        <p:spPr>
          <a:xfrm>
            <a:off x="2153412" y="6035039"/>
            <a:ext cx="228600" cy="146304"/>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2153412"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PR</a:t>
            </a:r>
          </a:p>
        </p:txBody>
      </p:sp>
      <p:sp>
        <p:nvSpPr>
          <p:cNvPr id="212" name="TextBox 211"/>
          <p:cNvSpPr txBox="1"/>
          <p:nvPr/>
        </p:nvSpPr>
        <p:spPr>
          <a:xfrm>
            <a:off x="2409444"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Product or pipeline update</a:t>
            </a:r>
          </a:p>
        </p:txBody>
      </p:sp>
      <p:sp>
        <p:nvSpPr>
          <p:cNvPr id="213" name="Rectangle 212"/>
          <p:cNvSpPr/>
          <p:nvPr/>
        </p:nvSpPr>
        <p:spPr>
          <a:xfrm>
            <a:off x="3918204" y="6035039"/>
            <a:ext cx="228600" cy="146304"/>
          </a:xfrm>
          <a:prstGeom prst="rect">
            <a:avLst/>
          </a:prstGeom>
          <a:solidFill>
            <a:srgbClr val="3C8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3918204"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PT</a:t>
            </a:r>
          </a:p>
        </p:txBody>
      </p:sp>
      <p:sp>
        <p:nvSpPr>
          <p:cNvPr id="215" name="TextBox 214"/>
          <p:cNvSpPr txBox="1"/>
          <p:nvPr/>
        </p:nvSpPr>
        <p:spPr>
          <a:xfrm>
            <a:off x="4174236"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Partnership</a:t>
            </a:r>
          </a:p>
        </p:txBody>
      </p:sp>
      <p:sp>
        <p:nvSpPr>
          <p:cNvPr id="216" name="Rectangle 215"/>
          <p:cNvSpPr/>
          <p:nvPr/>
        </p:nvSpPr>
        <p:spPr>
          <a:xfrm>
            <a:off x="4928616" y="6035039"/>
            <a:ext cx="228600" cy="146304"/>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TextBox 216"/>
          <p:cNvSpPr txBox="1"/>
          <p:nvPr/>
        </p:nvSpPr>
        <p:spPr>
          <a:xfrm>
            <a:off x="4928616"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RG</a:t>
            </a:r>
          </a:p>
        </p:txBody>
      </p:sp>
      <p:sp>
        <p:nvSpPr>
          <p:cNvPr id="218" name="TextBox 217"/>
          <p:cNvSpPr txBox="1"/>
          <p:nvPr/>
        </p:nvSpPr>
        <p:spPr>
          <a:xfrm>
            <a:off x="5184648"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Regulatory</a:t>
            </a:r>
          </a:p>
        </p:txBody>
      </p:sp>
      <p:sp>
        <p:nvSpPr>
          <p:cNvPr id="219" name="Rectangle 218"/>
          <p:cNvSpPr/>
          <p:nvPr/>
        </p:nvSpPr>
        <p:spPr>
          <a:xfrm>
            <a:off x="5888736" y="6035039"/>
            <a:ext cx="228600" cy="14630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5888736"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FI</a:t>
            </a:r>
          </a:p>
        </p:txBody>
      </p:sp>
      <p:sp>
        <p:nvSpPr>
          <p:cNvPr id="221" name="TextBox 220"/>
          <p:cNvSpPr txBox="1"/>
          <p:nvPr/>
        </p:nvSpPr>
        <p:spPr>
          <a:xfrm>
            <a:off x="6144768"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Financing</a:t>
            </a:r>
          </a:p>
        </p:txBody>
      </p:sp>
      <p:sp>
        <p:nvSpPr>
          <p:cNvPr id="222" name="Rectangle 221"/>
          <p:cNvSpPr/>
          <p:nvPr/>
        </p:nvSpPr>
        <p:spPr>
          <a:xfrm>
            <a:off x="6798564" y="6035039"/>
            <a:ext cx="228600" cy="14630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TextBox 222"/>
          <p:cNvSpPr txBox="1"/>
          <p:nvPr/>
        </p:nvSpPr>
        <p:spPr>
          <a:xfrm>
            <a:off x="6798564"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IP</a:t>
            </a:r>
          </a:p>
        </p:txBody>
      </p:sp>
      <p:sp>
        <p:nvSpPr>
          <p:cNvPr id="224" name="TextBox 223"/>
          <p:cNvSpPr txBox="1"/>
          <p:nvPr/>
        </p:nvSpPr>
        <p:spPr>
          <a:xfrm>
            <a:off x="7054596"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IP or licensing</a:t>
            </a:r>
          </a:p>
        </p:txBody>
      </p:sp>
      <p:sp>
        <p:nvSpPr>
          <p:cNvPr id="225" name="Rectangle 224"/>
          <p:cNvSpPr/>
          <p:nvPr/>
        </p:nvSpPr>
        <p:spPr>
          <a:xfrm>
            <a:off x="8010144" y="6035039"/>
            <a:ext cx="228600" cy="146304"/>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8010144"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MA</a:t>
            </a:r>
          </a:p>
        </p:txBody>
      </p:sp>
      <p:sp>
        <p:nvSpPr>
          <p:cNvPr id="227" name="TextBox 226"/>
          <p:cNvSpPr txBox="1"/>
          <p:nvPr/>
        </p:nvSpPr>
        <p:spPr>
          <a:xfrm>
            <a:off x="8266175"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M&amp;A</a:t>
            </a:r>
          </a:p>
        </p:txBody>
      </p:sp>
      <p:sp>
        <p:nvSpPr>
          <p:cNvPr id="228" name="Rectangle 227"/>
          <p:cNvSpPr/>
          <p:nvPr/>
        </p:nvSpPr>
        <p:spPr>
          <a:xfrm>
            <a:off x="8618220" y="6035039"/>
            <a:ext cx="228600" cy="146304"/>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TextBox 228"/>
          <p:cNvSpPr txBox="1"/>
          <p:nvPr/>
        </p:nvSpPr>
        <p:spPr>
          <a:xfrm>
            <a:off x="8618220" y="6035039"/>
            <a:ext cx="228600" cy="146304"/>
          </a:xfrm>
          <a:prstGeom prst="rect">
            <a:avLst/>
          </a:prstGeom>
          <a:noFill/>
        </p:spPr>
        <p:txBody>
          <a:bodyPr wrap="square" lIns="0" tIns="9144" rIns="0" bIns="9144" anchor="ctr">
            <a:spAutoFit/>
          </a:bodyPr>
          <a:lstStyle/>
          <a:p>
            <a:pPr algn="ctr"/>
            <a:r>
              <a:rPr sz="600" b="1" i="0">
                <a:solidFill>
                  <a:srgbClr val="FFFFFF"/>
                </a:solidFill>
                <a:latin typeface="Calibri"/>
              </a:rPr>
              <a:t>MN</a:t>
            </a:r>
          </a:p>
        </p:txBody>
      </p:sp>
      <p:sp>
        <p:nvSpPr>
          <p:cNvPr id="230" name="TextBox 229"/>
          <p:cNvSpPr txBox="1"/>
          <p:nvPr/>
        </p:nvSpPr>
        <p:spPr>
          <a:xfrm>
            <a:off x="8874252" y="6025895"/>
            <a:ext cx="1188720" cy="164592"/>
          </a:xfrm>
          <a:prstGeom prst="rect">
            <a:avLst/>
          </a:prstGeom>
          <a:noFill/>
        </p:spPr>
        <p:txBody>
          <a:bodyPr wrap="square" lIns="27432" tIns="9144" rIns="27432" bIns="9144" anchor="t">
            <a:spAutoFit/>
          </a:bodyPr>
          <a:lstStyle/>
          <a:p>
            <a:pPr algn="l"/>
            <a:r>
              <a:rPr sz="700" b="0" i="0">
                <a:solidFill>
                  <a:srgbClr val="404040"/>
                </a:solidFill>
                <a:latin typeface="Calibri"/>
              </a:rPr>
              <a:t>Manufacturing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Where activity is concentrated: trial, readout and regulatory events dominate, mostly from clinical development teams via company releases; no partnering, licensing or manufacturing events</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11</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Cross-section of the fifteen developments on the previous slide by development type, organizational function and evidence source, with implications for each function</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182880" y="1371600"/>
            <a:ext cx="3840480" cy="182880"/>
          </a:xfrm>
          <a:prstGeom prst="rect">
            <a:avLst/>
          </a:prstGeom>
          <a:noFill/>
        </p:spPr>
        <p:txBody>
          <a:bodyPr wrap="square" lIns="27432" tIns="9144" rIns="27432" bIns="9144" anchor="t">
            <a:spAutoFit/>
          </a:bodyPr>
          <a:lstStyle/>
          <a:p>
            <a:pPr algn="l"/>
            <a:r>
              <a:rPr sz="900" b="1" i="0">
                <a:solidFill>
                  <a:srgbClr val="0E3A66"/>
                </a:solidFill>
                <a:latin typeface="Calibri"/>
              </a:rPr>
              <a:t>Developments by type (count)</a:t>
            </a:r>
          </a:p>
        </p:txBody>
      </p:sp>
      <p:sp>
        <p:nvSpPr>
          <p:cNvPr id="7" name="TextBox 6"/>
          <p:cNvSpPr txBox="1"/>
          <p:nvPr/>
        </p:nvSpPr>
        <p:spPr>
          <a:xfrm>
            <a:off x="137160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CT</a:t>
            </a:r>
          </a:p>
        </p:txBody>
      </p:sp>
      <p:sp>
        <p:nvSpPr>
          <p:cNvPr id="8" name="TextBox 7"/>
          <p:cNvSpPr txBox="1"/>
          <p:nvPr/>
        </p:nvSpPr>
        <p:spPr>
          <a:xfrm>
            <a:off x="173736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RD</a:t>
            </a:r>
          </a:p>
        </p:txBody>
      </p:sp>
      <p:sp>
        <p:nvSpPr>
          <p:cNvPr id="9" name="TextBox 8"/>
          <p:cNvSpPr txBox="1"/>
          <p:nvPr/>
        </p:nvSpPr>
        <p:spPr>
          <a:xfrm>
            <a:off x="210312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PT</a:t>
            </a:r>
          </a:p>
        </p:txBody>
      </p:sp>
      <p:sp>
        <p:nvSpPr>
          <p:cNvPr id="10" name="TextBox 9"/>
          <p:cNvSpPr txBox="1"/>
          <p:nvPr/>
        </p:nvSpPr>
        <p:spPr>
          <a:xfrm>
            <a:off x="246888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FI</a:t>
            </a:r>
          </a:p>
        </p:txBody>
      </p:sp>
      <p:sp>
        <p:nvSpPr>
          <p:cNvPr id="11" name="TextBox 10"/>
          <p:cNvSpPr txBox="1"/>
          <p:nvPr/>
        </p:nvSpPr>
        <p:spPr>
          <a:xfrm>
            <a:off x="283464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RG</a:t>
            </a:r>
          </a:p>
        </p:txBody>
      </p:sp>
      <p:sp>
        <p:nvSpPr>
          <p:cNvPr id="12" name="TextBox 11"/>
          <p:cNvSpPr txBox="1"/>
          <p:nvPr/>
        </p:nvSpPr>
        <p:spPr>
          <a:xfrm>
            <a:off x="320040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MN</a:t>
            </a:r>
          </a:p>
        </p:txBody>
      </p:sp>
      <p:sp>
        <p:nvSpPr>
          <p:cNvPr id="13" name="TextBox 12"/>
          <p:cNvSpPr txBox="1"/>
          <p:nvPr/>
        </p:nvSpPr>
        <p:spPr>
          <a:xfrm>
            <a:off x="3566160" y="1572768"/>
            <a:ext cx="365760" cy="274320"/>
          </a:xfrm>
          <a:prstGeom prst="rect">
            <a:avLst/>
          </a:prstGeom>
          <a:noFill/>
        </p:spPr>
        <p:txBody>
          <a:bodyPr wrap="square" lIns="27432" tIns="9144" rIns="27432" bIns="9144" anchor="b">
            <a:spAutoFit/>
          </a:bodyPr>
          <a:lstStyle/>
          <a:p>
            <a:pPr algn="ctr"/>
            <a:r>
              <a:rPr sz="680" b="1" i="0">
                <a:solidFill>
                  <a:srgbClr val="404040"/>
                </a:solidFill>
                <a:latin typeface="Calibri"/>
              </a:rPr>
              <a:t>IP</a:t>
            </a:r>
          </a:p>
        </p:txBody>
      </p:sp>
      <p:sp>
        <p:nvSpPr>
          <p:cNvPr id="14" name="Rectangle 13"/>
          <p:cNvSpPr/>
          <p:nvPr/>
        </p:nvSpPr>
        <p:spPr>
          <a:xfrm>
            <a:off x="182880" y="1920239"/>
            <a:ext cx="45720"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6032" y="187451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Greenwich LifeSciences</a:t>
            </a:r>
          </a:p>
        </p:txBody>
      </p:sp>
      <p:sp>
        <p:nvSpPr>
          <p:cNvPr id="16" name="Rectangle 15"/>
          <p:cNvSpPr/>
          <p:nvPr/>
        </p:nvSpPr>
        <p:spPr>
          <a:xfrm>
            <a:off x="1389888" y="1901951"/>
            <a:ext cx="329184"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1901951"/>
            <a:ext cx="365760" cy="256032"/>
          </a:xfrm>
          <a:prstGeom prst="rect">
            <a:avLst/>
          </a:prstGeom>
          <a:noFill/>
        </p:spPr>
        <p:txBody>
          <a:bodyPr wrap="square" lIns="27432" tIns="9144" rIns="27432" bIns="9144" anchor="ctr">
            <a:spAutoFit/>
          </a:bodyPr>
          <a:lstStyle/>
          <a:p>
            <a:pPr algn="ctr"/>
            <a:r>
              <a:rPr sz="800" b="1" i="0">
                <a:solidFill>
                  <a:srgbClr val="FFFFFF"/>
                </a:solidFill>
                <a:latin typeface="Calibri"/>
              </a:rPr>
              <a:t>3</a:t>
            </a:r>
          </a:p>
        </p:txBody>
      </p:sp>
      <p:sp>
        <p:nvSpPr>
          <p:cNvPr id="18" name="Rectangle 17"/>
          <p:cNvSpPr/>
          <p:nvPr/>
        </p:nvSpPr>
        <p:spPr>
          <a:xfrm>
            <a:off x="1755648" y="1901951"/>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37360" y="1901951"/>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20" name="Rectangle 19"/>
          <p:cNvSpPr/>
          <p:nvPr/>
        </p:nvSpPr>
        <p:spPr>
          <a:xfrm>
            <a:off x="2121408" y="190195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487168" y="190195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852928" y="1901951"/>
            <a:ext cx="329184"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834640" y="1901951"/>
            <a:ext cx="365760" cy="256032"/>
          </a:xfrm>
          <a:prstGeom prst="rect">
            <a:avLst/>
          </a:prstGeom>
          <a:noFill/>
        </p:spPr>
        <p:txBody>
          <a:bodyPr wrap="square" lIns="27432" tIns="9144" rIns="27432" bIns="9144" anchor="ctr">
            <a:spAutoFit/>
          </a:bodyPr>
          <a:lstStyle/>
          <a:p>
            <a:pPr algn="ctr"/>
            <a:r>
              <a:rPr sz="800" b="1" i="0">
                <a:solidFill>
                  <a:srgbClr val="FFFFFF"/>
                </a:solidFill>
                <a:latin typeface="Calibri"/>
              </a:rPr>
              <a:t>3</a:t>
            </a:r>
          </a:p>
        </p:txBody>
      </p:sp>
      <p:sp>
        <p:nvSpPr>
          <p:cNvPr id="24" name="Rectangle 23"/>
          <p:cNvSpPr/>
          <p:nvPr/>
        </p:nvSpPr>
        <p:spPr>
          <a:xfrm>
            <a:off x="3218688" y="190195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584448" y="190195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231135"/>
            <a:ext cx="45720" cy="23774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6032" y="2185415"/>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ExpreS2ion</a:t>
            </a:r>
          </a:p>
        </p:txBody>
      </p:sp>
      <p:sp>
        <p:nvSpPr>
          <p:cNvPr id="28" name="Rectangle 27"/>
          <p:cNvSpPr/>
          <p:nvPr/>
        </p:nvSpPr>
        <p:spPr>
          <a:xfrm>
            <a:off x="1389888" y="2212847"/>
            <a:ext cx="329184"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71600" y="2212847"/>
            <a:ext cx="365760" cy="256032"/>
          </a:xfrm>
          <a:prstGeom prst="rect">
            <a:avLst/>
          </a:prstGeom>
          <a:noFill/>
        </p:spPr>
        <p:txBody>
          <a:bodyPr wrap="square" lIns="27432" tIns="9144" rIns="27432" bIns="9144" anchor="ctr">
            <a:spAutoFit/>
          </a:bodyPr>
          <a:lstStyle/>
          <a:p>
            <a:pPr algn="ctr"/>
            <a:r>
              <a:rPr sz="800" b="1" i="0">
                <a:solidFill>
                  <a:srgbClr val="FFFFFF"/>
                </a:solidFill>
                <a:latin typeface="Calibri"/>
              </a:rPr>
              <a:t>3</a:t>
            </a:r>
          </a:p>
        </p:txBody>
      </p:sp>
      <p:sp>
        <p:nvSpPr>
          <p:cNvPr id="30" name="Rectangle 29"/>
          <p:cNvSpPr/>
          <p:nvPr/>
        </p:nvSpPr>
        <p:spPr>
          <a:xfrm>
            <a:off x="1755648" y="2212847"/>
            <a:ext cx="329184" cy="256032"/>
          </a:xfrm>
          <a:prstGeom prst="rect">
            <a:avLst/>
          </a:prstGeom>
          <a:solidFill>
            <a:srgbClr val="8FB3D6"/>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737360" y="2212847"/>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2</a:t>
            </a:r>
          </a:p>
        </p:txBody>
      </p:sp>
      <p:sp>
        <p:nvSpPr>
          <p:cNvPr id="32" name="Rectangle 31"/>
          <p:cNvSpPr/>
          <p:nvPr/>
        </p:nvSpPr>
        <p:spPr>
          <a:xfrm>
            <a:off x="2121408" y="2212847"/>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487168" y="2212847"/>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468880" y="2212847"/>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35" name="Rectangle 34"/>
          <p:cNvSpPr/>
          <p:nvPr/>
        </p:nvSpPr>
        <p:spPr>
          <a:xfrm>
            <a:off x="2852928" y="2212847"/>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34640" y="2212847"/>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37" name="Rectangle 36"/>
          <p:cNvSpPr/>
          <p:nvPr/>
        </p:nvSpPr>
        <p:spPr>
          <a:xfrm>
            <a:off x="3218688" y="2212847"/>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584448" y="2212847"/>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82880" y="2542031"/>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6032" y="2496311"/>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BriaCell</a:t>
            </a:r>
          </a:p>
        </p:txBody>
      </p:sp>
      <p:sp>
        <p:nvSpPr>
          <p:cNvPr id="41" name="Rectangle 40"/>
          <p:cNvSpPr/>
          <p:nvPr/>
        </p:nvSpPr>
        <p:spPr>
          <a:xfrm>
            <a:off x="1389888" y="2523743"/>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371600" y="2523743"/>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43" name="Rectangle 42"/>
          <p:cNvSpPr/>
          <p:nvPr/>
        </p:nvSpPr>
        <p:spPr>
          <a:xfrm>
            <a:off x="1755648" y="2523743"/>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121408" y="2523743"/>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487168" y="2523743"/>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468880" y="2523743"/>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47" name="Rectangle 46"/>
          <p:cNvSpPr/>
          <p:nvPr/>
        </p:nvSpPr>
        <p:spPr>
          <a:xfrm>
            <a:off x="2852928" y="2523743"/>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3218688" y="2523743"/>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584448" y="2523743"/>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82880" y="2852927"/>
            <a:ext cx="45720" cy="23774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56032" y="2807207"/>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Aston Sci.</a:t>
            </a:r>
          </a:p>
        </p:txBody>
      </p:sp>
      <p:sp>
        <p:nvSpPr>
          <p:cNvPr id="52" name="Rectangle 51"/>
          <p:cNvSpPr/>
          <p:nvPr/>
        </p:nvSpPr>
        <p:spPr>
          <a:xfrm>
            <a:off x="138988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755648" y="2834639"/>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737360" y="2834639"/>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55" name="Rectangle 54"/>
          <p:cNvSpPr/>
          <p:nvPr/>
        </p:nvSpPr>
        <p:spPr>
          <a:xfrm>
            <a:off x="212140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48716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85292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21868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3584448" y="2834639"/>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82880" y="3163823"/>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56032" y="3118103"/>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Merck &amp; Co. and Moderna</a:t>
            </a:r>
          </a:p>
        </p:txBody>
      </p:sp>
      <p:sp>
        <p:nvSpPr>
          <p:cNvPr id="62" name="Rectangle 61"/>
          <p:cNvSpPr/>
          <p:nvPr/>
        </p:nvSpPr>
        <p:spPr>
          <a:xfrm>
            <a:off x="138988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755648" y="3145535"/>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737360" y="3145535"/>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65" name="Rectangle 64"/>
          <p:cNvSpPr/>
          <p:nvPr/>
        </p:nvSpPr>
        <p:spPr>
          <a:xfrm>
            <a:off x="212140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48716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285292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21868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3584448" y="3145535"/>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182880" y="3474719"/>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56032" y="342899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BioNTech and Genentech</a:t>
            </a:r>
          </a:p>
        </p:txBody>
      </p:sp>
      <p:sp>
        <p:nvSpPr>
          <p:cNvPr id="72" name="Rectangle 71"/>
          <p:cNvSpPr/>
          <p:nvPr/>
        </p:nvSpPr>
        <p:spPr>
          <a:xfrm>
            <a:off x="1389888" y="3456431"/>
            <a:ext cx="329184"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371600" y="3456431"/>
            <a:ext cx="365760"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74" name="Rectangle 73"/>
          <p:cNvSpPr/>
          <p:nvPr/>
        </p:nvSpPr>
        <p:spPr>
          <a:xfrm>
            <a:off x="175564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212140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248716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285292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321868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3584448" y="3456431"/>
            <a:ext cx="329184"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114800" y="1371600"/>
            <a:ext cx="3840480" cy="182880"/>
          </a:xfrm>
          <a:prstGeom prst="rect">
            <a:avLst/>
          </a:prstGeom>
          <a:noFill/>
        </p:spPr>
        <p:txBody>
          <a:bodyPr wrap="square" lIns="27432" tIns="9144" rIns="27432" bIns="9144" anchor="t">
            <a:spAutoFit/>
          </a:bodyPr>
          <a:lstStyle/>
          <a:p>
            <a:pPr algn="l"/>
            <a:r>
              <a:rPr sz="900" b="1" i="0">
                <a:solidFill>
                  <a:srgbClr val="0E3A66"/>
                </a:solidFill>
                <a:latin typeface="Calibri"/>
              </a:rPr>
              <a:t>By function that produced it</a:t>
            </a:r>
          </a:p>
        </p:txBody>
      </p:sp>
      <p:sp>
        <p:nvSpPr>
          <p:cNvPr id="81" name="TextBox 80"/>
          <p:cNvSpPr txBox="1"/>
          <p:nvPr/>
        </p:nvSpPr>
        <p:spPr>
          <a:xfrm>
            <a:off x="5303520"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Exec</a:t>
            </a:r>
          </a:p>
        </p:txBody>
      </p:sp>
      <p:sp>
        <p:nvSpPr>
          <p:cNvPr id="82" name="TextBox 81"/>
          <p:cNvSpPr txBox="1"/>
          <p:nvPr/>
        </p:nvSpPr>
        <p:spPr>
          <a:xfrm>
            <a:off x="5632704"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Clin dev</a:t>
            </a:r>
          </a:p>
        </p:txBody>
      </p:sp>
      <p:sp>
        <p:nvSpPr>
          <p:cNvPr id="83" name="TextBox 82"/>
          <p:cNvSpPr txBox="1"/>
          <p:nvPr/>
        </p:nvSpPr>
        <p:spPr>
          <a:xfrm>
            <a:off x="5961888"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R&amp;D</a:t>
            </a:r>
          </a:p>
        </p:txBody>
      </p:sp>
      <p:sp>
        <p:nvSpPr>
          <p:cNvPr id="84" name="TextBox 83"/>
          <p:cNvSpPr txBox="1"/>
          <p:nvPr/>
        </p:nvSpPr>
        <p:spPr>
          <a:xfrm>
            <a:off x="6291072"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Reg</a:t>
            </a:r>
          </a:p>
        </p:txBody>
      </p:sp>
      <p:sp>
        <p:nvSpPr>
          <p:cNvPr id="85" name="TextBox 84"/>
          <p:cNvSpPr txBox="1"/>
          <p:nvPr/>
        </p:nvSpPr>
        <p:spPr>
          <a:xfrm>
            <a:off x="6620256"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BD</a:t>
            </a:r>
          </a:p>
        </p:txBody>
      </p:sp>
      <p:sp>
        <p:nvSpPr>
          <p:cNvPr id="86" name="TextBox 85"/>
          <p:cNvSpPr txBox="1"/>
          <p:nvPr/>
        </p:nvSpPr>
        <p:spPr>
          <a:xfrm>
            <a:off x="6949440"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Mfg</a:t>
            </a:r>
          </a:p>
        </p:txBody>
      </p:sp>
      <p:sp>
        <p:nvSpPr>
          <p:cNvPr id="87" name="TextBox 86"/>
          <p:cNvSpPr txBox="1"/>
          <p:nvPr/>
        </p:nvSpPr>
        <p:spPr>
          <a:xfrm>
            <a:off x="7278624"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Med aff</a:t>
            </a:r>
          </a:p>
        </p:txBody>
      </p:sp>
      <p:sp>
        <p:nvSpPr>
          <p:cNvPr id="88" name="TextBox 87"/>
          <p:cNvSpPr txBox="1"/>
          <p:nvPr/>
        </p:nvSpPr>
        <p:spPr>
          <a:xfrm>
            <a:off x="7607808" y="1572768"/>
            <a:ext cx="329184" cy="274320"/>
          </a:xfrm>
          <a:prstGeom prst="rect">
            <a:avLst/>
          </a:prstGeom>
          <a:noFill/>
        </p:spPr>
        <p:txBody>
          <a:bodyPr wrap="square" lIns="27432" tIns="9144" rIns="27432" bIns="9144" anchor="b">
            <a:spAutoFit/>
          </a:bodyPr>
          <a:lstStyle/>
          <a:p>
            <a:pPr algn="ctr"/>
            <a:r>
              <a:rPr sz="680" b="1" i="0">
                <a:solidFill>
                  <a:srgbClr val="404040"/>
                </a:solidFill>
                <a:latin typeface="Calibri"/>
              </a:rPr>
              <a:t>Comm</a:t>
            </a:r>
          </a:p>
        </p:txBody>
      </p:sp>
      <p:sp>
        <p:nvSpPr>
          <p:cNvPr id="89" name="Rectangle 88"/>
          <p:cNvSpPr/>
          <p:nvPr/>
        </p:nvSpPr>
        <p:spPr>
          <a:xfrm>
            <a:off x="4114800" y="1920239"/>
            <a:ext cx="45720"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187952" y="187451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Greenwich LifeSciences</a:t>
            </a:r>
          </a:p>
        </p:txBody>
      </p:sp>
      <p:sp>
        <p:nvSpPr>
          <p:cNvPr id="91" name="Rectangle 90"/>
          <p:cNvSpPr/>
          <p:nvPr/>
        </p:nvSpPr>
        <p:spPr>
          <a:xfrm>
            <a:off x="5321807" y="190195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5650992" y="1901951"/>
            <a:ext cx="292608" cy="256032"/>
          </a:xfrm>
          <a:prstGeom prst="rect">
            <a:avLst/>
          </a:prstGeom>
          <a:solidFill>
            <a:srgbClr val="8FB3D6"/>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632704" y="1901951"/>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2</a:t>
            </a:r>
          </a:p>
        </p:txBody>
      </p:sp>
      <p:sp>
        <p:nvSpPr>
          <p:cNvPr id="94" name="Rectangle 93"/>
          <p:cNvSpPr/>
          <p:nvPr/>
        </p:nvSpPr>
        <p:spPr>
          <a:xfrm>
            <a:off x="5980175" y="190195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6309359" y="1901951"/>
            <a:ext cx="292608" cy="256032"/>
          </a:xfrm>
          <a:prstGeom prst="rect">
            <a:avLst/>
          </a:prstGeom>
          <a:solidFill>
            <a:srgbClr val="8FB3D6"/>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6291072" y="1901951"/>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2</a:t>
            </a:r>
          </a:p>
        </p:txBody>
      </p:sp>
      <p:sp>
        <p:nvSpPr>
          <p:cNvPr id="97" name="Rectangle 96"/>
          <p:cNvSpPr/>
          <p:nvPr/>
        </p:nvSpPr>
        <p:spPr>
          <a:xfrm>
            <a:off x="6638544" y="190195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6967727" y="190195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7296912" y="1901951"/>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278624" y="1901951"/>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01" name="Rectangle 100"/>
          <p:cNvSpPr/>
          <p:nvPr/>
        </p:nvSpPr>
        <p:spPr>
          <a:xfrm>
            <a:off x="7626096" y="190195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114800" y="2231135"/>
            <a:ext cx="45720" cy="23774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4187952" y="2185415"/>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ExpreS2ion</a:t>
            </a:r>
          </a:p>
        </p:txBody>
      </p:sp>
      <p:sp>
        <p:nvSpPr>
          <p:cNvPr id="104" name="Rectangle 103"/>
          <p:cNvSpPr/>
          <p:nvPr/>
        </p:nvSpPr>
        <p:spPr>
          <a:xfrm>
            <a:off x="5321807" y="2212847"/>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303520" y="2212847"/>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06" name="Rectangle 105"/>
          <p:cNvSpPr/>
          <p:nvPr/>
        </p:nvSpPr>
        <p:spPr>
          <a:xfrm>
            <a:off x="5650992" y="2212847"/>
            <a:ext cx="292608"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5632704" y="2212847"/>
            <a:ext cx="329184" cy="256032"/>
          </a:xfrm>
          <a:prstGeom prst="rect">
            <a:avLst/>
          </a:prstGeom>
          <a:noFill/>
        </p:spPr>
        <p:txBody>
          <a:bodyPr wrap="square" lIns="27432" tIns="9144" rIns="27432" bIns="9144" anchor="ctr">
            <a:spAutoFit/>
          </a:bodyPr>
          <a:lstStyle/>
          <a:p>
            <a:pPr algn="ctr"/>
            <a:r>
              <a:rPr sz="800" b="1" i="0">
                <a:solidFill>
                  <a:srgbClr val="FFFFFF"/>
                </a:solidFill>
                <a:latin typeface="Calibri"/>
              </a:rPr>
              <a:t>3</a:t>
            </a:r>
          </a:p>
        </p:txBody>
      </p:sp>
      <p:sp>
        <p:nvSpPr>
          <p:cNvPr id="108" name="Rectangle 107"/>
          <p:cNvSpPr/>
          <p:nvPr/>
        </p:nvSpPr>
        <p:spPr>
          <a:xfrm>
            <a:off x="5980175" y="2212847"/>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6309359" y="2212847"/>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6291072" y="2212847"/>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11" name="Rectangle 110"/>
          <p:cNvSpPr/>
          <p:nvPr/>
        </p:nvSpPr>
        <p:spPr>
          <a:xfrm>
            <a:off x="6638544" y="2212847"/>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6967727" y="2212847"/>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7296912" y="2212847"/>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7626096" y="2212847"/>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4114800" y="2542031"/>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4187952" y="2496311"/>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BriaCell</a:t>
            </a:r>
          </a:p>
        </p:txBody>
      </p:sp>
      <p:sp>
        <p:nvSpPr>
          <p:cNvPr id="117" name="Rectangle 116"/>
          <p:cNvSpPr/>
          <p:nvPr/>
        </p:nvSpPr>
        <p:spPr>
          <a:xfrm>
            <a:off x="5321807" y="2523743"/>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303520" y="2523743"/>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19" name="Rectangle 118"/>
          <p:cNvSpPr/>
          <p:nvPr/>
        </p:nvSpPr>
        <p:spPr>
          <a:xfrm>
            <a:off x="5650992" y="2523743"/>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5632704" y="2523743"/>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21" name="Rectangle 120"/>
          <p:cNvSpPr/>
          <p:nvPr/>
        </p:nvSpPr>
        <p:spPr>
          <a:xfrm>
            <a:off x="5980175"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6309359"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6638544"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Rectangle 123"/>
          <p:cNvSpPr/>
          <p:nvPr/>
        </p:nvSpPr>
        <p:spPr>
          <a:xfrm>
            <a:off x="6967727"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ectangle 124"/>
          <p:cNvSpPr/>
          <p:nvPr/>
        </p:nvSpPr>
        <p:spPr>
          <a:xfrm>
            <a:off x="7296912"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7626096" y="2523743"/>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Rectangle 126"/>
          <p:cNvSpPr/>
          <p:nvPr/>
        </p:nvSpPr>
        <p:spPr>
          <a:xfrm>
            <a:off x="4114800" y="2852927"/>
            <a:ext cx="45720" cy="23774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4187952" y="2807207"/>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Aston Sci.</a:t>
            </a:r>
          </a:p>
        </p:txBody>
      </p:sp>
      <p:sp>
        <p:nvSpPr>
          <p:cNvPr id="129" name="Rectangle 128"/>
          <p:cNvSpPr/>
          <p:nvPr/>
        </p:nvSpPr>
        <p:spPr>
          <a:xfrm>
            <a:off x="5321807"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5650992"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30"/>
          <p:cNvSpPr/>
          <p:nvPr/>
        </p:nvSpPr>
        <p:spPr>
          <a:xfrm>
            <a:off x="5980175" y="2834639"/>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5961888" y="2834639"/>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33" name="Rectangle 132"/>
          <p:cNvSpPr/>
          <p:nvPr/>
        </p:nvSpPr>
        <p:spPr>
          <a:xfrm>
            <a:off x="6309359"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6638544"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6967727"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7296912"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7626096" y="2834639"/>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4114800" y="3163823"/>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4187952" y="3118103"/>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Merck &amp; Co. and Moderna</a:t>
            </a:r>
          </a:p>
        </p:txBody>
      </p:sp>
      <p:sp>
        <p:nvSpPr>
          <p:cNvPr id="140" name="Rectangle 139"/>
          <p:cNvSpPr/>
          <p:nvPr/>
        </p:nvSpPr>
        <p:spPr>
          <a:xfrm>
            <a:off x="5321807"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5650992" y="3145535"/>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5632704" y="3145535"/>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43" name="Rectangle 142"/>
          <p:cNvSpPr/>
          <p:nvPr/>
        </p:nvSpPr>
        <p:spPr>
          <a:xfrm>
            <a:off x="5980175"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6309359"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6638544"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6967727"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7296912"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Rectangle 147"/>
          <p:cNvSpPr/>
          <p:nvPr/>
        </p:nvSpPr>
        <p:spPr>
          <a:xfrm>
            <a:off x="7626096" y="3145535"/>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Rectangle 148"/>
          <p:cNvSpPr/>
          <p:nvPr/>
        </p:nvSpPr>
        <p:spPr>
          <a:xfrm>
            <a:off x="4114800" y="3474719"/>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4187952" y="342899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BioNTech and Genentech</a:t>
            </a:r>
          </a:p>
        </p:txBody>
      </p:sp>
      <p:sp>
        <p:nvSpPr>
          <p:cNvPr id="151" name="Rectangle 150"/>
          <p:cNvSpPr/>
          <p:nvPr/>
        </p:nvSpPr>
        <p:spPr>
          <a:xfrm>
            <a:off x="5321807"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5650992" y="3456431"/>
            <a:ext cx="292608"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5632704" y="3456431"/>
            <a:ext cx="329184"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54" name="Rectangle 153"/>
          <p:cNvSpPr/>
          <p:nvPr/>
        </p:nvSpPr>
        <p:spPr>
          <a:xfrm>
            <a:off x="5980175"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Rectangle 154"/>
          <p:cNvSpPr/>
          <p:nvPr/>
        </p:nvSpPr>
        <p:spPr>
          <a:xfrm>
            <a:off x="6309359"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6638544"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6967727"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Rectangle 157"/>
          <p:cNvSpPr/>
          <p:nvPr/>
        </p:nvSpPr>
        <p:spPr>
          <a:xfrm>
            <a:off x="7296912"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Rectangle 158"/>
          <p:cNvSpPr/>
          <p:nvPr/>
        </p:nvSpPr>
        <p:spPr>
          <a:xfrm>
            <a:off x="7626096" y="3456431"/>
            <a:ext cx="292608"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8275319" y="1371600"/>
            <a:ext cx="3840480" cy="182880"/>
          </a:xfrm>
          <a:prstGeom prst="rect">
            <a:avLst/>
          </a:prstGeom>
          <a:noFill/>
        </p:spPr>
        <p:txBody>
          <a:bodyPr wrap="square" lIns="27432" tIns="9144" rIns="27432" bIns="9144" anchor="t">
            <a:spAutoFit/>
          </a:bodyPr>
          <a:lstStyle/>
          <a:p>
            <a:pPr algn="l"/>
            <a:r>
              <a:rPr sz="900" b="1" i="0">
                <a:solidFill>
                  <a:srgbClr val="0E3A66"/>
                </a:solidFill>
                <a:latin typeface="Calibri"/>
              </a:rPr>
              <a:t>By evidence source</a:t>
            </a:r>
          </a:p>
        </p:txBody>
      </p:sp>
      <p:sp>
        <p:nvSpPr>
          <p:cNvPr id="161" name="TextBox 160"/>
          <p:cNvSpPr txBox="1"/>
          <p:nvPr/>
        </p:nvSpPr>
        <p:spPr>
          <a:xfrm>
            <a:off x="9464040"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CT.gov</a:t>
            </a:r>
          </a:p>
        </p:txBody>
      </p:sp>
      <p:sp>
        <p:nvSpPr>
          <p:cNvPr id="162" name="TextBox 161"/>
          <p:cNvSpPr txBox="1"/>
          <p:nvPr/>
        </p:nvSpPr>
        <p:spPr>
          <a:xfrm>
            <a:off x="9820656"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Co. release</a:t>
            </a:r>
          </a:p>
        </p:txBody>
      </p:sp>
      <p:sp>
        <p:nvSpPr>
          <p:cNvPr id="163" name="TextBox 162"/>
          <p:cNvSpPr txBox="1"/>
          <p:nvPr/>
        </p:nvSpPr>
        <p:spPr>
          <a:xfrm>
            <a:off x="10177272"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Reg filing</a:t>
            </a:r>
          </a:p>
        </p:txBody>
      </p:sp>
      <p:sp>
        <p:nvSpPr>
          <p:cNvPr id="164" name="TextBox 163"/>
          <p:cNvSpPr txBox="1"/>
          <p:nvPr/>
        </p:nvSpPr>
        <p:spPr>
          <a:xfrm>
            <a:off x="10533888"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Conf abstract</a:t>
            </a:r>
          </a:p>
        </p:txBody>
      </p:sp>
      <p:sp>
        <p:nvSpPr>
          <p:cNvPr id="165" name="TextBox 164"/>
          <p:cNvSpPr txBox="1"/>
          <p:nvPr/>
        </p:nvSpPr>
        <p:spPr>
          <a:xfrm>
            <a:off x="10890504"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Peer review</a:t>
            </a:r>
          </a:p>
        </p:txBody>
      </p:sp>
      <p:sp>
        <p:nvSpPr>
          <p:cNvPr id="166" name="TextBox 165"/>
          <p:cNvSpPr txBox="1"/>
          <p:nvPr/>
        </p:nvSpPr>
        <p:spPr>
          <a:xfrm>
            <a:off x="11247120"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Investor</a:t>
            </a:r>
          </a:p>
        </p:txBody>
      </p:sp>
      <p:sp>
        <p:nvSpPr>
          <p:cNvPr id="167" name="TextBox 166"/>
          <p:cNvSpPr txBox="1"/>
          <p:nvPr/>
        </p:nvSpPr>
        <p:spPr>
          <a:xfrm>
            <a:off x="11603736" y="1572768"/>
            <a:ext cx="356616" cy="274320"/>
          </a:xfrm>
          <a:prstGeom prst="rect">
            <a:avLst/>
          </a:prstGeom>
          <a:noFill/>
        </p:spPr>
        <p:txBody>
          <a:bodyPr wrap="square" lIns="27432" tIns="9144" rIns="27432" bIns="9144" anchor="b">
            <a:spAutoFit/>
          </a:bodyPr>
          <a:lstStyle/>
          <a:p>
            <a:pPr algn="ctr"/>
            <a:r>
              <a:rPr sz="680" b="1" i="0">
                <a:solidFill>
                  <a:srgbClr val="404040"/>
                </a:solidFill>
                <a:latin typeface="Calibri"/>
              </a:rPr>
              <a:t>Partner</a:t>
            </a:r>
          </a:p>
        </p:txBody>
      </p:sp>
      <p:sp>
        <p:nvSpPr>
          <p:cNvPr id="168" name="Rectangle 167"/>
          <p:cNvSpPr/>
          <p:nvPr/>
        </p:nvSpPr>
        <p:spPr>
          <a:xfrm>
            <a:off x="8275319" y="1920239"/>
            <a:ext cx="45720" cy="237744"/>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8348471" y="187451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Greenwich LifeSciences</a:t>
            </a:r>
          </a:p>
        </p:txBody>
      </p:sp>
      <p:sp>
        <p:nvSpPr>
          <p:cNvPr id="170" name="Rectangle 169"/>
          <p:cNvSpPr/>
          <p:nvPr/>
        </p:nvSpPr>
        <p:spPr>
          <a:xfrm>
            <a:off x="9482328" y="190195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9838944" y="1901951"/>
            <a:ext cx="320040"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TextBox 171"/>
          <p:cNvSpPr txBox="1"/>
          <p:nvPr/>
        </p:nvSpPr>
        <p:spPr>
          <a:xfrm>
            <a:off x="9820656" y="1901951"/>
            <a:ext cx="356616" cy="256032"/>
          </a:xfrm>
          <a:prstGeom prst="rect">
            <a:avLst/>
          </a:prstGeom>
          <a:noFill/>
        </p:spPr>
        <p:txBody>
          <a:bodyPr wrap="square" lIns="27432" tIns="9144" rIns="27432" bIns="9144" anchor="ctr">
            <a:spAutoFit/>
          </a:bodyPr>
          <a:lstStyle/>
          <a:p>
            <a:pPr algn="ctr"/>
            <a:r>
              <a:rPr sz="800" b="1" i="0">
                <a:solidFill>
                  <a:srgbClr val="FFFFFF"/>
                </a:solidFill>
                <a:latin typeface="Calibri"/>
              </a:rPr>
              <a:t>4</a:t>
            </a:r>
          </a:p>
        </p:txBody>
      </p:sp>
      <p:sp>
        <p:nvSpPr>
          <p:cNvPr id="173" name="Rectangle 172"/>
          <p:cNvSpPr/>
          <p:nvPr/>
        </p:nvSpPr>
        <p:spPr>
          <a:xfrm>
            <a:off x="10195559" y="190195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Rectangle 173"/>
          <p:cNvSpPr/>
          <p:nvPr/>
        </p:nvSpPr>
        <p:spPr>
          <a:xfrm>
            <a:off x="10552176" y="1901951"/>
            <a:ext cx="320040"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p:cNvSpPr txBox="1"/>
          <p:nvPr/>
        </p:nvSpPr>
        <p:spPr>
          <a:xfrm>
            <a:off x="10533888" y="1901951"/>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76" name="Rectangle 175"/>
          <p:cNvSpPr/>
          <p:nvPr/>
        </p:nvSpPr>
        <p:spPr>
          <a:xfrm>
            <a:off x="10908792" y="190195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11265408" y="190195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Rectangle 177"/>
          <p:cNvSpPr/>
          <p:nvPr/>
        </p:nvSpPr>
        <p:spPr>
          <a:xfrm>
            <a:off x="11622024" y="190195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Rectangle 178"/>
          <p:cNvSpPr/>
          <p:nvPr/>
        </p:nvSpPr>
        <p:spPr>
          <a:xfrm>
            <a:off x="8275319" y="2231135"/>
            <a:ext cx="45720" cy="237744"/>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8348471" y="2185415"/>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ExpreS2ion</a:t>
            </a:r>
          </a:p>
        </p:txBody>
      </p:sp>
      <p:sp>
        <p:nvSpPr>
          <p:cNvPr id="181" name="Rectangle 180"/>
          <p:cNvSpPr/>
          <p:nvPr/>
        </p:nvSpPr>
        <p:spPr>
          <a:xfrm>
            <a:off x="9482328" y="2212847"/>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Rectangle 181"/>
          <p:cNvSpPr/>
          <p:nvPr/>
        </p:nvSpPr>
        <p:spPr>
          <a:xfrm>
            <a:off x="9838944" y="2212847"/>
            <a:ext cx="320040" cy="256032"/>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TextBox 182"/>
          <p:cNvSpPr txBox="1"/>
          <p:nvPr/>
        </p:nvSpPr>
        <p:spPr>
          <a:xfrm>
            <a:off x="9820656" y="2212847"/>
            <a:ext cx="356616" cy="256032"/>
          </a:xfrm>
          <a:prstGeom prst="rect">
            <a:avLst/>
          </a:prstGeom>
          <a:noFill/>
        </p:spPr>
        <p:txBody>
          <a:bodyPr wrap="square" lIns="27432" tIns="9144" rIns="27432" bIns="9144" anchor="ctr">
            <a:spAutoFit/>
          </a:bodyPr>
          <a:lstStyle/>
          <a:p>
            <a:pPr algn="ctr"/>
            <a:r>
              <a:rPr sz="800" b="1" i="0">
                <a:solidFill>
                  <a:srgbClr val="FFFFFF"/>
                </a:solidFill>
                <a:latin typeface="Calibri"/>
              </a:rPr>
              <a:t>4</a:t>
            </a:r>
          </a:p>
        </p:txBody>
      </p:sp>
      <p:sp>
        <p:nvSpPr>
          <p:cNvPr id="184" name="Rectangle 183"/>
          <p:cNvSpPr/>
          <p:nvPr/>
        </p:nvSpPr>
        <p:spPr>
          <a:xfrm>
            <a:off x="10195559" y="2212847"/>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Rectangle 184"/>
          <p:cNvSpPr/>
          <p:nvPr/>
        </p:nvSpPr>
        <p:spPr>
          <a:xfrm>
            <a:off x="10552176" y="2212847"/>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Rectangle 185"/>
          <p:cNvSpPr/>
          <p:nvPr/>
        </p:nvSpPr>
        <p:spPr>
          <a:xfrm>
            <a:off x="10908792" y="2212847"/>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Rectangle 186"/>
          <p:cNvSpPr/>
          <p:nvPr/>
        </p:nvSpPr>
        <p:spPr>
          <a:xfrm>
            <a:off x="11265408" y="2212847"/>
            <a:ext cx="320040"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11247120" y="2212847"/>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189" name="Rectangle 188"/>
          <p:cNvSpPr/>
          <p:nvPr/>
        </p:nvSpPr>
        <p:spPr>
          <a:xfrm>
            <a:off x="11622024" y="2212847"/>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8275319" y="2542031"/>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190"/>
          <p:cNvSpPr txBox="1"/>
          <p:nvPr/>
        </p:nvSpPr>
        <p:spPr>
          <a:xfrm>
            <a:off x="8348471" y="2496311"/>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BriaCell</a:t>
            </a:r>
          </a:p>
        </p:txBody>
      </p:sp>
      <p:sp>
        <p:nvSpPr>
          <p:cNvPr id="192" name="Rectangle 191"/>
          <p:cNvSpPr/>
          <p:nvPr/>
        </p:nvSpPr>
        <p:spPr>
          <a:xfrm>
            <a:off x="9482328"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Rectangle 192"/>
          <p:cNvSpPr/>
          <p:nvPr/>
        </p:nvSpPr>
        <p:spPr>
          <a:xfrm>
            <a:off x="9838944" y="2523743"/>
            <a:ext cx="320040" cy="256032"/>
          </a:xfrm>
          <a:prstGeom prst="rect">
            <a:avLst/>
          </a:prstGeom>
          <a:solidFill>
            <a:srgbClr val="8FB3D6"/>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9820656" y="2523743"/>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2</a:t>
            </a:r>
          </a:p>
        </p:txBody>
      </p:sp>
      <p:sp>
        <p:nvSpPr>
          <p:cNvPr id="195" name="Rectangle 194"/>
          <p:cNvSpPr/>
          <p:nvPr/>
        </p:nvSpPr>
        <p:spPr>
          <a:xfrm>
            <a:off x="10195559"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Rectangle 195"/>
          <p:cNvSpPr/>
          <p:nvPr/>
        </p:nvSpPr>
        <p:spPr>
          <a:xfrm>
            <a:off x="10552176"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Rectangle 196"/>
          <p:cNvSpPr/>
          <p:nvPr/>
        </p:nvSpPr>
        <p:spPr>
          <a:xfrm>
            <a:off x="10908792"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Rectangle 197"/>
          <p:cNvSpPr/>
          <p:nvPr/>
        </p:nvSpPr>
        <p:spPr>
          <a:xfrm>
            <a:off x="11265408"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Rectangle 198"/>
          <p:cNvSpPr/>
          <p:nvPr/>
        </p:nvSpPr>
        <p:spPr>
          <a:xfrm>
            <a:off x="11622024" y="2523743"/>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Rectangle 199"/>
          <p:cNvSpPr/>
          <p:nvPr/>
        </p:nvSpPr>
        <p:spPr>
          <a:xfrm>
            <a:off x="8275319" y="2852927"/>
            <a:ext cx="45720" cy="237744"/>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TextBox 200"/>
          <p:cNvSpPr txBox="1"/>
          <p:nvPr/>
        </p:nvSpPr>
        <p:spPr>
          <a:xfrm>
            <a:off x="8348471" y="2807207"/>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Aston Sci.</a:t>
            </a:r>
          </a:p>
        </p:txBody>
      </p:sp>
      <p:sp>
        <p:nvSpPr>
          <p:cNvPr id="202" name="Rectangle 201"/>
          <p:cNvSpPr/>
          <p:nvPr/>
        </p:nvSpPr>
        <p:spPr>
          <a:xfrm>
            <a:off x="9482328"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Rectangle 202"/>
          <p:cNvSpPr/>
          <p:nvPr/>
        </p:nvSpPr>
        <p:spPr>
          <a:xfrm>
            <a:off x="9838944"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Rectangle 203"/>
          <p:cNvSpPr/>
          <p:nvPr/>
        </p:nvSpPr>
        <p:spPr>
          <a:xfrm>
            <a:off x="10195559"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Rectangle 204"/>
          <p:cNvSpPr/>
          <p:nvPr/>
        </p:nvSpPr>
        <p:spPr>
          <a:xfrm>
            <a:off x="10552176" y="2834639"/>
            <a:ext cx="320040"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10533888" y="2834639"/>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207" name="Rectangle 206"/>
          <p:cNvSpPr/>
          <p:nvPr/>
        </p:nvSpPr>
        <p:spPr>
          <a:xfrm>
            <a:off x="10908792"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Rectangle 207"/>
          <p:cNvSpPr/>
          <p:nvPr/>
        </p:nvSpPr>
        <p:spPr>
          <a:xfrm>
            <a:off x="11265408"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Rectangle 208"/>
          <p:cNvSpPr/>
          <p:nvPr/>
        </p:nvSpPr>
        <p:spPr>
          <a:xfrm>
            <a:off x="11622024" y="2834639"/>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Rectangle 209"/>
          <p:cNvSpPr/>
          <p:nvPr/>
        </p:nvSpPr>
        <p:spPr>
          <a:xfrm>
            <a:off x="8275319" y="3163823"/>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TextBox 210"/>
          <p:cNvSpPr txBox="1"/>
          <p:nvPr/>
        </p:nvSpPr>
        <p:spPr>
          <a:xfrm>
            <a:off x="8348471" y="3118103"/>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Merck &amp; Co. and Moderna</a:t>
            </a:r>
          </a:p>
        </p:txBody>
      </p:sp>
      <p:sp>
        <p:nvSpPr>
          <p:cNvPr id="212" name="Rectangle 211"/>
          <p:cNvSpPr/>
          <p:nvPr/>
        </p:nvSpPr>
        <p:spPr>
          <a:xfrm>
            <a:off x="9482328"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9838944" y="3145535"/>
            <a:ext cx="320040"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9820656" y="3145535"/>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215" name="Rectangle 214"/>
          <p:cNvSpPr/>
          <p:nvPr/>
        </p:nvSpPr>
        <p:spPr>
          <a:xfrm>
            <a:off x="10195559"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Rectangle 215"/>
          <p:cNvSpPr/>
          <p:nvPr/>
        </p:nvSpPr>
        <p:spPr>
          <a:xfrm>
            <a:off x="10552176"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Rectangle 216"/>
          <p:cNvSpPr/>
          <p:nvPr/>
        </p:nvSpPr>
        <p:spPr>
          <a:xfrm>
            <a:off x="10908792"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Rectangle 217"/>
          <p:cNvSpPr/>
          <p:nvPr/>
        </p:nvSpPr>
        <p:spPr>
          <a:xfrm>
            <a:off x="11265408"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Rectangle 218"/>
          <p:cNvSpPr/>
          <p:nvPr/>
        </p:nvSpPr>
        <p:spPr>
          <a:xfrm>
            <a:off x="11622024" y="3145535"/>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Rectangle 219"/>
          <p:cNvSpPr/>
          <p:nvPr/>
        </p:nvSpPr>
        <p:spPr>
          <a:xfrm>
            <a:off x="8275319" y="3474719"/>
            <a:ext cx="45720" cy="237744"/>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TextBox 220"/>
          <p:cNvSpPr txBox="1"/>
          <p:nvPr/>
        </p:nvSpPr>
        <p:spPr>
          <a:xfrm>
            <a:off x="8348471" y="3428999"/>
            <a:ext cx="1097280" cy="310896"/>
          </a:xfrm>
          <a:prstGeom prst="rect">
            <a:avLst/>
          </a:prstGeom>
          <a:noFill/>
        </p:spPr>
        <p:txBody>
          <a:bodyPr wrap="square" lIns="27432" tIns="9144" rIns="27432" bIns="9144" anchor="ctr">
            <a:spAutoFit/>
          </a:bodyPr>
          <a:lstStyle/>
          <a:p>
            <a:pPr algn="l"/>
            <a:r>
              <a:rPr sz="720" b="0" i="0">
                <a:solidFill>
                  <a:srgbClr val="404040"/>
                </a:solidFill>
                <a:latin typeface="Calibri"/>
              </a:rPr>
              <a:t>BioNTech and Genentech</a:t>
            </a:r>
          </a:p>
        </p:txBody>
      </p:sp>
      <p:sp>
        <p:nvSpPr>
          <p:cNvPr id="222" name="Rectangle 221"/>
          <p:cNvSpPr/>
          <p:nvPr/>
        </p:nvSpPr>
        <p:spPr>
          <a:xfrm>
            <a:off x="9482328"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Rectangle 222"/>
          <p:cNvSpPr/>
          <p:nvPr/>
        </p:nvSpPr>
        <p:spPr>
          <a:xfrm>
            <a:off x="9838944" y="3456431"/>
            <a:ext cx="320040" cy="256032"/>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9820656" y="3456431"/>
            <a:ext cx="356616" cy="256032"/>
          </a:xfrm>
          <a:prstGeom prst="rect">
            <a:avLst/>
          </a:prstGeom>
          <a:noFill/>
        </p:spPr>
        <p:txBody>
          <a:bodyPr wrap="square" lIns="27432" tIns="9144" rIns="27432" bIns="9144" anchor="ctr">
            <a:spAutoFit/>
          </a:bodyPr>
          <a:lstStyle/>
          <a:p>
            <a:pPr algn="ctr"/>
            <a:r>
              <a:rPr sz="800" b="1" i="0">
                <a:solidFill>
                  <a:srgbClr val="262626"/>
                </a:solidFill>
                <a:latin typeface="Calibri"/>
              </a:rPr>
              <a:t>1</a:t>
            </a:r>
          </a:p>
        </p:txBody>
      </p:sp>
      <p:sp>
        <p:nvSpPr>
          <p:cNvPr id="225" name="Rectangle 224"/>
          <p:cNvSpPr/>
          <p:nvPr/>
        </p:nvSpPr>
        <p:spPr>
          <a:xfrm>
            <a:off x="10195559"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Rectangle 225"/>
          <p:cNvSpPr/>
          <p:nvPr/>
        </p:nvSpPr>
        <p:spPr>
          <a:xfrm>
            <a:off x="10552176"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Rectangle 226"/>
          <p:cNvSpPr/>
          <p:nvPr/>
        </p:nvSpPr>
        <p:spPr>
          <a:xfrm>
            <a:off x="10908792"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Rectangle 227"/>
          <p:cNvSpPr/>
          <p:nvPr/>
        </p:nvSpPr>
        <p:spPr>
          <a:xfrm>
            <a:off x="11265408"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Rectangle 228"/>
          <p:cNvSpPr/>
          <p:nvPr/>
        </p:nvSpPr>
        <p:spPr>
          <a:xfrm>
            <a:off x="11622024" y="3456431"/>
            <a:ext cx="320040" cy="256032"/>
          </a:xfrm>
          <a:prstGeom prst="rect">
            <a:avLst/>
          </a:prstGeom>
          <a:solidFill>
            <a:srgbClr val="FFFFFF"/>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Rectangle 229"/>
          <p:cNvSpPr/>
          <p:nvPr/>
        </p:nvSpPr>
        <p:spPr>
          <a:xfrm>
            <a:off x="182880" y="3840480"/>
            <a:ext cx="164592" cy="128016"/>
          </a:xfrm>
          <a:prstGeom prst="rect">
            <a:avLst/>
          </a:prstGeom>
          <a:solidFill>
            <a:srgbClr val="D6E4F0"/>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TextBox 230"/>
          <p:cNvSpPr txBox="1"/>
          <p:nvPr/>
        </p:nvSpPr>
        <p:spPr>
          <a:xfrm>
            <a:off x="384048" y="3822192"/>
            <a:ext cx="1005840" cy="164592"/>
          </a:xfrm>
          <a:prstGeom prst="rect">
            <a:avLst/>
          </a:prstGeom>
          <a:noFill/>
        </p:spPr>
        <p:txBody>
          <a:bodyPr wrap="square" lIns="27432" tIns="9144" rIns="27432" bIns="9144" anchor="t">
            <a:spAutoFit/>
          </a:bodyPr>
          <a:lstStyle/>
          <a:p>
            <a:pPr algn="l"/>
            <a:r>
              <a:rPr sz="700" b="0" i="0">
                <a:solidFill>
                  <a:srgbClr val="404040"/>
                </a:solidFill>
                <a:latin typeface="Calibri"/>
              </a:rPr>
              <a:t>1 development</a:t>
            </a:r>
          </a:p>
        </p:txBody>
      </p:sp>
      <p:sp>
        <p:nvSpPr>
          <p:cNvPr id="232" name="Rectangle 231"/>
          <p:cNvSpPr/>
          <p:nvPr/>
        </p:nvSpPr>
        <p:spPr>
          <a:xfrm>
            <a:off x="1371600" y="3840480"/>
            <a:ext cx="164592" cy="128016"/>
          </a:xfrm>
          <a:prstGeom prst="rect">
            <a:avLst/>
          </a:prstGeom>
          <a:solidFill>
            <a:srgbClr val="8FB3D6"/>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TextBox 232"/>
          <p:cNvSpPr txBox="1"/>
          <p:nvPr/>
        </p:nvSpPr>
        <p:spPr>
          <a:xfrm>
            <a:off x="1572768" y="3822192"/>
            <a:ext cx="1005840" cy="164592"/>
          </a:xfrm>
          <a:prstGeom prst="rect">
            <a:avLst/>
          </a:prstGeom>
          <a:noFill/>
        </p:spPr>
        <p:txBody>
          <a:bodyPr wrap="square" lIns="27432" tIns="9144" rIns="27432" bIns="9144" anchor="t">
            <a:spAutoFit/>
          </a:bodyPr>
          <a:lstStyle/>
          <a:p>
            <a:pPr algn="l"/>
            <a:r>
              <a:rPr sz="700" b="0" i="0">
                <a:solidFill>
                  <a:srgbClr val="404040"/>
                </a:solidFill>
                <a:latin typeface="Calibri"/>
              </a:rPr>
              <a:t>2 developments</a:t>
            </a:r>
          </a:p>
        </p:txBody>
      </p:sp>
      <p:sp>
        <p:nvSpPr>
          <p:cNvPr id="234" name="Rectangle 233"/>
          <p:cNvSpPr/>
          <p:nvPr/>
        </p:nvSpPr>
        <p:spPr>
          <a:xfrm>
            <a:off x="2560320" y="3840480"/>
            <a:ext cx="164592" cy="128016"/>
          </a:xfrm>
          <a:prstGeom prst="rect">
            <a:avLst/>
          </a:prstGeom>
          <a:solidFill>
            <a:srgbClr val="2A6FA8"/>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TextBox 234"/>
          <p:cNvSpPr txBox="1"/>
          <p:nvPr/>
        </p:nvSpPr>
        <p:spPr>
          <a:xfrm>
            <a:off x="2761488" y="3822192"/>
            <a:ext cx="1005840" cy="164592"/>
          </a:xfrm>
          <a:prstGeom prst="rect">
            <a:avLst/>
          </a:prstGeom>
          <a:noFill/>
        </p:spPr>
        <p:txBody>
          <a:bodyPr wrap="square" lIns="27432" tIns="9144" rIns="27432" bIns="9144" anchor="t">
            <a:spAutoFit/>
          </a:bodyPr>
          <a:lstStyle/>
          <a:p>
            <a:pPr algn="l"/>
            <a:r>
              <a:rPr sz="700" b="0" i="0">
                <a:solidFill>
                  <a:srgbClr val="404040"/>
                </a:solidFill>
                <a:latin typeface="Calibri"/>
              </a:rPr>
              <a:t>3+ developments</a:t>
            </a:r>
          </a:p>
        </p:txBody>
      </p:sp>
      <p:sp>
        <p:nvSpPr>
          <p:cNvPr id="236" name="TextBox 235"/>
          <p:cNvSpPr txBox="1"/>
          <p:nvPr/>
        </p:nvSpPr>
        <p:spPr>
          <a:xfrm>
            <a:off x="3840480" y="3822192"/>
            <a:ext cx="8229600" cy="164592"/>
          </a:xfrm>
          <a:prstGeom prst="rect">
            <a:avLst/>
          </a:prstGeom>
          <a:noFill/>
        </p:spPr>
        <p:txBody>
          <a:bodyPr wrap="square" lIns="27432" tIns="9144" rIns="27432" bIns="9144" anchor="t">
            <a:spAutoFit/>
          </a:bodyPr>
          <a:lstStyle/>
          <a:p>
            <a:pPr algn="l"/>
            <a:r>
              <a:rPr sz="700" b="0" i="1">
                <a:solidFill>
                  <a:srgbClr val="404040"/>
                </a:solidFill>
                <a:latin typeface="Calibri"/>
              </a:rPr>
              <a:t>Types: CT clinical trial, RD readout, PT partnership, FI financing, RG regulatory, MN manufacturing, IP licensing. Multi-coded events count in each type.</a:t>
            </a:r>
          </a:p>
        </p:txBody>
      </p:sp>
      <p:cxnSp>
        <p:nvCxnSpPr>
          <p:cNvPr id="237" name="Connector 236"/>
          <p:cNvCxnSpPr/>
          <p:nvPr/>
        </p:nvCxnSpPr>
        <p:spPr>
          <a:xfrm>
            <a:off x="182880" y="4069080"/>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238" name="TextBox 237"/>
          <p:cNvSpPr txBox="1"/>
          <p:nvPr/>
        </p:nvSpPr>
        <p:spPr>
          <a:xfrm>
            <a:off x="182880" y="4114800"/>
            <a:ext cx="11823192" cy="182880"/>
          </a:xfrm>
          <a:prstGeom prst="rect">
            <a:avLst/>
          </a:prstGeom>
          <a:noFill/>
        </p:spPr>
        <p:txBody>
          <a:bodyPr wrap="square" lIns="27432" tIns="9144" rIns="27432" bIns="9144" anchor="t">
            <a:spAutoFit/>
          </a:bodyPr>
          <a:lstStyle/>
          <a:p>
            <a:pPr algn="l"/>
            <a:r>
              <a:rPr sz="850" b="1" i="0">
                <a:solidFill>
                  <a:srgbClr val="0E3A66"/>
                </a:solidFill>
                <a:latin typeface="Calibri"/>
              </a:rPr>
              <a:t>WHAT THIS MEANS FOR EACH FUNCTION</a:t>
            </a:r>
          </a:p>
        </p:txBody>
      </p:sp>
      <p:sp>
        <p:nvSpPr>
          <p:cNvPr id="239" name="Rectangle 238"/>
          <p:cNvSpPr/>
          <p:nvPr/>
        </p:nvSpPr>
        <p:spPr>
          <a:xfrm>
            <a:off x="182880" y="4315968"/>
            <a:ext cx="2291486"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228600" y="4315968"/>
            <a:ext cx="2200046" cy="256032"/>
          </a:xfrm>
          <a:prstGeom prst="rect">
            <a:avLst/>
          </a:prstGeom>
          <a:noFill/>
        </p:spPr>
        <p:txBody>
          <a:bodyPr wrap="square" lIns="27432" tIns="9144" rIns="27432" bIns="9144" anchor="ctr">
            <a:spAutoFit/>
          </a:bodyPr>
          <a:lstStyle/>
          <a:p>
            <a:pPr algn="l"/>
            <a:r>
              <a:rPr sz="950" b="1" i="0">
                <a:solidFill>
                  <a:srgbClr val="FFFFFF"/>
                </a:solidFill>
                <a:latin typeface="Calibri"/>
              </a:rPr>
              <a:t>Strategy / BD</a:t>
            </a:r>
          </a:p>
        </p:txBody>
      </p:sp>
      <p:sp>
        <p:nvSpPr>
          <p:cNvPr id="241" name="Rectangle 240"/>
          <p:cNvSpPr/>
          <p:nvPr/>
        </p:nvSpPr>
        <p:spPr>
          <a:xfrm>
            <a:off x="182880" y="4572000"/>
            <a:ext cx="2291486" cy="17922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237744" y="4608576"/>
            <a:ext cx="2181758" cy="1737360"/>
          </a:xfrm>
          <a:prstGeom prst="rect">
            <a:avLst/>
          </a:prstGeom>
          <a:noFill/>
        </p:spPr>
        <p:txBody>
          <a:bodyPr wrap="square" lIns="27432" tIns="9144" rIns="27432" bIns="9144" anchor="t">
            <a:spAutoFit/>
          </a:bodyPr>
          <a:lstStyle/>
          <a:p>
            <a:pPr algn="l"/>
            <a:r>
              <a:rPr sz="950" b="0" i="0">
                <a:solidFill>
                  <a:srgbClr val="262626"/>
                </a:solidFill>
                <a:latin typeface="Calibri"/>
              </a:rPr>
              <a:t>No new partnership or licence for a HER2 vaccine was found in the 30-month window, so every direct asset remains available. HER2-low assets with ADC combination data (ES2B-C001, AST-301) are the most attractive in-licensing targets. Expect licensing activity around the ES2B-C001 readout (end-2026) and GLSI-100 interim analysis.</a:t>
            </a:r>
          </a:p>
        </p:txBody>
      </p:sp>
      <p:sp>
        <p:nvSpPr>
          <p:cNvPr id="243" name="Rectangle 242"/>
          <p:cNvSpPr/>
          <p:nvPr/>
        </p:nvSpPr>
        <p:spPr>
          <a:xfrm>
            <a:off x="2565806" y="4315968"/>
            <a:ext cx="2291486"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2611526" y="4315968"/>
            <a:ext cx="2200046" cy="256032"/>
          </a:xfrm>
          <a:prstGeom prst="rect">
            <a:avLst/>
          </a:prstGeom>
          <a:noFill/>
        </p:spPr>
        <p:txBody>
          <a:bodyPr wrap="square" lIns="27432" tIns="9144" rIns="27432" bIns="9144" anchor="ctr">
            <a:spAutoFit/>
          </a:bodyPr>
          <a:lstStyle/>
          <a:p>
            <a:pPr algn="l"/>
            <a:r>
              <a:rPr sz="950" b="1" i="0">
                <a:solidFill>
                  <a:srgbClr val="FFFFFF"/>
                </a:solidFill>
                <a:latin typeface="Calibri"/>
              </a:rPr>
              <a:t>Clinical development</a:t>
            </a:r>
          </a:p>
        </p:txBody>
      </p:sp>
      <p:sp>
        <p:nvSpPr>
          <p:cNvPr id="245" name="Rectangle 244"/>
          <p:cNvSpPr/>
          <p:nvPr/>
        </p:nvSpPr>
        <p:spPr>
          <a:xfrm>
            <a:off x="2565806" y="4572000"/>
            <a:ext cx="2291486" cy="17922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2620670" y="4608576"/>
            <a:ext cx="2181758" cy="1737360"/>
          </a:xfrm>
          <a:prstGeom prst="rect">
            <a:avLst/>
          </a:prstGeom>
          <a:noFill/>
        </p:spPr>
        <p:txBody>
          <a:bodyPr wrap="square" lIns="27432" tIns="9144" rIns="27432" bIns="9144" anchor="t">
            <a:spAutoFit/>
          </a:bodyPr>
          <a:lstStyle/>
          <a:p>
            <a:pPr algn="l"/>
            <a:r>
              <a:rPr sz="950" b="0" i="0">
                <a:solidFill>
                  <a:srgbClr val="262626"/>
                </a:solidFill>
                <a:latin typeface="Calibri"/>
              </a:rPr>
              <a:t>Winning designs are adjuvant, randomized and iDFS-driven, and increasingly admit HER2-low patients. Two HER2 vaccine trials ended for slow recruitment, so site networks and referral pathways matter. Plan for long event-driven timelines and multinational enrolment.</a:t>
            </a:r>
          </a:p>
        </p:txBody>
      </p:sp>
      <p:sp>
        <p:nvSpPr>
          <p:cNvPr id="247" name="Rectangle 246"/>
          <p:cNvSpPr/>
          <p:nvPr/>
        </p:nvSpPr>
        <p:spPr>
          <a:xfrm>
            <a:off x="4948732" y="4315968"/>
            <a:ext cx="2291486"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4994452" y="4315968"/>
            <a:ext cx="2200046" cy="256032"/>
          </a:xfrm>
          <a:prstGeom prst="rect">
            <a:avLst/>
          </a:prstGeom>
          <a:noFill/>
        </p:spPr>
        <p:txBody>
          <a:bodyPr wrap="square" lIns="27432" tIns="9144" rIns="27432" bIns="9144" anchor="ctr">
            <a:spAutoFit/>
          </a:bodyPr>
          <a:lstStyle/>
          <a:p>
            <a:pPr algn="l"/>
            <a:r>
              <a:rPr sz="950" b="1" i="0">
                <a:solidFill>
                  <a:srgbClr val="FFFFFF"/>
                </a:solidFill>
                <a:latin typeface="Calibri"/>
              </a:rPr>
              <a:t>R&amp;D</a:t>
            </a:r>
          </a:p>
        </p:txBody>
      </p:sp>
      <p:sp>
        <p:nvSpPr>
          <p:cNvPr id="249" name="Rectangle 248"/>
          <p:cNvSpPr/>
          <p:nvPr/>
        </p:nvSpPr>
        <p:spPr>
          <a:xfrm>
            <a:off x="4948732" y="4572000"/>
            <a:ext cx="2291486" cy="17922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5003596" y="4608576"/>
            <a:ext cx="2181758" cy="1737360"/>
          </a:xfrm>
          <a:prstGeom prst="rect">
            <a:avLst/>
          </a:prstGeom>
          <a:noFill/>
        </p:spPr>
        <p:txBody>
          <a:bodyPr wrap="square" lIns="27432" tIns="9144" rIns="27432" bIns="9144" anchor="t">
            <a:spAutoFit/>
          </a:bodyPr>
          <a:lstStyle/>
          <a:p>
            <a:pPr algn="l"/>
            <a:r>
              <a:rPr sz="950" b="0" i="0">
                <a:solidFill>
                  <a:srgbClr val="262626"/>
                </a:solidFill>
                <a:latin typeface="Calibri"/>
              </a:rPr>
              <a:t>Differentiate on antigen breadth (full HER2 domain versus single epitope) and on HLA-independent designs. Combination with HER2 ADCs and checkpoint inhibitors is the emerging standard. mRNA remains an open HER2 platform option.</a:t>
            </a:r>
          </a:p>
        </p:txBody>
      </p:sp>
      <p:sp>
        <p:nvSpPr>
          <p:cNvPr id="251" name="Rectangle 250"/>
          <p:cNvSpPr/>
          <p:nvPr/>
        </p:nvSpPr>
        <p:spPr>
          <a:xfrm>
            <a:off x="7331659" y="4315968"/>
            <a:ext cx="2291486"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7377379" y="4315968"/>
            <a:ext cx="2200046" cy="256032"/>
          </a:xfrm>
          <a:prstGeom prst="rect">
            <a:avLst/>
          </a:prstGeom>
          <a:noFill/>
        </p:spPr>
        <p:txBody>
          <a:bodyPr wrap="square" lIns="27432" tIns="9144" rIns="27432" bIns="9144" anchor="ctr">
            <a:spAutoFit/>
          </a:bodyPr>
          <a:lstStyle/>
          <a:p>
            <a:pPr algn="l"/>
            <a:r>
              <a:rPr sz="950" b="1" i="0">
                <a:solidFill>
                  <a:srgbClr val="FFFFFF"/>
                </a:solidFill>
                <a:latin typeface="Calibri"/>
              </a:rPr>
              <a:t>Regulatory</a:t>
            </a:r>
          </a:p>
        </p:txBody>
      </p:sp>
      <p:sp>
        <p:nvSpPr>
          <p:cNvPr id="253" name="Rectangle 252"/>
          <p:cNvSpPr/>
          <p:nvPr/>
        </p:nvSpPr>
        <p:spPr>
          <a:xfrm>
            <a:off x="7331659" y="4572000"/>
            <a:ext cx="2291486" cy="17922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TextBox 253"/>
          <p:cNvSpPr txBox="1"/>
          <p:nvPr/>
        </p:nvSpPr>
        <p:spPr>
          <a:xfrm>
            <a:off x="7386523" y="4608576"/>
            <a:ext cx="2181758" cy="1737360"/>
          </a:xfrm>
          <a:prstGeom prst="rect">
            <a:avLst/>
          </a:prstGeom>
          <a:noFill/>
        </p:spPr>
        <p:txBody>
          <a:bodyPr wrap="square" lIns="27432" tIns="9144" rIns="27432" bIns="9144" anchor="t">
            <a:spAutoFit/>
          </a:bodyPr>
          <a:lstStyle/>
          <a:p>
            <a:pPr algn="l"/>
            <a:r>
              <a:rPr sz="950" b="0" i="0">
                <a:solidFill>
                  <a:srgbClr val="262626"/>
                </a:solidFill>
                <a:latin typeface="Calibri"/>
              </a:rPr>
              <a:t>Define HER2 eligibility at IHC level (0, 1+, 2+/ISH-, 2+/ISH+, 3+) using ASCO/CAP scoring. Recurrence-free endpoints with interim analyses are accepted, as the GLSI-100 redesign shows. HER2-low indications will depend on validated IHC assays used as companion diagnostics.</a:t>
            </a:r>
          </a:p>
        </p:txBody>
      </p:sp>
      <p:sp>
        <p:nvSpPr>
          <p:cNvPr id="255" name="Rectangle 254"/>
          <p:cNvSpPr/>
          <p:nvPr/>
        </p:nvSpPr>
        <p:spPr>
          <a:xfrm>
            <a:off x="9714585" y="4315968"/>
            <a:ext cx="2291486" cy="25603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TextBox 255"/>
          <p:cNvSpPr txBox="1"/>
          <p:nvPr/>
        </p:nvSpPr>
        <p:spPr>
          <a:xfrm>
            <a:off x="9760305" y="4315968"/>
            <a:ext cx="2200046" cy="256032"/>
          </a:xfrm>
          <a:prstGeom prst="rect">
            <a:avLst/>
          </a:prstGeom>
          <a:noFill/>
        </p:spPr>
        <p:txBody>
          <a:bodyPr wrap="square" lIns="27432" tIns="9144" rIns="27432" bIns="9144" anchor="ctr">
            <a:spAutoFit/>
          </a:bodyPr>
          <a:lstStyle/>
          <a:p>
            <a:pPr algn="l"/>
            <a:r>
              <a:rPr sz="950" b="1" i="0">
                <a:solidFill>
                  <a:srgbClr val="FFFFFF"/>
                </a:solidFill>
                <a:latin typeface="Calibri"/>
              </a:rPr>
              <a:t>Commercial / market access</a:t>
            </a:r>
          </a:p>
        </p:txBody>
      </p:sp>
      <p:sp>
        <p:nvSpPr>
          <p:cNvPr id="257" name="Rectangle 256"/>
          <p:cNvSpPr/>
          <p:nvPr/>
        </p:nvSpPr>
        <p:spPr>
          <a:xfrm>
            <a:off x="9714585" y="4572000"/>
            <a:ext cx="2291486" cy="17922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TextBox 257"/>
          <p:cNvSpPr txBox="1"/>
          <p:nvPr/>
        </p:nvSpPr>
        <p:spPr>
          <a:xfrm>
            <a:off x="9769449" y="4608576"/>
            <a:ext cx="2181758" cy="1737360"/>
          </a:xfrm>
          <a:prstGeom prst="rect">
            <a:avLst/>
          </a:prstGeom>
          <a:noFill/>
        </p:spPr>
        <p:txBody>
          <a:bodyPr wrap="square" lIns="27432" tIns="9144" rIns="27432" bIns="9144" anchor="t">
            <a:spAutoFit/>
          </a:bodyPr>
          <a:lstStyle/>
          <a:p>
            <a:pPr algn="l"/>
            <a:r>
              <a:rPr sz="950" b="0" i="0">
                <a:solidFill>
                  <a:srgbClr val="262626"/>
                </a:solidFill>
                <a:latin typeface="Calibri"/>
              </a:rPr>
              <a:t>Breast HER2-positive (about 15%) and HER2-low (about 51%) groups define the addressable pool, led by the US, Europe and China. Gastric demand concentrates in China, Japan and South Korea. Adjuvant vaccines will be priced against recurrence costs, so outcomes data drive access.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Pipeline coverage by opportunity pool: development is concentrated in a few HER2-expression and platform segments, while several patient pools still have limited direct vaccine competition</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12</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How broadly each developer reaches across HER2-expression, cancer-type and vaccine-platform opportunity pools, based on verified clinical and preclinical programs</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182880" y="1371600"/>
            <a:ext cx="2468880" cy="182880"/>
          </a:xfrm>
          <a:prstGeom prst="rect">
            <a:avLst/>
          </a:prstGeom>
          <a:noFill/>
        </p:spPr>
        <p:txBody>
          <a:bodyPr wrap="square" lIns="27432" tIns="9144" rIns="27432" bIns="9144" anchor="t">
            <a:spAutoFit/>
          </a:bodyPr>
          <a:lstStyle/>
          <a:p>
            <a:pPr algn="l"/>
            <a:r>
              <a:rPr sz="900" b="1" i="0">
                <a:solidFill>
                  <a:srgbClr val="0E3A66"/>
                </a:solidFill>
                <a:latin typeface="Calibri"/>
              </a:rPr>
              <a:t>Opportunity pool</a:t>
            </a:r>
          </a:p>
        </p:txBody>
      </p:sp>
      <p:sp>
        <p:nvSpPr>
          <p:cNvPr id="7" name="TextBox 6"/>
          <p:cNvSpPr txBox="1"/>
          <p:nvPr/>
        </p:nvSpPr>
        <p:spPr>
          <a:xfrm>
            <a:off x="182880" y="1554480"/>
            <a:ext cx="2560320" cy="182880"/>
          </a:xfrm>
          <a:prstGeom prst="rect">
            <a:avLst/>
          </a:prstGeom>
          <a:noFill/>
        </p:spPr>
        <p:txBody>
          <a:bodyPr wrap="square" lIns="27432" tIns="9144" rIns="27432" bIns="9144" anchor="t">
            <a:spAutoFit/>
          </a:bodyPr>
          <a:lstStyle/>
          <a:p>
            <a:pPr algn="l"/>
            <a:r>
              <a:rPr sz="700" b="0" i="1">
                <a:solidFill>
                  <a:srgbClr val="404040"/>
                </a:solidFill>
                <a:latin typeface="Calibri"/>
              </a:rPr>
              <a:t>left bar = verified programs in the pool</a:t>
            </a:r>
          </a:p>
        </p:txBody>
      </p:sp>
      <p:sp>
        <p:nvSpPr>
          <p:cNvPr id="8" name="Rectangle 7"/>
          <p:cNvSpPr/>
          <p:nvPr/>
        </p:nvSpPr>
        <p:spPr>
          <a:xfrm>
            <a:off x="2724912" y="1362456"/>
            <a:ext cx="621792" cy="4572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15768" y="1463040"/>
            <a:ext cx="155448" cy="13716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15768"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3</a:t>
            </a:r>
          </a:p>
        </p:txBody>
      </p:sp>
      <p:sp>
        <p:nvSpPr>
          <p:cNvPr id="11" name="TextBox 10"/>
          <p:cNvSpPr txBox="1"/>
          <p:nvPr/>
        </p:nvSpPr>
        <p:spPr>
          <a:xfrm>
            <a:off x="2871216"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Greenwich</a:t>
            </a:r>
          </a:p>
        </p:txBody>
      </p:sp>
      <p:sp>
        <p:nvSpPr>
          <p:cNvPr id="12" name="Rectangle 11"/>
          <p:cNvSpPr/>
          <p:nvPr/>
        </p:nvSpPr>
        <p:spPr>
          <a:xfrm>
            <a:off x="3419856" y="1362456"/>
            <a:ext cx="621792" cy="457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10712" y="1463040"/>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10712"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5" name="TextBox 14"/>
          <p:cNvSpPr txBox="1"/>
          <p:nvPr/>
        </p:nvSpPr>
        <p:spPr>
          <a:xfrm>
            <a:off x="3566160"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Aston Sci.</a:t>
            </a:r>
          </a:p>
        </p:txBody>
      </p:sp>
      <p:sp>
        <p:nvSpPr>
          <p:cNvPr id="16" name="Rectangle 15"/>
          <p:cNvSpPr/>
          <p:nvPr/>
        </p:nvSpPr>
        <p:spPr>
          <a:xfrm>
            <a:off x="4114800" y="1362456"/>
            <a:ext cx="621792" cy="457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105656" y="1463040"/>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05656"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9" name="TextBox 18"/>
          <p:cNvSpPr txBox="1"/>
          <p:nvPr/>
        </p:nvSpPr>
        <p:spPr>
          <a:xfrm>
            <a:off x="4261104"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Moffitt</a:t>
            </a:r>
          </a:p>
        </p:txBody>
      </p:sp>
      <p:sp>
        <p:nvSpPr>
          <p:cNvPr id="20" name="Rectangle 19"/>
          <p:cNvSpPr/>
          <p:nvPr/>
        </p:nvSpPr>
        <p:spPr>
          <a:xfrm>
            <a:off x="4809744" y="1362456"/>
            <a:ext cx="621792" cy="45720"/>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800600" y="1463040"/>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00600"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23" name="TextBox 22"/>
          <p:cNvSpPr txBox="1"/>
          <p:nvPr/>
        </p:nvSpPr>
        <p:spPr>
          <a:xfrm>
            <a:off x="4956048"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UW CVI</a:t>
            </a:r>
          </a:p>
        </p:txBody>
      </p:sp>
      <p:sp>
        <p:nvSpPr>
          <p:cNvPr id="24" name="Rectangle 23"/>
          <p:cNvSpPr/>
          <p:nvPr/>
        </p:nvSpPr>
        <p:spPr>
          <a:xfrm>
            <a:off x="5504688" y="1362456"/>
            <a:ext cx="621792" cy="4572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95544" y="1463040"/>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95544"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27" name="TextBox 26"/>
          <p:cNvSpPr txBox="1"/>
          <p:nvPr/>
        </p:nvSpPr>
        <p:spPr>
          <a:xfrm>
            <a:off x="5650992"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ExpreS2ion</a:t>
            </a:r>
          </a:p>
        </p:txBody>
      </p:sp>
      <p:sp>
        <p:nvSpPr>
          <p:cNvPr id="28" name="Rectangle 27"/>
          <p:cNvSpPr/>
          <p:nvPr/>
        </p:nvSpPr>
        <p:spPr>
          <a:xfrm>
            <a:off x="6199632" y="1362456"/>
            <a:ext cx="621792" cy="4572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90488" y="1463040"/>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90488"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31" name="TextBox 30"/>
          <p:cNvSpPr txBox="1"/>
          <p:nvPr/>
        </p:nvSpPr>
        <p:spPr>
          <a:xfrm>
            <a:off x="6345936"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Mayo Clinic</a:t>
            </a:r>
          </a:p>
        </p:txBody>
      </p:sp>
      <p:sp>
        <p:nvSpPr>
          <p:cNvPr id="32" name="Rectangle 31"/>
          <p:cNvSpPr/>
          <p:nvPr/>
        </p:nvSpPr>
        <p:spPr>
          <a:xfrm>
            <a:off x="6894576" y="1362456"/>
            <a:ext cx="621792" cy="45720"/>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885432" y="1463040"/>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85432"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35" name="TextBox 34"/>
          <p:cNvSpPr txBox="1"/>
          <p:nvPr/>
        </p:nvSpPr>
        <p:spPr>
          <a:xfrm>
            <a:off x="7040880"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AdaptVac</a:t>
            </a:r>
          </a:p>
        </p:txBody>
      </p:sp>
      <p:sp>
        <p:nvSpPr>
          <p:cNvPr id="36" name="Rectangle 35"/>
          <p:cNvSpPr/>
          <p:nvPr/>
        </p:nvSpPr>
        <p:spPr>
          <a:xfrm>
            <a:off x="7589519" y="1362456"/>
            <a:ext cx="621792" cy="45720"/>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580375" y="1463040"/>
            <a:ext cx="155448" cy="13716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80375" y="14630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3</a:t>
            </a:r>
          </a:p>
        </p:txBody>
      </p:sp>
      <p:sp>
        <p:nvSpPr>
          <p:cNvPr id="39" name="TextBox 38"/>
          <p:cNvSpPr txBox="1"/>
          <p:nvPr/>
        </p:nvSpPr>
        <p:spPr>
          <a:xfrm>
            <a:off x="7735823" y="1426464"/>
            <a:ext cx="530352" cy="329184"/>
          </a:xfrm>
          <a:prstGeom prst="rect">
            <a:avLst/>
          </a:prstGeom>
          <a:noFill/>
        </p:spPr>
        <p:txBody>
          <a:bodyPr wrap="square" lIns="9144" tIns="9144" rIns="9144" bIns="9144" anchor="t">
            <a:spAutoFit/>
          </a:bodyPr>
          <a:lstStyle/>
          <a:p>
            <a:pPr algn="l"/>
            <a:r>
              <a:rPr sz="700" b="1" i="0">
                <a:solidFill>
                  <a:srgbClr val="262626"/>
                </a:solidFill>
                <a:latin typeface="Calibri"/>
              </a:rPr>
              <a:t>BriaCell (indirect)</a:t>
            </a:r>
          </a:p>
        </p:txBody>
      </p:sp>
      <p:sp>
        <p:nvSpPr>
          <p:cNvPr id="40" name="TextBox 39"/>
          <p:cNvSpPr txBox="1"/>
          <p:nvPr/>
        </p:nvSpPr>
        <p:spPr>
          <a:xfrm>
            <a:off x="8311896" y="1389888"/>
            <a:ext cx="685800" cy="365760"/>
          </a:xfrm>
          <a:prstGeom prst="rect">
            <a:avLst/>
          </a:prstGeom>
          <a:noFill/>
        </p:spPr>
        <p:txBody>
          <a:bodyPr wrap="square" lIns="27432" tIns="9144" rIns="27432" bIns="9144" anchor="t">
            <a:spAutoFit/>
          </a:bodyPr>
          <a:lstStyle/>
          <a:p>
            <a:pPr algn="l"/>
            <a:r>
              <a:rPr sz="800" b="1" i="0">
                <a:solidFill>
                  <a:srgbClr val="0E3A66"/>
                </a:solidFill>
                <a:latin typeface="Calibri"/>
              </a:rPr>
              <a:t>Developers active</a:t>
            </a:r>
          </a:p>
        </p:txBody>
      </p:sp>
      <p:sp>
        <p:nvSpPr>
          <p:cNvPr id="41" name="TextBox 40"/>
          <p:cNvSpPr txBox="1"/>
          <p:nvPr/>
        </p:nvSpPr>
        <p:spPr>
          <a:xfrm>
            <a:off x="9043416" y="1389888"/>
            <a:ext cx="2962655" cy="365760"/>
          </a:xfrm>
          <a:prstGeom prst="rect">
            <a:avLst/>
          </a:prstGeom>
          <a:noFill/>
        </p:spPr>
        <p:txBody>
          <a:bodyPr wrap="square" lIns="27432" tIns="9144" rIns="27432" bIns="9144" anchor="t">
            <a:spAutoFit/>
          </a:bodyPr>
          <a:lstStyle/>
          <a:p>
            <a:pPr algn="l"/>
            <a:r>
              <a:rPr sz="800" b="1" i="0">
                <a:solidFill>
                  <a:srgbClr val="0E3A66"/>
                </a:solidFill>
                <a:latin typeface="Calibri"/>
              </a:rPr>
              <a:t>Whitespace for a new entrant</a:t>
            </a:r>
          </a:p>
        </p:txBody>
      </p:sp>
      <p:cxnSp>
        <p:nvCxnSpPr>
          <p:cNvPr id="42" name="Connector 41"/>
          <p:cNvCxnSpPr/>
          <p:nvPr/>
        </p:nvCxnSpPr>
        <p:spPr>
          <a:xfrm>
            <a:off x="182880" y="1755648"/>
            <a:ext cx="11823192" cy="0"/>
          </a:xfrm>
          <a:prstGeom prst="line">
            <a:avLst/>
          </a:prstGeom>
          <a:ln w="15240">
            <a:solidFill>
              <a:srgbClr val="0E3A66"/>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82880" y="1783080"/>
            <a:ext cx="11823192" cy="182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28600" y="1783080"/>
            <a:ext cx="11731752" cy="182880"/>
          </a:xfrm>
          <a:prstGeom prst="rect">
            <a:avLst/>
          </a:prstGeom>
          <a:noFill/>
        </p:spPr>
        <p:txBody>
          <a:bodyPr wrap="square" lIns="27432" tIns="9144" rIns="27432" bIns="9144" anchor="ctr">
            <a:spAutoFit/>
          </a:bodyPr>
          <a:lstStyle/>
          <a:p>
            <a:pPr algn="l"/>
            <a:r>
              <a:rPr sz="750" b="1" i="0">
                <a:solidFill>
                  <a:srgbClr val="0E3A66"/>
                </a:solidFill>
                <a:latin typeface="Calibri"/>
              </a:rPr>
              <a:t>BY VACCINE PLATFORM: 6 DIRECT HER2 PROGRAMS PLUS 1 INDIRECT (BRIA-IMT); PROGRAM COUNTS, NOT SPEND</a:t>
            </a:r>
          </a:p>
        </p:txBody>
      </p:sp>
      <p:sp>
        <p:nvSpPr>
          <p:cNvPr id="45" name="TextBox 44"/>
          <p:cNvSpPr txBox="1"/>
          <p:nvPr/>
        </p:nvSpPr>
        <p:spPr>
          <a:xfrm>
            <a:off x="182880" y="1984248"/>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Plasmid DNA</a:t>
            </a:r>
          </a:p>
        </p:txBody>
      </p:sp>
      <p:sp>
        <p:nvSpPr>
          <p:cNvPr id="46" name="Rectangle 45"/>
          <p:cNvSpPr/>
          <p:nvPr/>
        </p:nvSpPr>
        <p:spPr>
          <a:xfrm>
            <a:off x="1298448" y="2066543"/>
            <a:ext cx="548640" cy="82296"/>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74519" y="1984248"/>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2 programs (33%)</a:t>
            </a:r>
          </a:p>
        </p:txBody>
      </p:sp>
      <p:sp>
        <p:nvSpPr>
          <p:cNvPr id="48" name="Oval 47"/>
          <p:cNvSpPr/>
          <p:nvPr/>
        </p:nvSpPr>
        <p:spPr>
          <a:xfrm>
            <a:off x="2907792"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602736" y="204139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4297680"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992624" y="204139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687568"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382512"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077456"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772400" y="204139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11896" y="1984248"/>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2</a:t>
            </a:r>
          </a:p>
        </p:txBody>
      </p:sp>
      <p:sp>
        <p:nvSpPr>
          <p:cNvPr id="57" name="TextBox 56"/>
          <p:cNvSpPr txBox="1"/>
          <p:nvPr/>
        </p:nvSpPr>
        <p:spPr>
          <a:xfrm>
            <a:off x="8494776" y="1984248"/>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2 direct</a:t>
            </a:r>
          </a:p>
        </p:txBody>
      </p:sp>
      <p:sp>
        <p:nvSpPr>
          <p:cNvPr id="58" name="Rectangle 57"/>
          <p:cNvSpPr/>
          <p:nvPr/>
        </p:nvSpPr>
        <p:spPr>
          <a:xfrm>
            <a:off x="9043416" y="2011679"/>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9162288" y="2011679"/>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9281160" y="2011679"/>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409176" y="1993391"/>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62" name="TextBox 61"/>
          <p:cNvSpPr txBox="1"/>
          <p:nvPr/>
        </p:nvSpPr>
        <p:spPr>
          <a:xfrm>
            <a:off x="9802368" y="1975104"/>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Two Phase II DNA programs; one breast trial ended, WOKVAC no longer recruiting.</a:t>
            </a:r>
          </a:p>
        </p:txBody>
      </p:sp>
      <p:cxnSp>
        <p:nvCxnSpPr>
          <p:cNvPr id="63" name="Connector 62"/>
          <p:cNvCxnSpPr/>
          <p:nvPr/>
        </p:nvCxnSpPr>
        <p:spPr>
          <a:xfrm>
            <a:off x="182880" y="2226564"/>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82880" y="2226564"/>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mRNA</a:t>
            </a:r>
          </a:p>
        </p:txBody>
      </p:sp>
      <p:sp>
        <p:nvSpPr>
          <p:cNvPr id="65" name="TextBox 64"/>
          <p:cNvSpPr txBox="1"/>
          <p:nvPr/>
        </p:nvSpPr>
        <p:spPr>
          <a:xfrm>
            <a:off x="1325880" y="2226564"/>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0 programs</a:t>
            </a:r>
          </a:p>
        </p:txBody>
      </p:sp>
      <p:sp>
        <p:nvSpPr>
          <p:cNvPr id="66" name="Oval 65"/>
          <p:cNvSpPr/>
          <p:nvPr/>
        </p:nvSpPr>
        <p:spPr>
          <a:xfrm>
            <a:off x="2907792"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602736"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4297680"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4992624"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5687568"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6382512"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7077456"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7772400" y="228371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311896" y="2226564"/>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0</a:t>
            </a:r>
          </a:p>
        </p:txBody>
      </p:sp>
      <p:sp>
        <p:nvSpPr>
          <p:cNvPr id="75" name="TextBox 74"/>
          <p:cNvSpPr txBox="1"/>
          <p:nvPr/>
        </p:nvSpPr>
        <p:spPr>
          <a:xfrm>
            <a:off x="8494776" y="2226564"/>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0 direct</a:t>
            </a:r>
          </a:p>
        </p:txBody>
      </p:sp>
      <p:sp>
        <p:nvSpPr>
          <p:cNvPr id="76" name="Rectangle 75"/>
          <p:cNvSpPr/>
          <p:nvPr/>
        </p:nvSpPr>
        <p:spPr>
          <a:xfrm>
            <a:off x="9043416" y="22539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62288" y="22539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281160" y="22539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9409176" y="2235708"/>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80" name="TextBox 79"/>
          <p:cNvSpPr txBox="1"/>
          <p:nvPr/>
        </p:nvSpPr>
        <p:spPr>
          <a:xfrm>
            <a:off x="9802368" y="2217420"/>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No verified HER2 breast or gastric mRNA vaccine; leaders focus on neoantigens.</a:t>
            </a:r>
          </a:p>
        </p:txBody>
      </p:sp>
      <p:cxnSp>
        <p:nvCxnSpPr>
          <p:cNvPr id="81" name="Connector 80"/>
          <p:cNvCxnSpPr/>
          <p:nvPr/>
        </p:nvCxnSpPr>
        <p:spPr>
          <a:xfrm>
            <a:off x="182880" y="2468880"/>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82880" y="2468880"/>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Peptide</a:t>
            </a:r>
          </a:p>
        </p:txBody>
      </p:sp>
      <p:sp>
        <p:nvSpPr>
          <p:cNvPr id="83" name="Rectangle 82"/>
          <p:cNvSpPr/>
          <p:nvPr/>
        </p:nvSpPr>
        <p:spPr>
          <a:xfrm>
            <a:off x="1298448" y="2551176"/>
            <a:ext cx="548640" cy="82296"/>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874519" y="2468880"/>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2 programs (33%)</a:t>
            </a:r>
          </a:p>
        </p:txBody>
      </p:sp>
      <p:sp>
        <p:nvSpPr>
          <p:cNvPr id="85" name="Oval 84"/>
          <p:cNvSpPr/>
          <p:nvPr/>
        </p:nvSpPr>
        <p:spPr>
          <a:xfrm>
            <a:off x="2907792" y="2526030"/>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3602736"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4297680"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4992624"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5687568"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6382512" y="2526030"/>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7077456"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7772400" y="252603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311896" y="2468880"/>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2</a:t>
            </a:r>
          </a:p>
        </p:txBody>
      </p:sp>
      <p:sp>
        <p:nvSpPr>
          <p:cNvPr id="94" name="TextBox 93"/>
          <p:cNvSpPr txBox="1"/>
          <p:nvPr/>
        </p:nvSpPr>
        <p:spPr>
          <a:xfrm>
            <a:off x="8494776" y="2468880"/>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2 direct</a:t>
            </a:r>
          </a:p>
        </p:txBody>
      </p:sp>
      <p:sp>
        <p:nvSpPr>
          <p:cNvPr id="95" name="Rectangle 94"/>
          <p:cNvSpPr/>
          <p:nvPr/>
        </p:nvSpPr>
        <p:spPr>
          <a:xfrm>
            <a:off x="9043416" y="249631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9162288" y="249631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9281160" y="2496312"/>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9409176" y="2478024"/>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99" name="TextBox 98"/>
          <p:cNvSpPr txBox="1"/>
          <p:nvPr/>
        </p:nvSpPr>
        <p:spPr>
          <a:xfrm>
            <a:off x="9802368" y="2459736"/>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One Phase III and one Phase Ib program.</a:t>
            </a:r>
            <a:r>
              <a:rPr sz="630" b="0" i="0">
                <a:solidFill>
                  <a:srgbClr val="D0692A"/>
                </a:solidFill>
                <a:latin typeface="Calibri"/>
              </a:rPr>
              <a:t> Exit: Imugene HER-Vaxx terminated.</a:t>
            </a:r>
          </a:p>
        </p:txBody>
      </p:sp>
      <p:cxnSp>
        <p:nvCxnSpPr>
          <p:cNvPr id="100" name="Connector 99"/>
          <p:cNvCxnSpPr/>
          <p:nvPr/>
        </p:nvCxnSpPr>
        <p:spPr>
          <a:xfrm>
            <a:off x="182880" y="2711196"/>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82880" y="2711196"/>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Protein / subunit</a:t>
            </a:r>
          </a:p>
        </p:txBody>
      </p:sp>
      <p:sp>
        <p:nvSpPr>
          <p:cNvPr id="102" name="TextBox 101"/>
          <p:cNvSpPr txBox="1"/>
          <p:nvPr/>
        </p:nvSpPr>
        <p:spPr>
          <a:xfrm>
            <a:off x="1325880" y="2711196"/>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0 programs</a:t>
            </a:r>
          </a:p>
        </p:txBody>
      </p:sp>
      <p:sp>
        <p:nvSpPr>
          <p:cNvPr id="103" name="Oval 102"/>
          <p:cNvSpPr/>
          <p:nvPr/>
        </p:nvSpPr>
        <p:spPr>
          <a:xfrm>
            <a:off x="2907792"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3602736"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4297680"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4992624"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5687568"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6382512"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7077456"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7772400" y="2768346"/>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8311896" y="2711196"/>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0</a:t>
            </a:r>
          </a:p>
        </p:txBody>
      </p:sp>
      <p:sp>
        <p:nvSpPr>
          <p:cNvPr id="112" name="TextBox 111"/>
          <p:cNvSpPr txBox="1"/>
          <p:nvPr/>
        </p:nvSpPr>
        <p:spPr>
          <a:xfrm>
            <a:off x="8494776" y="2711196"/>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0 direct</a:t>
            </a:r>
          </a:p>
        </p:txBody>
      </p:sp>
      <p:sp>
        <p:nvSpPr>
          <p:cNvPr id="113" name="Rectangle 112"/>
          <p:cNvSpPr/>
          <p:nvPr/>
        </p:nvSpPr>
        <p:spPr>
          <a:xfrm>
            <a:off x="9043416" y="273862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9162288" y="273862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9281160" y="273862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9409176" y="2720340"/>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117" name="TextBox 116"/>
          <p:cNvSpPr txBox="1"/>
          <p:nvPr/>
        </p:nvSpPr>
        <p:spPr>
          <a:xfrm>
            <a:off x="9802368" y="2702052"/>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No active HER2 protein or subunit vaccine.</a:t>
            </a:r>
            <a:r>
              <a:rPr sz="630" b="0" i="0">
                <a:solidFill>
                  <a:srgbClr val="D0692A"/>
                </a:solidFill>
                <a:latin typeface="Calibri"/>
              </a:rPr>
              <a:t> Exit: OBI conjugate (non-HER2) ended Apr 2025.</a:t>
            </a:r>
          </a:p>
        </p:txBody>
      </p:sp>
      <p:cxnSp>
        <p:nvCxnSpPr>
          <p:cNvPr id="118" name="Connector 117"/>
          <p:cNvCxnSpPr/>
          <p:nvPr/>
        </p:nvCxnSpPr>
        <p:spPr>
          <a:xfrm>
            <a:off x="182880" y="2953512"/>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82880" y="2953512"/>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Virus-like particle</a:t>
            </a:r>
          </a:p>
        </p:txBody>
      </p:sp>
      <p:sp>
        <p:nvSpPr>
          <p:cNvPr id="120" name="Rectangle 119"/>
          <p:cNvSpPr/>
          <p:nvPr/>
        </p:nvSpPr>
        <p:spPr>
          <a:xfrm>
            <a:off x="1298448" y="3035808"/>
            <a:ext cx="274320" cy="82296"/>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600200" y="2953512"/>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1 program (17%)</a:t>
            </a:r>
          </a:p>
        </p:txBody>
      </p:sp>
      <p:sp>
        <p:nvSpPr>
          <p:cNvPr id="122" name="Oval 121"/>
          <p:cNvSpPr/>
          <p:nvPr/>
        </p:nvSpPr>
        <p:spPr>
          <a:xfrm>
            <a:off x="2907792"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3602736"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4297680"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4992624"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5687568" y="3010662"/>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6382512"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7077456" y="3010662"/>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Chord 128"/>
          <p:cNvSpPr/>
          <p:nvPr/>
        </p:nvSpPr>
        <p:spPr>
          <a:xfrm>
            <a:off x="7077456" y="3010662"/>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7772400" y="301066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8311896" y="2953512"/>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2</a:t>
            </a:r>
          </a:p>
        </p:txBody>
      </p:sp>
      <p:sp>
        <p:nvSpPr>
          <p:cNvPr id="132" name="TextBox 131"/>
          <p:cNvSpPr txBox="1"/>
          <p:nvPr/>
        </p:nvSpPr>
        <p:spPr>
          <a:xfrm>
            <a:off x="8494776" y="2953512"/>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1 direct</a:t>
            </a:r>
          </a:p>
        </p:txBody>
      </p:sp>
      <p:sp>
        <p:nvSpPr>
          <p:cNvPr id="133" name="Rectangle 132"/>
          <p:cNvSpPr/>
          <p:nvPr/>
        </p:nvSpPr>
        <p:spPr>
          <a:xfrm>
            <a:off x="9043416" y="2980944"/>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Rectangle 133"/>
          <p:cNvSpPr/>
          <p:nvPr/>
        </p:nvSpPr>
        <p:spPr>
          <a:xfrm>
            <a:off x="9162288" y="2980944"/>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9281160" y="2980944"/>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9409176" y="2962656"/>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137" name="TextBox 136"/>
          <p:cNvSpPr txBox="1"/>
          <p:nvPr/>
        </p:nvSpPr>
        <p:spPr>
          <a:xfrm>
            <a:off x="9802368" y="2944368"/>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VLP activity exists, but only one Phase I program.</a:t>
            </a:r>
          </a:p>
        </p:txBody>
      </p:sp>
      <p:cxnSp>
        <p:nvCxnSpPr>
          <p:cNvPr id="138" name="Connector 137"/>
          <p:cNvCxnSpPr/>
          <p:nvPr/>
        </p:nvCxnSpPr>
        <p:spPr>
          <a:xfrm>
            <a:off x="182880" y="3195828"/>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82880" y="3195828"/>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Dendritic cell</a:t>
            </a:r>
          </a:p>
        </p:txBody>
      </p:sp>
      <p:sp>
        <p:nvSpPr>
          <p:cNvPr id="140" name="Rectangle 139"/>
          <p:cNvSpPr/>
          <p:nvPr/>
        </p:nvSpPr>
        <p:spPr>
          <a:xfrm>
            <a:off x="1298448" y="3278124"/>
            <a:ext cx="274320" cy="82296"/>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1600200" y="3195828"/>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1 program (17%)</a:t>
            </a:r>
          </a:p>
        </p:txBody>
      </p:sp>
      <p:sp>
        <p:nvSpPr>
          <p:cNvPr id="142" name="Oval 141"/>
          <p:cNvSpPr/>
          <p:nvPr/>
        </p:nvSpPr>
        <p:spPr>
          <a:xfrm>
            <a:off x="2907792"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3602736"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4297680" y="325297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4992624"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5687568"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6382512"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7077456"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7772400" y="3252978"/>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8311896" y="3195828"/>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1</a:t>
            </a:r>
          </a:p>
        </p:txBody>
      </p:sp>
      <p:sp>
        <p:nvSpPr>
          <p:cNvPr id="151" name="TextBox 150"/>
          <p:cNvSpPr txBox="1"/>
          <p:nvPr/>
        </p:nvSpPr>
        <p:spPr>
          <a:xfrm>
            <a:off x="8494776" y="3195828"/>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1 direct</a:t>
            </a:r>
          </a:p>
        </p:txBody>
      </p:sp>
      <p:sp>
        <p:nvSpPr>
          <p:cNvPr id="152" name="Rectangle 151"/>
          <p:cNvSpPr/>
          <p:nvPr/>
        </p:nvSpPr>
        <p:spPr>
          <a:xfrm>
            <a:off x="9043416" y="322326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ectangle 152"/>
          <p:cNvSpPr/>
          <p:nvPr/>
        </p:nvSpPr>
        <p:spPr>
          <a:xfrm>
            <a:off x="9162288" y="322326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ectangle 153"/>
          <p:cNvSpPr/>
          <p:nvPr/>
        </p:nvSpPr>
        <p:spPr>
          <a:xfrm>
            <a:off x="9281160" y="3223260"/>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9409176" y="3204972"/>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156" name="TextBox 155"/>
          <p:cNvSpPr txBox="1"/>
          <p:nvPr/>
        </p:nvSpPr>
        <p:spPr>
          <a:xfrm>
            <a:off x="9802368" y="3186684"/>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One academic Phase II; autologous cells limit scale.</a:t>
            </a:r>
          </a:p>
        </p:txBody>
      </p:sp>
      <p:cxnSp>
        <p:nvCxnSpPr>
          <p:cNvPr id="157" name="Connector 156"/>
          <p:cNvCxnSpPr/>
          <p:nvPr/>
        </p:nvCxnSpPr>
        <p:spPr>
          <a:xfrm>
            <a:off x="182880" y="3438144"/>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182880" y="3438144"/>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Viral vector</a:t>
            </a:r>
          </a:p>
        </p:txBody>
      </p:sp>
      <p:sp>
        <p:nvSpPr>
          <p:cNvPr id="159" name="TextBox 158"/>
          <p:cNvSpPr txBox="1"/>
          <p:nvPr/>
        </p:nvSpPr>
        <p:spPr>
          <a:xfrm>
            <a:off x="1325880" y="3438144"/>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0 programs</a:t>
            </a:r>
          </a:p>
        </p:txBody>
      </p:sp>
      <p:sp>
        <p:nvSpPr>
          <p:cNvPr id="160" name="Oval 159"/>
          <p:cNvSpPr/>
          <p:nvPr/>
        </p:nvSpPr>
        <p:spPr>
          <a:xfrm>
            <a:off x="2907792"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3602736"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4297680"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4992624"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5687568"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6382512"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7077456"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7772400" y="349529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TextBox 167"/>
          <p:cNvSpPr txBox="1"/>
          <p:nvPr/>
        </p:nvSpPr>
        <p:spPr>
          <a:xfrm>
            <a:off x="8311896" y="3438144"/>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0</a:t>
            </a:r>
          </a:p>
        </p:txBody>
      </p:sp>
      <p:sp>
        <p:nvSpPr>
          <p:cNvPr id="169" name="TextBox 168"/>
          <p:cNvSpPr txBox="1"/>
          <p:nvPr/>
        </p:nvSpPr>
        <p:spPr>
          <a:xfrm>
            <a:off x="8494776" y="3438144"/>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0 direct</a:t>
            </a:r>
          </a:p>
        </p:txBody>
      </p:sp>
      <p:sp>
        <p:nvSpPr>
          <p:cNvPr id="170" name="Rectangle 169"/>
          <p:cNvSpPr/>
          <p:nvPr/>
        </p:nvSpPr>
        <p:spPr>
          <a:xfrm>
            <a:off x="9043416" y="346557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Rectangle 170"/>
          <p:cNvSpPr/>
          <p:nvPr/>
        </p:nvSpPr>
        <p:spPr>
          <a:xfrm>
            <a:off x="9162288" y="346557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9281160" y="346557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9409176" y="3447288"/>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174" name="TextBox 173"/>
          <p:cNvSpPr txBox="1"/>
          <p:nvPr/>
        </p:nvSpPr>
        <p:spPr>
          <a:xfrm>
            <a:off x="9802368" y="3429000"/>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No active HER2 viral-vector program verified.</a:t>
            </a:r>
          </a:p>
        </p:txBody>
      </p:sp>
      <p:cxnSp>
        <p:nvCxnSpPr>
          <p:cNvPr id="175" name="Connector 174"/>
          <p:cNvCxnSpPr/>
          <p:nvPr/>
        </p:nvCxnSpPr>
        <p:spPr>
          <a:xfrm>
            <a:off x="182880" y="3680460"/>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82880" y="3680460"/>
            <a:ext cx="1325880" cy="242316"/>
          </a:xfrm>
          <a:prstGeom prst="rect">
            <a:avLst/>
          </a:prstGeom>
          <a:noFill/>
        </p:spPr>
        <p:txBody>
          <a:bodyPr wrap="square" lIns="27432" tIns="9144" rIns="27432" bIns="9144" anchor="ctr">
            <a:spAutoFit/>
          </a:bodyPr>
          <a:lstStyle/>
          <a:p>
            <a:pPr algn="l"/>
            <a:r>
              <a:rPr sz="850" b="1" i="0">
                <a:solidFill>
                  <a:srgbClr val="262626"/>
                </a:solidFill>
                <a:latin typeface="Calibri"/>
              </a:rPr>
              <a:t>Other platforms</a:t>
            </a:r>
          </a:p>
        </p:txBody>
      </p:sp>
      <p:sp>
        <p:nvSpPr>
          <p:cNvPr id="177" name="TextBox 176"/>
          <p:cNvSpPr txBox="1"/>
          <p:nvPr/>
        </p:nvSpPr>
        <p:spPr>
          <a:xfrm>
            <a:off x="1325880" y="3680460"/>
            <a:ext cx="1371600" cy="242316"/>
          </a:xfrm>
          <a:prstGeom prst="rect">
            <a:avLst/>
          </a:prstGeom>
          <a:noFill/>
        </p:spPr>
        <p:txBody>
          <a:bodyPr wrap="square" lIns="27432" tIns="9144" rIns="27432" bIns="9144" anchor="ctr">
            <a:spAutoFit/>
          </a:bodyPr>
          <a:lstStyle/>
          <a:p>
            <a:pPr algn="l"/>
            <a:r>
              <a:rPr sz="700" b="0" i="0">
                <a:solidFill>
                  <a:srgbClr val="404040"/>
                </a:solidFill>
                <a:latin typeface="Calibri"/>
              </a:rPr>
              <a:t>0 programs (indirect)</a:t>
            </a:r>
          </a:p>
        </p:txBody>
      </p:sp>
      <p:sp>
        <p:nvSpPr>
          <p:cNvPr id="178" name="Oval 177"/>
          <p:cNvSpPr/>
          <p:nvPr/>
        </p:nvSpPr>
        <p:spPr>
          <a:xfrm>
            <a:off x="2907792"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3602736"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4297680"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4992624"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5687568"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6382512"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7077456" y="373761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7772400" y="3737610"/>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Chord 185"/>
          <p:cNvSpPr/>
          <p:nvPr/>
        </p:nvSpPr>
        <p:spPr>
          <a:xfrm>
            <a:off x="7772400" y="3737610"/>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186"/>
          <p:cNvSpPr txBox="1"/>
          <p:nvPr/>
        </p:nvSpPr>
        <p:spPr>
          <a:xfrm>
            <a:off x="8311896" y="3680460"/>
            <a:ext cx="201168" cy="242316"/>
          </a:xfrm>
          <a:prstGeom prst="rect">
            <a:avLst/>
          </a:prstGeom>
          <a:noFill/>
        </p:spPr>
        <p:txBody>
          <a:bodyPr wrap="square" lIns="27432" tIns="9144" rIns="27432" bIns="9144" anchor="ctr">
            <a:spAutoFit/>
          </a:bodyPr>
          <a:lstStyle/>
          <a:p>
            <a:pPr algn="l"/>
            <a:r>
              <a:rPr sz="1100" b="1" i="0">
                <a:solidFill>
                  <a:srgbClr val="0E3A66"/>
                </a:solidFill>
                <a:latin typeface="Calibri"/>
              </a:rPr>
              <a:t>1</a:t>
            </a:r>
          </a:p>
        </p:txBody>
      </p:sp>
      <p:sp>
        <p:nvSpPr>
          <p:cNvPr id="188" name="TextBox 187"/>
          <p:cNvSpPr txBox="1"/>
          <p:nvPr/>
        </p:nvSpPr>
        <p:spPr>
          <a:xfrm>
            <a:off x="8494776" y="3680460"/>
            <a:ext cx="548640" cy="242316"/>
          </a:xfrm>
          <a:prstGeom prst="rect">
            <a:avLst/>
          </a:prstGeom>
          <a:noFill/>
        </p:spPr>
        <p:txBody>
          <a:bodyPr wrap="square" lIns="27432" tIns="9144" rIns="27432" bIns="9144" anchor="ctr">
            <a:spAutoFit/>
          </a:bodyPr>
          <a:lstStyle/>
          <a:p>
            <a:pPr algn="l"/>
            <a:r>
              <a:rPr sz="680" b="0" i="0">
                <a:solidFill>
                  <a:srgbClr val="404040"/>
                </a:solidFill>
                <a:latin typeface="Calibri"/>
              </a:rPr>
              <a:t>0 direct</a:t>
            </a:r>
          </a:p>
        </p:txBody>
      </p:sp>
      <p:sp>
        <p:nvSpPr>
          <p:cNvPr id="189" name="Rectangle 188"/>
          <p:cNvSpPr/>
          <p:nvPr/>
        </p:nvSpPr>
        <p:spPr>
          <a:xfrm>
            <a:off x="9043416" y="370789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Rectangle 189"/>
          <p:cNvSpPr/>
          <p:nvPr/>
        </p:nvSpPr>
        <p:spPr>
          <a:xfrm>
            <a:off x="9162288" y="370789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Rectangle 190"/>
          <p:cNvSpPr/>
          <p:nvPr/>
        </p:nvSpPr>
        <p:spPr>
          <a:xfrm>
            <a:off x="9281160" y="3707892"/>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9409176" y="3689604"/>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193" name="TextBox 192"/>
          <p:cNvSpPr txBox="1"/>
          <p:nvPr/>
        </p:nvSpPr>
        <p:spPr>
          <a:xfrm>
            <a:off x="9802368" y="3671316"/>
            <a:ext cx="2203703" cy="260604"/>
          </a:xfrm>
          <a:prstGeom prst="rect">
            <a:avLst/>
          </a:prstGeom>
          <a:noFill/>
        </p:spPr>
        <p:txBody>
          <a:bodyPr wrap="square" lIns="27432" tIns="9144" rIns="27432" bIns="9144" anchor="t">
            <a:spAutoFit/>
          </a:bodyPr>
          <a:lstStyle/>
          <a:p>
            <a:pPr algn="l"/>
            <a:r>
              <a:rPr sz="630" b="0" i="0">
                <a:solidFill>
                  <a:srgbClr val="262626"/>
                </a:solidFill>
                <a:latin typeface="Calibri"/>
              </a:rPr>
              <a:t>Only Bria-IMT (whole cell), which is not HER2-selected.</a:t>
            </a:r>
          </a:p>
        </p:txBody>
      </p:sp>
      <p:cxnSp>
        <p:nvCxnSpPr>
          <p:cNvPr id="194" name="Connector 193"/>
          <p:cNvCxnSpPr/>
          <p:nvPr/>
        </p:nvCxnSpPr>
        <p:spPr>
          <a:xfrm>
            <a:off x="182880" y="3922776"/>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182880" y="3941063"/>
            <a:ext cx="11823192" cy="1828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228600" y="3941063"/>
            <a:ext cx="11731752" cy="182880"/>
          </a:xfrm>
          <a:prstGeom prst="rect">
            <a:avLst/>
          </a:prstGeom>
          <a:noFill/>
        </p:spPr>
        <p:txBody>
          <a:bodyPr wrap="square" lIns="27432" tIns="9144" rIns="27432" bIns="9144" anchor="ctr">
            <a:spAutoFit/>
          </a:bodyPr>
          <a:lstStyle/>
          <a:p>
            <a:pPr algn="l"/>
            <a:r>
              <a:rPr sz="750" b="1" i="0">
                <a:solidFill>
                  <a:srgbClr val="0E3A66"/>
                </a:solidFill>
                <a:latin typeface="Calibri"/>
              </a:rPr>
              <a:t>BY PATIENT AND BIOMARKER OPPORTUNITY: NON-OVERLAPPING HER2 GROUPS (HER2-LOW = IHC 1+ PLUS IHC 2+/ISH-NEGATIVE, NOT A SEPARATE ROW)</a:t>
            </a:r>
          </a:p>
        </p:txBody>
      </p:sp>
      <p:sp>
        <p:nvSpPr>
          <p:cNvPr id="197" name="TextBox 196"/>
          <p:cNvSpPr txBox="1"/>
          <p:nvPr/>
        </p:nvSpPr>
        <p:spPr>
          <a:xfrm>
            <a:off x="182880" y="4142232"/>
            <a:ext cx="2560320" cy="164592"/>
          </a:xfrm>
          <a:prstGeom prst="rect">
            <a:avLst/>
          </a:prstGeom>
          <a:noFill/>
        </p:spPr>
        <p:txBody>
          <a:bodyPr wrap="square" lIns="27432" tIns="9144" rIns="27432" bIns="9144" anchor="t">
            <a:spAutoFit/>
          </a:bodyPr>
          <a:lstStyle/>
          <a:p>
            <a:pPr algn="l"/>
            <a:r>
              <a:rPr sz="850" b="1" i="0">
                <a:solidFill>
                  <a:srgbClr val="262626"/>
                </a:solidFill>
                <a:latin typeface="Calibri"/>
              </a:rPr>
              <a:t>HER2 IHC 0</a:t>
            </a:r>
          </a:p>
        </p:txBody>
      </p:sp>
      <p:sp>
        <p:nvSpPr>
          <p:cNvPr id="198" name="TextBox 197"/>
          <p:cNvSpPr txBox="1"/>
          <p:nvPr/>
        </p:nvSpPr>
        <p:spPr>
          <a:xfrm>
            <a:off x="182880" y="4297680"/>
            <a:ext cx="2560320" cy="137160"/>
          </a:xfrm>
          <a:prstGeom prst="rect">
            <a:avLst/>
          </a:prstGeom>
          <a:noFill/>
        </p:spPr>
        <p:txBody>
          <a:bodyPr wrap="square" lIns="27432" tIns="9144" rIns="27432" bIns="9144" anchor="t">
            <a:spAutoFit/>
          </a:bodyPr>
          <a:lstStyle/>
          <a:p>
            <a:pPr algn="l"/>
            <a:r>
              <a:rPr sz="680" b="0" i="0">
                <a:solidFill>
                  <a:srgbClr val="595959"/>
                </a:solidFill>
                <a:latin typeface="Calibri"/>
              </a:rPr>
              <a:t>BC c.34% (AE) | GC varies by study</a:t>
            </a:r>
          </a:p>
        </p:txBody>
      </p:sp>
      <p:sp>
        <p:nvSpPr>
          <p:cNvPr id="199" name="Oval 198"/>
          <p:cNvSpPr/>
          <p:nvPr/>
        </p:nvSpPr>
        <p:spPr>
          <a:xfrm>
            <a:off x="2852928"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3547872"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4242816"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4937760"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5632704"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6327648"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7022592" y="4229100"/>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7717536" y="4229100"/>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Chord 206"/>
          <p:cNvSpPr/>
          <p:nvPr/>
        </p:nvSpPr>
        <p:spPr>
          <a:xfrm>
            <a:off x="7717536" y="4229100"/>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7863840" y="4160520"/>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09" name="TextBox 208"/>
          <p:cNvSpPr txBox="1"/>
          <p:nvPr/>
        </p:nvSpPr>
        <p:spPr>
          <a:xfrm>
            <a:off x="8311896" y="4142232"/>
            <a:ext cx="201168" cy="301752"/>
          </a:xfrm>
          <a:prstGeom prst="rect">
            <a:avLst/>
          </a:prstGeom>
          <a:noFill/>
        </p:spPr>
        <p:txBody>
          <a:bodyPr wrap="square" lIns="27432" tIns="9144" rIns="27432" bIns="9144" anchor="ctr">
            <a:spAutoFit/>
          </a:bodyPr>
          <a:lstStyle/>
          <a:p>
            <a:pPr algn="l"/>
            <a:r>
              <a:rPr sz="1100" b="1" i="0">
                <a:solidFill>
                  <a:srgbClr val="0E3A66"/>
                </a:solidFill>
                <a:latin typeface="Calibri"/>
              </a:rPr>
              <a:t>1</a:t>
            </a:r>
          </a:p>
        </p:txBody>
      </p:sp>
      <p:sp>
        <p:nvSpPr>
          <p:cNvPr id="210" name="TextBox 209"/>
          <p:cNvSpPr txBox="1"/>
          <p:nvPr/>
        </p:nvSpPr>
        <p:spPr>
          <a:xfrm>
            <a:off x="8494776" y="4142232"/>
            <a:ext cx="548640" cy="301752"/>
          </a:xfrm>
          <a:prstGeom prst="rect">
            <a:avLst/>
          </a:prstGeom>
          <a:noFill/>
        </p:spPr>
        <p:txBody>
          <a:bodyPr wrap="square" lIns="27432" tIns="9144" rIns="27432" bIns="9144" anchor="ctr">
            <a:spAutoFit/>
          </a:bodyPr>
          <a:lstStyle/>
          <a:p>
            <a:pPr algn="l"/>
            <a:r>
              <a:rPr sz="680" b="0" i="0">
                <a:solidFill>
                  <a:srgbClr val="404040"/>
                </a:solidFill>
                <a:latin typeface="Calibri"/>
              </a:rPr>
              <a:t>0 direct</a:t>
            </a:r>
          </a:p>
        </p:txBody>
      </p:sp>
      <p:sp>
        <p:nvSpPr>
          <p:cNvPr id="211" name="Rectangle 210"/>
          <p:cNvSpPr/>
          <p:nvPr/>
        </p:nvSpPr>
        <p:spPr>
          <a:xfrm>
            <a:off x="9043416" y="417880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9162288" y="417880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Rectangle 212"/>
          <p:cNvSpPr/>
          <p:nvPr/>
        </p:nvSpPr>
        <p:spPr>
          <a:xfrm>
            <a:off x="9281160" y="417880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9409176" y="4160520"/>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215" name="TextBox 214"/>
          <p:cNvSpPr txBox="1"/>
          <p:nvPr/>
        </p:nvSpPr>
        <p:spPr>
          <a:xfrm>
            <a:off x="9802368" y="4142232"/>
            <a:ext cx="2203703" cy="301752"/>
          </a:xfrm>
          <a:prstGeom prst="rect">
            <a:avLst/>
          </a:prstGeom>
          <a:noFill/>
        </p:spPr>
        <p:txBody>
          <a:bodyPr wrap="square" lIns="27432" tIns="9144" rIns="27432" bIns="9144" anchor="t">
            <a:spAutoFit/>
          </a:bodyPr>
          <a:lstStyle/>
          <a:p>
            <a:pPr algn="l"/>
            <a:r>
              <a:rPr sz="630" b="0" i="0">
                <a:solidFill>
                  <a:srgbClr val="262626"/>
                </a:solidFill>
                <a:latin typeface="Calibri"/>
              </a:rPr>
              <a:t>No direct HER2 vaccine admits IHC 0.</a:t>
            </a:r>
            <a:r>
              <a:rPr sz="630" b="0" i="0">
                <a:solidFill>
                  <a:srgbClr val="D0692A"/>
                </a:solidFill>
                <a:latin typeface="Calibri"/>
              </a:rPr>
              <a:t> Exit: OBI GLORIA (IHC 0/1+ TNBC) terminated.</a:t>
            </a:r>
          </a:p>
        </p:txBody>
      </p:sp>
      <p:cxnSp>
        <p:nvCxnSpPr>
          <p:cNvPr id="216" name="Connector 215"/>
          <p:cNvCxnSpPr/>
          <p:nvPr/>
        </p:nvCxnSpPr>
        <p:spPr>
          <a:xfrm>
            <a:off x="182880" y="4443984"/>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217" name="TextBox 216"/>
          <p:cNvSpPr txBox="1"/>
          <p:nvPr/>
        </p:nvSpPr>
        <p:spPr>
          <a:xfrm>
            <a:off x="182880" y="4443984"/>
            <a:ext cx="2560320" cy="164592"/>
          </a:xfrm>
          <a:prstGeom prst="rect">
            <a:avLst/>
          </a:prstGeom>
          <a:noFill/>
        </p:spPr>
        <p:txBody>
          <a:bodyPr wrap="square" lIns="27432" tIns="9144" rIns="27432" bIns="9144" anchor="t">
            <a:spAutoFit/>
          </a:bodyPr>
          <a:lstStyle/>
          <a:p>
            <a:pPr algn="l"/>
            <a:r>
              <a:rPr sz="850" b="1" i="0">
                <a:solidFill>
                  <a:srgbClr val="262626"/>
                </a:solidFill>
                <a:latin typeface="Calibri"/>
              </a:rPr>
              <a:t>HER2 IHC 1+</a:t>
            </a:r>
          </a:p>
        </p:txBody>
      </p:sp>
      <p:sp>
        <p:nvSpPr>
          <p:cNvPr id="218" name="TextBox 217"/>
          <p:cNvSpPr txBox="1"/>
          <p:nvPr/>
        </p:nvSpPr>
        <p:spPr>
          <a:xfrm>
            <a:off x="182880" y="4599432"/>
            <a:ext cx="2560320" cy="137160"/>
          </a:xfrm>
          <a:prstGeom prst="rect">
            <a:avLst/>
          </a:prstGeom>
          <a:noFill/>
        </p:spPr>
        <p:txBody>
          <a:bodyPr wrap="square" lIns="27432" tIns="9144" rIns="27432" bIns="9144" anchor="t">
            <a:spAutoFit/>
          </a:bodyPr>
          <a:lstStyle/>
          <a:p>
            <a:pPr algn="l"/>
            <a:r>
              <a:rPr sz="680" b="0" i="0">
                <a:solidFill>
                  <a:srgbClr val="595959"/>
                </a:solidFill>
                <a:latin typeface="Calibri"/>
              </a:rPr>
              <a:t>BC c.34% | GC varies by study</a:t>
            </a:r>
          </a:p>
        </p:txBody>
      </p:sp>
      <p:sp>
        <p:nvSpPr>
          <p:cNvPr id="219" name="Oval 218"/>
          <p:cNvSpPr/>
          <p:nvPr/>
        </p:nvSpPr>
        <p:spPr>
          <a:xfrm>
            <a:off x="2852928" y="453085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3547872" y="4530852"/>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TextBox 220"/>
          <p:cNvSpPr txBox="1"/>
          <p:nvPr/>
        </p:nvSpPr>
        <p:spPr>
          <a:xfrm>
            <a:off x="3694176" y="4462272"/>
            <a:ext cx="228600" cy="128016"/>
          </a:xfrm>
          <a:prstGeom prst="rect">
            <a:avLst/>
          </a:prstGeom>
          <a:noFill/>
        </p:spPr>
        <p:txBody>
          <a:bodyPr wrap="square" lIns="27432" tIns="9144" rIns="27432" bIns="9144" anchor="t">
            <a:spAutoFit/>
          </a:bodyPr>
          <a:lstStyle/>
          <a:p>
            <a:pPr algn="l"/>
            <a:r>
              <a:rPr sz="600" b="1" i="0">
                <a:solidFill>
                  <a:srgbClr val="1F7A8C"/>
                </a:solidFill>
                <a:latin typeface="Calibri"/>
              </a:rPr>
              <a:t>GC</a:t>
            </a:r>
          </a:p>
        </p:txBody>
      </p:sp>
      <p:sp>
        <p:nvSpPr>
          <p:cNvPr id="222" name="Oval 221"/>
          <p:cNvSpPr/>
          <p:nvPr/>
        </p:nvSpPr>
        <p:spPr>
          <a:xfrm>
            <a:off x="3849623" y="4530852"/>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Pie 222"/>
          <p:cNvSpPr/>
          <p:nvPr/>
        </p:nvSpPr>
        <p:spPr>
          <a:xfrm>
            <a:off x="3849623" y="4530852"/>
            <a:ext cx="128016" cy="128016"/>
          </a:xfrm>
          <a:prstGeom prst="pie">
            <a:avLst>
              <a:gd name="adj1" fmla="val 16200000"/>
              <a:gd name="adj2" fmla="val 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3995928" y="4462272"/>
            <a:ext cx="228600" cy="128016"/>
          </a:xfrm>
          <a:prstGeom prst="rect">
            <a:avLst/>
          </a:prstGeom>
          <a:noFill/>
        </p:spPr>
        <p:txBody>
          <a:bodyPr wrap="square" lIns="27432" tIns="9144" rIns="27432" bIns="9144" anchor="t">
            <a:spAutoFit/>
          </a:bodyPr>
          <a:lstStyle/>
          <a:p>
            <a:pPr algn="l"/>
            <a:r>
              <a:rPr sz="600" b="1" i="0">
                <a:solidFill>
                  <a:srgbClr val="D0692A"/>
                </a:solidFill>
                <a:latin typeface="Calibri"/>
              </a:rPr>
              <a:t>BC</a:t>
            </a:r>
          </a:p>
        </p:txBody>
      </p:sp>
      <p:sp>
        <p:nvSpPr>
          <p:cNvPr id="225" name="Oval 224"/>
          <p:cNvSpPr/>
          <p:nvPr/>
        </p:nvSpPr>
        <p:spPr>
          <a:xfrm>
            <a:off x="4242816" y="453085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4937760" y="4530852"/>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5632704" y="4530852"/>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5779008" y="4462272"/>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29" name="Oval 228"/>
          <p:cNvSpPr/>
          <p:nvPr/>
        </p:nvSpPr>
        <p:spPr>
          <a:xfrm>
            <a:off x="6327648" y="4530852"/>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Chord 229"/>
          <p:cNvSpPr/>
          <p:nvPr/>
        </p:nvSpPr>
        <p:spPr>
          <a:xfrm>
            <a:off x="6327648" y="4530852"/>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TextBox 230"/>
          <p:cNvSpPr txBox="1"/>
          <p:nvPr/>
        </p:nvSpPr>
        <p:spPr>
          <a:xfrm>
            <a:off x="6473952" y="4462272"/>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32" name="Oval 231"/>
          <p:cNvSpPr/>
          <p:nvPr/>
        </p:nvSpPr>
        <p:spPr>
          <a:xfrm>
            <a:off x="7022592" y="4530852"/>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Chord 232"/>
          <p:cNvSpPr/>
          <p:nvPr/>
        </p:nvSpPr>
        <p:spPr>
          <a:xfrm>
            <a:off x="7022592" y="4530852"/>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7168896" y="4462272"/>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35" name="Oval 234"/>
          <p:cNvSpPr/>
          <p:nvPr/>
        </p:nvSpPr>
        <p:spPr>
          <a:xfrm>
            <a:off x="7717536" y="4530852"/>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Chord 235"/>
          <p:cNvSpPr/>
          <p:nvPr/>
        </p:nvSpPr>
        <p:spPr>
          <a:xfrm>
            <a:off x="7717536" y="4530852"/>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TextBox 236"/>
          <p:cNvSpPr txBox="1"/>
          <p:nvPr/>
        </p:nvSpPr>
        <p:spPr>
          <a:xfrm>
            <a:off x="7863840" y="4462272"/>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38" name="TextBox 237"/>
          <p:cNvSpPr txBox="1"/>
          <p:nvPr/>
        </p:nvSpPr>
        <p:spPr>
          <a:xfrm>
            <a:off x="8311896" y="4443984"/>
            <a:ext cx="201168" cy="301752"/>
          </a:xfrm>
          <a:prstGeom prst="rect">
            <a:avLst/>
          </a:prstGeom>
          <a:noFill/>
        </p:spPr>
        <p:txBody>
          <a:bodyPr wrap="square" lIns="27432" tIns="9144" rIns="27432" bIns="9144" anchor="ctr">
            <a:spAutoFit/>
          </a:bodyPr>
          <a:lstStyle/>
          <a:p>
            <a:pPr algn="l"/>
            <a:r>
              <a:rPr sz="1100" b="1" i="0">
                <a:solidFill>
                  <a:srgbClr val="0E3A66"/>
                </a:solidFill>
                <a:latin typeface="Calibri"/>
              </a:rPr>
              <a:t>5</a:t>
            </a:r>
          </a:p>
        </p:txBody>
      </p:sp>
      <p:sp>
        <p:nvSpPr>
          <p:cNvPr id="239" name="TextBox 238"/>
          <p:cNvSpPr txBox="1"/>
          <p:nvPr/>
        </p:nvSpPr>
        <p:spPr>
          <a:xfrm>
            <a:off x="8494776" y="4443984"/>
            <a:ext cx="548640" cy="301752"/>
          </a:xfrm>
          <a:prstGeom prst="rect">
            <a:avLst/>
          </a:prstGeom>
          <a:noFill/>
        </p:spPr>
        <p:txBody>
          <a:bodyPr wrap="square" lIns="27432" tIns="9144" rIns="27432" bIns="9144" anchor="ctr">
            <a:spAutoFit/>
          </a:bodyPr>
          <a:lstStyle/>
          <a:p>
            <a:pPr algn="l"/>
            <a:r>
              <a:rPr sz="680" b="0" i="0">
                <a:solidFill>
                  <a:srgbClr val="404040"/>
                </a:solidFill>
                <a:latin typeface="Calibri"/>
              </a:rPr>
              <a:t>2 direct</a:t>
            </a:r>
          </a:p>
        </p:txBody>
      </p:sp>
      <p:sp>
        <p:nvSpPr>
          <p:cNvPr id="240" name="Rectangle 239"/>
          <p:cNvSpPr/>
          <p:nvPr/>
        </p:nvSpPr>
        <p:spPr>
          <a:xfrm>
            <a:off x="9043416" y="448056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Rectangle 240"/>
          <p:cNvSpPr/>
          <p:nvPr/>
        </p:nvSpPr>
        <p:spPr>
          <a:xfrm>
            <a:off x="9162288" y="448056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Rectangle 241"/>
          <p:cNvSpPr/>
          <p:nvPr/>
        </p:nvSpPr>
        <p:spPr>
          <a:xfrm>
            <a:off x="9281160" y="4480560"/>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TextBox 242"/>
          <p:cNvSpPr txBox="1"/>
          <p:nvPr/>
        </p:nvSpPr>
        <p:spPr>
          <a:xfrm>
            <a:off x="9409176" y="4462272"/>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244" name="TextBox 243"/>
          <p:cNvSpPr txBox="1"/>
          <p:nvPr/>
        </p:nvSpPr>
        <p:spPr>
          <a:xfrm>
            <a:off x="9802368" y="4443984"/>
            <a:ext cx="2203703" cy="301752"/>
          </a:xfrm>
          <a:prstGeom prst="rect">
            <a:avLst/>
          </a:prstGeom>
          <a:noFill/>
        </p:spPr>
        <p:txBody>
          <a:bodyPr wrap="square" lIns="27432" tIns="9144" rIns="27432" bIns="9144" anchor="t">
            <a:spAutoFit/>
          </a:bodyPr>
          <a:lstStyle/>
          <a:p>
            <a:pPr algn="l"/>
            <a:r>
              <a:rPr sz="630" b="0" i="0">
                <a:solidFill>
                  <a:srgbClr val="262626"/>
                </a:solidFill>
                <a:latin typeface="Calibri"/>
              </a:rPr>
              <a:t>Emerging HER2-low pool: two direct programs, early or mid stage.</a:t>
            </a:r>
            <a:r>
              <a:rPr sz="630" b="0" i="0">
                <a:solidFill>
                  <a:srgbClr val="D0692A"/>
                </a:solidFill>
                <a:latin typeface="Calibri"/>
              </a:rPr>
              <a:t> Aston breast trial terminated.</a:t>
            </a:r>
          </a:p>
        </p:txBody>
      </p:sp>
      <p:cxnSp>
        <p:nvCxnSpPr>
          <p:cNvPr id="245" name="Connector 244"/>
          <p:cNvCxnSpPr/>
          <p:nvPr/>
        </p:nvCxnSpPr>
        <p:spPr>
          <a:xfrm>
            <a:off x="182880" y="4745736"/>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246" name="TextBox 245"/>
          <p:cNvSpPr txBox="1"/>
          <p:nvPr/>
        </p:nvSpPr>
        <p:spPr>
          <a:xfrm>
            <a:off x="182880" y="4745736"/>
            <a:ext cx="2560320" cy="164592"/>
          </a:xfrm>
          <a:prstGeom prst="rect">
            <a:avLst/>
          </a:prstGeom>
          <a:noFill/>
        </p:spPr>
        <p:txBody>
          <a:bodyPr wrap="square" lIns="27432" tIns="9144" rIns="27432" bIns="9144" anchor="t">
            <a:spAutoFit/>
          </a:bodyPr>
          <a:lstStyle/>
          <a:p>
            <a:pPr algn="l"/>
            <a:r>
              <a:rPr sz="850" b="1" i="0">
                <a:solidFill>
                  <a:srgbClr val="262626"/>
                </a:solidFill>
                <a:latin typeface="Calibri"/>
              </a:rPr>
              <a:t>HER2 IHC 2+ / ISH-negative</a:t>
            </a:r>
          </a:p>
        </p:txBody>
      </p:sp>
      <p:sp>
        <p:nvSpPr>
          <p:cNvPr id="247" name="TextBox 246"/>
          <p:cNvSpPr txBox="1"/>
          <p:nvPr/>
        </p:nvSpPr>
        <p:spPr>
          <a:xfrm>
            <a:off x="182880" y="4901184"/>
            <a:ext cx="2560320" cy="137160"/>
          </a:xfrm>
          <a:prstGeom prst="rect">
            <a:avLst/>
          </a:prstGeom>
          <a:noFill/>
        </p:spPr>
        <p:txBody>
          <a:bodyPr wrap="square" lIns="27432" tIns="9144" rIns="27432" bIns="9144" anchor="t">
            <a:spAutoFit/>
          </a:bodyPr>
          <a:lstStyle/>
          <a:p>
            <a:pPr algn="l"/>
            <a:r>
              <a:rPr sz="680" b="0" i="0">
                <a:solidFill>
                  <a:srgbClr val="595959"/>
                </a:solidFill>
                <a:latin typeface="Calibri"/>
              </a:rPr>
              <a:t>BC c.16% | GC varies by study</a:t>
            </a:r>
          </a:p>
        </p:txBody>
      </p:sp>
      <p:sp>
        <p:nvSpPr>
          <p:cNvPr id="248" name="Oval 247"/>
          <p:cNvSpPr/>
          <p:nvPr/>
        </p:nvSpPr>
        <p:spPr>
          <a:xfrm>
            <a:off x="2852928" y="483260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547872" y="4832604"/>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3694176" y="4764024"/>
            <a:ext cx="228600" cy="128016"/>
          </a:xfrm>
          <a:prstGeom prst="rect">
            <a:avLst/>
          </a:prstGeom>
          <a:noFill/>
        </p:spPr>
        <p:txBody>
          <a:bodyPr wrap="square" lIns="27432" tIns="9144" rIns="27432" bIns="9144" anchor="t">
            <a:spAutoFit/>
          </a:bodyPr>
          <a:lstStyle/>
          <a:p>
            <a:pPr algn="l"/>
            <a:r>
              <a:rPr sz="600" b="1" i="0">
                <a:solidFill>
                  <a:srgbClr val="1F7A8C"/>
                </a:solidFill>
                <a:latin typeface="Calibri"/>
              </a:rPr>
              <a:t>GC</a:t>
            </a:r>
          </a:p>
        </p:txBody>
      </p:sp>
      <p:sp>
        <p:nvSpPr>
          <p:cNvPr id="251" name="Oval 250"/>
          <p:cNvSpPr/>
          <p:nvPr/>
        </p:nvSpPr>
        <p:spPr>
          <a:xfrm>
            <a:off x="3849623" y="4832604"/>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Pie 251"/>
          <p:cNvSpPr/>
          <p:nvPr/>
        </p:nvSpPr>
        <p:spPr>
          <a:xfrm>
            <a:off x="3849623" y="4832604"/>
            <a:ext cx="128016" cy="128016"/>
          </a:xfrm>
          <a:prstGeom prst="pie">
            <a:avLst>
              <a:gd name="adj1" fmla="val 16200000"/>
              <a:gd name="adj2" fmla="val 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TextBox 252"/>
          <p:cNvSpPr txBox="1"/>
          <p:nvPr/>
        </p:nvSpPr>
        <p:spPr>
          <a:xfrm>
            <a:off x="3995928" y="4764024"/>
            <a:ext cx="228600" cy="128016"/>
          </a:xfrm>
          <a:prstGeom prst="rect">
            <a:avLst/>
          </a:prstGeom>
          <a:noFill/>
        </p:spPr>
        <p:txBody>
          <a:bodyPr wrap="square" lIns="27432" tIns="9144" rIns="27432" bIns="9144" anchor="t">
            <a:spAutoFit/>
          </a:bodyPr>
          <a:lstStyle/>
          <a:p>
            <a:pPr algn="l"/>
            <a:r>
              <a:rPr sz="600" b="1" i="0">
                <a:solidFill>
                  <a:srgbClr val="D0692A"/>
                </a:solidFill>
                <a:latin typeface="Calibri"/>
              </a:rPr>
              <a:t>BC</a:t>
            </a:r>
          </a:p>
        </p:txBody>
      </p:sp>
      <p:sp>
        <p:nvSpPr>
          <p:cNvPr id="254" name="Oval 253"/>
          <p:cNvSpPr/>
          <p:nvPr/>
        </p:nvSpPr>
        <p:spPr>
          <a:xfrm>
            <a:off x="4242816" y="483260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4937760" y="4832604"/>
            <a:ext cx="128016" cy="128016"/>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5632704" y="4832604"/>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TextBox 256"/>
          <p:cNvSpPr txBox="1"/>
          <p:nvPr/>
        </p:nvSpPr>
        <p:spPr>
          <a:xfrm>
            <a:off x="5779008" y="4764024"/>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58" name="Oval 257"/>
          <p:cNvSpPr/>
          <p:nvPr/>
        </p:nvSpPr>
        <p:spPr>
          <a:xfrm>
            <a:off x="6327648" y="4832604"/>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Chord 258"/>
          <p:cNvSpPr/>
          <p:nvPr/>
        </p:nvSpPr>
        <p:spPr>
          <a:xfrm>
            <a:off x="6327648" y="4832604"/>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TextBox 259"/>
          <p:cNvSpPr txBox="1"/>
          <p:nvPr/>
        </p:nvSpPr>
        <p:spPr>
          <a:xfrm>
            <a:off x="6473952" y="4764024"/>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61" name="Oval 260"/>
          <p:cNvSpPr/>
          <p:nvPr/>
        </p:nvSpPr>
        <p:spPr>
          <a:xfrm>
            <a:off x="7022592" y="4832604"/>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Chord 261"/>
          <p:cNvSpPr/>
          <p:nvPr/>
        </p:nvSpPr>
        <p:spPr>
          <a:xfrm>
            <a:off x="7022592" y="4832604"/>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262"/>
          <p:cNvSpPr txBox="1"/>
          <p:nvPr/>
        </p:nvSpPr>
        <p:spPr>
          <a:xfrm>
            <a:off x="7168896" y="4764024"/>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64" name="Oval 263"/>
          <p:cNvSpPr/>
          <p:nvPr/>
        </p:nvSpPr>
        <p:spPr>
          <a:xfrm>
            <a:off x="7717536" y="4832604"/>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Chord 264"/>
          <p:cNvSpPr/>
          <p:nvPr/>
        </p:nvSpPr>
        <p:spPr>
          <a:xfrm>
            <a:off x="7717536" y="4832604"/>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265"/>
          <p:cNvSpPr txBox="1"/>
          <p:nvPr/>
        </p:nvSpPr>
        <p:spPr>
          <a:xfrm>
            <a:off x="7863840" y="4764024"/>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67" name="TextBox 266"/>
          <p:cNvSpPr txBox="1"/>
          <p:nvPr/>
        </p:nvSpPr>
        <p:spPr>
          <a:xfrm>
            <a:off x="8311896" y="4745736"/>
            <a:ext cx="201168" cy="301752"/>
          </a:xfrm>
          <a:prstGeom prst="rect">
            <a:avLst/>
          </a:prstGeom>
          <a:noFill/>
        </p:spPr>
        <p:txBody>
          <a:bodyPr wrap="square" lIns="27432" tIns="9144" rIns="27432" bIns="9144" anchor="ctr">
            <a:spAutoFit/>
          </a:bodyPr>
          <a:lstStyle/>
          <a:p>
            <a:pPr algn="l"/>
            <a:r>
              <a:rPr sz="1100" b="1" i="0">
                <a:solidFill>
                  <a:srgbClr val="0E3A66"/>
                </a:solidFill>
                <a:latin typeface="Calibri"/>
              </a:rPr>
              <a:t>5</a:t>
            </a:r>
          </a:p>
        </p:txBody>
      </p:sp>
      <p:sp>
        <p:nvSpPr>
          <p:cNvPr id="268" name="TextBox 267"/>
          <p:cNvSpPr txBox="1"/>
          <p:nvPr/>
        </p:nvSpPr>
        <p:spPr>
          <a:xfrm>
            <a:off x="8494776" y="4745736"/>
            <a:ext cx="548640" cy="301752"/>
          </a:xfrm>
          <a:prstGeom prst="rect">
            <a:avLst/>
          </a:prstGeom>
          <a:noFill/>
        </p:spPr>
        <p:txBody>
          <a:bodyPr wrap="square" lIns="27432" tIns="9144" rIns="27432" bIns="9144" anchor="ctr">
            <a:spAutoFit/>
          </a:bodyPr>
          <a:lstStyle/>
          <a:p>
            <a:pPr algn="l"/>
            <a:r>
              <a:rPr sz="680" b="0" i="0">
                <a:solidFill>
                  <a:srgbClr val="404040"/>
                </a:solidFill>
                <a:latin typeface="Calibri"/>
              </a:rPr>
              <a:t>2 direct</a:t>
            </a:r>
          </a:p>
        </p:txBody>
      </p:sp>
      <p:sp>
        <p:nvSpPr>
          <p:cNvPr id="269" name="Rectangle 268"/>
          <p:cNvSpPr/>
          <p:nvPr/>
        </p:nvSpPr>
        <p:spPr>
          <a:xfrm>
            <a:off x="9043416" y="478231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269"/>
          <p:cNvSpPr/>
          <p:nvPr/>
        </p:nvSpPr>
        <p:spPr>
          <a:xfrm>
            <a:off x="9162288" y="478231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270"/>
          <p:cNvSpPr/>
          <p:nvPr/>
        </p:nvSpPr>
        <p:spPr>
          <a:xfrm>
            <a:off x="9281160" y="4782312"/>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271"/>
          <p:cNvSpPr txBox="1"/>
          <p:nvPr/>
        </p:nvSpPr>
        <p:spPr>
          <a:xfrm>
            <a:off x="9409176" y="4764024"/>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273" name="TextBox 272"/>
          <p:cNvSpPr txBox="1"/>
          <p:nvPr/>
        </p:nvSpPr>
        <p:spPr>
          <a:xfrm>
            <a:off x="9802368" y="4745736"/>
            <a:ext cx="2203703" cy="301752"/>
          </a:xfrm>
          <a:prstGeom prst="rect">
            <a:avLst/>
          </a:prstGeom>
          <a:noFill/>
        </p:spPr>
        <p:txBody>
          <a:bodyPr wrap="square" lIns="27432" tIns="9144" rIns="27432" bIns="9144" anchor="t">
            <a:spAutoFit/>
          </a:bodyPr>
          <a:lstStyle/>
          <a:p>
            <a:pPr algn="l"/>
            <a:r>
              <a:rPr sz="630" b="0" i="0">
                <a:solidFill>
                  <a:srgbClr val="262626"/>
                </a:solidFill>
                <a:latin typeface="Calibri"/>
              </a:rPr>
              <a:t>Same two direct programs as IHC 1+.</a:t>
            </a:r>
          </a:p>
        </p:txBody>
      </p:sp>
      <p:cxnSp>
        <p:nvCxnSpPr>
          <p:cNvPr id="274" name="Connector 273"/>
          <p:cNvCxnSpPr/>
          <p:nvPr/>
        </p:nvCxnSpPr>
        <p:spPr>
          <a:xfrm>
            <a:off x="182880" y="5047488"/>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275" name="TextBox 274"/>
          <p:cNvSpPr txBox="1"/>
          <p:nvPr/>
        </p:nvSpPr>
        <p:spPr>
          <a:xfrm>
            <a:off x="182880" y="5047488"/>
            <a:ext cx="2560320" cy="164592"/>
          </a:xfrm>
          <a:prstGeom prst="rect">
            <a:avLst/>
          </a:prstGeom>
          <a:noFill/>
        </p:spPr>
        <p:txBody>
          <a:bodyPr wrap="square" lIns="27432" tIns="9144" rIns="27432" bIns="9144" anchor="t">
            <a:spAutoFit/>
          </a:bodyPr>
          <a:lstStyle/>
          <a:p>
            <a:pPr algn="l"/>
            <a:r>
              <a:rPr sz="850" b="1" i="0">
                <a:solidFill>
                  <a:srgbClr val="262626"/>
                </a:solidFill>
                <a:latin typeface="Calibri"/>
              </a:rPr>
              <a:t>HER2 IHC 2+ / ISH-positive</a:t>
            </a:r>
          </a:p>
        </p:txBody>
      </p:sp>
      <p:sp>
        <p:nvSpPr>
          <p:cNvPr id="276" name="TextBox 275"/>
          <p:cNvSpPr txBox="1"/>
          <p:nvPr/>
        </p:nvSpPr>
        <p:spPr>
          <a:xfrm>
            <a:off x="182880" y="5202936"/>
            <a:ext cx="2560320" cy="137160"/>
          </a:xfrm>
          <a:prstGeom prst="rect">
            <a:avLst/>
          </a:prstGeom>
          <a:noFill/>
        </p:spPr>
        <p:txBody>
          <a:bodyPr wrap="square" lIns="27432" tIns="9144" rIns="27432" bIns="9144" anchor="t">
            <a:spAutoFit/>
          </a:bodyPr>
          <a:lstStyle/>
          <a:p>
            <a:pPr algn="l"/>
            <a:r>
              <a:rPr sz="680" b="0" i="0">
                <a:solidFill>
                  <a:srgbClr val="595959"/>
                </a:solidFill>
                <a:latin typeface="Calibri"/>
              </a:rPr>
              <a:t>BC c.3% (AE) | GC varies by study</a:t>
            </a:r>
          </a:p>
        </p:txBody>
      </p:sp>
      <p:sp>
        <p:nvSpPr>
          <p:cNvPr id="277" name="Oval 276"/>
          <p:cNvSpPr/>
          <p:nvPr/>
        </p:nvSpPr>
        <p:spPr>
          <a:xfrm>
            <a:off x="2852928"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Chord 277"/>
          <p:cNvSpPr/>
          <p:nvPr/>
        </p:nvSpPr>
        <p:spPr>
          <a:xfrm>
            <a:off x="2852928"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TextBox 278"/>
          <p:cNvSpPr txBox="1"/>
          <p:nvPr/>
        </p:nvSpPr>
        <p:spPr>
          <a:xfrm>
            <a:off x="2999232"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80" name="Oval 279"/>
          <p:cNvSpPr/>
          <p:nvPr/>
        </p:nvSpPr>
        <p:spPr>
          <a:xfrm>
            <a:off x="3547872"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Chord 280"/>
          <p:cNvSpPr/>
          <p:nvPr/>
        </p:nvSpPr>
        <p:spPr>
          <a:xfrm>
            <a:off x="3547872"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TextBox 281"/>
          <p:cNvSpPr txBox="1"/>
          <p:nvPr/>
        </p:nvSpPr>
        <p:spPr>
          <a:xfrm>
            <a:off x="3694176" y="5065776"/>
            <a:ext cx="228600" cy="128016"/>
          </a:xfrm>
          <a:prstGeom prst="rect">
            <a:avLst/>
          </a:prstGeom>
          <a:noFill/>
        </p:spPr>
        <p:txBody>
          <a:bodyPr wrap="square" lIns="27432" tIns="9144" rIns="27432" bIns="9144" anchor="t">
            <a:spAutoFit/>
          </a:bodyPr>
          <a:lstStyle/>
          <a:p>
            <a:pPr algn="l"/>
            <a:r>
              <a:rPr sz="600" b="1" i="0">
                <a:solidFill>
                  <a:srgbClr val="1F7A8C"/>
                </a:solidFill>
                <a:latin typeface="Calibri"/>
              </a:rPr>
              <a:t>GC</a:t>
            </a:r>
          </a:p>
        </p:txBody>
      </p:sp>
      <p:sp>
        <p:nvSpPr>
          <p:cNvPr id="283" name="Oval 282"/>
          <p:cNvSpPr/>
          <p:nvPr/>
        </p:nvSpPr>
        <p:spPr>
          <a:xfrm>
            <a:off x="4242816" y="5134356"/>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TextBox 283"/>
          <p:cNvSpPr txBox="1"/>
          <p:nvPr/>
        </p:nvSpPr>
        <p:spPr>
          <a:xfrm>
            <a:off x="4389120"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85" name="Oval 284"/>
          <p:cNvSpPr/>
          <p:nvPr/>
        </p:nvSpPr>
        <p:spPr>
          <a:xfrm>
            <a:off x="4937760"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Chord 285"/>
          <p:cNvSpPr/>
          <p:nvPr/>
        </p:nvSpPr>
        <p:spPr>
          <a:xfrm>
            <a:off x="4937760"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TextBox 286"/>
          <p:cNvSpPr txBox="1"/>
          <p:nvPr/>
        </p:nvSpPr>
        <p:spPr>
          <a:xfrm>
            <a:off x="5084064"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88" name="Oval 287"/>
          <p:cNvSpPr/>
          <p:nvPr/>
        </p:nvSpPr>
        <p:spPr>
          <a:xfrm>
            <a:off x="5632704"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Chord 288"/>
          <p:cNvSpPr/>
          <p:nvPr/>
        </p:nvSpPr>
        <p:spPr>
          <a:xfrm>
            <a:off x="5632704"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TextBox 289"/>
          <p:cNvSpPr txBox="1"/>
          <p:nvPr/>
        </p:nvSpPr>
        <p:spPr>
          <a:xfrm>
            <a:off x="5779008"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91" name="Oval 290"/>
          <p:cNvSpPr/>
          <p:nvPr/>
        </p:nvSpPr>
        <p:spPr>
          <a:xfrm>
            <a:off x="6327648"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Chord 291"/>
          <p:cNvSpPr/>
          <p:nvPr/>
        </p:nvSpPr>
        <p:spPr>
          <a:xfrm>
            <a:off x="6327648"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TextBox 292"/>
          <p:cNvSpPr txBox="1"/>
          <p:nvPr/>
        </p:nvSpPr>
        <p:spPr>
          <a:xfrm>
            <a:off x="6473952"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94" name="Oval 293"/>
          <p:cNvSpPr/>
          <p:nvPr/>
        </p:nvSpPr>
        <p:spPr>
          <a:xfrm>
            <a:off x="7022592"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Chord 294"/>
          <p:cNvSpPr/>
          <p:nvPr/>
        </p:nvSpPr>
        <p:spPr>
          <a:xfrm>
            <a:off x="7022592"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TextBox 295"/>
          <p:cNvSpPr txBox="1"/>
          <p:nvPr/>
        </p:nvSpPr>
        <p:spPr>
          <a:xfrm>
            <a:off x="7168896"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297" name="Oval 296"/>
          <p:cNvSpPr/>
          <p:nvPr/>
        </p:nvSpPr>
        <p:spPr>
          <a:xfrm>
            <a:off x="7717536" y="5134356"/>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Chord 297"/>
          <p:cNvSpPr/>
          <p:nvPr/>
        </p:nvSpPr>
        <p:spPr>
          <a:xfrm>
            <a:off x="7717536" y="5134356"/>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TextBox 298"/>
          <p:cNvSpPr txBox="1"/>
          <p:nvPr/>
        </p:nvSpPr>
        <p:spPr>
          <a:xfrm>
            <a:off x="7863840" y="5065776"/>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00" name="TextBox 299"/>
          <p:cNvSpPr txBox="1"/>
          <p:nvPr/>
        </p:nvSpPr>
        <p:spPr>
          <a:xfrm>
            <a:off x="8311896" y="5047488"/>
            <a:ext cx="201168" cy="301752"/>
          </a:xfrm>
          <a:prstGeom prst="rect">
            <a:avLst/>
          </a:prstGeom>
          <a:noFill/>
        </p:spPr>
        <p:txBody>
          <a:bodyPr wrap="square" lIns="27432" tIns="9144" rIns="27432" bIns="9144" anchor="ctr">
            <a:spAutoFit/>
          </a:bodyPr>
          <a:lstStyle/>
          <a:p>
            <a:pPr algn="l"/>
            <a:r>
              <a:rPr sz="1100" b="1" i="0">
                <a:solidFill>
                  <a:srgbClr val="0E3A66"/>
                </a:solidFill>
                <a:latin typeface="Calibri"/>
              </a:rPr>
              <a:t>8</a:t>
            </a:r>
          </a:p>
        </p:txBody>
      </p:sp>
      <p:sp>
        <p:nvSpPr>
          <p:cNvPr id="301" name="TextBox 300"/>
          <p:cNvSpPr txBox="1"/>
          <p:nvPr/>
        </p:nvSpPr>
        <p:spPr>
          <a:xfrm>
            <a:off x="8494776" y="5047488"/>
            <a:ext cx="548640" cy="301752"/>
          </a:xfrm>
          <a:prstGeom prst="rect">
            <a:avLst/>
          </a:prstGeom>
          <a:noFill/>
        </p:spPr>
        <p:txBody>
          <a:bodyPr wrap="square" lIns="27432" tIns="9144" rIns="27432" bIns="9144" anchor="ctr">
            <a:spAutoFit/>
          </a:bodyPr>
          <a:lstStyle/>
          <a:p>
            <a:pPr algn="l"/>
            <a:r>
              <a:rPr sz="680" b="0" i="0">
                <a:solidFill>
                  <a:srgbClr val="404040"/>
                </a:solidFill>
                <a:latin typeface="Calibri"/>
              </a:rPr>
              <a:t>1 direct</a:t>
            </a:r>
          </a:p>
        </p:txBody>
      </p:sp>
      <p:sp>
        <p:nvSpPr>
          <p:cNvPr id="302" name="Rectangle 301"/>
          <p:cNvSpPr/>
          <p:nvPr/>
        </p:nvSpPr>
        <p:spPr>
          <a:xfrm>
            <a:off x="9043416" y="5084064"/>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ectangle 302"/>
          <p:cNvSpPr/>
          <p:nvPr/>
        </p:nvSpPr>
        <p:spPr>
          <a:xfrm>
            <a:off x="9162288" y="5084064"/>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Rectangle 303"/>
          <p:cNvSpPr/>
          <p:nvPr/>
        </p:nvSpPr>
        <p:spPr>
          <a:xfrm>
            <a:off x="9281160" y="5084064"/>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TextBox 304"/>
          <p:cNvSpPr txBox="1"/>
          <p:nvPr/>
        </p:nvSpPr>
        <p:spPr>
          <a:xfrm>
            <a:off x="9409176" y="5065776"/>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306" name="TextBox 305"/>
          <p:cNvSpPr txBox="1"/>
          <p:nvPr/>
        </p:nvSpPr>
        <p:spPr>
          <a:xfrm>
            <a:off x="9802368" y="5047488"/>
            <a:ext cx="2203703" cy="301752"/>
          </a:xfrm>
          <a:prstGeom prst="rect">
            <a:avLst/>
          </a:prstGeom>
          <a:noFill/>
        </p:spPr>
        <p:txBody>
          <a:bodyPr wrap="square" lIns="27432" tIns="9144" rIns="27432" bIns="9144" anchor="t">
            <a:spAutoFit/>
          </a:bodyPr>
          <a:lstStyle/>
          <a:p>
            <a:pPr algn="l"/>
            <a:r>
              <a:rPr sz="630" b="0" i="0">
                <a:solidFill>
                  <a:srgbClr val="262626"/>
                </a:solidFill>
                <a:latin typeface="Calibri"/>
              </a:rPr>
              <a:t>Implied in HER2-positive trials; one protocol explicit.</a:t>
            </a:r>
          </a:p>
        </p:txBody>
      </p:sp>
      <p:cxnSp>
        <p:nvCxnSpPr>
          <p:cNvPr id="307" name="Connector 306"/>
          <p:cNvCxnSpPr/>
          <p:nvPr/>
        </p:nvCxnSpPr>
        <p:spPr>
          <a:xfrm>
            <a:off x="182880" y="5349240"/>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308" name="TextBox 307"/>
          <p:cNvSpPr txBox="1"/>
          <p:nvPr/>
        </p:nvSpPr>
        <p:spPr>
          <a:xfrm>
            <a:off x="182880" y="5349240"/>
            <a:ext cx="2560320" cy="164592"/>
          </a:xfrm>
          <a:prstGeom prst="rect">
            <a:avLst/>
          </a:prstGeom>
          <a:noFill/>
        </p:spPr>
        <p:txBody>
          <a:bodyPr wrap="square" lIns="27432" tIns="9144" rIns="27432" bIns="9144" anchor="t">
            <a:spAutoFit/>
          </a:bodyPr>
          <a:lstStyle/>
          <a:p>
            <a:pPr algn="l"/>
            <a:r>
              <a:rPr sz="850" b="1" i="0">
                <a:solidFill>
                  <a:srgbClr val="262626"/>
                </a:solidFill>
                <a:latin typeface="Calibri"/>
              </a:rPr>
              <a:t>HER2 IHC 3+</a:t>
            </a:r>
          </a:p>
        </p:txBody>
      </p:sp>
      <p:sp>
        <p:nvSpPr>
          <p:cNvPr id="309" name="TextBox 308"/>
          <p:cNvSpPr txBox="1"/>
          <p:nvPr/>
        </p:nvSpPr>
        <p:spPr>
          <a:xfrm>
            <a:off x="182880" y="5504688"/>
            <a:ext cx="2560320" cy="137160"/>
          </a:xfrm>
          <a:prstGeom prst="rect">
            <a:avLst/>
          </a:prstGeom>
          <a:noFill/>
        </p:spPr>
        <p:txBody>
          <a:bodyPr wrap="square" lIns="27432" tIns="9144" rIns="27432" bIns="9144" anchor="t">
            <a:spAutoFit/>
          </a:bodyPr>
          <a:lstStyle/>
          <a:p>
            <a:pPr algn="l"/>
            <a:r>
              <a:rPr sz="680" b="0" i="0">
                <a:solidFill>
                  <a:srgbClr val="595959"/>
                </a:solidFill>
                <a:latin typeface="Calibri"/>
              </a:rPr>
              <a:t>BC c.12% (AE) | GC varies by study</a:t>
            </a:r>
          </a:p>
        </p:txBody>
      </p:sp>
      <p:sp>
        <p:nvSpPr>
          <p:cNvPr id="310" name="Oval 309"/>
          <p:cNvSpPr/>
          <p:nvPr/>
        </p:nvSpPr>
        <p:spPr>
          <a:xfrm>
            <a:off x="2852928" y="543610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TextBox 310"/>
          <p:cNvSpPr txBox="1"/>
          <p:nvPr/>
        </p:nvSpPr>
        <p:spPr>
          <a:xfrm>
            <a:off x="2999232"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12" name="Oval 311"/>
          <p:cNvSpPr/>
          <p:nvPr/>
        </p:nvSpPr>
        <p:spPr>
          <a:xfrm>
            <a:off x="3547872" y="543610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TextBox 312"/>
          <p:cNvSpPr txBox="1"/>
          <p:nvPr/>
        </p:nvSpPr>
        <p:spPr>
          <a:xfrm>
            <a:off x="3694176" y="5367528"/>
            <a:ext cx="228600" cy="128016"/>
          </a:xfrm>
          <a:prstGeom prst="rect">
            <a:avLst/>
          </a:prstGeom>
          <a:noFill/>
        </p:spPr>
        <p:txBody>
          <a:bodyPr wrap="square" lIns="27432" tIns="9144" rIns="27432" bIns="9144" anchor="t">
            <a:spAutoFit/>
          </a:bodyPr>
          <a:lstStyle/>
          <a:p>
            <a:pPr algn="l"/>
            <a:r>
              <a:rPr sz="600" b="1" i="0">
                <a:solidFill>
                  <a:srgbClr val="1F7A8C"/>
                </a:solidFill>
                <a:latin typeface="Calibri"/>
              </a:rPr>
              <a:t>GC</a:t>
            </a:r>
          </a:p>
        </p:txBody>
      </p:sp>
      <p:sp>
        <p:nvSpPr>
          <p:cNvPr id="314" name="Oval 313"/>
          <p:cNvSpPr/>
          <p:nvPr/>
        </p:nvSpPr>
        <p:spPr>
          <a:xfrm>
            <a:off x="4242816" y="543610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389120"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16" name="Oval 315"/>
          <p:cNvSpPr/>
          <p:nvPr/>
        </p:nvSpPr>
        <p:spPr>
          <a:xfrm>
            <a:off x="4937760" y="543610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5084064"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18" name="Oval 317"/>
          <p:cNvSpPr/>
          <p:nvPr/>
        </p:nvSpPr>
        <p:spPr>
          <a:xfrm>
            <a:off x="5632704" y="5436108"/>
            <a:ext cx="128016" cy="128016"/>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5779008"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20" name="Oval 319"/>
          <p:cNvSpPr/>
          <p:nvPr/>
        </p:nvSpPr>
        <p:spPr>
          <a:xfrm>
            <a:off x="6327648" y="5436108"/>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Chord 320"/>
          <p:cNvSpPr/>
          <p:nvPr/>
        </p:nvSpPr>
        <p:spPr>
          <a:xfrm>
            <a:off x="6327648" y="5436108"/>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TextBox 321"/>
          <p:cNvSpPr txBox="1"/>
          <p:nvPr/>
        </p:nvSpPr>
        <p:spPr>
          <a:xfrm>
            <a:off x="6473952"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23" name="Oval 322"/>
          <p:cNvSpPr/>
          <p:nvPr/>
        </p:nvSpPr>
        <p:spPr>
          <a:xfrm>
            <a:off x="7022592" y="5436108"/>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Chord 323"/>
          <p:cNvSpPr/>
          <p:nvPr/>
        </p:nvSpPr>
        <p:spPr>
          <a:xfrm>
            <a:off x="7022592" y="5436108"/>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TextBox 324"/>
          <p:cNvSpPr txBox="1"/>
          <p:nvPr/>
        </p:nvSpPr>
        <p:spPr>
          <a:xfrm>
            <a:off x="7168896"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26" name="Oval 325"/>
          <p:cNvSpPr/>
          <p:nvPr/>
        </p:nvSpPr>
        <p:spPr>
          <a:xfrm>
            <a:off x="7717536" y="5436108"/>
            <a:ext cx="128016" cy="128016"/>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Chord 326"/>
          <p:cNvSpPr/>
          <p:nvPr/>
        </p:nvSpPr>
        <p:spPr>
          <a:xfrm>
            <a:off x="7717536" y="5436108"/>
            <a:ext cx="128016" cy="128016"/>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TextBox 327"/>
          <p:cNvSpPr txBox="1"/>
          <p:nvPr/>
        </p:nvSpPr>
        <p:spPr>
          <a:xfrm>
            <a:off x="7863840" y="5367528"/>
            <a:ext cx="228600" cy="128016"/>
          </a:xfrm>
          <a:prstGeom prst="rect">
            <a:avLst/>
          </a:prstGeom>
          <a:noFill/>
        </p:spPr>
        <p:txBody>
          <a:bodyPr wrap="square" lIns="27432" tIns="9144" rIns="27432" bIns="9144" anchor="t">
            <a:spAutoFit/>
          </a:bodyPr>
          <a:lstStyle/>
          <a:p>
            <a:pPr algn="l"/>
            <a:r>
              <a:rPr sz="600" b="1" i="0">
                <a:solidFill>
                  <a:srgbClr val="0E3A66"/>
                </a:solidFill>
                <a:latin typeface="Calibri"/>
              </a:rPr>
              <a:t>BC</a:t>
            </a:r>
          </a:p>
        </p:txBody>
      </p:sp>
      <p:sp>
        <p:nvSpPr>
          <p:cNvPr id="329" name="TextBox 328"/>
          <p:cNvSpPr txBox="1"/>
          <p:nvPr/>
        </p:nvSpPr>
        <p:spPr>
          <a:xfrm>
            <a:off x="8311896" y="5349240"/>
            <a:ext cx="201168" cy="301752"/>
          </a:xfrm>
          <a:prstGeom prst="rect">
            <a:avLst/>
          </a:prstGeom>
          <a:noFill/>
        </p:spPr>
        <p:txBody>
          <a:bodyPr wrap="square" lIns="27432" tIns="9144" rIns="27432" bIns="9144" anchor="ctr">
            <a:spAutoFit/>
          </a:bodyPr>
          <a:lstStyle/>
          <a:p>
            <a:pPr algn="l"/>
            <a:r>
              <a:rPr sz="1100" b="1" i="0">
                <a:solidFill>
                  <a:srgbClr val="0E3A66"/>
                </a:solidFill>
                <a:latin typeface="Calibri"/>
              </a:rPr>
              <a:t>8</a:t>
            </a:r>
          </a:p>
        </p:txBody>
      </p:sp>
      <p:sp>
        <p:nvSpPr>
          <p:cNvPr id="330" name="TextBox 329"/>
          <p:cNvSpPr txBox="1"/>
          <p:nvPr/>
        </p:nvSpPr>
        <p:spPr>
          <a:xfrm>
            <a:off x="8494776" y="5349240"/>
            <a:ext cx="548640" cy="301752"/>
          </a:xfrm>
          <a:prstGeom prst="rect">
            <a:avLst/>
          </a:prstGeom>
          <a:noFill/>
        </p:spPr>
        <p:txBody>
          <a:bodyPr wrap="square" lIns="27432" tIns="9144" rIns="27432" bIns="9144" anchor="ctr">
            <a:spAutoFit/>
          </a:bodyPr>
          <a:lstStyle/>
          <a:p>
            <a:pPr algn="l"/>
            <a:r>
              <a:rPr sz="680" b="0" i="0">
                <a:solidFill>
                  <a:srgbClr val="404040"/>
                </a:solidFill>
                <a:latin typeface="Calibri"/>
              </a:rPr>
              <a:t>5 direct</a:t>
            </a:r>
          </a:p>
        </p:txBody>
      </p:sp>
      <p:sp>
        <p:nvSpPr>
          <p:cNvPr id="331" name="Rectangle 330"/>
          <p:cNvSpPr/>
          <p:nvPr/>
        </p:nvSpPr>
        <p:spPr>
          <a:xfrm>
            <a:off x="9043416" y="538581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Rectangle 331"/>
          <p:cNvSpPr/>
          <p:nvPr/>
        </p:nvSpPr>
        <p:spPr>
          <a:xfrm>
            <a:off x="9162288" y="5385816"/>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Rectangle 332"/>
          <p:cNvSpPr/>
          <p:nvPr/>
        </p:nvSpPr>
        <p:spPr>
          <a:xfrm>
            <a:off x="9281160" y="5385816"/>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TextBox 333"/>
          <p:cNvSpPr txBox="1"/>
          <p:nvPr/>
        </p:nvSpPr>
        <p:spPr>
          <a:xfrm>
            <a:off x="9409176" y="5367528"/>
            <a:ext cx="411480" cy="137160"/>
          </a:xfrm>
          <a:prstGeom prst="rect">
            <a:avLst/>
          </a:prstGeom>
          <a:noFill/>
        </p:spPr>
        <p:txBody>
          <a:bodyPr wrap="square" lIns="27432" tIns="9144" rIns="27432" bIns="9144" anchor="t">
            <a:spAutoFit/>
          </a:bodyPr>
          <a:lstStyle/>
          <a:p>
            <a:pPr algn="l"/>
            <a:r>
              <a:rPr sz="750" b="1" i="0">
                <a:solidFill>
                  <a:srgbClr val="0E3A66"/>
                </a:solidFill>
                <a:latin typeface="Calibri"/>
              </a:rPr>
              <a:t>Low</a:t>
            </a:r>
          </a:p>
        </p:txBody>
      </p:sp>
      <p:sp>
        <p:nvSpPr>
          <p:cNvPr id="335" name="TextBox 334"/>
          <p:cNvSpPr txBox="1"/>
          <p:nvPr/>
        </p:nvSpPr>
        <p:spPr>
          <a:xfrm>
            <a:off x="9802368" y="5349240"/>
            <a:ext cx="2203703" cy="301752"/>
          </a:xfrm>
          <a:prstGeom prst="rect">
            <a:avLst/>
          </a:prstGeom>
          <a:noFill/>
        </p:spPr>
        <p:txBody>
          <a:bodyPr wrap="square" lIns="27432" tIns="9144" rIns="27432" bIns="9144" anchor="t">
            <a:spAutoFit/>
          </a:bodyPr>
          <a:lstStyle/>
          <a:p>
            <a:pPr algn="l"/>
            <a:r>
              <a:rPr sz="630" b="0" i="0">
                <a:solidFill>
                  <a:srgbClr val="262626"/>
                </a:solidFill>
                <a:latin typeface="Calibri"/>
              </a:rPr>
              <a:t>Most crowded: five direct programs incl. the Phase III.</a:t>
            </a:r>
            <a:r>
              <a:rPr sz="630" b="0" i="0">
                <a:solidFill>
                  <a:srgbClr val="D0692A"/>
                </a:solidFill>
                <a:latin typeface="Calibri"/>
              </a:rPr>
              <a:t> Exit: Imugene HER-Vaxx terminated.</a:t>
            </a:r>
          </a:p>
        </p:txBody>
      </p:sp>
      <p:cxnSp>
        <p:nvCxnSpPr>
          <p:cNvPr id="336" name="Connector 335"/>
          <p:cNvCxnSpPr/>
          <p:nvPr/>
        </p:nvCxnSpPr>
        <p:spPr>
          <a:xfrm>
            <a:off x="182880" y="5650992"/>
            <a:ext cx="11823192" cy="0"/>
          </a:xfrm>
          <a:prstGeom prst="line">
            <a:avLst/>
          </a:prstGeom>
          <a:ln w="6350">
            <a:solidFill>
              <a:srgbClr val="E6E6E6"/>
            </a:solidFill>
          </a:ln>
        </p:spPr>
        <p:style>
          <a:lnRef idx="2">
            <a:schemeClr val="accent1"/>
          </a:lnRef>
          <a:fillRef idx="0">
            <a:schemeClr val="accent1"/>
          </a:fillRef>
          <a:effectRef idx="1">
            <a:schemeClr val="accent1"/>
          </a:effectRef>
          <a:fontRef idx="minor">
            <a:schemeClr val="tx1"/>
          </a:fontRef>
        </p:style>
      </p:cxnSp>
      <p:sp>
        <p:nvSpPr>
          <p:cNvPr id="337" name="TextBox 336"/>
          <p:cNvSpPr txBox="1"/>
          <p:nvPr/>
        </p:nvSpPr>
        <p:spPr>
          <a:xfrm>
            <a:off x="182880" y="5669280"/>
            <a:ext cx="2560320" cy="164592"/>
          </a:xfrm>
          <a:prstGeom prst="rect">
            <a:avLst/>
          </a:prstGeom>
          <a:noFill/>
        </p:spPr>
        <p:txBody>
          <a:bodyPr wrap="square" lIns="27432" tIns="9144" rIns="27432" bIns="9144" anchor="t">
            <a:spAutoFit/>
          </a:bodyPr>
          <a:lstStyle/>
          <a:p>
            <a:pPr algn="l"/>
            <a:r>
              <a:rPr sz="850" b="1" i="0">
                <a:solidFill>
                  <a:srgbClr val="0E3A66"/>
                </a:solidFill>
                <a:latin typeface="Calibri"/>
              </a:rPr>
              <a:t>Breadth of pipeline</a:t>
            </a:r>
          </a:p>
        </p:txBody>
      </p:sp>
      <p:sp>
        <p:nvSpPr>
          <p:cNvPr id="338" name="TextBox 337"/>
          <p:cNvSpPr txBox="1"/>
          <p:nvPr/>
        </p:nvSpPr>
        <p:spPr>
          <a:xfrm>
            <a:off x="182880" y="5815584"/>
            <a:ext cx="2560320" cy="137160"/>
          </a:xfrm>
          <a:prstGeom prst="rect">
            <a:avLst/>
          </a:prstGeom>
          <a:noFill/>
        </p:spPr>
        <p:txBody>
          <a:bodyPr wrap="square" lIns="27432" tIns="9144" rIns="27432" bIns="9144" anchor="t">
            <a:spAutoFit/>
          </a:bodyPr>
          <a:lstStyle/>
          <a:p>
            <a:pPr algn="l"/>
            <a:r>
              <a:rPr sz="650" b="0" i="0">
                <a:solidFill>
                  <a:srgbClr val="404040"/>
                </a:solidFill>
                <a:latin typeface="Calibri"/>
              </a:rPr>
              <a:t>of 13 pools: pools with any position, of which direct</a:t>
            </a:r>
          </a:p>
        </p:txBody>
      </p:sp>
      <p:sp>
        <p:nvSpPr>
          <p:cNvPr id="339" name="TextBox 338"/>
          <p:cNvSpPr txBox="1"/>
          <p:nvPr/>
        </p:nvSpPr>
        <p:spPr>
          <a:xfrm>
            <a:off x="2724912"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3 pools</a:t>
            </a:r>
          </a:p>
        </p:txBody>
      </p:sp>
      <p:sp>
        <p:nvSpPr>
          <p:cNvPr id="340" name="TextBox 339"/>
          <p:cNvSpPr txBox="1"/>
          <p:nvPr/>
        </p:nvSpPr>
        <p:spPr>
          <a:xfrm>
            <a:off x="2724912"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2 direct</a:t>
            </a:r>
          </a:p>
        </p:txBody>
      </p:sp>
      <p:sp>
        <p:nvSpPr>
          <p:cNvPr id="341" name="TextBox 340"/>
          <p:cNvSpPr txBox="1"/>
          <p:nvPr/>
        </p:nvSpPr>
        <p:spPr>
          <a:xfrm>
            <a:off x="3419856"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5 pools</a:t>
            </a:r>
          </a:p>
        </p:txBody>
      </p:sp>
      <p:sp>
        <p:nvSpPr>
          <p:cNvPr id="342" name="TextBox 341"/>
          <p:cNvSpPr txBox="1"/>
          <p:nvPr/>
        </p:nvSpPr>
        <p:spPr>
          <a:xfrm>
            <a:off x="3419856"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4 direct</a:t>
            </a:r>
          </a:p>
        </p:txBody>
      </p:sp>
      <p:sp>
        <p:nvSpPr>
          <p:cNvPr id="343" name="TextBox 342"/>
          <p:cNvSpPr txBox="1"/>
          <p:nvPr/>
        </p:nvSpPr>
        <p:spPr>
          <a:xfrm>
            <a:off x="4114800"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3 pools</a:t>
            </a:r>
          </a:p>
        </p:txBody>
      </p:sp>
      <p:sp>
        <p:nvSpPr>
          <p:cNvPr id="344" name="TextBox 343"/>
          <p:cNvSpPr txBox="1"/>
          <p:nvPr/>
        </p:nvSpPr>
        <p:spPr>
          <a:xfrm>
            <a:off x="4114800"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3 direct</a:t>
            </a:r>
          </a:p>
        </p:txBody>
      </p:sp>
      <p:sp>
        <p:nvSpPr>
          <p:cNvPr id="345" name="TextBox 344"/>
          <p:cNvSpPr txBox="1"/>
          <p:nvPr/>
        </p:nvSpPr>
        <p:spPr>
          <a:xfrm>
            <a:off x="4809744"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3 pools</a:t>
            </a:r>
          </a:p>
        </p:txBody>
      </p:sp>
      <p:sp>
        <p:nvSpPr>
          <p:cNvPr id="346" name="TextBox 345"/>
          <p:cNvSpPr txBox="1"/>
          <p:nvPr/>
        </p:nvSpPr>
        <p:spPr>
          <a:xfrm>
            <a:off x="4809744"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2 direct</a:t>
            </a:r>
          </a:p>
        </p:txBody>
      </p:sp>
      <p:sp>
        <p:nvSpPr>
          <p:cNvPr id="347" name="TextBox 346"/>
          <p:cNvSpPr txBox="1"/>
          <p:nvPr/>
        </p:nvSpPr>
        <p:spPr>
          <a:xfrm>
            <a:off x="5504688"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5 pools</a:t>
            </a:r>
          </a:p>
        </p:txBody>
      </p:sp>
      <p:sp>
        <p:nvSpPr>
          <p:cNvPr id="348" name="TextBox 347"/>
          <p:cNvSpPr txBox="1"/>
          <p:nvPr/>
        </p:nvSpPr>
        <p:spPr>
          <a:xfrm>
            <a:off x="5504688"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4 direct</a:t>
            </a:r>
          </a:p>
        </p:txBody>
      </p:sp>
      <p:sp>
        <p:nvSpPr>
          <p:cNvPr id="349" name="TextBox 348"/>
          <p:cNvSpPr txBox="1"/>
          <p:nvPr/>
        </p:nvSpPr>
        <p:spPr>
          <a:xfrm>
            <a:off x="6199632"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5 pools</a:t>
            </a:r>
          </a:p>
        </p:txBody>
      </p:sp>
      <p:sp>
        <p:nvSpPr>
          <p:cNvPr id="350" name="TextBox 349"/>
          <p:cNvSpPr txBox="1"/>
          <p:nvPr/>
        </p:nvSpPr>
        <p:spPr>
          <a:xfrm>
            <a:off x="6199632"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1 direct</a:t>
            </a:r>
          </a:p>
        </p:txBody>
      </p:sp>
      <p:sp>
        <p:nvSpPr>
          <p:cNvPr id="351" name="TextBox 350"/>
          <p:cNvSpPr txBox="1"/>
          <p:nvPr/>
        </p:nvSpPr>
        <p:spPr>
          <a:xfrm>
            <a:off x="6894576"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5 pools</a:t>
            </a:r>
          </a:p>
        </p:txBody>
      </p:sp>
      <p:sp>
        <p:nvSpPr>
          <p:cNvPr id="352" name="TextBox 351"/>
          <p:cNvSpPr txBox="1"/>
          <p:nvPr/>
        </p:nvSpPr>
        <p:spPr>
          <a:xfrm>
            <a:off x="6894576"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0 direct</a:t>
            </a:r>
          </a:p>
        </p:txBody>
      </p:sp>
      <p:sp>
        <p:nvSpPr>
          <p:cNvPr id="353" name="TextBox 352"/>
          <p:cNvSpPr txBox="1"/>
          <p:nvPr/>
        </p:nvSpPr>
        <p:spPr>
          <a:xfrm>
            <a:off x="7589519" y="5669280"/>
            <a:ext cx="649224" cy="164592"/>
          </a:xfrm>
          <a:prstGeom prst="rect">
            <a:avLst/>
          </a:prstGeom>
          <a:noFill/>
        </p:spPr>
        <p:txBody>
          <a:bodyPr wrap="square" lIns="27432" tIns="9144" rIns="27432" bIns="9144" anchor="t">
            <a:spAutoFit/>
          </a:bodyPr>
          <a:lstStyle/>
          <a:p>
            <a:pPr algn="l"/>
            <a:r>
              <a:rPr sz="800" b="1" i="0">
                <a:solidFill>
                  <a:srgbClr val="262626"/>
                </a:solidFill>
                <a:latin typeface="Calibri"/>
              </a:rPr>
              <a:t>6 pools</a:t>
            </a:r>
          </a:p>
        </p:txBody>
      </p:sp>
      <p:sp>
        <p:nvSpPr>
          <p:cNvPr id="354" name="TextBox 353"/>
          <p:cNvSpPr txBox="1"/>
          <p:nvPr/>
        </p:nvSpPr>
        <p:spPr>
          <a:xfrm>
            <a:off x="7589519" y="5815584"/>
            <a:ext cx="649224" cy="137160"/>
          </a:xfrm>
          <a:prstGeom prst="rect">
            <a:avLst/>
          </a:prstGeom>
          <a:noFill/>
        </p:spPr>
        <p:txBody>
          <a:bodyPr wrap="square" lIns="27432" tIns="9144" rIns="27432" bIns="9144" anchor="t">
            <a:spAutoFit/>
          </a:bodyPr>
          <a:lstStyle/>
          <a:p>
            <a:pPr algn="l"/>
            <a:r>
              <a:rPr sz="680" b="0" i="0">
                <a:solidFill>
                  <a:srgbClr val="404040"/>
                </a:solidFill>
                <a:latin typeface="Calibri"/>
              </a:rPr>
              <a:t>0 direct</a:t>
            </a:r>
          </a:p>
        </p:txBody>
      </p:sp>
      <p:cxnSp>
        <p:nvCxnSpPr>
          <p:cNvPr id="355" name="Connector 354"/>
          <p:cNvCxnSpPr/>
          <p:nvPr/>
        </p:nvCxnSpPr>
        <p:spPr>
          <a:xfrm>
            <a:off x="182880" y="5980176"/>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356" name="Oval 355"/>
          <p:cNvSpPr/>
          <p:nvPr/>
        </p:nvSpPr>
        <p:spPr>
          <a:xfrm>
            <a:off x="196596" y="6012180"/>
            <a:ext cx="118872" cy="118872"/>
          </a:xfrm>
          <a:prstGeom prst="ellipse">
            <a:avLst/>
          </a:prstGeom>
          <a:solidFill>
            <a:srgbClr val="0E3A66"/>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TextBox 356"/>
          <p:cNvSpPr txBox="1"/>
          <p:nvPr/>
        </p:nvSpPr>
        <p:spPr>
          <a:xfrm>
            <a:off x="365760" y="5998464"/>
            <a:ext cx="2011680" cy="146304"/>
          </a:xfrm>
          <a:prstGeom prst="rect">
            <a:avLst/>
          </a:prstGeom>
          <a:noFill/>
        </p:spPr>
        <p:txBody>
          <a:bodyPr wrap="square" lIns="27432" tIns="9144" rIns="27432" bIns="9144" anchor="t">
            <a:spAutoFit/>
          </a:bodyPr>
          <a:lstStyle/>
          <a:p>
            <a:pPr algn="l"/>
            <a:r>
              <a:rPr sz="700" b="0" i="0">
                <a:solidFill>
                  <a:srgbClr val="404040"/>
                </a:solidFill>
                <a:latin typeface="Calibri"/>
              </a:rPr>
              <a:t>Direct, active verified program</a:t>
            </a:r>
          </a:p>
        </p:txBody>
      </p:sp>
      <p:sp>
        <p:nvSpPr>
          <p:cNvPr id="358" name="Oval 357"/>
          <p:cNvSpPr/>
          <p:nvPr/>
        </p:nvSpPr>
        <p:spPr>
          <a:xfrm>
            <a:off x="2036368" y="6012180"/>
            <a:ext cx="118872" cy="118872"/>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Chord 358"/>
          <p:cNvSpPr/>
          <p:nvPr/>
        </p:nvSpPr>
        <p:spPr>
          <a:xfrm>
            <a:off x="2036368" y="6012180"/>
            <a:ext cx="118872" cy="118872"/>
          </a:xfrm>
          <a:prstGeom prst="chord">
            <a:avLst>
              <a:gd name="adj1" fmla="val 5400000"/>
              <a:gd name="adj2" fmla="val 1620000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2205532" y="5998464"/>
            <a:ext cx="2011680" cy="146304"/>
          </a:xfrm>
          <a:prstGeom prst="rect">
            <a:avLst/>
          </a:prstGeom>
          <a:noFill/>
        </p:spPr>
        <p:txBody>
          <a:bodyPr wrap="square" lIns="27432" tIns="9144" rIns="27432" bIns="9144" anchor="t">
            <a:spAutoFit/>
          </a:bodyPr>
          <a:lstStyle/>
          <a:p>
            <a:pPr algn="l"/>
            <a:r>
              <a:rPr sz="700" b="0" i="0">
                <a:solidFill>
                  <a:srgbClr val="404040"/>
                </a:solidFill>
                <a:latin typeface="Calibri"/>
              </a:rPr>
              <a:t>Partial, indirect or adjacent exposure</a:t>
            </a:r>
          </a:p>
        </p:txBody>
      </p:sp>
      <p:sp>
        <p:nvSpPr>
          <p:cNvPr id="361" name="Oval 360"/>
          <p:cNvSpPr/>
          <p:nvPr/>
        </p:nvSpPr>
        <p:spPr>
          <a:xfrm>
            <a:off x="4208983" y="6012180"/>
            <a:ext cx="118872" cy="118872"/>
          </a:xfrm>
          <a:prstGeom prst="ellipse">
            <a:avLst/>
          </a:prstGeom>
          <a:solidFill>
            <a:srgbClr val="FFFFFF"/>
          </a:solidFill>
          <a:ln w="1143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Pie 361"/>
          <p:cNvSpPr/>
          <p:nvPr/>
        </p:nvSpPr>
        <p:spPr>
          <a:xfrm>
            <a:off x="4208983" y="6012180"/>
            <a:ext cx="118872" cy="118872"/>
          </a:xfrm>
          <a:prstGeom prst="pie">
            <a:avLst>
              <a:gd name="adj1" fmla="val 16200000"/>
              <a:gd name="adj2" fmla="val 0"/>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4378147" y="5998464"/>
            <a:ext cx="2011680" cy="146304"/>
          </a:xfrm>
          <a:prstGeom prst="rect">
            <a:avLst/>
          </a:prstGeom>
          <a:noFill/>
        </p:spPr>
        <p:txBody>
          <a:bodyPr wrap="square" lIns="27432" tIns="9144" rIns="27432" bIns="9144" anchor="t">
            <a:spAutoFit/>
          </a:bodyPr>
          <a:lstStyle/>
          <a:p>
            <a:pPr algn="l"/>
            <a:r>
              <a:rPr sz="700" b="0" i="0">
                <a:solidFill>
                  <a:srgbClr val="404040"/>
                </a:solidFill>
                <a:latin typeface="Calibri"/>
              </a:rPr>
              <a:t>Historical, discontinued or limited</a:t>
            </a:r>
          </a:p>
        </p:txBody>
      </p:sp>
      <p:sp>
        <p:nvSpPr>
          <p:cNvPr id="364" name="Oval 363"/>
          <p:cNvSpPr/>
          <p:nvPr/>
        </p:nvSpPr>
        <p:spPr>
          <a:xfrm>
            <a:off x="6238951" y="6012180"/>
            <a:ext cx="118872" cy="118872"/>
          </a:xfrm>
          <a:prstGeom prst="ellipse">
            <a:avLst/>
          </a:prstGeom>
          <a:solidFill>
            <a:srgbClr val="FFFFFF"/>
          </a:solidFill>
          <a:ln w="1143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TextBox 364"/>
          <p:cNvSpPr txBox="1"/>
          <p:nvPr/>
        </p:nvSpPr>
        <p:spPr>
          <a:xfrm>
            <a:off x="6408115" y="5998464"/>
            <a:ext cx="2011680" cy="146304"/>
          </a:xfrm>
          <a:prstGeom prst="rect">
            <a:avLst/>
          </a:prstGeom>
          <a:noFill/>
        </p:spPr>
        <p:txBody>
          <a:bodyPr wrap="square" lIns="27432" tIns="9144" rIns="27432" bIns="9144" anchor="t">
            <a:spAutoFit/>
          </a:bodyPr>
          <a:lstStyle/>
          <a:p>
            <a:pPr algn="l"/>
            <a:r>
              <a:rPr sz="700" b="0" i="0">
                <a:solidFill>
                  <a:srgbClr val="404040"/>
                </a:solidFill>
                <a:latin typeface="Calibri"/>
              </a:rPr>
              <a:t>No verified position</a:t>
            </a:r>
          </a:p>
        </p:txBody>
      </p:sp>
      <p:sp>
        <p:nvSpPr>
          <p:cNvPr id="366" name="Rectangle 365"/>
          <p:cNvSpPr/>
          <p:nvPr/>
        </p:nvSpPr>
        <p:spPr>
          <a:xfrm>
            <a:off x="7541971"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Rectangle 366"/>
          <p:cNvSpPr/>
          <p:nvPr/>
        </p:nvSpPr>
        <p:spPr>
          <a:xfrm>
            <a:off x="7660843"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Rectangle 367"/>
          <p:cNvSpPr/>
          <p:nvPr/>
        </p:nvSpPr>
        <p:spPr>
          <a:xfrm>
            <a:off x="7779715"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7926019" y="5998464"/>
            <a:ext cx="548640" cy="146304"/>
          </a:xfrm>
          <a:prstGeom prst="rect">
            <a:avLst/>
          </a:prstGeom>
          <a:noFill/>
        </p:spPr>
        <p:txBody>
          <a:bodyPr wrap="square" lIns="27432" tIns="9144" rIns="27432" bIns="9144" anchor="t">
            <a:spAutoFit/>
          </a:bodyPr>
          <a:lstStyle/>
          <a:p>
            <a:pPr algn="l"/>
            <a:r>
              <a:rPr sz="700" b="0" i="0">
                <a:solidFill>
                  <a:srgbClr val="404040"/>
                </a:solidFill>
                <a:latin typeface="Calibri"/>
              </a:rPr>
              <a:t>High</a:t>
            </a:r>
          </a:p>
        </p:txBody>
      </p:sp>
      <p:sp>
        <p:nvSpPr>
          <p:cNvPr id="370" name="Rectangle 369"/>
          <p:cNvSpPr/>
          <p:nvPr/>
        </p:nvSpPr>
        <p:spPr>
          <a:xfrm>
            <a:off x="8410651"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Rectangle 370"/>
          <p:cNvSpPr/>
          <p:nvPr/>
        </p:nvSpPr>
        <p:spPr>
          <a:xfrm>
            <a:off x="8529523"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Rectangle 371"/>
          <p:cNvSpPr/>
          <p:nvPr/>
        </p:nvSpPr>
        <p:spPr>
          <a:xfrm>
            <a:off x="8648395" y="6025896"/>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TextBox 372"/>
          <p:cNvSpPr txBox="1"/>
          <p:nvPr/>
        </p:nvSpPr>
        <p:spPr>
          <a:xfrm>
            <a:off x="8794699" y="5998464"/>
            <a:ext cx="548640" cy="146304"/>
          </a:xfrm>
          <a:prstGeom prst="rect">
            <a:avLst/>
          </a:prstGeom>
          <a:noFill/>
        </p:spPr>
        <p:txBody>
          <a:bodyPr wrap="square" lIns="27432" tIns="9144" rIns="27432" bIns="9144" anchor="t">
            <a:spAutoFit/>
          </a:bodyPr>
          <a:lstStyle/>
          <a:p>
            <a:pPr algn="l"/>
            <a:r>
              <a:rPr sz="700" b="0" i="0">
                <a:solidFill>
                  <a:srgbClr val="404040"/>
                </a:solidFill>
                <a:latin typeface="Calibri"/>
              </a:rPr>
              <a:t>Medium</a:t>
            </a:r>
          </a:p>
        </p:txBody>
      </p:sp>
      <p:sp>
        <p:nvSpPr>
          <p:cNvPr id="374" name="Rectangle 373"/>
          <p:cNvSpPr/>
          <p:nvPr/>
        </p:nvSpPr>
        <p:spPr>
          <a:xfrm>
            <a:off x="9279331" y="6025896"/>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Rectangle 374"/>
          <p:cNvSpPr/>
          <p:nvPr/>
        </p:nvSpPr>
        <p:spPr>
          <a:xfrm>
            <a:off x="9398203" y="6025896"/>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Rectangle 375"/>
          <p:cNvSpPr/>
          <p:nvPr/>
        </p:nvSpPr>
        <p:spPr>
          <a:xfrm>
            <a:off x="9517075" y="6025896"/>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TextBox 376"/>
          <p:cNvSpPr txBox="1"/>
          <p:nvPr/>
        </p:nvSpPr>
        <p:spPr>
          <a:xfrm>
            <a:off x="9663379" y="5998464"/>
            <a:ext cx="548640" cy="146304"/>
          </a:xfrm>
          <a:prstGeom prst="rect">
            <a:avLst/>
          </a:prstGeom>
          <a:noFill/>
        </p:spPr>
        <p:txBody>
          <a:bodyPr wrap="square" lIns="27432" tIns="9144" rIns="27432" bIns="9144" anchor="t">
            <a:spAutoFit/>
          </a:bodyPr>
          <a:lstStyle/>
          <a:p>
            <a:pPr algn="l"/>
            <a:r>
              <a:rPr sz="700" b="0" i="0">
                <a:solidFill>
                  <a:srgbClr val="404040"/>
                </a:solidFill>
                <a:latin typeface="Calibri"/>
              </a:rPr>
              <a:t>Low</a:t>
            </a:r>
          </a:p>
        </p:txBody>
      </p:sp>
      <p:sp>
        <p:nvSpPr>
          <p:cNvPr id="378" name="TextBox 377"/>
          <p:cNvSpPr txBox="1"/>
          <p:nvPr/>
        </p:nvSpPr>
        <p:spPr>
          <a:xfrm>
            <a:off x="10148011" y="5998464"/>
            <a:ext cx="1858060" cy="146304"/>
          </a:xfrm>
          <a:prstGeom prst="rect">
            <a:avLst/>
          </a:prstGeom>
          <a:noFill/>
        </p:spPr>
        <p:txBody>
          <a:bodyPr wrap="square" lIns="27432" tIns="9144" rIns="27432" bIns="9144" anchor="t">
            <a:spAutoFit/>
          </a:bodyPr>
          <a:lstStyle/>
          <a:p>
            <a:pPr algn="l"/>
            <a:r>
              <a:rPr sz="700" b="0" i="1">
                <a:solidFill>
                  <a:srgbClr val="404040"/>
                </a:solidFill>
                <a:latin typeface="Calibri"/>
              </a:rPr>
              <a:t>BC breast, GC gastric/GEJ</a:t>
            </a:r>
          </a:p>
        </p:txBody>
      </p:sp>
      <p:sp>
        <p:nvSpPr>
          <p:cNvPr id="379" name="TextBox 378"/>
          <p:cNvSpPr txBox="1"/>
          <p:nvPr/>
        </p:nvSpPr>
        <p:spPr>
          <a:xfrm>
            <a:off x="182880" y="6163056"/>
            <a:ext cx="11823192" cy="219455"/>
          </a:xfrm>
          <a:prstGeom prst="rect">
            <a:avLst/>
          </a:prstGeom>
          <a:noFill/>
        </p:spPr>
        <p:txBody>
          <a:bodyPr wrap="square" lIns="27432" tIns="9144" rIns="27432" bIns="9144" anchor="t">
            <a:spAutoFit/>
          </a:bodyPr>
          <a:lstStyle/>
          <a:p>
            <a:pPr algn="l"/>
            <a:r>
              <a:rPr sz="800" b="1" i="0">
                <a:solidFill>
                  <a:srgbClr val="0E3A66"/>
                </a:solidFill>
                <a:latin typeface="Calibri"/>
              </a:rPr>
              <a:t>READING  </a:t>
            </a:r>
            <a:r>
              <a:rPr sz="800" b="0" i="0">
                <a:solidFill>
                  <a:srgbClr val="262626"/>
                </a:solidFill>
                <a:latin typeface="Calibri"/>
              </a:rPr>
              <a:t>Peptide and plasmid DNA are the most populated platforms (two programs each), while mRNA, viral vector and protein/subunit have no active HER2 program. HER2 IHC 3+ breast cancer draws the most clinical attention with five direct programs; IHC 0 and gastric HER2-low remain the most open pools. Bria-IMT touches the most pools because it is not HER2-selected, while Aston Sci. and ExpreS2ion hold the most direct positions; breadth reflects eligibility, not leadership.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1600" b="1" i="0">
                <a:solidFill>
                  <a:srgbClr val="0E3A66"/>
                </a:solidFill>
                <a:latin typeface="Calibri"/>
              </a:rPr>
              <a:t>Addressable patient pool by HER2 segment: who developers target today, how broad one vaccine program can reach, and where clinical activity is moving</a:t>
            </a:r>
          </a:p>
        </p:txBody>
      </p:sp>
      <p:sp>
        <p:nvSpPr>
          <p:cNvPr id="3" name="Slide Number Placeholder 2">
            <a:extLst>
              <a:ext uri="{FF2B5EF4-FFF2-40B4-BE49-F238E27FC236}">
                <a16:creationId xmlns:a16="http://schemas.microsoft.com/office/drawing/2014/main" id="{FC83A4DD-4508-4BFD-1F86-D5B4148D572C}"/>
              </a:ext>
            </a:extLst>
          </p:cNvPr>
          <p:cNvSpPr>
            <a:spLocks noGrp="1"/>
          </p:cNvSpPr>
          <p:nvPr>
            <p:ph type="sldNum" sz="quarter" idx="4"/>
          </p:nvPr>
        </p:nvSpPr>
        <p:spPr/>
        <p:txBody>
          <a:bodyPr/>
          <a:lstStyle/>
          <a:p>
            <a:pPr marL="0" marR="0" lvl="0" indent="0" algn="ctr" defTabSz="966517" rtl="0" eaLnBrk="1" fontAlgn="auto" latinLnBrk="0" hangingPunct="1">
              <a:lnSpc>
                <a:spcPct val="100000"/>
              </a:lnSpc>
              <a:spcBef>
                <a:spcPts val="0"/>
              </a:spcBef>
              <a:spcAft>
                <a:spcPts val="0"/>
              </a:spcAft>
              <a:buClrTx/>
              <a:buSzTx/>
              <a:buFontTx/>
              <a:buNone/>
              <a:tabLst/>
              <a:defRPr/>
            </a:pPr>
            <a:fld id="{4B17068C-EB94-40A3-A5F2-664CDD77FDAC}" type="slidenum">
              <a:rPr kumimoji="0" lang="en-GB"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66517" rtl="0" eaLnBrk="1" fontAlgn="auto" latinLnBrk="0" hangingPunct="1">
                <a:lnSpc>
                  <a:spcPct val="100000"/>
                </a:lnSpc>
                <a:spcBef>
                  <a:spcPts val="0"/>
                </a:spcBef>
                <a:spcAft>
                  <a:spcPts val="0"/>
                </a:spcAft>
                <a:buClrTx/>
                <a:buSzTx/>
                <a:buFontTx/>
                <a:buNone/>
                <a:tabLst/>
                <a:defRPr/>
              </a:pPr>
              <a:t>13</a:t>
            </a:fld>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p:cNvSpPr txBox="1"/>
          <p:nvPr/>
        </p:nvSpPr>
        <p:spPr>
          <a:xfrm>
            <a:off x="182880" y="1060704"/>
            <a:ext cx="11795760" cy="237744"/>
          </a:xfrm>
          <a:prstGeom prst="rect">
            <a:avLst/>
          </a:prstGeom>
          <a:noFill/>
        </p:spPr>
        <p:txBody>
          <a:bodyPr wrap="square" lIns="27432" tIns="9144" rIns="27432" bIns="9144" anchor="t">
            <a:spAutoFit/>
          </a:bodyPr>
          <a:lstStyle/>
          <a:p>
            <a:pPr algn="l"/>
            <a:r>
              <a:rPr sz="1050" b="0" i="1">
                <a:solidFill>
                  <a:srgbClr val="404040"/>
                </a:solidFill>
                <a:latin typeface="Calibri"/>
              </a:rPr>
              <a:t>Breast and gastric cancer patient cohorts mapped to HER2 expression, current vaccine developers, clinical reach and recent pipeline movement (Sep 2023 to Sep 2026)</a:t>
            </a:r>
          </a:p>
        </p:txBody>
      </p:sp>
      <p:sp>
        <p:nvSpPr>
          <p:cNvPr id="5" name="TextBox 4"/>
          <p:cNvSpPr txBox="1"/>
          <p:nvPr/>
        </p:nvSpPr>
        <p:spPr>
          <a:xfrm>
            <a:off x="2194560" y="6428232"/>
            <a:ext cx="9326880" cy="402336"/>
          </a:xfrm>
          <a:prstGeom prst="rect">
            <a:avLst/>
          </a:prstGeom>
          <a:noFill/>
        </p:spPr>
        <p:txBody>
          <a:bodyPr wrap="square" lIns="27432" tIns="9144" rIns="27432" bIns="9144" anchor="t">
            <a:spAutoFit/>
          </a:bodyPr>
          <a:lstStyle/>
          <a:p>
            <a:pPr algn="l"/>
            <a:r>
              <a:rPr sz="650" b="0" i="0">
                <a:solidFill>
                  <a:srgbClr val="595959"/>
                </a:solidFill>
                <a:latin typeface="Calibri"/>
              </a:rPr>
              <a:t>Sources: ClinicalTrials.gov (NCT05232916, NCT05771584, NCT05163223, NCT06746688, NCT04144023, NCT05325632, NCT03384914, NCT06072612); company releases and filings of Greenwich LifeSciences, Aston Sci., ExpreS2ion, BriaCell, Merck, Moderna, BioNTech (Sep 2023 to Sep 2026); AACR, ASCO and SABCS abstracts; IARC GLOBOCAN 2024 (Jul 2026). Accessed 23 Sep 2026. Counts, ratings and signals are analyst reading; AE = analyst estimate.</a:t>
            </a:r>
          </a:p>
        </p:txBody>
      </p:sp>
      <p:sp>
        <p:nvSpPr>
          <p:cNvPr id="6" name="TextBox 5"/>
          <p:cNvSpPr txBox="1"/>
          <p:nvPr/>
        </p:nvSpPr>
        <p:spPr>
          <a:xfrm>
            <a:off x="182880" y="1325880"/>
            <a:ext cx="11823192" cy="182880"/>
          </a:xfrm>
          <a:prstGeom prst="rect">
            <a:avLst/>
          </a:prstGeom>
          <a:noFill/>
        </p:spPr>
        <p:txBody>
          <a:bodyPr wrap="square" lIns="27432" tIns="9144" rIns="27432" bIns="9144" anchor="t">
            <a:spAutoFit/>
          </a:bodyPr>
          <a:lstStyle/>
          <a:p>
            <a:pPr algn="l"/>
            <a:r>
              <a:rPr sz="900" b="1" i="0">
                <a:solidFill>
                  <a:srgbClr val="0E3A66"/>
                </a:solidFill>
                <a:latin typeface="Calibri"/>
              </a:rPr>
              <a:t>HER2-focused therapeutic vaccine opportunity, by addressable population</a:t>
            </a:r>
          </a:p>
        </p:txBody>
      </p:sp>
      <p:sp>
        <p:nvSpPr>
          <p:cNvPr id="7" name="TextBox 6"/>
          <p:cNvSpPr txBox="1"/>
          <p:nvPr/>
        </p:nvSpPr>
        <p:spPr>
          <a:xfrm>
            <a:off x="182880" y="1517904"/>
            <a:ext cx="1920240" cy="164592"/>
          </a:xfrm>
          <a:prstGeom prst="rect">
            <a:avLst/>
          </a:prstGeom>
          <a:noFill/>
        </p:spPr>
        <p:txBody>
          <a:bodyPr wrap="square" lIns="27432" tIns="9144" rIns="27432" bIns="9144" anchor="ctr">
            <a:spAutoFit/>
          </a:bodyPr>
          <a:lstStyle/>
          <a:p>
            <a:pPr algn="l"/>
            <a:r>
              <a:rPr sz="750" b="1" i="0">
                <a:solidFill>
                  <a:srgbClr val="404040"/>
                </a:solidFill>
                <a:latin typeface="Calibri"/>
              </a:rPr>
              <a:t>BREAST CANCER, share of cases</a:t>
            </a:r>
          </a:p>
        </p:txBody>
      </p:sp>
      <p:sp>
        <p:nvSpPr>
          <p:cNvPr id="8" name="Rectangle 7"/>
          <p:cNvSpPr/>
          <p:nvPr/>
        </p:nvSpPr>
        <p:spPr>
          <a:xfrm>
            <a:off x="2148840" y="1517904"/>
            <a:ext cx="3362742" cy="164592"/>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48840" y="1517904"/>
            <a:ext cx="3381030" cy="164592"/>
          </a:xfrm>
          <a:prstGeom prst="rect">
            <a:avLst/>
          </a:prstGeom>
          <a:noFill/>
        </p:spPr>
        <p:txBody>
          <a:bodyPr wrap="square" lIns="45720" tIns="9144" rIns="45720" bIns="9144" anchor="ctr">
            <a:spAutoFit/>
          </a:bodyPr>
          <a:lstStyle/>
          <a:p>
            <a:pPr algn="l"/>
            <a:r>
              <a:rPr sz="700" b="1" i="0">
                <a:solidFill>
                  <a:srgbClr val="FFFFFF"/>
                </a:solidFill>
                <a:latin typeface="Calibri"/>
              </a:rPr>
              <a:t>IHC 0 34.3%</a:t>
            </a:r>
          </a:p>
        </p:txBody>
      </p:sp>
      <p:sp>
        <p:nvSpPr>
          <p:cNvPr id="10" name="Rectangle 9"/>
          <p:cNvSpPr/>
          <p:nvPr/>
        </p:nvSpPr>
        <p:spPr>
          <a:xfrm>
            <a:off x="5529870" y="1517904"/>
            <a:ext cx="3362742" cy="164592"/>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29870" y="1517904"/>
            <a:ext cx="3381030" cy="164592"/>
          </a:xfrm>
          <a:prstGeom prst="rect">
            <a:avLst/>
          </a:prstGeom>
          <a:noFill/>
        </p:spPr>
        <p:txBody>
          <a:bodyPr wrap="square" lIns="45720" tIns="9144" rIns="45720" bIns="9144" anchor="ctr">
            <a:spAutoFit/>
          </a:bodyPr>
          <a:lstStyle/>
          <a:p>
            <a:pPr algn="l"/>
            <a:r>
              <a:rPr sz="700" b="1" i="0">
                <a:solidFill>
                  <a:srgbClr val="FFFFFF"/>
                </a:solidFill>
                <a:latin typeface="Calibri"/>
              </a:rPr>
              <a:t>IHC 1+ 34.3%</a:t>
            </a:r>
          </a:p>
        </p:txBody>
      </p:sp>
      <p:sp>
        <p:nvSpPr>
          <p:cNvPr id="12" name="Rectangle 11"/>
          <p:cNvSpPr/>
          <p:nvPr/>
        </p:nvSpPr>
        <p:spPr>
          <a:xfrm>
            <a:off x="8910901" y="1517904"/>
            <a:ext cx="1598298" cy="164592"/>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10901" y="1517904"/>
            <a:ext cx="1616586" cy="164592"/>
          </a:xfrm>
          <a:prstGeom prst="rect">
            <a:avLst/>
          </a:prstGeom>
          <a:noFill/>
        </p:spPr>
        <p:txBody>
          <a:bodyPr wrap="square" lIns="45720" tIns="9144" rIns="45720" bIns="9144" anchor="ctr">
            <a:spAutoFit/>
          </a:bodyPr>
          <a:lstStyle/>
          <a:p>
            <a:pPr algn="l"/>
            <a:r>
              <a:rPr sz="700" b="1" i="0">
                <a:solidFill>
                  <a:srgbClr val="FFFFFF"/>
                </a:solidFill>
                <a:latin typeface="Calibri"/>
              </a:rPr>
              <a:t>2+/ISH- 16.4%</a:t>
            </a:r>
          </a:p>
        </p:txBody>
      </p:sp>
      <p:sp>
        <p:nvSpPr>
          <p:cNvPr id="14" name="Rectangle 13"/>
          <p:cNvSpPr/>
          <p:nvPr/>
        </p:nvSpPr>
        <p:spPr>
          <a:xfrm>
            <a:off x="10527487" y="1517904"/>
            <a:ext cx="277428" cy="164592"/>
          </a:xfrm>
          <a:prstGeom prst="rect">
            <a:avLst/>
          </a:prstGeom>
          <a:solidFill>
            <a:srgbClr val="5B8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27487" y="1517904"/>
            <a:ext cx="295716" cy="164592"/>
          </a:xfrm>
          <a:prstGeom prst="rect">
            <a:avLst/>
          </a:prstGeom>
          <a:noFill/>
        </p:spPr>
        <p:txBody>
          <a:bodyPr wrap="square" lIns="45720" tIns="9144" rIns="45720" bIns="9144" anchor="ctr">
            <a:spAutoFit/>
          </a:bodyPr>
          <a:lstStyle/>
          <a:p>
            <a:pPr algn="ctr"/>
            <a:r>
              <a:rPr sz="700" b="1" i="0">
                <a:solidFill>
                  <a:srgbClr val="FFFFFF"/>
                </a:solidFill>
                <a:latin typeface="Calibri"/>
              </a:rPr>
              <a:t>3%</a:t>
            </a:r>
          </a:p>
        </p:txBody>
      </p:sp>
      <p:sp>
        <p:nvSpPr>
          <p:cNvPr id="16" name="Rectangle 15"/>
          <p:cNvSpPr/>
          <p:nvPr/>
        </p:nvSpPr>
        <p:spPr>
          <a:xfrm>
            <a:off x="10823204" y="1517904"/>
            <a:ext cx="1164579" cy="164592"/>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823204" y="1517904"/>
            <a:ext cx="1182867" cy="164592"/>
          </a:xfrm>
          <a:prstGeom prst="rect">
            <a:avLst/>
          </a:prstGeom>
          <a:noFill/>
        </p:spPr>
        <p:txBody>
          <a:bodyPr wrap="square" lIns="45720" tIns="9144" rIns="45720" bIns="9144" anchor="ctr">
            <a:spAutoFit/>
          </a:bodyPr>
          <a:lstStyle/>
          <a:p>
            <a:pPr algn="l"/>
            <a:r>
              <a:rPr sz="700" b="1" i="0">
                <a:solidFill>
                  <a:srgbClr val="0B2A4A"/>
                </a:solidFill>
                <a:latin typeface="Calibri"/>
              </a:rPr>
              <a:t>IHC 3+ (AE) 12.0%</a:t>
            </a:r>
          </a:p>
        </p:txBody>
      </p:sp>
      <p:sp>
        <p:nvSpPr>
          <p:cNvPr id="18" name="TextBox 17"/>
          <p:cNvSpPr txBox="1"/>
          <p:nvPr/>
        </p:nvSpPr>
        <p:spPr>
          <a:xfrm>
            <a:off x="182880" y="1700784"/>
            <a:ext cx="1920240" cy="164592"/>
          </a:xfrm>
          <a:prstGeom prst="rect">
            <a:avLst/>
          </a:prstGeom>
          <a:noFill/>
        </p:spPr>
        <p:txBody>
          <a:bodyPr wrap="square" lIns="27432" tIns="9144" rIns="27432" bIns="9144" anchor="ctr">
            <a:spAutoFit/>
          </a:bodyPr>
          <a:lstStyle/>
          <a:p>
            <a:pPr algn="l"/>
            <a:r>
              <a:rPr sz="750" b="1" i="0">
                <a:solidFill>
                  <a:srgbClr val="404040"/>
                </a:solidFill>
                <a:latin typeface="Calibri"/>
              </a:rPr>
              <a:t>GASTRIC / GEJ CANCER</a:t>
            </a:r>
          </a:p>
        </p:txBody>
      </p:sp>
      <p:sp>
        <p:nvSpPr>
          <p:cNvPr id="19" name="Rectangle 18"/>
          <p:cNvSpPr/>
          <p:nvPr/>
        </p:nvSpPr>
        <p:spPr>
          <a:xfrm>
            <a:off x="2148840" y="1700784"/>
            <a:ext cx="1953158" cy="164592"/>
          </a:xfrm>
          <a:prstGeom prst="rect">
            <a:avLst/>
          </a:prstGeom>
          <a:solidFill>
            <a:srgbClr val="C9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48840" y="1700784"/>
            <a:ext cx="1971446" cy="164592"/>
          </a:xfrm>
          <a:prstGeom prst="rect">
            <a:avLst/>
          </a:prstGeom>
          <a:noFill/>
        </p:spPr>
        <p:txBody>
          <a:bodyPr wrap="square" lIns="27432" tIns="9144" rIns="27432" bIns="9144" anchor="ctr">
            <a:spAutoFit/>
          </a:bodyPr>
          <a:lstStyle/>
          <a:p>
            <a:pPr algn="ctr"/>
            <a:r>
              <a:rPr sz="700" b="1" i="0">
                <a:solidFill>
                  <a:srgbClr val="0E3A66"/>
                </a:solidFill>
                <a:latin typeface="Calibri"/>
              </a:rPr>
              <a:t>IHC 0</a:t>
            </a:r>
          </a:p>
        </p:txBody>
      </p:sp>
      <p:sp>
        <p:nvSpPr>
          <p:cNvPr id="21" name="Rectangle 20"/>
          <p:cNvSpPr/>
          <p:nvPr/>
        </p:nvSpPr>
        <p:spPr>
          <a:xfrm>
            <a:off x="4120286" y="1700784"/>
            <a:ext cx="1953158" cy="164592"/>
          </a:xfrm>
          <a:prstGeom prst="rect">
            <a:avLst/>
          </a:prstGeom>
          <a:solidFill>
            <a:srgbClr val="C9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20286" y="1700784"/>
            <a:ext cx="1971446" cy="164592"/>
          </a:xfrm>
          <a:prstGeom prst="rect">
            <a:avLst/>
          </a:prstGeom>
          <a:noFill/>
        </p:spPr>
        <p:txBody>
          <a:bodyPr wrap="square" lIns="27432" tIns="9144" rIns="27432" bIns="9144" anchor="ctr">
            <a:spAutoFit/>
          </a:bodyPr>
          <a:lstStyle/>
          <a:p>
            <a:pPr algn="ctr"/>
            <a:r>
              <a:rPr sz="700" b="1" i="0">
                <a:solidFill>
                  <a:srgbClr val="0E3A66"/>
                </a:solidFill>
                <a:latin typeface="Calibri"/>
              </a:rPr>
              <a:t>IHC 1+</a:t>
            </a:r>
          </a:p>
        </p:txBody>
      </p:sp>
      <p:sp>
        <p:nvSpPr>
          <p:cNvPr id="23" name="Rectangle 22"/>
          <p:cNvSpPr/>
          <p:nvPr/>
        </p:nvSpPr>
        <p:spPr>
          <a:xfrm>
            <a:off x="6091732" y="1700784"/>
            <a:ext cx="1953158" cy="164592"/>
          </a:xfrm>
          <a:prstGeom prst="rect">
            <a:avLst/>
          </a:prstGeom>
          <a:solidFill>
            <a:srgbClr val="C9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91732" y="1700784"/>
            <a:ext cx="1971446" cy="164592"/>
          </a:xfrm>
          <a:prstGeom prst="rect">
            <a:avLst/>
          </a:prstGeom>
          <a:noFill/>
        </p:spPr>
        <p:txBody>
          <a:bodyPr wrap="square" lIns="27432" tIns="9144" rIns="27432" bIns="9144" anchor="ctr">
            <a:spAutoFit/>
          </a:bodyPr>
          <a:lstStyle/>
          <a:p>
            <a:pPr algn="ctr"/>
            <a:r>
              <a:rPr sz="700" b="1" i="0">
                <a:solidFill>
                  <a:srgbClr val="0E3A66"/>
                </a:solidFill>
                <a:latin typeface="Calibri"/>
              </a:rPr>
              <a:t>IHC 2+/ISH-</a:t>
            </a:r>
          </a:p>
        </p:txBody>
      </p:sp>
      <p:sp>
        <p:nvSpPr>
          <p:cNvPr id="25" name="Rectangle 24"/>
          <p:cNvSpPr/>
          <p:nvPr/>
        </p:nvSpPr>
        <p:spPr>
          <a:xfrm>
            <a:off x="8063179" y="1700784"/>
            <a:ext cx="1953158" cy="164592"/>
          </a:xfrm>
          <a:prstGeom prst="rect">
            <a:avLst/>
          </a:prstGeom>
          <a:solidFill>
            <a:srgbClr val="C9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63179" y="1700784"/>
            <a:ext cx="1971446" cy="164592"/>
          </a:xfrm>
          <a:prstGeom prst="rect">
            <a:avLst/>
          </a:prstGeom>
          <a:noFill/>
        </p:spPr>
        <p:txBody>
          <a:bodyPr wrap="square" lIns="27432" tIns="9144" rIns="27432" bIns="9144" anchor="ctr">
            <a:spAutoFit/>
          </a:bodyPr>
          <a:lstStyle/>
          <a:p>
            <a:pPr algn="ctr"/>
            <a:r>
              <a:rPr sz="700" b="1" i="0">
                <a:solidFill>
                  <a:srgbClr val="0E3A66"/>
                </a:solidFill>
                <a:latin typeface="Calibri"/>
              </a:rPr>
              <a:t>IHC 2+/ISH+</a:t>
            </a:r>
          </a:p>
        </p:txBody>
      </p:sp>
      <p:sp>
        <p:nvSpPr>
          <p:cNvPr id="27" name="Rectangle 26"/>
          <p:cNvSpPr/>
          <p:nvPr/>
        </p:nvSpPr>
        <p:spPr>
          <a:xfrm>
            <a:off x="10034625" y="1700784"/>
            <a:ext cx="1953158" cy="164592"/>
          </a:xfrm>
          <a:prstGeom prst="rect">
            <a:avLst/>
          </a:prstGeom>
          <a:solidFill>
            <a:srgbClr val="C9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34625" y="1700784"/>
            <a:ext cx="1971446" cy="164592"/>
          </a:xfrm>
          <a:prstGeom prst="rect">
            <a:avLst/>
          </a:prstGeom>
          <a:noFill/>
        </p:spPr>
        <p:txBody>
          <a:bodyPr wrap="square" lIns="27432" tIns="9144" rIns="27432" bIns="9144" anchor="ctr">
            <a:spAutoFit/>
          </a:bodyPr>
          <a:lstStyle/>
          <a:p>
            <a:pPr algn="ctr"/>
            <a:r>
              <a:rPr sz="700" b="1" i="0">
                <a:solidFill>
                  <a:srgbClr val="0E3A66"/>
                </a:solidFill>
                <a:latin typeface="Calibri"/>
              </a:rPr>
              <a:t>IHC 3+</a:t>
            </a:r>
          </a:p>
        </p:txBody>
      </p:sp>
      <p:sp>
        <p:nvSpPr>
          <p:cNvPr id="29" name="TextBox 28"/>
          <p:cNvSpPr txBox="1"/>
          <p:nvPr/>
        </p:nvSpPr>
        <p:spPr>
          <a:xfrm>
            <a:off x="182880" y="1874519"/>
            <a:ext cx="11823192" cy="137160"/>
          </a:xfrm>
          <a:prstGeom prst="rect">
            <a:avLst/>
          </a:prstGeom>
          <a:noFill/>
        </p:spPr>
        <p:txBody>
          <a:bodyPr wrap="square" lIns="27432" tIns="9144" rIns="27432" bIns="9144" anchor="t">
            <a:spAutoFit/>
          </a:bodyPr>
          <a:lstStyle/>
          <a:p>
            <a:pPr algn="l"/>
            <a:r>
              <a:rPr sz="680" b="0" i="1">
                <a:solidFill>
                  <a:srgbClr val="404040"/>
                </a:solidFill>
                <a:latin typeface="Calibri"/>
              </a:rPr>
              <a:t>Breast widths are proportional (IHC 0, 1+, 2+/ISH- from a published 3,689-patient cohort; 2+/ISH+ vs 3+ split is AE). Gastric blocks are equal-sized: prevalence varies by geography, stage and testing methodology.</a:t>
            </a:r>
          </a:p>
        </p:txBody>
      </p:sp>
      <p:cxnSp>
        <p:nvCxnSpPr>
          <p:cNvPr id="30" name="Connector 29"/>
          <p:cNvCxnSpPr/>
          <p:nvPr/>
        </p:nvCxnSpPr>
        <p:spPr>
          <a:xfrm>
            <a:off x="182880" y="202996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82880" y="2039112"/>
            <a:ext cx="1783080" cy="164592"/>
          </a:xfrm>
          <a:prstGeom prst="rect">
            <a:avLst/>
          </a:prstGeom>
          <a:noFill/>
        </p:spPr>
        <p:txBody>
          <a:bodyPr wrap="square" lIns="27432" tIns="9144" rIns="27432" bIns="9144" anchor="t">
            <a:spAutoFit/>
          </a:bodyPr>
          <a:lstStyle/>
          <a:p>
            <a:pPr algn="l"/>
            <a:r>
              <a:rPr sz="780" b="1" i="0">
                <a:solidFill>
                  <a:srgbClr val="0E3A66"/>
                </a:solidFill>
                <a:latin typeface="Calibri"/>
              </a:rPr>
              <a:t>Patient group and addressable pool</a:t>
            </a:r>
          </a:p>
        </p:txBody>
      </p:sp>
      <p:sp>
        <p:nvSpPr>
          <p:cNvPr id="32" name="TextBox 31"/>
          <p:cNvSpPr txBox="1"/>
          <p:nvPr/>
        </p:nvSpPr>
        <p:spPr>
          <a:xfrm>
            <a:off x="2011680" y="2039112"/>
            <a:ext cx="1691639" cy="164592"/>
          </a:xfrm>
          <a:prstGeom prst="rect">
            <a:avLst/>
          </a:prstGeom>
          <a:noFill/>
        </p:spPr>
        <p:txBody>
          <a:bodyPr wrap="square" lIns="27432" tIns="9144" rIns="27432" bIns="9144" anchor="t">
            <a:spAutoFit/>
          </a:bodyPr>
          <a:lstStyle/>
          <a:p>
            <a:pPr algn="l"/>
            <a:r>
              <a:rPr sz="780" b="1" i="0">
                <a:solidFill>
                  <a:srgbClr val="0E3A66"/>
                </a:solidFill>
                <a:latin typeface="Calibri"/>
              </a:rPr>
              <a:t>What defines the opportunity</a:t>
            </a:r>
          </a:p>
        </p:txBody>
      </p:sp>
      <p:sp>
        <p:nvSpPr>
          <p:cNvPr id="33" name="TextBox 32"/>
          <p:cNvSpPr txBox="1"/>
          <p:nvPr/>
        </p:nvSpPr>
        <p:spPr>
          <a:xfrm>
            <a:off x="3749039" y="2039112"/>
            <a:ext cx="1920240" cy="164592"/>
          </a:xfrm>
          <a:prstGeom prst="rect">
            <a:avLst/>
          </a:prstGeom>
          <a:noFill/>
        </p:spPr>
        <p:txBody>
          <a:bodyPr wrap="square" lIns="27432" tIns="9144" rIns="27432" bIns="9144" anchor="t">
            <a:spAutoFit/>
          </a:bodyPr>
          <a:lstStyle/>
          <a:p>
            <a:pPr algn="l"/>
            <a:r>
              <a:rPr sz="780" b="1" i="0">
                <a:solidFill>
                  <a:srgbClr val="0E3A66"/>
                </a:solidFill>
                <a:latin typeface="Calibri"/>
              </a:rPr>
              <a:t>Who is developing vaccines for it</a:t>
            </a:r>
          </a:p>
        </p:txBody>
      </p:sp>
      <p:sp>
        <p:nvSpPr>
          <p:cNvPr id="34" name="TextBox 33"/>
          <p:cNvSpPr txBox="1"/>
          <p:nvPr/>
        </p:nvSpPr>
        <p:spPr>
          <a:xfrm>
            <a:off x="5715000" y="2039112"/>
            <a:ext cx="1005839" cy="164592"/>
          </a:xfrm>
          <a:prstGeom prst="rect">
            <a:avLst/>
          </a:prstGeom>
          <a:noFill/>
        </p:spPr>
        <p:txBody>
          <a:bodyPr wrap="square" lIns="27432" tIns="9144" rIns="27432" bIns="9144" anchor="t">
            <a:spAutoFit/>
          </a:bodyPr>
          <a:lstStyle/>
          <a:p>
            <a:pPr algn="l"/>
            <a:r>
              <a:rPr sz="780" b="1" i="0">
                <a:solidFill>
                  <a:srgbClr val="0E3A66"/>
                </a:solidFill>
                <a:latin typeface="Calibri"/>
              </a:rPr>
              <a:t>One-program reach</a:t>
            </a:r>
          </a:p>
        </p:txBody>
      </p:sp>
      <p:sp>
        <p:nvSpPr>
          <p:cNvPr id="35" name="TextBox 34"/>
          <p:cNvSpPr txBox="1"/>
          <p:nvPr/>
        </p:nvSpPr>
        <p:spPr>
          <a:xfrm>
            <a:off x="6766560" y="2039112"/>
            <a:ext cx="2697480" cy="164592"/>
          </a:xfrm>
          <a:prstGeom prst="rect">
            <a:avLst/>
          </a:prstGeom>
          <a:noFill/>
        </p:spPr>
        <p:txBody>
          <a:bodyPr wrap="square" lIns="27432" tIns="9144" rIns="27432" bIns="9144" anchor="t">
            <a:spAutoFit/>
          </a:bodyPr>
          <a:lstStyle/>
          <a:p>
            <a:pPr algn="l"/>
            <a:r>
              <a:rPr sz="780" b="1" i="0">
                <a:solidFill>
                  <a:srgbClr val="0E3A66"/>
                </a:solidFill>
                <a:latin typeface="Calibri"/>
              </a:rPr>
              <a:t>Where the pipeline moved, Sep 2023 to Sep 2026</a:t>
            </a:r>
          </a:p>
        </p:txBody>
      </p:sp>
      <p:sp>
        <p:nvSpPr>
          <p:cNvPr id="36" name="TextBox 35"/>
          <p:cNvSpPr txBox="1"/>
          <p:nvPr/>
        </p:nvSpPr>
        <p:spPr>
          <a:xfrm>
            <a:off x="9509760" y="2039112"/>
            <a:ext cx="2450592" cy="164592"/>
          </a:xfrm>
          <a:prstGeom prst="rect">
            <a:avLst/>
          </a:prstGeom>
          <a:noFill/>
        </p:spPr>
        <p:txBody>
          <a:bodyPr wrap="square" lIns="27432" tIns="9144" rIns="27432" bIns="9144" anchor="t">
            <a:spAutoFit/>
          </a:bodyPr>
          <a:lstStyle/>
          <a:p>
            <a:pPr algn="l"/>
            <a:r>
              <a:rPr sz="780" b="1" i="0">
                <a:solidFill>
                  <a:srgbClr val="0E3A66"/>
                </a:solidFill>
                <a:latin typeface="Calibri"/>
              </a:rPr>
              <a:t>What it means</a:t>
            </a:r>
          </a:p>
        </p:txBody>
      </p:sp>
      <p:cxnSp>
        <p:nvCxnSpPr>
          <p:cNvPr id="37" name="Connector 36"/>
          <p:cNvCxnSpPr/>
          <p:nvPr/>
        </p:nvCxnSpPr>
        <p:spPr>
          <a:xfrm>
            <a:off x="182880" y="2212848"/>
            <a:ext cx="11823192" cy="0"/>
          </a:xfrm>
          <a:prstGeom prst="line">
            <a:avLst/>
          </a:prstGeom>
          <a:ln w="12700">
            <a:solidFill>
              <a:srgbClr val="0E3A6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82880" y="2258568"/>
            <a:ext cx="1773936" cy="539496"/>
          </a:xfrm>
          <a:prstGeom prst="rect">
            <a:avLst/>
          </a:prstGeom>
          <a:noFill/>
        </p:spPr>
        <p:txBody>
          <a:bodyPr wrap="square" lIns="27432" tIns="9144" rIns="27432" bIns="9144" anchor="t">
            <a:spAutoFit/>
          </a:bodyPr>
          <a:lstStyle/>
          <a:p>
            <a:pPr algn="l"/>
            <a:r>
              <a:rPr sz="780" b="1" i="0">
                <a:solidFill>
                  <a:srgbClr val="262626"/>
                </a:solidFill>
                <a:latin typeface="Calibri"/>
              </a:rPr>
              <a:t>HER2 IHC 3+ breast cancer</a:t>
            </a:r>
          </a:p>
          <a:p>
            <a:pPr algn="l"/>
            <a:r>
              <a:rPr sz="650" b="0" i="0">
                <a:solidFill>
                  <a:srgbClr val="0E3A66"/>
                </a:solidFill>
                <a:latin typeface="Calibri"/>
              </a:rPr>
              <a:t>c.292k new cases per year (AE); adjuvant, neoadjuvant and metastatic settings</a:t>
            </a:r>
          </a:p>
        </p:txBody>
      </p:sp>
      <p:sp>
        <p:nvSpPr>
          <p:cNvPr id="39" name="TextBox 38"/>
          <p:cNvSpPr txBox="1"/>
          <p:nvPr/>
        </p:nvSpPr>
        <p:spPr>
          <a:xfrm>
            <a:off x="2011680" y="2258568"/>
            <a:ext cx="1664207" cy="539496"/>
          </a:xfrm>
          <a:prstGeom prst="rect">
            <a:avLst/>
          </a:prstGeom>
          <a:noFill/>
        </p:spPr>
        <p:txBody>
          <a:bodyPr wrap="square" lIns="27432" tIns="9144" rIns="27432" bIns="9144" anchor="t">
            <a:spAutoFit/>
          </a:bodyPr>
          <a:lstStyle/>
          <a:p>
            <a:pPr algn="l"/>
            <a:r>
              <a:rPr sz="650" b="0" i="0">
                <a:solidFill>
                  <a:srgbClr val="262626"/>
                </a:solidFill>
                <a:latin typeface="Calibri"/>
              </a:rPr>
              <a:t>Highest HER2 density and the clearest HER2-directed target; eligible for programs requiring HER2-positive disease.</a:t>
            </a:r>
          </a:p>
        </p:txBody>
      </p:sp>
      <p:sp>
        <p:nvSpPr>
          <p:cNvPr id="40" name="Rectangle 39"/>
          <p:cNvSpPr/>
          <p:nvPr/>
        </p:nvSpPr>
        <p:spPr>
          <a:xfrm>
            <a:off x="3749039" y="2276856"/>
            <a:ext cx="45720" cy="109728"/>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13048" y="2258568"/>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Greenwich LifeSciences</a:t>
            </a:r>
            <a:r>
              <a:rPr sz="650" b="0" i="0">
                <a:solidFill>
                  <a:srgbClr val="404040"/>
                </a:solidFill>
                <a:latin typeface="Calibri"/>
              </a:rPr>
              <a:t>  GLSI-100 / GP2</a:t>
            </a:r>
          </a:p>
        </p:txBody>
      </p:sp>
      <p:sp>
        <p:nvSpPr>
          <p:cNvPr id="42" name="Rectangle 41"/>
          <p:cNvSpPr/>
          <p:nvPr/>
        </p:nvSpPr>
        <p:spPr>
          <a:xfrm>
            <a:off x="5513832" y="2267712"/>
            <a:ext cx="155448" cy="13716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513832" y="2267712"/>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3</a:t>
            </a:r>
          </a:p>
        </p:txBody>
      </p:sp>
      <p:sp>
        <p:nvSpPr>
          <p:cNvPr id="44" name="Rectangle 43"/>
          <p:cNvSpPr/>
          <p:nvPr/>
        </p:nvSpPr>
        <p:spPr>
          <a:xfrm>
            <a:off x="3749039" y="2404872"/>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13048" y="2386584"/>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Moffitt Cancer Center</a:t>
            </a:r>
            <a:r>
              <a:rPr sz="650" b="0" i="0">
                <a:solidFill>
                  <a:srgbClr val="404040"/>
                </a:solidFill>
                <a:latin typeface="Calibri"/>
              </a:rPr>
              <a:t>  HER2 DC1</a:t>
            </a:r>
          </a:p>
        </p:txBody>
      </p:sp>
      <p:sp>
        <p:nvSpPr>
          <p:cNvPr id="46" name="Rectangle 45"/>
          <p:cNvSpPr/>
          <p:nvPr/>
        </p:nvSpPr>
        <p:spPr>
          <a:xfrm>
            <a:off x="5513832" y="2395728"/>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513832" y="2395728"/>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48" name="Rectangle 47"/>
          <p:cNvSpPr/>
          <p:nvPr/>
        </p:nvSpPr>
        <p:spPr>
          <a:xfrm>
            <a:off x="3749039" y="2532888"/>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13048" y="2514600"/>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UW Cancer Vaccine Inst.</a:t>
            </a:r>
            <a:r>
              <a:rPr sz="650" b="0" i="0">
                <a:solidFill>
                  <a:srgbClr val="404040"/>
                </a:solidFill>
                <a:latin typeface="Calibri"/>
              </a:rPr>
              <a:t>  WOKVAC</a:t>
            </a:r>
          </a:p>
        </p:txBody>
      </p:sp>
      <p:sp>
        <p:nvSpPr>
          <p:cNvPr id="50" name="Rectangle 49"/>
          <p:cNvSpPr/>
          <p:nvPr/>
        </p:nvSpPr>
        <p:spPr>
          <a:xfrm>
            <a:off x="5513832" y="2523744"/>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513832" y="2523744"/>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52" name="Rectangle 51"/>
          <p:cNvSpPr/>
          <p:nvPr/>
        </p:nvSpPr>
        <p:spPr>
          <a:xfrm>
            <a:off x="3749039" y="2660904"/>
            <a:ext cx="45720" cy="109728"/>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13048" y="2642616"/>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ExpreS2ion</a:t>
            </a:r>
            <a:r>
              <a:rPr sz="650" b="0" i="0">
                <a:solidFill>
                  <a:srgbClr val="404040"/>
                </a:solidFill>
                <a:latin typeface="Calibri"/>
              </a:rPr>
              <a:t>  ES2B-C001</a:t>
            </a:r>
          </a:p>
        </p:txBody>
      </p:sp>
      <p:sp>
        <p:nvSpPr>
          <p:cNvPr id="54" name="Rectangle 53"/>
          <p:cNvSpPr/>
          <p:nvPr/>
        </p:nvSpPr>
        <p:spPr>
          <a:xfrm>
            <a:off x="5513832" y="2651760"/>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513832" y="265176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56" name="Rectangle 55"/>
          <p:cNvSpPr/>
          <p:nvPr/>
        </p:nvSpPr>
        <p:spPr>
          <a:xfrm>
            <a:off x="5715000" y="228600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33872" y="2286000"/>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952744" y="2286000"/>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099048" y="2258568"/>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60" name="TextBox 59"/>
          <p:cNvSpPr txBox="1"/>
          <p:nvPr/>
        </p:nvSpPr>
        <p:spPr>
          <a:xfrm>
            <a:off x="5715000" y="2395728"/>
            <a:ext cx="996695" cy="411479"/>
          </a:xfrm>
          <a:prstGeom prst="rect">
            <a:avLst/>
          </a:prstGeom>
          <a:noFill/>
        </p:spPr>
        <p:txBody>
          <a:bodyPr wrap="square" lIns="27432" tIns="9144" rIns="27432" bIns="9144" anchor="t">
            <a:spAutoFit/>
          </a:bodyPr>
          <a:lstStyle/>
          <a:p>
            <a:pPr algn="l"/>
            <a:r>
              <a:rPr sz="610" b="0" i="0">
                <a:solidFill>
                  <a:srgbClr val="404040"/>
                </a:solidFill>
                <a:latin typeface="Calibri"/>
              </a:rPr>
              <a:t>Restricted to post-trastuzumab adjuvant (GLSI-100) or metastatic (ES2B-C001) use.</a:t>
            </a:r>
          </a:p>
        </p:txBody>
      </p:sp>
      <p:sp>
        <p:nvSpPr>
          <p:cNvPr id="61" name="TextBox 60"/>
          <p:cNvSpPr txBox="1"/>
          <p:nvPr/>
        </p:nvSpPr>
        <p:spPr>
          <a:xfrm>
            <a:off x="6766560" y="2258568"/>
            <a:ext cx="2670048" cy="539496"/>
          </a:xfrm>
          <a:prstGeom prst="rect">
            <a:avLst/>
          </a:prstGeom>
          <a:noFill/>
        </p:spPr>
        <p:txBody>
          <a:bodyPr wrap="square" lIns="27432" tIns="9144" rIns="27432" bIns="9144" anchor="t">
            <a:spAutoFit/>
          </a:bodyPr>
          <a:lstStyle/>
          <a:p>
            <a:pPr algn="l"/>
            <a:r>
              <a:rPr sz="630" b="0" i="0">
                <a:solidFill>
                  <a:srgbClr val="262626"/>
                </a:solidFill>
                <a:latin typeface="Calibri"/>
              </a:rPr>
              <a:t>Greenwich: FDA Fast Track for GLSI-100, 10 Sep 2025</a:t>
            </a:r>
            <a:r>
              <a:rPr sz="600" b="0" i="0">
                <a:solidFill>
                  <a:srgbClr val="7F7F7F"/>
                </a:solidFill>
                <a:latin typeface="Calibri"/>
              </a:rPr>
              <a:t> (company release)</a:t>
            </a:r>
          </a:p>
          <a:p>
            <a:pPr algn="l"/>
            <a:r>
              <a:rPr sz="630" b="0" i="0">
                <a:solidFill>
                  <a:srgbClr val="262626"/>
                </a:solidFill>
                <a:latin typeface="Calibri"/>
              </a:rPr>
              <a:t>Greenwich: FDA/EMA-reviewed FLAMINGO-01 redesign, 20 Jul 2026</a:t>
            </a:r>
            <a:r>
              <a:rPr sz="600" b="0" i="0">
                <a:solidFill>
                  <a:srgbClr val="7F7F7F"/>
                </a:solidFill>
                <a:latin typeface="Calibri"/>
              </a:rPr>
              <a:t> (company release)</a:t>
            </a:r>
          </a:p>
          <a:p>
            <a:pPr algn="l"/>
            <a:r>
              <a:rPr sz="630" b="0" i="0">
                <a:solidFill>
                  <a:srgbClr val="262626"/>
                </a:solidFill>
                <a:latin typeface="Calibri"/>
              </a:rPr>
              <a:t>Greenwich: UK expansion approved, 22 Jul 2026</a:t>
            </a:r>
            <a:r>
              <a:rPr sz="600" b="0" i="0">
                <a:solidFill>
                  <a:srgbClr val="7F7F7F"/>
                </a:solidFill>
                <a:latin typeface="Calibri"/>
              </a:rPr>
              <a:t> (company release)</a:t>
            </a:r>
          </a:p>
        </p:txBody>
      </p:sp>
      <p:sp>
        <p:nvSpPr>
          <p:cNvPr id="62" name="TextBox 61"/>
          <p:cNvSpPr txBox="1"/>
          <p:nvPr/>
        </p:nvSpPr>
        <p:spPr>
          <a:xfrm>
            <a:off x="9509760" y="2258568"/>
            <a:ext cx="2478024" cy="539496"/>
          </a:xfrm>
          <a:prstGeom prst="rect">
            <a:avLst/>
          </a:prstGeom>
          <a:noFill/>
        </p:spPr>
        <p:txBody>
          <a:bodyPr wrap="square" lIns="27432" tIns="9144" rIns="27432" bIns="9144" anchor="t">
            <a:spAutoFit/>
          </a:bodyPr>
          <a:lstStyle/>
          <a:p>
            <a:pPr algn="l"/>
            <a:r>
              <a:rPr sz="650" b="1" i="0">
                <a:solidFill>
                  <a:srgbClr val="0E3A66"/>
                </a:solidFill>
                <a:latin typeface="Calibri"/>
              </a:rPr>
              <a:t>Commercial: </a:t>
            </a:r>
            <a:r>
              <a:rPr sz="650" b="0" i="0">
                <a:solidFill>
                  <a:srgbClr val="262626"/>
                </a:solidFill>
                <a:latin typeface="Calibri"/>
              </a:rPr>
              <a:t>clearest biomarker-defined launch cohort, but narrower than HER2-low.</a:t>
            </a:r>
          </a:p>
          <a:p>
            <a:pPr algn="l"/>
            <a:r>
              <a:rPr sz="650" b="1" i="0">
                <a:solidFill>
                  <a:srgbClr val="0E3A66"/>
                </a:solidFill>
                <a:latin typeface="Calibri"/>
              </a:rPr>
              <a:t>Clinical: </a:t>
            </a:r>
            <a:r>
              <a:rPr sz="650" b="0" i="0">
                <a:solidFill>
                  <a:srgbClr val="262626"/>
                </a:solidFill>
                <a:latin typeface="Calibri"/>
              </a:rPr>
              <a:t>sites are shared by four programs.</a:t>
            </a:r>
          </a:p>
        </p:txBody>
      </p:sp>
      <p:cxnSp>
        <p:nvCxnSpPr>
          <p:cNvPr id="63" name="Connector 62"/>
          <p:cNvCxnSpPr/>
          <p:nvPr/>
        </p:nvCxnSpPr>
        <p:spPr>
          <a:xfrm>
            <a:off x="182880" y="280720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82880" y="2825496"/>
            <a:ext cx="1773936" cy="393192"/>
          </a:xfrm>
          <a:prstGeom prst="rect">
            <a:avLst/>
          </a:prstGeom>
          <a:noFill/>
        </p:spPr>
        <p:txBody>
          <a:bodyPr wrap="square" lIns="27432" tIns="9144" rIns="27432" bIns="9144" anchor="t">
            <a:spAutoFit/>
          </a:bodyPr>
          <a:lstStyle/>
          <a:p>
            <a:pPr algn="l"/>
            <a:r>
              <a:rPr sz="780" b="1" i="0">
                <a:solidFill>
                  <a:srgbClr val="262626"/>
                </a:solidFill>
                <a:latin typeface="Calibri"/>
              </a:rPr>
              <a:t>HER2 IHC 2+ / ISH-positive breast cancer</a:t>
            </a:r>
          </a:p>
          <a:p>
            <a:pPr algn="l"/>
            <a:r>
              <a:rPr sz="650" b="0" i="0">
                <a:solidFill>
                  <a:srgbClr val="0E3A66"/>
                </a:solidFill>
                <a:latin typeface="Calibri"/>
              </a:rPr>
              <a:t>c.73k new cases per year (AE); counted as HER2-positive under ASCO/CAP</a:t>
            </a:r>
          </a:p>
        </p:txBody>
      </p:sp>
      <p:sp>
        <p:nvSpPr>
          <p:cNvPr id="65" name="TextBox 64"/>
          <p:cNvSpPr txBox="1"/>
          <p:nvPr/>
        </p:nvSpPr>
        <p:spPr>
          <a:xfrm>
            <a:off x="2011680" y="2825496"/>
            <a:ext cx="1664207" cy="393192"/>
          </a:xfrm>
          <a:prstGeom prst="rect">
            <a:avLst/>
          </a:prstGeom>
          <a:noFill/>
        </p:spPr>
        <p:txBody>
          <a:bodyPr wrap="square" lIns="27432" tIns="9144" rIns="27432" bIns="9144" anchor="t">
            <a:spAutoFit/>
          </a:bodyPr>
          <a:lstStyle/>
          <a:p>
            <a:pPr algn="l"/>
            <a:r>
              <a:rPr sz="650" b="0" i="0">
                <a:solidFill>
                  <a:srgbClr val="262626"/>
                </a:solidFill>
                <a:latin typeface="Calibri"/>
              </a:rPr>
              <a:t>Gene-amplified tumours with equivocal protein staining; eligible only where protocols use ASCO/CAP HER2-positive criteria.</a:t>
            </a:r>
          </a:p>
        </p:txBody>
      </p:sp>
      <p:sp>
        <p:nvSpPr>
          <p:cNvPr id="66" name="Rectangle 65"/>
          <p:cNvSpPr/>
          <p:nvPr/>
        </p:nvSpPr>
        <p:spPr>
          <a:xfrm>
            <a:off x="3749039" y="2843784"/>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813048" y="2825496"/>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Moffitt Cancer Center</a:t>
            </a:r>
            <a:r>
              <a:rPr sz="650" b="0" i="0">
                <a:solidFill>
                  <a:srgbClr val="404040"/>
                </a:solidFill>
                <a:latin typeface="Calibri"/>
              </a:rPr>
              <a:t>  HER2 DC1</a:t>
            </a:r>
          </a:p>
        </p:txBody>
      </p:sp>
      <p:sp>
        <p:nvSpPr>
          <p:cNvPr id="68" name="Rectangle 67"/>
          <p:cNvSpPr/>
          <p:nvPr/>
        </p:nvSpPr>
        <p:spPr>
          <a:xfrm>
            <a:off x="5513832" y="2834640"/>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513832" y="283464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70" name="TextBox 69"/>
          <p:cNvSpPr txBox="1"/>
          <p:nvPr/>
        </p:nvSpPr>
        <p:spPr>
          <a:xfrm>
            <a:off x="3813048" y="2953512"/>
            <a:ext cx="1691639" cy="265176"/>
          </a:xfrm>
          <a:prstGeom prst="rect">
            <a:avLst/>
          </a:prstGeom>
          <a:noFill/>
        </p:spPr>
        <p:txBody>
          <a:bodyPr wrap="square" lIns="27432" tIns="9144" rIns="27432" bIns="9144" anchor="t">
            <a:spAutoFit/>
          </a:bodyPr>
          <a:lstStyle/>
          <a:p>
            <a:pPr algn="l"/>
            <a:r>
              <a:rPr sz="610" b="0" i="0">
                <a:solidFill>
                  <a:srgbClr val="D0692A"/>
                </a:solidFill>
                <a:latin typeface="Calibri"/>
              </a:rPr>
              <a:t>Greenwich and UW state HER2-positive without IHC-level wording (partial).</a:t>
            </a:r>
          </a:p>
        </p:txBody>
      </p:sp>
      <p:sp>
        <p:nvSpPr>
          <p:cNvPr id="71" name="Rectangle 70"/>
          <p:cNvSpPr/>
          <p:nvPr/>
        </p:nvSpPr>
        <p:spPr>
          <a:xfrm>
            <a:off x="5715000" y="2852928"/>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833872" y="2852928"/>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952744" y="2852928"/>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099048" y="2825496"/>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Low</a:t>
            </a:r>
          </a:p>
        </p:txBody>
      </p:sp>
      <p:sp>
        <p:nvSpPr>
          <p:cNvPr id="75" name="TextBox 74"/>
          <p:cNvSpPr txBox="1"/>
          <p:nvPr/>
        </p:nvSpPr>
        <p:spPr>
          <a:xfrm>
            <a:off x="5715000" y="2962656"/>
            <a:ext cx="996695" cy="265176"/>
          </a:xfrm>
          <a:prstGeom prst="rect">
            <a:avLst/>
          </a:prstGeom>
          <a:noFill/>
        </p:spPr>
        <p:txBody>
          <a:bodyPr wrap="square" lIns="27432" tIns="9144" rIns="27432" bIns="9144" anchor="t">
            <a:spAutoFit/>
          </a:bodyPr>
          <a:lstStyle/>
          <a:p>
            <a:pPr algn="l"/>
            <a:r>
              <a:rPr sz="610" b="0" i="0">
                <a:solidFill>
                  <a:srgbClr val="404040"/>
                </a:solidFill>
                <a:latin typeface="Calibri"/>
              </a:rPr>
              <a:t>Small group; explicit eligibility in one protocol only.</a:t>
            </a:r>
          </a:p>
        </p:txBody>
      </p:sp>
      <p:sp>
        <p:nvSpPr>
          <p:cNvPr id="76" name="TextBox 75"/>
          <p:cNvSpPr txBox="1"/>
          <p:nvPr/>
        </p:nvSpPr>
        <p:spPr>
          <a:xfrm>
            <a:off x="6766560" y="2825496"/>
            <a:ext cx="2670048" cy="393192"/>
          </a:xfrm>
          <a:prstGeom prst="rect">
            <a:avLst/>
          </a:prstGeom>
          <a:noFill/>
        </p:spPr>
        <p:txBody>
          <a:bodyPr wrap="square" lIns="27432" tIns="9144" rIns="27432" bIns="9144" anchor="t">
            <a:spAutoFit/>
          </a:bodyPr>
          <a:lstStyle/>
          <a:p>
            <a:pPr algn="l"/>
            <a:r>
              <a:rPr sz="630" b="0" i="0">
                <a:solidFill>
                  <a:srgbClr val="262626"/>
                </a:solidFill>
                <a:latin typeface="Calibri"/>
              </a:rPr>
              <a:t>No subgroup-specific event found (n/a); moves on HER2-positive trials apply</a:t>
            </a:r>
            <a:r>
              <a:rPr sz="600" b="0" i="0">
                <a:solidFill>
                  <a:srgbClr val="7F7F7F"/>
                </a:solidFill>
                <a:latin typeface="Calibri"/>
              </a:rPr>
              <a:t> (registry review)</a:t>
            </a:r>
          </a:p>
        </p:txBody>
      </p:sp>
      <p:sp>
        <p:nvSpPr>
          <p:cNvPr id="77" name="TextBox 76"/>
          <p:cNvSpPr txBox="1"/>
          <p:nvPr/>
        </p:nvSpPr>
        <p:spPr>
          <a:xfrm>
            <a:off x="9509760" y="2825496"/>
            <a:ext cx="2478024" cy="393192"/>
          </a:xfrm>
          <a:prstGeom prst="rect">
            <a:avLst/>
          </a:prstGeom>
          <a:noFill/>
        </p:spPr>
        <p:txBody>
          <a:bodyPr wrap="square" lIns="27432" tIns="9144" rIns="27432" bIns="9144" anchor="t">
            <a:spAutoFit/>
          </a:bodyPr>
          <a:lstStyle/>
          <a:p>
            <a:pPr algn="l"/>
            <a:r>
              <a:rPr sz="650" b="1" i="0">
                <a:solidFill>
                  <a:srgbClr val="0E3A66"/>
                </a:solidFill>
                <a:latin typeface="Calibri"/>
              </a:rPr>
              <a:t>Market access: </a:t>
            </a:r>
            <a:r>
              <a:rPr sz="650" b="0" i="0">
                <a:solidFill>
                  <a:srgbClr val="262626"/>
                </a:solidFill>
                <a:latin typeface="Calibri"/>
              </a:rPr>
              <a:t>depends on reflex ISH testing of IHC 2+ cases.</a:t>
            </a:r>
          </a:p>
          <a:p>
            <a:pPr algn="l"/>
            <a:r>
              <a:rPr sz="650" b="1" i="0">
                <a:solidFill>
                  <a:srgbClr val="0E3A66"/>
                </a:solidFill>
                <a:latin typeface="Calibri"/>
              </a:rPr>
              <a:t>Clinical: </a:t>
            </a:r>
            <a:r>
              <a:rPr sz="650" b="0" i="0">
                <a:solidFill>
                  <a:srgbClr val="262626"/>
                </a:solidFill>
                <a:latin typeface="Calibri"/>
              </a:rPr>
              <a:t>confirm IHC 2+/ISH+ inclusion in each protocol.</a:t>
            </a:r>
          </a:p>
        </p:txBody>
      </p:sp>
      <p:cxnSp>
        <p:nvCxnSpPr>
          <p:cNvPr id="78" name="Connector 77"/>
          <p:cNvCxnSpPr/>
          <p:nvPr/>
        </p:nvCxnSpPr>
        <p:spPr>
          <a:xfrm>
            <a:off x="182880" y="322783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82880" y="3246120"/>
            <a:ext cx="1773936" cy="521207"/>
          </a:xfrm>
          <a:prstGeom prst="rect">
            <a:avLst/>
          </a:prstGeom>
          <a:noFill/>
        </p:spPr>
        <p:txBody>
          <a:bodyPr wrap="square" lIns="27432" tIns="9144" rIns="27432" bIns="9144" anchor="t">
            <a:spAutoFit/>
          </a:bodyPr>
          <a:lstStyle/>
          <a:p>
            <a:pPr algn="l"/>
            <a:r>
              <a:rPr sz="780" b="1" i="0">
                <a:solidFill>
                  <a:srgbClr val="262626"/>
                </a:solidFill>
                <a:latin typeface="Calibri"/>
              </a:rPr>
              <a:t>HER2-low breast cancer</a:t>
            </a:r>
          </a:p>
          <a:p>
            <a:pPr algn="l"/>
            <a:r>
              <a:rPr sz="650" b="0" i="0">
                <a:solidFill>
                  <a:srgbClr val="0E3A66"/>
                </a:solidFill>
                <a:latin typeface="Calibri"/>
              </a:rPr>
              <a:t>IHC 1+ and IHC 2+ / ISH-negative; c.1.23 M new cases per year (sum of two rows, not additive)</a:t>
            </a:r>
          </a:p>
        </p:txBody>
      </p:sp>
      <p:sp>
        <p:nvSpPr>
          <p:cNvPr id="80" name="TextBox 79"/>
          <p:cNvSpPr txBox="1"/>
          <p:nvPr/>
        </p:nvSpPr>
        <p:spPr>
          <a:xfrm>
            <a:off x="2011680" y="3246120"/>
            <a:ext cx="1664207" cy="521207"/>
          </a:xfrm>
          <a:prstGeom prst="rect">
            <a:avLst/>
          </a:prstGeom>
          <a:noFill/>
        </p:spPr>
        <p:txBody>
          <a:bodyPr wrap="square" lIns="27432" tIns="9144" rIns="27432" bIns="9144" anchor="t">
            <a:spAutoFit/>
          </a:bodyPr>
          <a:lstStyle/>
          <a:p>
            <a:pPr algn="l"/>
            <a:r>
              <a:rPr sz="650" b="0" i="0">
                <a:solidFill>
                  <a:srgbClr val="262626"/>
                </a:solidFill>
                <a:latin typeface="Calibri"/>
              </a:rPr>
              <a:t>Low HER2 protein without amplification; a treatment category since HER2-low ADC approvals, now entering vaccine eligibility.</a:t>
            </a:r>
          </a:p>
        </p:txBody>
      </p:sp>
      <p:sp>
        <p:nvSpPr>
          <p:cNvPr id="81" name="Rectangle 80"/>
          <p:cNvSpPr/>
          <p:nvPr/>
        </p:nvSpPr>
        <p:spPr>
          <a:xfrm>
            <a:off x="3749039" y="3264408"/>
            <a:ext cx="45720" cy="109728"/>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3813048" y="3246120"/>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ExpreS2ion</a:t>
            </a:r>
            <a:r>
              <a:rPr sz="650" b="0" i="0">
                <a:solidFill>
                  <a:srgbClr val="404040"/>
                </a:solidFill>
                <a:latin typeface="Calibri"/>
              </a:rPr>
              <a:t>  ES2B-C001</a:t>
            </a:r>
          </a:p>
        </p:txBody>
      </p:sp>
      <p:sp>
        <p:nvSpPr>
          <p:cNvPr id="83" name="Rectangle 82"/>
          <p:cNvSpPr/>
          <p:nvPr/>
        </p:nvSpPr>
        <p:spPr>
          <a:xfrm>
            <a:off x="5513832" y="3255264"/>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5513832" y="3255264"/>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85" name="Rectangle 84"/>
          <p:cNvSpPr/>
          <p:nvPr/>
        </p:nvSpPr>
        <p:spPr>
          <a:xfrm>
            <a:off x="3749039" y="3392424"/>
            <a:ext cx="45720" cy="109728"/>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813048" y="3374136"/>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BriaCell</a:t>
            </a:r>
            <a:r>
              <a:rPr sz="650" b="0" i="0">
                <a:solidFill>
                  <a:srgbClr val="404040"/>
                </a:solidFill>
                <a:latin typeface="Calibri"/>
              </a:rPr>
              <a:t>  Bria-IMT (non-selected)</a:t>
            </a:r>
          </a:p>
        </p:txBody>
      </p:sp>
      <p:sp>
        <p:nvSpPr>
          <p:cNvPr id="87" name="Rectangle 86"/>
          <p:cNvSpPr/>
          <p:nvPr/>
        </p:nvSpPr>
        <p:spPr>
          <a:xfrm>
            <a:off x="5513832" y="3383280"/>
            <a:ext cx="155448" cy="13716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513832" y="338328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3</a:t>
            </a:r>
          </a:p>
        </p:txBody>
      </p:sp>
      <p:sp>
        <p:nvSpPr>
          <p:cNvPr id="89" name="TextBox 88"/>
          <p:cNvSpPr txBox="1"/>
          <p:nvPr/>
        </p:nvSpPr>
        <p:spPr>
          <a:xfrm>
            <a:off x="3813048" y="3502152"/>
            <a:ext cx="1691639" cy="265175"/>
          </a:xfrm>
          <a:prstGeom prst="rect">
            <a:avLst/>
          </a:prstGeom>
          <a:noFill/>
        </p:spPr>
        <p:txBody>
          <a:bodyPr wrap="square" lIns="27432" tIns="9144" rIns="27432" bIns="9144" anchor="t">
            <a:spAutoFit/>
          </a:bodyPr>
          <a:lstStyle/>
          <a:p>
            <a:pPr algn="l"/>
            <a:r>
              <a:rPr sz="610" b="0" i="0">
                <a:solidFill>
                  <a:srgbClr val="D0692A"/>
                </a:solidFill>
                <a:latin typeface="Calibri"/>
              </a:rPr>
              <a:t>Aston AST-301 HER2-low breast Phase II terminated (recruitment).</a:t>
            </a:r>
          </a:p>
        </p:txBody>
      </p:sp>
      <p:sp>
        <p:nvSpPr>
          <p:cNvPr id="90" name="Rectangle 89"/>
          <p:cNvSpPr/>
          <p:nvPr/>
        </p:nvSpPr>
        <p:spPr>
          <a:xfrm>
            <a:off x="5715000" y="327355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5833872" y="3273552"/>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5952744" y="3273552"/>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099048" y="3246120"/>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94" name="TextBox 93"/>
          <p:cNvSpPr txBox="1"/>
          <p:nvPr/>
        </p:nvSpPr>
        <p:spPr>
          <a:xfrm>
            <a:off x="5715000" y="3383280"/>
            <a:ext cx="996695" cy="393191"/>
          </a:xfrm>
          <a:prstGeom prst="rect">
            <a:avLst/>
          </a:prstGeom>
          <a:noFill/>
        </p:spPr>
        <p:txBody>
          <a:bodyPr wrap="square" lIns="27432" tIns="9144" rIns="27432" bIns="9144" anchor="t">
            <a:spAutoFit/>
          </a:bodyPr>
          <a:lstStyle/>
          <a:p>
            <a:pPr algn="l"/>
            <a:r>
              <a:rPr sz="610" b="0" i="0">
                <a:solidFill>
                  <a:srgbClr val="404040"/>
                </a:solidFill>
                <a:latin typeface="Calibri"/>
              </a:rPr>
              <a:t>ES2B-C001 admits HER2-low, but in metastatic disease only.</a:t>
            </a:r>
          </a:p>
        </p:txBody>
      </p:sp>
      <p:sp>
        <p:nvSpPr>
          <p:cNvPr id="95" name="TextBox 94"/>
          <p:cNvSpPr txBox="1"/>
          <p:nvPr/>
        </p:nvSpPr>
        <p:spPr>
          <a:xfrm>
            <a:off x="6766560" y="3246120"/>
            <a:ext cx="2670048" cy="521207"/>
          </a:xfrm>
          <a:prstGeom prst="rect">
            <a:avLst/>
          </a:prstGeom>
          <a:noFill/>
        </p:spPr>
        <p:txBody>
          <a:bodyPr wrap="square" lIns="27432" tIns="9144" rIns="27432" bIns="9144" anchor="t">
            <a:spAutoFit/>
          </a:bodyPr>
          <a:lstStyle/>
          <a:p>
            <a:pPr algn="l"/>
            <a:r>
              <a:rPr sz="630" b="0" i="0">
                <a:solidFill>
                  <a:srgbClr val="262626"/>
                </a:solidFill>
                <a:latin typeface="Calibri"/>
              </a:rPr>
              <a:t>ExpreS2ion: first patient dosed (HER2+ or HER2-low), 23 Jun 2025</a:t>
            </a:r>
            <a:r>
              <a:rPr sz="600" b="0" i="0">
                <a:solidFill>
                  <a:srgbClr val="7F7F7F"/>
                </a:solidFill>
                <a:latin typeface="Calibri"/>
              </a:rPr>
              <a:t> (company release)</a:t>
            </a:r>
          </a:p>
          <a:p>
            <a:pPr algn="l"/>
            <a:r>
              <a:rPr sz="630" b="0" i="0">
                <a:solidFill>
                  <a:srgbClr val="262626"/>
                </a:solidFill>
                <a:latin typeface="Calibri"/>
              </a:rPr>
              <a:t>ExpreS2ion: 9 of 9 antibody responders, 19 May 2026</a:t>
            </a:r>
            <a:r>
              <a:rPr sz="600" b="0" i="0">
                <a:solidFill>
                  <a:srgbClr val="7F7F7F"/>
                </a:solidFill>
                <a:latin typeface="Calibri"/>
              </a:rPr>
              <a:t> (company release)</a:t>
            </a:r>
          </a:p>
          <a:p>
            <a:pPr algn="l"/>
            <a:r>
              <a:rPr sz="630" b="0" i="0">
                <a:solidFill>
                  <a:srgbClr val="262626"/>
                </a:solidFill>
                <a:latin typeface="Calibri"/>
              </a:rPr>
              <a:t>BriaCell: Phase III biomarker data incl. HER2-low subtypes, SABCS, 2 Dec 2025</a:t>
            </a:r>
            <a:r>
              <a:rPr sz="600" b="0" i="0">
                <a:solidFill>
                  <a:srgbClr val="7F7F7F"/>
                </a:solidFill>
                <a:latin typeface="Calibri"/>
              </a:rPr>
              <a:t> (company release)</a:t>
            </a:r>
          </a:p>
        </p:txBody>
      </p:sp>
      <p:sp>
        <p:nvSpPr>
          <p:cNvPr id="96" name="TextBox 95"/>
          <p:cNvSpPr txBox="1"/>
          <p:nvPr/>
        </p:nvSpPr>
        <p:spPr>
          <a:xfrm>
            <a:off x="9509760" y="3246120"/>
            <a:ext cx="2478024" cy="521207"/>
          </a:xfrm>
          <a:prstGeom prst="rect">
            <a:avLst/>
          </a:prstGeom>
          <a:noFill/>
        </p:spPr>
        <p:txBody>
          <a:bodyPr wrap="square" lIns="27432" tIns="9144" rIns="27432" bIns="9144" anchor="t">
            <a:spAutoFit/>
          </a:bodyPr>
          <a:lstStyle/>
          <a:p>
            <a:pPr algn="l"/>
            <a:r>
              <a:rPr sz="650" b="1" i="0">
                <a:solidFill>
                  <a:srgbClr val="0E3A66"/>
                </a:solidFill>
                <a:latin typeface="Calibri"/>
              </a:rPr>
              <a:t>Clinical: </a:t>
            </a:r>
            <a:r>
              <a:rPr sz="650" b="0" i="0">
                <a:solidFill>
                  <a:srgbClr val="262626"/>
                </a:solidFill>
                <a:latin typeface="Calibri"/>
              </a:rPr>
              <a:t>HER2-low expansion quadruples the IHC 3+ pool, but definitions need standardizing.</a:t>
            </a:r>
          </a:p>
          <a:p>
            <a:pPr algn="l"/>
            <a:r>
              <a:rPr sz="650" b="1" i="0">
                <a:solidFill>
                  <a:srgbClr val="0E3A66"/>
                </a:solidFill>
                <a:latin typeface="Calibri"/>
              </a:rPr>
              <a:t>BD: </a:t>
            </a:r>
            <a:r>
              <a:rPr sz="650" b="0" i="0">
                <a:solidFill>
                  <a:srgbClr val="262626"/>
                </a:solidFill>
                <a:latin typeface="Calibri"/>
              </a:rPr>
              <a:t>ADC-combination whitespace.</a:t>
            </a:r>
          </a:p>
        </p:txBody>
      </p:sp>
      <p:cxnSp>
        <p:nvCxnSpPr>
          <p:cNvPr id="97" name="Connector 96"/>
          <p:cNvCxnSpPr/>
          <p:nvPr/>
        </p:nvCxnSpPr>
        <p:spPr>
          <a:xfrm>
            <a:off x="182880" y="3776472"/>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82880" y="3794759"/>
            <a:ext cx="1773936" cy="557784"/>
          </a:xfrm>
          <a:prstGeom prst="rect">
            <a:avLst/>
          </a:prstGeom>
          <a:noFill/>
        </p:spPr>
        <p:txBody>
          <a:bodyPr wrap="square" lIns="27432" tIns="9144" rIns="27432" bIns="9144" anchor="t">
            <a:spAutoFit/>
          </a:bodyPr>
          <a:lstStyle/>
          <a:p>
            <a:pPr algn="l"/>
            <a:r>
              <a:rPr sz="780" b="1" i="0">
                <a:solidFill>
                  <a:srgbClr val="262626"/>
                </a:solidFill>
                <a:latin typeface="Calibri"/>
              </a:rPr>
              <a:t>HER2 IHC 3+ gastric / GEJ cancer</a:t>
            </a:r>
          </a:p>
          <a:p>
            <a:pPr algn="l"/>
            <a:r>
              <a:rPr sz="650" b="0" i="0">
                <a:solidFill>
                  <a:srgbClr val="0E3A66"/>
                </a:solidFill>
                <a:latin typeface="Calibri"/>
              </a:rPr>
              <a:t>IHC 3+ and 2+/ISH+ combined c.196k per year (AE); split n/a</a:t>
            </a:r>
          </a:p>
        </p:txBody>
      </p:sp>
      <p:sp>
        <p:nvSpPr>
          <p:cNvPr id="99" name="TextBox 98"/>
          <p:cNvSpPr txBox="1"/>
          <p:nvPr/>
        </p:nvSpPr>
        <p:spPr>
          <a:xfrm>
            <a:off x="2011680" y="3794759"/>
            <a:ext cx="1664207" cy="557784"/>
          </a:xfrm>
          <a:prstGeom prst="rect">
            <a:avLst/>
          </a:prstGeom>
          <a:noFill/>
        </p:spPr>
        <p:txBody>
          <a:bodyPr wrap="square" lIns="27432" tIns="9144" rIns="27432" bIns="9144" anchor="t">
            <a:spAutoFit/>
          </a:bodyPr>
          <a:lstStyle/>
          <a:p>
            <a:pPr algn="l"/>
            <a:r>
              <a:rPr sz="650" b="0" i="0">
                <a:solidFill>
                  <a:srgbClr val="262626"/>
                </a:solidFill>
                <a:latin typeface="Calibri"/>
              </a:rPr>
              <a:t>HER2 overexpression; trastuzumab is standard in advanced disease; vaccine work sits after adjuvant therapy.</a:t>
            </a:r>
          </a:p>
        </p:txBody>
      </p:sp>
      <p:sp>
        <p:nvSpPr>
          <p:cNvPr id="100" name="Rectangle 99"/>
          <p:cNvSpPr/>
          <p:nvPr/>
        </p:nvSpPr>
        <p:spPr>
          <a:xfrm>
            <a:off x="3749039" y="3813048"/>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3813048" y="3794760"/>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Aston Sci.</a:t>
            </a:r>
            <a:r>
              <a:rPr sz="650" b="0" i="0">
                <a:solidFill>
                  <a:srgbClr val="404040"/>
                </a:solidFill>
                <a:latin typeface="Calibri"/>
              </a:rPr>
              <a:t>  AST-301</a:t>
            </a:r>
          </a:p>
        </p:txBody>
      </p:sp>
      <p:sp>
        <p:nvSpPr>
          <p:cNvPr id="102" name="Rectangle 101"/>
          <p:cNvSpPr/>
          <p:nvPr/>
        </p:nvSpPr>
        <p:spPr>
          <a:xfrm>
            <a:off x="5513832" y="3803904"/>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513832" y="3803904"/>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04" name="TextBox 103"/>
          <p:cNvSpPr txBox="1"/>
          <p:nvPr/>
        </p:nvSpPr>
        <p:spPr>
          <a:xfrm>
            <a:off x="3813048" y="3922776"/>
            <a:ext cx="1691639" cy="429768"/>
          </a:xfrm>
          <a:prstGeom prst="rect">
            <a:avLst/>
          </a:prstGeom>
          <a:noFill/>
        </p:spPr>
        <p:txBody>
          <a:bodyPr wrap="square" lIns="27432" tIns="9144" rIns="27432" bIns="9144" anchor="t">
            <a:spAutoFit/>
          </a:bodyPr>
          <a:lstStyle/>
          <a:p>
            <a:pPr algn="l"/>
            <a:r>
              <a:rPr sz="610" b="0" i="0">
                <a:solidFill>
                  <a:srgbClr val="D0692A"/>
                </a:solidFill>
                <a:latin typeface="Calibri"/>
              </a:rPr>
              <a:t>Imugene HER-Vaxx (metastatic, overexpressing) terminated.</a:t>
            </a:r>
          </a:p>
        </p:txBody>
      </p:sp>
      <p:sp>
        <p:nvSpPr>
          <p:cNvPr id="105" name="Rectangle 104"/>
          <p:cNvSpPr/>
          <p:nvPr/>
        </p:nvSpPr>
        <p:spPr>
          <a:xfrm>
            <a:off x="5715000" y="3822191"/>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05"/>
          <p:cNvSpPr/>
          <p:nvPr/>
        </p:nvSpPr>
        <p:spPr>
          <a:xfrm>
            <a:off x="5833872" y="3822191"/>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5952744" y="3822191"/>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6099048" y="3794759"/>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Medium</a:t>
            </a:r>
          </a:p>
        </p:txBody>
      </p:sp>
      <p:sp>
        <p:nvSpPr>
          <p:cNvPr id="109" name="TextBox 108"/>
          <p:cNvSpPr txBox="1"/>
          <p:nvPr/>
        </p:nvSpPr>
        <p:spPr>
          <a:xfrm>
            <a:off x="5715000" y="3931920"/>
            <a:ext cx="996695" cy="429768"/>
          </a:xfrm>
          <a:prstGeom prst="rect">
            <a:avLst/>
          </a:prstGeom>
          <a:noFill/>
        </p:spPr>
        <p:txBody>
          <a:bodyPr wrap="square" lIns="27432" tIns="9144" rIns="27432" bIns="9144" anchor="t">
            <a:spAutoFit/>
          </a:bodyPr>
          <a:lstStyle/>
          <a:p>
            <a:pPr algn="l"/>
            <a:r>
              <a:rPr sz="610" b="0" i="0">
                <a:solidFill>
                  <a:srgbClr val="404040"/>
                </a:solidFill>
                <a:latin typeface="Calibri"/>
              </a:rPr>
              <a:t>Post-adjuvant only; single country (Taiwan).</a:t>
            </a:r>
          </a:p>
        </p:txBody>
      </p:sp>
      <p:sp>
        <p:nvSpPr>
          <p:cNvPr id="110" name="TextBox 109"/>
          <p:cNvSpPr txBox="1"/>
          <p:nvPr/>
        </p:nvSpPr>
        <p:spPr>
          <a:xfrm>
            <a:off x="6766560" y="3794759"/>
            <a:ext cx="2670048" cy="557784"/>
          </a:xfrm>
          <a:prstGeom prst="rect">
            <a:avLst/>
          </a:prstGeom>
          <a:noFill/>
        </p:spPr>
        <p:txBody>
          <a:bodyPr wrap="square" lIns="27432" tIns="9144" rIns="27432" bIns="9144" anchor="t">
            <a:spAutoFit/>
          </a:bodyPr>
          <a:lstStyle/>
          <a:p>
            <a:pPr algn="l"/>
            <a:r>
              <a:rPr sz="630" b="0" i="0">
                <a:solidFill>
                  <a:srgbClr val="262626"/>
                </a:solidFill>
                <a:latin typeface="Calibri"/>
              </a:rPr>
              <a:t>Aston: AST-301 plus HER2 ADC gastric model data, AACR, Apr 2024</a:t>
            </a:r>
            <a:r>
              <a:rPr sz="600" b="0" i="0">
                <a:solidFill>
                  <a:srgbClr val="7F7F7F"/>
                </a:solidFill>
                <a:latin typeface="Calibri"/>
              </a:rPr>
              <a:t> (conference abstract)</a:t>
            </a:r>
          </a:p>
          <a:p>
            <a:pPr algn="l"/>
            <a:r>
              <a:rPr sz="630" b="0" i="0">
                <a:solidFill>
                  <a:srgbClr val="262626"/>
                </a:solidFill>
                <a:latin typeface="Calibri"/>
              </a:rPr>
              <a:t>Aston: AST-301 gastric offered for out-licensing, BIO, Jun 2025</a:t>
            </a:r>
            <a:r>
              <a:rPr sz="600" b="0" i="0">
                <a:solidFill>
                  <a:srgbClr val="7F7F7F"/>
                </a:solidFill>
                <a:latin typeface="Calibri"/>
              </a:rPr>
              <a:t> (BIO listing)</a:t>
            </a:r>
          </a:p>
          <a:p>
            <a:pPr algn="l"/>
            <a:r>
              <a:rPr sz="630" b="0" i="0">
                <a:solidFill>
                  <a:srgbClr val="D0692A"/>
                </a:solidFill>
                <a:latin typeface="Calibri"/>
              </a:rPr>
              <a:t>Imugene: HERIZON results posted, 16 Apr 2025 (historical program)</a:t>
            </a:r>
            <a:r>
              <a:rPr sz="600" b="0" i="0">
                <a:solidFill>
                  <a:srgbClr val="7F7F7F"/>
                </a:solidFill>
                <a:latin typeface="Calibri"/>
              </a:rPr>
              <a:t> (ClinicalTrials.gov)</a:t>
            </a:r>
          </a:p>
        </p:txBody>
      </p:sp>
      <p:sp>
        <p:nvSpPr>
          <p:cNvPr id="111" name="TextBox 110"/>
          <p:cNvSpPr txBox="1"/>
          <p:nvPr/>
        </p:nvSpPr>
        <p:spPr>
          <a:xfrm>
            <a:off x="9509760" y="3794759"/>
            <a:ext cx="2478024" cy="557784"/>
          </a:xfrm>
          <a:prstGeom prst="rect">
            <a:avLst/>
          </a:prstGeom>
          <a:noFill/>
        </p:spPr>
        <p:txBody>
          <a:bodyPr wrap="square" lIns="27432" tIns="9144" rIns="27432" bIns="9144" anchor="t">
            <a:spAutoFit/>
          </a:bodyPr>
          <a:lstStyle/>
          <a:p>
            <a:pPr algn="l"/>
            <a:r>
              <a:rPr sz="650" b="1" i="0">
                <a:solidFill>
                  <a:srgbClr val="0E3A66"/>
                </a:solidFill>
                <a:latin typeface="Calibri"/>
              </a:rPr>
              <a:t>BD: </a:t>
            </a:r>
            <a:r>
              <a:rPr sz="650" b="0" i="0">
                <a:solidFill>
                  <a:srgbClr val="262626"/>
                </a:solidFill>
                <a:latin typeface="Calibri"/>
              </a:rPr>
              <a:t>gastric competition is far less dense than breast, creating partnership whitespace if data emerge.</a:t>
            </a:r>
          </a:p>
        </p:txBody>
      </p:sp>
      <p:cxnSp>
        <p:nvCxnSpPr>
          <p:cNvPr id="112" name="Connector 111"/>
          <p:cNvCxnSpPr/>
          <p:nvPr/>
        </p:nvCxnSpPr>
        <p:spPr>
          <a:xfrm>
            <a:off x="182880" y="4361688"/>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182880" y="4379975"/>
            <a:ext cx="1773936" cy="356616"/>
          </a:xfrm>
          <a:prstGeom prst="rect">
            <a:avLst/>
          </a:prstGeom>
          <a:noFill/>
        </p:spPr>
        <p:txBody>
          <a:bodyPr wrap="square" lIns="27432" tIns="9144" rIns="27432" bIns="9144" anchor="t">
            <a:spAutoFit/>
          </a:bodyPr>
          <a:lstStyle/>
          <a:p>
            <a:pPr algn="l"/>
            <a:r>
              <a:rPr sz="780" b="1" i="0">
                <a:solidFill>
                  <a:srgbClr val="262626"/>
                </a:solidFill>
                <a:latin typeface="Calibri"/>
              </a:rPr>
              <a:t>HER2 IHC 2+/ISH+ gastric/GEJ</a:t>
            </a:r>
          </a:p>
          <a:p>
            <a:pPr algn="l"/>
            <a:r>
              <a:rPr sz="650" b="0" i="0">
                <a:solidFill>
                  <a:srgbClr val="0E3A66"/>
                </a:solidFill>
                <a:latin typeface="Calibri"/>
              </a:rPr>
              <a:t>Included in the c.196k HER2-positive gastric pool (AE); split n/a</a:t>
            </a:r>
          </a:p>
        </p:txBody>
      </p:sp>
      <p:sp>
        <p:nvSpPr>
          <p:cNvPr id="114" name="TextBox 113"/>
          <p:cNvSpPr txBox="1"/>
          <p:nvPr/>
        </p:nvSpPr>
        <p:spPr>
          <a:xfrm>
            <a:off x="2011680" y="4379975"/>
            <a:ext cx="1664207" cy="356616"/>
          </a:xfrm>
          <a:prstGeom prst="rect">
            <a:avLst/>
          </a:prstGeom>
          <a:noFill/>
        </p:spPr>
        <p:txBody>
          <a:bodyPr wrap="square" lIns="27432" tIns="9144" rIns="27432" bIns="9144" anchor="t">
            <a:spAutoFit/>
          </a:bodyPr>
          <a:lstStyle/>
          <a:p>
            <a:pPr algn="l"/>
            <a:r>
              <a:rPr sz="650" b="0" i="0">
                <a:solidFill>
                  <a:srgbClr val="262626"/>
                </a:solidFill>
                <a:latin typeface="Calibri"/>
              </a:rPr>
              <a:t>Amplified tumours with equivocal staining; eligibility depends on trial wording for overexpression.</a:t>
            </a:r>
          </a:p>
        </p:txBody>
      </p:sp>
      <p:sp>
        <p:nvSpPr>
          <p:cNvPr id="115" name="Rectangle 114"/>
          <p:cNvSpPr/>
          <p:nvPr/>
        </p:nvSpPr>
        <p:spPr>
          <a:xfrm>
            <a:off x="3749039" y="4398264"/>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813048" y="4379976"/>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Aston Sci.</a:t>
            </a:r>
            <a:r>
              <a:rPr sz="650" b="0" i="0">
                <a:solidFill>
                  <a:srgbClr val="404040"/>
                </a:solidFill>
                <a:latin typeface="Calibri"/>
              </a:rPr>
              <a:t>  AST-301</a:t>
            </a:r>
          </a:p>
        </p:txBody>
      </p:sp>
      <p:sp>
        <p:nvSpPr>
          <p:cNvPr id="117" name="Rectangle 116"/>
          <p:cNvSpPr/>
          <p:nvPr/>
        </p:nvSpPr>
        <p:spPr>
          <a:xfrm>
            <a:off x="5513832" y="4389120"/>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513832" y="4389120"/>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19" name="TextBox 118"/>
          <p:cNvSpPr txBox="1"/>
          <p:nvPr/>
        </p:nvSpPr>
        <p:spPr>
          <a:xfrm>
            <a:off x="3813048" y="4507992"/>
            <a:ext cx="1691639" cy="228600"/>
          </a:xfrm>
          <a:prstGeom prst="rect">
            <a:avLst/>
          </a:prstGeom>
          <a:noFill/>
        </p:spPr>
        <p:txBody>
          <a:bodyPr wrap="square" lIns="27432" tIns="9144" rIns="27432" bIns="9144" anchor="t">
            <a:spAutoFit/>
          </a:bodyPr>
          <a:lstStyle/>
          <a:p>
            <a:pPr algn="l"/>
            <a:r>
              <a:rPr sz="610" b="0" i="0">
                <a:solidFill>
                  <a:srgbClr val="D0692A"/>
                </a:solidFill>
                <a:latin typeface="Calibri"/>
              </a:rPr>
              <a:t>Coded partial: IHC-level criteria not published.</a:t>
            </a:r>
          </a:p>
        </p:txBody>
      </p:sp>
      <p:sp>
        <p:nvSpPr>
          <p:cNvPr id="120" name="Rectangle 119"/>
          <p:cNvSpPr/>
          <p:nvPr/>
        </p:nvSpPr>
        <p:spPr>
          <a:xfrm>
            <a:off x="5715000" y="4407407"/>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5833872" y="4407407"/>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5952744" y="4407407"/>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6099048" y="4379975"/>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Low</a:t>
            </a:r>
          </a:p>
        </p:txBody>
      </p:sp>
      <p:sp>
        <p:nvSpPr>
          <p:cNvPr id="124" name="TextBox 123"/>
          <p:cNvSpPr txBox="1"/>
          <p:nvPr/>
        </p:nvSpPr>
        <p:spPr>
          <a:xfrm>
            <a:off x="5715000" y="4517136"/>
            <a:ext cx="996695" cy="228599"/>
          </a:xfrm>
          <a:prstGeom prst="rect">
            <a:avLst/>
          </a:prstGeom>
          <a:noFill/>
        </p:spPr>
        <p:txBody>
          <a:bodyPr wrap="square" lIns="27432" tIns="9144" rIns="27432" bIns="9144" anchor="t">
            <a:spAutoFit/>
          </a:bodyPr>
          <a:lstStyle/>
          <a:p>
            <a:pPr algn="l"/>
            <a:r>
              <a:rPr sz="610" b="0" i="0">
                <a:solidFill>
                  <a:srgbClr val="404040"/>
                </a:solidFill>
                <a:latin typeface="Calibri"/>
              </a:rPr>
              <a:t>Eligibility wording does not name IHC 2+/ISH+.</a:t>
            </a:r>
          </a:p>
        </p:txBody>
      </p:sp>
      <p:sp>
        <p:nvSpPr>
          <p:cNvPr id="125" name="TextBox 124"/>
          <p:cNvSpPr txBox="1"/>
          <p:nvPr/>
        </p:nvSpPr>
        <p:spPr>
          <a:xfrm>
            <a:off x="6766560" y="4379975"/>
            <a:ext cx="2670048" cy="356616"/>
          </a:xfrm>
          <a:prstGeom prst="rect">
            <a:avLst/>
          </a:prstGeom>
          <a:noFill/>
        </p:spPr>
        <p:txBody>
          <a:bodyPr wrap="square" lIns="27432" tIns="9144" rIns="27432" bIns="9144" anchor="t">
            <a:spAutoFit/>
          </a:bodyPr>
          <a:lstStyle/>
          <a:p>
            <a:pPr algn="l"/>
            <a:r>
              <a:rPr sz="630" b="0" i="0">
                <a:solidFill>
                  <a:srgbClr val="262626"/>
                </a:solidFill>
                <a:latin typeface="Calibri"/>
              </a:rPr>
              <a:t>No dated movement found in window (n/a)</a:t>
            </a:r>
            <a:r>
              <a:rPr sz="600" b="0" i="0">
                <a:solidFill>
                  <a:srgbClr val="7F7F7F"/>
                </a:solidFill>
                <a:latin typeface="Calibri"/>
              </a:rPr>
              <a:t> (registry review)</a:t>
            </a:r>
          </a:p>
        </p:txBody>
      </p:sp>
      <p:sp>
        <p:nvSpPr>
          <p:cNvPr id="126" name="TextBox 125"/>
          <p:cNvSpPr txBox="1"/>
          <p:nvPr/>
        </p:nvSpPr>
        <p:spPr>
          <a:xfrm>
            <a:off x="9509760" y="4379975"/>
            <a:ext cx="2478024" cy="356616"/>
          </a:xfrm>
          <a:prstGeom prst="rect">
            <a:avLst/>
          </a:prstGeom>
          <a:noFill/>
        </p:spPr>
        <p:txBody>
          <a:bodyPr wrap="square" lIns="27432" tIns="9144" rIns="27432" bIns="9144" anchor="t">
            <a:spAutoFit/>
          </a:bodyPr>
          <a:lstStyle/>
          <a:p>
            <a:pPr algn="l"/>
            <a:r>
              <a:rPr sz="650" b="1" i="0">
                <a:solidFill>
                  <a:srgbClr val="0E3A66"/>
                </a:solidFill>
                <a:latin typeface="Calibri"/>
              </a:rPr>
              <a:t>Market access: </a:t>
            </a:r>
            <a:r>
              <a:rPr sz="650" b="0" i="0">
                <a:solidFill>
                  <a:srgbClr val="262626"/>
                </a:solidFill>
                <a:latin typeface="Calibri"/>
              </a:rPr>
              <a:t>requires ISH confirmation after IHC 2+.</a:t>
            </a:r>
          </a:p>
        </p:txBody>
      </p:sp>
      <p:cxnSp>
        <p:nvCxnSpPr>
          <p:cNvPr id="127" name="Connector 126"/>
          <p:cNvCxnSpPr/>
          <p:nvPr/>
        </p:nvCxnSpPr>
        <p:spPr>
          <a:xfrm>
            <a:off x="182880" y="4745736"/>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82880" y="4764023"/>
            <a:ext cx="1773936" cy="356616"/>
          </a:xfrm>
          <a:prstGeom prst="rect">
            <a:avLst/>
          </a:prstGeom>
          <a:noFill/>
        </p:spPr>
        <p:txBody>
          <a:bodyPr wrap="square" lIns="27432" tIns="9144" rIns="27432" bIns="9144" anchor="t">
            <a:spAutoFit/>
          </a:bodyPr>
          <a:lstStyle/>
          <a:p>
            <a:pPr algn="l"/>
            <a:r>
              <a:rPr sz="780" b="1" i="0">
                <a:solidFill>
                  <a:srgbClr val="262626"/>
                </a:solidFill>
                <a:latin typeface="Calibri"/>
              </a:rPr>
              <a:t>HER2-low gastric (trial-defined)</a:t>
            </a:r>
          </a:p>
          <a:p>
            <a:pPr algn="l"/>
            <a:r>
              <a:rPr sz="650" b="0" i="0">
                <a:solidFill>
                  <a:srgbClr val="0E3A66"/>
                </a:solidFill>
                <a:latin typeface="Calibri"/>
              </a:rPr>
              <a:t>c.245k per year (AE; 21 to 28% in published cohorts)</a:t>
            </a:r>
          </a:p>
        </p:txBody>
      </p:sp>
      <p:sp>
        <p:nvSpPr>
          <p:cNvPr id="129" name="TextBox 128"/>
          <p:cNvSpPr txBox="1"/>
          <p:nvPr/>
        </p:nvSpPr>
        <p:spPr>
          <a:xfrm>
            <a:off x="2011680" y="4764023"/>
            <a:ext cx="1664207" cy="356616"/>
          </a:xfrm>
          <a:prstGeom prst="rect">
            <a:avLst/>
          </a:prstGeom>
          <a:noFill/>
        </p:spPr>
        <p:txBody>
          <a:bodyPr wrap="square" lIns="27432" tIns="9144" rIns="27432" bIns="9144" anchor="t">
            <a:spAutoFit/>
          </a:bodyPr>
          <a:lstStyle/>
          <a:p>
            <a:pPr algn="l"/>
            <a:r>
              <a:rPr sz="650" b="0" i="0">
                <a:solidFill>
                  <a:srgbClr val="262626"/>
                </a:solidFill>
                <a:latin typeface="Calibri"/>
              </a:rPr>
              <a:t>Definition varies by study; use trial-specific eligibility. Cornerstone-003 admits HER2 low expression.</a:t>
            </a:r>
          </a:p>
        </p:txBody>
      </p:sp>
      <p:sp>
        <p:nvSpPr>
          <p:cNvPr id="130" name="Rectangle 129"/>
          <p:cNvSpPr/>
          <p:nvPr/>
        </p:nvSpPr>
        <p:spPr>
          <a:xfrm>
            <a:off x="3749039" y="4782312"/>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3813048" y="4764024"/>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Aston Sci.</a:t>
            </a:r>
            <a:r>
              <a:rPr sz="650" b="0" i="0">
                <a:solidFill>
                  <a:srgbClr val="404040"/>
                </a:solidFill>
                <a:latin typeface="Calibri"/>
              </a:rPr>
              <a:t>  AST-301</a:t>
            </a:r>
          </a:p>
        </p:txBody>
      </p:sp>
      <p:sp>
        <p:nvSpPr>
          <p:cNvPr id="132" name="Rectangle 131"/>
          <p:cNvSpPr/>
          <p:nvPr/>
        </p:nvSpPr>
        <p:spPr>
          <a:xfrm>
            <a:off x="5513832" y="4773168"/>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5513832" y="4773168"/>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34" name="Rectangle 133"/>
          <p:cNvSpPr/>
          <p:nvPr/>
        </p:nvSpPr>
        <p:spPr>
          <a:xfrm>
            <a:off x="5715000" y="4791455"/>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5833872" y="4791455"/>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Rectangle 135"/>
          <p:cNvSpPr/>
          <p:nvPr/>
        </p:nvSpPr>
        <p:spPr>
          <a:xfrm>
            <a:off x="5952744" y="4791455"/>
            <a:ext cx="91440" cy="91440"/>
          </a:xfrm>
          <a:prstGeom prst="rect">
            <a:avLst/>
          </a:prstGeom>
          <a:solidFill>
            <a:srgbClr val="FFFFFF"/>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6099048" y="4764023"/>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Low</a:t>
            </a:r>
          </a:p>
        </p:txBody>
      </p:sp>
      <p:sp>
        <p:nvSpPr>
          <p:cNvPr id="138" name="TextBox 137"/>
          <p:cNvSpPr txBox="1"/>
          <p:nvPr/>
        </p:nvSpPr>
        <p:spPr>
          <a:xfrm>
            <a:off x="5715000" y="4901183"/>
            <a:ext cx="996695" cy="228599"/>
          </a:xfrm>
          <a:prstGeom prst="rect">
            <a:avLst/>
          </a:prstGeom>
          <a:noFill/>
        </p:spPr>
        <p:txBody>
          <a:bodyPr wrap="square" lIns="27432" tIns="9144" rIns="27432" bIns="9144" anchor="t">
            <a:spAutoFit/>
          </a:bodyPr>
          <a:lstStyle/>
          <a:p>
            <a:pPr algn="l"/>
            <a:r>
              <a:rPr sz="610" b="0" i="0">
                <a:solidFill>
                  <a:srgbClr val="404040"/>
                </a:solidFill>
                <a:latin typeface="Calibri"/>
              </a:rPr>
              <a:t>One Phase II, post-adjuvant, Taiwan only.</a:t>
            </a:r>
          </a:p>
        </p:txBody>
      </p:sp>
      <p:sp>
        <p:nvSpPr>
          <p:cNvPr id="139" name="TextBox 138"/>
          <p:cNvSpPr txBox="1"/>
          <p:nvPr/>
        </p:nvSpPr>
        <p:spPr>
          <a:xfrm>
            <a:off x="6766560" y="4764023"/>
            <a:ext cx="2670048" cy="356616"/>
          </a:xfrm>
          <a:prstGeom prst="rect">
            <a:avLst/>
          </a:prstGeom>
          <a:noFill/>
        </p:spPr>
        <p:txBody>
          <a:bodyPr wrap="square" lIns="27432" tIns="9144" rIns="27432" bIns="9144" anchor="t">
            <a:spAutoFit/>
          </a:bodyPr>
          <a:lstStyle/>
          <a:p>
            <a:pPr algn="l"/>
            <a:r>
              <a:rPr sz="630" b="0" i="0">
                <a:solidFill>
                  <a:srgbClr val="262626"/>
                </a:solidFill>
                <a:latin typeface="Calibri"/>
              </a:rPr>
              <a:t>No dated movement in window; Cornerstone-003 listed as recruiting (verification required)</a:t>
            </a:r>
            <a:r>
              <a:rPr sz="600" b="0" i="0">
                <a:solidFill>
                  <a:srgbClr val="7F7F7F"/>
                </a:solidFill>
                <a:latin typeface="Calibri"/>
              </a:rPr>
              <a:t> (ClinicalTrials.gov)</a:t>
            </a:r>
          </a:p>
        </p:txBody>
      </p:sp>
      <p:sp>
        <p:nvSpPr>
          <p:cNvPr id="140" name="TextBox 139"/>
          <p:cNvSpPr txBox="1"/>
          <p:nvPr/>
        </p:nvSpPr>
        <p:spPr>
          <a:xfrm>
            <a:off x="9509760" y="4764023"/>
            <a:ext cx="2478024" cy="356616"/>
          </a:xfrm>
          <a:prstGeom prst="rect">
            <a:avLst/>
          </a:prstGeom>
          <a:noFill/>
        </p:spPr>
        <p:txBody>
          <a:bodyPr wrap="square" lIns="27432" tIns="9144" rIns="27432" bIns="9144" anchor="t">
            <a:spAutoFit/>
          </a:bodyPr>
          <a:lstStyle/>
          <a:p>
            <a:pPr algn="l"/>
            <a:r>
              <a:rPr sz="650" b="1" i="0">
                <a:solidFill>
                  <a:srgbClr val="0E3A66"/>
                </a:solidFill>
                <a:latin typeface="Calibri"/>
              </a:rPr>
              <a:t>Clinical: </a:t>
            </a:r>
            <a:r>
              <a:rPr sz="650" b="0" i="0">
                <a:solidFill>
                  <a:srgbClr val="262626"/>
                </a:solidFill>
                <a:latin typeface="Calibri"/>
              </a:rPr>
              <a:t>least contested pool; biomarker definitions must be fixed before pivotal work.</a:t>
            </a:r>
          </a:p>
        </p:txBody>
      </p:sp>
      <p:cxnSp>
        <p:nvCxnSpPr>
          <p:cNvPr id="141" name="Connector 140"/>
          <p:cNvCxnSpPr/>
          <p:nvPr/>
        </p:nvCxnSpPr>
        <p:spPr>
          <a:xfrm>
            <a:off x="182880" y="5129783"/>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42" name="Rectangle 141"/>
          <p:cNvSpPr/>
          <p:nvPr/>
        </p:nvSpPr>
        <p:spPr>
          <a:xfrm>
            <a:off x="182880" y="5148071"/>
            <a:ext cx="11823192" cy="16459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228600" y="5148071"/>
            <a:ext cx="11731752" cy="164592"/>
          </a:xfrm>
          <a:prstGeom prst="rect">
            <a:avLst/>
          </a:prstGeom>
          <a:noFill/>
        </p:spPr>
        <p:txBody>
          <a:bodyPr wrap="square" lIns="27432" tIns="9144" rIns="27432" bIns="9144" anchor="ctr">
            <a:spAutoFit/>
          </a:bodyPr>
          <a:lstStyle/>
          <a:p>
            <a:pPr algn="l"/>
            <a:r>
              <a:rPr sz="750" b="1" i="0">
                <a:solidFill>
                  <a:srgbClr val="0E3A66"/>
                </a:solidFill>
                <a:latin typeface="Calibri"/>
              </a:rPr>
              <a:t>CROSS-CUTTING: PAN-HER2 VACCINE STRATEGIES MAY REACH MULTIPLE EXPRESSION GROUPS</a:t>
            </a:r>
          </a:p>
        </p:txBody>
      </p:sp>
      <p:sp>
        <p:nvSpPr>
          <p:cNvPr id="144" name="TextBox 143"/>
          <p:cNvSpPr txBox="1"/>
          <p:nvPr/>
        </p:nvSpPr>
        <p:spPr>
          <a:xfrm>
            <a:off x="182880" y="5349239"/>
            <a:ext cx="1773936" cy="502919"/>
          </a:xfrm>
          <a:prstGeom prst="rect">
            <a:avLst/>
          </a:prstGeom>
          <a:noFill/>
        </p:spPr>
        <p:txBody>
          <a:bodyPr wrap="square" lIns="27432" tIns="9144" rIns="27432" bIns="9144" anchor="t">
            <a:spAutoFit/>
          </a:bodyPr>
          <a:lstStyle/>
          <a:p>
            <a:pPr algn="l"/>
            <a:r>
              <a:rPr sz="780" b="1" i="0">
                <a:solidFill>
                  <a:srgbClr val="262626"/>
                </a:solidFill>
                <a:latin typeface="Calibri"/>
              </a:rPr>
              <a:t>Pan-HER2 and multi-expression strategies</a:t>
            </a:r>
          </a:p>
          <a:p>
            <a:pPr algn="l"/>
            <a:r>
              <a:rPr sz="650" b="0" i="0">
                <a:solidFill>
                  <a:srgbClr val="0E3A66"/>
                </a:solidFill>
                <a:latin typeface="Calibri"/>
              </a:rPr>
              <a:t>Spans HER2-low and HER2-positive: up to c.1.60 M breast cases (AE); overlaps all rows</a:t>
            </a:r>
          </a:p>
        </p:txBody>
      </p:sp>
      <p:sp>
        <p:nvSpPr>
          <p:cNvPr id="145" name="TextBox 144"/>
          <p:cNvSpPr txBox="1"/>
          <p:nvPr/>
        </p:nvSpPr>
        <p:spPr>
          <a:xfrm>
            <a:off x="2011680" y="5349239"/>
            <a:ext cx="1664207" cy="502919"/>
          </a:xfrm>
          <a:prstGeom prst="rect">
            <a:avLst/>
          </a:prstGeom>
          <a:noFill/>
        </p:spPr>
        <p:txBody>
          <a:bodyPr wrap="square" lIns="27432" tIns="9144" rIns="27432" bIns="9144" anchor="t">
            <a:spAutoFit/>
          </a:bodyPr>
          <a:lstStyle/>
          <a:p>
            <a:pPr algn="l"/>
            <a:r>
              <a:rPr sz="650" b="0" i="0">
                <a:solidFill>
                  <a:srgbClr val="262626"/>
                </a:solidFill>
                <a:latin typeface="Calibri"/>
              </a:rPr>
              <a:t>Antigens or eligibility spanning expression levels: full HER2 extracellular domain (VLP), HER2 intracellular domain (DNA) or whole-cell antigen sets.</a:t>
            </a:r>
          </a:p>
        </p:txBody>
      </p:sp>
      <p:sp>
        <p:nvSpPr>
          <p:cNvPr id="146" name="Rectangle 145"/>
          <p:cNvSpPr/>
          <p:nvPr/>
        </p:nvSpPr>
        <p:spPr>
          <a:xfrm>
            <a:off x="3749039" y="5367527"/>
            <a:ext cx="45720" cy="109728"/>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3813048" y="5349240"/>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ExpreS2ion</a:t>
            </a:r>
            <a:r>
              <a:rPr sz="650" b="0" i="0">
                <a:solidFill>
                  <a:srgbClr val="404040"/>
                </a:solidFill>
                <a:latin typeface="Calibri"/>
              </a:rPr>
              <a:t>  ES2B-C001</a:t>
            </a:r>
          </a:p>
        </p:txBody>
      </p:sp>
      <p:sp>
        <p:nvSpPr>
          <p:cNvPr id="148" name="Rectangle 147"/>
          <p:cNvSpPr/>
          <p:nvPr/>
        </p:nvSpPr>
        <p:spPr>
          <a:xfrm>
            <a:off x="5513832" y="5358383"/>
            <a:ext cx="155448" cy="137160"/>
          </a:xfrm>
          <a:prstGeom prst="rect">
            <a:avLst/>
          </a:prstGeom>
          <a:solidFill>
            <a:srgbClr val="8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5513832" y="5358383"/>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1</a:t>
            </a:r>
          </a:p>
        </p:txBody>
      </p:sp>
      <p:sp>
        <p:nvSpPr>
          <p:cNvPr id="150" name="Rectangle 149"/>
          <p:cNvSpPr/>
          <p:nvPr/>
        </p:nvSpPr>
        <p:spPr>
          <a:xfrm>
            <a:off x="3749039" y="5495543"/>
            <a:ext cx="45720" cy="109728"/>
          </a:xfrm>
          <a:prstGeom prst="rect">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3813048" y="5477255"/>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Aston Sci.</a:t>
            </a:r>
            <a:r>
              <a:rPr sz="650" b="0" i="0">
                <a:solidFill>
                  <a:srgbClr val="404040"/>
                </a:solidFill>
                <a:latin typeface="Calibri"/>
              </a:rPr>
              <a:t>  AST-301</a:t>
            </a:r>
          </a:p>
        </p:txBody>
      </p:sp>
      <p:sp>
        <p:nvSpPr>
          <p:cNvPr id="152" name="Rectangle 151"/>
          <p:cNvSpPr/>
          <p:nvPr/>
        </p:nvSpPr>
        <p:spPr>
          <a:xfrm>
            <a:off x="5513832" y="5486399"/>
            <a:ext cx="155448" cy="137160"/>
          </a:xfrm>
          <a:prstGeom prst="rect">
            <a:avLst/>
          </a:prstGeom>
          <a:solidFill>
            <a:srgbClr val="2A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5513832" y="5486399"/>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2</a:t>
            </a:r>
          </a:p>
        </p:txBody>
      </p:sp>
      <p:sp>
        <p:nvSpPr>
          <p:cNvPr id="154" name="Rectangle 153"/>
          <p:cNvSpPr/>
          <p:nvPr/>
        </p:nvSpPr>
        <p:spPr>
          <a:xfrm>
            <a:off x="3749039" y="5623559"/>
            <a:ext cx="45720" cy="109728"/>
          </a:xfrm>
          <a:prstGeom prst="rect">
            <a:avLst/>
          </a:prstGeom>
          <a:solidFill>
            <a:srgbClr val="C07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3813048" y="5605271"/>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BriaCell</a:t>
            </a:r>
            <a:r>
              <a:rPr sz="650" b="0" i="0">
                <a:solidFill>
                  <a:srgbClr val="404040"/>
                </a:solidFill>
                <a:latin typeface="Calibri"/>
              </a:rPr>
              <a:t>  Bria-IMT (non-selected)</a:t>
            </a:r>
          </a:p>
        </p:txBody>
      </p:sp>
      <p:sp>
        <p:nvSpPr>
          <p:cNvPr id="156" name="Rectangle 155"/>
          <p:cNvSpPr/>
          <p:nvPr/>
        </p:nvSpPr>
        <p:spPr>
          <a:xfrm>
            <a:off x="5513832" y="5614415"/>
            <a:ext cx="155448" cy="137160"/>
          </a:xfrm>
          <a:prstGeom prst="rect">
            <a:avLst/>
          </a:prstGeom>
          <a:solidFill>
            <a:srgbClr val="0E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5513832" y="5614415"/>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3</a:t>
            </a:r>
          </a:p>
        </p:txBody>
      </p:sp>
      <p:sp>
        <p:nvSpPr>
          <p:cNvPr id="158" name="Rectangle 157"/>
          <p:cNvSpPr/>
          <p:nvPr/>
        </p:nvSpPr>
        <p:spPr>
          <a:xfrm>
            <a:off x="3749039" y="5751575"/>
            <a:ext cx="45720" cy="109728"/>
          </a:xfrm>
          <a:prstGeom prst="rect">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3813048" y="5733287"/>
            <a:ext cx="1645919" cy="137160"/>
          </a:xfrm>
          <a:prstGeom prst="rect">
            <a:avLst/>
          </a:prstGeom>
          <a:noFill/>
        </p:spPr>
        <p:txBody>
          <a:bodyPr wrap="square" lIns="27432" tIns="9144" rIns="27432" bIns="9144" anchor="t">
            <a:spAutoFit/>
          </a:bodyPr>
          <a:lstStyle/>
          <a:p>
            <a:pPr algn="l"/>
            <a:r>
              <a:rPr sz="690" b="1" i="0">
                <a:solidFill>
                  <a:srgbClr val="262626"/>
                </a:solidFill>
                <a:latin typeface="Calibri"/>
              </a:rPr>
              <a:t>AdaptVac</a:t>
            </a:r>
            <a:r>
              <a:rPr sz="650" b="0" i="0">
                <a:solidFill>
                  <a:srgbClr val="404040"/>
                </a:solidFill>
                <a:latin typeface="Calibri"/>
              </a:rPr>
              <a:t>  cVLP platform (licensor)</a:t>
            </a:r>
          </a:p>
        </p:txBody>
      </p:sp>
      <p:sp>
        <p:nvSpPr>
          <p:cNvPr id="160" name="Rectangle 159"/>
          <p:cNvSpPr/>
          <p:nvPr/>
        </p:nvSpPr>
        <p:spPr>
          <a:xfrm>
            <a:off x="5513832" y="5742431"/>
            <a:ext cx="155448" cy="13716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5513832" y="5742431"/>
            <a:ext cx="155448" cy="137160"/>
          </a:xfrm>
          <a:prstGeom prst="rect">
            <a:avLst/>
          </a:prstGeom>
          <a:noFill/>
        </p:spPr>
        <p:txBody>
          <a:bodyPr wrap="square" lIns="0" tIns="9144" rIns="0" bIns="9144" anchor="ctr">
            <a:spAutoFit/>
          </a:bodyPr>
          <a:lstStyle/>
          <a:p>
            <a:pPr algn="ctr"/>
            <a:r>
              <a:rPr sz="700" b="1" i="0">
                <a:solidFill>
                  <a:srgbClr val="FFFFFF"/>
                </a:solidFill>
                <a:latin typeface="Calibri"/>
              </a:rPr>
              <a:t>P</a:t>
            </a:r>
          </a:p>
        </p:txBody>
      </p:sp>
      <p:sp>
        <p:nvSpPr>
          <p:cNvPr id="162" name="Rectangle 161"/>
          <p:cNvSpPr/>
          <p:nvPr/>
        </p:nvSpPr>
        <p:spPr>
          <a:xfrm>
            <a:off x="5715000" y="5376671"/>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Rectangle 162"/>
          <p:cNvSpPr/>
          <p:nvPr/>
        </p:nvSpPr>
        <p:spPr>
          <a:xfrm>
            <a:off x="5833872" y="5376671"/>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ectangle 163"/>
          <p:cNvSpPr/>
          <p:nvPr/>
        </p:nvSpPr>
        <p:spPr>
          <a:xfrm>
            <a:off x="5952744" y="5376671"/>
            <a:ext cx="91440" cy="91440"/>
          </a:xfrm>
          <a:prstGeom prst="rect">
            <a:avLst/>
          </a:prstGeom>
          <a:solidFill>
            <a:srgbClr val="0E3A66"/>
          </a:solidFill>
          <a:ln w="7620">
            <a:solidFill>
              <a:srgbClr val="0E3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6099048" y="5349239"/>
            <a:ext cx="594360" cy="137160"/>
          </a:xfrm>
          <a:prstGeom prst="rect">
            <a:avLst/>
          </a:prstGeom>
          <a:noFill/>
        </p:spPr>
        <p:txBody>
          <a:bodyPr wrap="square" lIns="27432" tIns="9144" rIns="27432" bIns="9144" anchor="t">
            <a:spAutoFit/>
          </a:bodyPr>
          <a:lstStyle/>
          <a:p>
            <a:pPr algn="l"/>
            <a:r>
              <a:rPr sz="750" b="1" i="0">
                <a:solidFill>
                  <a:srgbClr val="0E3A66"/>
                </a:solidFill>
                <a:latin typeface="Calibri"/>
              </a:rPr>
              <a:t>High</a:t>
            </a:r>
          </a:p>
        </p:txBody>
      </p:sp>
      <p:sp>
        <p:nvSpPr>
          <p:cNvPr id="166" name="TextBox 165"/>
          <p:cNvSpPr txBox="1"/>
          <p:nvPr/>
        </p:nvSpPr>
        <p:spPr>
          <a:xfrm>
            <a:off x="5715000" y="5486399"/>
            <a:ext cx="996695" cy="374903"/>
          </a:xfrm>
          <a:prstGeom prst="rect">
            <a:avLst/>
          </a:prstGeom>
          <a:noFill/>
        </p:spPr>
        <p:txBody>
          <a:bodyPr wrap="square" lIns="27432" tIns="9144" rIns="27432" bIns="9144" anchor="t">
            <a:spAutoFit/>
          </a:bodyPr>
          <a:lstStyle/>
          <a:p>
            <a:pPr algn="l"/>
            <a:r>
              <a:rPr sz="610" b="0" i="0">
                <a:solidFill>
                  <a:srgbClr val="404040"/>
                </a:solidFill>
                <a:latin typeface="Calibri"/>
              </a:rPr>
              <a:t>Bria-IMT admits all subtypes in metastatic disease; others span 1+ to 3+.</a:t>
            </a:r>
          </a:p>
        </p:txBody>
      </p:sp>
      <p:sp>
        <p:nvSpPr>
          <p:cNvPr id="167" name="TextBox 166"/>
          <p:cNvSpPr txBox="1"/>
          <p:nvPr/>
        </p:nvSpPr>
        <p:spPr>
          <a:xfrm>
            <a:off x="6766560" y="5349239"/>
            <a:ext cx="2670048" cy="502919"/>
          </a:xfrm>
          <a:prstGeom prst="rect">
            <a:avLst/>
          </a:prstGeom>
          <a:noFill/>
        </p:spPr>
        <p:txBody>
          <a:bodyPr wrap="square" lIns="27432" tIns="9144" rIns="27432" bIns="9144" anchor="t">
            <a:spAutoFit/>
          </a:bodyPr>
          <a:lstStyle/>
          <a:p>
            <a:pPr algn="l"/>
            <a:r>
              <a:rPr sz="630" b="0" i="0">
                <a:solidFill>
                  <a:srgbClr val="262626"/>
                </a:solidFill>
                <a:latin typeface="Calibri"/>
              </a:rPr>
              <a:t>ExpreS2ion: maintenance phase added, Phase II targeted mid-2027, 19 May 2026</a:t>
            </a:r>
            <a:r>
              <a:rPr sz="600" b="0" i="0">
                <a:solidFill>
                  <a:srgbClr val="7F7F7F"/>
                </a:solidFill>
                <a:latin typeface="Calibri"/>
              </a:rPr>
              <a:t> (company release)</a:t>
            </a:r>
          </a:p>
          <a:p>
            <a:pPr algn="l"/>
            <a:r>
              <a:rPr sz="630" b="0" i="0">
                <a:solidFill>
                  <a:srgbClr val="262626"/>
                </a:solidFill>
                <a:latin typeface="Calibri"/>
              </a:rPr>
              <a:t>BriaCell: Phase III enrolment above 230, interim OS guided 2026, 12 May 2026</a:t>
            </a:r>
            <a:r>
              <a:rPr sz="600" b="0" i="0">
                <a:solidFill>
                  <a:srgbClr val="7F7F7F"/>
                </a:solidFill>
                <a:latin typeface="Calibri"/>
              </a:rPr>
              <a:t> (company release)</a:t>
            </a:r>
          </a:p>
        </p:txBody>
      </p:sp>
      <p:sp>
        <p:nvSpPr>
          <p:cNvPr id="168" name="TextBox 167"/>
          <p:cNvSpPr txBox="1"/>
          <p:nvPr/>
        </p:nvSpPr>
        <p:spPr>
          <a:xfrm>
            <a:off x="9509760" y="5349239"/>
            <a:ext cx="2478024" cy="502919"/>
          </a:xfrm>
          <a:prstGeom prst="rect">
            <a:avLst/>
          </a:prstGeom>
          <a:noFill/>
        </p:spPr>
        <p:txBody>
          <a:bodyPr wrap="square" lIns="27432" tIns="9144" rIns="27432" bIns="9144" anchor="t">
            <a:spAutoFit/>
          </a:bodyPr>
          <a:lstStyle/>
          <a:p>
            <a:pPr algn="l"/>
            <a:r>
              <a:rPr sz="650" b="1" i="0">
                <a:solidFill>
                  <a:srgbClr val="0E3A66"/>
                </a:solidFill>
                <a:latin typeface="Calibri"/>
              </a:rPr>
              <a:t>R&amp;D: </a:t>
            </a:r>
            <a:r>
              <a:rPr sz="650" b="0" i="0">
                <a:solidFill>
                  <a:srgbClr val="262626"/>
                </a:solidFill>
                <a:latin typeface="Calibri"/>
              </a:rPr>
              <a:t>antigen breadth is the main differentiator.</a:t>
            </a:r>
          </a:p>
          <a:p>
            <a:pPr algn="l"/>
            <a:r>
              <a:rPr sz="650" b="1" i="0">
                <a:solidFill>
                  <a:srgbClr val="0E3A66"/>
                </a:solidFill>
                <a:latin typeface="Calibri"/>
              </a:rPr>
              <a:t>Market access: </a:t>
            </a:r>
            <a:r>
              <a:rPr sz="650" b="0" i="0">
                <a:solidFill>
                  <a:srgbClr val="262626"/>
                </a:solidFill>
                <a:latin typeface="Calibri"/>
              </a:rPr>
              <a:t>needs standardized IHC 0 to 3+ scoring as a companion test.</a:t>
            </a:r>
          </a:p>
        </p:txBody>
      </p:sp>
      <p:cxnSp>
        <p:nvCxnSpPr>
          <p:cNvPr id="169" name="Connector 168"/>
          <p:cNvCxnSpPr/>
          <p:nvPr/>
        </p:nvCxnSpPr>
        <p:spPr>
          <a:xfrm>
            <a:off x="182880" y="5861303"/>
            <a:ext cx="11823192" cy="0"/>
          </a:xfrm>
          <a:prstGeom prst="line">
            <a:avLst/>
          </a:prstGeom>
          <a:ln w="6350">
            <a:solidFill>
              <a:srgbClr val="E1E1E1"/>
            </a:solidFill>
          </a:ln>
        </p:spPr>
        <p:style>
          <a:lnRef idx="2">
            <a:schemeClr val="accent1"/>
          </a:lnRef>
          <a:fillRef idx="0">
            <a:schemeClr val="accent1"/>
          </a:fillRef>
          <a:effectRef idx="1">
            <a:schemeClr val="accent1"/>
          </a:effectRef>
          <a:fontRef idx="minor">
            <a:schemeClr val="tx1"/>
          </a:fontRef>
        </p:style>
      </p:cxnSp>
      <p:sp>
        <p:nvSpPr>
          <p:cNvPr id="170" name="TextBox 169"/>
          <p:cNvSpPr txBox="1"/>
          <p:nvPr/>
        </p:nvSpPr>
        <p:spPr>
          <a:xfrm>
            <a:off x="182880" y="5879591"/>
            <a:ext cx="11823192" cy="256032"/>
          </a:xfrm>
          <a:prstGeom prst="rect">
            <a:avLst/>
          </a:prstGeom>
          <a:noFill/>
        </p:spPr>
        <p:txBody>
          <a:bodyPr wrap="square" lIns="27432" tIns="9144" rIns="27432" bIns="9144" anchor="t">
            <a:spAutoFit/>
          </a:bodyPr>
          <a:lstStyle/>
          <a:p>
            <a:pPr algn="l"/>
            <a:r>
              <a:rPr sz="640" b="1" i="0">
                <a:solidFill>
                  <a:srgbClr val="0E3A66"/>
                </a:solidFill>
                <a:latin typeface="Calibri"/>
              </a:rPr>
              <a:t>One-program reach: </a:t>
            </a:r>
            <a:r>
              <a:rPr sz="640" b="0" i="0">
                <a:solidFill>
                  <a:srgbClr val="262626"/>
                </a:solidFill>
                <a:latin typeface="Calibri"/>
              </a:rPr>
              <a:t>High = one program can include a broad biomarker population across multiple settings; Medium = meaningful but restricted eligibility; Low = narrow biomarker, stage, HLA or treatment-setting eligibility. Maturity tags: 3 Phase III, 2 Phase II, 1 Phase I, P preclinical or platform. </a:t>
            </a:r>
            <a:r>
              <a:rPr sz="640" b="0" i="1">
                <a:solidFill>
                  <a:srgbClr val="262626"/>
                </a:solidFill>
                <a:latin typeface="Calibri"/>
              </a:rPr>
              <a:t>Patient population is not equivalent to commercially treatable population. Addressable patients must be adjusted for stage, testing rate, eligibility criteria, line of therapy, geography and clinical adoption.</a:t>
            </a:r>
          </a:p>
        </p:txBody>
      </p:sp>
      <p:sp>
        <p:nvSpPr>
          <p:cNvPr id="171" name="TextBox 170"/>
          <p:cNvSpPr txBox="1"/>
          <p:nvPr/>
        </p:nvSpPr>
        <p:spPr>
          <a:xfrm>
            <a:off x="182880" y="6126479"/>
            <a:ext cx="11823192" cy="256032"/>
          </a:xfrm>
          <a:prstGeom prst="rect">
            <a:avLst/>
          </a:prstGeom>
          <a:noFill/>
        </p:spPr>
        <p:txBody>
          <a:bodyPr wrap="square" lIns="27432" tIns="9144" rIns="27432" bIns="9144" anchor="t">
            <a:spAutoFit/>
          </a:bodyPr>
          <a:lstStyle/>
          <a:p>
            <a:pPr algn="l"/>
            <a:r>
              <a:rPr sz="760" b="1" i="0">
                <a:solidFill>
                  <a:srgbClr val="0E3A66"/>
                </a:solidFill>
                <a:latin typeface="Calibri"/>
              </a:rPr>
              <a:t>READING  </a:t>
            </a:r>
            <a:r>
              <a:rPr sz="760" b="0" i="0">
                <a:solidFill>
                  <a:srgbClr val="262626"/>
                </a:solidFill>
                <a:latin typeface="Calibri"/>
              </a:rPr>
              <a:t>The largest theoretical pool is HER2-low breast cancer (about half of cases), yet development is concentrated in IHC 3+ breast cancer, where four programs including the only direct Phase III compete. HER2-low eligibility widens the addressable population about fourfold versus IHC 3+, but only one active direct program (ES2B-C001) admits it. Gastric HER2-low and IHC 2+/ISH-positive pools in both tumours are the least contested.</a:t>
            </a:r>
          </a:p>
        </p:txBody>
      </p:sp>
    </p:spTree>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0000"/>
      </a:dk2>
      <a:lt2>
        <a:srgbClr val="F8F8F8"/>
      </a:lt2>
      <a:accent1>
        <a:srgbClr val="2A5F8F"/>
      </a:accent1>
      <a:accent2>
        <a:srgbClr val="8E1416"/>
      </a:accent2>
      <a:accent3>
        <a:srgbClr val="9E7E0A"/>
      </a:accent3>
      <a:accent4>
        <a:srgbClr val="40315E"/>
      </a:accent4>
      <a:accent5>
        <a:srgbClr val="008189"/>
      </a:accent5>
      <a:accent6>
        <a:srgbClr val="A35313"/>
      </a:accent6>
      <a:hlink>
        <a:srgbClr val="5F5F5F"/>
      </a:hlink>
      <a:folHlink>
        <a:srgbClr val="919191"/>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 id="{936E7243-1F93-427C-A3FE-465D0A96EE9A}" vid="{61850FB3-B8CF-4E61-B000-072DAF7DD4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26C510371034F4582A080378F3CA453" ma:contentTypeVersion="8" ma:contentTypeDescription="Create a new document." ma:contentTypeScope="" ma:versionID="5b373d49bd797c48a32f56fbf353ac5d">
  <xsd:schema xmlns:xsd="http://www.w3.org/2001/XMLSchema" xmlns:xs="http://www.w3.org/2001/XMLSchema" xmlns:p="http://schemas.microsoft.com/office/2006/metadata/properties" xmlns:ns3="c4c01e1a-734c-443d-9deb-04793c4ed5f2" targetNamespace="http://schemas.microsoft.com/office/2006/metadata/properties" ma:root="true" ma:fieldsID="0d9248bc3fe7fd351d1ee7072d828a6f" ns3:_="">
    <xsd:import namespace="c4c01e1a-734c-443d-9deb-04793c4ed5f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c01e1a-734c-443d-9deb-04793c4ed5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D2BFA2-920C-4E6E-B869-99B1B2905F04}">
  <ds:schemaRefs>
    <ds:schemaRef ds:uri="http://schemas.microsoft.com/sharepoint/v3/contenttype/forms"/>
  </ds:schemaRefs>
</ds:datastoreItem>
</file>

<file path=customXml/itemProps2.xml><?xml version="1.0" encoding="utf-8"?>
<ds:datastoreItem xmlns:ds="http://schemas.openxmlformats.org/officeDocument/2006/customXml" ds:itemID="{9F42BB47-1B4A-4C7F-96D8-5FA236EB94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c01e1a-734c-443d-9deb-04793c4ed5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C2F0CA-F0F0-4E2F-A0EC-B2C22E83D159}">
  <ds:schemaRefs>
    <ds:schemaRef ds:uri="http://schemas.microsoft.com/office/2006/documentManagement/types"/>
    <ds:schemaRef ds:uri="http://purl.org/dc/elements/1.1/"/>
    <ds:schemaRef ds:uri="http://schemas.microsoft.com/office/2006/metadata/properties"/>
    <ds:schemaRef ds:uri="http://purl.org/dc/dcmitype/"/>
    <ds:schemaRef ds:uri="http://schemas.microsoft.com/office/infopath/2007/PartnerControls"/>
    <ds:schemaRef ds:uri="http://schemas.openxmlformats.org/package/2006/metadata/core-properties"/>
    <ds:schemaRef ds:uri="c4c01e1a-734c-443d-9deb-04793c4ed5f2"/>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#02 Food and Beverages (11-7.5)</Template>
  <TotalTime>19731</TotalTime>
  <Words>11103</Words>
  <Application>Microsoft Office PowerPoint</Application>
  <PresentationFormat>Widescreen</PresentationFormat>
  <Paragraphs>1156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Bell MT</vt:lpstr>
      <vt:lpstr>Calibri</vt:lpstr>
      <vt:lpstr>Courier New</vt:lpstr>
      <vt:lpstr>Wingdings</vt:lpstr>
      <vt:lpstr>Office Theme</vt:lpstr>
      <vt:lpstr>PowerPoint Presentation</vt:lpstr>
      <vt:lpstr>HER2 cancer vaccines remain a clinical-stage opportunity rather than a commercial market: one direct Phase III program leads, while breast and gastric programs compete across HER2 expression levels and four platforms</vt:lpstr>
      <vt:lpstr>Who plays where: one late-stage developer, five mid- and early-stage HER2 programs, and a mRNA ecosystem that has not yet entered HER2; no developer covers both breast and gastric cancer with an active trial</vt:lpstr>
      <vt:lpstr>The addressable pool is set by HER2 biology, not by vaccine demand: about 2.43 M breast and 0.98 M gastric cases a year feed five HER2 groups, but active vaccine programs reach only the HER2-positive and HER2-low segments</vt:lpstr>
      <vt:lpstr>Most HER2 vaccine programs remain clinical-stage, with a single direct Phase III program; platform diversity stays high while mRNA capability sits only with adjacent individualized-neoantigen developers</vt:lpstr>
      <vt:lpstr>Corporate level: the HER2 vaccine field is run by small listed biotechs and academic centres; none of the direct developers has a big-pharma partner, and financing capacity, not science, is the binding constraint</vt:lpstr>
      <vt:lpstr>Offering level: all direct candidates cover HER2-positive disease, only two reach HER2-low and none is designed for IHC 0; antigens range from a single peptide to the full HER2 extracellular domain</vt:lpstr>
      <vt:lpstr>Execution level: momentum sits with GLSI-100, ES2B-C001 and Bria-IMT, each with dated 2026 milestones; recruitment is concentrated in the US and Europe, and two HER2 vaccine trials stopped for slow enrolment</vt:lpstr>
      <vt:lpstr>What it takes to win: five evidence-defined success factors separate late-stage, HER2-low expansion and academic programs; clinical validation and trial execution explain most of the gap</vt:lpstr>
      <vt:lpstr>What has actually happened: fifteen dated developments from Apr 2024 to Aug 2026 show one Phase III scaling up, one Phase I generating immune data, and mRNA peers moving in opposite directions</vt:lpstr>
      <vt:lpstr>Where activity is concentrated: trial, readout and regulatory events dominate, mostly from clinical development teams via company releases; no partnering, licensing or manufacturing events</vt:lpstr>
      <vt:lpstr>Pipeline coverage by opportunity pool: development is concentrated in a few HER2-expression and platform segments, while several patient pools still have limited direct vaccine competition</vt:lpstr>
      <vt:lpstr>Addressable patient pool by HER2 segment: who developers target today, how broad one vaccine program can reach, and where clinical activity is moving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dc:title>
  <dc:creator>FMI</dc:creator>
  <cp:lastModifiedBy>Sayali Patil</cp:lastModifiedBy>
  <cp:revision>2823</cp:revision>
  <dcterms:created xsi:type="dcterms:W3CDTF">2019-04-26T09:22:20Z</dcterms:created>
  <dcterms:modified xsi:type="dcterms:W3CDTF">2026-09-30T09:54:02Z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0x010100D26C510371034F4582A080378F3CA453</vt:lpwstr>
  </property>
</Properties>
</file>