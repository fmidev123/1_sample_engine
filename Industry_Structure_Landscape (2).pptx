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900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 structure (1/2): tier ladder, concentration read-out, tier profile matrix. All values masked (XX).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 structure (2/2): structural shift 2026→2036F, structural forces scorecard, key takeaways. All values masked (XX).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XX: Competition Assessment   ›   Industry Structure Landscape   ›   Page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Structure Landscape – MRI-Compatible Patient Monitoring Systems, Netherlands 2026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ladder, market concentration and tier profile – sizing Tier 1, 2 and 3 players against the Dutch market total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Future Market Insights (FMI) analysis, 2026   |   Note: All figures masked as XX in this sample framework; tier sizing derived from market modelling and expert validation, totals may differ from headline figures due to rounding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ladder – share of market value, 2026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459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 US$ XX Mn  ·  XX active players  ·  Tier 1 share XX% → XX% by 2036F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75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311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leaders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17320" y="1938528"/>
            <a:ext cx="3886200" cy="53035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554480" y="193852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XX players  ·  avg US$ XX Mn / player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48716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· Company B · Company C · Company D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797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358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specialists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17320" y="2743200"/>
            <a:ext cx="3031236" cy="5303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554480" y="2743200"/>
            <a:ext cx="28483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XX players  ·  avg US$ XX Mn / player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2918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 · Company F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84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40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/ local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17320" y="3547872"/>
            <a:ext cx="2253996" cy="530352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554480" y="3547872"/>
            <a:ext cx="20711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XX players  ·  avg US$ XX Mn / player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0965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G · Company H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89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451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of niche suppliers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17320" y="4352544"/>
            <a:ext cx="1632204" cy="530352"/>
          </a:xfrm>
          <a:prstGeom prst="rect">
            <a:avLst/>
          </a:prstGeom>
          <a:solidFill>
            <a:srgbClr val="9FC5E8"/>
          </a:solidFill>
          <a:ln w="12700">
            <a:solidFill>
              <a:srgbClr val="9FC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554480" y="4352544"/>
            <a:ext cx="14493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XX players  ·  avg US$ XX Mn / player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90118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niche suppliers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5202936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94360" y="5294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read-out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5586984"/>
            <a:ext cx="1524000" cy="219456"/>
          </a:xfrm>
          <a:prstGeom prst="rect">
            <a:avLst/>
          </a:prstGeom>
          <a:solidFill>
            <a:srgbClr val="C9D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94360" y="5586984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 HHI &lt; 1,500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118360" y="5586984"/>
            <a:ext cx="1524000" cy="219456"/>
          </a:xfrm>
          <a:prstGeom prst="rect">
            <a:avLst/>
          </a:prstGeom>
          <a:solidFill>
            <a:srgbClr val="6FA8D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2118360" y="5586984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1,500–2,500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42360" y="5586984"/>
            <a:ext cx="1524000" cy="219456"/>
          </a:xfrm>
          <a:prstGeom prst="rect">
            <a:avLst/>
          </a:prstGeom>
          <a:solidFill>
            <a:srgbClr val="1F3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3642360" y="5586984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 &gt; 2,500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58247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HHI = XX  (marker position set by data)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6025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CR4 = XX%   ·   Tier 1 : Others ratio = XX : 1   ·   Top-player share = XX%   ·   Class: XX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577840" y="1371600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profile matrix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577840" y="1645920"/>
            <a:ext cx="6153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growth and competitive characteristics of each tier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920240"/>
          <a:ext cx="6153912" cy="30480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players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value 2026 (US$ Mn)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market value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market value 2036F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change 2026–2036 (pp)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CAGR 2026–2036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revenue per player (US$ Mn)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Installed base share (units)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positioning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/ bundled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/ value-added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entry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route-to-market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 hospital GPO tenders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Distributors + integrators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distributors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dealers, online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portfolio breadth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MR-conditional suite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monitor platforms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platform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Accessories / refurbished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posture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 &amp; bundle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deepening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 or exit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2" name="Shape 39"/>
          <p:cNvSpPr/>
          <p:nvPr/>
        </p:nvSpPr>
        <p:spPr>
          <a:xfrm>
            <a:off x="5577840" y="5138928"/>
            <a:ext cx="6153912" cy="1170432"/>
          </a:xfrm>
          <a:prstGeom prst="roundRect">
            <a:avLst>
              <a:gd name="adj" fmla="val 6250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5760720" y="5230368"/>
            <a:ext cx="578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5760720" y="5522976"/>
            <a:ext cx="5788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(XX%) holds the largest single block of value on a US$ XX Mn base; CR4 of XX% and HHI of XX classify the Dutch market as XX.</a:t>
            </a:r>
            <a:endParaRPr lang="en-US" sz="8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(XX%) grows fastest at XX% CAGR, adding XX pp of share by 2036F on the back of XX.</a:t>
            </a:r>
            <a:endParaRPr lang="en-US" sz="8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and the long tail together hold XX% of value but XX% of players – the average player is XX× smaller than a Tier 1 supplier.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XX: Competition Assessment   ›   Industry Structure Landscape   ›   Page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Structure Landscape – MRI-Compatible Patient Monitoring Systems, Netherlands 2026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shift 2026 → 2036F (tier migration, entry and exit) and the structural forces shaping the tier structure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Future Market Insights (FMI) analysis, 2026   |   Note: All figures masked as XX in this sample framework; tier sizing derived from market modelling and expert validation, totals may differ from headline figures due to rounding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shift, 2026 → 2036F – tier migration and entry / exit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17190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4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leaders</a:t>
            </a:r>
            <a:endParaRPr lang="en-US" sz="14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→ XX players  ·  XX% → XX% share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59152" y="1993392"/>
            <a:ext cx="1173480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221992" y="1773936"/>
            <a:ext cx="144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players up-tier (M&amp;A)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59152" y="2267712"/>
            <a:ext cx="1173480" cy="0"/>
          </a:xfrm>
          <a:prstGeom prst="line">
            <a:avLst/>
          </a:prstGeom>
          <a:noFill/>
          <a:ln w="25400">
            <a:solidFill>
              <a:srgbClr val="D08C2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221992" y="2304288"/>
            <a:ext cx="144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0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players down-tier / exit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05784" y="1719072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697224" y="17190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4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specialists</a:t>
            </a:r>
            <a:endParaRPr lang="en-US" sz="14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→ XX players  ·  XX% → XX% share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07736" y="1993392"/>
            <a:ext cx="1173480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70576" y="1773936"/>
            <a:ext cx="144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players up-tier (M&amp;A)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07736" y="2267712"/>
            <a:ext cx="1173480" cy="0"/>
          </a:xfrm>
          <a:prstGeom prst="line">
            <a:avLst/>
          </a:prstGeom>
          <a:noFill/>
          <a:ln w="25400">
            <a:solidFill>
              <a:srgbClr val="D08C2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70576" y="2304288"/>
            <a:ext cx="144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0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players down-tier / exit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54368" y="1719072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45808" y="17190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4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/ local</a:t>
            </a:r>
            <a:endParaRPr lang="en-US" sz="14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→ XX players  ·  XX% → XX% share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56320" y="1993392"/>
            <a:ext cx="1173480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519160" y="1773936"/>
            <a:ext cx="144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players up-tier (M&amp;A)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656320" y="2267712"/>
            <a:ext cx="1173480" cy="0"/>
          </a:xfrm>
          <a:prstGeom prst="line">
            <a:avLst/>
          </a:prstGeom>
          <a:noFill/>
          <a:ln w="25400">
            <a:solidFill>
              <a:srgbClr val="D08C2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519160" y="2304288"/>
            <a:ext cx="144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0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players down-tier / exit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902952" y="1719072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9FC5E8"/>
          </a:solidFill>
          <a:ln w="12700">
            <a:solidFill>
              <a:srgbClr val="9FC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994392" y="17190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4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</a:t>
            </a:r>
            <a:endParaRPr lang="en-US" sz="14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→ XX players  ·  XX% → XX% share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2706624"/>
            <a:ext cx="2715768" cy="594360"/>
          </a:xfrm>
          <a:prstGeom prst="roundRect">
            <a:avLst>
              <a:gd name="adj" fmla="val 923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94360" y="2761488"/>
            <a:ext cx="914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2761488"/>
            <a:ext cx="1481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2026–2036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which XX% via MDR-certified imports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10128" y="2706624"/>
            <a:ext cx="2715768" cy="594360"/>
          </a:xfrm>
          <a:prstGeom prst="roundRect">
            <a:avLst>
              <a:gd name="adj" fmla="val 923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3447288" y="2761488"/>
            <a:ext cx="914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4407408" y="2761488"/>
            <a:ext cx="1481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/ acquisitions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 absorbed by Tier 1–2 acquirers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63056" y="2706624"/>
            <a:ext cx="2715768" cy="594360"/>
          </a:xfrm>
          <a:prstGeom prst="roundRect">
            <a:avLst>
              <a:gd name="adj" fmla="val 923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300216" y="2761488"/>
            <a:ext cx="914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260336" y="2761488"/>
            <a:ext cx="1481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change in player 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XX (2026) to XX (2036F)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015984" y="2706624"/>
            <a:ext cx="2715768" cy="594360"/>
          </a:xfrm>
          <a:prstGeom prst="roundRect">
            <a:avLst>
              <a:gd name="adj" fmla="val 923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9153144" y="2761488"/>
            <a:ext cx="914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pp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0113264" y="2761488"/>
            <a:ext cx="1481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moving between tiers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transfer: Tier XX → Tier XX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357530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forces shaping the tier structure (1 = weak, 5 = strong)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04488"/>
          <a:ext cx="6675120" cy="2243328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Drivers in the Dutch 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tier 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barriers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 / CE certification, MR-conditional safety testing, clinical evidence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 /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Tier 1–2; slows new entry to XX / 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power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groups and GPO tenders, multi-year framework contracts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 /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Compresses Tier 3 pricing by XX%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 costs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with MRI suites, PACS / EMR connectivity, staff training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 /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Locks in installed base for XX years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substitution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MR-conditional sensors, AI-assisted monitoring, remote viewing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 /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XX% of demand to Tier 2–3 innovators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power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MR-conditional component and sensor suppliers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 /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Raises input cost by XX% for sub-scale players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structural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average of the five forces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 /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of consolidation: XX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" name="Shape 39"/>
          <p:cNvSpPr/>
          <p:nvPr/>
        </p:nvSpPr>
        <p:spPr>
          <a:xfrm>
            <a:off x="7360920" y="3575304"/>
            <a:ext cx="4370832" cy="2688336"/>
          </a:xfrm>
          <a:prstGeom prst="roundRect">
            <a:avLst>
              <a:gd name="adj" fmla="val 272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7543800" y="366674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543800" y="3959352"/>
            <a:ext cx="400507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Dutch market is XX (HHI XX); Tier 1 sets pricing and innovation benchmarks and is expected to hold XX% of value in 2036F.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Tier 2 players are positioned to move up-tier by 2036F via M&amp;A and tender wins – the main structural change of the decade.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and the long tail face the highest structural pressure (XX / 5); XX players are expected to exit or be acquired.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barriers (XX / 5) and switching costs (XX / 5) are the dominant forces – new entry is realistic mainly through MDR-certified imports and partnerships with Tier 1–2 channels.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</Words>
  <Application>Microsoft Office PowerPoint</Application>
  <PresentationFormat>Widescreen</PresentationFormat>
  <Paragraphs>191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Nandini  Roy Choudhury</cp:lastModifiedBy>
  <cp:revision>1</cp:revision>
  <dcterms:created xsi:type="dcterms:W3CDTF">2026-09-21T11:11:15Z</dcterms:created>
  <dcterms:modified xsi:type="dcterms:W3CDTF">2026-09-21T11:23:15Z</dcterms:modified>
</cp:coreProperties>
</file>