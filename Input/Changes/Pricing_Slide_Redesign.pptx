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 &amp; Eye Hygiene Products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18608.0</c:v>
                </c:pt>
                <c:pt idx="1">
                  <c:v>18715.0</c:v>
                </c:pt>
                <c:pt idx="2">
                  <c:v>18823.0</c:v>
                </c:pt>
                <c:pt idx="3">
                  <c:v>18929.0</c:v>
                </c:pt>
                <c:pt idx="4">
                  <c:v>19031.0</c:v>
                </c:pt>
                <c:pt idx="5">
                  <c:v>19142.0</c:v>
                </c:pt>
                <c:pt idx="6">
                  <c:v>19245.0</c:v>
                </c:pt>
                <c:pt idx="7">
                  <c:v>19351.0</c:v>
                </c:pt>
                <c:pt idx="8">
                  <c:v>19455.0</c:v>
                </c:pt>
                <c:pt idx="9">
                  <c:v>19562.0</c:v>
                </c:pt>
                <c:pt idx="10">
                  <c:v>19669.0</c:v>
                </c:pt>
                <c:pt idx="11">
                  <c:v>19777.0</c:v>
                </c:pt>
                <c:pt idx="12">
                  <c:v>19880.0</c:v>
                </c:pt>
                <c:pt idx="13">
                  <c:v>19989.0</c:v>
                </c:pt>
                <c:pt idx="14">
                  <c:v>20096.0</c:v>
                </c:pt>
                <c:pt idx="15">
                  <c:v>20202.0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Coat Conditioning &amp; Grooming Products</c:v>
                </c:pt>
              </c:strCache>
            </c:strRef>
          </c:tx>
          <c:spPr>
            <a:ln w="25400">
              <a:solidFill>
                <a:srgbClr val="0B2E4A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18231.0</c:v>
                </c:pt>
                <c:pt idx="1">
                  <c:v>18337.0</c:v>
                </c:pt>
                <c:pt idx="2">
                  <c:v>18448.0</c:v>
                </c:pt>
                <c:pt idx="3">
                  <c:v>18554.0</c:v>
                </c:pt>
                <c:pt idx="4">
                  <c:v>18659.0</c:v>
                </c:pt>
                <c:pt idx="5">
                  <c:v>18769.0</c:v>
                </c:pt>
                <c:pt idx="6">
                  <c:v>18873.0</c:v>
                </c:pt>
                <c:pt idx="7">
                  <c:v>18979.0</c:v>
                </c:pt>
                <c:pt idx="8">
                  <c:v>19087.0</c:v>
                </c:pt>
                <c:pt idx="9">
                  <c:v>19193.0</c:v>
                </c:pt>
                <c:pt idx="10">
                  <c:v>19301.0</c:v>
                </c:pt>
                <c:pt idx="11">
                  <c:v>19408.0</c:v>
                </c:pt>
                <c:pt idx="12">
                  <c:v>19513.0</c:v>
                </c:pt>
                <c:pt idx="13">
                  <c:v>19621.0</c:v>
                </c:pt>
                <c:pt idx="14">
                  <c:v>19729.0</c:v>
                </c:pt>
                <c:pt idx="15">
                  <c:v>19835.0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Fragrance &amp; Deodorizing Products</c:v>
                </c:pt>
              </c:strCache>
            </c:strRef>
          </c:tx>
          <c:spPr>
            <a:ln w="25400">
              <a:solidFill>
                <a:srgbClr val="7030A0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18165.0</c:v>
                </c:pt>
                <c:pt idx="1">
                  <c:v>18268.0</c:v>
                </c:pt>
                <c:pt idx="2">
                  <c:v>18378.0</c:v>
                </c:pt>
                <c:pt idx="3">
                  <c:v>18483.0</c:v>
                </c:pt>
                <c:pt idx="4">
                  <c:v>18589.0</c:v>
                </c:pt>
                <c:pt idx="5">
                  <c:v>18699.0</c:v>
                </c:pt>
                <c:pt idx="6">
                  <c:v>18803.0</c:v>
                </c:pt>
                <c:pt idx="7">
                  <c:v>18908.0</c:v>
                </c:pt>
                <c:pt idx="8">
                  <c:v>19016.0</c:v>
                </c:pt>
                <c:pt idx="9">
                  <c:v>19123.0</c:v>
                </c:pt>
                <c:pt idx="10">
                  <c:v>19233.0</c:v>
                </c:pt>
                <c:pt idx="11">
                  <c:v>19341.0</c:v>
                </c:pt>
                <c:pt idx="12">
                  <c:v>19446.0</c:v>
                </c:pt>
                <c:pt idx="13">
                  <c:v>19555.0</c:v>
                </c:pt>
                <c:pt idx="14">
                  <c:v>19665.0</c:v>
                </c:pt>
                <c:pt idx="15">
                  <c:v>19772.0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Dental &amp; Oral Care Products</c:v>
                </c:pt>
              </c:strCache>
            </c:strRef>
          </c:tx>
          <c:spPr>
            <a:ln w="25400">
              <a:solidFill>
                <a:srgbClr val="008189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18165.0</c:v>
                </c:pt>
                <c:pt idx="1">
                  <c:v>18268.0</c:v>
                </c:pt>
                <c:pt idx="2">
                  <c:v>18373.0</c:v>
                </c:pt>
                <c:pt idx="3">
                  <c:v>18476.0</c:v>
                </c:pt>
                <c:pt idx="4">
                  <c:v>18577.0</c:v>
                </c:pt>
                <c:pt idx="5">
                  <c:v>18681.0</c:v>
                </c:pt>
                <c:pt idx="6">
                  <c:v>18782.0</c:v>
                </c:pt>
                <c:pt idx="7">
                  <c:v>18884.0</c:v>
                </c:pt>
                <c:pt idx="8">
                  <c:v>18987.0</c:v>
                </c:pt>
                <c:pt idx="9">
                  <c:v>19090.0</c:v>
                </c:pt>
                <c:pt idx="10">
                  <c:v>19194.0</c:v>
                </c:pt>
                <c:pt idx="11">
                  <c:v>19297.0</c:v>
                </c:pt>
                <c:pt idx="12">
                  <c:v>19397.0</c:v>
                </c:pt>
                <c:pt idx="13">
                  <c:v>19502.0</c:v>
                </c:pt>
                <c:pt idx="14">
                  <c:v>19606.0</c:v>
                </c:pt>
                <c:pt idx="15">
                  <c:v>19708.0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Skin, Paw &amp; Nose Care Products</c:v>
                </c:pt>
              </c:strCache>
            </c:strRef>
          </c:tx>
          <c:spPr>
            <a:ln w="25400">
              <a:solidFill>
                <a:srgbClr val="9E7E0A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18102.0</c:v>
                </c:pt>
                <c:pt idx="1">
                  <c:v>18205.0</c:v>
                </c:pt>
                <c:pt idx="2">
                  <c:v>18312.0</c:v>
                </c:pt>
                <c:pt idx="3">
                  <c:v>18412.0</c:v>
                </c:pt>
                <c:pt idx="4">
                  <c:v>18514.0</c:v>
                </c:pt>
                <c:pt idx="5">
                  <c:v>18621.0</c:v>
                </c:pt>
                <c:pt idx="6">
                  <c:v>18721.0</c:v>
                </c:pt>
                <c:pt idx="7">
                  <c:v>18824.0</c:v>
                </c:pt>
                <c:pt idx="8">
                  <c:v>18925.0</c:v>
                </c:pt>
                <c:pt idx="9">
                  <c:v>19029.0</c:v>
                </c:pt>
                <c:pt idx="10">
                  <c:v>19134.0</c:v>
                </c:pt>
                <c:pt idx="11">
                  <c:v>19236.0</c:v>
                </c:pt>
                <c:pt idx="12">
                  <c:v>19338.0</c:v>
                </c:pt>
                <c:pt idx="13">
                  <c:v>19441.0</c:v>
                </c:pt>
                <c:pt idx="14">
                  <c:v>19544.0</c:v>
                </c:pt>
                <c:pt idx="15">
                  <c:v>19646.0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Shampoos &amp; Cleansing Products</c:v>
                </c:pt>
              </c:strCache>
            </c:strRef>
          </c:tx>
          <c:spPr>
            <a:ln w="25400">
              <a:solidFill>
                <a:srgbClr val="5B7DB1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Sheet1!$G$2:$G$17</c:f>
              <c:numCache>
                <c:formatCode>General</c:formatCode>
                <c:ptCount val="16"/>
                <c:pt idx="0">
                  <c:v>18051.0</c:v>
                </c:pt>
                <c:pt idx="1">
                  <c:v>18148.0</c:v>
                </c:pt>
                <c:pt idx="2">
                  <c:v>18249.0</c:v>
                </c:pt>
                <c:pt idx="3">
                  <c:v>18347.0</c:v>
                </c:pt>
                <c:pt idx="4">
                  <c:v>18444.0</c:v>
                </c:pt>
                <c:pt idx="5">
                  <c:v>18546.0</c:v>
                </c:pt>
                <c:pt idx="6">
                  <c:v>18643.0</c:v>
                </c:pt>
                <c:pt idx="7">
                  <c:v>18740.0</c:v>
                </c:pt>
                <c:pt idx="8">
                  <c:v>18840.0</c:v>
                </c:pt>
                <c:pt idx="9">
                  <c:v>18939.0</c:v>
                </c:pt>
                <c:pt idx="10">
                  <c:v>19042.0</c:v>
                </c:pt>
                <c:pt idx="11">
                  <c:v>19142.0</c:v>
                </c:pt>
                <c:pt idx="12">
                  <c:v>19239.0</c:v>
                </c:pt>
                <c:pt idx="13">
                  <c:v>19341.0</c:v>
                </c:pt>
                <c:pt idx="14">
                  <c:v>19442.0</c:v>
                </c:pt>
                <c:pt idx="15">
                  <c:v>19542.0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500.0"/>
          <c:min val="1800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18791784"/>
        <c:crosses val="autoZero"/>
        <c:majorUnit val="50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dPt>
            <c:idx val="0"/>
            <c:spPr>
              <a:solidFill>
                <a:srgbClr val="5B7DB1"/>
              </a:solidFill>
            </c:spPr>
          </c:dPt>
          <c:dPt>
            <c:idx val="1"/>
            <c:spPr>
              <a:solidFill>
                <a:srgbClr val="5B7DB1"/>
              </a:solidFill>
            </c:spPr>
          </c:dPt>
          <c:dPt>
            <c:idx val="2"/>
            <c:spPr>
              <a:solidFill>
                <a:srgbClr val="5B7DB1"/>
              </a:solidFill>
            </c:spPr>
          </c:dPt>
          <c:dPt>
            <c:idx val="3"/>
            <c:spPr>
              <a:solidFill>
                <a:srgbClr val="C55A11"/>
              </a:solidFill>
            </c:spPr>
          </c:dPt>
          <c:dPt>
            <c:idx val="4"/>
            <c:spPr>
              <a:solidFill>
                <a:srgbClr val="C55A11"/>
              </a:solidFill>
            </c:spPr>
          </c:dPt>
          <c:dPt>
            <c:idx val="5"/>
            <c:spPr>
              <a:solidFill>
                <a:srgbClr val="C55A11"/>
              </a:solidFill>
            </c:spPr>
          </c:dPt>
          <c:cat>
            <c:strRef>
              <c:f>Sheet1!$A$2:$A$7</c:f>
              <c:strCache>
                <c:ptCount val="6"/>
                <c:pt idx="0">
                  <c:v>Shampoos &amp; Cleansing Products</c:v>
                </c:pt>
                <c:pt idx="1">
                  <c:v>Skin, Paw &amp; Nose Care Products</c:v>
                </c:pt>
                <c:pt idx="2">
                  <c:v>Dental &amp; Oral Care Products</c:v>
                </c:pt>
                <c:pt idx="3">
                  <c:v>Fragrance &amp; Deodorizing Products</c:v>
                </c:pt>
                <c:pt idx="4">
                  <c:v>Coat Conditioning &amp; Grooming Products</c:v>
                </c:pt>
                <c:pt idx="5">
                  <c:v>Ear &amp; Eye Hygiene Products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99.3</c:v>
                </c:pt>
                <c:pt idx="1">
                  <c:v>99.7</c:v>
                </c:pt>
                <c:pt idx="2">
                  <c:v>100.0</c:v>
                </c:pt>
                <c:pt idx="3">
                  <c:v>100.1</c:v>
                </c:pt>
                <c:pt idx="4">
                  <c:v>100.4</c:v>
                </c:pt>
                <c:pt idx="5">
                  <c:v>102.4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 b="1">
                  <a:solidFill>
                    <a:srgbClr val="1F1F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4.0"/>
          <c:min val="96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Sheet1!$A$2:$A$7</c:f>
              <c:strCache>
                <c:ptCount val="6"/>
                <c:pt idx="0">
                  <c:v>Shampoos &amp; Cleansing Products</c:v>
                </c:pt>
                <c:pt idx="1">
                  <c:v>Skin, Paw &amp; Nose Care Products</c:v>
                </c:pt>
                <c:pt idx="2">
                  <c:v>Dental &amp; Oral Care Products</c:v>
                </c:pt>
                <c:pt idx="3">
                  <c:v>Fragrance &amp; Deodorizing Products</c:v>
                </c:pt>
                <c:pt idx="4">
                  <c:v>Coat Conditioning &amp; Grooming Products</c:v>
                </c:pt>
                <c:pt idx="5">
                  <c:v>Ear &amp; Eye Hygiene Products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14144</c:v>
                </c:pt>
                <c:pt idx="1">
                  <c:v>12981</c:v>
                </c:pt>
                <c:pt idx="2">
                  <c:v>14052</c:v>
                </c:pt>
                <c:pt idx="3">
                  <c:v>13777</c:v>
                </c:pt>
                <c:pt idx="4">
                  <c:v>13879</c:v>
                </c:pt>
                <c:pt idx="5">
                  <c:v>13808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8189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Calibri"/>
                      </a:rPr>
                      <a:t>14,144 to 28,395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Calibri"/>
                      </a:rPr>
                      <a:t>12,981 to 26,908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Calibri"/>
                      </a:rPr>
                      <a:t>14,052 to 26,500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Calibri"/>
                      </a:rPr>
                      <a:t>13,777 to 24,531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Calibri"/>
                      </a:rPr>
                      <a:t>13,879 to 24,360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Calibri"/>
                      </a:rPr>
                      <a:t>13,808 to 25,762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Shampoos &amp; Cleansing Products</c:v>
                </c:pt>
                <c:pt idx="1">
                  <c:v>Skin, Paw &amp; Nose Care Products</c:v>
                </c:pt>
                <c:pt idx="2">
                  <c:v>Dental &amp; Oral Care Products</c:v>
                </c:pt>
                <c:pt idx="3">
                  <c:v>Fragrance &amp; Deodorizing Products</c:v>
                </c:pt>
                <c:pt idx="4">
                  <c:v>Coat Conditioning &amp; Grooming Products</c:v>
                </c:pt>
                <c:pt idx="5">
                  <c:v>Ear &amp; Eye Hygiene Products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14251</c:v>
                </c:pt>
                <c:pt idx="1">
                  <c:v>13927</c:v>
                </c:pt>
                <c:pt idx="2">
                  <c:v>12448</c:v>
                </c:pt>
                <c:pt idx="3">
                  <c:v>10754</c:v>
                </c:pt>
                <c:pt idx="4">
                  <c:v>10481</c:v>
                </c:pt>
                <c:pt idx="5">
                  <c:v>11954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30000.0"/>
          <c:min val="12000.0"/>
        </c:scaling>
        <c:delete val="0"/>
        <c:axPos val="b"/>
        <c:majorGridlines>
          <c:spPr>
            <a:ln>
              <a:solidFill>
                <a:srgbClr val="D9DEE4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9636E"/>
                </a:solidFill>
                <a:latin typeface="Calibri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Sheet1!$A$2:$A$25</c:f>
              <c:strCache>
                <c:ptCount val="24"/>
                <c:pt idx="0">
                  <c:v>Sweden</c:v>
                </c:pt>
                <c:pt idx="1">
                  <c:v>France</c:v>
                </c:pt>
                <c:pt idx="2">
                  <c:v>Greece</c:v>
                </c:pt>
                <c:pt idx="3">
                  <c:v>Slovenia</c:v>
                </c:pt>
                <c:pt idx="4">
                  <c:v>Poland</c:v>
                </c:pt>
                <c:pt idx="5">
                  <c:v>Portugal</c:v>
                </c:pt>
                <c:pt idx="6">
                  <c:v>Malta</c:v>
                </c:pt>
                <c:pt idx="7">
                  <c:v>Croatia</c:v>
                </c:pt>
                <c:pt idx="8">
                  <c:v>Italy</c:v>
                </c:pt>
                <c:pt idx="9">
                  <c:v>Belgium</c:v>
                </c:pt>
                <c:pt idx="10">
                  <c:v>Switzerland</c:v>
                </c:pt>
                <c:pt idx="11">
                  <c:v>Czech Republic</c:v>
                </c:pt>
                <c:pt idx="12">
                  <c:v>Finland</c:v>
                </c:pt>
                <c:pt idx="13">
                  <c:v>Ireland</c:v>
                </c:pt>
                <c:pt idx="14">
                  <c:v>Norway</c:v>
                </c:pt>
                <c:pt idx="15">
                  <c:v>Spain</c:v>
                </c:pt>
                <c:pt idx="16">
                  <c:v>United Kingdom</c:v>
                </c:pt>
                <c:pt idx="17">
                  <c:v>Romania</c:v>
                </c:pt>
                <c:pt idx="18">
                  <c:v>Denmark</c:v>
                </c:pt>
                <c:pt idx="19">
                  <c:v>Netherlands</c:v>
                </c:pt>
                <c:pt idx="20">
                  <c:v>Austria</c:v>
                </c:pt>
                <c:pt idx="21">
                  <c:v>Germany</c:v>
                </c:pt>
                <c:pt idx="22">
                  <c:v>Bulgaria</c:v>
                </c:pt>
                <c:pt idx="23">
                  <c:v>Hungary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20679</c:v>
                </c:pt>
                <c:pt idx="1">
                  <c:v>20194</c:v>
                </c:pt>
                <c:pt idx="2">
                  <c:v>20462</c:v>
                </c:pt>
                <c:pt idx="3">
                  <c:v>20052</c:v>
                </c:pt>
                <c:pt idx="4">
                  <c:v>19529</c:v>
                </c:pt>
                <c:pt idx="5">
                  <c:v>19354</c:v>
                </c:pt>
                <c:pt idx="6">
                  <c:v>17889</c:v>
                </c:pt>
                <c:pt idx="7">
                  <c:v>18099</c:v>
                </c:pt>
                <c:pt idx="8">
                  <c:v>18605</c:v>
                </c:pt>
                <c:pt idx="9">
                  <c:v>18026</c:v>
                </c:pt>
                <c:pt idx="10">
                  <c:v>18319</c:v>
                </c:pt>
                <c:pt idx="11">
                  <c:v>18443</c:v>
                </c:pt>
                <c:pt idx="12">
                  <c:v>18074</c:v>
                </c:pt>
                <c:pt idx="13">
                  <c:v>18484</c:v>
                </c:pt>
                <c:pt idx="14">
                  <c:v>18119</c:v>
                </c:pt>
                <c:pt idx="15">
                  <c:v>17894</c:v>
                </c:pt>
                <c:pt idx="16">
                  <c:v>17825</c:v>
                </c:pt>
                <c:pt idx="17">
                  <c:v>16921</c:v>
                </c:pt>
                <c:pt idx="18">
                  <c:v>17075</c:v>
                </c:pt>
                <c:pt idx="19">
                  <c:v>16640</c:v>
                </c:pt>
                <c:pt idx="20">
                  <c:v>16812</c:v>
                </c:pt>
                <c:pt idx="21">
                  <c:v>16663</c:v>
                </c:pt>
                <c:pt idx="22">
                  <c:v>16143</c:v>
                </c:pt>
                <c:pt idx="23">
                  <c:v>15782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8189"/>
            </a:solidFill>
          </c:spPr>
          <c:dPt>
            <c:idx val="15"/>
            <c:spPr>
              <a:solidFill>
                <a:srgbClr val="5B7DB1"/>
              </a:solidFill>
            </c:spPr>
          </c:dPt>
          <c:dPt>
            <c:idx val="16"/>
            <c:spPr>
              <a:solidFill>
                <a:srgbClr val="5B7DB1"/>
              </a:solidFill>
            </c:spPr>
          </c:dPt>
          <c:dPt>
            <c:idx val="17"/>
            <c:spPr>
              <a:solidFill>
                <a:srgbClr val="5B7DB1"/>
              </a:solidFill>
            </c:spPr>
          </c:dPt>
          <c:dPt>
            <c:idx val="18"/>
            <c:spPr>
              <a:solidFill>
                <a:srgbClr val="5B7DB1"/>
              </a:solidFill>
            </c:spPr>
          </c:dPt>
          <c:dPt>
            <c:idx val="19"/>
            <c:spPr>
              <a:solidFill>
                <a:srgbClr val="5B7DB1"/>
              </a:solidFill>
            </c:spPr>
          </c:dPt>
          <c:dPt>
            <c:idx val="20"/>
            <c:spPr>
              <a:solidFill>
                <a:srgbClr val="5B7DB1"/>
              </a:solidFill>
            </c:spPr>
          </c:dPt>
          <c:dPt>
            <c:idx val="21"/>
            <c:spPr>
              <a:solidFill>
                <a:srgbClr val="5B7DB1"/>
              </a:solidFill>
            </c:spPr>
          </c:dPt>
          <c:dPt>
            <c:idx val="22"/>
            <c:spPr>
              <a:solidFill>
                <a:srgbClr val="5B7DB1"/>
              </a:solidFill>
            </c:spPr>
          </c:dPt>
          <c:dPt>
            <c:idx val="23"/>
            <c:spPr>
              <a:solidFill>
                <a:srgbClr val="5B7DB1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113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113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111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110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108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108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105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103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102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102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102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102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101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100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100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98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6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97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95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8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94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93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92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91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2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90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3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FFFFFF"/>
                        </a:solidFill>
                        <a:latin typeface="Calibri"/>
                      </a:rPr>
                      <a:t>86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Sweden</c:v>
                </c:pt>
                <c:pt idx="1">
                  <c:v>France</c:v>
                </c:pt>
                <c:pt idx="2">
                  <c:v>Greece</c:v>
                </c:pt>
                <c:pt idx="3">
                  <c:v>Slovenia</c:v>
                </c:pt>
                <c:pt idx="4">
                  <c:v>Poland</c:v>
                </c:pt>
                <c:pt idx="5">
                  <c:v>Portugal</c:v>
                </c:pt>
                <c:pt idx="6">
                  <c:v>Malta</c:v>
                </c:pt>
                <c:pt idx="7">
                  <c:v>Croatia</c:v>
                </c:pt>
                <c:pt idx="8">
                  <c:v>Italy</c:v>
                </c:pt>
                <c:pt idx="9">
                  <c:v>Belgium</c:v>
                </c:pt>
                <c:pt idx="10">
                  <c:v>Switzerland</c:v>
                </c:pt>
                <c:pt idx="11">
                  <c:v>Czech Republic</c:v>
                </c:pt>
                <c:pt idx="12">
                  <c:v>Finland</c:v>
                </c:pt>
                <c:pt idx="13">
                  <c:v>Ireland</c:v>
                </c:pt>
                <c:pt idx="14">
                  <c:v>Norway</c:v>
                </c:pt>
                <c:pt idx="15">
                  <c:v>Spain</c:v>
                </c:pt>
                <c:pt idx="16">
                  <c:v>United Kingdom</c:v>
                </c:pt>
                <c:pt idx="17">
                  <c:v>Romania</c:v>
                </c:pt>
                <c:pt idx="18">
                  <c:v>Denmark</c:v>
                </c:pt>
                <c:pt idx="19">
                  <c:v>Netherlands</c:v>
                </c:pt>
                <c:pt idx="20">
                  <c:v>Austria</c:v>
                </c:pt>
                <c:pt idx="21">
                  <c:v>Germany</c:v>
                </c:pt>
                <c:pt idx="22">
                  <c:v>Bulgaria</c:v>
                </c:pt>
                <c:pt idx="23">
                  <c:v>Hungary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1589</c:v>
                </c:pt>
                <c:pt idx="1">
                  <c:v>1291</c:v>
                </c:pt>
                <c:pt idx="2">
                  <c:v>532</c:v>
                </c:pt>
                <c:pt idx="3">
                  <c:v>1334</c:v>
                </c:pt>
                <c:pt idx="4">
                  <c:v>1107</c:v>
                </c:pt>
                <c:pt idx="5">
                  <c:v>1322</c:v>
                </c:pt>
                <c:pt idx="6">
                  <c:v>2933</c:v>
                </c:pt>
                <c:pt idx="7">
                  <c:v>2052</c:v>
                </c:pt>
                <c:pt idx="8">
                  <c:v>1454</c:v>
                </c:pt>
                <c:pt idx="9">
                  <c:v>1425</c:v>
                </c:pt>
                <c:pt idx="10">
                  <c:v>1117</c:v>
                </c:pt>
                <c:pt idx="11">
                  <c:v>938</c:v>
                </c:pt>
                <c:pt idx="12">
                  <c:v>2928</c:v>
                </c:pt>
                <c:pt idx="13">
                  <c:v>1141</c:v>
                </c:pt>
                <c:pt idx="14">
                  <c:v>969</c:v>
                </c:pt>
                <c:pt idx="15">
                  <c:v>1191</c:v>
                </c:pt>
                <c:pt idx="16">
                  <c:v>2052</c:v>
                </c:pt>
                <c:pt idx="17">
                  <c:v>1571</c:v>
                </c:pt>
                <c:pt idx="18">
                  <c:v>1129</c:v>
                </c:pt>
                <c:pt idx="19">
                  <c:v>1332</c:v>
                </c:pt>
                <c:pt idx="20">
                  <c:v>1400</c:v>
                </c:pt>
                <c:pt idx="21">
                  <c:v>872</c:v>
                </c:pt>
                <c:pt idx="22">
                  <c:v>1872</c:v>
                </c:pt>
                <c:pt idx="23">
                  <c:v>1235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000.0"/>
          <c:min val="1500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59636E"/>
                </a:solidFill>
                <a:latin typeface="Calibri"/>
              </a:defRPr>
            </a:pPr>
          </a:p>
        </c:txPr>
        <c:crossAx val="-2068027336"/>
        <c:crosses val="autoZero"/>
        <c:majorUnit val="10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1138799" cy="658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200" y="128016"/>
            <a:ext cx="103327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200" b="1" i="0">
                <a:solidFill>
                  <a:srgbClr val="1F1F1F"/>
                </a:solidFill>
                <a:latin typeface="Calibri"/>
              </a:rPr>
              <a:t>Pet Cosmetic Products Market Europe Pricing Assessment: By Product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84632"/>
            <a:ext cx="1033272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1">
                <a:solidFill>
                  <a:srgbClr val="1F1F1F"/>
                </a:solidFill>
                <a:latin typeface="Calibri"/>
              </a:rPr>
              <a:t>Average price (US$/MT) by product type, 2021 to 2036, with 2026 price index and growth outlook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868680"/>
            <a:ext cx="3840480" cy="0"/>
          </a:xfrm>
          <a:prstGeom prst="line">
            <a:avLst/>
          </a:prstGeom>
          <a:ln w="28575">
            <a:solidFill>
              <a:srgbClr val="008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206240" y="868680"/>
            <a:ext cx="3840480" cy="0"/>
          </a:xfrm>
          <a:prstGeom prst="line">
            <a:avLst/>
          </a:prstGeom>
          <a:ln w="28575">
            <a:solidFill>
              <a:srgbClr val="9E7E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138160" y="868680"/>
            <a:ext cx="3776472" cy="0"/>
          </a:xfrm>
          <a:prstGeom prst="line">
            <a:avLst/>
          </a:prstGeom>
          <a:ln w="28575">
            <a:solidFill>
              <a:srgbClr val="403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960120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137160"/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Ear &amp; Eye Hygiene Products command the highest 2026 price point at US$ 19,142/MT, a 3.2% premium over Shampoos &amp; Cleansing Products.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19088"/>
            <a:ext cx="86868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Average price = market value (US$) / market volume (MT). 2021 to 2025 historical, 2026 to 2036 forecast.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6419088"/>
            <a:ext cx="295351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0">
                <a:solidFill>
                  <a:srgbClr val="59636E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644652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84048" y="1554480"/>
            <a:ext cx="621792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Trend by Product Type, 2021 to 2036 (US$/MT)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47472" y="1810512"/>
          <a:ext cx="6309360" cy="31821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0" y="1572768"/>
            <a:ext cx="2103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1">
                <a:solidFill>
                  <a:srgbClr val="59636E"/>
                </a:solidFill>
                <a:latin typeface="Calibri"/>
              </a:rPr>
              <a:t>Forecast period: 2026 to 2036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08760"/>
            <a:ext cx="5056632" cy="16002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67728" y="1554480"/>
            <a:ext cx="484632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Index vs Europe Average (= 100)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903720" y="1764792"/>
          <a:ext cx="4965192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0" y="3182112"/>
          <a:ext cx="5056632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548640"/>
                <a:gridCol w="548640"/>
                <a:gridCol w="548640"/>
                <a:gridCol w="777240"/>
                <a:gridCol w="502920"/>
              </a:tblGrid>
              <a:tr h="23088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Product Type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23088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Ear &amp; Eye Hygiene Products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18,608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19,142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20,202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0.54%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102.4</a:t>
                      </a:r>
                    </a:p>
                  </a:txBody>
                  <a:tcPr marL="36576" marR="36576" marT="9144" marB="9144" anchor="ctr">
                    <a:solidFill>
                      <a:srgbClr val="FBE3D3"/>
                    </a:solidFill>
                  </a:tcPr>
                </a:tc>
              </a:tr>
              <a:tr h="23088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Coat Conditioning &amp; Grooming Products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18,231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18,769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19,835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0.55%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100.4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</a:tr>
              <a:tr h="23088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Fragrance &amp; Deodorizing Products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18,165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18,699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19,772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0.56%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100.1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</a:tr>
              <a:tr h="23088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Dental &amp; Oral Care Products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18,165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18,681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19,708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0.54%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</a:tr>
              <a:tr h="23088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Skin, Paw &amp; Nose Care Products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18,102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18,621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19,646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0.54%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99.7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</a:tr>
              <a:tr h="23088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Shampoos &amp; Cleansing Products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18,051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18,546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19,542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0.52%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99.3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</a:tr>
              <a:tr h="23088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Europe Average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18,171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18,686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19,713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0.54%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74320" y="5120640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384048" y="5248655"/>
            <a:ext cx="310896" cy="310896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12079"/>
            <a:ext cx="3194304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Hierarchy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86400"/>
            <a:ext cx="3194304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Ear &amp; Eye Hygiene Products sit at the top of the 2026 price ladder at an index of 102.4, while Shampoos &amp; Cleansing Products trade at 99.3, which keeps the full product type spread within 3.2%.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144" y="5120640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" name="Oval 23"/>
          <p:cNvSpPr/>
          <p:nvPr/>
        </p:nvSpPr>
        <p:spPr>
          <a:xfrm>
            <a:off x="4309872" y="5248655"/>
            <a:ext cx="310896" cy="310896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3064" y="5212079"/>
            <a:ext cx="3194304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Momentum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3064" y="5486400"/>
            <a:ext cx="3194304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Fragrance &amp; Deodorizing Products post the fastest price growth at a 0.56% CAGR between 2026 and 2036, compared with 0.52% for Shampoos &amp; Cleansing Products.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5968" y="5120640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" name="Oval 27"/>
          <p:cNvSpPr/>
          <p:nvPr/>
        </p:nvSpPr>
        <p:spPr>
          <a:xfrm>
            <a:off x="8235696" y="5248655"/>
            <a:ext cx="310896" cy="310896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8888" y="5212079"/>
            <a:ext cx="3194304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Outlook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8888" y="5486400"/>
            <a:ext cx="3194304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The Europe average price rises from US$ 18,686/MT in 2026 to US$ 19,713/MT in 2036, and the gap between the highest and lowest priced product type moves from 3.1% in 2021 to 3.4% in 2036.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1138799" cy="658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200" y="128016"/>
            <a:ext cx="103327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200" b="1" i="0">
                <a:solidFill>
                  <a:srgbClr val="1F1F1F"/>
                </a:solidFill>
                <a:latin typeface="Calibri"/>
              </a:rPr>
              <a:t>Pet Cosmetic Products Market Europe Price Matrix: Product Type × Primary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84632"/>
            <a:ext cx="1033272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1">
                <a:solidFill>
                  <a:srgbClr val="1F1F1F"/>
                </a:solidFill>
                <a:latin typeface="Calibri"/>
              </a:rPr>
              <a:t>Average price (US$/MT) for every product type and primary function combination,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868680"/>
            <a:ext cx="3840480" cy="0"/>
          </a:xfrm>
          <a:prstGeom prst="line">
            <a:avLst/>
          </a:prstGeom>
          <a:ln w="28575">
            <a:solidFill>
              <a:srgbClr val="008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206240" y="868680"/>
            <a:ext cx="3840480" cy="0"/>
          </a:xfrm>
          <a:prstGeom prst="line">
            <a:avLst/>
          </a:prstGeom>
          <a:ln w="28575">
            <a:solidFill>
              <a:srgbClr val="9E7E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138160" y="868680"/>
            <a:ext cx="3776472" cy="0"/>
          </a:xfrm>
          <a:prstGeom prst="line">
            <a:avLst/>
          </a:prstGeom>
          <a:ln w="28575">
            <a:solidFill>
              <a:srgbClr val="403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960120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137160"/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Fragrance &amp; Deodorizing Products for Cleansing &amp; General Hygiene is the highest priced combination in 2026 at US$ 21,244/MT, +13.7% above the Europe average.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19088"/>
            <a:ext cx="86868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Cell price = combined value (US$) / combined volume (MT); shading shows the index vs the Europe average of US$ 18,685/MT.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6419088"/>
            <a:ext cx="295351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0">
                <a:solidFill>
                  <a:srgbClr val="59636E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754380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84048" y="1554480"/>
            <a:ext cx="731520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Matrix (US$/MT), Shaded by Index vs Europe Average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1847088"/>
          <a:ext cx="736091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743276"/>
                <a:gridCol w="743276"/>
                <a:gridCol w="743276"/>
                <a:gridCol w="743276"/>
                <a:gridCol w="743276"/>
                <a:gridCol w="743276"/>
                <a:gridCol w="743276"/>
                <a:gridCol w="603504"/>
              </a:tblGrid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Product Type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Cleansing &amp; General Hygiene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Moisturizing &amp; Skin Barrier Care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Skin Soothing &amp; Comfort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Coat Conditioning &amp; Softening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Dental &amp; Oral Hygiene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Body &amp; Coat Odor Management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Ear &amp; Eye-Area Hygiene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Row Avg.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Ear &amp; Eye Hygiene Products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18,968</a:t>
                      </a:r>
                    </a:p>
                  </a:txBody>
                  <a:tcPr marL="36576" marR="36576" marT="9144" marB="9144" anchor="ctr"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19,592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19,471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19,588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18,900</a:t>
                      </a:r>
                    </a:p>
                  </a:txBody>
                  <a:tcPr marL="36576" marR="36576" marT="9144" marB="9144" anchor="ctr"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17,429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20,274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19,146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Coat Conditioning &amp; Grooming Products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19,013</a:t>
                      </a:r>
                    </a:p>
                  </a:txBody>
                  <a:tcPr marL="36576" marR="36576" marT="9144" marB="9144" anchor="ctr"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18,803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18,435</a:t>
                      </a:r>
                    </a:p>
                  </a:txBody>
                  <a:tcPr marL="36576" marR="36576" marT="9144" marB="9144" anchor="ctr">
                    <a:solidFill>
                      <a:srgbClr val="D9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18,192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18,949</a:t>
                      </a:r>
                    </a:p>
                  </a:txBody>
                  <a:tcPr marL="36576" marR="36576" marT="9144" marB="9144" anchor="ctr"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19,650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18,319</a:t>
                      </a:r>
                    </a:p>
                  </a:txBody>
                  <a:tcPr marL="36576" marR="36576" marT="9144" marB="9144" anchor="ctr">
                    <a:solidFill>
                      <a:srgbClr val="D9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18,768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Fragrance &amp; Deodorizing Products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21,244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17,886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17,968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18,758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16,756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16,797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18,787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18,697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Dental &amp; Oral Care Products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18,402</a:t>
                      </a:r>
                    </a:p>
                  </a:txBody>
                  <a:tcPr marL="36576" marR="36576" marT="9144" marB="9144" anchor="ctr">
                    <a:solidFill>
                      <a:srgbClr val="D9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18,602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20,310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18,687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18,069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18,558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18,186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18,680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Skin, Paw &amp; Nose Care Products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18,430</a:t>
                      </a:r>
                    </a:p>
                  </a:txBody>
                  <a:tcPr marL="36576" marR="36576" marT="9144" marB="9144" anchor="ctr">
                    <a:solidFill>
                      <a:srgbClr val="D9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19,005</a:t>
                      </a:r>
                    </a:p>
                  </a:txBody>
                  <a:tcPr marL="36576" marR="36576" marT="9144" marB="9144" anchor="ctr"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19,044</a:t>
                      </a:r>
                    </a:p>
                  </a:txBody>
                  <a:tcPr marL="36576" marR="36576" marT="9144" marB="9144" anchor="ctr"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18,542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18,539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17,941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19,109</a:t>
                      </a:r>
                    </a:p>
                  </a:txBody>
                  <a:tcPr marL="36576" marR="36576" marT="9144" marB="9144" anchor="ctr"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18,618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Shampoos &amp; Cleansing Products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18,398</a:t>
                      </a:r>
                    </a:p>
                  </a:txBody>
                  <a:tcPr marL="36576" marR="36576" marT="9144" marB="9144" anchor="ctr">
                    <a:solidFill>
                      <a:srgbClr val="D9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18,142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18,665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18,931</a:t>
                      </a:r>
                    </a:p>
                  </a:txBody>
                  <a:tcPr marL="36576" marR="36576" marT="9144" marB="9144" anchor="ctr"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18,865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18,278</a:t>
                      </a:r>
                    </a:p>
                  </a:txBody>
                  <a:tcPr marL="36576" marR="36576" marT="9144" marB="9144" anchor="ctr">
                    <a:solidFill>
                      <a:srgbClr val="D9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18,680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18,546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Column Avg.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18,802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18,554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18,881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18,736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18,536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18,315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18,753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18,685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84048" y="4773168"/>
            <a:ext cx="182880" cy="146304"/>
          </a:xfrm>
          <a:prstGeom prst="rect">
            <a:avLst/>
          </a:prstGeom>
          <a:solidFill>
            <a:srgbClr val="9DC0E0"/>
          </a:solidFill>
          <a:ln w="9525">
            <a:solidFill>
              <a:srgbClr val="D9DEE4"/>
            </a:solidFill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94360" y="4718304"/>
            <a:ext cx="12801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Index below 97.5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47088" y="4773168"/>
            <a:ext cx="182880" cy="146304"/>
          </a:xfrm>
          <a:prstGeom prst="rect">
            <a:avLst/>
          </a:prstGeom>
          <a:solidFill>
            <a:srgbClr val="D9E6F2"/>
          </a:solidFill>
          <a:ln w="9525">
            <a:solidFill>
              <a:srgbClr val="D9DEE4"/>
            </a:solidFill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2057400" y="4718304"/>
            <a:ext cx="12801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97.5 to 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4773168"/>
            <a:ext cx="182880" cy="146304"/>
          </a:xfrm>
          <a:prstGeom prst="rect">
            <a:avLst/>
          </a:prstGeom>
          <a:solidFill>
            <a:srgbClr val="F7F7F7"/>
          </a:solidFill>
          <a:ln w="9525">
            <a:solidFill>
              <a:srgbClr val="D9DEE4"/>
            </a:solidFill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3520440" y="4718304"/>
            <a:ext cx="12801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Parity: 99 to 101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3168" y="4773168"/>
            <a:ext cx="182880" cy="146304"/>
          </a:xfrm>
          <a:prstGeom prst="rect">
            <a:avLst/>
          </a:prstGeom>
          <a:solidFill>
            <a:srgbClr val="FBE3D3"/>
          </a:solidFill>
          <a:ln w="9525">
            <a:solidFill>
              <a:srgbClr val="D9DEE4"/>
            </a:solidFill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983480" y="4718304"/>
            <a:ext cx="12801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101 to 102.5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4773168"/>
            <a:ext cx="182880" cy="146304"/>
          </a:xfrm>
          <a:prstGeom prst="rect">
            <a:avLst/>
          </a:prstGeom>
          <a:solidFill>
            <a:srgbClr val="F4B183"/>
          </a:solidFill>
          <a:ln w="9525">
            <a:solidFill>
              <a:srgbClr val="D9DEE4"/>
            </a:solidFill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446520" y="4718304"/>
            <a:ext cx="12801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Index above 102.5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1508760"/>
            <a:ext cx="3959352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065008" y="1554480"/>
            <a:ext cx="3749039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Range Across All Primary Function Sub-Types,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1792224"/>
            <a:ext cx="3749039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1">
                <a:solidFill>
                  <a:srgbClr val="59636E"/>
                </a:solidFill>
                <a:latin typeface="Calibri"/>
              </a:rPr>
              <a:t>Bar spans lowest to highest price (US$/MT) at the finest data level.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001000" y="2011680"/>
          <a:ext cx="3867912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Rectangle 27"/>
          <p:cNvSpPr/>
          <p:nvPr/>
        </p:nvSpPr>
        <p:spPr>
          <a:xfrm>
            <a:off x="274320" y="5120640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" name="Oval 28"/>
          <p:cNvSpPr/>
          <p:nvPr/>
        </p:nvSpPr>
        <p:spPr>
          <a:xfrm>
            <a:off x="384048" y="5248655"/>
            <a:ext cx="310896" cy="310896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79"/>
            <a:ext cx="3194304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Premium Pockets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3194304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Fragrance &amp; Deodorizing Products positioned on Cleansing &amp; General Hygiene carry the strongest premium at an index of 113.7, which signals room for value-added claims in this combination.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0144" y="5120640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Oval 32"/>
          <p:cNvSpPr/>
          <p:nvPr/>
        </p:nvSpPr>
        <p:spPr>
          <a:xfrm>
            <a:off x="4309872" y="5248655"/>
            <a:ext cx="310896" cy="310896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3064" y="5212079"/>
            <a:ext cx="3194304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Value Pockets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3064" y="5486400"/>
            <a:ext cx="3194304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Fragrance &amp; Deodorizing Products for Dental &amp; Oral Hygiene is the lowest priced combination at an index of 89.7, sitting 10.3% below the Europe average of US$ 18,685/MT.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5968" y="5120640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" name="Oval 36"/>
          <p:cNvSpPr/>
          <p:nvPr/>
        </p:nvSpPr>
        <p:spPr>
          <a:xfrm>
            <a:off x="8235696" y="5248655"/>
            <a:ext cx="310896" cy="310896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28888" y="5212079"/>
            <a:ext cx="3194304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Within-Type Spread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28888" y="5486400"/>
            <a:ext cx="3194304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Skin, Paw &amp; Nose Care Products show the widest internal price spread at 107.3%, ranging from US$ 12,981/MT to US$ 26,908/MT across sub-types.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1138799" cy="658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200" y="128016"/>
            <a:ext cx="103327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200" b="1" i="0">
                <a:solidFill>
                  <a:srgbClr val="1F1F1F"/>
                </a:solidFill>
                <a:latin typeface="Calibri"/>
              </a:rPr>
              <a:t>Pet Cosmetic Products Market Europe Pricing Assessment: Country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84632"/>
            <a:ext cx="1033272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1">
                <a:solidFill>
                  <a:srgbClr val="1F1F1F"/>
                </a:solidFill>
                <a:latin typeface="Calibri"/>
              </a:rPr>
              <a:t>Country average price and price range across product types, 2026 (US$/MT)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868680"/>
            <a:ext cx="3840480" cy="0"/>
          </a:xfrm>
          <a:prstGeom prst="line">
            <a:avLst/>
          </a:prstGeom>
          <a:ln w="28575">
            <a:solidFill>
              <a:srgbClr val="008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206240" y="868680"/>
            <a:ext cx="3840480" cy="0"/>
          </a:xfrm>
          <a:prstGeom prst="line">
            <a:avLst/>
          </a:prstGeom>
          <a:ln w="28575">
            <a:solidFill>
              <a:srgbClr val="9E7E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138160" y="868680"/>
            <a:ext cx="3776472" cy="0"/>
          </a:xfrm>
          <a:prstGeom prst="line">
            <a:avLst/>
          </a:prstGeom>
          <a:ln w="28575">
            <a:solidFill>
              <a:srgbClr val="403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960120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137160"/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Sweden is the most premium Europe market at US$ 21,157/MT in 2026, +13.2% above the regional average, while Hungary is the lowest priced.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19088"/>
            <a:ext cx="86868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Range = lowest to highest product type price in each country; countries ranked by average price. Other European Countries excluded from ranking.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6419088"/>
            <a:ext cx="295351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0">
                <a:solidFill>
                  <a:srgbClr val="59636E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754380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84048" y="1554480"/>
            <a:ext cx="731520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Range Across Product Types by Country (US$/MT), Ranked by Average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47472" y="1993392"/>
          <a:ext cx="7406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1783080"/>
            <a:ext cx="722376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1">
                <a:solidFill>
                  <a:srgbClr val="59636E"/>
                </a:solidFill>
                <a:latin typeface="Calibri"/>
              </a:rPr>
              <a:t>Bar spans the lowest to highest product type price in each country; label = country price index (Europe = 100). Teal = above Europe average, blue = below.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508760"/>
            <a:ext cx="3959352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65008" y="1554480"/>
            <a:ext cx="3749039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Premium and Discount Markets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46720" y="1847088"/>
          <a:ext cx="3776472" cy="3090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86384"/>
                <a:gridCol w="658368"/>
                <a:gridCol w="914400"/>
              </a:tblGrid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Avg. 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Sweden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21,157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113.2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0.43%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France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21,058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112.7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0.56%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Greece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20,755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111.1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0.47%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Slovenia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20,537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109.9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0.28%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Poland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20,144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107.8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0.32%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Netherlands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17,316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92.7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0.44%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Austria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17,165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91.9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0.70%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Germany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17,073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91.4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0.60%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Bulgaria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16,751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89.6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0.70%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Hungary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16,059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85.9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0.66%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74320" y="5120640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Oval 18"/>
          <p:cNvSpPr/>
          <p:nvPr/>
        </p:nvSpPr>
        <p:spPr>
          <a:xfrm>
            <a:off x="384048" y="5248655"/>
            <a:ext cx="310896" cy="310896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12079"/>
            <a:ext cx="3194304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Country Spread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3194304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Average prices across the ranked countries differ by 31.7% in 2026, from US$ 16,059/MT in Hungary to US$ 21,157/MT in Sweden.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0144" y="5120640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Oval 22"/>
          <p:cNvSpPr/>
          <p:nvPr/>
        </p:nvSpPr>
        <p:spPr>
          <a:xfrm>
            <a:off x="4309872" y="5248655"/>
            <a:ext cx="310896" cy="310896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3064" y="5212079"/>
            <a:ext cx="3194304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Growth Leader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3064" y="5486400"/>
            <a:ext cx="3194304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Malta records the fastest average price growth at a 0.74% CAGR between 2026 and 2036, against 0.54% for Europe as a whole.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5968" y="5120640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" name="Oval 26"/>
          <p:cNvSpPr/>
          <p:nvPr/>
        </p:nvSpPr>
        <p:spPr>
          <a:xfrm>
            <a:off x="8235696" y="5248655"/>
            <a:ext cx="310896" cy="310896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8888" y="5212079"/>
            <a:ext cx="3194304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Mix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8888" y="5486400"/>
            <a:ext cx="3194304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Malta shows the widest gap between its cheapest and most expensive product type at 16.4%, so product mix shifts move its average price the most.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